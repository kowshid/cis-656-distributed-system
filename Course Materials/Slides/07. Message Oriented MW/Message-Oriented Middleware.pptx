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70" r:id="rId3"/>
    <p:sldId id="306" r:id="rId4"/>
    <p:sldId id="300" r:id="rId5"/>
    <p:sldId id="314" r:id="rId6"/>
    <p:sldId id="371" r:id="rId7"/>
    <p:sldId id="315" r:id="rId8"/>
    <p:sldId id="308" r:id="rId9"/>
    <p:sldId id="309" r:id="rId10"/>
    <p:sldId id="310" r:id="rId11"/>
    <p:sldId id="369" r:id="rId12"/>
    <p:sldId id="317" r:id="rId13"/>
    <p:sldId id="372" r:id="rId14"/>
    <p:sldId id="318" r:id="rId15"/>
    <p:sldId id="319" r:id="rId16"/>
    <p:sldId id="321" r:id="rId17"/>
    <p:sldId id="323" r:id="rId18"/>
    <p:sldId id="328" r:id="rId19"/>
    <p:sldId id="331" r:id="rId20"/>
    <p:sldId id="330" r:id="rId21"/>
    <p:sldId id="33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85443" autoAdjust="0"/>
  </p:normalViewPr>
  <p:slideViewPr>
    <p:cSldViewPr snapToGrid="0">
      <p:cViewPr varScale="1">
        <p:scale>
          <a:sx n="95" d="100"/>
          <a:sy n="95" d="100"/>
        </p:scale>
        <p:origin x="20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8DB6B-2012-452D-84C9-7877C5460722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69467-F9F0-4724-B929-B447208C8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62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TextShape 1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68C9873A-C49A-407C-B45F-1129A0B0819D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latin typeface="Nimbus Roman"/>
            </a:endParaRPr>
          </a:p>
        </p:txBody>
      </p:sp>
      <p:sp>
        <p:nvSpPr>
          <p:cNvPr id="69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691" name="PlaceHolder 3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03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6FC45B4E-2199-4654-BAC7-5A887B8B1A80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6</a:t>
            </a:fld>
            <a:endParaRPr lang="en-US" sz="1200" b="0" strike="noStrike" spc="-1">
              <a:latin typeface="Nimbus Roman"/>
            </a:endParaRPr>
          </a:p>
        </p:txBody>
      </p:sp>
    </p:spTree>
    <p:extLst>
      <p:ext uri="{BB962C8B-B14F-4D97-AF65-F5344CB8AC3E}">
        <p14:creationId xmlns:p14="http://schemas.microsoft.com/office/powerpoint/2010/main" val="725135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03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6FC45B4E-2199-4654-BAC7-5A887B8B1A80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7</a:t>
            </a:fld>
            <a:endParaRPr lang="en-US" sz="1200" b="0" strike="noStrike" spc="-1">
              <a:latin typeface="Nimbus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TextShape 1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D689D940-4061-4724-8A7B-7BE94C5732A3}" type="slidenum">
              <a:rPr lang="en-US" sz="1200" b="0" strike="noStrike" spc="-1">
                <a:latin typeface="Nimbus Roman"/>
              </a:rPr>
              <a:t>8</a:t>
            </a:fld>
            <a:endParaRPr lang="en-US" sz="1200" b="0" strike="noStrike" spc="-1">
              <a:latin typeface="Nimbus Roman"/>
            </a:endParaRPr>
          </a:p>
        </p:txBody>
      </p:sp>
      <p:sp>
        <p:nvSpPr>
          <p:cNvPr id="69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694" name="PlaceHolder 3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TextShape 1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3999E038-7A66-4999-8869-DA5B658D7CD0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latin typeface="Nimbus Roman"/>
            </a:endParaRPr>
          </a:p>
        </p:txBody>
      </p:sp>
      <p:sp>
        <p:nvSpPr>
          <p:cNvPr id="69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697" name="PlaceHolder 3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TextShape 1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409F0718-ACCF-4167-A7C4-57D0BFAA8C6A}" type="slidenum">
              <a:rPr lang="en-US" sz="1200" b="0" strike="noStrike" spc="-1">
                <a:latin typeface="Nimbus Roman"/>
              </a:rPr>
              <a:t>10</a:t>
            </a:fld>
            <a:endParaRPr lang="en-US" sz="1200" b="0" strike="noStrike" spc="-1">
              <a:latin typeface="Nimbus Roman"/>
            </a:endParaRPr>
          </a:p>
        </p:txBody>
      </p:sp>
      <p:sp>
        <p:nvSpPr>
          <p:cNvPr id="69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00" name="PlaceHolder 3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SimSun"/>
              </a:rPr>
              <a:t>Basic idea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SimSun"/>
              </a:rPr>
              <a:t>: applications communicate by inserting messages in specific queues</a:t>
            </a:r>
            <a:endParaRPr lang="en-US" sz="2400" b="0" strike="noStrike" spc="-1">
              <a:latin typeface="Nimbus Sans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SimSun"/>
              </a:rPr>
              <a:t>These messages could be forwarded over a series of communication servers before being finally delivered to the destination,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SimSun"/>
              </a:rPr>
              <a:t>even if the destination was down when the message was sent</a:t>
            </a:r>
            <a:endParaRPr lang="en-US" sz="2400" b="0" strike="noStrike" spc="-1">
              <a:latin typeface="Nimbus Sans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SimSun"/>
              </a:rPr>
              <a:t>The sender is offered the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SimSun"/>
              </a:rPr>
              <a:t>guarantee that its message will eventually be inserted into the recipient’s queue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SimSun"/>
              </a:rPr>
              <a:t>, but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SimSun"/>
              </a:rPr>
              <a:t>no guarantee about when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SimSun"/>
              </a:rPr>
              <a:t>. </a:t>
            </a:r>
            <a:endParaRPr lang="en-US" sz="2400" b="0" strike="noStrike" spc="-1">
              <a:latin typeface="Nimbus Sans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SimSun"/>
              </a:rPr>
              <a:t>No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SimSun"/>
              </a:rPr>
              <a:t>need for the receiver to be executing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SimSun"/>
              </a:rPr>
              <a:t>when a message is being sent to its queue.</a:t>
            </a:r>
            <a:endParaRPr lang="en-US" sz="2400" b="0" strike="noStrike" spc="-1">
              <a:latin typeface="Nimbus Sans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SimSun"/>
              </a:rPr>
              <a:t>Likewise,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SimSun"/>
              </a:rPr>
              <a:t>no need for the sender to be executing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SimSun"/>
              </a:rPr>
              <a:t>when a message is picked up by the receiver</a:t>
            </a:r>
            <a:endParaRPr lang="en-US" sz="2400" b="0" strike="noStrike" spc="-1">
              <a:latin typeface="Nimbus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09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8E4D1DF1-66E6-4C59-884C-52DA17B4434B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12</a:t>
            </a:fld>
            <a:endParaRPr lang="en-US" sz="1200" b="0" strike="noStrike" spc="-1">
              <a:latin typeface="Nimbus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09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8E4D1DF1-66E6-4C59-884C-52DA17B4434B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13</a:t>
            </a:fld>
            <a:endParaRPr lang="en-US" sz="1200" b="0" strike="noStrike" spc="-1">
              <a:latin typeface="Nimbus Roman"/>
            </a:endParaRPr>
          </a:p>
        </p:txBody>
      </p:sp>
    </p:spTree>
    <p:extLst>
      <p:ext uri="{BB962C8B-B14F-4D97-AF65-F5344CB8AC3E}">
        <p14:creationId xmlns:p14="http://schemas.microsoft.com/office/powerpoint/2010/main" val="90954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12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60BD4554-A2FF-40C8-9FB8-9C7497B1ABBC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14</a:t>
            </a:fld>
            <a:endParaRPr lang="en-US" sz="1200" b="0" strike="noStrike" spc="-1">
              <a:latin typeface="Nimbus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15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3B3221D2-7F70-4372-B253-C968DA8DEF07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15</a:t>
            </a:fld>
            <a:endParaRPr lang="en-US" sz="1200" b="0" strike="noStrike" spc="-1">
              <a:latin typeface="Nimbus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21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132A5179-ED3E-41AA-A244-CC8CDD02D3FF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16</a:t>
            </a:fld>
            <a:endParaRPr lang="en-US" sz="1200" b="0" strike="noStrike" spc="-1">
              <a:latin typeface="Nimbus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27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1D8FEE66-A333-4ECB-BC2A-AEB0BFBDBD0B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17</a:t>
            </a:fld>
            <a:endParaRPr lang="en-US" sz="1200" b="0" strike="noStrike" spc="-1">
              <a:latin typeface="Nimbus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42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735C3539-3B83-4EAC-B065-34666C63301A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18</a:t>
            </a:fld>
            <a:endParaRPr lang="en-US" sz="1200" b="0" strike="noStrike" spc="-1">
              <a:latin typeface="Nimbus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47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48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BFCE901B-DFFC-4F58-AC71-78EED7174F7E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20</a:t>
            </a:fld>
            <a:endParaRPr lang="en-US" sz="1200" b="0" strike="noStrike" spc="-1">
              <a:latin typeface="Nimbus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</p:spPr>
      </p:sp>
      <p:sp>
        <p:nvSpPr>
          <p:cNvPr id="750" name="PlaceHolder 2"/>
          <p:cNvSpPr>
            <a:spLocks noGrp="1"/>
          </p:cNvSpPr>
          <p:nvPr>
            <p:ph type="body"/>
          </p:nvPr>
        </p:nvSpPr>
        <p:spPr>
          <a:xfrm>
            <a:off x="888840" y="4714920"/>
            <a:ext cx="4890600" cy="446832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Nimbus Sans"/>
            </a:endParaRPr>
          </a:p>
        </p:txBody>
      </p:sp>
      <p:sp>
        <p:nvSpPr>
          <p:cNvPr id="751" name="TextShape 3"/>
          <p:cNvSpPr txBox="1"/>
          <p:nvPr/>
        </p:nvSpPr>
        <p:spPr>
          <a:xfrm>
            <a:off x="3778200" y="9431280"/>
            <a:ext cx="2890440" cy="4964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78F77DA9-54BD-4E7C-B6AC-18BE52B43143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21</a:t>
            </a:fld>
            <a:endParaRPr lang="en-US" sz="1200" b="0" strike="noStrike" spc="-1">
              <a:latin typeface="Nimbus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6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7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4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88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6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20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2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23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28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3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278B-F5F0-43AA-B21F-913FB5762030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47356-37F3-4A16-87F0-BCA5E9837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0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4AA8-B5B5-4892-8F9D-9BF050FC96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Message-Oriented Middleware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E3B43-CF66-4765-BA87-D5226323D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4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1"/>
          <p:cNvSpPr txBox="1"/>
          <p:nvPr/>
        </p:nvSpPr>
        <p:spPr>
          <a:xfrm>
            <a:off x="724140" y="339754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Message Oriented Middleware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220" name="TextShape 2"/>
          <p:cNvSpPr txBox="1"/>
          <p:nvPr/>
        </p:nvSpPr>
        <p:spPr>
          <a:xfrm>
            <a:off x="515700" y="1784586"/>
            <a:ext cx="8062692" cy="483516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FF0000"/>
                </a:solidFill>
                <a:latin typeface="Calibri"/>
              </a:rPr>
              <a:t>Message Oriented Middleware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(or “</a:t>
            </a:r>
            <a:r>
              <a:rPr lang="en-US" sz="2400" b="0" strike="noStrike" spc="-1" dirty="0">
                <a:solidFill>
                  <a:srgbClr val="FF0000"/>
                </a:solidFill>
                <a:latin typeface="Calibri"/>
              </a:rPr>
              <a:t>MOM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”) is one particular form of middleware, which is capable of facilitating the transportation of asynchronous messages from one component to another. </a:t>
            </a:r>
          </a:p>
          <a:p>
            <a:pPr marL="743040" lvl="1" indent="-285480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000" spc="-1" dirty="0">
                <a:solidFill>
                  <a:srgbClr val="FF0000"/>
                </a:solidFill>
                <a:latin typeface="Calibri"/>
              </a:rPr>
              <a:t>High-level message queuing model</a:t>
            </a:r>
            <a:endParaRPr lang="en-US" sz="2000" spc="-1" dirty="0">
              <a:solidFill>
                <a:srgbClr val="660033"/>
              </a:solidFill>
              <a:latin typeface="Calibri"/>
            </a:endParaRPr>
          </a:p>
          <a:p>
            <a:pPr marL="743040" lvl="1" indent="-285480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000" spc="-1" dirty="0">
                <a:solidFill>
                  <a:srgbClr val="FF0000"/>
                </a:solidFill>
                <a:latin typeface="Calibri"/>
              </a:rPr>
              <a:t>Communication does not follow the rather strict pattern of client/server interaction.</a:t>
            </a:r>
            <a:endParaRPr lang="en-US" sz="2000" spc="-1" dirty="0">
              <a:solidFill>
                <a:srgbClr val="660033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 algn="just">
              <a:lnSpc>
                <a:spcPct val="100000"/>
              </a:lnSpc>
              <a:spcBef>
                <a:spcPts val="479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Shape 2"/>
          <p:cNvSpPr txBox="1"/>
          <p:nvPr/>
        </p:nvSpPr>
        <p:spPr>
          <a:xfrm>
            <a:off x="714240" y="162802"/>
            <a:ext cx="7580479" cy="60912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400" b="1" strike="noStrike" spc="-1" dirty="0">
                <a:solidFill>
                  <a:srgbClr val="000000"/>
                </a:solidFill>
                <a:latin typeface="Calibri"/>
              </a:rPr>
              <a:t>Message-Oriented Middleware (MOM)</a:t>
            </a:r>
            <a:endParaRPr lang="en-US" sz="34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322" name="TextShape 3"/>
          <p:cNvSpPr txBox="1"/>
          <p:nvPr/>
        </p:nvSpPr>
        <p:spPr>
          <a:xfrm>
            <a:off x="714240" y="928800"/>
            <a:ext cx="8033760" cy="156960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Communication using </a:t>
            </a:r>
            <a:r>
              <a:rPr lang="en-US" sz="2800" b="1" strike="noStrike" spc="-1" dirty="0">
                <a:solidFill>
                  <a:srgbClr val="FF0000"/>
                </a:solidFill>
                <a:latin typeface="Calibri"/>
              </a:rPr>
              <a:t>messages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Messages stored in </a:t>
            </a:r>
            <a:r>
              <a:rPr lang="en-US" sz="2800" b="1" strike="noStrike" spc="-1" dirty="0">
                <a:solidFill>
                  <a:srgbClr val="FF0000"/>
                </a:solidFill>
                <a:latin typeface="Calibri"/>
              </a:rPr>
              <a:t>message queues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en-US" sz="2800" b="1" strike="noStrike" spc="-1" dirty="0">
                <a:solidFill>
                  <a:srgbClr val="FF0000"/>
                </a:solidFill>
                <a:latin typeface="Calibri"/>
              </a:rPr>
              <a:t>Message servers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decouple client and server</a:t>
            </a:r>
          </a:p>
        </p:txBody>
      </p:sp>
      <p:sp>
        <p:nvSpPr>
          <p:cNvPr id="323" name="CustomShape 4"/>
          <p:cNvSpPr/>
          <p:nvPr/>
        </p:nvSpPr>
        <p:spPr>
          <a:xfrm>
            <a:off x="755640" y="3138120"/>
            <a:ext cx="1815840" cy="395280"/>
          </a:xfrm>
          <a:prstGeom prst="rect">
            <a:avLst/>
          </a:prstGeom>
          <a:solidFill>
            <a:srgbClr val="CCECFF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1" strike="noStrike" spc="-1">
                <a:solidFill>
                  <a:srgbClr val="000000"/>
                </a:solidFill>
                <a:latin typeface="Tahoma"/>
              </a:rPr>
              <a:t>Client App.</a:t>
            </a:r>
            <a:endParaRPr lang="en-US" sz="2000" b="0" strike="noStrike" spc="-1">
              <a:latin typeface="Nimbus Sans"/>
            </a:endParaRPr>
          </a:p>
        </p:txBody>
      </p:sp>
      <p:sp>
        <p:nvSpPr>
          <p:cNvPr id="324" name="CustomShape 5"/>
          <p:cNvSpPr/>
          <p:nvPr/>
        </p:nvSpPr>
        <p:spPr>
          <a:xfrm>
            <a:off x="755640" y="3833280"/>
            <a:ext cx="1794960" cy="1728360"/>
          </a:xfrm>
          <a:prstGeom prst="rect">
            <a:avLst/>
          </a:prstGeom>
          <a:solidFill>
            <a:srgbClr val="CCECFF"/>
          </a:solidFill>
          <a:ln w="190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325" name="Group 6"/>
          <p:cNvGrpSpPr/>
          <p:nvPr/>
        </p:nvGrpSpPr>
        <p:grpSpPr>
          <a:xfrm>
            <a:off x="1287360" y="4191840"/>
            <a:ext cx="733320" cy="216360"/>
            <a:chOff x="1287360" y="4191840"/>
            <a:chExt cx="733320" cy="216360"/>
          </a:xfrm>
        </p:grpSpPr>
        <p:sp>
          <p:nvSpPr>
            <p:cNvPr id="326" name="Line 7"/>
            <p:cNvSpPr/>
            <p:nvPr/>
          </p:nvSpPr>
          <p:spPr>
            <a:xfrm>
              <a:off x="1287360" y="419184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7" name="Line 8"/>
            <p:cNvSpPr/>
            <p:nvPr/>
          </p:nvSpPr>
          <p:spPr>
            <a:xfrm>
              <a:off x="1486800" y="419184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8" name="Line 9"/>
            <p:cNvSpPr/>
            <p:nvPr/>
          </p:nvSpPr>
          <p:spPr>
            <a:xfrm flipH="1">
              <a:off x="1287360" y="440784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9" name="CustomShape 10"/>
            <p:cNvSpPr/>
            <p:nvPr/>
          </p:nvSpPr>
          <p:spPr>
            <a:xfrm>
              <a:off x="1486800" y="419220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0" name="CustomShape 11"/>
            <p:cNvSpPr/>
            <p:nvPr/>
          </p:nvSpPr>
          <p:spPr>
            <a:xfrm>
              <a:off x="1620360" y="419220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1" name="CustomShape 12"/>
            <p:cNvSpPr/>
            <p:nvPr/>
          </p:nvSpPr>
          <p:spPr>
            <a:xfrm>
              <a:off x="1753920" y="419220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2" name="CustomShape 13"/>
            <p:cNvSpPr/>
            <p:nvPr/>
          </p:nvSpPr>
          <p:spPr>
            <a:xfrm>
              <a:off x="1887480" y="419220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33" name="Group 14"/>
          <p:cNvGrpSpPr/>
          <p:nvPr/>
        </p:nvGrpSpPr>
        <p:grpSpPr>
          <a:xfrm>
            <a:off x="1287720" y="4552200"/>
            <a:ext cx="732960" cy="216360"/>
            <a:chOff x="1287720" y="4552200"/>
            <a:chExt cx="732960" cy="216360"/>
          </a:xfrm>
        </p:grpSpPr>
        <p:sp>
          <p:nvSpPr>
            <p:cNvPr id="334" name="Line 15"/>
            <p:cNvSpPr/>
            <p:nvPr/>
          </p:nvSpPr>
          <p:spPr>
            <a:xfrm flipH="1">
              <a:off x="1821240" y="476820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5" name="Line 16"/>
            <p:cNvSpPr/>
            <p:nvPr/>
          </p:nvSpPr>
          <p:spPr>
            <a:xfrm flipV="1">
              <a:off x="1821240" y="455220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6" name="Line 17"/>
            <p:cNvSpPr/>
            <p:nvPr/>
          </p:nvSpPr>
          <p:spPr>
            <a:xfrm>
              <a:off x="1821240" y="455220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7" name="CustomShape 18"/>
            <p:cNvSpPr/>
            <p:nvPr/>
          </p:nvSpPr>
          <p:spPr>
            <a:xfrm rot="10800000">
              <a:off x="1688040" y="455292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8" name="CustomShape 19"/>
            <p:cNvSpPr/>
            <p:nvPr/>
          </p:nvSpPr>
          <p:spPr>
            <a:xfrm rot="10800000">
              <a:off x="1554840" y="455292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9" name="CustomShape 20"/>
            <p:cNvSpPr/>
            <p:nvPr/>
          </p:nvSpPr>
          <p:spPr>
            <a:xfrm rot="10800000">
              <a:off x="1421280" y="455292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0" name="CustomShape 21"/>
            <p:cNvSpPr/>
            <p:nvPr/>
          </p:nvSpPr>
          <p:spPr>
            <a:xfrm rot="10800000">
              <a:off x="1287720" y="455292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41" name="CustomShape 22"/>
          <p:cNvSpPr/>
          <p:nvPr/>
        </p:nvSpPr>
        <p:spPr>
          <a:xfrm>
            <a:off x="755640" y="4841280"/>
            <a:ext cx="186192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 indent="-456840"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ahoma"/>
              </a:rPr>
              <a:t>local message</a:t>
            </a:r>
            <a:endParaRPr lang="en-US" sz="1800" b="0" strike="noStrike" spc="-1">
              <a:latin typeface="Nimbus Sans"/>
            </a:endParaRPr>
          </a:p>
          <a:p>
            <a:pPr marL="457200" indent="-456840"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ahoma"/>
              </a:rPr>
              <a:t>queues</a:t>
            </a:r>
            <a:endParaRPr lang="en-US" sz="1800" b="0" strike="noStrike" spc="-1">
              <a:latin typeface="Nimbus Sans"/>
            </a:endParaRPr>
          </a:p>
        </p:txBody>
      </p:sp>
      <p:sp>
        <p:nvSpPr>
          <p:cNvPr id="342" name="CustomShape 23"/>
          <p:cNvSpPr/>
          <p:nvPr/>
        </p:nvSpPr>
        <p:spPr>
          <a:xfrm>
            <a:off x="6605640" y="3138120"/>
            <a:ext cx="1815840" cy="395280"/>
          </a:xfrm>
          <a:prstGeom prst="rect">
            <a:avLst/>
          </a:prstGeom>
          <a:solidFill>
            <a:srgbClr val="CCECFF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1" strike="noStrike" spc="-1">
                <a:solidFill>
                  <a:srgbClr val="000000"/>
                </a:solidFill>
                <a:latin typeface="Tahoma"/>
              </a:rPr>
              <a:t>Server App.</a:t>
            </a:r>
            <a:endParaRPr lang="en-US" sz="2000" b="0" strike="noStrike" spc="-1">
              <a:latin typeface="Nimbus Sans"/>
            </a:endParaRPr>
          </a:p>
        </p:txBody>
      </p:sp>
      <p:sp>
        <p:nvSpPr>
          <p:cNvPr id="343" name="CustomShape 24"/>
          <p:cNvSpPr/>
          <p:nvPr/>
        </p:nvSpPr>
        <p:spPr>
          <a:xfrm>
            <a:off x="6605640" y="3904920"/>
            <a:ext cx="1794960" cy="1728360"/>
          </a:xfrm>
          <a:prstGeom prst="rect">
            <a:avLst/>
          </a:prstGeom>
          <a:solidFill>
            <a:srgbClr val="CCECFF"/>
          </a:solidFill>
          <a:ln w="190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344" name="Group 25"/>
          <p:cNvGrpSpPr/>
          <p:nvPr/>
        </p:nvGrpSpPr>
        <p:grpSpPr>
          <a:xfrm>
            <a:off x="7137360" y="4191840"/>
            <a:ext cx="733320" cy="216360"/>
            <a:chOff x="7137360" y="4191840"/>
            <a:chExt cx="733320" cy="216360"/>
          </a:xfrm>
        </p:grpSpPr>
        <p:sp>
          <p:nvSpPr>
            <p:cNvPr id="345" name="Line 26"/>
            <p:cNvSpPr/>
            <p:nvPr/>
          </p:nvSpPr>
          <p:spPr>
            <a:xfrm>
              <a:off x="7137360" y="419184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6" name="Line 27"/>
            <p:cNvSpPr/>
            <p:nvPr/>
          </p:nvSpPr>
          <p:spPr>
            <a:xfrm>
              <a:off x="7336800" y="419184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7" name="Line 28"/>
            <p:cNvSpPr/>
            <p:nvPr/>
          </p:nvSpPr>
          <p:spPr>
            <a:xfrm flipH="1">
              <a:off x="7137360" y="440784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8" name="CustomShape 29"/>
            <p:cNvSpPr/>
            <p:nvPr/>
          </p:nvSpPr>
          <p:spPr>
            <a:xfrm>
              <a:off x="7336800" y="419220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9" name="CustomShape 30"/>
            <p:cNvSpPr/>
            <p:nvPr/>
          </p:nvSpPr>
          <p:spPr>
            <a:xfrm>
              <a:off x="7470360" y="419220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0" name="CustomShape 31"/>
            <p:cNvSpPr/>
            <p:nvPr/>
          </p:nvSpPr>
          <p:spPr>
            <a:xfrm>
              <a:off x="7603920" y="419220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1" name="CustomShape 32"/>
            <p:cNvSpPr/>
            <p:nvPr/>
          </p:nvSpPr>
          <p:spPr>
            <a:xfrm>
              <a:off x="7737480" y="419220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52" name="Group 33"/>
          <p:cNvGrpSpPr/>
          <p:nvPr/>
        </p:nvGrpSpPr>
        <p:grpSpPr>
          <a:xfrm>
            <a:off x="7137720" y="4552200"/>
            <a:ext cx="732960" cy="216360"/>
            <a:chOff x="7137720" y="4552200"/>
            <a:chExt cx="732960" cy="216360"/>
          </a:xfrm>
        </p:grpSpPr>
        <p:sp>
          <p:nvSpPr>
            <p:cNvPr id="353" name="Line 34"/>
            <p:cNvSpPr/>
            <p:nvPr/>
          </p:nvSpPr>
          <p:spPr>
            <a:xfrm flipH="1">
              <a:off x="7671240" y="476820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4" name="Line 35"/>
            <p:cNvSpPr/>
            <p:nvPr/>
          </p:nvSpPr>
          <p:spPr>
            <a:xfrm flipV="1">
              <a:off x="7671240" y="455220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5" name="Line 36"/>
            <p:cNvSpPr/>
            <p:nvPr/>
          </p:nvSpPr>
          <p:spPr>
            <a:xfrm>
              <a:off x="7671240" y="455220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6" name="CustomShape 37"/>
            <p:cNvSpPr/>
            <p:nvPr/>
          </p:nvSpPr>
          <p:spPr>
            <a:xfrm rot="10800000">
              <a:off x="7538040" y="455292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7" name="CustomShape 38"/>
            <p:cNvSpPr/>
            <p:nvPr/>
          </p:nvSpPr>
          <p:spPr>
            <a:xfrm rot="10800000">
              <a:off x="7404480" y="455292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8" name="CustomShape 39"/>
            <p:cNvSpPr/>
            <p:nvPr/>
          </p:nvSpPr>
          <p:spPr>
            <a:xfrm rot="10800000">
              <a:off x="7271280" y="455292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9" name="CustomShape 40"/>
            <p:cNvSpPr/>
            <p:nvPr/>
          </p:nvSpPr>
          <p:spPr>
            <a:xfrm rot="10800000">
              <a:off x="7137720" y="455292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60" name="CustomShape 41"/>
          <p:cNvSpPr/>
          <p:nvPr/>
        </p:nvSpPr>
        <p:spPr>
          <a:xfrm>
            <a:off x="6605640" y="4841280"/>
            <a:ext cx="186192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 indent="-456840"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ahoma"/>
              </a:rPr>
              <a:t>local message</a:t>
            </a:r>
            <a:endParaRPr lang="en-US" sz="1800" b="0" strike="noStrike" spc="-1">
              <a:latin typeface="Nimbus Sans"/>
            </a:endParaRPr>
          </a:p>
          <a:p>
            <a:pPr marL="457200" indent="-456840"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ahoma"/>
              </a:rPr>
              <a:t>queues</a:t>
            </a:r>
            <a:endParaRPr lang="en-US" sz="1800" b="0" strike="noStrike" spc="-1">
              <a:latin typeface="Nimbus Sans"/>
            </a:endParaRPr>
          </a:p>
        </p:txBody>
      </p:sp>
      <p:sp>
        <p:nvSpPr>
          <p:cNvPr id="361" name="CustomShape 42"/>
          <p:cNvSpPr/>
          <p:nvPr/>
        </p:nvSpPr>
        <p:spPr>
          <a:xfrm>
            <a:off x="3513240" y="3646080"/>
            <a:ext cx="2028600" cy="1944360"/>
          </a:xfrm>
          <a:prstGeom prst="rect">
            <a:avLst/>
          </a:prstGeom>
          <a:solidFill>
            <a:srgbClr val="CCECFF"/>
          </a:solidFill>
          <a:ln w="190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362" name="Group 43"/>
          <p:cNvGrpSpPr/>
          <p:nvPr/>
        </p:nvGrpSpPr>
        <p:grpSpPr>
          <a:xfrm>
            <a:off x="4044600" y="4149000"/>
            <a:ext cx="733320" cy="216360"/>
            <a:chOff x="4044600" y="4149000"/>
            <a:chExt cx="733320" cy="216360"/>
          </a:xfrm>
        </p:grpSpPr>
        <p:sp>
          <p:nvSpPr>
            <p:cNvPr id="363" name="Line 44"/>
            <p:cNvSpPr/>
            <p:nvPr/>
          </p:nvSpPr>
          <p:spPr>
            <a:xfrm>
              <a:off x="4044600" y="4149000"/>
              <a:ext cx="19980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4" name="Line 45"/>
            <p:cNvSpPr/>
            <p:nvPr/>
          </p:nvSpPr>
          <p:spPr>
            <a:xfrm>
              <a:off x="4244400" y="414900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5" name="Line 46"/>
            <p:cNvSpPr/>
            <p:nvPr/>
          </p:nvSpPr>
          <p:spPr>
            <a:xfrm flipH="1">
              <a:off x="4044600" y="4365000"/>
              <a:ext cx="19980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6" name="CustomShape 47"/>
            <p:cNvSpPr/>
            <p:nvPr/>
          </p:nvSpPr>
          <p:spPr>
            <a:xfrm>
              <a:off x="4244400" y="414936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7" name="CustomShape 48"/>
            <p:cNvSpPr/>
            <p:nvPr/>
          </p:nvSpPr>
          <p:spPr>
            <a:xfrm>
              <a:off x="4377960" y="414936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8" name="CustomShape 49"/>
            <p:cNvSpPr/>
            <p:nvPr/>
          </p:nvSpPr>
          <p:spPr>
            <a:xfrm>
              <a:off x="4511520" y="414936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9" name="CustomShape 50"/>
            <p:cNvSpPr/>
            <p:nvPr/>
          </p:nvSpPr>
          <p:spPr>
            <a:xfrm>
              <a:off x="4644720" y="414936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70" name="Group 51"/>
          <p:cNvGrpSpPr/>
          <p:nvPr/>
        </p:nvGrpSpPr>
        <p:grpSpPr>
          <a:xfrm>
            <a:off x="4045320" y="4509360"/>
            <a:ext cx="732960" cy="216360"/>
            <a:chOff x="4045320" y="4509360"/>
            <a:chExt cx="732960" cy="216360"/>
          </a:xfrm>
        </p:grpSpPr>
        <p:sp>
          <p:nvSpPr>
            <p:cNvPr id="371" name="Line 52"/>
            <p:cNvSpPr/>
            <p:nvPr/>
          </p:nvSpPr>
          <p:spPr>
            <a:xfrm flipH="1">
              <a:off x="4578840" y="472536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2" name="Line 53"/>
            <p:cNvSpPr/>
            <p:nvPr/>
          </p:nvSpPr>
          <p:spPr>
            <a:xfrm flipV="1">
              <a:off x="4578840" y="450936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3" name="Line 54"/>
            <p:cNvSpPr/>
            <p:nvPr/>
          </p:nvSpPr>
          <p:spPr>
            <a:xfrm>
              <a:off x="4578840" y="4509360"/>
              <a:ext cx="199440" cy="36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4" name="CustomShape 55"/>
            <p:cNvSpPr/>
            <p:nvPr/>
          </p:nvSpPr>
          <p:spPr>
            <a:xfrm rot="10800000">
              <a:off x="4445640" y="451008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5" name="CustomShape 56"/>
            <p:cNvSpPr/>
            <p:nvPr/>
          </p:nvSpPr>
          <p:spPr>
            <a:xfrm rot="10800000">
              <a:off x="4312080" y="451008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6" name="CustomShape 57"/>
            <p:cNvSpPr/>
            <p:nvPr/>
          </p:nvSpPr>
          <p:spPr>
            <a:xfrm rot="10800000">
              <a:off x="4178880" y="451008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7" name="CustomShape 58"/>
            <p:cNvSpPr/>
            <p:nvPr/>
          </p:nvSpPr>
          <p:spPr>
            <a:xfrm rot="10800000">
              <a:off x="4045320" y="4510080"/>
              <a:ext cx="133200" cy="215640"/>
            </a:xfrm>
            <a:prstGeom prst="rect">
              <a:avLst/>
            </a:prstGeom>
            <a:noFill/>
            <a:ln w="190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78" name="CustomShape 59"/>
          <p:cNvSpPr/>
          <p:nvPr/>
        </p:nvSpPr>
        <p:spPr>
          <a:xfrm>
            <a:off x="3513240" y="4798440"/>
            <a:ext cx="186192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 indent="-456840"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message</a:t>
            </a:r>
            <a:endParaRPr lang="en-US" sz="1800" b="0" strike="noStrike" spc="-1" dirty="0">
              <a:latin typeface="Nimbus Sans"/>
            </a:endParaRPr>
          </a:p>
          <a:p>
            <a:pPr marL="457200" indent="-456840"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queues</a:t>
            </a:r>
            <a:endParaRPr lang="en-US" sz="1800" b="0" strike="noStrike" spc="-1" dirty="0">
              <a:latin typeface="Nimbus Sans"/>
            </a:endParaRPr>
          </a:p>
        </p:txBody>
      </p:sp>
      <p:sp>
        <p:nvSpPr>
          <p:cNvPr id="379" name="CustomShape 60"/>
          <p:cNvSpPr/>
          <p:nvPr/>
        </p:nvSpPr>
        <p:spPr>
          <a:xfrm>
            <a:off x="755640" y="5874840"/>
            <a:ext cx="1815840" cy="395280"/>
          </a:xfrm>
          <a:prstGeom prst="rect">
            <a:avLst/>
          </a:prstGeom>
          <a:solidFill>
            <a:srgbClr val="CCECFF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1" strike="noStrike" spc="-1">
                <a:solidFill>
                  <a:srgbClr val="000000"/>
                </a:solidFill>
                <a:latin typeface="Tahoma"/>
              </a:rPr>
              <a:t>Network</a:t>
            </a:r>
            <a:endParaRPr lang="en-US" sz="2000" b="0" strike="noStrike" spc="-1">
              <a:latin typeface="Nimbus Sans"/>
            </a:endParaRPr>
          </a:p>
        </p:txBody>
      </p:sp>
      <p:sp>
        <p:nvSpPr>
          <p:cNvPr id="380" name="CustomShape 61"/>
          <p:cNvSpPr/>
          <p:nvPr/>
        </p:nvSpPr>
        <p:spPr>
          <a:xfrm>
            <a:off x="3513240" y="5832000"/>
            <a:ext cx="1815840" cy="395280"/>
          </a:xfrm>
          <a:prstGeom prst="rect">
            <a:avLst/>
          </a:prstGeom>
          <a:solidFill>
            <a:srgbClr val="CCECFF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1" strike="noStrike" spc="-1">
                <a:solidFill>
                  <a:srgbClr val="000000"/>
                </a:solidFill>
                <a:latin typeface="Tahoma"/>
              </a:rPr>
              <a:t>Network</a:t>
            </a:r>
            <a:endParaRPr lang="en-US" sz="2000" b="0" strike="noStrike" spc="-1">
              <a:latin typeface="Nimbus Sans"/>
            </a:endParaRPr>
          </a:p>
        </p:txBody>
      </p:sp>
      <p:sp>
        <p:nvSpPr>
          <p:cNvPr id="381" name="CustomShape 62"/>
          <p:cNvSpPr/>
          <p:nvPr/>
        </p:nvSpPr>
        <p:spPr>
          <a:xfrm>
            <a:off x="6605640" y="5874840"/>
            <a:ext cx="1815840" cy="395280"/>
          </a:xfrm>
          <a:prstGeom prst="rect">
            <a:avLst/>
          </a:prstGeom>
          <a:solidFill>
            <a:srgbClr val="CCECFF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1" strike="noStrike" spc="-1">
                <a:solidFill>
                  <a:srgbClr val="000000"/>
                </a:solidFill>
                <a:latin typeface="Tahoma"/>
              </a:rPr>
              <a:t>Network</a:t>
            </a:r>
            <a:endParaRPr lang="en-US" sz="2000" b="0" strike="noStrike" spc="-1">
              <a:latin typeface="Nimbus Sans"/>
            </a:endParaRPr>
          </a:p>
        </p:txBody>
      </p:sp>
      <p:sp>
        <p:nvSpPr>
          <p:cNvPr id="382" name="Line 63"/>
          <p:cNvSpPr/>
          <p:nvPr/>
        </p:nvSpPr>
        <p:spPr>
          <a:xfrm>
            <a:off x="2617560" y="5992200"/>
            <a:ext cx="665280" cy="360"/>
          </a:xfrm>
          <a:prstGeom prst="line">
            <a:avLst/>
          </a:prstGeom>
          <a:ln w="1908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3" name="Line 64"/>
          <p:cNvSpPr/>
          <p:nvPr/>
        </p:nvSpPr>
        <p:spPr>
          <a:xfrm flipH="1">
            <a:off x="2617560" y="6136560"/>
            <a:ext cx="665280" cy="360"/>
          </a:xfrm>
          <a:prstGeom prst="line">
            <a:avLst/>
          </a:prstGeom>
          <a:ln w="1908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4" name="Line 65"/>
          <p:cNvSpPr/>
          <p:nvPr/>
        </p:nvSpPr>
        <p:spPr>
          <a:xfrm>
            <a:off x="5741640" y="5992200"/>
            <a:ext cx="665280" cy="360"/>
          </a:xfrm>
          <a:prstGeom prst="line">
            <a:avLst/>
          </a:prstGeom>
          <a:ln w="1908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5" name="Line 66"/>
          <p:cNvSpPr/>
          <p:nvPr/>
        </p:nvSpPr>
        <p:spPr>
          <a:xfrm flipH="1">
            <a:off x="5741640" y="6136560"/>
            <a:ext cx="665280" cy="360"/>
          </a:xfrm>
          <a:prstGeom prst="line">
            <a:avLst/>
          </a:prstGeom>
          <a:ln w="1908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386" name="Group 67"/>
          <p:cNvGrpSpPr/>
          <p:nvPr/>
        </p:nvGrpSpPr>
        <p:grpSpPr>
          <a:xfrm>
            <a:off x="1555200" y="3544560"/>
            <a:ext cx="200160" cy="216000"/>
            <a:chOff x="1555200" y="3544560"/>
            <a:chExt cx="200160" cy="216000"/>
          </a:xfrm>
        </p:grpSpPr>
        <p:sp>
          <p:nvSpPr>
            <p:cNvPr id="387" name="Line 68"/>
            <p:cNvSpPr/>
            <p:nvPr/>
          </p:nvSpPr>
          <p:spPr>
            <a:xfrm>
              <a:off x="1755000" y="354456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8" name="Line 69"/>
            <p:cNvSpPr/>
            <p:nvPr/>
          </p:nvSpPr>
          <p:spPr>
            <a:xfrm flipV="1">
              <a:off x="1555200" y="354456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89" name="Group 70"/>
          <p:cNvGrpSpPr/>
          <p:nvPr/>
        </p:nvGrpSpPr>
        <p:grpSpPr>
          <a:xfrm>
            <a:off x="1555200" y="5633640"/>
            <a:ext cx="200160" cy="216000"/>
            <a:chOff x="1555200" y="5633640"/>
            <a:chExt cx="200160" cy="216000"/>
          </a:xfrm>
        </p:grpSpPr>
        <p:sp>
          <p:nvSpPr>
            <p:cNvPr id="390" name="Line 71"/>
            <p:cNvSpPr/>
            <p:nvPr/>
          </p:nvSpPr>
          <p:spPr>
            <a:xfrm>
              <a:off x="1755000" y="563364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1" name="Line 72"/>
            <p:cNvSpPr/>
            <p:nvPr/>
          </p:nvSpPr>
          <p:spPr>
            <a:xfrm flipV="1">
              <a:off x="1555200" y="563364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92" name="Group 73"/>
          <p:cNvGrpSpPr/>
          <p:nvPr/>
        </p:nvGrpSpPr>
        <p:grpSpPr>
          <a:xfrm>
            <a:off x="4311000" y="5590800"/>
            <a:ext cx="200520" cy="216000"/>
            <a:chOff x="4311000" y="5590800"/>
            <a:chExt cx="200520" cy="216000"/>
          </a:xfrm>
        </p:grpSpPr>
        <p:sp>
          <p:nvSpPr>
            <p:cNvPr id="393" name="Line 74"/>
            <p:cNvSpPr/>
            <p:nvPr/>
          </p:nvSpPr>
          <p:spPr>
            <a:xfrm>
              <a:off x="4511160" y="559080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4" name="Line 75"/>
            <p:cNvSpPr/>
            <p:nvPr/>
          </p:nvSpPr>
          <p:spPr>
            <a:xfrm flipV="1">
              <a:off x="4311000" y="559080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95" name="Group 76"/>
          <p:cNvGrpSpPr/>
          <p:nvPr/>
        </p:nvGrpSpPr>
        <p:grpSpPr>
          <a:xfrm>
            <a:off x="7403400" y="5633640"/>
            <a:ext cx="200520" cy="216000"/>
            <a:chOff x="7403400" y="5633640"/>
            <a:chExt cx="200520" cy="216000"/>
          </a:xfrm>
        </p:grpSpPr>
        <p:sp>
          <p:nvSpPr>
            <p:cNvPr id="396" name="Line 77"/>
            <p:cNvSpPr/>
            <p:nvPr/>
          </p:nvSpPr>
          <p:spPr>
            <a:xfrm>
              <a:off x="7603560" y="563364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7" name="Line 78"/>
            <p:cNvSpPr/>
            <p:nvPr/>
          </p:nvSpPr>
          <p:spPr>
            <a:xfrm flipV="1">
              <a:off x="7403400" y="563364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98" name="Group 79"/>
          <p:cNvGrpSpPr/>
          <p:nvPr/>
        </p:nvGrpSpPr>
        <p:grpSpPr>
          <a:xfrm>
            <a:off x="7403400" y="3615840"/>
            <a:ext cx="200520" cy="216000"/>
            <a:chOff x="7403400" y="3615840"/>
            <a:chExt cx="200520" cy="216000"/>
          </a:xfrm>
        </p:grpSpPr>
        <p:sp>
          <p:nvSpPr>
            <p:cNvPr id="399" name="Line 80"/>
            <p:cNvSpPr/>
            <p:nvPr/>
          </p:nvSpPr>
          <p:spPr>
            <a:xfrm>
              <a:off x="7603560" y="361584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0" name="Line 81"/>
            <p:cNvSpPr/>
            <p:nvPr/>
          </p:nvSpPr>
          <p:spPr>
            <a:xfrm flipV="1">
              <a:off x="7403400" y="3615840"/>
              <a:ext cx="360" cy="216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01" name="CustomShape 82"/>
          <p:cNvSpPr/>
          <p:nvPr/>
        </p:nvSpPr>
        <p:spPr>
          <a:xfrm>
            <a:off x="3441780" y="3024360"/>
            <a:ext cx="2087280" cy="69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Message Servers</a:t>
            </a:r>
            <a:endParaRPr lang="en-US" sz="2000" b="0" strike="noStrike" spc="-1" dirty="0">
              <a:latin typeface="Nimbus Sans"/>
            </a:endParaRPr>
          </a:p>
        </p:txBody>
      </p:sp>
      <p:sp>
        <p:nvSpPr>
          <p:cNvPr id="402" name="CustomShape 83"/>
          <p:cNvSpPr/>
          <p:nvPr/>
        </p:nvSpPr>
        <p:spPr>
          <a:xfrm>
            <a:off x="3357720" y="3430080"/>
            <a:ext cx="2255400" cy="2950920"/>
          </a:xfrm>
          <a:prstGeom prst="rect">
            <a:avLst/>
          </a:prstGeom>
          <a:noFill/>
          <a:ln w="19080" cap="rnd">
            <a:solidFill>
              <a:schemeClr val="tx1"/>
            </a:solidFill>
            <a:custDash>
              <a:ds d="400000" sp="3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03" name="Picture 85"/>
          <p:cNvPicPr/>
          <p:nvPr/>
        </p:nvPicPr>
        <p:blipFill>
          <a:blip r:embed="rId3"/>
          <a:stretch/>
        </p:blipFill>
        <p:spPr>
          <a:xfrm>
            <a:off x="5802480" y="5560560"/>
            <a:ext cx="471240" cy="390240"/>
          </a:xfrm>
          <a:prstGeom prst="rect">
            <a:avLst/>
          </a:prstGeom>
          <a:ln>
            <a:noFill/>
          </a:ln>
        </p:spPr>
      </p:pic>
      <p:pic>
        <p:nvPicPr>
          <p:cNvPr id="404" name="Picture 88"/>
          <p:cNvPicPr/>
          <p:nvPr/>
        </p:nvPicPr>
        <p:blipFill>
          <a:blip r:embed="rId3"/>
          <a:stretch/>
        </p:blipFill>
        <p:spPr>
          <a:xfrm>
            <a:off x="2751120" y="5489280"/>
            <a:ext cx="471240" cy="390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Shape 1"/>
          <p:cNvSpPr txBox="1"/>
          <p:nvPr/>
        </p:nvSpPr>
        <p:spPr>
          <a:xfrm>
            <a:off x="541796" y="383251"/>
            <a:ext cx="8033767" cy="38052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Arial"/>
              </a:rPr>
              <a:t>Asynchronous Communication: Messaging</a:t>
            </a:r>
            <a:endParaRPr lang="en-US" sz="28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pic>
        <p:nvPicPr>
          <p:cNvPr id="305" name="Picture 5"/>
          <p:cNvPicPr/>
          <p:nvPr/>
        </p:nvPicPr>
        <p:blipFill>
          <a:blip r:embed="rId2"/>
          <a:stretch/>
        </p:blipFill>
        <p:spPr>
          <a:xfrm>
            <a:off x="825120" y="3481560"/>
            <a:ext cx="7467120" cy="3276360"/>
          </a:xfrm>
          <a:prstGeom prst="rect">
            <a:avLst/>
          </a:prstGeom>
          <a:ln>
            <a:noFill/>
          </a:ln>
        </p:spPr>
      </p:pic>
      <p:sp>
        <p:nvSpPr>
          <p:cNvPr id="306" name="TextShape 2"/>
          <p:cNvSpPr txBox="1"/>
          <p:nvPr/>
        </p:nvSpPr>
        <p:spPr>
          <a:xfrm>
            <a:off x="399959" y="1255320"/>
            <a:ext cx="8338688" cy="217368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</a:pPr>
            <a:r>
              <a:rPr lang="en-US" sz="2400" b="1" strike="noStrike" spc="-1" dirty="0">
                <a:solidFill>
                  <a:srgbClr val="FF0000"/>
                </a:solidFill>
                <a:latin typeface="Arial"/>
              </a:rPr>
              <a:t>Message-oriented middleware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Aims at high-level </a:t>
            </a:r>
            <a:r>
              <a:rPr lang="en-US" sz="2400" b="1" strike="noStrike" spc="-1" dirty="0">
                <a:solidFill>
                  <a:srgbClr val="FF0000"/>
                </a:solidFill>
                <a:latin typeface="Arial"/>
              </a:rPr>
              <a:t>asynchronous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communication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Processes send each other messages, which are queued</a:t>
            </a:r>
            <a:endParaRPr lang="en-US" sz="2000" b="0" strike="noStrike" spc="-1" dirty="0">
              <a:solidFill>
                <a:srgbClr val="660033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Sender need not wait for immediate reply, but can do other things</a:t>
            </a:r>
            <a:endParaRPr lang="en-US" sz="2000" b="0" strike="noStrike" spc="-1" dirty="0">
              <a:solidFill>
                <a:srgbClr val="660033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Middleware often ensures fault tolerance</a:t>
            </a:r>
            <a:endParaRPr lang="en-US" sz="2000" b="0" strike="noStrike" spc="-1" dirty="0">
              <a:solidFill>
                <a:srgbClr val="660033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Shape 1"/>
          <p:cNvSpPr txBox="1"/>
          <p:nvPr/>
        </p:nvSpPr>
        <p:spPr>
          <a:xfrm>
            <a:off x="809254" y="312480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Asynchronous Communication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pic>
        <p:nvPicPr>
          <p:cNvPr id="428" name="Content Placeholder 6"/>
          <p:cNvPicPr/>
          <p:nvPr/>
        </p:nvPicPr>
        <p:blipFill>
          <a:blip r:embed="rId2"/>
          <a:srcRect l="23596" t="34218" r="20892" b="16806"/>
          <a:stretch/>
        </p:blipFill>
        <p:spPr>
          <a:xfrm>
            <a:off x="179640" y="1484640"/>
            <a:ext cx="8712720" cy="46800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Shape 1"/>
          <p:cNvSpPr txBox="1"/>
          <p:nvPr/>
        </p:nvSpPr>
        <p:spPr>
          <a:xfrm>
            <a:off x="685800" y="400639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Asynchronous Communication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31" name="TextShape 3"/>
          <p:cNvSpPr txBox="1"/>
          <p:nvPr/>
        </p:nvSpPr>
        <p:spPr>
          <a:xfrm>
            <a:off x="685799" y="1412640"/>
            <a:ext cx="8070273" cy="3408742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6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</a:pPr>
            <a:r>
              <a:rPr lang="en-US" sz="4400" strike="noStrike" spc="-1" dirty="0">
                <a:latin typeface="Calibri"/>
              </a:rPr>
              <a:t>Discussion</a:t>
            </a:r>
          </a:p>
          <a:p>
            <a:pPr marL="36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</a:pPr>
            <a:r>
              <a:rPr lang="en-US" sz="2400" spc="-1" dirty="0">
                <a:latin typeface="Calibri"/>
              </a:rPr>
              <a:t>	</a:t>
            </a:r>
            <a:r>
              <a:rPr lang="en-US" sz="2800" spc="-1" dirty="0">
                <a:latin typeface="Calibri"/>
              </a:rPr>
              <a:t>What are the advantages of asynchronous 	communication?</a:t>
            </a:r>
          </a:p>
          <a:p>
            <a:pPr marL="36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</a:pPr>
            <a:r>
              <a:rPr lang="en-US" sz="2800" strike="noStrike" spc="-1" dirty="0">
                <a:latin typeface="Calibri"/>
              </a:rPr>
              <a:t>	</a:t>
            </a:r>
          </a:p>
          <a:p>
            <a:pPr marL="36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</a:pPr>
            <a:r>
              <a:rPr lang="en-US" sz="2800" spc="-1" dirty="0">
                <a:latin typeface="Calibri"/>
              </a:rPr>
              <a:t>	</a:t>
            </a:r>
            <a:r>
              <a:rPr lang="en-US" sz="2800" strike="noStrike" spc="-1" dirty="0">
                <a:latin typeface="Calibri"/>
              </a:rPr>
              <a:t>What ar</a:t>
            </a:r>
            <a:r>
              <a:rPr lang="en-US" sz="2800" spc="-1" dirty="0">
                <a:latin typeface="Calibri"/>
              </a:rPr>
              <a:t>e the disadvantages of asynchronous 	communication?</a:t>
            </a:r>
            <a:endParaRPr lang="en-US" sz="2800" strike="noStrike" spc="-1" dirty="0"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7B9908-A3D0-1DF2-3191-7E7CC60C0FB0}"/>
              </a:ext>
            </a:extLst>
          </p:cNvPr>
          <p:cNvSpPr/>
          <p:nvPr/>
        </p:nvSpPr>
        <p:spPr>
          <a:xfrm>
            <a:off x="790731" y="5071623"/>
            <a:ext cx="7562537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Please go to </a:t>
            </a:r>
          </a:p>
          <a:p>
            <a:r>
              <a:rPr lang="en-US" sz="5400" dirty="0"/>
              <a:t>	</a:t>
            </a:r>
            <a:r>
              <a:rPr lang="en-US" sz="5400" dirty="0" err="1">
                <a:solidFill>
                  <a:srgbClr val="0070C0"/>
                </a:solidFill>
              </a:rPr>
              <a:t>PollEv.com</a:t>
            </a:r>
            <a:r>
              <a:rPr lang="en-US" sz="5400" dirty="0">
                <a:solidFill>
                  <a:srgbClr val="0070C0"/>
                </a:solidFill>
              </a:rPr>
              <a:t>/cisgvsu429</a:t>
            </a:r>
          </a:p>
        </p:txBody>
      </p:sp>
    </p:spTree>
    <p:extLst>
      <p:ext uri="{BB962C8B-B14F-4D97-AF65-F5344CB8AC3E}">
        <p14:creationId xmlns:p14="http://schemas.microsoft.com/office/powerpoint/2010/main" val="2900780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Shape 1"/>
          <p:cNvSpPr txBox="1"/>
          <p:nvPr/>
        </p:nvSpPr>
        <p:spPr>
          <a:xfrm>
            <a:off x="685800" y="400639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Asynchronous Communication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31" name="TextShape 3"/>
          <p:cNvSpPr txBox="1"/>
          <p:nvPr/>
        </p:nvSpPr>
        <p:spPr>
          <a:xfrm>
            <a:off x="685800" y="1412640"/>
            <a:ext cx="7772040" cy="483516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Loosely coupled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Pros</a:t>
            </a:r>
            <a:r>
              <a:rPr lang="en-US" sz="2400" b="0" strike="noStrike" spc="-1" dirty="0">
                <a:solidFill>
                  <a:srgbClr val="FF0000"/>
                </a:solidFill>
                <a:latin typeface="Calibri"/>
              </a:rPr>
              <a:t>: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Higher degree of parallelism</a:t>
            </a: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May compensate speed deviation between sender and receiver 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Sender and receiver do not have to run on the same time</a:t>
            </a: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Cons</a:t>
            </a:r>
            <a:r>
              <a:rPr lang="en-US" sz="2400" b="0" strike="noStrike" spc="-1" dirty="0">
                <a:solidFill>
                  <a:srgbClr val="FF0000"/>
                </a:solidFill>
                <a:latin typeface="Calibri"/>
              </a:rPr>
              <a:t>: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Complicates synchronization</a:t>
            </a: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Sender has no information about message delivery </a:t>
            </a: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Possible buffer overflows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Shape 2"/>
          <p:cNvSpPr txBox="1"/>
          <p:nvPr/>
        </p:nvSpPr>
        <p:spPr>
          <a:xfrm>
            <a:off x="758387" y="152640"/>
            <a:ext cx="7272360" cy="115200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  <a:ea typeface="SimSun"/>
              </a:rPr>
              <a:t>Message-Oriented Communication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10" name="TextShape 3"/>
          <p:cNvSpPr txBox="1"/>
          <p:nvPr/>
        </p:nvSpPr>
        <p:spPr>
          <a:xfrm>
            <a:off x="684360" y="1700280"/>
            <a:ext cx="8064000" cy="473688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561"/>
              </a:spcBef>
            </a:pPr>
            <a:r>
              <a:rPr lang="en-US" sz="2800" b="1" strike="noStrike" spc="-1" dirty="0">
                <a:solidFill>
                  <a:srgbClr val="FF0000"/>
                </a:solidFill>
                <a:latin typeface="Calibri"/>
                <a:ea typeface="SimSun"/>
              </a:rPr>
              <a:t>Message Queuing Systems</a:t>
            </a: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SimSun"/>
              </a:rPr>
              <a:t>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SimSun"/>
              </a:rPr>
              <a:t>or </a:t>
            </a:r>
            <a:r>
              <a:rPr lang="en-US" sz="2800" b="1" strike="noStrike" spc="-1" dirty="0">
                <a:solidFill>
                  <a:srgbClr val="FF0000"/>
                </a:solidFill>
                <a:latin typeface="Calibri"/>
                <a:ea typeface="SimSun"/>
              </a:rPr>
              <a:t>Message-Oriented Middleware</a:t>
            </a: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SimSun"/>
              </a:rPr>
              <a:t> (</a:t>
            </a:r>
            <a:r>
              <a:rPr lang="en-US" sz="2800" b="1" strike="noStrike" spc="-1" dirty="0">
                <a:solidFill>
                  <a:srgbClr val="FF0000"/>
                </a:solidFill>
                <a:latin typeface="Calibri"/>
                <a:ea typeface="SimSun"/>
              </a:rPr>
              <a:t>MOM</a:t>
            </a: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SimSun"/>
              </a:rPr>
              <a:t>)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SimSun"/>
              </a:rPr>
              <a:t>Offer intermediate-term storage capacity for messages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SimSun"/>
              </a:rPr>
              <a:t>No need for either the sender or receiver to be active during message transmission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SimSun"/>
              </a:rPr>
              <a:t>Support message transfers that are allowed to take minutes.</a:t>
            </a:r>
            <a:r>
              <a:rPr lang="en-US" sz="2600" b="1" strike="noStrike" spc="-1" dirty="0">
                <a:solidFill>
                  <a:srgbClr val="000000"/>
                </a:solidFill>
                <a:latin typeface="Calibri"/>
                <a:ea typeface="SimSun"/>
              </a:rPr>
              <a:t> 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Shape 2"/>
          <p:cNvSpPr txBox="1"/>
          <p:nvPr/>
        </p:nvSpPr>
        <p:spPr>
          <a:xfrm>
            <a:off x="517984" y="152640"/>
            <a:ext cx="6781320" cy="674885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Properties of MOM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13" name="TextShape 3"/>
          <p:cNvSpPr txBox="1"/>
          <p:nvPr/>
        </p:nvSpPr>
        <p:spPr>
          <a:xfrm>
            <a:off x="249810" y="827525"/>
            <a:ext cx="8644380" cy="5725555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457200" indent="-456840">
              <a:lnSpc>
                <a:spcPct val="100000"/>
              </a:lnSpc>
              <a:spcBef>
                <a:spcPts val="561"/>
              </a:spcBef>
            </a:pPr>
            <a:r>
              <a:rPr lang="en-US" sz="2800" b="1" strike="noStrike" spc="-1" dirty="0">
                <a:solidFill>
                  <a:srgbClr val="FF0000"/>
                </a:solidFill>
                <a:latin typeface="Calibri"/>
              </a:rPr>
              <a:t>Asynchronous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interaction</a:t>
            </a:r>
          </a:p>
          <a:p>
            <a:pPr marL="800460" lvl="1" indent="-3429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Client and server are only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loosely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coupled</a:t>
            </a:r>
            <a:endParaRPr lang="en-US" sz="2400" b="0" strike="noStrike" spc="-1" dirty="0">
              <a:solidFill>
                <a:srgbClr val="660033"/>
              </a:solidFill>
              <a:latin typeface="Calibri"/>
            </a:endParaRPr>
          </a:p>
          <a:p>
            <a:pPr marL="800460" lvl="1" indent="-3429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Messages are queued</a:t>
            </a:r>
            <a:endParaRPr lang="en-US" sz="2400" b="0" strike="noStrike" spc="-1" dirty="0">
              <a:solidFill>
                <a:srgbClr val="660033"/>
              </a:solidFill>
              <a:latin typeface="Calibri"/>
            </a:endParaRPr>
          </a:p>
          <a:p>
            <a:pPr marL="800460" lvl="1" indent="-3429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Good for application integration</a:t>
            </a:r>
          </a:p>
          <a:p>
            <a:pPr marL="914760" lvl="1" indent="-457200">
              <a:spcBef>
                <a:spcPts val="51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ea typeface="SimSun"/>
              </a:rPr>
              <a:t>No need for either the sender or receiver to be active during message transmission</a:t>
            </a:r>
            <a:endParaRPr lang="en-US" sz="2400" spc="-1" dirty="0">
              <a:solidFill>
                <a:srgbClr val="000000"/>
              </a:solidFill>
            </a:endParaRPr>
          </a:p>
          <a:p>
            <a:pPr marL="914760" lvl="1" indent="-457200">
              <a:spcBef>
                <a:spcPts val="51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ea typeface="SimSun"/>
              </a:rPr>
              <a:t>Support message transfers that are allowed to take minutes.</a:t>
            </a:r>
            <a:r>
              <a:rPr lang="en-US" sz="2400" b="1" spc="-1" dirty="0">
                <a:solidFill>
                  <a:srgbClr val="000000"/>
                </a:solidFill>
                <a:ea typeface="SimSun"/>
              </a:rPr>
              <a:t> </a:t>
            </a:r>
            <a:endParaRPr lang="en-US" sz="2400" spc="-1" dirty="0">
              <a:solidFill>
                <a:srgbClr val="000000"/>
              </a:solidFill>
            </a:endParaRPr>
          </a:p>
          <a:p>
            <a:pPr marL="457200" indent="-456840">
              <a:lnSpc>
                <a:spcPct val="100000"/>
              </a:lnSpc>
              <a:spcBef>
                <a:spcPts val="561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Processing of messages by intermediate message server(s)</a:t>
            </a:r>
          </a:p>
          <a:p>
            <a:pPr marL="838080" lvl="1" indent="-3805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May do filtering, scheduling, …</a:t>
            </a:r>
            <a:endParaRPr lang="en-US" sz="2400" b="0" strike="noStrike" spc="-1" dirty="0">
              <a:solidFill>
                <a:srgbClr val="660033"/>
              </a:solidFill>
              <a:latin typeface="Calibri"/>
            </a:endParaRPr>
          </a:p>
          <a:p>
            <a:pPr marL="838080" lvl="1" indent="-3805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Networks of message servers</a:t>
            </a:r>
          </a:p>
          <a:p>
            <a:pPr marL="838080" lvl="1" indent="-380520"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400" spc="-1" dirty="0">
                <a:solidFill>
                  <a:srgbClr val="000000"/>
                </a:solidFill>
                <a:ea typeface="SimSun"/>
              </a:rPr>
              <a:t>Offer intermediate-term storage capacity for messages</a:t>
            </a:r>
            <a:endParaRPr lang="en-US" sz="2400" spc="-1" dirty="0">
              <a:solidFill>
                <a:srgbClr val="000000"/>
              </a:solidFill>
            </a:endParaRPr>
          </a:p>
          <a:p>
            <a:pPr marL="838080" lvl="1" indent="-3805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endParaRPr lang="en-US" sz="2400" b="0" strike="noStrike" spc="-1" dirty="0">
              <a:solidFill>
                <a:srgbClr val="660033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Shape 2"/>
          <p:cNvSpPr txBox="1"/>
          <p:nvPr/>
        </p:nvSpPr>
        <p:spPr>
          <a:xfrm>
            <a:off x="467640" y="188640"/>
            <a:ext cx="6567120" cy="107928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  <a:ea typeface="SimSun"/>
              </a:rPr>
              <a:t>Message-Queuing Model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16" name="TextShape 3"/>
          <p:cNvSpPr txBox="1"/>
          <p:nvPr/>
        </p:nvSpPr>
        <p:spPr>
          <a:xfrm>
            <a:off x="467640" y="1465920"/>
            <a:ext cx="8133840" cy="473688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en-US" sz="2600" b="1" strike="noStrike" spc="-1" dirty="0">
                <a:solidFill>
                  <a:srgbClr val="FF0000"/>
                </a:solidFill>
                <a:latin typeface="Calibri"/>
                <a:ea typeface="SimSun"/>
              </a:rPr>
              <a:t>Basic idea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SimSun"/>
              </a:rPr>
              <a:t>: applications communicate by inserting messages in specific queues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SimSun"/>
              </a:rPr>
              <a:t>Messages forwarded over a series of communication servers before being finally being delivered to the destination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SimSun"/>
              </a:rPr>
              <a:t>Receiver can be down when message was sent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SimSun"/>
              </a:rPr>
              <a:t>No need for the sender to be executing when a message is picked up by the receiver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SimSun"/>
              </a:rPr>
              <a:t>Usually, sender is offered the </a:t>
            </a:r>
            <a:r>
              <a:rPr lang="en-US" sz="2600" b="1" strike="noStrike" spc="-1" dirty="0">
                <a:solidFill>
                  <a:srgbClr val="FF0000"/>
                </a:solidFill>
                <a:latin typeface="Calibri"/>
                <a:ea typeface="SimSun"/>
              </a:rPr>
              <a:t>guarantee that its message will eventually be inserted into the recipient’s queue</a:t>
            </a:r>
            <a:r>
              <a:rPr lang="en-US" sz="2600" b="0" strike="noStrike" spc="-1" dirty="0">
                <a:solidFill>
                  <a:srgbClr val="FF0000"/>
                </a:solidFill>
                <a:latin typeface="Calibri"/>
                <a:ea typeface="SimSun"/>
              </a:rPr>
              <a:t>, but </a:t>
            </a:r>
            <a:r>
              <a:rPr lang="en-US" sz="2600" b="1" strike="noStrike" spc="-1" dirty="0">
                <a:solidFill>
                  <a:srgbClr val="FF0000"/>
                </a:solidFill>
                <a:latin typeface="Calibri"/>
                <a:ea typeface="SimSun"/>
              </a:rPr>
              <a:t>no guarantee about when</a:t>
            </a:r>
            <a:r>
              <a:rPr lang="en-US" sz="2600" b="0" strike="noStrike" spc="-1" dirty="0">
                <a:solidFill>
                  <a:srgbClr val="FF0000"/>
                </a:solidFill>
                <a:latin typeface="Calibri"/>
                <a:ea typeface="SimSun"/>
              </a:rPr>
              <a:t> 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CustomShape 1"/>
          <p:cNvSpPr/>
          <p:nvPr/>
        </p:nvSpPr>
        <p:spPr>
          <a:xfrm>
            <a:off x="525467" y="317880"/>
            <a:ext cx="370908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Message Broker</a:t>
            </a:r>
            <a:endParaRPr lang="en-US" sz="3600" b="0" strike="noStrike" spc="-1" dirty="0">
              <a:latin typeface="Nimbus Sans"/>
            </a:endParaRPr>
          </a:p>
        </p:txBody>
      </p:sp>
      <p:pic>
        <p:nvPicPr>
          <p:cNvPr id="599" name="Picture 7"/>
          <p:cNvPicPr/>
          <p:nvPr/>
        </p:nvPicPr>
        <p:blipFill>
          <a:blip r:embed="rId2"/>
          <a:stretch/>
        </p:blipFill>
        <p:spPr>
          <a:xfrm>
            <a:off x="838440" y="3756867"/>
            <a:ext cx="7467120" cy="2895120"/>
          </a:xfrm>
          <a:prstGeom prst="rect">
            <a:avLst/>
          </a:prstGeom>
          <a:ln>
            <a:noFill/>
          </a:ln>
        </p:spPr>
      </p:pic>
      <p:sp>
        <p:nvSpPr>
          <p:cNvPr id="600" name="TextShape 2"/>
          <p:cNvSpPr txBox="1"/>
          <p:nvPr/>
        </p:nvSpPr>
        <p:spPr>
          <a:xfrm>
            <a:off x="609480" y="1090347"/>
            <a:ext cx="7772040" cy="266652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90000"/>
              </a:lnSpc>
              <a:spcBef>
                <a:spcPts val="901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Observation: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Message queuing systems assume a </a:t>
            </a:r>
            <a:r>
              <a:rPr lang="en-US" sz="1800" b="1" strike="noStrike" spc="-1" dirty="0">
                <a:solidFill>
                  <a:srgbClr val="FF0000"/>
                </a:solidFill>
                <a:latin typeface="Calibri"/>
              </a:rPr>
              <a:t>common messaging protocol: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all applications agree on message format (i.e., structure and data representation)</a:t>
            </a:r>
          </a:p>
          <a:p>
            <a:pPr marL="343080" indent="-342720">
              <a:lnSpc>
                <a:spcPct val="90000"/>
              </a:lnSpc>
              <a:spcBef>
                <a:spcPts val="901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Message broker: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Centralized component that takes care of application heterogeneity in a message-queuing system:</a:t>
            </a:r>
          </a:p>
          <a:p>
            <a:pPr marL="743040" lvl="1" indent="-285480">
              <a:lnSpc>
                <a:spcPct val="90000"/>
              </a:lnSpc>
              <a:spcBef>
                <a:spcPts val="360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en-US" sz="1800" b="0" strike="noStrike" spc="-1" dirty="0">
                <a:solidFill>
                  <a:srgbClr val="FF0000"/>
                </a:solidFill>
                <a:latin typeface="Calibri"/>
              </a:rPr>
              <a:t>Transforms incoming messages to target format, possibly using intermediate representation</a:t>
            </a:r>
            <a:endParaRPr lang="en-US" sz="1800" b="0" strike="noStrike" spc="-1" dirty="0">
              <a:solidFill>
                <a:srgbClr val="660033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Shape 1"/>
          <p:cNvSpPr txBox="1"/>
          <p:nvPr/>
        </p:nvSpPr>
        <p:spPr>
          <a:xfrm>
            <a:off x="724140" y="323213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Queues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38" name="TextShape 3"/>
          <p:cNvSpPr txBox="1"/>
          <p:nvPr/>
        </p:nvSpPr>
        <p:spPr>
          <a:xfrm>
            <a:off x="685799" y="1412640"/>
            <a:ext cx="7911445" cy="31876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serve as an intermediary between sender and receiver</a:t>
            </a:r>
          </a:p>
          <a:p>
            <a:pPr marL="743040" lvl="1" indent="-28548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400" spc="-1" dirty="0">
                <a:solidFill>
                  <a:srgbClr val="FF0000"/>
                </a:solidFill>
              </a:rPr>
              <a:t>Sender puts messages into queues</a:t>
            </a:r>
            <a:endParaRPr lang="en-US" sz="2400" spc="-1" dirty="0">
              <a:solidFill>
                <a:srgbClr val="660033"/>
              </a:solidFill>
            </a:endParaRPr>
          </a:p>
          <a:p>
            <a:pPr marL="743040" lvl="1" indent="-28548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400" spc="-1" dirty="0">
                <a:solidFill>
                  <a:srgbClr val="FF0000"/>
                </a:solidFill>
              </a:rPr>
              <a:t>Message is transmitted to receiver</a:t>
            </a:r>
            <a:endParaRPr lang="en-US" sz="2400" spc="-1" dirty="0">
              <a:solidFill>
                <a:srgbClr val="660033"/>
              </a:solidFill>
            </a:endParaRPr>
          </a:p>
          <a:p>
            <a:pPr marL="743040" lvl="1" indent="-28548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400" spc="-1" dirty="0">
                <a:solidFill>
                  <a:srgbClr val="FF0000"/>
                </a:solidFill>
              </a:rPr>
              <a:t>Receiver reads message from queues</a:t>
            </a:r>
            <a:endParaRPr lang="en-US" sz="2400" spc="-1" dirty="0">
              <a:solidFill>
                <a:srgbClr val="660033"/>
              </a:solidFill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Allow processes to execute and fail independently</a:t>
            </a: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Can mask process failures and communication failures</a:t>
            </a: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spc="-1" dirty="0">
                <a:solidFill>
                  <a:srgbClr val="000000"/>
                </a:solidFill>
              </a:rPr>
              <a:t>Usually FIFO</a:t>
            </a: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3EE9F2D-D8D8-4C57-900E-C659325A212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03060" y="4600280"/>
            <a:ext cx="7337880" cy="1991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Shape 1"/>
          <p:cNvSpPr txBox="1"/>
          <p:nvPr/>
        </p:nvSpPr>
        <p:spPr>
          <a:xfrm>
            <a:off x="724140" y="323213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Discussion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38" name="TextShape 3"/>
          <p:cNvSpPr txBox="1"/>
          <p:nvPr/>
        </p:nvSpPr>
        <p:spPr>
          <a:xfrm>
            <a:off x="685799" y="1412640"/>
            <a:ext cx="7911445" cy="31876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What could be the problems/disadvantages for the FIFO approach to process messages in a queue?</a:t>
            </a: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spc="-1" dirty="0">
                <a:solidFill>
                  <a:srgbClr val="000000"/>
                </a:solidFill>
                <a:latin typeface="Calibri"/>
              </a:rPr>
              <a:t>Can you propose some other solutions other than FIFO to process messages in a queue?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Please go to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PollEv.com/cisgvsu429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3EE9F2D-D8D8-4C57-900E-C659325A212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72581" y="4698603"/>
            <a:ext cx="7337880" cy="19915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148186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Shape 1"/>
          <p:cNvSpPr txBox="1"/>
          <p:nvPr/>
        </p:nvSpPr>
        <p:spPr>
          <a:xfrm>
            <a:off x="395926" y="457200"/>
            <a:ext cx="8061914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Message Priorities – Highest Priority First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pic>
        <p:nvPicPr>
          <p:cNvPr id="441" name="Content Placeholder 7"/>
          <p:cNvPicPr/>
          <p:nvPr/>
        </p:nvPicPr>
        <p:blipFill>
          <a:blip r:embed="rId3"/>
          <a:stretch/>
        </p:blipFill>
        <p:spPr>
          <a:xfrm>
            <a:off x="0" y="1218960"/>
            <a:ext cx="9027572" cy="2862872"/>
          </a:xfrm>
          <a:prstGeom prst="rect">
            <a:avLst/>
          </a:prstGeom>
          <a:ln w="9360">
            <a:noFill/>
          </a:ln>
        </p:spPr>
      </p:pic>
      <p:sp>
        <p:nvSpPr>
          <p:cNvPr id="4" name="TextShape 3">
            <a:extLst>
              <a:ext uri="{FF2B5EF4-FFF2-40B4-BE49-F238E27FC236}">
                <a16:creationId xmlns:a16="http://schemas.microsoft.com/office/drawing/2014/main" id="{65D4D8C9-1E95-4D26-B5AA-D71CAB403006}"/>
              </a:ext>
            </a:extLst>
          </p:cNvPr>
          <p:cNvSpPr txBox="1"/>
          <p:nvPr/>
        </p:nvSpPr>
        <p:spPr>
          <a:xfrm>
            <a:off x="395926" y="4205001"/>
            <a:ext cx="8472770" cy="2195799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What could be the problems/disadvantages for the Highest Priority First approach to process messages in a queue?</a:t>
            </a: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go to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PollEv.com/cisgvsu429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Shape 1"/>
          <p:cNvSpPr txBox="1"/>
          <p:nvPr/>
        </p:nvSpPr>
        <p:spPr>
          <a:xfrm>
            <a:off x="160256" y="457200"/>
            <a:ext cx="890833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Message Priorities – Weighted Fair Scheduling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pic>
        <p:nvPicPr>
          <p:cNvPr id="444" name="Content Placeholder 6"/>
          <p:cNvPicPr/>
          <p:nvPr/>
        </p:nvPicPr>
        <p:blipFill>
          <a:blip r:embed="rId3"/>
          <a:stretch/>
        </p:blipFill>
        <p:spPr>
          <a:xfrm>
            <a:off x="0" y="2292840"/>
            <a:ext cx="9153720" cy="286416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extShape 1"/>
          <p:cNvSpPr txBox="1"/>
          <p:nvPr/>
        </p:nvSpPr>
        <p:spPr>
          <a:xfrm>
            <a:off x="685800" y="229320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Queue Manager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51" name="TextShape 3"/>
          <p:cNvSpPr txBox="1"/>
          <p:nvPr/>
        </p:nvSpPr>
        <p:spPr>
          <a:xfrm>
            <a:off x="461913" y="991080"/>
            <a:ext cx="8220174" cy="3470445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Provides means for administration</a:t>
            </a:r>
          </a:p>
          <a:p>
            <a:pPr marL="743040" lvl="1" indent="-28548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FF0000"/>
                </a:solidFill>
                <a:latin typeface="Calibri"/>
              </a:rPr>
              <a:t>Creation/deletion of queues</a:t>
            </a:r>
            <a:endParaRPr lang="en-US" sz="2400" b="0" strike="noStrike" spc="-1" dirty="0">
              <a:solidFill>
                <a:srgbClr val="660033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FF0000"/>
                </a:solidFill>
                <a:latin typeface="Calibri"/>
              </a:rPr>
              <a:t>Allows to start and to stop queues</a:t>
            </a:r>
            <a:endParaRPr lang="en-US" sz="2400" b="0" strike="noStrike" spc="-1" dirty="0">
              <a:solidFill>
                <a:srgbClr val="660033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FF0000"/>
                </a:solidFill>
                <a:latin typeface="Calibri"/>
              </a:rPr>
              <a:t>Alter properties of existing queues</a:t>
            </a:r>
            <a:endParaRPr lang="en-US" sz="2400" b="0" strike="noStrike" spc="-1" dirty="0">
              <a:solidFill>
                <a:srgbClr val="660033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FF0000"/>
                </a:solidFill>
                <a:latin typeface="Calibri"/>
              </a:rPr>
              <a:t>Allows monitoring of performance, failures, and recoveries</a:t>
            </a:r>
            <a:endParaRPr lang="en-US" sz="2400" b="0" strike="noStrike" spc="-1" dirty="0">
              <a:solidFill>
                <a:srgbClr val="660033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Often queue managers can be configured to forward messages to other queue managers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E84E0290-9792-40E2-AB11-41D20AF8644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95820" y="4475562"/>
            <a:ext cx="6552360" cy="2286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extShape 1"/>
          <p:cNvSpPr txBox="1"/>
          <p:nvPr/>
        </p:nvSpPr>
        <p:spPr>
          <a:xfrm>
            <a:off x="637308" y="350280"/>
            <a:ext cx="7694269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400" b="1" strike="noStrike" spc="-1" dirty="0">
                <a:solidFill>
                  <a:srgbClr val="000000"/>
                </a:solidFill>
                <a:latin typeface="Calibri"/>
              </a:rPr>
              <a:t>MOM – Message Oriented Middleware</a:t>
            </a:r>
            <a:endParaRPr lang="en-US" sz="34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pic>
        <p:nvPicPr>
          <p:cNvPr id="457" name="Content Placeholder 6"/>
          <p:cNvPicPr/>
          <p:nvPr/>
        </p:nvPicPr>
        <p:blipFill>
          <a:blip r:embed="rId3"/>
          <a:stretch/>
        </p:blipFill>
        <p:spPr>
          <a:xfrm>
            <a:off x="571320" y="1533240"/>
            <a:ext cx="7600680" cy="497448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TextShape 1"/>
          <p:cNvSpPr txBox="1"/>
          <p:nvPr/>
        </p:nvSpPr>
        <p:spPr>
          <a:xfrm>
            <a:off x="685800" y="229320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Queuing Messaging Pattern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72" name="TextShape 3"/>
          <p:cNvSpPr txBox="1"/>
          <p:nvPr/>
        </p:nvSpPr>
        <p:spPr>
          <a:xfrm>
            <a:off x="685800" y="1412640"/>
            <a:ext cx="7772040" cy="483516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One-to-One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3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200" b="0" strike="noStrike" spc="-1" dirty="0">
                <a:solidFill>
                  <a:srgbClr val="FF0000"/>
                </a:solidFill>
                <a:latin typeface="Calibri"/>
              </a:rPr>
              <a:t>One sender, one receiver</a:t>
            </a:r>
            <a:endParaRPr lang="en-US" sz="2200" b="0" strike="noStrike" spc="-1" dirty="0">
              <a:solidFill>
                <a:srgbClr val="660033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3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200" b="0" strike="noStrike" spc="-1" dirty="0">
                <a:solidFill>
                  <a:srgbClr val="FF0000"/>
                </a:solidFill>
                <a:latin typeface="Calibri"/>
              </a:rPr>
              <a:t>Point-to-Point</a:t>
            </a:r>
            <a:endParaRPr lang="en-US" sz="2200" b="0" strike="noStrike" spc="-1" dirty="0">
              <a:solidFill>
                <a:srgbClr val="660033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One-to-Many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3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200" b="0" strike="noStrike" spc="-1" dirty="0">
                <a:solidFill>
                  <a:srgbClr val="FF0000"/>
                </a:solidFill>
                <a:latin typeface="Calibri"/>
              </a:rPr>
              <a:t>One sender, many receivers</a:t>
            </a:r>
            <a:endParaRPr lang="en-US" sz="2200" b="0" strike="noStrike" spc="-1" dirty="0">
              <a:solidFill>
                <a:srgbClr val="660033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Many-to-One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3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200" b="0" strike="noStrike" spc="-1" dirty="0">
                <a:solidFill>
                  <a:srgbClr val="FF0000"/>
                </a:solidFill>
                <a:latin typeface="Calibri"/>
              </a:rPr>
              <a:t>Many senders, one receiver</a:t>
            </a:r>
            <a:endParaRPr lang="en-US" sz="2200" b="0" strike="noStrike" spc="-1" dirty="0">
              <a:solidFill>
                <a:srgbClr val="660033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Many-to-Many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3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200" b="0" strike="noStrike" spc="-1" dirty="0">
                <a:solidFill>
                  <a:srgbClr val="FF0000"/>
                </a:solidFill>
                <a:latin typeface="Calibri"/>
              </a:rPr>
              <a:t>Many senders, many receivers</a:t>
            </a:r>
            <a:endParaRPr lang="en-US" sz="2200" b="0" strike="noStrike" spc="-1" dirty="0">
              <a:solidFill>
                <a:srgbClr val="660033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439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en-US" sz="2200" b="0" strike="noStrike" spc="-1" dirty="0">
                <a:solidFill>
                  <a:srgbClr val="FF0000"/>
                </a:solidFill>
                <a:latin typeface="Calibri"/>
              </a:rPr>
              <a:t>-&gt; Publish and Subscribe</a:t>
            </a:r>
            <a:endParaRPr lang="en-US" sz="2200" b="0" strike="noStrike" spc="-1" dirty="0">
              <a:solidFill>
                <a:srgbClr val="660033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Shape 2"/>
          <p:cNvSpPr txBox="1"/>
          <p:nvPr/>
        </p:nvSpPr>
        <p:spPr>
          <a:xfrm>
            <a:off x="724140" y="326628"/>
            <a:ext cx="6781320" cy="9363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Publish/Subscribe Model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81" name="TextShape 3"/>
          <p:cNvSpPr txBox="1"/>
          <p:nvPr/>
        </p:nvSpPr>
        <p:spPr>
          <a:xfrm>
            <a:off x="582106" y="1559694"/>
            <a:ext cx="7772040" cy="476388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One important and common use of a Message Broker is to help form the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Publish/Subscribe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 model (paradigm)</a:t>
            </a: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In such a model, a broker is responsible not only for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converting messages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 but also for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matching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applications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based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on the messages</a:t>
            </a:r>
            <a:r>
              <a:rPr lang="en-US" sz="2400" b="0" strike="noStrike" spc="-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that are being exchanged</a:t>
            </a: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Applications may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publish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 a message on topic X by sending it to the broker </a:t>
            </a: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Applications with interest in messages on topic X can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subscribe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 to these messages, and will then receive them from the broker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extShape 1"/>
          <p:cNvSpPr txBox="1"/>
          <p:nvPr/>
        </p:nvSpPr>
        <p:spPr>
          <a:xfrm>
            <a:off x="488742" y="291600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Publish and Subscribe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pic>
        <p:nvPicPr>
          <p:cNvPr id="478" name="Content Placeholder 8"/>
          <p:cNvPicPr/>
          <p:nvPr/>
        </p:nvPicPr>
        <p:blipFill>
          <a:blip r:embed="rId3"/>
          <a:stretch/>
        </p:blipFill>
        <p:spPr>
          <a:xfrm>
            <a:off x="407160" y="1556640"/>
            <a:ext cx="8223480" cy="42480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Shape 1"/>
          <p:cNvSpPr txBox="1"/>
          <p:nvPr/>
        </p:nvSpPr>
        <p:spPr>
          <a:xfrm>
            <a:off x="583010" y="165780"/>
            <a:ext cx="6781320" cy="76176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Publish and Subscribe Example</a:t>
            </a:r>
            <a:endParaRPr lang="en-US" sz="3600" b="0" strike="noStrike" spc="-1" dirty="0">
              <a:solidFill>
                <a:srgbClr val="3333CC"/>
              </a:solidFill>
              <a:latin typeface="Times New Roman"/>
            </a:endParaRPr>
          </a:p>
        </p:txBody>
      </p:sp>
      <p:sp>
        <p:nvSpPr>
          <p:cNvPr id="484" name="TextShape 3"/>
          <p:cNvSpPr txBox="1"/>
          <p:nvPr/>
        </p:nvSpPr>
        <p:spPr>
          <a:xfrm>
            <a:off x="685800" y="1412640"/>
            <a:ext cx="7772040" cy="483516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85" name="Picture 6"/>
          <p:cNvPicPr/>
          <p:nvPr/>
        </p:nvPicPr>
        <p:blipFill>
          <a:blip r:embed="rId3"/>
          <a:stretch/>
        </p:blipFill>
        <p:spPr>
          <a:xfrm>
            <a:off x="323640" y="1204200"/>
            <a:ext cx="8496720" cy="504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748</TotalTime>
  <Words>876</Words>
  <Application>Microsoft Office PowerPoint</Application>
  <PresentationFormat>On-screen Show (4:3)</PresentationFormat>
  <Paragraphs>136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Nimbus Roman</vt:lpstr>
      <vt:lpstr>Nimbus Sans</vt:lpstr>
      <vt:lpstr>SimSun</vt:lpstr>
      <vt:lpstr>Arial</vt:lpstr>
      <vt:lpstr>Calibri</vt:lpstr>
      <vt:lpstr>Calibri Light</vt:lpstr>
      <vt:lpstr>Symbol</vt:lpstr>
      <vt:lpstr>Tahoma</vt:lpstr>
      <vt:lpstr>Times New Roman</vt:lpstr>
      <vt:lpstr>Office Theme</vt:lpstr>
      <vt:lpstr>Message-Oriented Middleware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Message-Oriented Middleware</dc:title>
  <dc:creator>Xiang Cao</dc:creator>
  <cp:lastModifiedBy>Xiang Cao</cp:lastModifiedBy>
  <cp:revision>23</cp:revision>
  <dcterms:created xsi:type="dcterms:W3CDTF">2019-02-28T06:45:46Z</dcterms:created>
  <dcterms:modified xsi:type="dcterms:W3CDTF">2025-10-05T01:26:32Z</dcterms:modified>
</cp:coreProperties>
</file>