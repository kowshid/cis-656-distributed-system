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82" r:id="rId3"/>
    <p:sldId id="303" r:id="rId4"/>
    <p:sldId id="304" r:id="rId5"/>
    <p:sldId id="305" r:id="rId6"/>
    <p:sldId id="279" r:id="rId7"/>
    <p:sldId id="328" r:id="rId8"/>
    <p:sldId id="258" r:id="rId9"/>
    <p:sldId id="274" r:id="rId10"/>
    <p:sldId id="331" r:id="rId11"/>
    <p:sldId id="330" r:id="rId12"/>
    <p:sldId id="265" r:id="rId13"/>
    <p:sldId id="307" r:id="rId14"/>
    <p:sldId id="319" r:id="rId15"/>
    <p:sldId id="31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7" autoAdjust="0"/>
    <p:restoredTop sz="85034" autoAdjust="0"/>
  </p:normalViewPr>
  <p:slideViewPr>
    <p:cSldViewPr snapToGrid="0">
      <p:cViewPr varScale="1">
        <p:scale>
          <a:sx n="97" d="100"/>
          <a:sy n="97" d="100"/>
        </p:scale>
        <p:origin x="24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7C1E1-A461-4267-BD13-BD3E70DD6E27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805D0-D712-4B5D-98F7-F0EBD8E2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9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50AF276-A9D1-467A-81FC-B84213260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6BF3-A8D0-41D1-BCE0-D62CCC73F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Most people today take “networks” for granted.  At one point in time it was not exactly intuitive to connect one or more computers together!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First distributed system appeared in 1969 when DARPA created a 4 node network known as ARPANET, which grew to 50 computers by 1972 (universities and gov research labs.)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Early on “networking” meant “dump” terminals attached to mainframes.  However, once the PC emerged in the latest 70s, early 80s terminals started getting replaced with PCs.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Middleware first existed to address a need in certain vertical industries.  Good examples of this are in the banking industry and the airline industry.  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Tech companies started to build out proprietary solutions for this business need: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IBM – SNA, Sperry – DCA, Burroughs – DNA, DEC – DNA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These solutions typically provided File xfer, remote printing, terminal transfer, etc.  They were NOT open, so you were locked into a single vendor.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36FD5A8-FA29-46F6-B532-2922CA686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3BAB3BB-6907-4725-8CF9-DEA7844EAEF6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B0241435-650B-4863-BF98-6C93D5A6E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0D853A3A-9485-462C-BA74-6540EB579A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From a machine that costs $1M and executed 1 instruction per second, now we have machines that cost &lt; $1k that execute &gt; 1B instructions per second.   Price performance gain of 10^13.    e.g. a Rolls Royce would cost $1 and get a billion miles per gallon (and a 200 page manual telling how to open the door)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1BE1043D-FF08-4218-99C6-EA55067F3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6D9CD17-20DE-4828-9969-C408B336CA65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2C81FA96-F413-44E7-A73D-F5314AEA78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5C0ECD-7BD3-4B00-B05C-DF616681F0E3}" type="slidenum">
              <a:rPr lang="en-GB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en-GB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4DB6198-BF39-4AD2-B678-031335F1EA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A1B771F-24EB-4049-80B6-D3D56366D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7EE0F7A-12C4-4DED-B786-057583739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9BCAFF4-CACC-4BA4-8945-0E2805FA2268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01EAC20-5A91-4CA3-B34A-2207DC240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CD6184E-4160-4C25-9A93-97B6208E7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0663" indent="-220663" eaLnBrk="1" hangingPunct="1">
              <a:spcBef>
                <a:spcPct val="0"/>
              </a:spcBef>
            </a:pPr>
            <a:r>
              <a:rPr lang="en-US" altLang="en-US" dirty="0"/>
              <a:t>The computers and networks are heterogeneous.  A layer of software commonly referred to as middleware shields the applications from the differences. </a:t>
            </a:r>
          </a:p>
          <a:p>
            <a:pPr marL="220663" indent="-220663" eaLnBrk="1" hangingPunct="1">
              <a:spcBef>
                <a:spcPct val="0"/>
              </a:spcBef>
            </a:pPr>
            <a:endParaRPr lang="en-US" altLang="en-US" dirty="0"/>
          </a:p>
          <a:p>
            <a:pPr marL="220663" indent="-220663" eaLnBrk="1" hangingPunct="1">
              <a:spcBef>
                <a:spcPct val="0"/>
              </a:spcBef>
            </a:pPr>
            <a:r>
              <a:rPr lang="en-US" altLang="en-US" dirty="0"/>
              <a:t>Goals of Distributed Systems – What are we trying to achieve? </a:t>
            </a:r>
          </a:p>
          <a:p>
            <a:pPr marL="220663" indent="-220663" eaLnBrk="1" hangingPunct="1">
              <a:spcBef>
                <a:spcPct val="0"/>
              </a:spcBef>
            </a:pPr>
            <a:endParaRPr lang="en-US" altLang="en-US" dirty="0"/>
          </a:p>
          <a:p>
            <a:pPr marL="220663" indent="-2206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dirty="0"/>
              <a:t>Making resources accessible</a:t>
            </a:r>
          </a:p>
          <a:p>
            <a:pPr marL="220663" indent="-2206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dirty="0"/>
              <a:t>Distribution transparency</a:t>
            </a:r>
          </a:p>
          <a:p>
            <a:pPr marL="220663" indent="-2206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dirty="0"/>
              <a:t>Openness</a:t>
            </a:r>
          </a:p>
          <a:p>
            <a:pPr marL="220663" indent="-2206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dirty="0"/>
              <a:t>Scalability</a:t>
            </a:r>
          </a:p>
          <a:p>
            <a:pPr marL="220663" indent="-220663" eaLnBrk="1" hangingPunct="1">
              <a:spcBef>
                <a:spcPct val="0"/>
              </a:spcBef>
              <a:buFontTx/>
              <a:buAutoNum type="arabicPeriod"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80E2C90-B7F2-42E0-BB10-2EF44F996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defTabSz="903288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F555B06-2CA8-4BF1-9C3E-E7DB2500DD25}" type="slidenum">
              <a:rPr lang="en-GB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GB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D470A7B-4734-42EF-95DE-26EC860EC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84DD5AC-3BEE-47D0-A8A0-51402B913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E00ED2D-0BCA-464A-8642-B40D76B5F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034985B3-8A26-4343-88E3-379C983E24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`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D63001F-246E-48EE-8645-06E91636E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D773DDD-729E-4F11-B48A-774286DD9A59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2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3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7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8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9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1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2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90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1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C0EE9-11F1-4676-9F99-6AAE0AE2EE35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69864-1491-4D4E-8615-6C6FDBEC9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1343-C3A6-41C7-81D5-927DC4CC8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Middleware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4A129-F217-4E1B-AB46-45FF87342D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5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C415B4DB-EB34-4EF1-AA08-DEEFA7E3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42221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History</a:t>
            </a:r>
          </a:p>
        </p:txBody>
      </p:sp>
      <p:pic>
        <p:nvPicPr>
          <p:cNvPr id="17410" name="Content Placeholder 3" descr="fig2-1.gif">
            <a:extLst>
              <a:ext uri="{FF2B5EF4-FFF2-40B4-BE49-F238E27FC236}">
                <a16:creationId xmlns:a16="http://schemas.microsoft.com/office/drawing/2014/main" id="{8E98E806-D628-4937-9879-A44E315AE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212" r="-30212"/>
          <a:stretch>
            <a:fillRect/>
          </a:stretch>
        </p:blipFill>
        <p:spPr>
          <a:xfrm>
            <a:off x="457200" y="1417638"/>
            <a:ext cx="8275739" cy="4708525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13AF40E2-1A26-4988-A0E8-51579704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The computing revolution</a:t>
            </a:r>
            <a:endParaRPr lang="en-US" altLang="en-US" dirty="0"/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0B49AA9F-A6BA-47F7-9FFD-E092059D5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1067" cy="4351338"/>
          </a:xfrm>
        </p:spPr>
        <p:txBody>
          <a:bodyPr/>
          <a:lstStyle/>
          <a:p>
            <a:r>
              <a:rPr lang="en-US" altLang="en-US" dirty="0"/>
              <a:t>Two important technological advances that accelerated the computing industry</a:t>
            </a:r>
          </a:p>
          <a:p>
            <a:pPr lvl="1"/>
            <a:r>
              <a:rPr lang="en-US" altLang="en-US" dirty="0"/>
              <a:t>Powerful microprocessor technologies</a:t>
            </a:r>
          </a:p>
          <a:p>
            <a:pPr lvl="1"/>
            <a:r>
              <a:rPr lang="en-US" altLang="en-US" dirty="0"/>
              <a:t>High speed computer networks</a:t>
            </a:r>
          </a:p>
          <a:p>
            <a:pPr lvl="2"/>
            <a:r>
              <a:rPr lang="en-US" altLang="en-US" dirty="0"/>
              <a:t>LANs</a:t>
            </a:r>
          </a:p>
          <a:p>
            <a:pPr lvl="2"/>
            <a:r>
              <a:rPr lang="en-US" altLang="en-US" dirty="0"/>
              <a:t>WANs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29CC1B96-2496-47D8-92AA-A1F10697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The rise of heterogeneity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4B950F09-3A0A-47BB-B2D7-CAA894FBF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Computing became a very profitable (and competitive) industry</a:t>
            </a:r>
          </a:p>
          <a:p>
            <a:endParaRPr lang="en-US" altLang="en-US" dirty="0"/>
          </a:p>
          <a:p>
            <a:r>
              <a:rPr lang="en-US" altLang="en-US" dirty="0"/>
              <a:t>Initially, proprietary software/hardware was strategic…</a:t>
            </a:r>
          </a:p>
          <a:p>
            <a:endParaRPr lang="en-US" altLang="en-US" dirty="0"/>
          </a:p>
          <a:p>
            <a:r>
              <a:rPr lang="en-US" altLang="en-US" dirty="0"/>
              <a:t>Eventually, organizations started to put pressure on vendors to standardize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875ADEA-A5BC-4C02-893F-0BA3DCD8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91" y="365126"/>
            <a:ext cx="8808439" cy="1325563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Standards: dealing with heterogeneity 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40ECABE6-D8BB-4066-9A06-59627A75D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Standard Programming Languages</a:t>
            </a:r>
          </a:p>
          <a:p>
            <a:pPr lvl="1"/>
            <a:r>
              <a:rPr lang="en-US" altLang="en-US" dirty="0"/>
              <a:t>E.g. COBOL, C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Standards Interfaces (e.g. databases)</a:t>
            </a:r>
          </a:p>
          <a:p>
            <a:pPr lvl="1"/>
            <a:r>
              <a:rPr lang="en-US" altLang="en-US" dirty="0"/>
              <a:t>SQL, ODBC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Standard Protocols</a:t>
            </a:r>
          </a:p>
          <a:p>
            <a:pPr lvl="1"/>
            <a:r>
              <a:rPr lang="en-US" altLang="en-US" dirty="0"/>
              <a:t>FTP, RPC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2055">
            <a:extLst>
              <a:ext uri="{FF2B5EF4-FFF2-40B4-BE49-F238E27FC236}">
                <a16:creationId xmlns:a16="http://schemas.microsoft.com/office/drawing/2014/main" id="{70C6814D-1F91-4C59-86E0-8295E6046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Middleware objectives</a:t>
            </a:r>
          </a:p>
        </p:txBody>
      </p:sp>
      <p:sp>
        <p:nvSpPr>
          <p:cNvPr id="63496" name="Rectangle 2056">
            <a:extLst>
              <a:ext uri="{FF2B5EF4-FFF2-40B4-BE49-F238E27FC236}">
                <a16:creationId xmlns:a16="http://schemas.microsoft.com/office/drawing/2014/main" id="{DD677DE2-33E2-42D7-A923-C44E1360A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371" y="1834014"/>
            <a:ext cx="8230124" cy="3811777"/>
          </a:xfrm>
        </p:spPr>
        <p:txBody>
          <a:bodyPr/>
          <a:lstStyle/>
          <a:p>
            <a:r>
              <a:rPr lang="en-US" altLang="en-US" sz="2800" dirty="0"/>
              <a:t>Hide heterogeneity</a:t>
            </a:r>
          </a:p>
          <a:p>
            <a:r>
              <a:rPr lang="en-US" altLang="en-US" sz="2800" dirty="0"/>
              <a:t>Location independence</a:t>
            </a:r>
          </a:p>
          <a:p>
            <a:r>
              <a:rPr lang="en-US" altLang="en-US" sz="2800" dirty="0"/>
              <a:t>Common functionality needed by many applications</a:t>
            </a:r>
          </a:p>
          <a:p>
            <a:r>
              <a:rPr lang="en-US" altLang="en-US" sz="2800" dirty="0"/>
              <a:t>Software portability</a:t>
            </a:r>
          </a:p>
          <a:p>
            <a:r>
              <a:rPr lang="en-US" altLang="en-US" sz="2800" dirty="0"/>
              <a:t>Help integrate legacy facilities</a:t>
            </a:r>
          </a:p>
          <a:p>
            <a:r>
              <a:rPr lang="en-US" altLang="en-US" sz="2800" dirty="0"/>
              <a:t>Aid application interoperability</a:t>
            </a:r>
          </a:p>
          <a:p>
            <a:r>
              <a:rPr lang="en-US" altLang="en-US" sz="2800" dirty="0"/>
              <a:t>Aid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283921D8-891A-4059-8EE6-178BA4BA6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The new infrastructure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4EA7429A-E10A-427F-A536-7C82BFF13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Middleware is</a:t>
            </a:r>
          </a:p>
          <a:p>
            <a:pPr lvl="1"/>
            <a:r>
              <a:rPr lang="en-US" altLang="en-US" dirty="0"/>
              <a:t>where new capabilities are added by layering</a:t>
            </a:r>
          </a:p>
          <a:p>
            <a:pPr lvl="1"/>
            <a:r>
              <a:rPr lang="en-US" altLang="en-US" dirty="0"/>
              <a:t>where much of the experimentation and innovation happens in the infrastructure</a:t>
            </a:r>
          </a:p>
          <a:p>
            <a:pPr lvl="1"/>
            <a:r>
              <a:rPr lang="en-US" altLang="en-US" dirty="0"/>
              <a:t>where the successful approaches have a chance to become a spanning layer and/or integrated into a distributed OS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Boundary to a distributed OS is fuzzy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18">
            <a:extLst>
              <a:ext uri="{FF2B5EF4-FFF2-40B4-BE49-F238E27FC236}">
                <a16:creationId xmlns:a16="http://schemas.microsoft.com/office/drawing/2014/main" id="{3497A87A-3170-494A-8054-E8A438BB3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3714750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Distributed Applications</a:t>
            </a:r>
          </a:p>
        </p:txBody>
      </p:sp>
      <p:sp>
        <p:nvSpPr>
          <p:cNvPr id="13316" name="Text Box 17">
            <a:extLst>
              <a:ext uri="{FF2B5EF4-FFF2-40B4-BE49-F238E27FC236}">
                <a16:creationId xmlns:a16="http://schemas.microsoft.com/office/drawing/2014/main" id="{B831849B-2A86-4FD6-8F9E-A9FA1DCF1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790950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Distributed Applications</a:t>
            </a:r>
          </a:p>
        </p:txBody>
      </p:sp>
      <p:sp>
        <p:nvSpPr>
          <p:cNvPr id="13317" name="Text Box 16">
            <a:extLst>
              <a:ext uri="{FF2B5EF4-FFF2-40B4-BE49-F238E27FC236}">
                <a16:creationId xmlns:a16="http://schemas.microsoft.com/office/drawing/2014/main" id="{CABEEAEC-D1E6-462A-9AA0-F989C08B4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197475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Operating System Comms</a:t>
            </a:r>
          </a:p>
        </p:txBody>
      </p:sp>
      <p:sp>
        <p:nvSpPr>
          <p:cNvPr id="13318" name="Text Box 15">
            <a:extLst>
              <a:ext uri="{FF2B5EF4-FFF2-40B4-BE49-F238E27FC236}">
                <a16:creationId xmlns:a16="http://schemas.microsoft.com/office/drawing/2014/main" id="{C5EA9F40-70EF-4C54-BCE4-36CBBA236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273675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Operating System Comms</a:t>
            </a:r>
          </a:p>
        </p:txBody>
      </p:sp>
      <p:sp>
        <p:nvSpPr>
          <p:cNvPr id="13319" name="Text Box 14">
            <a:extLst>
              <a:ext uri="{FF2B5EF4-FFF2-40B4-BE49-F238E27FC236}">
                <a16:creationId xmlns:a16="http://schemas.microsoft.com/office/drawing/2014/main" id="{AA66E549-D6C7-4761-AF7C-74514D00A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883275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Network</a:t>
            </a:r>
          </a:p>
        </p:txBody>
      </p:sp>
      <p:sp>
        <p:nvSpPr>
          <p:cNvPr id="13320" name="Text Box 13">
            <a:extLst>
              <a:ext uri="{FF2B5EF4-FFF2-40B4-BE49-F238E27FC236}">
                <a16:creationId xmlns:a16="http://schemas.microsoft.com/office/drawing/2014/main" id="{7BADA27E-A809-495E-923E-7ED8BF344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959475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/>
              <a:t>Network</a:t>
            </a:r>
          </a:p>
        </p:txBody>
      </p:sp>
      <p:sp>
        <p:nvSpPr>
          <p:cNvPr id="13321" name="Rectangle 2">
            <a:extLst>
              <a:ext uri="{FF2B5EF4-FFF2-40B4-BE49-F238E27FC236}">
                <a16:creationId xmlns:a16="http://schemas.microsoft.com/office/drawing/2014/main" id="{F05B7D96-1062-4246-B1D9-446697625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14313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What is Middleware?</a:t>
            </a:r>
          </a:p>
        </p:txBody>
      </p:sp>
      <p:sp>
        <p:nvSpPr>
          <p:cNvPr id="13322" name="Rectangle 3">
            <a:extLst>
              <a:ext uri="{FF2B5EF4-FFF2-40B4-BE49-F238E27FC236}">
                <a16:creationId xmlns:a16="http://schemas.microsoft.com/office/drawing/2014/main" id="{FA572793-AEBC-45F0-9A41-8EB56F7A5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7548" y="1001375"/>
            <a:ext cx="8279252" cy="2321247"/>
          </a:xfrm>
        </p:spPr>
        <p:txBody>
          <a:bodyPr>
            <a:noAutofit/>
          </a:bodyPr>
          <a:lstStyle/>
          <a:p>
            <a:pPr lvl="1" eaLnBrk="1" hangingPunct="1"/>
            <a:r>
              <a:rPr lang="en-GB" altLang="en-US" dirty="0">
                <a:cs typeface="Times New Roman" panose="02020603050405020304" pitchFamily="18" charset="0"/>
              </a:rPr>
              <a:t>Layer between OS and distributed applications</a:t>
            </a:r>
          </a:p>
          <a:p>
            <a:pPr lvl="1" eaLnBrk="1" hangingPunct="1"/>
            <a:r>
              <a:rPr lang="en-GB" altLang="en-US" dirty="0">
                <a:cs typeface="Times New Roman" panose="02020603050405020304" pitchFamily="18" charset="0"/>
              </a:rPr>
              <a:t>Hides complexity and heterogeneity of distributed system </a:t>
            </a:r>
          </a:p>
          <a:p>
            <a:pPr lvl="1" eaLnBrk="1" hangingPunct="1"/>
            <a:r>
              <a:rPr lang="en-GB" altLang="en-US" dirty="0">
                <a:cs typeface="Times New Roman" panose="02020603050405020304" pitchFamily="18" charset="0"/>
              </a:rPr>
              <a:t>Bridges gap between low-level OS communications and programming language abstractions</a:t>
            </a:r>
          </a:p>
          <a:p>
            <a:pPr lvl="1" eaLnBrk="1" hangingPunct="1"/>
            <a:r>
              <a:rPr lang="en-GB" altLang="en-US" dirty="0">
                <a:cs typeface="Times New Roman" panose="02020603050405020304" pitchFamily="18" charset="0"/>
              </a:rPr>
              <a:t>Provides common programming abstraction and infrastructure for distributed applications</a:t>
            </a:r>
          </a:p>
        </p:txBody>
      </p:sp>
      <p:sp>
        <p:nvSpPr>
          <p:cNvPr id="13323" name="Text Box 6">
            <a:extLst>
              <a:ext uri="{FF2B5EF4-FFF2-40B4-BE49-F238E27FC236}">
                <a16:creationId xmlns:a16="http://schemas.microsoft.com/office/drawing/2014/main" id="{C38C041C-8868-4FE8-BB42-FD4E7A08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3867150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>
                <a:solidFill>
                  <a:schemeClr val="tx1"/>
                </a:solidFill>
              </a:rPr>
              <a:t>Distributed Applications</a:t>
            </a:r>
          </a:p>
        </p:txBody>
      </p:sp>
      <p:sp>
        <p:nvSpPr>
          <p:cNvPr id="13324" name="Text Box 7">
            <a:extLst>
              <a:ext uri="{FF2B5EF4-FFF2-40B4-BE49-F238E27FC236}">
                <a16:creationId xmlns:a16="http://schemas.microsoft.com/office/drawing/2014/main" id="{A6F5DAEA-87C4-4B88-95D2-157924055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4416425"/>
            <a:ext cx="3276600" cy="6858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13325" name="Text Box 8">
            <a:extLst>
              <a:ext uri="{FF2B5EF4-FFF2-40B4-BE49-F238E27FC236}">
                <a16:creationId xmlns:a16="http://schemas.microsoft.com/office/drawing/2014/main" id="{71803C87-D3F1-48D9-919E-DC170A06A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5365750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>
                <a:solidFill>
                  <a:schemeClr val="tx1"/>
                </a:solidFill>
              </a:rPr>
              <a:t>Operating System Comms</a:t>
            </a:r>
          </a:p>
        </p:txBody>
      </p:sp>
      <p:sp>
        <p:nvSpPr>
          <p:cNvPr id="13326" name="Text Box 10">
            <a:extLst>
              <a:ext uri="{FF2B5EF4-FFF2-40B4-BE49-F238E27FC236}">
                <a16:creationId xmlns:a16="http://schemas.microsoft.com/office/drawing/2014/main" id="{C0A6AFAC-98CA-461C-AD37-36A972301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6080125"/>
            <a:ext cx="4370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/>
              <a:t>(packets, bits…)</a:t>
            </a:r>
          </a:p>
        </p:txBody>
      </p:sp>
      <p:sp>
        <p:nvSpPr>
          <p:cNvPr id="13327" name="Text Box 11">
            <a:extLst>
              <a:ext uri="{FF2B5EF4-FFF2-40B4-BE49-F238E27FC236}">
                <a16:creationId xmlns:a16="http://schemas.microsoft.com/office/drawing/2014/main" id="{EBA6F1C9-FC89-427C-A535-313A726D4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4495800"/>
            <a:ext cx="4343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75000"/>
              </a:spcBef>
            </a:pPr>
            <a:r>
              <a:rPr lang="en-GB" altLang="en-US" sz="2000"/>
              <a:t>(remote calls, object invocation, messages, …)</a:t>
            </a:r>
            <a:endParaRPr lang="en-GB" altLang="en-US"/>
          </a:p>
        </p:txBody>
      </p:sp>
      <p:sp>
        <p:nvSpPr>
          <p:cNvPr id="13328" name="Text Box 12">
            <a:extLst>
              <a:ext uri="{FF2B5EF4-FFF2-40B4-BE49-F238E27FC236}">
                <a16:creationId xmlns:a16="http://schemas.microsoft.com/office/drawing/2014/main" id="{D61C11BF-8E37-4321-9320-58D6DCC9C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5445125"/>
            <a:ext cx="4217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altLang="en-US" sz="2000"/>
              <a:t>(sockets, IP, TCP, UDP, …)</a:t>
            </a:r>
          </a:p>
        </p:txBody>
      </p:sp>
      <p:sp>
        <p:nvSpPr>
          <p:cNvPr id="13329" name="Text Box 9">
            <a:extLst>
              <a:ext uri="{FF2B5EF4-FFF2-40B4-BE49-F238E27FC236}">
                <a16:creationId xmlns:a16="http://schemas.microsoft.com/office/drawing/2014/main" id="{70969C27-60C8-46EC-9279-59A1B9505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6051550"/>
            <a:ext cx="3276600" cy="406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3399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>
                <a:solidFill>
                  <a:schemeClr val="tx1"/>
                </a:solidFill>
              </a:rPr>
              <a:t>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612D163-5928-4A9A-81FB-491624654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solidFill>
                  <a:srgbClr val="FF0000"/>
                </a:solidFill>
              </a:rPr>
              <a:t>Distributed systems organized as middleware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3CBF87E1-F176-499D-8EB2-A9FB4227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05424"/>
            <a:ext cx="9144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altLang="en-US" dirty="0"/>
              <a:t>The middleware layer extends over multiple machines and offers each application the same interface.</a:t>
            </a:r>
          </a:p>
        </p:txBody>
      </p:sp>
      <p:pic>
        <p:nvPicPr>
          <p:cNvPr id="35844" name="Picture 6" descr="01-01">
            <a:extLst>
              <a:ext uri="{FF2B5EF4-FFF2-40B4-BE49-F238E27FC236}">
                <a16:creationId xmlns:a16="http://schemas.microsoft.com/office/drawing/2014/main" id="{A04D2627-BCF9-4B88-BF1F-092F0E572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749425"/>
            <a:ext cx="789305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0A88-EE10-2DAE-10A5-0010B42E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AA12-63AD-87A5-2219-1E6CC7FABB25}"/>
              </a:ext>
            </a:extLst>
          </p:cNvPr>
          <p:cNvSpPr txBox="1"/>
          <p:nvPr/>
        </p:nvSpPr>
        <p:spPr>
          <a:xfrm>
            <a:off x="628650" y="1828800"/>
            <a:ext cx="8099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Based on what you have learned so far, do you think middleware is a software or a hardware?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B799B5-4F0D-1C2B-DE2B-BC89F99E7FC7}"/>
              </a:ext>
            </a:extLst>
          </p:cNvPr>
          <p:cNvSpPr/>
          <p:nvPr/>
        </p:nvSpPr>
        <p:spPr>
          <a:xfrm>
            <a:off x="897238" y="4678187"/>
            <a:ext cx="7562537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Please go to </a:t>
            </a:r>
          </a:p>
          <a:p>
            <a:r>
              <a:rPr lang="en-US" sz="5400" dirty="0"/>
              <a:t>	</a:t>
            </a:r>
            <a:r>
              <a:rPr lang="en-US" sz="5400" dirty="0" err="1">
                <a:solidFill>
                  <a:srgbClr val="0070C0"/>
                </a:solidFill>
              </a:rPr>
              <a:t>PollEv.com</a:t>
            </a:r>
            <a:r>
              <a:rPr lang="en-US" sz="5400" dirty="0">
                <a:solidFill>
                  <a:srgbClr val="0070C0"/>
                </a:solidFill>
              </a:rPr>
              <a:t>/cisgvsu429</a:t>
            </a:r>
          </a:p>
        </p:txBody>
      </p:sp>
    </p:spTree>
    <p:extLst>
      <p:ext uri="{BB962C8B-B14F-4D97-AF65-F5344CB8AC3E}">
        <p14:creationId xmlns:p14="http://schemas.microsoft.com/office/powerpoint/2010/main" val="298210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182B023-AD55-49A7-953C-2601B3A75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963" y="365126"/>
            <a:ext cx="8836182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Example: Communication Middleware</a:t>
            </a:r>
          </a:p>
        </p:txBody>
      </p:sp>
      <p:sp>
        <p:nvSpPr>
          <p:cNvPr id="35843" name="Date Placeholder 3">
            <a:extLst>
              <a:ext uri="{FF2B5EF4-FFF2-40B4-BE49-F238E27FC236}">
                <a16:creationId xmlns:a16="http://schemas.microsoft.com/office/drawing/2014/main" id="{D1734426-D661-46A3-9C3A-8F33A5BF64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B6D4A32-E163-426C-9264-C2FFC8F6DF16}" type="datetime1">
              <a:rPr lang="en-US" altLang="en-US" sz="1400" smtClean="0">
                <a:solidFill>
                  <a:srgbClr val="FFFFFF"/>
                </a:solidFill>
              </a:rPr>
              <a:pPr eaLnBrk="1" hangingPunct="1"/>
              <a:t>9/21/2022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D3D6BE-8380-4129-AFFD-45EC15AD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400">
                <a:solidFill>
                  <a:srgbClr val="7B9899"/>
                </a:solidFill>
              </a:rPr>
              <a:t>Page </a:t>
            </a:r>
            <a:fld id="{D593515E-53CA-42B1-9251-437E5A2A03EF}" type="slidenum">
              <a:rPr lang="en-US" altLang="en-US" sz="1400">
                <a:solidFill>
                  <a:srgbClr val="7B9899"/>
                </a:solidFill>
              </a:rPr>
              <a:pPr eaLnBrk="1" hangingPunct="1">
                <a:lnSpc>
                  <a:spcPct val="80000"/>
                </a:lnSpc>
              </a:pPr>
              <a:t>11</a:t>
            </a:fld>
            <a:endParaRPr lang="en-US" altLang="en-US" sz="1400">
              <a:solidFill>
                <a:srgbClr val="7B9899"/>
              </a:solidFill>
            </a:endParaRPr>
          </a:p>
        </p:txBody>
      </p:sp>
      <p:sp>
        <p:nvSpPr>
          <p:cNvPr id="3584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8F9632C-FEFB-45AC-A5CC-D39A22FDACD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35846" name="Rectangle 4">
            <a:extLst>
              <a:ext uri="{FF2B5EF4-FFF2-40B4-BE49-F238E27FC236}">
                <a16:creationId xmlns:a16="http://schemas.microsoft.com/office/drawing/2014/main" id="{0130E617-475C-424C-B6B6-5F2089CC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2438400" cy="609600"/>
          </a:xfrm>
          <a:prstGeom prst="rect">
            <a:avLst/>
          </a:prstGeom>
          <a:solidFill>
            <a:srgbClr val="70FE7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Application</a:t>
            </a:r>
          </a:p>
        </p:txBody>
      </p:sp>
      <p:sp>
        <p:nvSpPr>
          <p:cNvPr id="35847" name="Rectangle 5">
            <a:extLst>
              <a:ext uri="{FF2B5EF4-FFF2-40B4-BE49-F238E27FC236}">
                <a16:creationId xmlns:a16="http://schemas.microsoft.com/office/drawing/2014/main" id="{BE0EE238-8F11-4E03-9E59-43D8C6634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133600"/>
            <a:ext cx="2438400" cy="609600"/>
          </a:xfrm>
          <a:prstGeom prst="rect">
            <a:avLst/>
          </a:prstGeom>
          <a:solidFill>
            <a:srgbClr val="70FE7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Application</a:t>
            </a:r>
          </a:p>
        </p:txBody>
      </p:sp>
      <p:sp>
        <p:nvSpPr>
          <p:cNvPr id="35848" name="Rectangle 6">
            <a:extLst>
              <a:ext uri="{FF2B5EF4-FFF2-40B4-BE49-F238E27FC236}">
                <a16:creationId xmlns:a16="http://schemas.microsoft.com/office/drawing/2014/main" id="{FBAA7D87-E4E1-4123-9130-ECB8F8A7B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76800"/>
            <a:ext cx="2438400" cy="609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dirty="0"/>
              <a:t>Network Protocol Stack</a:t>
            </a:r>
          </a:p>
        </p:txBody>
      </p:sp>
      <p:sp>
        <p:nvSpPr>
          <p:cNvPr id="35849" name="Rectangle 7">
            <a:extLst>
              <a:ext uri="{FF2B5EF4-FFF2-40B4-BE49-F238E27FC236}">
                <a16:creationId xmlns:a16="http://schemas.microsoft.com/office/drawing/2014/main" id="{6A65F6ED-F30E-4815-A29B-BFE82AF0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876800"/>
            <a:ext cx="2438400" cy="609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dirty="0"/>
              <a:t>Network Protocol Stack</a:t>
            </a:r>
          </a:p>
        </p:txBody>
      </p:sp>
      <p:sp>
        <p:nvSpPr>
          <p:cNvPr id="35850" name="Line 8">
            <a:extLst>
              <a:ext uri="{FF2B5EF4-FFF2-40B4-BE49-F238E27FC236}">
                <a16:creationId xmlns:a16="http://schemas.microsoft.com/office/drawing/2014/main" id="{F079EB9B-1428-4F88-A72F-37559499E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7432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9">
            <a:extLst>
              <a:ext uri="{FF2B5EF4-FFF2-40B4-BE49-F238E27FC236}">
                <a16:creationId xmlns:a16="http://schemas.microsoft.com/office/drawing/2014/main" id="{56D61EEE-622A-40E7-99AE-814A2F173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1816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0">
            <a:extLst>
              <a:ext uri="{FF2B5EF4-FFF2-40B4-BE49-F238E27FC236}">
                <a16:creationId xmlns:a16="http://schemas.microsoft.com/office/drawing/2014/main" id="{EC828C25-69FC-4984-BFF4-AA368F1660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27432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1">
            <a:extLst>
              <a:ext uri="{FF2B5EF4-FFF2-40B4-BE49-F238E27FC236}">
                <a16:creationId xmlns:a16="http://schemas.microsoft.com/office/drawing/2014/main" id="{7F3CD617-2CE0-470D-9403-F1F49EEBC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43840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Rectangle 12">
            <a:extLst>
              <a:ext uri="{FF2B5EF4-FFF2-40B4-BE49-F238E27FC236}">
                <a16:creationId xmlns:a16="http://schemas.microsoft.com/office/drawing/2014/main" id="{8B174B2A-EA8E-4B7B-9F79-E47F79E91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505200"/>
            <a:ext cx="2438400" cy="609600"/>
          </a:xfrm>
          <a:prstGeom prst="rect">
            <a:avLst/>
          </a:prstGeom>
          <a:solidFill>
            <a:srgbClr val="71D2F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Middleware</a:t>
            </a:r>
          </a:p>
        </p:txBody>
      </p:sp>
      <p:sp>
        <p:nvSpPr>
          <p:cNvPr id="35855" name="Rectangle 13">
            <a:extLst>
              <a:ext uri="{FF2B5EF4-FFF2-40B4-BE49-F238E27FC236}">
                <a16:creationId xmlns:a16="http://schemas.microsoft.com/office/drawing/2014/main" id="{78C9FFA1-02F3-4F7F-8D9E-466EFF2C7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505200"/>
            <a:ext cx="2438400" cy="609600"/>
          </a:xfrm>
          <a:prstGeom prst="rect">
            <a:avLst/>
          </a:prstGeom>
          <a:solidFill>
            <a:srgbClr val="71D2F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Middleware</a:t>
            </a:r>
          </a:p>
        </p:txBody>
      </p:sp>
      <p:sp>
        <p:nvSpPr>
          <p:cNvPr id="35856" name="Footer Placeholder 16">
            <a:extLst>
              <a:ext uri="{FF2B5EF4-FFF2-40B4-BE49-F238E27FC236}">
                <a16:creationId xmlns:a16="http://schemas.microsoft.com/office/drawing/2014/main" id="{03A753F1-30A2-4FC0-9422-1E7A3E1B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FFFFFF"/>
                </a:solidFill>
              </a:rPr>
              <a:t>Copyright 2010 B. Ramamurthy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6">
            <a:extLst>
              <a:ext uri="{FF2B5EF4-FFF2-40B4-BE49-F238E27FC236}">
                <a16:creationId xmlns:a16="http://schemas.microsoft.com/office/drawing/2014/main" id="{10E57C1A-BCD6-4336-B9C4-91C25AA6F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727" y="234951"/>
            <a:ext cx="8154623" cy="70167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FF0000"/>
                </a:solidFill>
              </a:rPr>
              <a:t>Support and dimensions</a:t>
            </a:r>
          </a:p>
        </p:txBody>
      </p:sp>
      <p:sp>
        <p:nvSpPr>
          <p:cNvPr id="14340" name="Rectangle 1027">
            <a:extLst>
              <a:ext uri="{FF2B5EF4-FFF2-40B4-BE49-F238E27FC236}">
                <a16:creationId xmlns:a16="http://schemas.microsoft.com/office/drawing/2014/main" id="{342EEA6C-B8A0-46E3-8626-A46F0AB26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0727" y="1066800"/>
            <a:ext cx="8478473" cy="50292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Middleware provides support for (some of):</a:t>
            </a:r>
          </a:p>
          <a:p>
            <a:pPr lvl="1" eaLnBrk="1" hangingPunct="1"/>
            <a:r>
              <a:rPr lang="en-GB" altLang="en-US" dirty="0"/>
              <a:t>Naming, Location, Service discovery, Replication </a:t>
            </a:r>
          </a:p>
          <a:p>
            <a:pPr lvl="1" eaLnBrk="1" hangingPunct="1"/>
            <a:r>
              <a:rPr lang="en-GB" altLang="en-US" dirty="0"/>
              <a:t>Protocol handling, Communication faults, QoS</a:t>
            </a:r>
          </a:p>
          <a:p>
            <a:pPr lvl="1" eaLnBrk="1" hangingPunct="1"/>
            <a:r>
              <a:rPr lang="en-GB" altLang="en-US" dirty="0"/>
              <a:t>Synchronisation, Concurrency, Transactions, Storage</a:t>
            </a:r>
          </a:p>
          <a:p>
            <a:pPr lvl="1" eaLnBrk="1" hangingPunct="1"/>
            <a:r>
              <a:rPr lang="en-GB" altLang="en-US" dirty="0"/>
              <a:t>Access control, Authentication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Middleware dimensions:</a:t>
            </a:r>
          </a:p>
          <a:p>
            <a:pPr lvl="1" eaLnBrk="1" hangingPunct="1"/>
            <a:r>
              <a:rPr lang="en-GB" altLang="en-US" dirty="0"/>
              <a:t>Request/Reply 		vs.	Asynchronous Messaging</a:t>
            </a:r>
          </a:p>
          <a:p>
            <a:pPr lvl="1" eaLnBrk="1" hangingPunct="1"/>
            <a:r>
              <a:rPr lang="en-GB" altLang="en-US" dirty="0"/>
              <a:t>Language-specific 	vs. 	Language-independent</a:t>
            </a:r>
          </a:p>
          <a:p>
            <a:pPr lvl="1" eaLnBrk="1" hangingPunct="1"/>
            <a:r>
              <a:rPr lang="en-GB" altLang="en-US" dirty="0"/>
              <a:t>Proprietary 		vs. 	Standards-based</a:t>
            </a:r>
          </a:p>
          <a:p>
            <a:pPr lvl="1" eaLnBrk="1" hangingPunct="1"/>
            <a:r>
              <a:rPr lang="en-GB" altLang="en-US" dirty="0"/>
              <a:t>Small-scale 		vs. 	Large-scale</a:t>
            </a:r>
          </a:p>
          <a:p>
            <a:pPr lvl="1" eaLnBrk="1" hangingPunct="1"/>
            <a:r>
              <a:rPr lang="en-GB" altLang="en-US" dirty="0"/>
              <a:t>Tightly-coupled 		vs. 	Loosely-coupled components</a:t>
            </a:r>
          </a:p>
          <a:p>
            <a:pPr lvl="1" eaLnBrk="1" hangingPunct="1"/>
            <a:endParaRPr lang="en-GB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F9A7D553-31B7-45E5-BE8E-F9EA0DCBA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Middleware Characteristics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7DD5CC7C-0F45-4B32-9341-E86B1327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Meets the needs of a wide variety of applications across many industries</a:t>
            </a:r>
          </a:p>
          <a:p>
            <a:r>
              <a:rPr lang="en-US" altLang="en-US"/>
              <a:t>Cross platform</a:t>
            </a:r>
          </a:p>
          <a:p>
            <a:r>
              <a:rPr lang="en-US" altLang="en-US"/>
              <a:t>Distributed</a:t>
            </a:r>
          </a:p>
          <a:p>
            <a:r>
              <a:rPr lang="en-US" altLang="en-US"/>
              <a:t>Ideally, supports standard protocols</a:t>
            </a:r>
          </a:p>
          <a:p>
            <a:r>
              <a:rPr lang="en-US" altLang="en-US"/>
              <a:t>Supports standard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0475168-3485-4E36-AA47-D4094163C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229600" cy="407988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Categories of services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C23FB0A-4E25-49BF-8D81-A2C1D112E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254" y="1224481"/>
            <a:ext cx="8229600" cy="550224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/>
              <a:t>Data Management Services </a:t>
            </a:r>
            <a:r>
              <a:rPr lang="en-US" altLang="en-US" sz="2600" dirty="0"/>
              <a:t>(e.g., Database and file system middleware).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Communication Services </a:t>
            </a:r>
            <a:r>
              <a:rPr lang="en-US" altLang="en-US" sz="2600" dirty="0"/>
              <a:t>(e.g., </a:t>
            </a:r>
            <a:r>
              <a:rPr lang="en-US" altLang="en-US" sz="2600" b="1" dirty="0"/>
              <a:t>RPC </a:t>
            </a:r>
            <a:r>
              <a:rPr lang="en-US" altLang="en-US" sz="2600" dirty="0"/>
              <a:t>(Remote Procedure Call) 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Messaging </a:t>
            </a:r>
            <a:r>
              <a:rPr lang="en-US" altLang="en-US" sz="2600" dirty="0"/>
              <a:t>middleware (e.g., web service)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Distribution Services </a:t>
            </a:r>
            <a:r>
              <a:rPr lang="en-US" altLang="en-US" sz="2600" dirty="0"/>
              <a:t>(e.g., location, time and security services).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Object-oriented Services </a:t>
            </a:r>
            <a:r>
              <a:rPr lang="en-US" altLang="en-US" sz="2600" dirty="0"/>
              <a:t>(e.g., Java RMI)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Application Co-operation Services </a:t>
            </a:r>
            <a:r>
              <a:rPr lang="en-US" altLang="en-US" sz="2600" dirty="0"/>
              <a:t>(e.g., Transaction-Processing (</a:t>
            </a:r>
            <a:r>
              <a:rPr lang="en-US" altLang="en-US" sz="2600" b="1" dirty="0"/>
              <a:t>TP</a:t>
            </a:r>
            <a:r>
              <a:rPr lang="en-US" altLang="en-US" sz="2600" dirty="0"/>
              <a:t>) monitors, e-mail, etc.).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Presentation Services </a:t>
            </a:r>
            <a:r>
              <a:rPr lang="en-US" altLang="en-US" sz="2600" dirty="0"/>
              <a:t>(e.g., User Interfaces, printing and multi-media middleware).</a:t>
            </a:r>
          </a:p>
          <a:p>
            <a:pPr>
              <a:lnSpc>
                <a:spcPct val="80000"/>
              </a:lnSpc>
            </a:pPr>
            <a:endParaRPr lang="en-US" altLang="en-US" sz="26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System Management Services </a:t>
            </a:r>
            <a:r>
              <a:rPr lang="en-US" altLang="en-US" sz="2600" dirty="0"/>
              <a:t>(e.g., Configuration, change, operations, and performance management services)</a:t>
            </a:r>
          </a:p>
          <a:p>
            <a:pPr>
              <a:lnSpc>
                <a:spcPct val="80000"/>
              </a:lnSpc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BDE6F7A-4753-46FE-A18E-7BF777D0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34818" name="Content Placeholder 4">
            <a:extLst>
              <a:ext uri="{FF2B5EF4-FFF2-40B4-BE49-F238E27FC236}">
                <a16:creationId xmlns:a16="http://schemas.microsoft.com/office/drawing/2014/main" id="{7CF1A56A-FA34-4829-B6AC-BE66E4D13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r>
              <a:rPr lang="en-US" altLang="en-US" dirty="0"/>
              <a:t>Middleware makes it easier to build distributed applications: hides heterogeneity.</a:t>
            </a:r>
          </a:p>
          <a:p>
            <a:endParaRPr lang="en-US" altLang="en-US" dirty="0"/>
          </a:p>
          <a:p>
            <a:r>
              <a:rPr lang="en-US" altLang="en-US" dirty="0"/>
              <a:t>There are different flavors of middleware, each has its own strengths for certain situation.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855</Words>
  <Application>Microsoft Office PowerPoint</Application>
  <PresentationFormat>On-screen Show (4:3)</PresentationFormat>
  <Paragraphs>140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Tahoma</vt:lpstr>
      <vt:lpstr>Times New Roman</vt:lpstr>
      <vt:lpstr>Office Theme</vt:lpstr>
      <vt:lpstr>Middleware</vt:lpstr>
      <vt:lpstr>History</vt:lpstr>
      <vt:lpstr>The computing revolution</vt:lpstr>
      <vt:lpstr>The rise of heterogeneity</vt:lpstr>
      <vt:lpstr>Standards: dealing with heterogeneity </vt:lpstr>
      <vt:lpstr>Middleware objectives</vt:lpstr>
      <vt:lpstr>The new infrastructure</vt:lpstr>
      <vt:lpstr>What is Middleware?</vt:lpstr>
      <vt:lpstr>Distributed systems organized as middleware</vt:lpstr>
      <vt:lpstr>Discussion</vt:lpstr>
      <vt:lpstr>Example: Communication Middleware</vt:lpstr>
      <vt:lpstr>Support and dimensions</vt:lpstr>
      <vt:lpstr>Middleware Characteristics</vt:lpstr>
      <vt:lpstr>Categories of services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</dc:title>
  <dc:creator>Xiang Cao</dc:creator>
  <cp:lastModifiedBy>Xiang Cao</cp:lastModifiedBy>
  <cp:revision>34</cp:revision>
  <dcterms:created xsi:type="dcterms:W3CDTF">2019-01-08T23:48:49Z</dcterms:created>
  <dcterms:modified xsi:type="dcterms:W3CDTF">2022-09-21T23:17:57Z</dcterms:modified>
</cp:coreProperties>
</file>