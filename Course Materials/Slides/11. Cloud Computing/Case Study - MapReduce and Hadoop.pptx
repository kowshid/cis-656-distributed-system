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72" r:id="rId3"/>
    <p:sldId id="422" r:id="rId4"/>
    <p:sldId id="423" r:id="rId5"/>
    <p:sldId id="332" r:id="rId6"/>
    <p:sldId id="425" r:id="rId7"/>
    <p:sldId id="439" r:id="rId8"/>
    <p:sldId id="333" r:id="rId9"/>
    <p:sldId id="353" r:id="rId10"/>
    <p:sldId id="354" r:id="rId11"/>
    <p:sldId id="355" r:id="rId12"/>
    <p:sldId id="356" r:id="rId13"/>
    <p:sldId id="428" r:id="rId14"/>
    <p:sldId id="690" r:id="rId15"/>
    <p:sldId id="688" r:id="rId16"/>
    <p:sldId id="444" r:id="rId17"/>
    <p:sldId id="689" r:id="rId18"/>
    <p:sldId id="427" r:id="rId19"/>
    <p:sldId id="443" r:id="rId20"/>
    <p:sldId id="399" r:id="rId21"/>
    <p:sldId id="281" r:id="rId22"/>
    <p:sldId id="283" r:id="rId23"/>
    <p:sldId id="429" r:id="rId24"/>
    <p:sldId id="687" r:id="rId25"/>
    <p:sldId id="337" r:id="rId26"/>
    <p:sldId id="261" r:id="rId27"/>
    <p:sldId id="44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0" autoAdjust="0"/>
    <p:restoredTop sz="89524" autoAdjust="0"/>
  </p:normalViewPr>
  <p:slideViewPr>
    <p:cSldViewPr snapToGrid="0">
      <p:cViewPr varScale="1">
        <p:scale>
          <a:sx n="114" d="100"/>
          <a:sy n="114" d="100"/>
        </p:scale>
        <p:origin x="2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AB5D5-C7BE-4E9B-8A01-44D6DD89D1D7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B8348-9283-4506-A5CE-6EB72C27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2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454D9E30-1B68-41EE-9541-C90DEF0B09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B69604F3-EB2F-4E3D-A32E-070E2C2562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2F69B-BDED-4DD1-A196-FC6CB0086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C5A20DA-3AB9-4B25-A86F-25DCFB30FBFD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71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86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33185E-32E7-42EF-B591-325CF73424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D02A1-F979-4FF0-8AC9-95544D49110D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0178" name="Rectangle 7">
            <a:extLst>
              <a:ext uri="{FF2B5EF4-FFF2-40B4-BE49-F238E27FC236}">
                <a16:creationId xmlns:a16="http://schemas.microsoft.com/office/drawing/2014/main" id="{FD3F1B4D-FF83-40FE-BB5D-58D078A396C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5879088" indent="-3544728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8904525" indent="-480393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hangingPunct="0"/>
            <a:fld id="{68A92C59-2697-4F84-BAAE-65BB6678C61E}" type="slidenum">
              <a:rPr lang="en-US" altLang="en-US" sz="1200">
                <a:ea typeface="MS PGothic" panose="020B0600070205080204" pitchFamily="34" charset="-128"/>
              </a:rPr>
              <a:pPr algn="r" eaLnBrk="0" hangingPunct="0"/>
              <a:t>21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E12C2164-2091-4047-82C5-696B17B250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95325"/>
            <a:ext cx="4572000" cy="3429000"/>
          </a:xfrm>
          <a:ln/>
        </p:spPr>
      </p:sp>
      <p:sp>
        <p:nvSpPr>
          <p:cNvPr id="50180" name="Text Box 3">
            <a:extLst>
              <a:ext uri="{FF2B5EF4-FFF2-40B4-BE49-F238E27FC236}">
                <a16:creationId xmlns:a16="http://schemas.microsoft.com/office/drawing/2014/main" id="{194E64A8-FE14-4D96-9925-FD427B9BE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32250"/>
          </a:xfrm>
        </p:spPr>
        <p:txBody>
          <a:bodyPr wrap="none" lIns="91432" tIns="45716" rIns="91432" bIns="4571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>
            <a:extLst>
              <a:ext uri="{FF2B5EF4-FFF2-40B4-BE49-F238E27FC236}">
                <a16:creationId xmlns:a16="http://schemas.microsoft.com/office/drawing/2014/main" id="{BDE090FE-76DC-422F-A75F-29841CE5BC9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1381F65B-A422-47CF-9ACA-3D9E8C26C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2200" dirty="0">
              <a:latin typeface="Lucida Grande" pitchFamily="-65" charset="0"/>
              <a:sym typeface="Lucida Grande" pitchFamily="-65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07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5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6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7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9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8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81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4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86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9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5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A234B-902A-405C-A8F0-8894E881EA2C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F79E-9225-4464-9B09-F5AC2AB60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5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0488-559A-4B87-881D-EDE1CE1AC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DDD38-66B5-4808-8BB2-78BC9E972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MapReduce Computing Framework and Hadoop System</a:t>
            </a:r>
          </a:p>
        </p:txBody>
      </p:sp>
    </p:spTree>
    <p:extLst>
      <p:ext uri="{BB962C8B-B14F-4D97-AF65-F5344CB8AC3E}">
        <p14:creationId xmlns:p14="http://schemas.microsoft.com/office/powerpoint/2010/main" val="208053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A1566CC-4FA2-4E7A-A243-A25749077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99" y="317992"/>
            <a:ext cx="7886700" cy="860359"/>
          </a:xfrm>
        </p:spPr>
        <p:txBody>
          <a:bodyPr/>
          <a:lstStyle/>
          <a:p>
            <a:pPr eaLnBrk="1" hangingPunct="1"/>
            <a:r>
              <a:rPr lang="en-US" altLang="en-US" dirty="0"/>
              <a:t>The Context: Big-data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7599E07F-CDFE-4E84-AA2B-1F01BE0097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8504238" cy="4953000"/>
          </a:xfrm>
        </p:spPr>
        <p:txBody>
          <a:bodyPr/>
          <a:lstStyle/>
          <a:p>
            <a:pPr eaLnBrk="1" hangingPunct="1">
              <a:buFont typeface="Wingdings 2" panose="05020102010507070707" pitchFamily="82" charset="2"/>
              <a:buChar char=""/>
            </a:pPr>
            <a:r>
              <a:rPr lang="en-US" altLang="en-US" sz="2400" dirty="0"/>
              <a:t>We are in a knowledge economy.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Data is an important asset to any organization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Discovery of knowledge; Enabling discovery; annotation of data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buFont typeface="Wingdings 2" panose="05020102010507070707" pitchFamily="82" charset="2"/>
              <a:buChar char=""/>
            </a:pPr>
            <a:r>
              <a:rPr lang="en-US" altLang="en-US" sz="2400" dirty="0"/>
              <a:t>We are looking at newer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programming models, and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Supporting algorithms and data structures.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buFont typeface="Wingdings 2" panose="05020102010507070707" pitchFamily="82" charset="2"/>
              <a:buChar char=""/>
            </a:pPr>
            <a:r>
              <a:rPr lang="en-US" altLang="en-US" sz="2400" dirty="0"/>
              <a:t>National Science Foundation (NSF) refers to it as “data-intensive computing” and industry calls it “big-data” and “cloud computing”.</a:t>
            </a:r>
          </a:p>
          <a:p>
            <a:pPr lvl="1" eaLnBrk="1" hangingPunct="1"/>
            <a:endParaRPr lang="en-US" altLang="en-US" sz="2000" dirty="0"/>
          </a:p>
          <a:p>
            <a:pPr eaLnBrk="1" hangingPunct="1">
              <a:buFont typeface="Wingdings 2" panose="05020102010507070707" pitchFamily="82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dirty="0"/>
              <a:t>Process lots of data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Google processed about </a:t>
            </a:r>
            <a:r>
              <a:rPr lang="en-US" dirty="0">
                <a:solidFill>
                  <a:srgbClr val="FF0000"/>
                </a:solidFill>
              </a:rPr>
              <a:t>24 petabytes </a:t>
            </a:r>
            <a:r>
              <a:rPr lang="en-US" dirty="0"/>
              <a:t>of data per day in 2009.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b="1" dirty="0"/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A single machine </a:t>
            </a:r>
            <a:r>
              <a:rPr lang="en-US" dirty="0"/>
              <a:t>cannot serve all the data</a:t>
            </a:r>
          </a:p>
          <a:p>
            <a:pPr lvl="2"/>
            <a:r>
              <a:rPr lang="en-US" dirty="0"/>
              <a:t>You need a distributed system to store and process </a:t>
            </a:r>
            <a:r>
              <a:rPr lang="en-US" b="1" dirty="0">
                <a:solidFill>
                  <a:srgbClr val="CC00CC"/>
                </a:solidFill>
              </a:rPr>
              <a:t>in parallel</a:t>
            </a:r>
          </a:p>
          <a:p>
            <a:pPr lvl="2"/>
            <a:endParaRPr lang="en-US" b="1" dirty="0">
              <a:solidFill>
                <a:srgbClr val="CC00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Parallel programming?</a:t>
            </a:r>
          </a:p>
          <a:p>
            <a:pPr lvl="2"/>
            <a:r>
              <a:rPr lang="en-US" b="1" dirty="0">
                <a:solidFill>
                  <a:srgbClr val="663300"/>
                </a:solidFill>
              </a:rPr>
              <a:t>Threading</a:t>
            </a:r>
            <a:r>
              <a:rPr lang="en-US" dirty="0"/>
              <a:t> is hard!</a:t>
            </a:r>
          </a:p>
          <a:p>
            <a:pPr lvl="2"/>
            <a:r>
              <a:rPr lang="en-US" dirty="0"/>
              <a:t>How do you facilitate </a:t>
            </a:r>
            <a:r>
              <a:rPr lang="en-US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between nodes?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scale to </a:t>
            </a:r>
            <a:r>
              <a:rPr lang="en-US" b="1" dirty="0">
                <a:solidFill>
                  <a:srgbClr val="006600"/>
                </a:solidFill>
              </a:rPr>
              <a:t>more machines</a:t>
            </a:r>
            <a:r>
              <a:rPr lang="en-US" dirty="0"/>
              <a:t>?</a:t>
            </a:r>
          </a:p>
          <a:p>
            <a:pPr lvl="2">
              <a:spcBef>
                <a:spcPts val="0"/>
              </a:spcBef>
            </a:pPr>
            <a:r>
              <a:rPr lang="en-US" dirty="0"/>
              <a:t>How do you handle machine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failures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876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MapReduce </a:t>
            </a:r>
            <a:r>
              <a:rPr lang="en-US" sz="2600" dirty="0"/>
              <a:t>[OSDI’04] </a:t>
            </a:r>
            <a:r>
              <a:rPr lang="en-US" dirty="0"/>
              <a:t>provides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00CC"/>
                </a:solidFill>
              </a:rPr>
              <a:t>Automatic</a:t>
            </a:r>
            <a:r>
              <a:rPr lang="en-US" dirty="0">
                <a:solidFill>
                  <a:srgbClr val="006600"/>
                </a:solidFill>
              </a:rPr>
              <a:t> parallelization, distribution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I/O scheduling</a:t>
            </a:r>
          </a:p>
          <a:p>
            <a:pPr lvl="2"/>
            <a:r>
              <a:rPr lang="en-US" dirty="0"/>
              <a:t>Load balancing</a:t>
            </a:r>
          </a:p>
          <a:p>
            <a:pPr lvl="2"/>
            <a:r>
              <a:rPr lang="en-US" dirty="0"/>
              <a:t>Network and data transfer optimization</a:t>
            </a:r>
          </a:p>
          <a:p>
            <a:pPr lvl="1"/>
            <a:r>
              <a:rPr lang="en-US" dirty="0"/>
              <a:t>Fault tolerance</a:t>
            </a:r>
          </a:p>
          <a:p>
            <a:pPr lvl="2"/>
            <a:r>
              <a:rPr lang="en-US" dirty="0"/>
              <a:t>Handling of machine failures</a:t>
            </a:r>
          </a:p>
          <a:p>
            <a:r>
              <a:rPr lang="en-US" sz="2800" b="1" dirty="0"/>
              <a:t>Need more power: </a:t>
            </a:r>
            <a:r>
              <a:rPr lang="en-US" sz="2800" b="1" dirty="0">
                <a:solidFill>
                  <a:srgbClr val="7030A0"/>
                </a:solidFill>
              </a:rPr>
              <a:t>Scale out</a:t>
            </a:r>
            <a:r>
              <a:rPr lang="en-US" sz="2800" b="1" dirty="0"/>
              <a:t>, not up!</a:t>
            </a:r>
          </a:p>
          <a:p>
            <a:pPr lvl="2"/>
            <a:r>
              <a:rPr lang="en-US" dirty="0"/>
              <a:t>Large number of </a:t>
            </a:r>
            <a:r>
              <a:rPr lang="en-US" b="1" dirty="0">
                <a:solidFill>
                  <a:srgbClr val="0000FF"/>
                </a:solidFill>
              </a:rPr>
              <a:t>commodity servers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as opposed to some high-end specialized servers</a:t>
            </a:r>
          </a:p>
          <a:p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372200" y="2348880"/>
            <a:ext cx="2627784" cy="18002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Apache Hadoop:</a:t>
            </a:r>
          </a:p>
          <a:p>
            <a:pPr algn="ctr"/>
            <a:r>
              <a:rPr lang="en-US" dirty="0"/>
              <a:t>Open source implementation of MapReduce</a:t>
            </a:r>
          </a:p>
        </p:txBody>
      </p:sp>
    </p:spTree>
    <p:extLst>
      <p:ext uri="{BB962C8B-B14F-4D97-AF65-F5344CB8AC3E}">
        <p14:creationId xmlns:p14="http://schemas.microsoft.com/office/powerpoint/2010/main" val="329300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>
            <a:extLst>
              <a:ext uri="{FF2B5EF4-FFF2-40B4-BE49-F238E27FC236}">
                <a16:creationId xmlns:a16="http://schemas.microsoft.com/office/drawing/2014/main" id="{6D20AFC9-B919-4FCB-9EED-40A88FC89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MapReduce</a:t>
            </a:r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B4EFC893-5E32-4B7A-BF1B-45F7F19E7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9328" y="1714500"/>
            <a:ext cx="8402836" cy="4723805"/>
          </a:xfrm>
        </p:spPr>
        <p:txBody>
          <a:bodyPr/>
          <a:lstStyle/>
          <a:p>
            <a:pPr marL="580409"/>
            <a:r>
              <a:rPr lang="en-US" altLang="en-US" dirty="0"/>
              <a:t>MapReduce has three main phases</a:t>
            </a:r>
          </a:p>
          <a:p>
            <a:pPr marL="892937" lvl="1"/>
            <a:r>
              <a:rPr lang="en-US" altLang="en-US" sz="2250" dirty="0"/>
              <a:t>Map (send each input record to a node)</a:t>
            </a:r>
          </a:p>
          <a:p>
            <a:pPr marL="892937" lvl="1"/>
            <a:endParaRPr lang="en-US" altLang="en-US" sz="2250" dirty="0"/>
          </a:p>
          <a:p>
            <a:pPr marL="892937" lvl="1"/>
            <a:r>
              <a:rPr lang="en-US" altLang="en-US" sz="2250" dirty="0"/>
              <a:t>Shuffle/Sort (transfer intermediate results from Map phase to proper places)</a:t>
            </a:r>
          </a:p>
          <a:p>
            <a:pPr marL="1205465" lvl="2"/>
            <a:r>
              <a:rPr lang="en-US" altLang="en-US" sz="2250" dirty="0"/>
              <a:t>handled behind the scenes</a:t>
            </a:r>
          </a:p>
          <a:p>
            <a:pPr marL="1205465" lvl="2"/>
            <a:endParaRPr lang="en-US" altLang="en-US" sz="2250" dirty="0"/>
          </a:p>
          <a:p>
            <a:pPr marL="892937" lvl="1"/>
            <a:r>
              <a:rPr lang="en-US" altLang="en-US" sz="2250" dirty="0"/>
              <a:t>Reduce (operate on intermediate results to get the final results)</a:t>
            </a:r>
          </a:p>
          <a:p>
            <a:pPr marL="1205465" lvl="2"/>
            <a:endParaRPr lang="en-US" altLang="en-US" dirty="0">
              <a:sym typeface="Wingdings" panose="05000000000000000000" pitchFamily="2" charset="2"/>
            </a:endParaRPr>
          </a:p>
          <a:p>
            <a:pPr marL="1205465" lvl="2"/>
            <a:endParaRPr lang="en-US" altLang="en-US" dirty="0"/>
          </a:p>
          <a:p>
            <a:pPr marL="1205465" lvl="2"/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0630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Typical problem solved by </a:t>
            </a:r>
            <a:r>
              <a:rPr lang="en-US" sz="4000" dirty="0" err="1"/>
              <a:t>MapReduce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 a lot of data</a:t>
            </a:r>
          </a:p>
          <a:p>
            <a:r>
              <a:rPr lang="en-US" dirty="0">
                <a:solidFill>
                  <a:srgbClr val="FF0000"/>
                </a:solidFill>
              </a:rPr>
              <a:t>Map</a:t>
            </a:r>
            <a:r>
              <a:rPr lang="en-US" dirty="0"/>
              <a:t>: extract something you care about from each record</a:t>
            </a:r>
          </a:p>
          <a:p>
            <a:r>
              <a:rPr lang="en-US" dirty="0"/>
              <a:t>Shuffle and Sort</a:t>
            </a:r>
          </a:p>
          <a:p>
            <a:r>
              <a:rPr lang="en-US" dirty="0">
                <a:solidFill>
                  <a:srgbClr val="FF0000"/>
                </a:solidFill>
              </a:rPr>
              <a:t>Reduce</a:t>
            </a:r>
            <a:r>
              <a:rPr lang="en-US" dirty="0"/>
              <a:t>: aggregate, summarize, filter, or transform</a:t>
            </a:r>
          </a:p>
          <a:p>
            <a:r>
              <a:rPr lang="en-US" dirty="0"/>
              <a:t>Write the results</a:t>
            </a:r>
          </a:p>
        </p:txBody>
      </p:sp>
    </p:spTree>
    <p:extLst>
      <p:ext uri="{BB962C8B-B14F-4D97-AF65-F5344CB8AC3E}">
        <p14:creationId xmlns:p14="http://schemas.microsoft.com/office/powerpoint/2010/main" val="67949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workflow</a:t>
            </a:r>
          </a:p>
        </p:txBody>
      </p:sp>
      <p:grpSp>
        <p:nvGrpSpPr>
          <p:cNvPr id="135" name="Group 134"/>
          <p:cNvGrpSpPr/>
          <p:nvPr/>
        </p:nvGrpSpPr>
        <p:grpSpPr>
          <a:xfrm>
            <a:off x="5638800" y="2886348"/>
            <a:ext cx="990600" cy="1447800"/>
            <a:chOff x="5638800" y="2886348"/>
            <a:chExt cx="990600" cy="1447800"/>
          </a:xfrm>
        </p:grpSpPr>
        <p:sp>
          <p:nvSpPr>
            <p:cNvPr id="70" name="Oval 23"/>
            <p:cNvSpPr>
              <a:spLocks noChangeArrowheads="1"/>
            </p:cNvSpPr>
            <p:nvPr/>
          </p:nvSpPr>
          <p:spPr bwMode="auto">
            <a:xfrm>
              <a:off x="5638800" y="38769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5638800" y="28863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</p:grpSp>
      <p:grpSp>
        <p:nvGrpSpPr>
          <p:cNvPr id="75" name="Group 65"/>
          <p:cNvGrpSpPr>
            <a:grpSpLocks/>
          </p:cNvGrpSpPr>
          <p:nvPr/>
        </p:nvGrpSpPr>
        <p:grpSpPr bwMode="auto">
          <a:xfrm>
            <a:off x="1981200" y="2581548"/>
            <a:ext cx="990600" cy="2133600"/>
            <a:chOff x="1248" y="2352"/>
            <a:chExt cx="624" cy="1344"/>
          </a:xfrm>
        </p:grpSpPr>
        <p:sp>
          <p:nvSpPr>
            <p:cNvPr id="83" name="Oval 6"/>
            <p:cNvSpPr>
              <a:spLocks noChangeArrowheads="1"/>
            </p:cNvSpPr>
            <p:nvPr/>
          </p:nvSpPr>
          <p:spPr bwMode="auto">
            <a:xfrm>
              <a:off x="1248" y="2352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84" name="Oval 7"/>
            <p:cNvSpPr>
              <a:spLocks noChangeArrowheads="1"/>
            </p:cNvSpPr>
            <p:nvPr/>
          </p:nvSpPr>
          <p:spPr bwMode="auto">
            <a:xfrm>
              <a:off x="1248" y="2880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  <p:sp>
          <p:nvSpPr>
            <p:cNvPr id="85" name="Oval 8"/>
            <p:cNvSpPr>
              <a:spLocks noChangeArrowheads="1"/>
            </p:cNvSpPr>
            <p:nvPr/>
          </p:nvSpPr>
          <p:spPr bwMode="auto">
            <a:xfrm>
              <a:off x="1248" y="3408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</p:grpSp>
      <p:grpSp>
        <p:nvGrpSpPr>
          <p:cNvPr id="91" name="Group 46"/>
          <p:cNvGrpSpPr>
            <a:grpSpLocks/>
          </p:cNvGrpSpPr>
          <p:nvPr/>
        </p:nvGrpSpPr>
        <p:grpSpPr bwMode="auto">
          <a:xfrm>
            <a:off x="1066800" y="2810148"/>
            <a:ext cx="914400" cy="1676400"/>
            <a:chOff x="672" y="2496"/>
            <a:chExt cx="576" cy="1056"/>
          </a:xfrm>
        </p:grpSpPr>
        <p:sp>
          <p:nvSpPr>
            <p:cNvPr id="92" name="Line 42"/>
            <p:cNvSpPr>
              <a:spLocks noChangeShapeType="1"/>
            </p:cNvSpPr>
            <p:nvPr/>
          </p:nvSpPr>
          <p:spPr bwMode="auto">
            <a:xfrm flipV="1">
              <a:off x="672" y="249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43"/>
            <p:cNvSpPr>
              <a:spLocks noChangeShapeType="1"/>
            </p:cNvSpPr>
            <p:nvPr/>
          </p:nvSpPr>
          <p:spPr bwMode="auto">
            <a:xfrm>
              <a:off x="672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44"/>
            <p:cNvSpPr>
              <a:spLocks noChangeShapeType="1"/>
            </p:cNvSpPr>
            <p:nvPr/>
          </p:nvSpPr>
          <p:spPr bwMode="auto">
            <a:xfrm>
              <a:off x="672" y="321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Box 45"/>
            <p:cNvSpPr txBox="1">
              <a:spLocks noChangeArrowheads="1"/>
            </p:cNvSpPr>
            <p:nvPr/>
          </p:nvSpPr>
          <p:spPr bwMode="auto">
            <a:xfrm>
              <a:off x="672" y="2784"/>
              <a:ext cx="4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read</a:t>
              </a:r>
            </a:p>
          </p:txBody>
        </p:sp>
      </p:grpSp>
      <p:grpSp>
        <p:nvGrpSpPr>
          <p:cNvPr id="96" name="Group 51"/>
          <p:cNvGrpSpPr>
            <a:grpSpLocks/>
          </p:cNvGrpSpPr>
          <p:nvPr/>
        </p:nvGrpSpPr>
        <p:grpSpPr bwMode="auto">
          <a:xfrm>
            <a:off x="2971800" y="2581548"/>
            <a:ext cx="1600200" cy="2133600"/>
            <a:chOff x="1872" y="2352"/>
            <a:chExt cx="1008" cy="1344"/>
          </a:xfrm>
        </p:grpSpPr>
        <p:grpSp>
          <p:nvGrpSpPr>
            <p:cNvPr id="97" name="Group 16"/>
            <p:cNvGrpSpPr>
              <a:grpSpLocks/>
            </p:cNvGrpSpPr>
            <p:nvPr/>
          </p:nvGrpSpPr>
          <p:grpSpPr bwMode="auto">
            <a:xfrm>
              <a:off x="2592" y="2352"/>
              <a:ext cx="288" cy="288"/>
              <a:chOff x="2640" y="2160"/>
              <a:chExt cx="288" cy="288"/>
            </a:xfrm>
          </p:grpSpPr>
          <p:sp>
            <p:nvSpPr>
              <p:cNvPr id="108" name="Rectangle 14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9" name="Rectangle 15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8" name="Group 17"/>
            <p:cNvGrpSpPr>
              <a:grpSpLocks/>
            </p:cNvGrpSpPr>
            <p:nvPr/>
          </p:nvGrpSpPr>
          <p:grpSpPr bwMode="auto">
            <a:xfrm>
              <a:off x="2592" y="2880"/>
              <a:ext cx="288" cy="288"/>
              <a:chOff x="2640" y="2160"/>
              <a:chExt cx="288" cy="288"/>
            </a:xfrm>
          </p:grpSpPr>
          <p:sp>
            <p:nvSpPr>
              <p:cNvPr id="106" name="Rectangle 18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7" name="Rectangle 19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9" name="Group 20"/>
            <p:cNvGrpSpPr>
              <a:grpSpLocks/>
            </p:cNvGrpSpPr>
            <p:nvPr/>
          </p:nvGrpSpPr>
          <p:grpSpPr bwMode="auto">
            <a:xfrm>
              <a:off x="2592" y="3408"/>
              <a:ext cx="288" cy="288"/>
              <a:chOff x="2640" y="2160"/>
              <a:chExt cx="288" cy="288"/>
            </a:xfrm>
          </p:grpSpPr>
          <p:sp>
            <p:nvSpPr>
              <p:cNvPr id="104" name="Rectangle 21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5" name="Rectangle 22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00" name="Line 47"/>
            <p:cNvSpPr>
              <a:spLocks noChangeShapeType="1"/>
            </p:cNvSpPr>
            <p:nvPr/>
          </p:nvSpPr>
          <p:spPr bwMode="auto">
            <a:xfrm>
              <a:off x="1872" y="24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48"/>
            <p:cNvSpPr>
              <a:spLocks noChangeShapeType="1"/>
            </p:cNvSpPr>
            <p:nvPr/>
          </p:nvSpPr>
          <p:spPr bwMode="auto">
            <a:xfrm>
              <a:off x="1872" y="30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49"/>
            <p:cNvSpPr>
              <a:spLocks noChangeShapeType="1"/>
            </p:cNvSpPr>
            <p:nvPr/>
          </p:nvSpPr>
          <p:spPr bwMode="auto">
            <a:xfrm>
              <a:off x="1872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 Box 50"/>
            <p:cNvSpPr txBox="1">
              <a:spLocks noChangeArrowheads="1"/>
            </p:cNvSpPr>
            <p:nvPr/>
          </p:nvSpPr>
          <p:spPr bwMode="auto">
            <a:xfrm>
              <a:off x="1970" y="2620"/>
              <a:ext cx="48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local</a:t>
              </a:r>
              <a:endParaRPr lang="en-US" altLang="en-US" dirty="0"/>
            </a:p>
            <a:p>
              <a:r>
                <a:rPr lang="en-US" altLang="en-US" dirty="0"/>
                <a:t>write</a:t>
              </a:r>
            </a:p>
          </p:txBody>
        </p:sp>
      </p:grpSp>
      <p:grpSp>
        <p:nvGrpSpPr>
          <p:cNvPr id="110" name="Group 59"/>
          <p:cNvGrpSpPr>
            <a:grpSpLocks/>
          </p:cNvGrpSpPr>
          <p:nvPr/>
        </p:nvGrpSpPr>
        <p:grpSpPr bwMode="auto">
          <a:xfrm>
            <a:off x="4572000" y="2810147"/>
            <a:ext cx="1074738" cy="2416175"/>
            <a:chOff x="2880" y="2496"/>
            <a:chExt cx="677" cy="1522"/>
          </a:xfrm>
        </p:grpSpPr>
        <p:sp>
          <p:nvSpPr>
            <p:cNvPr id="111" name="Line 52"/>
            <p:cNvSpPr>
              <a:spLocks noChangeShapeType="1"/>
            </p:cNvSpPr>
            <p:nvPr/>
          </p:nvSpPr>
          <p:spPr bwMode="auto">
            <a:xfrm>
              <a:off x="2880" y="249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53"/>
            <p:cNvSpPr>
              <a:spLocks noChangeShapeType="1"/>
            </p:cNvSpPr>
            <p:nvPr/>
          </p:nvSpPr>
          <p:spPr bwMode="auto">
            <a:xfrm>
              <a:off x="2880" y="249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54"/>
            <p:cNvSpPr>
              <a:spLocks noChangeShapeType="1"/>
            </p:cNvSpPr>
            <p:nvPr/>
          </p:nvSpPr>
          <p:spPr bwMode="auto">
            <a:xfrm flipV="1">
              <a:off x="2880" y="268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55"/>
            <p:cNvSpPr>
              <a:spLocks noChangeShapeType="1"/>
            </p:cNvSpPr>
            <p:nvPr/>
          </p:nvSpPr>
          <p:spPr bwMode="auto">
            <a:xfrm>
              <a:off x="2880" y="3024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56"/>
            <p:cNvSpPr>
              <a:spLocks noChangeShapeType="1"/>
            </p:cNvSpPr>
            <p:nvPr/>
          </p:nvSpPr>
          <p:spPr bwMode="auto">
            <a:xfrm flipV="1">
              <a:off x="2880" y="273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57"/>
            <p:cNvSpPr>
              <a:spLocks noChangeShapeType="1"/>
            </p:cNvSpPr>
            <p:nvPr/>
          </p:nvSpPr>
          <p:spPr bwMode="auto">
            <a:xfrm flipV="1">
              <a:off x="2880" y="331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 Box 58"/>
            <p:cNvSpPr txBox="1">
              <a:spLocks noChangeArrowheads="1"/>
            </p:cNvSpPr>
            <p:nvPr/>
          </p:nvSpPr>
          <p:spPr bwMode="auto">
            <a:xfrm>
              <a:off x="2976" y="3456"/>
              <a:ext cx="581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remote</a:t>
              </a:r>
            </a:p>
            <a:p>
              <a:r>
                <a:rPr lang="en-US" altLang="en-US" sz="1600" dirty="0"/>
                <a:t>read</a:t>
              </a:r>
              <a:r>
                <a:rPr lang="en-US" altLang="en-US" dirty="0"/>
                <a:t>,</a:t>
              </a:r>
            </a:p>
            <a:p>
              <a:r>
                <a:rPr lang="en-US" altLang="en-US" dirty="0"/>
                <a:t>sort</a:t>
              </a:r>
            </a:p>
          </p:txBody>
        </p:sp>
      </p:grpSp>
      <p:grpSp>
        <p:nvGrpSpPr>
          <p:cNvPr id="118" name="Group 63"/>
          <p:cNvGrpSpPr>
            <a:grpSpLocks/>
          </p:cNvGrpSpPr>
          <p:nvPr/>
        </p:nvGrpSpPr>
        <p:grpSpPr bwMode="auto">
          <a:xfrm>
            <a:off x="6629400" y="2733948"/>
            <a:ext cx="1981200" cy="1600200"/>
            <a:chOff x="4176" y="2448"/>
            <a:chExt cx="1248" cy="1008"/>
          </a:xfrm>
        </p:grpSpPr>
        <p:sp>
          <p:nvSpPr>
            <p:cNvPr id="119" name="Rectangle 27"/>
            <p:cNvSpPr>
              <a:spLocks noChangeArrowheads="1"/>
            </p:cNvSpPr>
            <p:nvPr/>
          </p:nvSpPr>
          <p:spPr bwMode="auto">
            <a:xfrm>
              <a:off x="4848" y="2448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0</a:t>
              </a:r>
            </a:p>
          </p:txBody>
        </p:sp>
        <p:sp>
          <p:nvSpPr>
            <p:cNvPr id="120" name="Rectangle 28"/>
            <p:cNvSpPr>
              <a:spLocks noChangeArrowheads="1"/>
            </p:cNvSpPr>
            <p:nvPr/>
          </p:nvSpPr>
          <p:spPr bwMode="auto">
            <a:xfrm>
              <a:off x="4848" y="3072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1</a:t>
              </a:r>
            </a:p>
          </p:txBody>
        </p:sp>
        <p:sp>
          <p:nvSpPr>
            <p:cNvPr id="121" name="Line 60"/>
            <p:cNvSpPr>
              <a:spLocks noChangeShapeType="1"/>
            </p:cNvSpPr>
            <p:nvPr/>
          </p:nvSpPr>
          <p:spPr bwMode="auto">
            <a:xfrm>
              <a:off x="4176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61"/>
            <p:cNvSpPr>
              <a:spLocks noChangeShapeType="1"/>
            </p:cNvSpPr>
            <p:nvPr/>
          </p:nvSpPr>
          <p:spPr bwMode="auto">
            <a:xfrm>
              <a:off x="4176" y="331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Text Box 62"/>
            <p:cNvSpPr txBox="1">
              <a:spLocks noChangeArrowheads="1"/>
            </p:cNvSpPr>
            <p:nvPr/>
          </p:nvSpPr>
          <p:spPr bwMode="auto">
            <a:xfrm>
              <a:off x="4214" y="2468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write</a:t>
              </a:r>
            </a:p>
          </p:txBody>
        </p:sp>
      </p:grpSp>
      <p:grpSp>
        <p:nvGrpSpPr>
          <p:cNvPr id="125" name="Group 64"/>
          <p:cNvGrpSpPr>
            <a:grpSpLocks/>
          </p:cNvGrpSpPr>
          <p:nvPr/>
        </p:nvGrpSpPr>
        <p:grpSpPr bwMode="auto">
          <a:xfrm>
            <a:off x="228600" y="3191148"/>
            <a:ext cx="838200" cy="914400"/>
            <a:chOff x="144" y="2736"/>
            <a:chExt cx="528" cy="576"/>
          </a:xfrm>
        </p:grpSpPr>
        <p:sp>
          <p:nvSpPr>
            <p:cNvPr id="127" name="Rectangle 9"/>
            <p:cNvSpPr>
              <a:spLocks noChangeArrowheads="1"/>
            </p:cNvSpPr>
            <p:nvPr/>
          </p:nvSpPr>
          <p:spPr bwMode="auto">
            <a:xfrm>
              <a:off x="144" y="2736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Split 0</a:t>
              </a:r>
            </a:p>
          </p:txBody>
        </p:sp>
        <p:sp>
          <p:nvSpPr>
            <p:cNvPr id="128" name="Rectangle 10"/>
            <p:cNvSpPr>
              <a:spLocks noChangeArrowheads="1"/>
            </p:cNvSpPr>
            <p:nvPr/>
          </p:nvSpPr>
          <p:spPr bwMode="auto">
            <a:xfrm>
              <a:off x="144" y="2928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Split 1</a:t>
              </a:r>
            </a:p>
          </p:txBody>
        </p:sp>
        <p:sp>
          <p:nvSpPr>
            <p:cNvPr id="129" name="Rectangle 11"/>
            <p:cNvSpPr>
              <a:spLocks noChangeArrowheads="1"/>
            </p:cNvSpPr>
            <p:nvPr/>
          </p:nvSpPr>
          <p:spPr bwMode="auto">
            <a:xfrm>
              <a:off x="144" y="3120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Split 2</a:t>
              </a:r>
            </a:p>
          </p:txBody>
        </p:sp>
      </p:grpSp>
      <p:sp>
        <p:nvSpPr>
          <p:cNvPr id="126" name="Text Box 69"/>
          <p:cNvSpPr txBox="1">
            <a:spLocks noChangeArrowheads="1"/>
          </p:cNvSpPr>
          <p:nvPr/>
        </p:nvSpPr>
        <p:spPr bwMode="auto">
          <a:xfrm>
            <a:off x="-65088" y="2060848"/>
            <a:ext cx="1423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/>
              <a:t>Input Data</a:t>
            </a:r>
          </a:p>
        </p:txBody>
      </p:sp>
      <p:sp>
        <p:nvSpPr>
          <p:cNvPr id="131" name="Text Box 69"/>
          <p:cNvSpPr txBox="1">
            <a:spLocks noChangeArrowheads="1"/>
          </p:cNvSpPr>
          <p:nvPr/>
        </p:nvSpPr>
        <p:spPr bwMode="auto">
          <a:xfrm>
            <a:off x="7346953" y="2060848"/>
            <a:ext cx="1611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/>
              <a:t>Output Data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254919" y="5226322"/>
            <a:ext cx="244316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Map</a:t>
            </a:r>
            <a:endParaRPr lang="en-US" b="1" dirty="0"/>
          </a:p>
          <a:p>
            <a:pPr algn="ctr"/>
            <a:r>
              <a:rPr lang="en-US" dirty="0"/>
              <a:t>extract something you care about from each record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229852" y="5226322"/>
            <a:ext cx="180849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Reduce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dirty="0"/>
              <a:t>aggregate, summarize, filter, or transform</a:t>
            </a:r>
          </a:p>
        </p:txBody>
      </p:sp>
    </p:spTree>
    <p:extLst>
      <p:ext uri="{BB962C8B-B14F-4D97-AF65-F5344CB8AC3E}">
        <p14:creationId xmlns:p14="http://schemas.microsoft.com/office/powerpoint/2010/main" val="363760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>
            <a:extLst>
              <a:ext uri="{FF2B5EF4-FFF2-40B4-BE49-F238E27FC236}">
                <a16:creationId xmlns:a16="http://schemas.microsoft.com/office/drawing/2014/main" id="{C08EA679-918F-4770-A4A8-0E92B8573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Mapreduce overview</a:t>
            </a: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E1732695-AB42-43F8-AE97-54A7686FB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696" y="1812727"/>
            <a:ext cx="6013029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AutoShape 3">
            <a:extLst>
              <a:ext uri="{FF2B5EF4-FFF2-40B4-BE49-F238E27FC236}">
                <a16:creationId xmlns:a16="http://schemas.microsoft.com/office/drawing/2014/main" id="{0BE71CB5-766B-4BE5-9953-728195EE5D82}"/>
              </a:ext>
            </a:extLst>
          </p:cNvPr>
          <p:cNvSpPr>
            <a:spLocks/>
          </p:cNvSpPr>
          <p:nvPr/>
        </p:nvSpPr>
        <p:spPr bwMode="auto">
          <a:xfrm>
            <a:off x="2482453" y="1759148"/>
            <a:ext cx="1366242" cy="4830961"/>
          </a:xfrm>
          <a:prstGeom prst="roundRect">
            <a:avLst>
              <a:gd name="adj" fmla="val 9801"/>
            </a:avLst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b"/>
          <a:lstStyle>
            <a:lvl1pPr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9pPr>
          </a:lstStyle>
          <a:p>
            <a:pPr algn="l" eaLnBrk="1" hangingPunct="1"/>
            <a:r>
              <a:rPr lang="en-US" altLang="en-US" sz="225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-65" charset="0"/>
                <a:ea typeface="MS PGothic" panose="020B0600070205080204" pitchFamily="34" charset="-128"/>
                <a:sym typeface="Palatino" pitchFamily="-65" charset="0"/>
              </a:rPr>
              <a:t>Map</a:t>
            </a:r>
          </a:p>
        </p:txBody>
      </p:sp>
      <p:sp>
        <p:nvSpPr>
          <p:cNvPr id="33796" name="AutoShape 4">
            <a:extLst>
              <a:ext uri="{FF2B5EF4-FFF2-40B4-BE49-F238E27FC236}">
                <a16:creationId xmlns:a16="http://schemas.microsoft.com/office/drawing/2014/main" id="{29510D5F-7464-426C-8D4D-C07779F85A79}"/>
              </a:ext>
            </a:extLst>
          </p:cNvPr>
          <p:cNvSpPr>
            <a:spLocks/>
          </p:cNvSpPr>
          <p:nvPr/>
        </p:nvSpPr>
        <p:spPr bwMode="auto">
          <a:xfrm>
            <a:off x="4196953" y="1768078"/>
            <a:ext cx="1875234" cy="4830961"/>
          </a:xfrm>
          <a:prstGeom prst="roundRect">
            <a:avLst>
              <a:gd name="adj" fmla="val 7139"/>
            </a:avLst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b"/>
          <a:lstStyle>
            <a:lvl1pPr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9pPr>
          </a:lstStyle>
          <a:p>
            <a:pPr algn="l" eaLnBrk="1" hangingPunct="1"/>
            <a:r>
              <a:rPr lang="en-US" altLang="en-US" sz="225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-65" charset="0"/>
                <a:ea typeface="MS PGothic" panose="020B0600070205080204" pitchFamily="34" charset="-128"/>
                <a:sym typeface="Palatino" pitchFamily="-65" charset="0"/>
              </a:rPr>
              <a:t>Shuffle/Sort</a:t>
            </a:r>
          </a:p>
        </p:txBody>
      </p:sp>
      <p:sp>
        <p:nvSpPr>
          <p:cNvPr id="33797" name="AutoShape 5">
            <a:extLst>
              <a:ext uri="{FF2B5EF4-FFF2-40B4-BE49-F238E27FC236}">
                <a16:creationId xmlns:a16="http://schemas.microsoft.com/office/drawing/2014/main" id="{82E1F73A-4355-4B60-9681-A30DD7C7EC0F}"/>
              </a:ext>
            </a:extLst>
          </p:cNvPr>
          <p:cNvSpPr>
            <a:spLocks/>
          </p:cNvSpPr>
          <p:nvPr/>
        </p:nvSpPr>
        <p:spPr bwMode="auto">
          <a:xfrm>
            <a:off x="6241852" y="3125391"/>
            <a:ext cx="1875234" cy="3464719"/>
          </a:xfrm>
          <a:prstGeom prst="roundRect">
            <a:avLst>
              <a:gd name="adj" fmla="val 7139"/>
            </a:avLst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b"/>
          <a:lstStyle>
            <a:lvl1pPr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9pPr>
          </a:lstStyle>
          <a:p>
            <a:pPr algn="l" eaLnBrk="1" hangingPunct="1"/>
            <a:r>
              <a:rPr lang="en-US" altLang="en-US" sz="225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-65" charset="0"/>
                <a:ea typeface="MS PGothic" panose="020B0600070205080204" pitchFamily="34" charset="-128"/>
                <a:sym typeface="Palatino" pitchFamily="-65" charset="0"/>
              </a:rPr>
              <a:t>Reduce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C083D05F-C7C7-46F9-B3F1-4BABC496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939F37AB-97CB-41B0-B99E-7B96181E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9939" name="Picture 3" descr="Screen shot 2013-02-04 at 6.26.59 PM.png">
            <a:extLst>
              <a:ext uri="{FF2B5EF4-FFF2-40B4-BE49-F238E27FC236}">
                <a16:creationId xmlns:a16="http://schemas.microsoft.com/office/drawing/2014/main" id="{10036C64-4FBF-468F-8BD5-9CC82F4EB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4" y="321469"/>
            <a:ext cx="8126016" cy="5956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Content Placeholder 4" descr="Screen shot 2013-02-04 at 6.27.09 PM.png">
            <a:extLst>
              <a:ext uri="{FF2B5EF4-FFF2-40B4-BE49-F238E27FC236}">
                <a16:creationId xmlns:a16="http://schemas.microsoft.com/office/drawing/2014/main" id="{4DFC92BF-3D45-4016-9F91-3D31B6606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95" t="990" r="-259"/>
          <a:stretch>
            <a:fillRect/>
          </a:stretch>
        </p:blipFill>
        <p:spPr>
          <a:xfrm>
            <a:off x="714376" y="375047"/>
            <a:ext cx="8191872" cy="5893594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F7BB3D-116F-4468-A448-3AB3F60073DD}"/>
              </a:ext>
            </a:extLst>
          </p:cNvPr>
          <p:cNvSpPr txBox="1"/>
          <p:nvPr/>
        </p:nvSpPr>
        <p:spPr>
          <a:xfrm>
            <a:off x="988784" y="6298287"/>
            <a:ext cx="716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example, we assume we have 3 workers for Map phase (3 </a:t>
            </a:r>
            <a:r>
              <a:rPr lang="en-US" altLang="zh-CN" dirty="0"/>
              <a:t>M</a:t>
            </a:r>
            <a:r>
              <a:rPr lang="en-US" dirty="0"/>
              <a:t>appers).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3" descr="Screen shot 2013-02-04 at 6.27.20 PM.png">
            <a:extLst>
              <a:ext uri="{FF2B5EF4-FFF2-40B4-BE49-F238E27FC236}">
                <a16:creationId xmlns:a16="http://schemas.microsoft.com/office/drawing/2014/main" id="{5F718153-BB1B-4F4A-8F36-F72DAA9F5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76" y="140408"/>
            <a:ext cx="7469048" cy="5761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E0A147-6CAB-44CD-9768-17B9F63012A7}"/>
              </a:ext>
            </a:extLst>
          </p:cNvPr>
          <p:cNvSpPr txBox="1"/>
          <p:nvPr/>
        </p:nvSpPr>
        <p:spPr>
          <a:xfrm>
            <a:off x="930234" y="6348260"/>
            <a:ext cx="746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example, we assume we have 8 workers for Reduce phase (8 Reducers).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97C5AC-59EA-4C92-B489-2AB3A1DAC3A9}"/>
              </a:ext>
            </a:extLst>
          </p:cNvPr>
          <p:cNvSpPr txBox="1"/>
          <p:nvPr/>
        </p:nvSpPr>
        <p:spPr>
          <a:xfrm>
            <a:off x="7607431" y="2007909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10969-C62A-40CC-B06B-346230B553BF}"/>
              </a:ext>
            </a:extLst>
          </p:cNvPr>
          <p:cNvSpPr txBox="1"/>
          <p:nvPr/>
        </p:nvSpPr>
        <p:spPr>
          <a:xfrm>
            <a:off x="7604227" y="2497375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CCCF7-2F79-4C67-9D7D-161553A84AFB}"/>
              </a:ext>
            </a:extLst>
          </p:cNvPr>
          <p:cNvSpPr txBox="1"/>
          <p:nvPr/>
        </p:nvSpPr>
        <p:spPr>
          <a:xfrm>
            <a:off x="7604227" y="2986841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41803-ADC5-40E4-A912-CB11F4A1CBA3}"/>
              </a:ext>
            </a:extLst>
          </p:cNvPr>
          <p:cNvSpPr txBox="1"/>
          <p:nvPr/>
        </p:nvSpPr>
        <p:spPr>
          <a:xfrm>
            <a:off x="7604227" y="3770303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7541E-5577-44C8-B092-412D9D4D477A}"/>
              </a:ext>
            </a:extLst>
          </p:cNvPr>
          <p:cNvSpPr txBox="1"/>
          <p:nvPr/>
        </p:nvSpPr>
        <p:spPr>
          <a:xfrm>
            <a:off x="7616858" y="4466834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7AE975-C91F-4294-8C2F-B25CFF1B7CF4}"/>
              </a:ext>
            </a:extLst>
          </p:cNvPr>
          <p:cNvSpPr txBox="1"/>
          <p:nvPr/>
        </p:nvSpPr>
        <p:spPr>
          <a:xfrm>
            <a:off x="7616858" y="4784606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A04A4-2EBA-466C-8846-35B50619CC89}"/>
              </a:ext>
            </a:extLst>
          </p:cNvPr>
          <p:cNvSpPr txBox="1"/>
          <p:nvPr/>
        </p:nvSpPr>
        <p:spPr>
          <a:xfrm>
            <a:off x="7616858" y="5076434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87C1B-F2C2-4990-B03E-DF4D6DEEAC28}"/>
              </a:ext>
            </a:extLst>
          </p:cNvPr>
          <p:cNvSpPr txBox="1"/>
          <p:nvPr/>
        </p:nvSpPr>
        <p:spPr>
          <a:xfrm>
            <a:off x="7616858" y="5424929"/>
            <a:ext cx="140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Reducer 8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60F8EC-A6CE-471D-80BE-0DC49EC96616}"/>
              </a:ext>
            </a:extLst>
          </p:cNvPr>
          <p:cNvCxnSpPr>
            <a:cxnSpLocks/>
          </p:cNvCxnSpPr>
          <p:nvPr/>
        </p:nvCxnSpPr>
        <p:spPr>
          <a:xfrm flipH="1">
            <a:off x="7346685" y="2198131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18983F-D9D3-4EA4-9FF9-C3896241895F}"/>
              </a:ext>
            </a:extLst>
          </p:cNvPr>
          <p:cNvCxnSpPr>
            <a:cxnSpLocks/>
          </p:cNvCxnSpPr>
          <p:nvPr/>
        </p:nvCxnSpPr>
        <p:spPr>
          <a:xfrm flipH="1">
            <a:off x="7346685" y="2675871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934592-8EAB-4253-AA33-BE941DE73D58}"/>
              </a:ext>
            </a:extLst>
          </p:cNvPr>
          <p:cNvCxnSpPr>
            <a:cxnSpLocks/>
          </p:cNvCxnSpPr>
          <p:nvPr/>
        </p:nvCxnSpPr>
        <p:spPr>
          <a:xfrm flipH="1">
            <a:off x="7346685" y="3174764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73DD52-4A5A-4DF0-83E0-A72E2A23F0C3}"/>
              </a:ext>
            </a:extLst>
          </p:cNvPr>
          <p:cNvCxnSpPr>
            <a:cxnSpLocks/>
          </p:cNvCxnSpPr>
          <p:nvPr/>
        </p:nvCxnSpPr>
        <p:spPr>
          <a:xfrm flipH="1">
            <a:off x="7346685" y="3958226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2528F2-6AA4-4875-9371-4D61BF8C0A77}"/>
              </a:ext>
            </a:extLst>
          </p:cNvPr>
          <p:cNvCxnSpPr>
            <a:cxnSpLocks/>
          </p:cNvCxnSpPr>
          <p:nvPr/>
        </p:nvCxnSpPr>
        <p:spPr>
          <a:xfrm flipH="1">
            <a:off x="7346685" y="4664184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88FFA4-C65A-400B-A291-BAA7254D0AC0}"/>
              </a:ext>
            </a:extLst>
          </p:cNvPr>
          <p:cNvCxnSpPr>
            <a:cxnSpLocks/>
          </p:cNvCxnSpPr>
          <p:nvPr/>
        </p:nvCxnSpPr>
        <p:spPr>
          <a:xfrm flipH="1">
            <a:off x="7346685" y="4969272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399ABF-62AA-4433-A1B7-87AC79191409}"/>
              </a:ext>
            </a:extLst>
          </p:cNvPr>
          <p:cNvCxnSpPr>
            <a:cxnSpLocks/>
          </p:cNvCxnSpPr>
          <p:nvPr/>
        </p:nvCxnSpPr>
        <p:spPr>
          <a:xfrm flipH="1">
            <a:off x="7346685" y="5261100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802B60D-8588-4C4F-A707-A404236FF3BD}"/>
              </a:ext>
            </a:extLst>
          </p:cNvPr>
          <p:cNvCxnSpPr>
            <a:cxnSpLocks/>
          </p:cNvCxnSpPr>
          <p:nvPr/>
        </p:nvCxnSpPr>
        <p:spPr>
          <a:xfrm flipH="1">
            <a:off x="7346685" y="5612852"/>
            <a:ext cx="27017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Content Placeholder 2">
            <a:extLst>
              <a:ext uri="{FF2B5EF4-FFF2-40B4-BE49-F238E27FC236}">
                <a16:creationId xmlns:a16="http://schemas.microsoft.com/office/drawing/2014/main" id="{E1E4F383-EEB5-4F25-A8CB-FF09A96E2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3010" name="Picture 4" descr="Screen shot 2013-02-04 at 6.27.29 PM.png">
            <a:extLst>
              <a:ext uri="{FF2B5EF4-FFF2-40B4-BE49-F238E27FC236}">
                <a16:creationId xmlns:a16="http://schemas.microsoft.com/office/drawing/2014/main" id="{FF77CAF0-3557-4D44-8577-98921EA73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2207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13</a:t>
            </a:fld>
            <a:endParaRPr lang="en-US"/>
          </a:p>
        </p:txBody>
      </p:sp>
      <p:pic>
        <p:nvPicPr>
          <p:cNvPr id="2050" name="Picture 2" descr="http://1.bp.blogspot.com/-UvgLSDv7Rb4/Tbpn3veAOTI/AAAAAAAAAVk/kdaMzLa50BE/s1600/WordCountFlo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" y="620689"/>
            <a:ext cx="9555438" cy="626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239" y="6093296"/>
            <a:ext cx="595840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http://kickstarthadoop.blogspot.ca/2011/04/word-count-hadoop-map-reduce-example.html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662" y="136524"/>
            <a:ext cx="7886700" cy="1325563"/>
          </a:xfrm>
        </p:spPr>
        <p:txBody>
          <a:bodyPr/>
          <a:lstStyle/>
          <a:p>
            <a:r>
              <a:rPr lang="en-US" dirty="0"/>
              <a:t>Word Count: Another Example</a:t>
            </a:r>
          </a:p>
        </p:txBody>
      </p:sp>
      <p:sp>
        <p:nvSpPr>
          <p:cNvPr id="6" name="Rectangle 5"/>
          <p:cNvSpPr/>
          <p:nvPr/>
        </p:nvSpPr>
        <p:spPr>
          <a:xfrm flipH="1" flipV="1">
            <a:off x="1772703" y="1160494"/>
            <a:ext cx="8418917" cy="4668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5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875 0.00093 L 0.23975 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75 0.00093 L 0.38125 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25 0.00093 L 0.51527 0.0009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527 0.00092 L 0.86111 0.0018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9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01CA-CB10-425C-A151-80C66B5E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4371"/>
          </a:xfrm>
        </p:spPr>
        <p:txBody>
          <a:bodyPr/>
          <a:lstStyle/>
          <a:p>
            <a:r>
              <a:rPr lang="en-US" dirty="0" err="1"/>
              <a:t>TeraSort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8A111-6D3A-4144-95C8-73C73D61F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59497"/>
            <a:ext cx="7886700" cy="4351338"/>
          </a:xfrm>
        </p:spPr>
        <p:txBody>
          <a:bodyPr/>
          <a:lstStyle/>
          <a:p>
            <a:r>
              <a:rPr lang="en-US" dirty="0" err="1"/>
              <a:t>TeraSort</a:t>
            </a:r>
            <a:r>
              <a:rPr lang="en-US" dirty="0"/>
              <a:t> is a benchmark for evaluating sorting speed.</a:t>
            </a:r>
          </a:p>
          <a:p>
            <a:r>
              <a:rPr lang="en-US" dirty="0"/>
              <a:t>Created by Jim Gray in 1998.</a:t>
            </a:r>
          </a:p>
          <a:p>
            <a:r>
              <a:rPr lang="en-US" dirty="0"/>
              <a:t>Sort 10 billion 100-Byte records </a:t>
            </a:r>
          </a:p>
          <a:p>
            <a:r>
              <a:rPr lang="en-US" dirty="0"/>
              <a:t>In 2008, a Hadoop MapReduce cluster won the first place: 209 seconds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145DD-6395-4958-96C2-E9B71B6CD0FF}"/>
              </a:ext>
            </a:extLst>
          </p:cNvPr>
          <p:cNvSpPr/>
          <p:nvPr/>
        </p:nvSpPr>
        <p:spPr>
          <a:xfrm>
            <a:off x="1894788" y="4131611"/>
            <a:ext cx="61745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910 nodes</a:t>
            </a:r>
          </a:p>
          <a:p>
            <a:r>
              <a:rPr lang="en-US" dirty="0"/>
              <a:t>4 dual core Xeons @ 2.0ghz per a node</a:t>
            </a:r>
          </a:p>
          <a:p>
            <a:r>
              <a:rPr lang="en-US" dirty="0"/>
              <a:t>4 SATA disks per a node</a:t>
            </a:r>
          </a:p>
          <a:p>
            <a:r>
              <a:rPr lang="en-US" dirty="0"/>
              <a:t>8G RAM per a node</a:t>
            </a:r>
          </a:p>
          <a:p>
            <a:r>
              <a:rPr lang="en-US" dirty="0"/>
              <a:t>1 gigabit ethernet on each node</a:t>
            </a:r>
          </a:p>
          <a:p>
            <a:r>
              <a:rPr lang="en-US" dirty="0"/>
              <a:t>40 nodes per a rack</a:t>
            </a:r>
          </a:p>
          <a:p>
            <a:r>
              <a:rPr lang="en-US" dirty="0"/>
              <a:t>8 gigabit ethernet uplinks from each rack to the core</a:t>
            </a:r>
          </a:p>
          <a:p>
            <a:r>
              <a:rPr lang="en-US" dirty="0"/>
              <a:t>Red Hat Enterprise Linux Server Release 5.1 (kernel 2.6.18)</a:t>
            </a:r>
          </a:p>
          <a:p>
            <a:r>
              <a:rPr lang="en-US" dirty="0"/>
              <a:t>Sun Java JDK 1.6.0_05-b13</a:t>
            </a:r>
          </a:p>
        </p:txBody>
      </p:sp>
    </p:spTree>
    <p:extLst>
      <p:ext uri="{BB962C8B-B14F-4D97-AF65-F5344CB8AC3E}">
        <p14:creationId xmlns:p14="http://schemas.microsoft.com/office/powerpoint/2010/main" val="2604391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C154A-F6B5-4480-8789-98AB3713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idea: only one reducer</a:t>
            </a:r>
          </a:p>
        </p:txBody>
      </p:sp>
      <p:pic>
        <p:nvPicPr>
          <p:cNvPr id="1028" name="Picture 4" descr="http://kubicode.me/img/TeraSort-in-Hadoop/sortInOneReduce.jpg">
            <a:extLst>
              <a:ext uri="{FF2B5EF4-FFF2-40B4-BE49-F238E27FC236}">
                <a16:creationId xmlns:a16="http://schemas.microsoft.com/office/drawing/2014/main" id="{686D0492-4926-457D-AAC2-4E3409F3F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690689"/>
            <a:ext cx="7991475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57778B-1096-4D81-AB98-13A6742101E8}"/>
              </a:ext>
            </a:extLst>
          </p:cNvPr>
          <p:cNvSpPr txBox="1"/>
          <p:nvPr/>
        </p:nvSpPr>
        <p:spPr>
          <a:xfrm>
            <a:off x="1178351" y="6023728"/>
            <a:ext cx="7032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taking advantage of parallelism in the Map phase, rather than in the Reduce phase.</a:t>
            </a:r>
          </a:p>
        </p:txBody>
      </p:sp>
    </p:spTree>
    <p:extLst>
      <p:ext uri="{BB962C8B-B14F-4D97-AF65-F5344CB8AC3E}">
        <p14:creationId xmlns:p14="http://schemas.microsoft.com/office/powerpoint/2010/main" val="1827634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5A9A-BF8A-4449-B739-14B82EFC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TeraSort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C57A-E810-4EEA-B07B-B308A9BA4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custom partitioner that uses a sorted list of N − 1 sampled keys that define the key range for each reduce.</a:t>
            </a:r>
          </a:p>
          <a:p>
            <a:r>
              <a:rPr lang="en-US" dirty="0"/>
              <a:t>In particular, all keys such that sample[</a:t>
            </a:r>
            <a:r>
              <a:rPr lang="en-US" dirty="0" err="1"/>
              <a:t>i</a:t>
            </a:r>
            <a:r>
              <a:rPr lang="en-US" dirty="0"/>
              <a:t> − 1] &lt;= key &lt; sample[</a:t>
            </a:r>
            <a:r>
              <a:rPr lang="en-US" dirty="0" err="1"/>
              <a:t>i</a:t>
            </a:r>
            <a:r>
              <a:rPr lang="en-US" dirty="0"/>
              <a:t>] are sent to reduce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r>
              <a:rPr lang="en-US" dirty="0"/>
              <a:t>This guarantees that the output of reduce </a:t>
            </a:r>
            <a:r>
              <a:rPr lang="en-US" dirty="0" err="1"/>
              <a:t>i</a:t>
            </a:r>
            <a:r>
              <a:rPr lang="en-US" dirty="0"/>
              <a:t> are all less than the output of reduce i+1.</a:t>
            </a:r>
          </a:p>
          <a:p>
            <a:r>
              <a:rPr lang="en-US" dirty="0" err="1"/>
              <a:t>TeraSort</a:t>
            </a:r>
            <a:r>
              <a:rPr lang="en-US" dirty="0"/>
              <a:t> generates the sample keys by sampling the input before the job is submitted and writing the list of keys into HDFS. </a:t>
            </a:r>
          </a:p>
        </p:txBody>
      </p:sp>
    </p:spTree>
    <p:extLst>
      <p:ext uri="{BB962C8B-B14F-4D97-AF65-F5344CB8AC3E}">
        <p14:creationId xmlns:p14="http://schemas.microsoft.com/office/powerpoint/2010/main" val="370137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B8B0-552D-4791-88B3-BFB18AA4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reducers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F684C-894C-4A34-862B-83CAFEF4B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04" y="1904215"/>
            <a:ext cx="7378420" cy="37740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55560E-1507-49A8-AB80-8412B89C36C6}"/>
              </a:ext>
            </a:extLst>
          </p:cNvPr>
          <p:cNvSpPr txBox="1"/>
          <p:nvPr/>
        </p:nvSpPr>
        <p:spPr>
          <a:xfrm>
            <a:off x="556364" y="6042582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0 &lt; Partition 1 &lt; Partition 2 &lt; … &lt; Partition R-1 for all intermediate results</a:t>
            </a:r>
          </a:p>
        </p:txBody>
      </p:sp>
    </p:spTree>
    <p:extLst>
      <p:ext uri="{BB962C8B-B14F-4D97-AF65-F5344CB8AC3E}">
        <p14:creationId xmlns:p14="http://schemas.microsoft.com/office/powerpoint/2010/main" val="3080812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Mappers and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handle more data? Just add more Mappers/Reducers!</a:t>
            </a:r>
          </a:p>
          <a:p>
            <a:endParaRPr lang="en-US" dirty="0"/>
          </a:p>
          <a:p>
            <a:r>
              <a:rPr lang="en-US" dirty="0"/>
              <a:t>No need to handle multithreaded code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lvl="1"/>
            <a:r>
              <a:rPr lang="en-US" dirty="0"/>
              <a:t>Mappers and Reducers are typically single threaded</a:t>
            </a:r>
          </a:p>
          <a:p>
            <a:pPr lvl="1"/>
            <a:r>
              <a:rPr lang="en-US" dirty="0"/>
              <a:t>Mappers/Reducers run entirely independent of each other</a:t>
            </a:r>
          </a:p>
          <a:p>
            <a:pPr lvl="2"/>
            <a:r>
              <a:rPr lang="en-US" dirty="0"/>
              <a:t>In Hadoop, they run in separate JVMs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552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91144" cy="1325563"/>
          </a:xfrm>
        </p:spPr>
        <p:txBody>
          <a:bodyPr>
            <a:normAutofit/>
          </a:bodyPr>
          <a:lstStyle/>
          <a:p>
            <a:r>
              <a:rPr lang="en-US" dirty="0"/>
              <a:t>Hadoop Distributed File System </a:t>
            </a:r>
            <a:r>
              <a:rPr lang="en-US" sz="4000" dirty="0"/>
              <a:t>(HDFS)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data and store 3 replica on commodity servers</a:t>
            </a:r>
          </a:p>
        </p:txBody>
      </p:sp>
      <p:pic>
        <p:nvPicPr>
          <p:cNvPr id="5" name="Content Placeholder 4" descr="C:\Users\bunny\AppData\Roaming\Tencent\Users\501239855\QQ\WinTemp\RichOle\0$BK[BAQ(OAT{}B%KS{3CC0.jpg"/>
          <p:cNvPicPr>
            <a:picLocks noGr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26" y="2679247"/>
            <a:ext cx="5472608" cy="3859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2535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67" y="339720"/>
            <a:ext cx="7886700" cy="1325563"/>
          </a:xfrm>
        </p:spPr>
        <p:txBody>
          <a:bodyPr/>
          <a:lstStyle/>
          <a:p>
            <a:r>
              <a:rPr lang="en-US" dirty="0"/>
              <a:t>Components</a:t>
            </a:r>
          </a:p>
        </p:txBody>
      </p:sp>
      <p:pic>
        <p:nvPicPr>
          <p:cNvPr id="5" name="Content Placeholder 4" descr="C:\Users\bunny\AppData\Roaming\Tencent\Users\501239855\QQ\WinTemp\RichOle\0$BK[BAQ(OAT{}B%KS{3CC0.jpg"/>
          <p:cNvPicPr>
            <a:picLocks noGr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910" y="2316579"/>
            <a:ext cx="4050249" cy="30675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005" y="1783197"/>
            <a:ext cx="4747905" cy="4351338"/>
          </a:xfrm>
        </p:spPr>
        <p:txBody>
          <a:bodyPr>
            <a:normAutofit/>
          </a:bodyPr>
          <a:lstStyle/>
          <a:p>
            <a:r>
              <a:rPr lang="en-US" b="1" dirty="0"/>
              <a:t>Master (NameNode)</a:t>
            </a:r>
          </a:p>
          <a:p>
            <a:pPr lvl="1"/>
            <a:r>
              <a:rPr lang="en-US" dirty="0"/>
              <a:t>Manages metadata </a:t>
            </a:r>
          </a:p>
          <a:p>
            <a:pPr lvl="1"/>
            <a:r>
              <a:rPr lang="en-US" dirty="0"/>
              <a:t>Not involved in data transfer</a:t>
            </a:r>
          </a:p>
          <a:p>
            <a:pPr lvl="1"/>
            <a:r>
              <a:rPr lang="en-US" dirty="0"/>
              <a:t>Controls allocation, placement, replication</a:t>
            </a:r>
          </a:p>
          <a:p>
            <a:pPr lvl="1"/>
            <a:endParaRPr lang="en-US" dirty="0"/>
          </a:p>
          <a:p>
            <a:r>
              <a:rPr lang="en-US" b="1" dirty="0"/>
              <a:t>Chunk Server (DataNode)</a:t>
            </a:r>
          </a:p>
          <a:p>
            <a:pPr lvl="1"/>
            <a:r>
              <a:rPr lang="en-US" dirty="0"/>
              <a:t>Stores chunks of data</a:t>
            </a:r>
          </a:p>
          <a:p>
            <a:pPr lvl="1"/>
            <a:r>
              <a:rPr lang="en-US" dirty="0"/>
              <a:t>Built on local Linux file system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150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2">
            <a:extLst>
              <a:ext uri="{FF2B5EF4-FFF2-40B4-BE49-F238E27FC236}">
                <a16:creationId xmlns:a16="http://schemas.microsoft.com/office/drawing/2014/main" id="{4335AD7B-8A9D-4425-B550-DD5916B8F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2682875"/>
            <a:ext cx="1335087" cy="441325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1639" tIns="42452" rIns="81639" bIns="42452" anchor="ctr" anchorCtr="1"/>
          <a:lstStyle>
            <a:lvl1pPr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00"/>
                </a:solidFill>
                <a:ea typeface="MS PGothic" panose="020B0600070205080204" pitchFamily="34" charset="-128"/>
              </a:rPr>
              <a:t>Secondary</a:t>
            </a:r>
          </a:p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500">
                <a:solidFill>
                  <a:srgbClr val="000000"/>
                </a:solidFill>
                <a:ea typeface="MS PGothic" panose="020B0600070205080204" pitchFamily="34" charset="-128"/>
              </a:rPr>
              <a:t>NameNode</a:t>
            </a:r>
          </a:p>
        </p:txBody>
      </p:sp>
      <p:sp>
        <p:nvSpPr>
          <p:cNvPr id="49155" name="Oval 3">
            <a:extLst>
              <a:ext uri="{FF2B5EF4-FFF2-40B4-BE49-F238E27FC236}">
                <a16:creationId xmlns:a16="http://schemas.microsoft.com/office/drawing/2014/main" id="{6160F0FB-49F8-42FA-B180-EF2BAEC3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3048000"/>
            <a:ext cx="914400" cy="609600"/>
          </a:xfrm>
          <a:prstGeom prst="ellipse">
            <a:avLst/>
          </a:prstGeom>
          <a:solidFill>
            <a:srgbClr val="FF66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1639" tIns="42452" rIns="81639" bIns="42452"/>
          <a:lstStyle>
            <a:lvl1pPr defTabSz="652463"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652463"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00"/>
                </a:solidFill>
                <a:ea typeface="MS PGothic" panose="020B0600070205080204" pitchFamily="34" charset="-128"/>
              </a:rPr>
              <a:t>Client</a:t>
            </a:r>
          </a:p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GB" altLang="en-US" sz="48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901A8B2F-4CB3-47C9-AC0F-F3B158126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533858D2-2B11-412D-8CCF-5345CB214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0822D730-875E-41E0-9665-6CC2FB47B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E5C2223F-1422-4416-AE77-C706758A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0" name="Rectangle 8">
            <a:extLst>
              <a:ext uri="{FF2B5EF4-FFF2-40B4-BE49-F238E27FC236}">
                <a16:creationId xmlns:a16="http://schemas.microsoft.com/office/drawing/2014/main" id="{115FA17A-185A-4F95-9895-3AB040C7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1" name="Rectangle 9">
            <a:extLst>
              <a:ext uri="{FF2B5EF4-FFF2-40B4-BE49-F238E27FC236}">
                <a16:creationId xmlns:a16="http://schemas.microsoft.com/office/drawing/2014/main" id="{F5709C37-57CE-46F3-A060-E69A5BE35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2" name="Rectangle 10">
            <a:extLst>
              <a:ext uri="{FF2B5EF4-FFF2-40B4-BE49-F238E27FC236}">
                <a16:creationId xmlns:a16="http://schemas.microsoft.com/office/drawing/2014/main" id="{DC38BC0E-C2FD-4767-BFD1-708673340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3" name="Rectangle 11">
            <a:extLst>
              <a:ext uri="{FF2B5EF4-FFF2-40B4-BE49-F238E27FC236}">
                <a16:creationId xmlns:a16="http://schemas.microsoft.com/office/drawing/2014/main" id="{27B4097C-9F60-4813-9322-DB9939C8C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4" name="Rectangle 12">
            <a:extLst>
              <a:ext uri="{FF2B5EF4-FFF2-40B4-BE49-F238E27FC236}">
                <a16:creationId xmlns:a16="http://schemas.microsoft.com/office/drawing/2014/main" id="{0D06D18F-7A6F-4B21-AF62-12B5298AE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5" name="AutoShape 13">
            <a:extLst>
              <a:ext uri="{FF2B5EF4-FFF2-40B4-BE49-F238E27FC236}">
                <a16:creationId xmlns:a16="http://schemas.microsoft.com/office/drawing/2014/main" id="{5ACDB1A1-980D-4A8F-AA41-7F05BEC72140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5108575" y="3200400"/>
            <a:ext cx="152400" cy="4267200"/>
          </a:xfrm>
          <a:prstGeom prst="leftBrace">
            <a:avLst>
              <a:gd name="adj1" fmla="val 233333"/>
              <a:gd name="adj2" fmla="val 50000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6" name="Rectangle 14">
            <a:extLst>
              <a:ext uri="{FF2B5EF4-FFF2-40B4-BE49-F238E27FC236}">
                <a16:creationId xmlns:a16="http://schemas.microsoft.com/office/drawing/2014/main" id="{E2952372-6244-4B3E-B215-0DE1A70B7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67" name="Text Box 15">
            <a:extLst>
              <a:ext uri="{FF2B5EF4-FFF2-40B4-BE49-F238E27FC236}">
                <a16:creationId xmlns:a16="http://schemas.microsoft.com/office/drawing/2014/main" id="{0128E51B-D06F-43BF-BA23-2E5260698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1639" tIns="42452" rIns="81639" bIns="42452" anchor="ctr"/>
          <a:lstStyle>
            <a:lvl1pPr defTabSz="652463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652463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3600">
                <a:solidFill>
                  <a:srgbClr val="000000"/>
                </a:solidFill>
                <a:ea typeface="MS PGothic" panose="020B0600070205080204" pitchFamily="34" charset="-128"/>
              </a:rPr>
              <a:t>HDFS Architecture</a:t>
            </a:r>
          </a:p>
        </p:txBody>
      </p:sp>
      <p:sp>
        <p:nvSpPr>
          <p:cNvPr id="49169" name="AutoShape 17">
            <a:extLst>
              <a:ext uri="{FF2B5EF4-FFF2-40B4-BE49-F238E27FC236}">
                <a16:creationId xmlns:a16="http://schemas.microsoft.com/office/drawing/2014/main" id="{82B76BCF-A55B-4CD8-BA47-A459B5F7F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1606550"/>
            <a:ext cx="1341437" cy="45085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1639" tIns="42452" rIns="81639" bIns="42452" anchor="ctr" anchorCtr="1"/>
          <a:lstStyle>
            <a:lvl1pPr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00"/>
                </a:solidFill>
                <a:ea typeface="MS PGothic" panose="020B0600070205080204" pitchFamily="34" charset="-128"/>
              </a:rPr>
              <a:t>NameNode</a:t>
            </a:r>
          </a:p>
        </p:txBody>
      </p:sp>
      <p:sp>
        <p:nvSpPr>
          <p:cNvPr id="49171" name="Text Box 19">
            <a:extLst>
              <a:ext uri="{FF2B5EF4-FFF2-40B4-BE49-F238E27FC236}">
                <a16:creationId xmlns:a16="http://schemas.microsoft.com/office/drawing/2014/main" id="{71AF5837-D329-4D52-9C86-FD7EB0FCA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2763838"/>
            <a:ext cx="18097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2" name="Rectangle 20">
            <a:extLst>
              <a:ext uri="{FF2B5EF4-FFF2-40B4-BE49-F238E27FC236}">
                <a16:creationId xmlns:a16="http://schemas.microsoft.com/office/drawing/2014/main" id="{991C43AA-827D-462A-AA02-426EDC49C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3" name="Rectangle 21">
            <a:extLst>
              <a:ext uri="{FF2B5EF4-FFF2-40B4-BE49-F238E27FC236}">
                <a16:creationId xmlns:a16="http://schemas.microsoft.com/office/drawing/2014/main" id="{40AA5D8A-B50E-48F0-9180-C7930BF2B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4" name="Rectangle 22">
            <a:extLst>
              <a:ext uri="{FF2B5EF4-FFF2-40B4-BE49-F238E27FC236}">
                <a16:creationId xmlns:a16="http://schemas.microsoft.com/office/drawing/2014/main" id="{9E7874CB-91D5-43B2-AA99-0781201FD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5" name="Rectangle 23">
            <a:extLst>
              <a:ext uri="{FF2B5EF4-FFF2-40B4-BE49-F238E27FC236}">
                <a16:creationId xmlns:a16="http://schemas.microsoft.com/office/drawing/2014/main" id="{E6DECB52-DF02-47C4-BE54-159210A12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6" name="Rectangle 24">
            <a:extLst>
              <a:ext uri="{FF2B5EF4-FFF2-40B4-BE49-F238E27FC236}">
                <a16:creationId xmlns:a16="http://schemas.microsoft.com/office/drawing/2014/main" id="{6FB31EDC-DA8C-4628-9622-3508D2263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7" name="Rectangle 25">
            <a:extLst>
              <a:ext uri="{FF2B5EF4-FFF2-40B4-BE49-F238E27FC236}">
                <a16:creationId xmlns:a16="http://schemas.microsoft.com/office/drawing/2014/main" id="{128902B8-5F7A-4C43-82C1-7878215C4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8" name="Rectangle 26">
            <a:extLst>
              <a:ext uri="{FF2B5EF4-FFF2-40B4-BE49-F238E27FC236}">
                <a16:creationId xmlns:a16="http://schemas.microsoft.com/office/drawing/2014/main" id="{FEA8DDEF-1FF2-485C-AA78-6CEB49A8A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79" name="Rectangle 27">
            <a:extLst>
              <a:ext uri="{FF2B5EF4-FFF2-40B4-BE49-F238E27FC236}">
                <a16:creationId xmlns:a16="http://schemas.microsoft.com/office/drawing/2014/main" id="{BC5BF730-8D0E-484D-BB97-A3E834B93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0" name="Rectangle 28">
            <a:extLst>
              <a:ext uri="{FF2B5EF4-FFF2-40B4-BE49-F238E27FC236}">
                <a16:creationId xmlns:a16="http://schemas.microsoft.com/office/drawing/2014/main" id="{904DBD47-CA4B-4DEB-99F3-3A333AB33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1" name="Rectangle 29">
            <a:extLst>
              <a:ext uri="{FF2B5EF4-FFF2-40B4-BE49-F238E27FC236}">
                <a16:creationId xmlns:a16="http://schemas.microsoft.com/office/drawing/2014/main" id="{D546AD83-1E3B-4540-91C6-C3F71A39A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2" name="Rectangle 30">
            <a:extLst>
              <a:ext uri="{FF2B5EF4-FFF2-40B4-BE49-F238E27FC236}">
                <a16:creationId xmlns:a16="http://schemas.microsoft.com/office/drawing/2014/main" id="{BB910BD8-C912-4FE5-8C20-D249896F3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3" name="Rectangle 31">
            <a:extLst>
              <a:ext uri="{FF2B5EF4-FFF2-40B4-BE49-F238E27FC236}">
                <a16:creationId xmlns:a16="http://schemas.microsoft.com/office/drawing/2014/main" id="{D25F4401-9729-4F57-B627-824B90EEB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4" name="Rectangle 32">
            <a:extLst>
              <a:ext uri="{FF2B5EF4-FFF2-40B4-BE49-F238E27FC236}">
                <a16:creationId xmlns:a16="http://schemas.microsoft.com/office/drawing/2014/main" id="{CF7C3C04-9618-4B92-8A68-4C184F7ED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5" name="Rectangle 33">
            <a:extLst>
              <a:ext uri="{FF2B5EF4-FFF2-40B4-BE49-F238E27FC236}">
                <a16:creationId xmlns:a16="http://schemas.microsoft.com/office/drawing/2014/main" id="{097230CD-3EF7-4FFA-BF9B-D45BD8390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6" name="Rectangle 34">
            <a:extLst>
              <a:ext uri="{FF2B5EF4-FFF2-40B4-BE49-F238E27FC236}">
                <a16:creationId xmlns:a16="http://schemas.microsoft.com/office/drawing/2014/main" id="{035A7EA3-92FB-42C1-B940-8C63D9654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7" name="Rectangle 35">
            <a:extLst>
              <a:ext uri="{FF2B5EF4-FFF2-40B4-BE49-F238E27FC236}">
                <a16:creationId xmlns:a16="http://schemas.microsoft.com/office/drawing/2014/main" id="{6D3268DC-4005-4191-9CF0-01DCD4EF4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8" name="Rectangle 36">
            <a:extLst>
              <a:ext uri="{FF2B5EF4-FFF2-40B4-BE49-F238E27FC236}">
                <a16:creationId xmlns:a16="http://schemas.microsoft.com/office/drawing/2014/main" id="{9A4D6DE6-6FC1-4C6E-960A-325C4FE4B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89" name="Rectangle 37">
            <a:extLst>
              <a:ext uri="{FF2B5EF4-FFF2-40B4-BE49-F238E27FC236}">
                <a16:creationId xmlns:a16="http://schemas.microsoft.com/office/drawing/2014/main" id="{51E80E3C-9212-4FC6-A7C3-E60FBCB2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0" name="Rectangle 38">
            <a:extLst>
              <a:ext uri="{FF2B5EF4-FFF2-40B4-BE49-F238E27FC236}">
                <a16:creationId xmlns:a16="http://schemas.microsoft.com/office/drawing/2014/main" id="{BA4833CB-77B1-4AC4-82D0-DF48D2E0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1" name="Rectangle 39">
            <a:extLst>
              <a:ext uri="{FF2B5EF4-FFF2-40B4-BE49-F238E27FC236}">
                <a16:creationId xmlns:a16="http://schemas.microsoft.com/office/drawing/2014/main" id="{AF8F2E78-129C-447D-913F-DE4F26929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2" name="Rectangle 40">
            <a:extLst>
              <a:ext uri="{FF2B5EF4-FFF2-40B4-BE49-F238E27FC236}">
                <a16:creationId xmlns:a16="http://schemas.microsoft.com/office/drawing/2014/main" id="{EE5ED140-AAF0-4874-A7F8-C07548712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3" name="Rectangle 41">
            <a:extLst>
              <a:ext uri="{FF2B5EF4-FFF2-40B4-BE49-F238E27FC236}">
                <a16:creationId xmlns:a16="http://schemas.microsoft.com/office/drawing/2014/main" id="{D783C55D-2C1D-4A55-B09D-1BBAE686C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4" name="Rectangle 42">
            <a:extLst>
              <a:ext uri="{FF2B5EF4-FFF2-40B4-BE49-F238E27FC236}">
                <a16:creationId xmlns:a16="http://schemas.microsoft.com/office/drawing/2014/main" id="{471B5E89-E121-49B5-952D-E19B6146C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5" name="Rectangle 43">
            <a:extLst>
              <a:ext uri="{FF2B5EF4-FFF2-40B4-BE49-F238E27FC236}">
                <a16:creationId xmlns:a16="http://schemas.microsoft.com/office/drawing/2014/main" id="{8791D14A-26DB-46F8-B9AA-40150C82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6" name="Rectangle 44">
            <a:extLst>
              <a:ext uri="{FF2B5EF4-FFF2-40B4-BE49-F238E27FC236}">
                <a16:creationId xmlns:a16="http://schemas.microsoft.com/office/drawing/2014/main" id="{69CA1D79-E0BF-4F53-8F6F-0C274B661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4196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7" name="Rectangle 45">
            <a:extLst>
              <a:ext uri="{FF2B5EF4-FFF2-40B4-BE49-F238E27FC236}">
                <a16:creationId xmlns:a16="http://schemas.microsoft.com/office/drawing/2014/main" id="{92AB973F-C209-4C54-B747-9C93FEEDC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8" name="Rectangle 46">
            <a:extLst>
              <a:ext uri="{FF2B5EF4-FFF2-40B4-BE49-F238E27FC236}">
                <a16:creationId xmlns:a16="http://schemas.microsoft.com/office/drawing/2014/main" id="{EAD074FB-7816-4872-849B-EEBFBE6E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199" name="Rectangle 47">
            <a:extLst>
              <a:ext uri="{FF2B5EF4-FFF2-40B4-BE49-F238E27FC236}">
                <a16:creationId xmlns:a16="http://schemas.microsoft.com/office/drawing/2014/main" id="{51809CCD-8F2E-4113-8692-922725543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0" name="Rectangle 48">
            <a:extLst>
              <a:ext uri="{FF2B5EF4-FFF2-40B4-BE49-F238E27FC236}">
                <a16:creationId xmlns:a16="http://schemas.microsoft.com/office/drawing/2014/main" id="{6FAE8F87-FFD7-40F5-A35C-09CD305A6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1" name="Rectangle 49">
            <a:extLst>
              <a:ext uri="{FF2B5EF4-FFF2-40B4-BE49-F238E27FC236}">
                <a16:creationId xmlns:a16="http://schemas.microsoft.com/office/drawing/2014/main" id="{60544B8D-F0F7-4BBC-875E-66042A94F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196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2" name="Rectangle 50">
            <a:extLst>
              <a:ext uri="{FF2B5EF4-FFF2-40B4-BE49-F238E27FC236}">
                <a16:creationId xmlns:a16="http://schemas.microsoft.com/office/drawing/2014/main" id="{9DC3AF26-5D10-4D76-BC66-D113FD9CE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9624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3" name="Rectangle 51">
            <a:extLst>
              <a:ext uri="{FF2B5EF4-FFF2-40B4-BE49-F238E27FC236}">
                <a16:creationId xmlns:a16="http://schemas.microsoft.com/office/drawing/2014/main" id="{A35A74EA-4197-4C12-918B-708D849A8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9624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4" name="Rectangle 52">
            <a:extLst>
              <a:ext uri="{FF2B5EF4-FFF2-40B4-BE49-F238E27FC236}">
                <a16:creationId xmlns:a16="http://schemas.microsoft.com/office/drawing/2014/main" id="{06802987-770B-47C0-890B-62F49ACD8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9624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5" name="Rectangle 53">
            <a:extLst>
              <a:ext uri="{FF2B5EF4-FFF2-40B4-BE49-F238E27FC236}">
                <a16:creationId xmlns:a16="http://schemas.microsoft.com/office/drawing/2014/main" id="{054E9530-9D8F-4649-BD06-5EB27D323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9624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6" name="Rectangle 54">
            <a:extLst>
              <a:ext uri="{FF2B5EF4-FFF2-40B4-BE49-F238E27FC236}">
                <a16:creationId xmlns:a16="http://schemas.microsoft.com/office/drawing/2014/main" id="{D9E897D0-7785-4980-9B17-2C4098F8D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39624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7" name="Rectangle 55">
            <a:extLst>
              <a:ext uri="{FF2B5EF4-FFF2-40B4-BE49-F238E27FC236}">
                <a16:creationId xmlns:a16="http://schemas.microsoft.com/office/drawing/2014/main" id="{36F7A938-FC11-436C-BDA0-F76932311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9624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8" name="Rectangle 56">
            <a:extLst>
              <a:ext uri="{FF2B5EF4-FFF2-40B4-BE49-F238E27FC236}">
                <a16:creationId xmlns:a16="http://schemas.microsoft.com/office/drawing/2014/main" id="{0F105706-64F0-4A2C-8D45-7D9E6CA8E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39624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09" name="Rectangle 57">
            <a:extLst>
              <a:ext uri="{FF2B5EF4-FFF2-40B4-BE49-F238E27FC236}">
                <a16:creationId xmlns:a16="http://schemas.microsoft.com/office/drawing/2014/main" id="{FD9909AD-B2CA-4708-9F8C-A63FA1B90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9624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0" name="Rectangle 58">
            <a:extLst>
              <a:ext uri="{FF2B5EF4-FFF2-40B4-BE49-F238E27FC236}">
                <a16:creationId xmlns:a16="http://schemas.microsoft.com/office/drawing/2014/main" id="{0A99746F-3A3D-4197-A14C-3BDFAE079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39624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1" name="Rectangle 59">
            <a:extLst>
              <a:ext uri="{FF2B5EF4-FFF2-40B4-BE49-F238E27FC236}">
                <a16:creationId xmlns:a16="http://schemas.microsoft.com/office/drawing/2014/main" id="{58B23CBA-AC12-443F-BFDF-961F38534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39624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2" name="Rectangle 60">
            <a:extLst>
              <a:ext uri="{FF2B5EF4-FFF2-40B4-BE49-F238E27FC236}">
                <a16:creationId xmlns:a16="http://schemas.microsoft.com/office/drawing/2014/main" id="{686BD795-36D2-4E63-ACAB-9F919E16C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052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3" name="Rectangle 61">
            <a:extLst>
              <a:ext uri="{FF2B5EF4-FFF2-40B4-BE49-F238E27FC236}">
                <a16:creationId xmlns:a16="http://schemas.microsoft.com/office/drawing/2014/main" id="{417F31AA-A02E-49D5-86B9-CE4590404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5052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4" name="Rectangle 62">
            <a:extLst>
              <a:ext uri="{FF2B5EF4-FFF2-40B4-BE49-F238E27FC236}">
                <a16:creationId xmlns:a16="http://schemas.microsoft.com/office/drawing/2014/main" id="{A44E95F8-3206-42E9-BF55-5D6D6C567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5052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5" name="Rectangle 63">
            <a:extLst>
              <a:ext uri="{FF2B5EF4-FFF2-40B4-BE49-F238E27FC236}">
                <a16:creationId xmlns:a16="http://schemas.microsoft.com/office/drawing/2014/main" id="{21C81BC0-4777-4C69-8364-8B1DEB10B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35052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6" name="Rectangle 64">
            <a:extLst>
              <a:ext uri="{FF2B5EF4-FFF2-40B4-BE49-F238E27FC236}">
                <a16:creationId xmlns:a16="http://schemas.microsoft.com/office/drawing/2014/main" id="{025EDF1D-2A3B-40D0-A2D9-18A33BBBD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35052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7" name="Rectangle 65">
            <a:extLst>
              <a:ext uri="{FF2B5EF4-FFF2-40B4-BE49-F238E27FC236}">
                <a16:creationId xmlns:a16="http://schemas.microsoft.com/office/drawing/2014/main" id="{0F300522-0A06-440D-820D-B69707531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052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8" name="Rectangle 66">
            <a:extLst>
              <a:ext uri="{FF2B5EF4-FFF2-40B4-BE49-F238E27FC236}">
                <a16:creationId xmlns:a16="http://schemas.microsoft.com/office/drawing/2014/main" id="{744B26A0-F510-41D2-A0BC-B58CD82D1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35052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19" name="Rectangle 67">
            <a:extLst>
              <a:ext uri="{FF2B5EF4-FFF2-40B4-BE49-F238E27FC236}">
                <a16:creationId xmlns:a16="http://schemas.microsoft.com/office/drawing/2014/main" id="{4E0B7010-500A-46A0-B4A8-4541BCDB0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5052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0" name="Rectangle 68">
            <a:extLst>
              <a:ext uri="{FF2B5EF4-FFF2-40B4-BE49-F238E27FC236}">
                <a16:creationId xmlns:a16="http://schemas.microsoft.com/office/drawing/2014/main" id="{7E62BEF3-CD65-4E6A-B2D1-43289CC03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35052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1" name="Rectangle 69">
            <a:extLst>
              <a:ext uri="{FF2B5EF4-FFF2-40B4-BE49-F238E27FC236}">
                <a16:creationId xmlns:a16="http://schemas.microsoft.com/office/drawing/2014/main" id="{84D33888-B521-40FD-9010-4B8A3B17B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35052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2" name="Rectangle 70">
            <a:extLst>
              <a:ext uri="{FF2B5EF4-FFF2-40B4-BE49-F238E27FC236}">
                <a16:creationId xmlns:a16="http://schemas.microsoft.com/office/drawing/2014/main" id="{9D6486B2-735C-4E14-AC69-D1F850948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3" name="Rectangle 71">
            <a:extLst>
              <a:ext uri="{FF2B5EF4-FFF2-40B4-BE49-F238E27FC236}">
                <a16:creationId xmlns:a16="http://schemas.microsoft.com/office/drawing/2014/main" id="{7E67564A-F6C4-4698-84AD-EA0E93E6B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4" name="Rectangle 72">
            <a:extLst>
              <a:ext uri="{FF2B5EF4-FFF2-40B4-BE49-F238E27FC236}">
                <a16:creationId xmlns:a16="http://schemas.microsoft.com/office/drawing/2014/main" id="{FD8573C4-5714-4EEA-B75E-F3E789093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5" name="Rectangle 73">
            <a:extLst>
              <a:ext uri="{FF2B5EF4-FFF2-40B4-BE49-F238E27FC236}">
                <a16:creationId xmlns:a16="http://schemas.microsoft.com/office/drawing/2014/main" id="{3520136D-E0C3-423D-9AD8-2BFD4932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6" name="Rectangle 74">
            <a:extLst>
              <a:ext uri="{FF2B5EF4-FFF2-40B4-BE49-F238E27FC236}">
                <a16:creationId xmlns:a16="http://schemas.microsoft.com/office/drawing/2014/main" id="{C43D6E30-BD54-44C3-BBB4-33C051521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7" name="Rectangle 75">
            <a:extLst>
              <a:ext uri="{FF2B5EF4-FFF2-40B4-BE49-F238E27FC236}">
                <a16:creationId xmlns:a16="http://schemas.microsoft.com/office/drawing/2014/main" id="{BE4BC736-2FC0-4489-9E2B-F46DB04A9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8" name="Rectangle 76">
            <a:extLst>
              <a:ext uri="{FF2B5EF4-FFF2-40B4-BE49-F238E27FC236}">
                <a16:creationId xmlns:a16="http://schemas.microsoft.com/office/drawing/2014/main" id="{3A6BAB74-379A-478F-9925-4B8FCFDC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29" name="Rectangle 77">
            <a:extLst>
              <a:ext uri="{FF2B5EF4-FFF2-40B4-BE49-F238E27FC236}">
                <a16:creationId xmlns:a16="http://schemas.microsoft.com/office/drawing/2014/main" id="{0882B706-B72F-4D43-B052-FF018BC58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0" name="Rectangle 78">
            <a:extLst>
              <a:ext uri="{FF2B5EF4-FFF2-40B4-BE49-F238E27FC236}">
                <a16:creationId xmlns:a16="http://schemas.microsoft.com/office/drawing/2014/main" id="{03729A39-BB7C-4562-A0BE-36D396F2F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1" name="Rectangle 79">
            <a:extLst>
              <a:ext uri="{FF2B5EF4-FFF2-40B4-BE49-F238E27FC236}">
                <a16:creationId xmlns:a16="http://schemas.microsoft.com/office/drawing/2014/main" id="{FF948A99-6271-4470-B14F-BAC16BF79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2" name="Rectangle 80">
            <a:extLst>
              <a:ext uri="{FF2B5EF4-FFF2-40B4-BE49-F238E27FC236}">
                <a16:creationId xmlns:a16="http://schemas.microsoft.com/office/drawing/2014/main" id="{0B441A11-F55A-4A34-82ED-7523FA119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3" name="Rectangle 81">
            <a:extLst>
              <a:ext uri="{FF2B5EF4-FFF2-40B4-BE49-F238E27FC236}">
                <a16:creationId xmlns:a16="http://schemas.microsoft.com/office/drawing/2014/main" id="{AFF4A0BC-B318-4172-99CC-938D2A5DC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4" name="Rectangle 82">
            <a:extLst>
              <a:ext uri="{FF2B5EF4-FFF2-40B4-BE49-F238E27FC236}">
                <a16:creationId xmlns:a16="http://schemas.microsoft.com/office/drawing/2014/main" id="{4A3FDF7A-E557-4342-B9FF-BCE28A398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5" name="Rectangle 83">
            <a:extLst>
              <a:ext uri="{FF2B5EF4-FFF2-40B4-BE49-F238E27FC236}">
                <a16:creationId xmlns:a16="http://schemas.microsoft.com/office/drawing/2014/main" id="{7B7D462F-0FC3-4D83-933B-5DD72199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6" name="Rectangle 84">
            <a:extLst>
              <a:ext uri="{FF2B5EF4-FFF2-40B4-BE49-F238E27FC236}">
                <a16:creationId xmlns:a16="http://schemas.microsoft.com/office/drawing/2014/main" id="{9843E0D4-6E2E-43EE-9F52-43A1FB2C4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7" name="Rectangle 85">
            <a:extLst>
              <a:ext uri="{FF2B5EF4-FFF2-40B4-BE49-F238E27FC236}">
                <a16:creationId xmlns:a16="http://schemas.microsoft.com/office/drawing/2014/main" id="{D37C5DF9-7111-4033-8EE7-369A978F2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8" name="Rectangle 86">
            <a:extLst>
              <a:ext uri="{FF2B5EF4-FFF2-40B4-BE49-F238E27FC236}">
                <a16:creationId xmlns:a16="http://schemas.microsoft.com/office/drawing/2014/main" id="{7D8D9C63-B26F-42E0-B75F-0EE338C14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39" name="Rectangle 87">
            <a:extLst>
              <a:ext uri="{FF2B5EF4-FFF2-40B4-BE49-F238E27FC236}">
                <a16:creationId xmlns:a16="http://schemas.microsoft.com/office/drawing/2014/main" id="{3AE80308-770B-4773-AEF3-014E7F880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0" name="Rectangle 88">
            <a:extLst>
              <a:ext uri="{FF2B5EF4-FFF2-40B4-BE49-F238E27FC236}">
                <a16:creationId xmlns:a16="http://schemas.microsoft.com/office/drawing/2014/main" id="{C70219B1-2454-4C71-BD89-F3241CF82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1" name="Rectangle 89">
            <a:extLst>
              <a:ext uri="{FF2B5EF4-FFF2-40B4-BE49-F238E27FC236}">
                <a16:creationId xmlns:a16="http://schemas.microsoft.com/office/drawing/2014/main" id="{379CD8A2-336C-4ABA-9C02-E8407D584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2" name="Rectangle 90">
            <a:extLst>
              <a:ext uri="{FF2B5EF4-FFF2-40B4-BE49-F238E27FC236}">
                <a16:creationId xmlns:a16="http://schemas.microsoft.com/office/drawing/2014/main" id="{C056F768-4D5C-4090-ABCC-6DD81AF81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3" name="Rectangle 91">
            <a:extLst>
              <a:ext uri="{FF2B5EF4-FFF2-40B4-BE49-F238E27FC236}">
                <a16:creationId xmlns:a16="http://schemas.microsoft.com/office/drawing/2014/main" id="{9002087B-8568-4FF1-956C-1DFAC7E78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4" name="Rectangle 92">
            <a:extLst>
              <a:ext uri="{FF2B5EF4-FFF2-40B4-BE49-F238E27FC236}">
                <a16:creationId xmlns:a16="http://schemas.microsoft.com/office/drawing/2014/main" id="{821D1330-C77E-4EC7-9073-D7181FF38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5" name="Rectangle 93">
            <a:extLst>
              <a:ext uri="{FF2B5EF4-FFF2-40B4-BE49-F238E27FC236}">
                <a16:creationId xmlns:a16="http://schemas.microsoft.com/office/drawing/2014/main" id="{8A78E40F-E52A-4BAF-AB30-70CA961A2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6" name="Rectangle 94">
            <a:extLst>
              <a:ext uri="{FF2B5EF4-FFF2-40B4-BE49-F238E27FC236}">
                <a16:creationId xmlns:a16="http://schemas.microsoft.com/office/drawing/2014/main" id="{FD89797F-FD86-4965-9720-669E476D5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7" name="Rectangle 95">
            <a:extLst>
              <a:ext uri="{FF2B5EF4-FFF2-40B4-BE49-F238E27FC236}">
                <a16:creationId xmlns:a16="http://schemas.microsoft.com/office/drawing/2014/main" id="{D5B72189-F924-4690-B54A-CFBE35BA8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8" name="Rectangle 96">
            <a:extLst>
              <a:ext uri="{FF2B5EF4-FFF2-40B4-BE49-F238E27FC236}">
                <a16:creationId xmlns:a16="http://schemas.microsoft.com/office/drawing/2014/main" id="{7641018F-A77F-4E4E-8B9A-535EF9EE4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49" name="Rectangle 97">
            <a:extLst>
              <a:ext uri="{FF2B5EF4-FFF2-40B4-BE49-F238E27FC236}">
                <a16:creationId xmlns:a16="http://schemas.microsoft.com/office/drawing/2014/main" id="{747C46A0-91E4-4BA2-9880-148CDACA4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505200"/>
            <a:ext cx="228600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0" name="Rectangle 98">
            <a:extLst>
              <a:ext uri="{FF2B5EF4-FFF2-40B4-BE49-F238E27FC236}">
                <a16:creationId xmlns:a16="http://schemas.microsoft.com/office/drawing/2014/main" id="{0AC81A3F-7E99-4CF9-AE2A-08C165A1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1" name="Rectangle 99">
            <a:extLst>
              <a:ext uri="{FF2B5EF4-FFF2-40B4-BE49-F238E27FC236}">
                <a16:creationId xmlns:a16="http://schemas.microsoft.com/office/drawing/2014/main" id="{976DF7C7-BCBB-40D8-9851-282955FA7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3505200"/>
            <a:ext cx="230187" cy="230188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2" name="Rectangle 100">
            <a:extLst>
              <a:ext uri="{FF2B5EF4-FFF2-40B4-BE49-F238E27FC236}">
                <a16:creationId xmlns:a16="http://schemas.microsoft.com/office/drawing/2014/main" id="{BDBE5F81-752E-4B6B-BB38-C5E44D3B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3" name="Rectangle 101">
            <a:extLst>
              <a:ext uri="{FF2B5EF4-FFF2-40B4-BE49-F238E27FC236}">
                <a16:creationId xmlns:a16="http://schemas.microsoft.com/office/drawing/2014/main" id="{FFF80901-4382-493F-806A-BB9ADCF57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4" name="Rectangle 102">
            <a:extLst>
              <a:ext uri="{FF2B5EF4-FFF2-40B4-BE49-F238E27FC236}">
                <a16:creationId xmlns:a16="http://schemas.microsoft.com/office/drawing/2014/main" id="{F371DD19-0DCE-479C-BDCA-8CE87E84F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5" name="Rectangle 103">
            <a:extLst>
              <a:ext uri="{FF2B5EF4-FFF2-40B4-BE49-F238E27FC236}">
                <a16:creationId xmlns:a16="http://schemas.microsoft.com/office/drawing/2014/main" id="{98B87F28-6A38-4F2A-B5AA-B4E4029A0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6" name="Rectangle 104">
            <a:extLst>
              <a:ext uri="{FF2B5EF4-FFF2-40B4-BE49-F238E27FC236}">
                <a16:creationId xmlns:a16="http://schemas.microsoft.com/office/drawing/2014/main" id="{309456F3-2EDA-4863-B0EA-BACF6F674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7" name="Rectangle 105">
            <a:extLst>
              <a:ext uri="{FF2B5EF4-FFF2-40B4-BE49-F238E27FC236}">
                <a16:creationId xmlns:a16="http://schemas.microsoft.com/office/drawing/2014/main" id="{595AD3BF-BF3C-4D42-AAAA-F6092A173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8" name="Rectangle 106">
            <a:extLst>
              <a:ext uri="{FF2B5EF4-FFF2-40B4-BE49-F238E27FC236}">
                <a16:creationId xmlns:a16="http://schemas.microsoft.com/office/drawing/2014/main" id="{330B1C03-033F-40C3-B8A4-F77306210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59" name="Rectangle 107">
            <a:extLst>
              <a:ext uri="{FF2B5EF4-FFF2-40B4-BE49-F238E27FC236}">
                <a16:creationId xmlns:a16="http://schemas.microsoft.com/office/drawing/2014/main" id="{6C4804B3-A9C7-49C8-A821-CD987E633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0" name="Rectangle 108">
            <a:extLst>
              <a:ext uri="{FF2B5EF4-FFF2-40B4-BE49-F238E27FC236}">
                <a16:creationId xmlns:a16="http://schemas.microsoft.com/office/drawing/2014/main" id="{93A95D31-0D7D-494A-86CC-73E33A2BD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1" name="Rectangle 109">
            <a:extLst>
              <a:ext uri="{FF2B5EF4-FFF2-40B4-BE49-F238E27FC236}">
                <a16:creationId xmlns:a16="http://schemas.microsoft.com/office/drawing/2014/main" id="{A023E015-A695-42E9-A699-0711C6CA2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2" name="Rectangle 110">
            <a:extLst>
              <a:ext uri="{FF2B5EF4-FFF2-40B4-BE49-F238E27FC236}">
                <a16:creationId xmlns:a16="http://schemas.microsoft.com/office/drawing/2014/main" id="{45CA4411-81A8-4075-871C-ACF8AC9B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3" name="Rectangle 111">
            <a:extLst>
              <a:ext uri="{FF2B5EF4-FFF2-40B4-BE49-F238E27FC236}">
                <a16:creationId xmlns:a16="http://schemas.microsoft.com/office/drawing/2014/main" id="{B15CA93D-5CC1-49C0-86E5-F0A499DF4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4" name="Rectangle 112">
            <a:extLst>
              <a:ext uri="{FF2B5EF4-FFF2-40B4-BE49-F238E27FC236}">
                <a16:creationId xmlns:a16="http://schemas.microsoft.com/office/drawing/2014/main" id="{46E45797-A4B9-49A4-A2EB-0DD355983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5" name="Rectangle 113">
            <a:extLst>
              <a:ext uri="{FF2B5EF4-FFF2-40B4-BE49-F238E27FC236}">
                <a16:creationId xmlns:a16="http://schemas.microsoft.com/office/drawing/2014/main" id="{BA6E5112-2DE4-48F9-9EB2-99023952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6" name="Rectangle 114">
            <a:extLst>
              <a:ext uri="{FF2B5EF4-FFF2-40B4-BE49-F238E27FC236}">
                <a16:creationId xmlns:a16="http://schemas.microsoft.com/office/drawing/2014/main" id="{6B5C5725-4528-46A5-811A-97D0876BB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7" name="Rectangle 115">
            <a:extLst>
              <a:ext uri="{FF2B5EF4-FFF2-40B4-BE49-F238E27FC236}">
                <a16:creationId xmlns:a16="http://schemas.microsoft.com/office/drawing/2014/main" id="{2D8B4AA5-03B6-48C2-AD0D-151346CE3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8" name="Rectangle 116">
            <a:extLst>
              <a:ext uri="{FF2B5EF4-FFF2-40B4-BE49-F238E27FC236}">
                <a16:creationId xmlns:a16="http://schemas.microsoft.com/office/drawing/2014/main" id="{70F8BCD3-D479-4B20-8DFF-6ED7EC81E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69" name="Rectangle 117">
            <a:extLst>
              <a:ext uri="{FF2B5EF4-FFF2-40B4-BE49-F238E27FC236}">
                <a16:creationId xmlns:a16="http://schemas.microsoft.com/office/drawing/2014/main" id="{D9BE6DE7-B96A-4C38-92B4-67FB3D255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0" name="Rectangle 118">
            <a:extLst>
              <a:ext uri="{FF2B5EF4-FFF2-40B4-BE49-F238E27FC236}">
                <a16:creationId xmlns:a16="http://schemas.microsoft.com/office/drawing/2014/main" id="{24180963-D9E3-4C3C-9836-0253846D8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1" name="Rectangle 119">
            <a:extLst>
              <a:ext uri="{FF2B5EF4-FFF2-40B4-BE49-F238E27FC236}">
                <a16:creationId xmlns:a16="http://schemas.microsoft.com/office/drawing/2014/main" id="{34FB021C-01B9-4B12-8948-69375511A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2" name="Rectangle 120">
            <a:extLst>
              <a:ext uri="{FF2B5EF4-FFF2-40B4-BE49-F238E27FC236}">
                <a16:creationId xmlns:a16="http://schemas.microsoft.com/office/drawing/2014/main" id="{BB52C5C6-D245-429B-8E87-053F7A510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3" name="Rectangle 121">
            <a:extLst>
              <a:ext uri="{FF2B5EF4-FFF2-40B4-BE49-F238E27FC236}">
                <a16:creationId xmlns:a16="http://schemas.microsoft.com/office/drawing/2014/main" id="{80212636-7B31-4492-9AFE-C07745DF4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4" name="Rectangle 122">
            <a:extLst>
              <a:ext uri="{FF2B5EF4-FFF2-40B4-BE49-F238E27FC236}">
                <a16:creationId xmlns:a16="http://schemas.microsoft.com/office/drawing/2014/main" id="{DEC04411-BC81-43DD-978B-EF136A4FE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5" name="Rectangle 123">
            <a:extLst>
              <a:ext uri="{FF2B5EF4-FFF2-40B4-BE49-F238E27FC236}">
                <a16:creationId xmlns:a16="http://schemas.microsoft.com/office/drawing/2014/main" id="{F0960E83-9930-4CA1-AA3B-DBF2E9F76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6" name="Rectangle 124">
            <a:extLst>
              <a:ext uri="{FF2B5EF4-FFF2-40B4-BE49-F238E27FC236}">
                <a16:creationId xmlns:a16="http://schemas.microsoft.com/office/drawing/2014/main" id="{37DF9EA9-B58F-4B2A-8B29-CFB46211D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7" name="Rectangle 125">
            <a:extLst>
              <a:ext uri="{FF2B5EF4-FFF2-40B4-BE49-F238E27FC236}">
                <a16:creationId xmlns:a16="http://schemas.microsoft.com/office/drawing/2014/main" id="{1490AFC0-F75F-4F2C-BD93-39E814210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8" name="Rectangle 126">
            <a:extLst>
              <a:ext uri="{FF2B5EF4-FFF2-40B4-BE49-F238E27FC236}">
                <a16:creationId xmlns:a16="http://schemas.microsoft.com/office/drawing/2014/main" id="{87018E11-F093-4624-9AC3-45322CB74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79" name="Rectangle 127">
            <a:extLst>
              <a:ext uri="{FF2B5EF4-FFF2-40B4-BE49-F238E27FC236}">
                <a16:creationId xmlns:a16="http://schemas.microsoft.com/office/drawing/2014/main" id="{77CB1714-DC01-4F16-8D3E-57480D5CF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0" name="Rectangle 128">
            <a:extLst>
              <a:ext uri="{FF2B5EF4-FFF2-40B4-BE49-F238E27FC236}">
                <a16:creationId xmlns:a16="http://schemas.microsoft.com/office/drawing/2014/main" id="{B22A3AF9-1086-40E1-851C-14C8B001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1" name="Rectangle 129">
            <a:extLst>
              <a:ext uri="{FF2B5EF4-FFF2-40B4-BE49-F238E27FC236}">
                <a16:creationId xmlns:a16="http://schemas.microsoft.com/office/drawing/2014/main" id="{E80A2DAC-3481-47AA-8D93-C9B3B068B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2" name="Rectangle 130">
            <a:extLst>
              <a:ext uri="{FF2B5EF4-FFF2-40B4-BE49-F238E27FC236}">
                <a16:creationId xmlns:a16="http://schemas.microsoft.com/office/drawing/2014/main" id="{40B999FE-48E4-45AD-92B4-F43F83300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3" name="Rectangle 131">
            <a:extLst>
              <a:ext uri="{FF2B5EF4-FFF2-40B4-BE49-F238E27FC236}">
                <a16:creationId xmlns:a16="http://schemas.microsoft.com/office/drawing/2014/main" id="{D442391A-4C12-41C9-B09A-A5ACBC2F7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4" name="Rectangle 132">
            <a:extLst>
              <a:ext uri="{FF2B5EF4-FFF2-40B4-BE49-F238E27FC236}">
                <a16:creationId xmlns:a16="http://schemas.microsoft.com/office/drawing/2014/main" id="{E6158E72-1F36-4B8C-8817-BC11A8F0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5" name="Rectangle 133">
            <a:extLst>
              <a:ext uri="{FF2B5EF4-FFF2-40B4-BE49-F238E27FC236}">
                <a16:creationId xmlns:a16="http://schemas.microsoft.com/office/drawing/2014/main" id="{4CDAEA9B-2CED-4C16-9E17-45647926A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6" name="Rectangle 134">
            <a:extLst>
              <a:ext uri="{FF2B5EF4-FFF2-40B4-BE49-F238E27FC236}">
                <a16:creationId xmlns:a16="http://schemas.microsoft.com/office/drawing/2014/main" id="{67C5364C-1BDF-4C17-B6BA-53E672FB2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7" name="Rectangle 135">
            <a:extLst>
              <a:ext uri="{FF2B5EF4-FFF2-40B4-BE49-F238E27FC236}">
                <a16:creationId xmlns:a16="http://schemas.microsoft.com/office/drawing/2014/main" id="{7D677544-94FB-4064-8432-58B5A1C5A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8" name="Rectangle 136">
            <a:extLst>
              <a:ext uri="{FF2B5EF4-FFF2-40B4-BE49-F238E27FC236}">
                <a16:creationId xmlns:a16="http://schemas.microsoft.com/office/drawing/2014/main" id="{AD00A5CC-8BF4-4357-A6EE-E507EFA51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89" name="Rectangle 137">
            <a:extLst>
              <a:ext uri="{FF2B5EF4-FFF2-40B4-BE49-F238E27FC236}">
                <a16:creationId xmlns:a16="http://schemas.microsoft.com/office/drawing/2014/main" id="{93243A89-AE7E-4E82-A6A0-3D33A3677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76800"/>
            <a:ext cx="228600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90" name="Rectangle 138">
            <a:extLst>
              <a:ext uri="{FF2B5EF4-FFF2-40B4-BE49-F238E27FC236}">
                <a16:creationId xmlns:a16="http://schemas.microsoft.com/office/drawing/2014/main" id="{ED886D18-211B-4C97-A063-94C998E72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91" name="Rectangle 139">
            <a:extLst>
              <a:ext uri="{FF2B5EF4-FFF2-40B4-BE49-F238E27FC236}">
                <a16:creationId xmlns:a16="http://schemas.microsoft.com/office/drawing/2014/main" id="{E362E3E7-1D78-4166-A727-67B9DBD05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4876800"/>
            <a:ext cx="230187" cy="228600"/>
          </a:xfrm>
          <a:prstGeom prst="rect">
            <a:avLst/>
          </a:prstGeom>
          <a:solidFill>
            <a:srgbClr val="99CC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endParaRPr lang="en-US" altLang="en-US" sz="2400">
              <a:ea typeface="MS PGothic" panose="020B0600070205080204" pitchFamily="34" charset="-128"/>
            </a:endParaRPr>
          </a:p>
        </p:txBody>
      </p:sp>
      <p:sp>
        <p:nvSpPr>
          <p:cNvPr id="49292" name="Text Box 140">
            <a:extLst>
              <a:ext uri="{FF2B5EF4-FFF2-40B4-BE49-F238E27FC236}">
                <a16:creationId xmlns:a16="http://schemas.microsoft.com/office/drawing/2014/main" id="{9805F652-EF9F-462D-B0B1-E6A1619E6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410200"/>
            <a:ext cx="1371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652463"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652463"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00"/>
                </a:solidFill>
                <a:ea typeface="MS PGothic" panose="020B0600070205080204" pitchFamily="34" charset="-128"/>
              </a:rPr>
              <a:t>DataNodes</a:t>
            </a:r>
          </a:p>
        </p:txBody>
      </p:sp>
      <p:cxnSp>
        <p:nvCxnSpPr>
          <p:cNvPr id="49294" name="AutoShape 142">
            <a:extLst>
              <a:ext uri="{FF2B5EF4-FFF2-40B4-BE49-F238E27FC236}">
                <a16:creationId xmlns:a16="http://schemas.microsoft.com/office/drawing/2014/main" id="{B36EF9B0-6AB0-4965-875B-330472D1100F}"/>
              </a:ext>
            </a:extLst>
          </p:cNvPr>
          <p:cNvCxnSpPr>
            <a:cxnSpLocks noChangeShapeType="1"/>
            <a:endCxn id="49169" idx="0"/>
          </p:cNvCxnSpPr>
          <p:nvPr/>
        </p:nvCxnSpPr>
        <p:spPr bwMode="auto">
          <a:xfrm flipV="1">
            <a:off x="1357313" y="1606550"/>
            <a:ext cx="3535362" cy="1441450"/>
          </a:xfrm>
          <a:prstGeom prst="curvedConnector4">
            <a:avLst>
              <a:gd name="adj1" fmla="val 39153"/>
              <a:gd name="adj2" fmla="val 115861"/>
            </a:avLst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295" name="Text Box 143">
            <a:extLst>
              <a:ext uri="{FF2B5EF4-FFF2-40B4-BE49-F238E27FC236}">
                <a16:creationId xmlns:a16="http://schemas.microsoft.com/office/drawing/2014/main" id="{E3D5B5FC-1431-4E7C-B1A0-675D3726B4E5}"/>
              </a:ext>
            </a:extLst>
          </p:cNvPr>
          <p:cNvSpPr txBox="1">
            <a:spLocks noChangeArrowheads="1"/>
          </p:cNvSpPr>
          <p:nvPr/>
        </p:nvSpPr>
        <p:spPr bwMode="auto">
          <a:xfrm rot="-2336723">
            <a:off x="1757363" y="1857375"/>
            <a:ext cx="654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1400">
                <a:solidFill>
                  <a:srgbClr val="000000"/>
                </a:solidFill>
                <a:ea typeface="MS PGothic" panose="020B0600070205080204" pitchFamily="34" charset="-128"/>
              </a:rPr>
              <a:t>1. </a:t>
            </a:r>
            <a:r>
              <a:rPr lang="en-GB" altLang="en-US" sz="2000">
                <a:solidFill>
                  <a:srgbClr val="000000"/>
                </a:solidFill>
                <a:ea typeface="MS PGothic" panose="020B0600070205080204" pitchFamily="34" charset="-128"/>
              </a:rPr>
              <a:t>filename</a:t>
            </a:r>
          </a:p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GB" altLang="en-US" sz="14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49296" name="Text Box 144">
            <a:extLst>
              <a:ext uri="{FF2B5EF4-FFF2-40B4-BE49-F238E27FC236}">
                <a16:creationId xmlns:a16="http://schemas.microsoft.com/office/drawing/2014/main" id="{0E98494A-3E20-44B5-BE3B-B6DD638DED68}"/>
              </a:ext>
            </a:extLst>
          </p:cNvPr>
          <p:cNvSpPr txBox="1">
            <a:spLocks noChangeArrowheads="1"/>
          </p:cNvSpPr>
          <p:nvPr/>
        </p:nvSpPr>
        <p:spPr bwMode="auto">
          <a:xfrm rot="-2316538">
            <a:off x="2209800" y="2743200"/>
            <a:ext cx="1020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defTabSz="652463"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652463"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1400">
                <a:solidFill>
                  <a:srgbClr val="000000"/>
                </a:solidFill>
                <a:ea typeface="MS PGothic" panose="020B0600070205080204" pitchFamily="34" charset="-128"/>
              </a:rPr>
              <a:t>2. </a:t>
            </a:r>
            <a:r>
              <a:rPr lang="en-GB" altLang="en-US" sz="2000">
                <a:solidFill>
                  <a:srgbClr val="000000"/>
                </a:solidFill>
                <a:ea typeface="MS PGothic" panose="020B0600070205080204" pitchFamily="34" charset="-128"/>
              </a:rPr>
              <a:t>BlckId, DataNodes</a:t>
            </a:r>
          </a:p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700">
                <a:solidFill>
                  <a:srgbClr val="000000"/>
                </a:solidFill>
                <a:ea typeface="MS PGothic" panose="020B0600070205080204" pitchFamily="34" charset="-128"/>
              </a:rPr>
              <a:t>o</a:t>
            </a:r>
          </a:p>
        </p:txBody>
      </p:sp>
      <p:sp>
        <p:nvSpPr>
          <p:cNvPr id="49297" name="Line 145">
            <a:extLst>
              <a:ext uri="{FF2B5EF4-FFF2-40B4-BE49-F238E27FC236}">
                <a16:creationId xmlns:a16="http://schemas.microsoft.com/office/drawing/2014/main" id="{1168ED09-AB34-4C47-BD09-B7269F6EFE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1752600"/>
            <a:ext cx="620713" cy="66040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ashDot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298" name="Line 146">
            <a:extLst>
              <a:ext uri="{FF2B5EF4-FFF2-40B4-BE49-F238E27FC236}">
                <a16:creationId xmlns:a16="http://schemas.microsoft.com/office/drawing/2014/main" id="{68F712FE-6DE9-4A83-A84A-15C9EC21A6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2286000"/>
            <a:ext cx="990600" cy="741363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ashDot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9299" name="AutoShape 147">
            <a:extLst>
              <a:ext uri="{FF2B5EF4-FFF2-40B4-BE49-F238E27FC236}">
                <a16:creationId xmlns:a16="http://schemas.microsoft.com/office/drawing/2014/main" id="{41F3938A-D0D0-464D-9914-EE55B3F63BFB}"/>
              </a:ext>
            </a:extLst>
          </p:cNvPr>
          <p:cNvCxnSpPr>
            <a:cxnSpLocks noChangeShapeType="1"/>
            <a:stCxn id="49155" idx="5"/>
          </p:cNvCxnSpPr>
          <p:nvPr/>
        </p:nvCxnSpPr>
        <p:spPr bwMode="auto">
          <a:xfrm rot="16200000" flipH="1">
            <a:off x="1865313" y="2933700"/>
            <a:ext cx="496888" cy="1766887"/>
          </a:xfrm>
          <a:prstGeom prst="curvedConnector2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300" name="Text Box 148">
            <a:extLst>
              <a:ext uri="{FF2B5EF4-FFF2-40B4-BE49-F238E27FC236}">
                <a16:creationId xmlns:a16="http://schemas.microsoft.com/office/drawing/2014/main" id="{243B6EA9-34EA-4408-B392-180C05AFF55F}"/>
              </a:ext>
            </a:extLst>
          </p:cNvPr>
          <p:cNvSpPr txBox="1">
            <a:spLocks noChangeArrowheads="1"/>
          </p:cNvSpPr>
          <p:nvPr/>
        </p:nvSpPr>
        <p:spPr bwMode="auto">
          <a:xfrm rot="480000">
            <a:off x="1524000" y="4038600"/>
            <a:ext cx="555625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00"/>
                </a:solidFill>
                <a:ea typeface="MS PGothic" panose="020B0600070205080204" pitchFamily="34" charset="-128"/>
              </a:rPr>
              <a:t>3.Read data</a:t>
            </a:r>
          </a:p>
        </p:txBody>
      </p:sp>
      <p:sp>
        <p:nvSpPr>
          <p:cNvPr id="49303" name="Text Box 151">
            <a:extLst>
              <a:ext uri="{FF2B5EF4-FFF2-40B4-BE49-F238E27FC236}">
                <a16:creationId xmlns:a16="http://schemas.microsoft.com/office/drawing/2014/main" id="{957CE402-E1BF-4E2E-9C24-ADA930A32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867400"/>
            <a:ext cx="2620963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defTabSz="652463"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652463"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2000" dirty="0">
                <a:solidFill>
                  <a:srgbClr val="000000"/>
                </a:solidFill>
                <a:ea typeface="MS PGothic" panose="020B0600070205080204" pitchFamily="34" charset="-128"/>
              </a:rPr>
              <a:t>Name Node: Maps a file to a file-id and list of </a:t>
            </a:r>
            <a:r>
              <a:rPr lang="en-GB" altLang="en-US" sz="2000" dirty="0" err="1">
                <a:solidFill>
                  <a:srgbClr val="000000"/>
                </a:solidFill>
                <a:ea typeface="MS PGothic" panose="020B0600070205080204" pitchFamily="34" charset="-128"/>
              </a:rPr>
              <a:t>MapNodes</a:t>
            </a:r>
            <a:endParaRPr lang="en-GB" altLang="en-US" sz="2000" dirty="0">
              <a:solidFill>
                <a:srgbClr val="000000"/>
              </a:solidFill>
              <a:ea typeface="MS PGothic" panose="020B0600070205080204" pitchFamily="34" charset="-128"/>
            </a:endParaRPr>
          </a:p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GB" altLang="en-US" sz="2000" dirty="0">
                <a:solidFill>
                  <a:srgbClr val="000000"/>
                </a:solidFill>
                <a:ea typeface="MS PGothic" panose="020B0600070205080204" pitchFamily="34" charset="-128"/>
              </a:rPr>
              <a:t>Data Node: Maps a block-id to a physical location on disk</a:t>
            </a:r>
          </a:p>
        </p:txBody>
      </p:sp>
      <p:sp>
        <p:nvSpPr>
          <p:cNvPr id="49304" name="Line 152">
            <a:extLst>
              <a:ext uri="{FF2B5EF4-FFF2-40B4-BE49-F238E27FC236}">
                <a16:creationId xmlns:a16="http://schemas.microsoft.com/office/drawing/2014/main" id="{8AB4C863-B0A2-4FAD-951A-D4419766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057400"/>
            <a:ext cx="9525" cy="534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4" descr="HDFSArchitecture">
            <a:extLst>
              <a:ext uri="{FF2B5EF4-FFF2-40B4-BE49-F238E27FC236}">
                <a16:creationId xmlns:a16="http://schemas.microsoft.com/office/drawing/2014/main" id="{FA1CDAE8-015A-4589-8984-E8B0D8A05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09600"/>
            <a:ext cx="7315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Locality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6600"/>
                </a:solidFill>
              </a:rPr>
              <a:t>Master scheduling policy:</a:t>
            </a:r>
          </a:p>
          <a:p>
            <a:pPr lvl="1"/>
            <a:r>
              <a:rPr lang="en-US" dirty="0"/>
              <a:t>Asks HDFS for locations of replicas of input file blocks</a:t>
            </a:r>
          </a:p>
          <a:p>
            <a:pPr lvl="1"/>
            <a:r>
              <a:rPr lang="en-US" dirty="0"/>
              <a:t>Map tasks scheduled so HDFS input block replica are on same machine or same rack as the mappers</a:t>
            </a:r>
          </a:p>
          <a:p>
            <a:pPr lvl="1"/>
            <a:endParaRPr lang="en-US" dirty="0"/>
          </a:p>
          <a:p>
            <a:r>
              <a:rPr lang="en-US" dirty="0"/>
              <a:t>Effect: Thousands of machines </a:t>
            </a:r>
            <a:r>
              <a:rPr lang="en-US" dirty="0">
                <a:solidFill>
                  <a:srgbClr val="7030A0"/>
                </a:solidFill>
              </a:rPr>
              <a:t>read input at local disk speed</a:t>
            </a:r>
          </a:p>
          <a:p>
            <a:pPr lvl="1"/>
            <a:r>
              <a:rPr lang="en-US" dirty="0"/>
              <a:t>Eliminate network bottleneck!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0097901-453A-4B24-8E64-13E28104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95" y="214298"/>
            <a:ext cx="8936610" cy="13255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Components in a Hadoop MR Workflow</a:t>
            </a:r>
          </a:p>
        </p:txBody>
      </p:sp>
      <p:pic>
        <p:nvPicPr>
          <p:cNvPr id="6147" name="Picture 2">
            <a:extLst>
              <a:ext uri="{FF2B5EF4-FFF2-40B4-BE49-F238E27FC236}">
                <a16:creationId xmlns:a16="http://schemas.microsoft.com/office/drawing/2014/main" id="{586371F1-E941-4D0F-90FB-B1D8F1F88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385902"/>
            <a:ext cx="859155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3">
            <a:extLst>
              <a:ext uri="{FF2B5EF4-FFF2-40B4-BE49-F238E27FC236}">
                <a16:creationId xmlns:a16="http://schemas.microsoft.com/office/drawing/2014/main" id="{0EE65606-886D-4532-9359-5D72FBCA6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49" y="785352"/>
            <a:ext cx="8407301" cy="4461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2" name="Oval 6">
            <a:extLst>
              <a:ext uri="{FF2B5EF4-FFF2-40B4-BE49-F238E27FC236}">
                <a16:creationId xmlns:a16="http://schemas.microsoft.com/office/drawing/2014/main" id="{A614D31E-4D6B-4FD3-A012-DA7BFD383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1172" y="4125515"/>
            <a:ext cx="803672" cy="642938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itchFamily="-65" charset="0"/>
                <a:ea typeface="ヒラギノ角ゴ ProN W3" pitchFamily="-65" charset="-128"/>
                <a:sym typeface="Gill Sans" pitchFamily="-65" charset="0"/>
              </a:defRPr>
            </a:lvl9pPr>
          </a:lstStyle>
          <a:p>
            <a:pPr eaLnBrk="1" hangingPunct="1"/>
            <a:endParaRPr lang="en-US" altLang="en-US" sz="2953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>
            <a:extLst>
              <a:ext uri="{FF2B5EF4-FFF2-40B4-BE49-F238E27FC236}">
                <a16:creationId xmlns:a16="http://schemas.microsoft.com/office/drawing/2014/main" id="{59B8069A-BE69-4AB4-9980-D95EACB2A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Failure of the system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8BADA3E1-9FED-484A-8685-FAC0BADBF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906" y="1768078"/>
            <a:ext cx="8122444" cy="4018359"/>
          </a:xfrm>
        </p:spPr>
        <p:txBody>
          <a:bodyPr vert="horz" lIns="0" tIns="0" rIns="0" bIns="0" rtlCol="0">
            <a:normAutofit/>
          </a:bodyPr>
          <a:lstStyle/>
          <a:p>
            <a:pPr marL="580409"/>
            <a:r>
              <a:rPr lang="en-US" altLang="en-US" dirty="0"/>
              <a:t>How big of a deal is it really?</a:t>
            </a:r>
          </a:p>
          <a:p>
            <a:pPr marL="892937" lvl="1">
              <a:spcBef>
                <a:spcPts val="1494"/>
              </a:spcBef>
            </a:pPr>
            <a:r>
              <a:rPr lang="en-US" altLang="en-US" sz="2800" dirty="0"/>
              <a:t>A huge deal.  In a distributed environment disks fail ALL THE TIME.  </a:t>
            </a:r>
          </a:p>
          <a:p>
            <a:pPr marL="892937" lvl="1">
              <a:spcBef>
                <a:spcPts val="1494"/>
              </a:spcBef>
            </a:pPr>
            <a:r>
              <a:rPr lang="en-US" altLang="en-US" sz="2800" dirty="0"/>
              <a:t>Large scale systems must assume that any process can fail at any time.</a:t>
            </a:r>
          </a:p>
          <a:p>
            <a:pPr marL="892937" lvl="1">
              <a:spcBef>
                <a:spcPts val="1494"/>
              </a:spcBef>
            </a:pPr>
            <a:r>
              <a:rPr lang="en-US" altLang="en-US" sz="2800" dirty="0"/>
              <a:t>It may be much cheaper to make the software run reliably on unreliable hardware than to make the hardware reliable.</a:t>
            </a:r>
          </a:p>
          <a:p>
            <a:pPr marL="580409">
              <a:spcBef>
                <a:spcPts val="932"/>
              </a:spcBef>
            </a:pPr>
            <a:endParaRPr lang="en-US" altLang="en-US" sz="1687" dirty="0">
              <a:latin typeface="American Typewriter" pitchFamily="-65" charset="0"/>
              <a:sym typeface="American Typewriter" pitchFamily="-65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Failure in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072290" cy="4351338"/>
          </a:xfrm>
        </p:spPr>
        <p:txBody>
          <a:bodyPr>
            <a:normAutofit fontScale="92500"/>
          </a:bodyPr>
          <a:lstStyle/>
          <a:p>
            <a:r>
              <a:rPr lang="en-US" sz="3800" dirty="0">
                <a:solidFill>
                  <a:srgbClr val="FF0000"/>
                </a:solidFill>
              </a:rPr>
              <a:t>Failures</a:t>
            </a:r>
            <a:r>
              <a:rPr lang="en-US" sz="3800" dirty="0"/>
              <a:t> are </a:t>
            </a:r>
            <a:r>
              <a:rPr lang="en-US" sz="3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 </a:t>
            </a:r>
            <a:r>
              <a:rPr lang="en-US" sz="3800" dirty="0"/>
              <a:t>in commodity hardware</a:t>
            </a:r>
          </a:p>
          <a:p>
            <a:pPr>
              <a:spcBef>
                <a:spcPts val="1200"/>
              </a:spcBef>
            </a:pPr>
            <a:r>
              <a:rPr lang="en-US" sz="3800" b="1" dirty="0"/>
              <a:t>Worker</a:t>
            </a:r>
            <a:r>
              <a:rPr lang="en-US" sz="3800" dirty="0"/>
              <a:t> failure</a:t>
            </a:r>
          </a:p>
          <a:p>
            <a:pPr lvl="1"/>
            <a:r>
              <a:rPr lang="en-US" dirty="0"/>
              <a:t>Detect failure via periodic </a:t>
            </a:r>
            <a:r>
              <a:rPr lang="en-US" dirty="0">
                <a:solidFill>
                  <a:srgbClr val="006600"/>
                </a:solidFill>
              </a:rPr>
              <a:t>heartbeats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Re-execute</a:t>
            </a:r>
            <a:r>
              <a:rPr lang="en-US" dirty="0"/>
              <a:t> in-progress map/reduce tasks</a:t>
            </a:r>
          </a:p>
          <a:p>
            <a:pPr>
              <a:spcBef>
                <a:spcPts val="1200"/>
              </a:spcBef>
            </a:pPr>
            <a:r>
              <a:rPr lang="en-US" sz="3600" b="1" dirty="0"/>
              <a:t>Master</a:t>
            </a:r>
            <a:r>
              <a:rPr lang="en-US" sz="3600" dirty="0"/>
              <a:t> failure</a:t>
            </a:r>
          </a:p>
          <a:p>
            <a:pPr lvl="1"/>
            <a:r>
              <a:rPr lang="en-US" dirty="0"/>
              <a:t>Single point of failure; Resume from Execution Log</a:t>
            </a:r>
          </a:p>
          <a:p>
            <a:r>
              <a:rPr lang="en-US" sz="3800" b="1" dirty="0">
                <a:solidFill>
                  <a:srgbClr val="006600"/>
                </a:solidFill>
              </a:rPr>
              <a:t>Robust</a:t>
            </a:r>
          </a:p>
          <a:p>
            <a:pPr lvl="1"/>
            <a:r>
              <a:rPr lang="en-US" dirty="0"/>
              <a:t>Google’s experience: </a:t>
            </a:r>
            <a:r>
              <a:rPr lang="en-US" dirty="0">
                <a:solidFill>
                  <a:srgbClr val="663300"/>
                </a:solidFill>
              </a:rPr>
              <a:t>lost 1600 of 1800 machines once!</a:t>
            </a:r>
            <a:r>
              <a:rPr lang="en-US" dirty="0"/>
              <a:t>, but </a:t>
            </a:r>
            <a:r>
              <a:rPr lang="en-US" dirty="0">
                <a:solidFill>
                  <a:srgbClr val="CC00CC"/>
                </a:solidFill>
              </a:rPr>
              <a:t>finished fine </a:t>
            </a:r>
          </a:p>
        </p:txBody>
      </p:sp>
    </p:spTree>
    <p:extLst>
      <p:ext uri="{BB962C8B-B14F-4D97-AF65-F5344CB8AC3E}">
        <p14:creationId xmlns:p14="http://schemas.microsoft.com/office/powerpoint/2010/main" val="123284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1374</TotalTime>
  <Words>950</Words>
  <Application>Microsoft Macintosh PowerPoint</Application>
  <PresentationFormat>On-screen Show (4:3)</PresentationFormat>
  <Paragraphs>175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American Typewriter</vt:lpstr>
      <vt:lpstr>Arial</vt:lpstr>
      <vt:lpstr>Calibri</vt:lpstr>
      <vt:lpstr>Calibri Light</vt:lpstr>
      <vt:lpstr>Gill Sans</vt:lpstr>
      <vt:lpstr>Lucida Grande</vt:lpstr>
      <vt:lpstr>Palatino</vt:lpstr>
      <vt:lpstr>Verdana</vt:lpstr>
      <vt:lpstr>Wingdings</vt:lpstr>
      <vt:lpstr>Wingdings 2</vt:lpstr>
      <vt:lpstr>Office Theme</vt:lpstr>
      <vt:lpstr>Case Study  </vt:lpstr>
      <vt:lpstr>The Context: Big-data</vt:lpstr>
      <vt:lpstr>Motivation</vt:lpstr>
      <vt:lpstr>MapReduce</vt:lpstr>
      <vt:lpstr>MapReduce</vt:lpstr>
      <vt:lpstr>Typical problem solved by MapReduce</vt:lpstr>
      <vt:lpstr>MapReduce workflow</vt:lpstr>
      <vt:lpstr>Mapreduce overview</vt:lpstr>
      <vt:lpstr>PowerPoint Presentation</vt:lpstr>
      <vt:lpstr>PowerPoint Presentation</vt:lpstr>
      <vt:lpstr>PowerPoint Presentation</vt:lpstr>
      <vt:lpstr>PowerPoint Presentation</vt:lpstr>
      <vt:lpstr>Word Count: Another Example</vt:lpstr>
      <vt:lpstr>TeraSort</vt:lpstr>
      <vt:lpstr>Initial idea: only one reducer</vt:lpstr>
      <vt:lpstr>TeraSort</vt:lpstr>
      <vt:lpstr>Multiple reducers</vt:lpstr>
      <vt:lpstr>Mappers and Reducers</vt:lpstr>
      <vt:lpstr>Hadoop Distributed File System (HDFS)</vt:lpstr>
      <vt:lpstr>Components</vt:lpstr>
      <vt:lpstr>PowerPoint Presentation</vt:lpstr>
      <vt:lpstr>PowerPoint Presentation</vt:lpstr>
      <vt:lpstr>Locality Optimization</vt:lpstr>
      <vt:lpstr>Components in a Hadoop MR Workflow</vt:lpstr>
      <vt:lpstr>PowerPoint Presentation</vt:lpstr>
      <vt:lpstr>Failure of the system</vt:lpstr>
      <vt:lpstr>Failure in MapReduce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 </dc:title>
  <dc:creator>Xiang Cao</dc:creator>
  <cp:lastModifiedBy>Xiang Cao</cp:lastModifiedBy>
  <cp:revision>42</cp:revision>
  <dcterms:created xsi:type="dcterms:W3CDTF">2019-03-27T00:23:02Z</dcterms:created>
  <dcterms:modified xsi:type="dcterms:W3CDTF">2022-11-16T15:23:50Z</dcterms:modified>
</cp:coreProperties>
</file>