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oleObject"/>
  <Default Extension="vml" ContentType="application/vnd.openxmlformats-officedocument.vmlDrawi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419" r:id="rId2"/>
    <p:sldId id="433" r:id="rId3"/>
    <p:sldId id="420" r:id="rId4"/>
    <p:sldId id="421" r:id="rId5"/>
    <p:sldId id="422" r:id="rId6"/>
    <p:sldId id="423" r:id="rId7"/>
    <p:sldId id="424" r:id="rId8"/>
    <p:sldId id="425" r:id="rId9"/>
    <p:sldId id="426" r:id="rId10"/>
    <p:sldId id="427" r:id="rId11"/>
    <p:sldId id="428" r:id="rId12"/>
    <p:sldId id="429" r:id="rId13"/>
    <p:sldId id="430" r:id="rId14"/>
    <p:sldId id="431" r:id="rId15"/>
    <p:sldId id="432" r:id="rId16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70" autoAdjust="0"/>
    <p:restoredTop sz="85714" autoAdjust="0"/>
  </p:normalViewPr>
  <p:slideViewPr>
    <p:cSldViewPr snapToGrid="0">
      <p:cViewPr varScale="1">
        <p:scale>
          <a:sx n="120" d="100"/>
          <a:sy n="120" d="100"/>
        </p:scale>
        <p:origin x="2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16B3B-DD59-D94E-9DE6-C5D07783D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5700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91A01-67A3-49D0-9596-2CD4E345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3607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25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21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22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5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6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9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15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7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2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3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1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42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B3D4F-B490-411B-9298-E183F15F296A}" type="datetimeFigureOut">
              <a:rPr lang="en-US" smtClean="0"/>
              <a:t>10/24/19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A2BC6-4458-4F1B-A354-277BAA8EE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1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2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1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2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xmlns="" id="{22639EB0-E803-457C-84D5-28EE26E76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386" y="355600"/>
            <a:ext cx="864427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Discussion</a:t>
            </a:r>
            <a:br>
              <a:rPr lang="en-US" altLang="en-US" dirty="0" smtClean="0"/>
            </a:br>
            <a:r>
              <a:rPr lang="en-US" altLang="en-US" dirty="0" smtClean="0"/>
              <a:t>	</a:t>
            </a:r>
            <a:r>
              <a:rPr lang="en-US" altLang="en-US" sz="4000" dirty="0" smtClean="0"/>
              <a:t>- Example: Airline </a:t>
            </a:r>
            <a:r>
              <a:rPr lang="en-US" altLang="en-US" sz="4000" dirty="0"/>
              <a:t>Reservation Service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xmlns="" id="{F178FB15-8CC1-42C3-B5D2-518800C9C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27200"/>
            <a:ext cx="7772400" cy="4114800"/>
          </a:xfrm>
        </p:spPr>
        <p:txBody>
          <a:bodyPr/>
          <a:lstStyle/>
          <a:p>
            <a:r>
              <a:rPr lang="en-US" altLang="en-US" dirty="0"/>
              <a:t>Suppose that an airline wants to create a telephone reservation system for customers to call in and make flight reservations.</a:t>
            </a:r>
          </a:p>
          <a:p>
            <a:r>
              <a:rPr lang="en-US" altLang="en-US" dirty="0"/>
              <a:t>The airline wants to ensure that its premier members get immediate service, its frequent flyer members get expedited service and all others get regular service.</a:t>
            </a:r>
          </a:p>
          <a:p>
            <a:r>
              <a:rPr lang="en-US" altLang="en-US" dirty="0"/>
              <a:t>There are two main approaches to implementing the reservation service...</a:t>
            </a:r>
          </a:p>
        </p:txBody>
      </p:sp>
    </p:spTree>
    <p:extLst>
      <p:ext uri="{BB962C8B-B14F-4D97-AF65-F5344CB8AC3E}">
        <p14:creationId xmlns:p14="http://schemas.microsoft.com/office/powerpoint/2010/main" val="1883920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non-REST and RESTful approaches for </a:t>
            </a:r>
          </a:p>
          <a:p>
            <a:pPr lvl="1"/>
            <a:r>
              <a:rPr lang="en-US" dirty="0" smtClean="0"/>
              <a:t>Telephone based reservation system</a:t>
            </a:r>
          </a:p>
          <a:p>
            <a:pPr lvl="1"/>
            <a:r>
              <a:rPr lang="en-US" dirty="0" smtClean="0"/>
              <a:t>Web service based reservation system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78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2F4935BF-4533-4783-B8E8-30978E79FC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423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Approach 1</a:t>
            </a:r>
            <a:br>
              <a:rPr lang="en-US" altLang="en-US"/>
            </a:br>
            <a:r>
              <a:rPr lang="en-US" altLang="en-US"/>
              <a:t>"Press 1 for Premier, Press 2 for…"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6AE8F1A4-C125-4DC0-ACC2-3E598CC040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6002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/>
              <a:t>The airline provides a single telephone number.  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/>
              <a:t>Upon entry into the system a customer encounters an automated message, "Press 1 if you are a premier member, press 2 if you are a frequent flyer, press 3 for all others."</a:t>
            </a:r>
            <a:endParaRPr lang="en-US" altLang="en-US"/>
          </a:p>
        </p:txBody>
      </p:sp>
      <p:grpSp>
        <p:nvGrpSpPr>
          <p:cNvPr id="5124" name="Group 4">
            <a:extLst>
              <a:ext uri="{FF2B5EF4-FFF2-40B4-BE49-F238E27FC236}">
                <a16:creationId xmlns:a16="http://schemas.microsoft.com/office/drawing/2014/main" xmlns="" id="{CF092491-E970-4377-95B3-1769C1EAF86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505200"/>
            <a:ext cx="469900" cy="619125"/>
            <a:chOff x="1099" y="1621"/>
            <a:chExt cx="296" cy="390"/>
          </a:xfrm>
        </p:grpSpPr>
        <p:sp>
          <p:nvSpPr>
            <p:cNvPr id="5125" name="Oval 5">
              <a:extLst>
                <a:ext uri="{FF2B5EF4-FFF2-40B4-BE49-F238E27FC236}">
                  <a16:creationId xmlns:a16="http://schemas.microsoft.com/office/drawing/2014/main" xmlns="" id="{F2B905B0-6BF2-45DA-93D2-E77727B62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6" name="Line 6">
              <a:extLst>
                <a:ext uri="{FF2B5EF4-FFF2-40B4-BE49-F238E27FC236}">
                  <a16:creationId xmlns:a16="http://schemas.microsoft.com/office/drawing/2014/main" xmlns="" id="{406994BB-B9C5-4134-A82E-A1A8F3965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" name="Line 7">
              <a:extLst>
                <a:ext uri="{FF2B5EF4-FFF2-40B4-BE49-F238E27FC236}">
                  <a16:creationId xmlns:a16="http://schemas.microsoft.com/office/drawing/2014/main" xmlns="" id="{1D1D6B81-C130-440B-A8E6-632AFC752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8" name="Line 8">
              <a:extLst>
                <a:ext uri="{FF2B5EF4-FFF2-40B4-BE49-F238E27FC236}">
                  <a16:creationId xmlns:a16="http://schemas.microsoft.com/office/drawing/2014/main" xmlns="" id="{2871A7D0-11F6-41F3-9084-CB0601248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9" name="Line 9">
              <a:extLst>
                <a:ext uri="{FF2B5EF4-FFF2-40B4-BE49-F238E27FC236}">
                  <a16:creationId xmlns:a16="http://schemas.microsoft.com/office/drawing/2014/main" xmlns="" id="{ADB1A15F-B14B-4A1C-BEF9-7707DB35A7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" name="Line 10">
              <a:extLst>
                <a:ext uri="{FF2B5EF4-FFF2-40B4-BE49-F238E27FC236}">
                  <a16:creationId xmlns:a16="http://schemas.microsoft.com/office/drawing/2014/main" xmlns="" id="{475791BB-E8E5-4FF5-856C-A97B7557E5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1" name="Group 11">
            <a:extLst>
              <a:ext uri="{FF2B5EF4-FFF2-40B4-BE49-F238E27FC236}">
                <a16:creationId xmlns:a16="http://schemas.microsoft.com/office/drawing/2014/main" xmlns="" id="{7D52CE57-677D-4923-95F1-ADBB260333D7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733800"/>
            <a:ext cx="304800" cy="381000"/>
            <a:chOff x="1099" y="1621"/>
            <a:chExt cx="296" cy="390"/>
          </a:xfrm>
        </p:grpSpPr>
        <p:sp>
          <p:nvSpPr>
            <p:cNvPr id="5132" name="Oval 12">
              <a:extLst>
                <a:ext uri="{FF2B5EF4-FFF2-40B4-BE49-F238E27FC236}">
                  <a16:creationId xmlns:a16="http://schemas.microsoft.com/office/drawing/2014/main" xmlns="" id="{2172A961-6430-4318-A21A-70CC35E98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Line 13">
              <a:extLst>
                <a:ext uri="{FF2B5EF4-FFF2-40B4-BE49-F238E27FC236}">
                  <a16:creationId xmlns:a16="http://schemas.microsoft.com/office/drawing/2014/main" xmlns="" id="{576F69B1-D43E-4D41-8A44-58F70D7C7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4" name="Line 14">
              <a:extLst>
                <a:ext uri="{FF2B5EF4-FFF2-40B4-BE49-F238E27FC236}">
                  <a16:creationId xmlns:a16="http://schemas.microsoft.com/office/drawing/2014/main" xmlns="" id="{240C3B12-E7A8-431F-9A01-1ABB0C0293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Line 15">
              <a:extLst>
                <a:ext uri="{FF2B5EF4-FFF2-40B4-BE49-F238E27FC236}">
                  <a16:creationId xmlns:a16="http://schemas.microsoft.com/office/drawing/2014/main" xmlns="" id="{1206B0FF-6536-4770-9301-C89E01CCE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Line 16">
              <a:extLst>
                <a:ext uri="{FF2B5EF4-FFF2-40B4-BE49-F238E27FC236}">
                  <a16:creationId xmlns:a16="http://schemas.microsoft.com/office/drawing/2014/main" xmlns="" id="{6CB3BC2C-0AF5-4433-BA53-0F4F23EDA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7" name="Line 17">
              <a:extLst>
                <a:ext uri="{FF2B5EF4-FFF2-40B4-BE49-F238E27FC236}">
                  <a16:creationId xmlns:a16="http://schemas.microsoft.com/office/drawing/2014/main" xmlns="" id="{6A265B60-ED83-4A43-BD0D-900E9D96A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8" name="Group 18">
            <a:extLst>
              <a:ext uri="{FF2B5EF4-FFF2-40B4-BE49-F238E27FC236}">
                <a16:creationId xmlns:a16="http://schemas.microsoft.com/office/drawing/2014/main" xmlns="" id="{D627708E-A736-4302-9CE9-57733F70F5C6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657600"/>
            <a:ext cx="304800" cy="533400"/>
            <a:chOff x="1099" y="1621"/>
            <a:chExt cx="296" cy="390"/>
          </a:xfrm>
        </p:grpSpPr>
        <p:sp>
          <p:nvSpPr>
            <p:cNvPr id="5139" name="Oval 19">
              <a:extLst>
                <a:ext uri="{FF2B5EF4-FFF2-40B4-BE49-F238E27FC236}">
                  <a16:creationId xmlns:a16="http://schemas.microsoft.com/office/drawing/2014/main" xmlns="" id="{C69958C3-8EF5-4152-AF34-E5FAA9280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0" name="Line 20">
              <a:extLst>
                <a:ext uri="{FF2B5EF4-FFF2-40B4-BE49-F238E27FC236}">
                  <a16:creationId xmlns:a16="http://schemas.microsoft.com/office/drawing/2014/main" xmlns="" id="{357ED5D2-329E-45D1-ABAA-499FD9166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1" name="Line 21">
              <a:extLst>
                <a:ext uri="{FF2B5EF4-FFF2-40B4-BE49-F238E27FC236}">
                  <a16:creationId xmlns:a16="http://schemas.microsoft.com/office/drawing/2014/main" xmlns="" id="{5F678F27-264D-4374-8690-C210BA60B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2" name="Line 22">
              <a:extLst>
                <a:ext uri="{FF2B5EF4-FFF2-40B4-BE49-F238E27FC236}">
                  <a16:creationId xmlns:a16="http://schemas.microsoft.com/office/drawing/2014/main" xmlns="" id="{14A1314B-CDCA-4D6A-A69B-EC53E2723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3" name="Line 23">
              <a:extLst>
                <a:ext uri="{FF2B5EF4-FFF2-40B4-BE49-F238E27FC236}">
                  <a16:creationId xmlns:a16="http://schemas.microsoft.com/office/drawing/2014/main" xmlns="" id="{606E7214-8B04-4DCC-9D06-76E6CDFFF5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4" name="Line 24">
              <a:extLst>
                <a:ext uri="{FF2B5EF4-FFF2-40B4-BE49-F238E27FC236}">
                  <a16:creationId xmlns:a16="http://schemas.microsoft.com/office/drawing/2014/main" xmlns="" id="{52B96C43-02B9-48C8-A2C7-66E8E3BD0E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45" name="Group 25">
            <a:extLst>
              <a:ext uri="{FF2B5EF4-FFF2-40B4-BE49-F238E27FC236}">
                <a16:creationId xmlns:a16="http://schemas.microsoft.com/office/drawing/2014/main" xmlns="" id="{752174A2-79DA-4C53-A44D-6BAAF8CAF7B8}"/>
              </a:ext>
            </a:extLst>
          </p:cNvPr>
          <p:cNvGrpSpPr>
            <a:grpSpLocks/>
          </p:cNvGrpSpPr>
          <p:nvPr/>
        </p:nvGrpSpPr>
        <p:grpSpPr bwMode="auto">
          <a:xfrm>
            <a:off x="1206500" y="4648200"/>
            <a:ext cx="469900" cy="619125"/>
            <a:chOff x="1099" y="1621"/>
            <a:chExt cx="296" cy="390"/>
          </a:xfrm>
        </p:grpSpPr>
        <p:sp>
          <p:nvSpPr>
            <p:cNvPr id="5146" name="Oval 26">
              <a:extLst>
                <a:ext uri="{FF2B5EF4-FFF2-40B4-BE49-F238E27FC236}">
                  <a16:creationId xmlns:a16="http://schemas.microsoft.com/office/drawing/2014/main" xmlns="" id="{3CFEE056-96EA-4134-9F3B-F3BBD0267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7" name="Line 27">
              <a:extLst>
                <a:ext uri="{FF2B5EF4-FFF2-40B4-BE49-F238E27FC236}">
                  <a16:creationId xmlns:a16="http://schemas.microsoft.com/office/drawing/2014/main" xmlns="" id="{305DFDA1-7214-47B5-AA7B-BA8E80709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8" name="Line 28">
              <a:extLst>
                <a:ext uri="{FF2B5EF4-FFF2-40B4-BE49-F238E27FC236}">
                  <a16:creationId xmlns:a16="http://schemas.microsoft.com/office/drawing/2014/main" xmlns="" id="{52DBAF1A-316E-4B5B-99FD-9E26A43368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9" name="Line 29">
              <a:extLst>
                <a:ext uri="{FF2B5EF4-FFF2-40B4-BE49-F238E27FC236}">
                  <a16:creationId xmlns:a16="http://schemas.microsoft.com/office/drawing/2014/main" xmlns="" id="{78CA90F0-282B-4B97-8DAF-B08C8BC35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0" name="Line 30">
              <a:extLst>
                <a:ext uri="{FF2B5EF4-FFF2-40B4-BE49-F238E27FC236}">
                  <a16:creationId xmlns:a16="http://schemas.microsoft.com/office/drawing/2014/main" xmlns="" id="{DC05E2EA-9D63-4AC3-87E3-D8D4D56BEA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31">
              <a:extLst>
                <a:ext uri="{FF2B5EF4-FFF2-40B4-BE49-F238E27FC236}">
                  <a16:creationId xmlns:a16="http://schemas.microsoft.com/office/drawing/2014/main" xmlns="" id="{073C3B2B-6764-462B-8F4E-766272DA46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52" name="Group 32">
            <a:extLst>
              <a:ext uri="{FF2B5EF4-FFF2-40B4-BE49-F238E27FC236}">
                <a16:creationId xmlns:a16="http://schemas.microsoft.com/office/drawing/2014/main" xmlns="" id="{95252DFE-50D2-479F-9AAD-D5A539CC2472}"/>
              </a:ext>
            </a:extLst>
          </p:cNvPr>
          <p:cNvGrpSpPr>
            <a:grpSpLocks/>
          </p:cNvGrpSpPr>
          <p:nvPr/>
        </p:nvGrpSpPr>
        <p:grpSpPr bwMode="auto">
          <a:xfrm>
            <a:off x="749300" y="4876800"/>
            <a:ext cx="304800" cy="381000"/>
            <a:chOff x="1099" y="1621"/>
            <a:chExt cx="296" cy="390"/>
          </a:xfrm>
        </p:grpSpPr>
        <p:sp>
          <p:nvSpPr>
            <p:cNvPr id="5153" name="Oval 33">
              <a:extLst>
                <a:ext uri="{FF2B5EF4-FFF2-40B4-BE49-F238E27FC236}">
                  <a16:creationId xmlns:a16="http://schemas.microsoft.com/office/drawing/2014/main" xmlns="" id="{2F83C1D8-8991-4ADA-B146-4EEB60567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34">
              <a:extLst>
                <a:ext uri="{FF2B5EF4-FFF2-40B4-BE49-F238E27FC236}">
                  <a16:creationId xmlns:a16="http://schemas.microsoft.com/office/drawing/2014/main" xmlns="" id="{BD94A3BA-C999-42C5-B504-9D2680B51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5" name="Line 35">
              <a:extLst>
                <a:ext uri="{FF2B5EF4-FFF2-40B4-BE49-F238E27FC236}">
                  <a16:creationId xmlns:a16="http://schemas.microsoft.com/office/drawing/2014/main" xmlns="" id="{5531C0CA-C18D-4CA0-904E-20660A8708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Line 36">
              <a:extLst>
                <a:ext uri="{FF2B5EF4-FFF2-40B4-BE49-F238E27FC236}">
                  <a16:creationId xmlns:a16="http://schemas.microsoft.com/office/drawing/2014/main" xmlns="" id="{48E6E77A-521C-45ED-9996-EA017AF32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37">
              <a:extLst>
                <a:ext uri="{FF2B5EF4-FFF2-40B4-BE49-F238E27FC236}">
                  <a16:creationId xmlns:a16="http://schemas.microsoft.com/office/drawing/2014/main" xmlns="" id="{DEA82B97-C086-41C5-B301-BB2F3E7D67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38">
              <a:extLst>
                <a:ext uri="{FF2B5EF4-FFF2-40B4-BE49-F238E27FC236}">
                  <a16:creationId xmlns:a16="http://schemas.microsoft.com/office/drawing/2014/main" xmlns="" id="{80A6C730-0FB4-4762-A161-22446A5CE8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59" name="Group 39">
            <a:extLst>
              <a:ext uri="{FF2B5EF4-FFF2-40B4-BE49-F238E27FC236}">
                <a16:creationId xmlns:a16="http://schemas.microsoft.com/office/drawing/2014/main" xmlns="" id="{92F8712E-BA07-4B0C-B828-1E3999950A7A}"/>
              </a:ext>
            </a:extLst>
          </p:cNvPr>
          <p:cNvGrpSpPr>
            <a:grpSpLocks/>
          </p:cNvGrpSpPr>
          <p:nvPr/>
        </p:nvGrpSpPr>
        <p:grpSpPr bwMode="auto">
          <a:xfrm>
            <a:off x="977900" y="4800600"/>
            <a:ext cx="304800" cy="533400"/>
            <a:chOff x="1099" y="1621"/>
            <a:chExt cx="296" cy="390"/>
          </a:xfrm>
        </p:grpSpPr>
        <p:sp>
          <p:nvSpPr>
            <p:cNvPr id="5160" name="Oval 40">
              <a:extLst>
                <a:ext uri="{FF2B5EF4-FFF2-40B4-BE49-F238E27FC236}">
                  <a16:creationId xmlns:a16="http://schemas.microsoft.com/office/drawing/2014/main" xmlns="" id="{9FCE65D5-C634-4BDB-AD96-CC49E2A67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41">
              <a:extLst>
                <a:ext uri="{FF2B5EF4-FFF2-40B4-BE49-F238E27FC236}">
                  <a16:creationId xmlns:a16="http://schemas.microsoft.com/office/drawing/2014/main" xmlns="" id="{EC37A2B7-D3A9-4817-9759-15B181154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42">
              <a:extLst>
                <a:ext uri="{FF2B5EF4-FFF2-40B4-BE49-F238E27FC236}">
                  <a16:creationId xmlns:a16="http://schemas.microsoft.com/office/drawing/2014/main" xmlns="" id="{C1E6DB4F-49F1-4186-8718-7593E212A4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43">
              <a:extLst>
                <a:ext uri="{FF2B5EF4-FFF2-40B4-BE49-F238E27FC236}">
                  <a16:creationId xmlns:a16="http://schemas.microsoft.com/office/drawing/2014/main" xmlns="" id="{4E81CBFE-3173-4F44-923E-F949366AD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44">
              <a:extLst>
                <a:ext uri="{FF2B5EF4-FFF2-40B4-BE49-F238E27FC236}">
                  <a16:creationId xmlns:a16="http://schemas.microsoft.com/office/drawing/2014/main" xmlns="" id="{35D46229-241F-4E34-A805-734798042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45">
              <a:extLst>
                <a:ext uri="{FF2B5EF4-FFF2-40B4-BE49-F238E27FC236}">
                  <a16:creationId xmlns:a16="http://schemas.microsoft.com/office/drawing/2014/main" xmlns="" id="{AAA6A84F-A752-4532-9E27-0892FDC524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66" name="Group 46">
            <a:extLst>
              <a:ext uri="{FF2B5EF4-FFF2-40B4-BE49-F238E27FC236}">
                <a16:creationId xmlns:a16="http://schemas.microsoft.com/office/drawing/2014/main" xmlns="" id="{02AD75C0-EF5E-4BE0-9C7F-8744E7D585C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5791200"/>
            <a:ext cx="469900" cy="619125"/>
            <a:chOff x="1099" y="1621"/>
            <a:chExt cx="296" cy="390"/>
          </a:xfrm>
        </p:grpSpPr>
        <p:sp>
          <p:nvSpPr>
            <p:cNvPr id="5167" name="Oval 47">
              <a:extLst>
                <a:ext uri="{FF2B5EF4-FFF2-40B4-BE49-F238E27FC236}">
                  <a16:creationId xmlns:a16="http://schemas.microsoft.com/office/drawing/2014/main" xmlns="" id="{A9711D68-09EF-4B71-8192-8357E1DB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48">
              <a:extLst>
                <a:ext uri="{FF2B5EF4-FFF2-40B4-BE49-F238E27FC236}">
                  <a16:creationId xmlns:a16="http://schemas.microsoft.com/office/drawing/2014/main" xmlns="" id="{D6E7CBF3-C6E5-4404-BF3C-D9F5532CB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49">
              <a:extLst>
                <a:ext uri="{FF2B5EF4-FFF2-40B4-BE49-F238E27FC236}">
                  <a16:creationId xmlns:a16="http://schemas.microsoft.com/office/drawing/2014/main" xmlns="" id="{84589FF7-3DE9-40B9-AADD-9FF7B5431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50">
              <a:extLst>
                <a:ext uri="{FF2B5EF4-FFF2-40B4-BE49-F238E27FC236}">
                  <a16:creationId xmlns:a16="http://schemas.microsoft.com/office/drawing/2014/main" xmlns="" id="{AE4CF1DC-DDC8-48B4-92EF-6F9CB8764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51">
              <a:extLst>
                <a:ext uri="{FF2B5EF4-FFF2-40B4-BE49-F238E27FC236}">
                  <a16:creationId xmlns:a16="http://schemas.microsoft.com/office/drawing/2014/main" xmlns="" id="{685357D6-8215-4955-91F9-F1EEC9855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52">
              <a:extLst>
                <a:ext uri="{FF2B5EF4-FFF2-40B4-BE49-F238E27FC236}">
                  <a16:creationId xmlns:a16="http://schemas.microsoft.com/office/drawing/2014/main" xmlns="" id="{6AD14B1D-CB56-410A-9135-23BCAFCFC7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73" name="Group 53">
            <a:extLst>
              <a:ext uri="{FF2B5EF4-FFF2-40B4-BE49-F238E27FC236}">
                <a16:creationId xmlns:a16="http://schemas.microsoft.com/office/drawing/2014/main" xmlns="" id="{90B88234-50BB-4775-818F-CE17BEDA9709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6019800"/>
            <a:ext cx="304800" cy="381000"/>
            <a:chOff x="1099" y="1621"/>
            <a:chExt cx="296" cy="390"/>
          </a:xfrm>
        </p:grpSpPr>
        <p:sp>
          <p:nvSpPr>
            <p:cNvPr id="5174" name="Oval 54">
              <a:extLst>
                <a:ext uri="{FF2B5EF4-FFF2-40B4-BE49-F238E27FC236}">
                  <a16:creationId xmlns:a16="http://schemas.microsoft.com/office/drawing/2014/main" xmlns="" id="{CC4850FD-D8B9-41F7-BE7F-9CFE31E03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5" name="Line 55">
              <a:extLst>
                <a:ext uri="{FF2B5EF4-FFF2-40B4-BE49-F238E27FC236}">
                  <a16:creationId xmlns:a16="http://schemas.microsoft.com/office/drawing/2014/main" xmlns="" id="{FC0CFD12-C63A-47BD-9F59-3D3F3FB38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6" name="Line 56">
              <a:extLst>
                <a:ext uri="{FF2B5EF4-FFF2-40B4-BE49-F238E27FC236}">
                  <a16:creationId xmlns:a16="http://schemas.microsoft.com/office/drawing/2014/main" xmlns="" id="{80689C59-5E12-4686-BC05-419568F1B1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7" name="Line 57">
              <a:extLst>
                <a:ext uri="{FF2B5EF4-FFF2-40B4-BE49-F238E27FC236}">
                  <a16:creationId xmlns:a16="http://schemas.microsoft.com/office/drawing/2014/main" xmlns="" id="{1AFEE055-1678-4129-A6DE-DCFEF9277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8" name="Line 58">
              <a:extLst>
                <a:ext uri="{FF2B5EF4-FFF2-40B4-BE49-F238E27FC236}">
                  <a16:creationId xmlns:a16="http://schemas.microsoft.com/office/drawing/2014/main" xmlns="" id="{3E009D15-B4D7-4B71-9341-0426D0068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9" name="Line 59">
              <a:extLst>
                <a:ext uri="{FF2B5EF4-FFF2-40B4-BE49-F238E27FC236}">
                  <a16:creationId xmlns:a16="http://schemas.microsoft.com/office/drawing/2014/main" xmlns="" id="{99EBAC59-1C27-4AE0-9424-276EFDF770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80" name="Group 60">
            <a:extLst>
              <a:ext uri="{FF2B5EF4-FFF2-40B4-BE49-F238E27FC236}">
                <a16:creationId xmlns:a16="http://schemas.microsoft.com/office/drawing/2014/main" xmlns="" id="{1AA59DF8-8291-4B0E-B9A4-F4EDFACA4974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5943600"/>
            <a:ext cx="304800" cy="533400"/>
            <a:chOff x="1099" y="1621"/>
            <a:chExt cx="296" cy="390"/>
          </a:xfrm>
        </p:grpSpPr>
        <p:sp>
          <p:nvSpPr>
            <p:cNvPr id="5181" name="Oval 61">
              <a:extLst>
                <a:ext uri="{FF2B5EF4-FFF2-40B4-BE49-F238E27FC236}">
                  <a16:creationId xmlns:a16="http://schemas.microsoft.com/office/drawing/2014/main" xmlns="" id="{7540CC41-1254-4BA0-9F6F-11903652D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2" name="Line 62">
              <a:extLst>
                <a:ext uri="{FF2B5EF4-FFF2-40B4-BE49-F238E27FC236}">
                  <a16:creationId xmlns:a16="http://schemas.microsoft.com/office/drawing/2014/main" xmlns="" id="{2E1AEA17-E0CE-4B1E-AA31-814ECB698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3" name="Line 63">
              <a:extLst>
                <a:ext uri="{FF2B5EF4-FFF2-40B4-BE49-F238E27FC236}">
                  <a16:creationId xmlns:a16="http://schemas.microsoft.com/office/drawing/2014/main" xmlns="" id="{241529FE-ED6A-4FBA-BE92-D38704BE3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4" name="Line 64">
              <a:extLst>
                <a:ext uri="{FF2B5EF4-FFF2-40B4-BE49-F238E27FC236}">
                  <a16:creationId xmlns:a16="http://schemas.microsoft.com/office/drawing/2014/main" xmlns="" id="{555CEB76-6038-4494-8897-66B96AF58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5" name="Line 65">
              <a:extLst>
                <a:ext uri="{FF2B5EF4-FFF2-40B4-BE49-F238E27FC236}">
                  <a16:creationId xmlns:a16="http://schemas.microsoft.com/office/drawing/2014/main" xmlns="" id="{C2BBBDA9-3F76-49D9-9103-75DFC37793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6" name="Line 66">
              <a:extLst>
                <a:ext uri="{FF2B5EF4-FFF2-40B4-BE49-F238E27FC236}">
                  <a16:creationId xmlns:a16="http://schemas.microsoft.com/office/drawing/2014/main" xmlns="" id="{E02E5404-5B19-48E3-9D6E-44908669EA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87" name="Text Box 67">
            <a:extLst>
              <a:ext uri="{FF2B5EF4-FFF2-40B4-BE49-F238E27FC236}">
                <a16:creationId xmlns:a16="http://schemas.microsoft.com/office/drawing/2014/main" xmlns="" id="{7AAD275F-D938-4733-B8B1-8914F635C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52900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Premier Members</a:t>
            </a:r>
            <a:endParaRPr lang="en-US" altLang="en-US"/>
          </a:p>
        </p:txBody>
      </p:sp>
      <p:sp>
        <p:nvSpPr>
          <p:cNvPr id="5188" name="Text Box 68">
            <a:extLst>
              <a:ext uri="{FF2B5EF4-FFF2-40B4-BE49-F238E27FC236}">
                <a16:creationId xmlns:a16="http://schemas.microsoft.com/office/drawing/2014/main" xmlns="" id="{5A35C127-C131-4486-9179-67B023388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334000"/>
            <a:ext cx="2457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Frequent Flyer Members</a:t>
            </a:r>
            <a:endParaRPr lang="en-US" altLang="en-US"/>
          </a:p>
        </p:txBody>
      </p:sp>
      <p:sp>
        <p:nvSpPr>
          <p:cNvPr id="5189" name="Text Box 69">
            <a:extLst>
              <a:ext uri="{FF2B5EF4-FFF2-40B4-BE49-F238E27FC236}">
                <a16:creationId xmlns:a16="http://schemas.microsoft.com/office/drawing/2014/main" xmlns="" id="{F9ECCBB8-7837-42C0-9C51-98A8B2405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49128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Regular Members</a:t>
            </a:r>
            <a:endParaRPr lang="en-US" altLang="en-US"/>
          </a:p>
        </p:txBody>
      </p:sp>
      <p:sp>
        <p:nvSpPr>
          <p:cNvPr id="5190" name="Text Box 70">
            <a:extLst>
              <a:ext uri="{FF2B5EF4-FFF2-40B4-BE49-F238E27FC236}">
                <a16:creationId xmlns:a16="http://schemas.microsoft.com/office/drawing/2014/main" xmlns="" id="{4F7351D6-1ACD-44CE-9B06-F73F1CB88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6025" y="4864100"/>
            <a:ext cx="207962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Airline Reservations</a:t>
            </a:r>
            <a:endParaRPr lang="en-US" altLang="en-US"/>
          </a:p>
        </p:txBody>
      </p:sp>
      <p:sp>
        <p:nvSpPr>
          <p:cNvPr id="5191" name="Line 71">
            <a:extLst>
              <a:ext uri="{FF2B5EF4-FFF2-40B4-BE49-F238E27FC236}">
                <a16:creationId xmlns:a16="http://schemas.microsoft.com/office/drawing/2014/main" xmlns="" id="{33AC16FD-2334-46F0-85A1-6C483DEF0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962400"/>
            <a:ext cx="2362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2" name="Line 72">
            <a:extLst>
              <a:ext uri="{FF2B5EF4-FFF2-40B4-BE49-F238E27FC236}">
                <a16:creationId xmlns:a16="http://schemas.microsoft.com/office/drawing/2014/main" xmlns="" id="{9B40AF03-32B5-4625-AC74-0AE139EBE2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029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3" name="Line 73">
            <a:extLst>
              <a:ext uri="{FF2B5EF4-FFF2-40B4-BE49-F238E27FC236}">
                <a16:creationId xmlns:a16="http://schemas.microsoft.com/office/drawing/2014/main" xmlns="" id="{D35482AF-9BF4-489D-B446-CBCB2890E0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5257800"/>
            <a:ext cx="2286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4" name="Text Box 74">
            <a:extLst>
              <a:ext uri="{FF2B5EF4-FFF2-40B4-BE49-F238E27FC236}">
                <a16:creationId xmlns:a16="http://schemas.microsoft.com/office/drawing/2014/main" xmlns="" id="{99A4E6F4-C700-4717-9E7F-F45B93792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888" y="4724400"/>
            <a:ext cx="1085850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Answering</a:t>
            </a:r>
          </a:p>
          <a:p>
            <a:pPr algn="ctr"/>
            <a:r>
              <a:rPr lang="en-US" altLang="en-US" sz="1600"/>
              <a:t>Machine</a:t>
            </a:r>
          </a:p>
        </p:txBody>
      </p:sp>
      <p:sp>
        <p:nvSpPr>
          <p:cNvPr id="5195" name="Line 75">
            <a:extLst>
              <a:ext uri="{FF2B5EF4-FFF2-40B4-BE49-F238E27FC236}">
                <a16:creationId xmlns:a16="http://schemas.microsoft.com/office/drawing/2014/main" xmlns="" id="{78D3E4AA-AFDE-414B-8E8C-5E211F5E3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1525" y="5029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6" name="Text Box 76">
            <a:extLst>
              <a:ext uri="{FF2B5EF4-FFF2-40B4-BE49-F238E27FC236}">
                <a16:creationId xmlns:a16="http://schemas.microsoft.com/office/drawing/2014/main" xmlns="" id="{785BE4CD-CDE4-4676-AEE6-463AE59D0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2863" y="3527425"/>
            <a:ext cx="1252537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Premier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  <a:endParaRPr lang="en-US" altLang="en-US"/>
          </a:p>
        </p:txBody>
      </p:sp>
      <p:sp>
        <p:nvSpPr>
          <p:cNvPr id="5197" name="Text Box 77">
            <a:extLst>
              <a:ext uri="{FF2B5EF4-FFF2-40B4-BE49-F238E27FC236}">
                <a16:creationId xmlns:a16="http://schemas.microsoft.com/office/drawing/2014/main" xmlns="" id="{1C3735EA-7915-4604-AB5E-8A596832E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648200"/>
            <a:ext cx="1252538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F.F.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</a:p>
        </p:txBody>
      </p:sp>
      <p:sp>
        <p:nvSpPr>
          <p:cNvPr id="5198" name="Text Box 78">
            <a:extLst>
              <a:ext uri="{FF2B5EF4-FFF2-40B4-BE49-F238E27FC236}">
                <a16:creationId xmlns:a16="http://schemas.microsoft.com/office/drawing/2014/main" xmlns="" id="{30AA7C3C-B69C-4910-B5E8-0B20B615E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2863" y="5951538"/>
            <a:ext cx="1252537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Regular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</a:p>
        </p:txBody>
      </p:sp>
      <p:sp>
        <p:nvSpPr>
          <p:cNvPr id="5199" name="Line 79">
            <a:extLst>
              <a:ext uri="{FF2B5EF4-FFF2-40B4-BE49-F238E27FC236}">
                <a16:creationId xmlns:a16="http://schemas.microsoft.com/office/drawing/2014/main" xmlns="" id="{0520A7DB-839F-4A98-84D2-76325232E7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9325" y="4267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0" name="Line 80">
            <a:extLst>
              <a:ext uri="{FF2B5EF4-FFF2-40B4-BE49-F238E27FC236}">
                <a16:creationId xmlns:a16="http://schemas.microsoft.com/office/drawing/2014/main" xmlns="" id="{E8A13F37-1A68-4BB4-A62E-BECDDB28B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9325" y="5029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1" name="Line 81">
            <a:extLst>
              <a:ext uri="{FF2B5EF4-FFF2-40B4-BE49-F238E27FC236}">
                <a16:creationId xmlns:a16="http://schemas.microsoft.com/office/drawing/2014/main" xmlns="" id="{3518879D-90DA-4AA0-84D2-2313419B3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9325" y="5029200"/>
            <a:ext cx="381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9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xmlns="" id="{00A64088-574A-415E-9785-73DCB893A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2600" y="609600"/>
            <a:ext cx="82169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Approach 2</a:t>
            </a:r>
            <a:br>
              <a:rPr lang="en-US" altLang="en-US"/>
            </a:br>
            <a:r>
              <a:rPr lang="en-US" altLang="en-US" sz="3600"/>
              <a:t>Telephone Numbers are Cheap! Use Them!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xmlns="" id="{91DB6307-89B9-43D7-84CA-E0AD791B1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2192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400"/>
              <a:t>The airline provides several telephone numbers - one number for premier members, a different number for frequent flyers, and still another for regular customers.</a:t>
            </a:r>
            <a:endParaRPr lang="en-US" altLang="en-US"/>
          </a:p>
        </p:txBody>
      </p:sp>
      <p:grpSp>
        <p:nvGrpSpPr>
          <p:cNvPr id="6148" name="Group 4">
            <a:extLst>
              <a:ext uri="{FF2B5EF4-FFF2-40B4-BE49-F238E27FC236}">
                <a16:creationId xmlns:a16="http://schemas.microsoft.com/office/drawing/2014/main" xmlns="" id="{E1809F60-B943-440B-B5C8-69831A250128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348038"/>
            <a:ext cx="469900" cy="619125"/>
            <a:chOff x="1099" y="1621"/>
            <a:chExt cx="296" cy="390"/>
          </a:xfrm>
        </p:grpSpPr>
        <p:sp>
          <p:nvSpPr>
            <p:cNvPr id="6149" name="Oval 5">
              <a:extLst>
                <a:ext uri="{FF2B5EF4-FFF2-40B4-BE49-F238E27FC236}">
                  <a16:creationId xmlns:a16="http://schemas.microsoft.com/office/drawing/2014/main" xmlns="" id="{F8EAC3BD-8C23-488C-B637-F5AE5A4A2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0" name="Line 6">
              <a:extLst>
                <a:ext uri="{FF2B5EF4-FFF2-40B4-BE49-F238E27FC236}">
                  <a16:creationId xmlns:a16="http://schemas.microsoft.com/office/drawing/2014/main" xmlns="" id="{533C4F7F-C4EF-4398-8ED8-9E3FA2A2A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1" name="Line 7">
              <a:extLst>
                <a:ext uri="{FF2B5EF4-FFF2-40B4-BE49-F238E27FC236}">
                  <a16:creationId xmlns:a16="http://schemas.microsoft.com/office/drawing/2014/main" xmlns="" id="{FA164A8C-8FA9-4CA3-8372-19A97364EA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2" name="Line 8">
              <a:extLst>
                <a:ext uri="{FF2B5EF4-FFF2-40B4-BE49-F238E27FC236}">
                  <a16:creationId xmlns:a16="http://schemas.microsoft.com/office/drawing/2014/main" xmlns="" id="{F21B2499-A99E-4D4B-B2F4-C4741E0E5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" name="Line 9">
              <a:extLst>
                <a:ext uri="{FF2B5EF4-FFF2-40B4-BE49-F238E27FC236}">
                  <a16:creationId xmlns:a16="http://schemas.microsoft.com/office/drawing/2014/main" xmlns="" id="{2D56514F-2825-438B-BE2F-31F6FC7842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" name="Line 10">
              <a:extLst>
                <a:ext uri="{FF2B5EF4-FFF2-40B4-BE49-F238E27FC236}">
                  <a16:creationId xmlns:a16="http://schemas.microsoft.com/office/drawing/2014/main" xmlns="" id="{6909AB09-AEB8-4082-A533-7800105AA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55" name="Group 11">
            <a:extLst>
              <a:ext uri="{FF2B5EF4-FFF2-40B4-BE49-F238E27FC236}">
                <a16:creationId xmlns:a16="http://schemas.microsoft.com/office/drawing/2014/main" xmlns="" id="{1B7B4592-3B68-404A-B54C-DED082763E8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576638"/>
            <a:ext cx="304800" cy="381000"/>
            <a:chOff x="1099" y="1621"/>
            <a:chExt cx="296" cy="390"/>
          </a:xfrm>
        </p:grpSpPr>
        <p:sp>
          <p:nvSpPr>
            <p:cNvPr id="6156" name="Oval 12">
              <a:extLst>
                <a:ext uri="{FF2B5EF4-FFF2-40B4-BE49-F238E27FC236}">
                  <a16:creationId xmlns:a16="http://schemas.microsoft.com/office/drawing/2014/main" xmlns="" id="{069728A9-FBCF-4ECC-9582-E03554237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" name="Line 13">
              <a:extLst>
                <a:ext uri="{FF2B5EF4-FFF2-40B4-BE49-F238E27FC236}">
                  <a16:creationId xmlns:a16="http://schemas.microsoft.com/office/drawing/2014/main" xmlns="" id="{F35B82A2-0C10-4EF7-8652-CEA5105F7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Line 14">
              <a:extLst>
                <a:ext uri="{FF2B5EF4-FFF2-40B4-BE49-F238E27FC236}">
                  <a16:creationId xmlns:a16="http://schemas.microsoft.com/office/drawing/2014/main" xmlns="" id="{A0CA848C-B2D6-46E3-8040-28A9334267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9" name="Line 15">
              <a:extLst>
                <a:ext uri="{FF2B5EF4-FFF2-40B4-BE49-F238E27FC236}">
                  <a16:creationId xmlns:a16="http://schemas.microsoft.com/office/drawing/2014/main" xmlns="" id="{57288222-EA77-4640-8B69-A3F263A0B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0" name="Line 16">
              <a:extLst>
                <a:ext uri="{FF2B5EF4-FFF2-40B4-BE49-F238E27FC236}">
                  <a16:creationId xmlns:a16="http://schemas.microsoft.com/office/drawing/2014/main" xmlns="" id="{41AB52BD-0F5C-4165-8F95-59FBDDFE9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1" name="Line 17">
              <a:extLst>
                <a:ext uri="{FF2B5EF4-FFF2-40B4-BE49-F238E27FC236}">
                  <a16:creationId xmlns:a16="http://schemas.microsoft.com/office/drawing/2014/main" xmlns="" id="{323E992D-C191-4B16-9411-0451F8AF06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62" name="Group 18">
            <a:extLst>
              <a:ext uri="{FF2B5EF4-FFF2-40B4-BE49-F238E27FC236}">
                <a16:creationId xmlns:a16="http://schemas.microsoft.com/office/drawing/2014/main" xmlns="" id="{52CF9197-62FB-468D-9350-1C711FD2FC08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500438"/>
            <a:ext cx="304800" cy="533400"/>
            <a:chOff x="1099" y="1621"/>
            <a:chExt cx="296" cy="390"/>
          </a:xfrm>
        </p:grpSpPr>
        <p:sp>
          <p:nvSpPr>
            <p:cNvPr id="6163" name="Oval 19">
              <a:extLst>
                <a:ext uri="{FF2B5EF4-FFF2-40B4-BE49-F238E27FC236}">
                  <a16:creationId xmlns:a16="http://schemas.microsoft.com/office/drawing/2014/main" xmlns="" id="{76129574-8504-4376-A0B9-CFDD24A9F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Line 20">
              <a:extLst>
                <a:ext uri="{FF2B5EF4-FFF2-40B4-BE49-F238E27FC236}">
                  <a16:creationId xmlns:a16="http://schemas.microsoft.com/office/drawing/2014/main" xmlns="" id="{306EE428-163B-4DE2-9D15-8B9B159AD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5" name="Line 21">
              <a:extLst>
                <a:ext uri="{FF2B5EF4-FFF2-40B4-BE49-F238E27FC236}">
                  <a16:creationId xmlns:a16="http://schemas.microsoft.com/office/drawing/2014/main" xmlns="" id="{4E2813B6-F5EA-4ED4-9E0E-AA4413DD83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6" name="Line 22">
              <a:extLst>
                <a:ext uri="{FF2B5EF4-FFF2-40B4-BE49-F238E27FC236}">
                  <a16:creationId xmlns:a16="http://schemas.microsoft.com/office/drawing/2014/main" xmlns="" id="{83C2EA71-96FC-4A7B-90A1-303080132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7" name="Line 23">
              <a:extLst>
                <a:ext uri="{FF2B5EF4-FFF2-40B4-BE49-F238E27FC236}">
                  <a16:creationId xmlns:a16="http://schemas.microsoft.com/office/drawing/2014/main" xmlns="" id="{0E6BED41-4222-436C-8EFB-150D65023B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8" name="Line 24">
              <a:extLst>
                <a:ext uri="{FF2B5EF4-FFF2-40B4-BE49-F238E27FC236}">
                  <a16:creationId xmlns:a16="http://schemas.microsoft.com/office/drawing/2014/main" xmlns="" id="{F8154188-99D7-47EA-A93F-998C0EC079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69" name="Group 25">
            <a:extLst>
              <a:ext uri="{FF2B5EF4-FFF2-40B4-BE49-F238E27FC236}">
                <a16:creationId xmlns:a16="http://schemas.microsoft.com/office/drawing/2014/main" xmlns="" id="{30DACB5B-C650-453C-90EB-339B0A336F7F}"/>
              </a:ext>
            </a:extLst>
          </p:cNvPr>
          <p:cNvGrpSpPr>
            <a:grpSpLocks/>
          </p:cNvGrpSpPr>
          <p:nvPr/>
        </p:nvGrpSpPr>
        <p:grpSpPr bwMode="auto">
          <a:xfrm>
            <a:off x="1663700" y="4491038"/>
            <a:ext cx="469900" cy="619125"/>
            <a:chOff x="1099" y="1621"/>
            <a:chExt cx="296" cy="390"/>
          </a:xfrm>
        </p:grpSpPr>
        <p:sp>
          <p:nvSpPr>
            <p:cNvPr id="6170" name="Oval 26">
              <a:extLst>
                <a:ext uri="{FF2B5EF4-FFF2-40B4-BE49-F238E27FC236}">
                  <a16:creationId xmlns:a16="http://schemas.microsoft.com/office/drawing/2014/main" xmlns="" id="{A188D5F1-ED8D-4F63-890D-175C81764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1" name="Line 27">
              <a:extLst>
                <a:ext uri="{FF2B5EF4-FFF2-40B4-BE49-F238E27FC236}">
                  <a16:creationId xmlns:a16="http://schemas.microsoft.com/office/drawing/2014/main" xmlns="" id="{D9B3500A-ED9A-4466-A13D-1317C598B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2" name="Line 28">
              <a:extLst>
                <a:ext uri="{FF2B5EF4-FFF2-40B4-BE49-F238E27FC236}">
                  <a16:creationId xmlns:a16="http://schemas.microsoft.com/office/drawing/2014/main" xmlns="" id="{1B4B1052-66D9-42F0-A7EA-8514C84266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3" name="Line 29">
              <a:extLst>
                <a:ext uri="{FF2B5EF4-FFF2-40B4-BE49-F238E27FC236}">
                  <a16:creationId xmlns:a16="http://schemas.microsoft.com/office/drawing/2014/main" xmlns="" id="{F6B21053-2491-435A-88CB-A721FE7F2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4" name="Line 30">
              <a:extLst>
                <a:ext uri="{FF2B5EF4-FFF2-40B4-BE49-F238E27FC236}">
                  <a16:creationId xmlns:a16="http://schemas.microsoft.com/office/drawing/2014/main" xmlns="" id="{2B8DAAC2-B97A-4FC5-9ED5-5C6C2DE07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5" name="Line 31">
              <a:extLst>
                <a:ext uri="{FF2B5EF4-FFF2-40B4-BE49-F238E27FC236}">
                  <a16:creationId xmlns:a16="http://schemas.microsoft.com/office/drawing/2014/main" xmlns="" id="{301FCC84-56C8-4CFD-A769-121B059B6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76" name="Group 32">
            <a:extLst>
              <a:ext uri="{FF2B5EF4-FFF2-40B4-BE49-F238E27FC236}">
                <a16:creationId xmlns:a16="http://schemas.microsoft.com/office/drawing/2014/main" xmlns="" id="{E493B9E5-E180-4DAE-9F1A-122AF2B820AB}"/>
              </a:ext>
            </a:extLst>
          </p:cNvPr>
          <p:cNvGrpSpPr>
            <a:grpSpLocks/>
          </p:cNvGrpSpPr>
          <p:nvPr/>
        </p:nvGrpSpPr>
        <p:grpSpPr bwMode="auto">
          <a:xfrm>
            <a:off x="1206500" y="4719638"/>
            <a:ext cx="304800" cy="381000"/>
            <a:chOff x="1099" y="1621"/>
            <a:chExt cx="296" cy="390"/>
          </a:xfrm>
        </p:grpSpPr>
        <p:sp>
          <p:nvSpPr>
            <p:cNvPr id="6177" name="Oval 33">
              <a:extLst>
                <a:ext uri="{FF2B5EF4-FFF2-40B4-BE49-F238E27FC236}">
                  <a16:creationId xmlns:a16="http://schemas.microsoft.com/office/drawing/2014/main" xmlns="" id="{B3814871-4B91-41F2-85A4-599785FC2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8" name="Line 34">
              <a:extLst>
                <a:ext uri="{FF2B5EF4-FFF2-40B4-BE49-F238E27FC236}">
                  <a16:creationId xmlns:a16="http://schemas.microsoft.com/office/drawing/2014/main" xmlns="" id="{BBADF8B7-4028-40F2-80FB-FC0AF570B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9" name="Line 35">
              <a:extLst>
                <a:ext uri="{FF2B5EF4-FFF2-40B4-BE49-F238E27FC236}">
                  <a16:creationId xmlns:a16="http://schemas.microsoft.com/office/drawing/2014/main" xmlns="" id="{578D0C1B-FEE6-48D2-AE02-818F82A128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0" name="Line 36">
              <a:extLst>
                <a:ext uri="{FF2B5EF4-FFF2-40B4-BE49-F238E27FC236}">
                  <a16:creationId xmlns:a16="http://schemas.microsoft.com/office/drawing/2014/main" xmlns="" id="{F81C0340-1E97-4F74-947C-7935327BD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1" name="Line 37">
              <a:extLst>
                <a:ext uri="{FF2B5EF4-FFF2-40B4-BE49-F238E27FC236}">
                  <a16:creationId xmlns:a16="http://schemas.microsoft.com/office/drawing/2014/main" xmlns="" id="{EF6D8215-5E4B-4728-A726-4920F9920F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2" name="Line 38">
              <a:extLst>
                <a:ext uri="{FF2B5EF4-FFF2-40B4-BE49-F238E27FC236}">
                  <a16:creationId xmlns:a16="http://schemas.microsoft.com/office/drawing/2014/main" xmlns="" id="{30FEF5B3-C5BC-416B-BFF0-0038CFFB74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83" name="Group 39">
            <a:extLst>
              <a:ext uri="{FF2B5EF4-FFF2-40B4-BE49-F238E27FC236}">
                <a16:creationId xmlns:a16="http://schemas.microsoft.com/office/drawing/2014/main" xmlns="" id="{10550F5B-3905-43B3-B225-714B4FCE4BC3}"/>
              </a:ext>
            </a:extLst>
          </p:cNvPr>
          <p:cNvGrpSpPr>
            <a:grpSpLocks/>
          </p:cNvGrpSpPr>
          <p:nvPr/>
        </p:nvGrpSpPr>
        <p:grpSpPr bwMode="auto">
          <a:xfrm>
            <a:off x="1435100" y="4643438"/>
            <a:ext cx="304800" cy="533400"/>
            <a:chOff x="1099" y="1621"/>
            <a:chExt cx="296" cy="390"/>
          </a:xfrm>
        </p:grpSpPr>
        <p:sp>
          <p:nvSpPr>
            <p:cNvPr id="6184" name="Oval 40">
              <a:extLst>
                <a:ext uri="{FF2B5EF4-FFF2-40B4-BE49-F238E27FC236}">
                  <a16:creationId xmlns:a16="http://schemas.microsoft.com/office/drawing/2014/main" xmlns="" id="{CFB8152E-9763-4C4C-BEE7-C4D7CBACD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5" name="Line 41">
              <a:extLst>
                <a:ext uri="{FF2B5EF4-FFF2-40B4-BE49-F238E27FC236}">
                  <a16:creationId xmlns:a16="http://schemas.microsoft.com/office/drawing/2014/main" xmlns="" id="{A3AA9918-D4C5-4228-8FAA-8155A61BB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6" name="Line 42">
              <a:extLst>
                <a:ext uri="{FF2B5EF4-FFF2-40B4-BE49-F238E27FC236}">
                  <a16:creationId xmlns:a16="http://schemas.microsoft.com/office/drawing/2014/main" xmlns="" id="{93460A16-FB6C-41C1-8BC7-12E2D6379C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7" name="Line 43">
              <a:extLst>
                <a:ext uri="{FF2B5EF4-FFF2-40B4-BE49-F238E27FC236}">
                  <a16:creationId xmlns:a16="http://schemas.microsoft.com/office/drawing/2014/main" xmlns="" id="{3430D774-E8AB-4477-9CEF-A977EBB70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8" name="Line 44">
              <a:extLst>
                <a:ext uri="{FF2B5EF4-FFF2-40B4-BE49-F238E27FC236}">
                  <a16:creationId xmlns:a16="http://schemas.microsoft.com/office/drawing/2014/main" xmlns="" id="{57540D02-9EBC-4D71-85BD-18C63470B5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9" name="Line 45">
              <a:extLst>
                <a:ext uri="{FF2B5EF4-FFF2-40B4-BE49-F238E27FC236}">
                  <a16:creationId xmlns:a16="http://schemas.microsoft.com/office/drawing/2014/main" xmlns="" id="{68885A57-0482-449D-B2B9-058BAA84C7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90" name="Group 46">
            <a:extLst>
              <a:ext uri="{FF2B5EF4-FFF2-40B4-BE49-F238E27FC236}">
                <a16:creationId xmlns:a16="http://schemas.microsoft.com/office/drawing/2014/main" xmlns="" id="{9CDA243C-81C2-4AAB-A52C-748F717A9E95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5634038"/>
            <a:ext cx="469900" cy="619125"/>
            <a:chOff x="1099" y="1621"/>
            <a:chExt cx="296" cy="390"/>
          </a:xfrm>
        </p:grpSpPr>
        <p:sp>
          <p:nvSpPr>
            <p:cNvPr id="6191" name="Oval 47">
              <a:extLst>
                <a:ext uri="{FF2B5EF4-FFF2-40B4-BE49-F238E27FC236}">
                  <a16:creationId xmlns:a16="http://schemas.microsoft.com/office/drawing/2014/main" xmlns="" id="{C8DB8680-AAF1-45DA-B6C5-7C7616A5D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2" name="Line 48">
              <a:extLst>
                <a:ext uri="{FF2B5EF4-FFF2-40B4-BE49-F238E27FC236}">
                  <a16:creationId xmlns:a16="http://schemas.microsoft.com/office/drawing/2014/main" xmlns="" id="{9E17A00B-56A1-46FC-BA96-F1B3BE860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3" name="Line 49">
              <a:extLst>
                <a:ext uri="{FF2B5EF4-FFF2-40B4-BE49-F238E27FC236}">
                  <a16:creationId xmlns:a16="http://schemas.microsoft.com/office/drawing/2014/main" xmlns="" id="{5EFFB4E5-5509-42E2-8253-C18DC8098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4" name="Line 50">
              <a:extLst>
                <a:ext uri="{FF2B5EF4-FFF2-40B4-BE49-F238E27FC236}">
                  <a16:creationId xmlns:a16="http://schemas.microsoft.com/office/drawing/2014/main" xmlns="" id="{AEA143E9-2130-4C44-8901-6DA8E7223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5" name="Line 51">
              <a:extLst>
                <a:ext uri="{FF2B5EF4-FFF2-40B4-BE49-F238E27FC236}">
                  <a16:creationId xmlns:a16="http://schemas.microsoft.com/office/drawing/2014/main" xmlns="" id="{9D481AA0-A771-4AA9-AB49-924CA78BF0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6" name="Line 52">
              <a:extLst>
                <a:ext uri="{FF2B5EF4-FFF2-40B4-BE49-F238E27FC236}">
                  <a16:creationId xmlns:a16="http://schemas.microsoft.com/office/drawing/2014/main" xmlns="" id="{813CF9F5-C76A-4954-823D-137047F68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97" name="Group 53">
            <a:extLst>
              <a:ext uri="{FF2B5EF4-FFF2-40B4-BE49-F238E27FC236}">
                <a16:creationId xmlns:a16="http://schemas.microsoft.com/office/drawing/2014/main" xmlns="" id="{089354F5-009C-4443-A679-2D85819A69F7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5862638"/>
            <a:ext cx="304800" cy="381000"/>
            <a:chOff x="1099" y="1621"/>
            <a:chExt cx="296" cy="390"/>
          </a:xfrm>
        </p:grpSpPr>
        <p:sp>
          <p:nvSpPr>
            <p:cNvPr id="6198" name="Oval 54">
              <a:extLst>
                <a:ext uri="{FF2B5EF4-FFF2-40B4-BE49-F238E27FC236}">
                  <a16:creationId xmlns:a16="http://schemas.microsoft.com/office/drawing/2014/main" xmlns="" id="{39B3C052-2697-413C-B407-11DDA92DA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9" name="Line 55">
              <a:extLst>
                <a:ext uri="{FF2B5EF4-FFF2-40B4-BE49-F238E27FC236}">
                  <a16:creationId xmlns:a16="http://schemas.microsoft.com/office/drawing/2014/main" xmlns="" id="{909429F7-BB34-4023-8CD6-E65E151B4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0" name="Line 56">
              <a:extLst>
                <a:ext uri="{FF2B5EF4-FFF2-40B4-BE49-F238E27FC236}">
                  <a16:creationId xmlns:a16="http://schemas.microsoft.com/office/drawing/2014/main" xmlns="" id="{A486958B-5618-4815-B4E5-F676BC021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1" name="Line 57">
              <a:extLst>
                <a:ext uri="{FF2B5EF4-FFF2-40B4-BE49-F238E27FC236}">
                  <a16:creationId xmlns:a16="http://schemas.microsoft.com/office/drawing/2014/main" xmlns="" id="{2930B4AC-7BF6-4C93-9694-988CA9FFE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2" name="Line 58">
              <a:extLst>
                <a:ext uri="{FF2B5EF4-FFF2-40B4-BE49-F238E27FC236}">
                  <a16:creationId xmlns:a16="http://schemas.microsoft.com/office/drawing/2014/main" xmlns="" id="{77AD8E34-B300-4579-9178-F188F3653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3" name="Line 59">
              <a:extLst>
                <a:ext uri="{FF2B5EF4-FFF2-40B4-BE49-F238E27FC236}">
                  <a16:creationId xmlns:a16="http://schemas.microsoft.com/office/drawing/2014/main" xmlns="" id="{3DED078B-04DA-415F-BE0A-8D42A77B0C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4" name="Group 60">
            <a:extLst>
              <a:ext uri="{FF2B5EF4-FFF2-40B4-BE49-F238E27FC236}">
                <a16:creationId xmlns:a16="http://schemas.microsoft.com/office/drawing/2014/main" xmlns="" id="{007A1F10-BD50-42CB-A25A-B7C93831BDAC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786438"/>
            <a:ext cx="304800" cy="533400"/>
            <a:chOff x="1099" y="1621"/>
            <a:chExt cx="296" cy="390"/>
          </a:xfrm>
        </p:grpSpPr>
        <p:sp>
          <p:nvSpPr>
            <p:cNvPr id="6205" name="Oval 61">
              <a:extLst>
                <a:ext uri="{FF2B5EF4-FFF2-40B4-BE49-F238E27FC236}">
                  <a16:creationId xmlns:a16="http://schemas.microsoft.com/office/drawing/2014/main" xmlns="" id="{23A143EA-0B6A-4847-B205-14D24944F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6" name="Line 62">
              <a:extLst>
                <a:ext uri="{FF2B5EF4-FFF2-40B4-BE49-F238E27FC236}">
                  <a16:creationId xmlns:a16="http://schemas.microsoft.com/office/drawing/2014/main" xmlns="" id="{BBB624E7-993C-48F8-A2CD-82453A38D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7" name="Line 63">
              <a:extLst>
                <a:ext uri="{FF2B5EF4-FFF2-40B4-BE49-F238E27FC236}">
                  <a16:creationId xmlns:a16="http://schemas.microsoft.com/office/drawing/2014/main" xmlns="" id="{EC1643EB-D332-4186-8ED5-AA8E419A8A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8" name="Line 64">
              <a:extLst>
                <a:ext uri="{FF2B5EF4-FFF2-40B4-BE49-F238E27FC236}">
                  <a16:creationId xmlns:a16="http://schemas.microsoft.com/office/drawing/2014/main" xmlns="" id="{94D26A19-66D6-4A4A-97A0-85B9CFD16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9" name="Line 65">
              <a:extLst>
                <a:ext uri="{FF2B5EF4-FFF2-40B4-BE49-F238E27FC236}">
                  <a16:creationId xmlns:a16="http://schemas.microsoft.com/office/drawing/2014/main" xmlns="" id="{DE6391C0-DFB1-4E84-B2A7-3844F5FF10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10" name="Line 66">
              <a:extLst>
                <a:ext uri="{FF2B5EF4-FFF2-40B4-BE49-F238E27FC236}">
                  <a16:creationId xmlns:a16="http://schemas.microsoft.com/office/drawing/2014/main" xmlns="" id="{32B97D6E-49CD-47D6-8B5F-4C1CD0D6E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11" name="Text Box 67">
            <a:extLst>
              <a:ext uri="{FF2B5EF4-FFF2-40B4-BE49-F238E27FC236}">
                <a16:creationId xmlns:a16="http://schemas.microsoft.com/office/drawing/2014/main" xmlns="" id="{E8A0CED3-8D39-43D7-9489-04E476D90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99573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Premier Members</a:t>
            </a:r>
            <a:endParaRPr lang="en-US" altLang="en-US"/>
          </a:p>
        </p:txBody>
      </p:sp>
      <p:sp>
        <p:nvSpPr>
          <p:cNvPr id="6212" name="Text Box 68">
            <a:extLst>
              <a:ext uri="{FF2B5EF4-FFF2-40B4-BE49-F238E27FC236}">
                <a16:creationId xmlns:a16="http://schemas.microsoft.com/office/drawing/2014/main" xmlns="" id="{263AAB5A-7B21-4099-A545-502460AF3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76838"/>
            <a:ext cx="2457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Frequent Flyer Members</a:t>
            </a:r>
            <a:endParaRPr lang="en-US" altLang="en-US"/>
          </a:p>
        </p:txBody>
      </p:sp>
      <p:sp>
        <p:nvSpPr>
          <p:cNvPr id="6213" name="Text Box 69">
            <a:extLst>
              <a:ext uri="{FF2B5EF4-FFF2-40B4-BE49-F238E27FC236}">
                <a16:creationId xmlns:a16="http://schemas.microsoft.com/office/drawing/2014/main" xmlns="" id="{B9274716-0015-4AA6-A916-09B9A8623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334125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Regular Members</a:t>
            </a:r>
            <a:endParaRPr lang="en-US" altLang="en-US"/>
          </a:p>
        </p:txBody>
      </p:sp>
      <p:sp>
        <p:nvSpPr>
          <p:cNvPr id="6214" name="Text Box 70">
            <a:extLst>
              <a:ext uri="{FF2B5EF4-FFF2-40B4-BE49-F238E27FC236}">
                <a16:creationId xmlns:a16="http://schemas.microsoft.com/office/drawing/2014/main" xmlns="" id="{19256539-CFFD-43EA-BD0E-F881E8D7B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425" y="3459163"/>
            <a:ext cx="15271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1-800-Premier</a:t>
            </a:r>
            <a:endParaRPr lang="en-US" altLang="en-US"/>
          </a:p>
        </p:txBody>
      </p:sp>
      <p:sp>
        <p:nvSpPr>
          <p:cNvPr id="6215" name="Line 71">
            <a:extLst>
              <a:ext uri="{FF2B5EF4-FFF2-40B4-BE49-F238E27FC236}">
                <a16:creationId xmlns:a16="http://schemas.microsoft.com/office/drawing/2014/main" xmlns="" id="{1B37CFA9-BD63-412F-A4D0-7AFF1AC11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657600"/>
            <a:ext cx="24384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16" name="Line 72">
            <a:extLst>
              <a:ext uri="{FF2B5EF4-FFF2-40B4-BE49-F238E27FC236}">
                <a16:creationId xmlns:a16="http://schemas.microsoft.com/office/drawing/2014/main" xmlns="" id="{5C0E1079-9071-4F68-9CCF-1D9C87CC0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72038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17" name="Line 73">
            <a:extLst>
              <a:ext uri="{FF2B5EF4-FFF2-40B4-BE49-F238E27FC236}">
                <a16:creationId xmlns:a16="http://schemas.microsoft.com/office/drawing/2014/main" xmlns="" id="{84520DEF-7E98-4F27-9897-25220F915A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5981700"/>
            <a:ext cx="2185988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20" name="Text Box 76">
            <a:extLst>
              <a:ext uri="{FF2B5EF4-FFF2-40B4-BE49-F238E27FC236}">
                <a16:creationId xmlns:a16="http://schemas.microsoft.com/office/drawing/2014/main" xmlns="" id="{70EC24FC-3783-40CA-8771-51797AE47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4363" y="3281363"/>
            <a:ext cx="1252537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Premier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  <a:endParaRPr lang="en-US" altLang="en-US"/>
          </a:p>
        </p:txBody>
      </p:sp>
      <p:sp>
        <p:nvSpPr>
          <p:cNvPr id="6221" name="Text Box 77">
            <a:extLst>
              <a:ext uri="{FF2B5EF4-FFF2-40B4-BE49-F238E27FC236}">
                <a16:creationId xmlns:a16="http://schemas.microsoft.com/office/drawing/2014/main" xmlns="" id="{31479773-DFC9-4683-B5AC-94B78F543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503738"/>
            <a:ext cx="1252538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F.F.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</a:p>
        </p:txBody>
      </p:sp>
      <p:sp>
        <p:nvSpPr>
          <p:cNvPr id="6222" name="Text Box 78">
            <a:extLst>
              <a:ext uri="{FF2B5EF4-FFF2-40B4-BE49-F238E27FC236}">
                <a16:creationId xmlns:a16="http://schemas.microsoft.com/office/drawing/2014/main" xmlns="" id="{90E043D5-174A-47F3-9806-089636BA6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263" y="5616575"/>
            <a:ext cx="1252537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Regular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</a:p>
        </p:txBody>
      </p:sp>
      <p:sp>
        <p:nvSpPr>
          <p:cNvPr id="6226" name="Line 82">
            <a:extLst>
              <a:ext uri="{FF2B5EF4-FFF2-40B4-BE49-F238E27FC236}">
                <a16:creationId xmlns:a16="http://schemas.microsoft.com/office/drawing/2014/main" xmlns="" id="{B93C6517-C7D3-4BC5-962B-86067B4C8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2363" y="3644900"/>
            <a:ext cx="749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27" name="Text Box 83">
            <a:extLst>
              <a:ext uri="{FF2B5EF4-FFF2-40B4-BE49-F238E27FC236}">
                <a16:creationId xmlns:a16="http://schemas.microsoft.com/office/drawing/2014/main" xmlns="" id="{B514C0EB-A05A-412D-87DF-0D8CC9DDA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4687888"/>
            <a:ext cx="16160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1-800-Frequent</a:t>
            </a:r>
            <a:endParaRPr lang="en-US" altLang="en-US"/>
          </a:p>
        </p:txBody>
      </p:sp>
      <p:sp>
        <p:nvSpPr>
          <p:cNvPr id="6228" name="Line 84">
            <a:extLst>
              <a:ext uri="{FF2B5EF4-FFF2-40B4-BE49-F238E27FC236}">
                <a16:creationId xmlns:a16="http://schemas.microsoft.com/office/drawing/2014/main" xmlns="" id="{032627EF-9088-44DF-B8A2-E7D520F734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0775" y="4886325"/>
            <a:ext cx="668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29" name="Text Box 85">
            <a:extLst>
              <a:ext uri="{FF2B5EF4-FFF2-40B4-BE49-F238E27FC236}">
                <a16:creationId xmlns:a16="http://schemas.microsoft.com/office/drawing/2014/main" xmlns="" id="{D4ABCADF-CA89-4416-8566-A2EB8D4FB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00" y="5795963"/>
            <a:ext cx="18954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1-800-Reservation</a:t>
            </a:r>
            <a:endParaRPr lang="en-US" altLang="en-US"/>
          </a:p>
        </p:txBody>
      </p:sp>
      <p:sp>
        <p:nvSpPr>
          <p:cNvPr id="6230" name="Line 86">
            <a:extLst>
              <a:ext uri="{FF2B5EF4-FFF2-40B4-BE49-F238E27FC236}">
                <a16:creationId xmlns:a16="http://schemas.microsoft.com/office/drawing/2014/main" xmlns="" id="{5B28C495-A10D-4E04-91B5-900B8410B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0163" y="5983288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xmlns="" id="{FD1CF459-5D5E-4D6C-A877-D8042C220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Discussion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xmlns="" id="{072154BC-87E9-4A43-ADE6-AD7630D81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000" dirty="0"/>
              <a:t>In Approach 1 the answering machine introduces an extra delay, which is particularly annoying to premier members. </a:t>
            </a:r>
            <a:endParaRPr lang="en-US" altLang="en-US" sz="3000" dirty="0" smtClean="0"/>
          </a:p>
          <a:p>
            <a:endParaRPr lang="en-US" altLang="en-US" sz="3000" dirty="0"/>
          </a:p>
          <a:p>
            <a:r>
              <a:rPr lang="en-US" altLang="en-US" sz="3000" dirty="0"/>
              <a:t>With Approach 2 there is no intermediate step.  Premier members get instant pickup from a customer service representative.  Others may have to wait for an operator.</a:t>
            </a:r>
          </a:p>
        </p:txBody>
      </p:sp>
    </p:spTree>
    <p:extLst>
      <p:ext uri="{BB962C8B-B14F-4D97-AF65-F5344CB8AC3E}">
        <p14:creationId xmlns:p14="http://schemas.microsoft.com/office/powerpoint/2010/main" val="101948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xmlns="" id="{C1255CFC-11B9-4B84-81BF-95EEA73E5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546100"/>
            <a:ext cx="7772400" cy="1143000"/>
          </a:xfrm>
        </p:spPr>
        <p:txBody>
          <a:bodyPr/>
          <a:lstStyle/>
          <a:p>
            <a:r>
              <a:rPr lang="en-US" altLang="en-US"/>
              <a:t>Web-Based Reservation Service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xmlns="" id="{A15384FD-2DD9-4EA7-A606-1A6D09178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17700"/>
            <a:ext cx="7772400" cy="4114800"/>
          </a:xfrm>
        </p:spPr>
        <p:txBody>
          <a:bodyPr>
            <a:normAutofit lnSpcReduction="10000"/>
          </a:bodyPr>
          <a:lstStyle/>
          <a:p>
            <a:r>
              <a:rPr lang="en-US" altLang="en-US" sz="2800" dirty="0"/>
              <a:t>Suppose now the airline (kings-air.com) wants to provide a Web reservation service for customers to make flight reservations through the Web.</a:t>
            </a:r>
          </a:p>
          <a:p>
            <a:r>
              <a:rPr lang="en-US" altLang="en-US" sz="2800" dirty="0"/>
              <a:t>Just as with the telephone service, the airline wants to ensure that its premier members get immediate service, its frequent flyer members get expedited service, all others get regular service.</a:t>
            </a:r>
          </a:p>
          <a:p>
            <a:r>
              <a:rPr lang="en-US" altLang="en-US" sz="2800" dirty="0"/>
              <a:t>There are two main approaches to implementing the Web reservation service.  The approaches are analogous to the telephone service...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2263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0" name="Rectangle 84">
            <a:extLst>
              <a:ext uri="{FF2B5EF4-FFF2-40B4-BE49-F238E27FC236}">
                <a16:creationId xmlns:a16="http://schemas.microsoft.com/office/drawing/2014/main" xmlns="" id="{B8DCD268-39E7-41E1-B1AE-9192D0047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33067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xmlns="" id="{B074B4E4-65A1-4F04-B789-1C588D7EC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Approach 1</a:t>
            </a:r>
            <a:br>
              <a:rPr lang="en-US" altLang="en-US"/>
            </a:br>
            <a:r>
              <a:rPr lang="en-US" altLang="en-US"/>
              <a:t>One-Stop Shopping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xmlns="" id="{1467E914-34CF-496E-94AE-1AC59F6E77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2684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400"/>
              <a:t>The airline provides a single URL.  The Web service is responsible for examining incoming client requests to determine their priority and process them accordingly.</a:t>
            </a:r>
            <a:endParaRPr lang="en-US" altLang="en-US"/>
          </a:p>
        </p:txBody>
      </p:sp>
      <p:sp>
        <p:nvSpPr>
          <p:cNvPr id="9283" name="Text Box 67">
            <a:extLst>
              <a:ext uri="{FF2B5EF4-FFF2-40B4-BE49-F238E27FC236}">
                <a16:creationId xmlns:a16="http://schemas.microsoft.com/office/drawing/2014/main" xmlns="" id="{99FCEE57-F4B7-4A4F-8F8D-BCAEA4CF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402113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Premier Members</a:t>
            </a:r>
            <a:endParaRPr lang="en-US" altLang="en-US"/>
          </a:p>
        </p:txBody>
      </p:sp>
      <p:sp>
        <p:nvSpPr>
          <p:cNvPr id="9284" name="Text Box 68">
            <a:extLst>
              <a:ext uri="{FF2B5EF4-FFF2-40B4-BE49-F238E27FC236}">
                <a16:creationId xmlns:a16="http://schemas.microsoft.com/office/drawing/2014/main" xmlns="" id="{178362D5-3A24-438F-8258-0C339D46C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5214938"/>
            <a:ext cx="2457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Frequent Flyer Members</a:t>
            </a:r>
            <a:endParaRPr lang="en-US" altLang="en-US"/>
          </a:p>
        </p:txBody>
      </p:sp>
      <p:sp>
        <p:nvSpPr>
          <p:cNvPr id="9285" name="Text Box 69">
            <a:extLst>
              <a:ext uri="{FF2B5EF4-FFF2-40B4-BE49-F238E27FC236}">
                <a16:creationId xmlns:a16="http://schemas.microsoft.com/office/drawing/2014/main" xmlns="" id="{6644BE2D-CBCC-4E93-9A34-F6711A9EF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6397625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Regular Members</a:t>
            </a:r>
            <a:endParaRPr lang="en-US" altLang="en-US"/>
          </a:p>
        </p:txBody>
      </p:sp>
      <p:sp>
        <p:nvSpPr>
          <p:cNvPr id="9286" name="Text Box 70">
            <a:extLst>
              <a:ext uri="{FF2B5EF4-FFF2-40B4-BE49-F238E27FC236}">
                <a16:creationId xmlns:a16="http://schemas.microsoft.com/office/drawing/2014/main" xmlns="" id="{82F5C4D3-F1C0-4372-8A1A-A78D7E425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1525" y="4579938"/>
            <a:ext cx="134302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800"/>
              <a:t>Web </a:t>
            </a:r>
          </a:p>
          <a:p>
            <a:pPr algn="ctr"/>
            <a:r>
              <a:rPr lang="en-US" altLang="en-US" sz="1800"/>
              <a:t>Reservation </a:t>
            </a:r>
          </a:p>
          <a:p>
            <a:pPr algn="ctr"/>
            <a:r>
              <a:rPr lang="en-US" altLang="en-US" sz="1800"/>
              <a:t>Service</a:t>
            </a:r>
          </a:p>
        </p:txBody>
      </p:sp>
      <p:sp>
        <p:nvSpPr>
          <p:cNvPr id="9287" name="Line 71">
            <a:extLst>
              <a:ext uri="{FF2B5EF4-FFF2-40B4-BE49-F238E27FC236}">
                <a16:creationId xmlns:a16="http://schemas.microsoft.com/office/drawing/2014/main" xmlns="" id="{F7E3C15D-C920-4DA2-9B0B-5B30BB5DD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3919538"/>
            <a:ext cx="2362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88" name="Line 72">
            <a:extLst>
              <a:ext uri="{FF2B5EF4-FFF2-40B4-BE49-F238E27FC236}">
                <a16:creationId xmlns:a16="http://schemas.microsoft.com/office/drawing/2014/main" xmlns="" id="{B8D55110-8A60-4561-A483-F9CDFBFE35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1225" y="4986338"/>
            <a:ext cx="2339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89" name="Line 73">
            <a:extLst>
              <a:ext uri="{FF2B5EF4-FFF2-40B4-BE49-F238E27FC236}">
                <a16:creationId xmlns:a16="http://schemas.microsoft.com/office/drawing/2014/main" xmlns="" id="{014FC13F-78DB-4F22-AE07-51048844F7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5200" y="5214938"/>
            <a:ext cx="2286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0" name="Text Box 74">
            <a:extLst>
              <a:ext uri="{FF2B5EF4-FFF2-40B4-BE49-F238E27FC236}">
                <a16:creationId xmlns:a16="http://schemas.microsoft.com/office/drawing/2014/main" xmlns="" id="{345734A4-9B43-4FFE-8525-3BA0EE4F9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538" y="4681538"/>
            <a:ext cx="1054100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Determine</a:t>
            </a:r>
          </a:p>
          <a:p>
            <a:pPr algn="ctr"/>
            <a:r>
              <a:rPr lang="en-US" altLang="en-US" sz="1600"/>
              <a:t>Priority</a:t>
            </a:r>
          </a:p>
        </p:txBody>
      </p:sp>
      <p:sp>
        <p:nvSpPr>
          <p:cNvPr id="9291" name="Line 75">
            <a:extLst>
              <a:ext uri="{FF2B5EF4-FFF2-40B4-BE49-F238E27FC236}">
                <a16:creationId xmlns:a16="http://schemas.microsoft.com/office/drawing/2014/main" xmlns="" id="{57C7EB00-2814-45B2-8AEA-F3E3846328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25" y="49863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2" name="Text Box 76">
            <a:extLst>
              <a:ext uri="{FF2B5EF4-FFF2-40B4-BE49-F238E27FC236}">
                <a16:creationId xmlns:a16="http://schemas.microsoft.com/office/drawing/2014/main" xmlns="" id="{F62D2EB9-16E6-4B36-A53D-F271981E3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3941763"/>
            <a:ext cx="885825" cy="527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Premier</a:t>
            </a:r>
          </a:p>
          <a:p>
            <a:pPr algn="ctr"/>
            <a:r>
              <a:rPr lang="en-US" altLang="en-US" sz="1400"/>
              <a:t>Customer</a:t>
            </a:r>
            <a:endParaRPr lang="en-US" altLang="en-US"/>
          </a:p>
        </p:txBody>
      </p:sp>
      <p:sp>
        <p:nvSpPr>
          <p:cNvPr id="9293" name="Text Box 77">
            <a:extLst>
              <a:ext uri="{FF2B5EF4-FFF2-40B4-BE49-F238E27FC236}">
                <a16:creationId xmlns:a16="http://schemas.microsoft.com/office/drawing/2014/main" xmlns="" id="{F3567BA7-E464-45D1-AE4A-B970ABCDB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7963" y="4706938"/>
            <a:ext cx="885825" cy="527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F.F.</a:t>
            </a:r>
          </a:p>
          <a:p>
            <a:pPr algn="ctr"/>
            <a:r>
              <a:rPr lang="en-US" altLang="en-US" sz="1400"/>
              <a:t>Customer</a:t>
            </a:r>
          </a:p>
        </p:txBody>
      </p:sp>
      <p:sp>
        <p:nvSpPr>
          <p:cNvPr id="9294" name="Text Box 78">
            <a:extLst>
              <a:ext uri="{FF2B5EF4-FFF2-40B4-BE49-F238E27FC236}">
                <a16:creationId xmlns:a16="http://schemas.microsoft.com/office/drawing/2014/main" xmlns="" id="{FFD9E316-1453-403C-95FE-75053CE03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5476875"/>
            <a:ext cx="885825" cy="527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Regular</a:t>
            </a:r>
          </a:p>
          <a:p>
            <a:pPr algn="ctr"/>
            <a:r>
              <a:rPr lang="en-US" altLang="en-US" sz="1400"/>
              <a:t>Customer</a:t>
            </a:r>
          </a:p>
        </p:txBody>
      </p:sp>
      <p:sp>
        <p:nvSpPr>
          <p:cNvPr id="9295" name="Line 79">
            <a:extLst>
              <a:ext uri="{FF2B5EF4-FFF2-40B4-BE49-F238E27FC236}">
                <a16:creationId xmlns:a16="http://schemas.microsoft.com/office/drawing/2014/main" xmlns="" id="{8B93AF4F-333A-45DD-B8FE-0517C1B1FE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4224338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6" name="Line 80">
            <a:extLst>
              <a:ext uri="{FF2B5EF4-FFF2-40B4-BE49-F238E27FC236}">
                <a16:creationId xmlns:a16="http://schemas.microsoft.com/office/drawing/2014/main" xmlns="" id="{1ABB80B9-7A11-4FE0-9A17-FEF7FF404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0925" y="49863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7" name="Line 81">
            <a:extLst>
              <a:ext uri="{FF2B5EF4-FFF2-40B4-BE49-F238E27FC236}">
                <a16:creationId xmlns:a16="http://schemas.microsoft.com/office/drawing/2014/main" xmlns="" id="{BA88EF7E-BDC8-4E79-9C7E-8CCB105E3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0925" y="4986338"/>
            <a:ext cx="381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9" name="Rectangle 83">
            <a:extLst>
              <a:ext uri="{FF2B5EF4-FFF2-40B4-BE49-F238E27FC236}">
                <a16:creationId xmlns:a16="http://schemas.microsoft.com/office/drawing/2014/main" xmlns="" id="{9C638199-91C8-4889-BD9F-657174457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4718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8" name="Rectangle 82">
            <a:extLst>
              <a:ext uri="{FF2B5EF4-FFF2-40B4-BE49-F238E27FC236}">
                <a16:creationId xmlns:a16="http://schemas.microsoft.com/office/drawing/2014/main" xmlns="" id="{C1C5A2DC-8B04-4B24-9541-B45BAE85F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6369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9302" name="Rectangle 86">
            <a:extLst>
              <a:ext uri="{FF2B5EF4-FFF2-40B4-BE49-F238E27FC236}">
                <a16:creationId xmlns:a16="http://schemas.microsoft.com/office/drawing/2014/main" xmlns="" id="{E04504CB-A57E-4F26-A07E-87A948269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5005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3" name="Rectangle 87">
            <a:extLst>
              <a:ext uri="{FF2B5EF4-FFF2-40B4-BE49-F238E27FC236}">
                <a16:creationId xmlns:a16="http://schemas.microsoft.com/office/drawing/2014/main" xmlns="" id="{7C4CD288-B3FC-427A-B2A4-F1C120E8E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0" y="46656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4" name="Rectangle 88">
            <a:extLst>
              <a:ext uri="{FF2B5EF4-FFF2-40B4-BE49-F238E27FC236}">
                <a16:creationId xmlns:a16="http://schemas.microsoft.com/office/drawing/2014/main" xmlns="" id="{6B199AC3-E863-4D92-A526-D49797306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900" y="48307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9305" name="Rectangle 89">
            <a:extLst>
              <a:ext uri="{FF2B5EF4-FFF2-40B4-BE49-F238E27FC236}">
                <a16:creationId xmlns:a16="http://schemas.microsoft.com/office/drawing/2014/main" xmlns="" id="{E2B3A259-0F96-499A-9EE9-04283F8D7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6689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6" name="Rectangle 90">
            <a:extLst>
              <a:ext uri="{FF2B5EF4-FFF2-40B4-BE49-F238E27FC236}">
                <a16:creationId xmlns:a16="http://schemas.microsoft.com/office/drawing/2014/main" xmlns="" id="{F6C6315A-CC04-4475-8D95-776EFBA57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0" y="58340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7" name="Rectangle 91">
            <a:extLst>
              <a:ext uri="{FF2B5EF4-FFF2-40B4-BE49-F238E27FC236}">
                <a16:creationId xmlns:a16="http://schemas.microsoft.com/office/drawing/2014/main" xmlns="" id="{8FB7E8A8-2D74-4BF1-A27A-234E4BFDC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900" y="59991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885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xmlns="" id="{3A0A2245-DCB1-47C0-8746-5E057BF00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Approach 1 Disadvantages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xmlns="" id="{2FFBD90F-0781-4449-817B-17B643744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/>
              <a:t>This approach is based upon the incorrect assumption that a URL is "expensive" and that their use must be rationed.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/>
              <a:t>The Web service is a central point of failure. It is a bottleneck. Load balancing is a challenge.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/>
              <a:t>It violates Tim Berners-Lee Web Design, Axiom </a:t>
            </a:r>
            <a:r>
              <a:rPr lang="en-US" altLang="en-US" sz="2400" dirty="0" smtClean="0"/>
              <a:t>0.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4843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xmlns="" id="{08BC4B80-8853-4276-AFD5-3A41CB86A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Approach 2: </a:t>
            </a:r>
            <a:br>
              <a:rPr lang="en-US" altLang="en-US"/>
            </a:br>
            <a:r>
              <a:rPr lang="en-US" altLang="en-US"/>
              <a:t>URLs are Cheap!  Use Them!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xmlns="" id="{7DE23000-9FFD-48E9-A136-875722D4E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116998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400"/>
              <a:t>The airline provides several URLs - one URL for premier members, a different URL for frequent flyers, and still another for regular customers.</a:t>
            </a:r>
          </a:p>
        </p:txBody>
      </p:sp>
      <p:sp>
        <p:nvSpPr>
          <p:cNvPr id="13379" name="Text Box 67">
            <a:extLst>
              <a:ext uri="{FF2B5EF4-FFF2-40B4-BE49-F238E27FC236}">
                <a16:creationId xmlns:a16="http://schemas.microsoft.com/office/drawing/2014/main" xmlns="" id="{141C255E-1DB1-4807-986C-67FB4FEA3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362743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Premier Members</a:t>
            </a:r>
            <a:endParaRPr lang="en-US" altLang="en-US"/>
          </a:p>
        </p:txBody>
      </p:sp>
      <p:sp>
        <p:nvSpPr>
          <p:cNvPr id="13380" name="Text Box 68">
            <a:extLst>
              <a:ext uri="{FF2B5EF4-FFF2-40B4-BE49-F238E27FC236}">
                <a16:creationId xmlns:a16="http://schemas.microsoft.com/office/drawing/2014/main" xmlns="" id="{0C53102E-6151-4101-9988-28B903F2A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5024438"/>
            <a:ext cx="2457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Frequent Flyer Members</a:t>
            </a:r>
            <a:endParaRPr lang="en-US" altLang="en-US"/>
          </a:p>
        </p:txBody>
      </p:sp>
      <p:sp>
        <p:nvSpPr>
          <p:cNvPr id="13381" name="Text Box 69">
            <a:extLst>
              <a:ext uri="{FF2B5EF4-FFF2-40B4-BE49-F238E27FC236}">
                <a16:creationId xmlns:a16="http://schemas.microsoft.com/office/drawing/2014/main" xmlns="" id="{3598492A-CD5A-4E68-9480-CB868CBCC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6448425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Regular Members</a:t>
            </a:r>
            <a:endParaRPr lang="en-US" altLang="en-US"/>
          </a:p>
        </p:txBody>
      </p:sp>
      <p:sp>
        <p:nvSpPr>
          <p:cNvPr id="13383" name="Line 71">
            <a:extLst>
              <a:ext uri="{FF2B5EF4-FFF2-40B4-BE49-F238E27FC236}">
                <a16:creationId xmlns:a16="http://schemas.microsoft.com/office/drawing/2014/main" xmlns="" id="{C4E30575-DADD-4042-92E3-BDD6714BC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3275" y="3327400"/>
            <a:ext cx="3292475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84" name="Line 72">
            <a:extLst>
              <a:ext uri="{FF2B5EF4-FFF2-40B4-BE49-F238E27FC236}">
                <a16:creationId xmlns:a16="http://schemas.microsoft.com/office/drawing/2014/main" xmlns="" id="{D4A6A8C5-824E-4BF0-B744-54B476FACB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46288" y="4757738"/>
            <a:ext cx="33305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85" name="Line 73">
            <a:extLst>
              <a:ext uri="{FF2B5EF4-FFF2-40B4-BE49-F238E27FC236}">
                <a16:creationId xmlns:a16="http://schemas.microsoft.com/office/drawing/2014/main" xmlns="" id="{77509735-1A8D-4B1F-81D9-814FB905FB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2963" y="6096000"/>
            <a:ext cx="3286125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94" name="Rectangle 82">
            <a:extLst>
              <a:ext uri="{FF2B5EF4-FFF2-40B4-BE49-F238E27FC236}">
                <a16:creationId xmlns:a16="http://schemas.microsoft.com/office/drawing/2014/main" xmlns="" id="{72BD6758-1248-456E-9359-EE6E7A9C3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9257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95" name="Rectangle 83">
            <a:extLst>
              <a:ext uri="{FF2B5EF4-FFF2-40B4-BE49-F238E27FC236}">
                <a16:creationId xmlns:a16="http://schemas.microsoft.com/office/drawing/2014/main" xmlns="" id="{9DA93B34-CA89-4CCD-8B1C-A42F25A9B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30908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96" name="Rectangle 84">
            <a:extLst>
              <a:ext uri="{FF2B5EF4-FFF2-40B4-BE49-F238E27FC236}">
                <a16:creationId xmlns:a16="http://schemas.microsoft.com/office/drawing/2014/main" xmlns="" id="{4A489FEB-A265-4E14-B494-E6AF9C75F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700" y="32559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13397" name="Rectangle 85">
            <a:extLst>
              <a:ext uri="{FF2B5EF4-FFF2-40B4-BE49-F238E27FC236}">
                <a16:creationId xmlns:a16="http://schemas.microsoft.com/office/drawing/2014/main" xmlns="" id="{997C99FA-46CE-4370-A28E-419EE83A8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3354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98" name="Rectangle 86">
            <a:extLst>
              <a:ext uri="{FF2B5EF4-FFF2-40B4-BE49-F238E27FC236}">
                <a16:creationId xmlns:a16="http://schemas.microsoft.com/office/drawing/2014/main" xmlns="" id="{AB41989B-F792-4085-AF8F-E5AE99F6C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45005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99" name="Rectangle 87">
            <a:extLst>
              <a:ext uri="{FF2B5EF4-FFF2-40B4-BE49-F238E27FC236}">
                <a16:creationId xmlns:a16="http://schemas.microsoft.com/office/drawing/2014/main" xmlns="" id="{597B0B5B-F619-43A1-BCE7-E27D4B4F3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700" y="46656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13400" name="Rectangle 88">
            <a:extLst>
              <a:ext uri="{FF2B5EF4-FFF2-40B4-BE49-F238E27FC236}">
                <a16:creationId xmlns:a16="http://schemas.microsoft.com/office/drawing/2014/main" xmlns="" id="{49C2AD51-C5B9-4573-81F5-BBFD4FDAE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57451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01" name="Rectangle 89">
            <a:extLst>
              <a:ext uri="{FF2B5EF4-FFF2-40B4-BE49-F238E27FC236}">
                <a16:creationId xmlns:a16="http://schemas.microsoft.com/office/drawing/2014/main" xmlns="" id="{19CBDD50-FC0D-4F00-A577-27EFF3A6E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59102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02" name="Rectangle 90">
            <a:extLst>
              <a:ext uri="{FF2B5EF4-FFF2-40B4-BE49-F238E27FC236}">
                <a16:creationId xmlns:a16="http://schemas.microsoft.com/office/drawing/2014/main" xmlns="" id="{5587306D-1AE8-402D-B635-8FAB7ECE5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60753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13403" name="Text Box 91">
            <a:extLst>
              <a:ext uri="{FF2B5EF4-FFF2-40B4-BE49-F238E27FC236}">
                <a16:creationId xmlns:a16="http://schemas.microsoft.com/office/drawing/2014/main" xmlns="" id="{C7903A25-7830-4415-95E0-21952C67D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3076575"/>
            <a:ext cx="276066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http://www.kings-air/reservations/premier</a:t>
            </a:r>
            <a:endParaRPr lang="en-US" altLang="en-US" sz="1800"/>
          </a:p>
        </p:txBody>
      </p:sp>
      <p:sp>
        <p:nvSpPr>
          <p:cNvPr id="13404" name="Text Box 92">
            <a:extLst>
              <a:ext uri="{FF2B5EF4-FFF2-40B4-BE49-F238E27FC236}">
                <a16:creationId xmlns:a16="http://schemas.microsoft.com/office/drawing/2014/main" xmlns="" id="{4404A259-6297-4FFD-8CA1-16E07AFFE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663" y="4510088"/>
            <a:ext cx="31337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http://www.kings-air/reservations/frequent-flyer</a:t>
            </a:r>
            <a:endParaRPr lang="en-US" altLang="en-US" sz="1800"/>
          </a:p>
        </p:txBody>
      </p:sp>
      <p:sp>
        <p:nvSpPr>
          <p:cNvPr id="13405" name="Text Box 93">
            <a:extLst>
              <a:ext uri="{FF2B5EF4-FFF2-40B4-BE49-F238E27FC236}">
                <a16:creationId xmlns:a16="http://schemas.microsoft.com/office/drawing/2014/main" xmlns="" id="{83BC286B-182E-4D5F-8924-7A8E4870D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851525"/>
            <a:ext cx="271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http://www.kings-air/reservations/regular</a:t>
            </a:r>
            <a:endParaRPr lang="en-US" altLang="en-US" sz="1800"/>
          </a:p>
        </p:txBody>
      </p:sp>
      <p:sp>
        <p:nvSpPr>
          <p:cNvPr id="13407" name="Oval 95">
            <a:extLst>
              <a:ext uri="{FF2B5EF4-FFF2-40B4-BE49-F238E27FC236}">
                <a16:creationId xmlns:a16="http://schemas.microsoft.com/office/drawing/2014/main" xmlns="" id="{0D42BC33-05C1-4CD4-9753-F562CA3ED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2733675"/>
            <a:ext cx="1211262" cy="1189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08" name="Text Box 96">
            <a:extLst>
              <a:ext uri="{FF2B5EF4-FFF2-40B4-BE49-F238E27FC236}">
                <a16:creationId xmlns:a16="http://schemas.microsoft.com/office/drawing/2014/main" xmlns="" id="{ABDB027E-9C3D-4018-B478-6C586B4B1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88" y="2835275"/>
            <a:ext cx="1157287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Premier</a:t>
            </a:r>
          </a:p>
          <a:p>
            <a:pPr algn="ctr"/>
            <a:r>
              <a:rPr lang="en-US" altLang="en-US" sz="1600"/>
              <a:t>Member</a:t>
            </a:r>
          </a:p>
          <a:p>
            <a:pPr algn="ctr"/>
            <a:r>
              <a:rPr lang="en-US" altLang="en-US" sz="1600"/>
              <a:t>Reservation</a:t>
            </a:r>
          </a:p>
          <a:p>
            <a:pPr algn="ctr"/>
            <a:r>
              <a:rPr lang="en-US" altLang="en-US" sz="1600"/>
              <a:t>Service</a:t>
            </a:r>
          </a:p>
        </p:txBody>
      </p:sp>
      <p:sp>
        <p:nvSpPr>
          <p:cNvPr id="13409" name="Oval 97">
            <a:extLst>
              <a:ext uri="{FF2B5EF4-FFF2-40B4-BE49-F238E27FC236}">
                <a16:creationId xmlns:a16="http://schemas.microsoft.com/office/drawing/2014/main" xmlns="" id="{0D8D28FC-1E1A-4D47-B89C-DB0752256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4130675"/>
            <a:ext cx="1211262" cy="1189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10" name="Text Box 98">
            <a:extLst>
              <a:ext uri="{FF2B5EF4-FFF2-40B4-BE49-F238E27FC236}">
                <a16:creationId xmlns:a16="http://schemas.microsoft.com/office/drawing/2014/main" xmlns="" id="{D90A7F12-0A06-4749-BCFD-22929C906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88" y="4232275"/>
            <a:ext cx="1157287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Frequent</a:t>
            </a:r>
          </a:p>
          <a:p>
            <a:pPr algn="ctr"/>
            <a:r>
              <a:rPr lang="en-US" altLang="en-US" sz="1600"/>
              <a:t>Flyer</a:t>
            </a:r>
          </a:p>
          <a:p>
            <a:pPr algn="ctr"/>
            <a:r>
              <a:rPr lang="en-US" altLang="en-US" sz="1600"/>
              <a:t>Reservation</a:t>
            </a:r>
          </a:p>
          <a:p>
            <a:pPr algn="ctr"/>
            <a:r>
              <a:rPr lang="en-US" altLang="en-US" sz="1600"/>
              <a:t>Service</a:t>
            </a:r>
          </a:p>
        </p:txBody>
      </p:sp>
      <p:sp>
        <p:nvSpPr>
          <p:cNvPr id="13411" name="Oval 99">
            <a:extLst>
              <a:ext uri="{FF2B5EF4-FFF2-40B4-BE49-F238E27FC236}">
                <a16:creationId xmlns:a16="http://schemas.microsoft.com/office/drawing/2014/main" xmlns="" id="{62978EAB-5115-4B9D-B764-F46475F91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5489575"/>
            <a:ext cx="1211262" cy="1189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12" name="Text Box 100">
            <a:extLst>
              <a:ext uri="{FF2B5EF4-FFF2-40B4-BE49-F238E27FC236}">
                <a16:creationId xmlns:a16="http://schemas.microsoft.com/office/drawing/2014/main" xmlns="" id="{60ADC368-0F4A-4D78-B96C-FF5AF6F76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88" y="5591175"/>
            <a:ext cx="1157287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Regular</a:t>
            </a:r>
          </a:p>
          <a:p>
            <a:pPr algn="ctr"/>
            <a:r>
              <a:rPr lang="en-US" altLang="en-US" sz="1600"/>
              <a:t>Member</a:t>
            </a:r>
          </a:p>
          <a:p>
            <a:pPr algn="ctr"/>
            <a:r>
              <a:rPr lang="en-US" altLang="en-US" sz="1600"/>
              <a:t>Reservation</a:t>
            </a:r>
          </a:p>
          <a:p>
            <a:pPr algn="ctr"/>
            <a:r>
              <a:rPr lang="en-US" altLang="en-US" sz="160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1085713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xmlns="" id="{CB72E9F8-7309-4F93-930F-E469CA3A0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Approach 2 Advantages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xmlns="" id="{9CB14D22-E78D-4AA8-BE80-4E851549A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The different URLs are discoverable by search engines.</a:t>
            </a:r>
          </a:p>
          <a:p>
            <a:r>
              <a:rPr lang="en-US" altLang="en-US" sz="2400" dirty="0"/>
              <a:t>It's easy to understand what each service does simply by examining the URL, </a:t>
            </a:r>
            <a:r>
              <a:rPr lang="en-US" altLang="en-US" sz="2400" i="1" dirty="0"/>
              <a:t>i.e.,</a:t>
            </a:r>
            <a:r>
              <a:rPr lang="en-US" altLang="en-US" sz="2400" dirty="0"/>
              <a:t> it exploits the Principle of Least Surprise.</a:t>
            </a:r>
          </a:p>
          <a:p>
            <a:r>
              <a:rPr lang="en-US" altLang="en-US" sz="2400" dirty="0"/>
              <a:t>Priorities are elevated to the level of a URL.  "What you see is what you get."</a:t>
            </a:r>
          </a:p>
          <a:p>
            <a:r>
              <a:rPr lang="en-US" altLang="en-US" sz="2400" dirty="0"/>
              <a:t>It's easy to implement high priority - simply assign a fast machine at the premier member URL.</a:t>
            </a:r>
          </a:p>
          <a:p>
            <a:r>
              <a:rPr lang="en-US" altLang="en-US" sz="2400" dirty="0"/>
              <a:t>There is no bottleneck.  There is no central point of failure. </a:t>
            </a:r>
          </a:p>
          <a:p>
            <a:r>
              <a:rPr lang="en-US" altLang="en-US" sz="2400" dirty="0"/>
              <a:t>Consistent with Axiom 0.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9976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761AD37B-91C4-404B-80EB-B9E4E5B7C6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Recap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xmlns="" id="{AC0F4BF2-73DD-4622-97EE-8CEB29B32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We have looked at a reservation service.</a:t>
            </a:r>
          </a:p>
          <a:p>
            <a:r>
              <a:rPr lang="en-US" altLang="en-US"/>
              <a:t>We have seen a telephone-based version and a Web-based version of the reservation service.</a:t>
            </a:r>
          </a:p>
          <a:p>
            <a:r>
              <a:rPr lang="en-US" altLang="en-US"/>
              <a:t>With each version we have seen two main approaches to implementing the service.</a:t>
            </a:r>
          </a:p>
          <a:p>
            <a:r>
              <a:rPr lang="en-US" altLang="en-US"/>
              <a:t>Which approach is the REST design pattern and which isn't?  See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354168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43" name="Object 83">
            <a:extLst>
              <a:ext uri="{FF2B5EF4-FFF2-40B4-BE49-F238E27FC236}">
                <a16:creationId xmlns:a16="http://schemas.microsoft.com/office/drawing/2014/main" xmlns="" id="{43106D87-9BF7-4A8E-B1E3-6780D6764A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9363" y="2552700"/>
          <a:ext cx="4086225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Clip" r:id="rId3" imgW="2724120" imgH="1828800" progId="MS_ClipArt_Gallery.5">
                  <p:embed/>
                </p:oleObj>
              </mc:Choice>
              <mc:Fallback>
                <p:oleObj name="Clip" r:id="rId3" imgW="2724120" imgH="1828800" progId="MS_ClipArt_Gallery.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2552700"/>
                        <a:ext cx="4086225" cy="27432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000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2" name="Rectangle 2">
            <a:extLst>
              <a:ext uri="{FF2B5EF4-FFF2-40B4-BE49-F238E27FC236}">
                <a16:creationId xmlns:a16="http://schemas.microsoft.com/office/drawing/2014/main" xmlns="" id="{FEC826BE-0421-4967-AC0F-A3540C2B2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This </a:t>
            </a:r>
            <a:r>
              <a:rPr lang="en-US" altLang="zh-CN" dirty="0"/>
              <a:t>is NOT</a:t>
            </a:r>
            <a:r>
              <a:rPr lang="en-US" altLang="en-US" dirty="0"/>
              <a:t> the </a:t>
            </a:r>
            <a:br>
              <a:rPr lang="en-US" altLang="en-US" dirty="0"/>
            </a:br>
            <a:r>
              <a:rPr lang="en-US" altLang="en-US" dirty="0"/>
              <a:t>REST Design Pattern</a:t>
            </a:r>
          </a:p>
        </p:txBody>
      </p:sp>
      <p:grpSp>
        <p:nvGrpSpPr>
          <p:cNvPr id="15444" name="Group 84">
            <a:extLst>
              <a:ext uri="{FF2B5EF4-FFF2-40B4-BE49-F238E27FC236}">
                <a16:creationId xmlns:a16="http://schemas.microsoft.com/office/drawing/2014/main" xmlns="" id="{EC4F7E82-79F8-4EF4-AA4E-F5B2A5BA63B9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374900"/>
            <a:ext cx="469900" cy="619125"/>
            <a:chOff x="1099" y="1621"/>
            <a:chExt cx="296" cy="390"/>
          </a:xfrm>
        </p:grpSpPr>
        <p:sp>
          <p:nvSpPr>
            <p:cNvPr id="15445" name="Oval 85">
              <a:extLst>
                <a:ext uri="{FF2B5EF4-FFF2-40B4-BE49-F238E27FC236}">
                  <a16:creationId xmlns:a16="http://schemas.microsoft.com/office/drawing/2014/main" xmlns="" id="{64EE7307-2E72-4D5B-A95B-7134BFCD4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6" name="Line 86">
              <a:extLst>
                <a:ext uri="{FF2B5EF4-FFF2-40B4-BE49-F238E27FC236}">
                  <a16:creationId xmlns:a16="http://schemas.microsoft.com/office/drawing/2014/main" xmlns="" id="{79AB7B78-DE0E-4D8A-9371-384B08551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7" name="Line 87">
              <a:extLst>
                <a:ext uri="{FF2B5EF4-FFF2-40B4-BE49-F238E27FC236}">
                  <a16:creationId xmlns:a16="http://schemas.microsoft.com/office/drawing/2014/main" xmlns="" id="{55C03717-B6DF-4740-8D7E-5E971B1749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8" name="Line 88">
              <a:extLst>
                <a:ext uri="{FF2B5EF4-FFF2-40B4-BE49-F238E27FC236}">
                  <a16:creationId xmlns:a16="http://schemas.microsoft.com/office/drawing/2014/main" xmlns="" id="{FA0916F5-2885-4505-94D8-BE4E10F91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49" name="Line 89">
              <a:extLst>
                <a:ext uri="{FF2B5EF4-FFF2-40B4-BE49-F238E27FC236}">
                  <a16:creationId xmlns:a16="http://schemas.microsoft.com/office/drawing/2014/main" xmlns="" id="{96E7B8F4-0AA9-41A7-80D1-54541D5CA4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0" name="Line 90">
              <a:extLst>
                <a:ext uri="{FF2B5EF4-FFF2-40B4-BE49-F238E27FC236}">
                  <a16:creationId xmlns:a16="http://schemas.microsoft.com/office/drawing/2014/main" xmlns="" id="{645CD179-B1F7-4DA5-A42C-7EAB2AEDAC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451" name="Group 91">
            <a:extLst>
              <a:ext uri="{FF2B5EF4-FFF2-40B4-BE49-F238E27FC236}">
                <a16:creationId xmlns:a16="http://schemas.microsoft.com/office/drawing/2014/main" xmlns="" id="{8805309A-19D2-4D82-8B54-2452D49F6D0B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603500"/>
            <a:ext cx="304800" cy="381000"/>
            <a:chOff x="1099" y="1621"/>
            <a:chExt cx="296" cy="390"/>
          </a:xfrm>
        </p:grpSpPr>
        <p:sp>
          <p:nvSpPr>
            <p:cNvPr id="15452" name="Oval 92">
              <a:extLst>
                <a:ext uri="{FF2B5EF4-FFF2-40B4-BE49-F238E27FC236}">
                  <a16:creationId xmlns:a16="http://schemas.microsoft.com/office/drawing/2014/main" xmlns="" id="{EF02DA52-8DF3-45F2-A236-CC63871FA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3" name="Line 93">
              <a:extLst>
                <a:ext uri="{FF2B5EF4-FFF2-40B4-BE49-F238E27FC236}">
                  <a16:creationId xmlns:a16="http://schemas.microsoft.com/office/drawing/2014/main" xmlns="" id="{47011564-5C23-4951-92AF-9746C3E12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4" name="Line 94">
              <a:extLst>
                <a:ext uri="{FF2B5EF4-FFF2-40B4-BE49-F238E27FC236}">
                  <a16:creationId xmlns:a16="http://schemas.microsoft.com/office/drawing/2014/main" xmlns="" id="{115FB3A0-8F1C-4012-84AE-69A278E71B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5" name="Line 95">
              <a:extLst>
                <a:ext uri="{FF2B5EF4-FFF2-40B4-BE49-F238E27FC236}">
                  <a16:creationId xmlns:a16="http://schemas.microsoft.com/office/drawing/2014/main" xmlns="" id="{59E1921A-84E4-4821-820D-4A3EB136C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6" name="Line 96">
              <a:extLst>
                <a:ext uri="{FF2B5EF4-FFF2-40B4-BE49-F238E27FC236}">
                  <a16:creationId xmlns:a16="http://schemas.microsoft.com/office/drawing/2014/main" xmlns="" id="{32A66AC1-DE70-4977-8161-C0C0C1AC0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7" name="Line 97">
              <a:extLst>
                <a:ext uri="{FF2B5EF4-FFF2-40B4-BE49-F238E27FC236}">
                  <a16:creationId xmlns:a16="http://schemas.microsoft.com/office/drawing/2014/main" xmlns="" id="{A48029BA-2C16-44F5-A869-A53506CA98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458" name="Group 98">
            <a:extLst>
              <a:ext uri="{FF2B5EF4-FFF2-40B4-BE49-F238E27FC236}">
                <a16:creationId xmlns:a16="http://schemas.microsoft.com/office/drawing/2014/main" xmlns="" id="{7121EB0D-BA83-422A-BA88-D54822235E7D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527300"/>
            <a:ext cx="304800" cy="533400"/>
            <a:chOff x="1099" y="1621"/>
            <a:chExt cx="296" cy="390"/>
          </a:xfrm>
        </p:grpSpPr>
        <p:sp>
          <p:nvSpPr>
            <p:cNvPr id="15459" name="Oval 99">
              <a:extLst>
                <a:ext uri="{FF2B5EF4-FFF2-40B4-BE49-F238E27FC236}">
                  <a16:creationId xmlns:a16="http://schemas.microsoft.com/office/drawing/2014/main" xmlns="" id="{232AC345-5480-4E51-BC43-797B0F60E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0" name="Line 100">
              <a:extLst>
                <a:ext uri="{FF2B5EF4-FFF2-40B4-BE49-F238E27FC236}">
                  <a16:creationId xmlns:a16="http://schemas.microsoft.com/office/drawing/2014/main" xmlns="" id="{56E649D8-5975-4E51-A705-EE117D9273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1" name="Line 101">
              <a:extLst>
                <a:ext uri="{FF2B5EF4-FFF2-40B4-BE49-F238E27FC236}">
                  <a16:creationId xmlns:a16="http://schemas.microsoft.com/office/drawing/2014/main" xmlns="" id="{D1784C3E-F089-438C-8920-0CE5AD9364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2" name="Line 102">
              <a:extLst>
                <a:ext uri="{FF2B5EF4-FFF2-40B4-BE49-F238E27FC236}">
                  <a16:creationId xmlns:a16="http://schemas.microsoft.com/office/drawing/2014/main" xmlns="" id="{928E3BCE-37B2-4B6E-AAD0-99D85F726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3" name="Line 103">
              <a:extLst>
                <a:ext uri="{FF2B5EF4-FFF2-40B4-BE49-F238E27FC236}">
                  <a16:creationId xmlns:a16="http://schemas.microsoft.com/office/drawing/2014/main" xmlns="" id="{DBCF7A32-BB66-4FEA-9F36-AF6BB2C94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" name="Line 104">
              <a:extLst>
                <a:ext uri="{FF2B5EF4-FFF2-40B4-BE49-F238E27FC236}">
                  <a16:creationId xmlns:a16="http://schemas.microsoft.com/office/drawing/2014/main" xmlns="" id="{862AD09C-7A66-48C1-A1EF-A8C84DF62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465" name="Group 105">
            <a:extLst>
              <a:ext uri="{FF2B5EF4-FFF2-40B4-BE49-F238E27FC236}">
                <a16:creationId xmlns:a16="http://schemas.microsoft.com/office/drawing/2014/main" xmlns="" id="{0B78B687-4225-4D85-8A99-260F6C309047}"/>
              </a:ext>
            </a:extLst>
          </p:cNvPr>
          <p:cNvGrpSpPr>
            <a:grpSpLocks/>
          </p:cNvGrpSpPr>
          <p:nvPr/>
        </p:nvGrpSpPr>
        <p:grpSpPr bwMode="auto">
          <a:xfrm>
            <a:off x="1206500" y="3517900"/>
            <a:ext cx="469900" cy="619125"/>
            <a:chOff x="1099" y="1621"/>
            <a:chExt cx="296" cy="390"/>
          </a:xfrm>
        </p:grpSpPr>
        <p:sp>
          <p:nvSpPr>
            <p:cNvPr id="15466" name="Oval 106">
              <a:extLst>
                <a:ext uri="{FF2B5EF4-FFF2-40B4-BE49-F238E27FC236}">
                  <a16:creationId xmlns:a16="http://schemas.microsoft.com/office/drawing/2014/main" xmlns="" id="{00CE3A97-6866-4809-AF19-3B308DABE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7" name="Line 107">
              <a:extLst>
                <a:ext uri="{FF2B5EF4-FFF2-40B4-BE49-F238E27FC236}">
                  <a16:creationId xmlns:a16="http://schemas.microsoft.com/office/drawing/2014/main" xmlns="" id="{3B7255C4-A0CA-4028-9362-98F74A926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8" name="Line 108">
              <a:extLst>
                <a:ext uri="{FF2B5EF4-FFF2-40B4-BE49-F238E27FC236}">
                  <a16:creationId xmlns:a16="http://schemas.microsoft.com/office/drawing/2014/main" xmlns="" id="{9078425F-2721-413F-A352-F6ABCD44F5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9" name="Line 109">
              <a:extLst>
                <a:ext uri="{FF2B5EF4-FFF2-40B4-BE49-F238E27FC236}">
                  <a16:creationId xmlns:a16="http://schemas.microsoft.com/office/drawing/2014/main" xmlns="" id="{EA0D27F5-B542-40CB-9FD2-FF02FAB57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0" name="Line 110">
              <a:extLst>
                <a:ext uri="{FF2B5EF4-FFF2-40B4-BE49-F238E27FC236}">
                  <a16:creationId xmlns:a16="http://schemas.microsoft.com/office/drawing/2014/main" xmlns="" id="{EFCD2DB8-51B4-43F9-AC17-856264C62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1" name="Line 111">
              <a:extLst>
                <a:ext uri="{FF2B5EF4-FFF2-40B4-BE49-F238E27FC236}">
                  <a16:creationId xmlns:a16="http://schemas.microsoft.com/office/drawing/2014/main" xmlns="" id="{CE93B1BF-43D4-4118-B6A4-FE38292624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472" name="Group 112">
            <a:extLst>
              <a:ext uri="{FF2B5EF4-FFF2-40B4-BE49-F238E27FC236}">
                <a16:creationId xmlns:a16="http://schemas.microsoft.com/office/drawing/2014/main" xmlns="" id="{33433E0E-9EC5-485F-A720-F51B6216837E}"/>
              </a:ext>
            </a:extLst>
          </p:cNvPr>
          <p:cNvGrpSpPr>
            <a:grpSpLocks/>
          </p:cNvGrpSpPr>
          <p:nvPr/>
        </p:nvGrpSpPr>
        <p:grpSpPr bwMode="auto">
          <a:xfrm>
            <a:off x="749300" y="3746500"/>
            <a:ext cx="304800" cy="381000"/>
            <a:chOff x="1099" y="1621"/>
            <a:chExt cx="296" cy="390"/>
          </a:xfrm>
        </p:grpSpPr>
        <p:sp>
          <p:nvSpPr>
            <p:cNvPr id="15473" name="Oval 113">
              <a:extLst>
                <a:ext uri="{FF2B5EF4-FFF2-40B4-BE49-F238E27FC236}">
                  <a16:creationId xmlns:a16="http://schemas.microsoft.com/office/drawing/2014/main" xmlns="" id="{29E21E78-8118-4E77-8C8A-42EAE3D40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4" name="Line 114">
              <a:extLst>
                <a:ext uri="{FF2B5EF4-FFF2-40B4-BE49-F238E27FC236}">
                  <a16:creationId xmlns:a16="http://schemas.microsoft.com/office/drawing/2014/main" xmlns="" id="{41C47A25-6147-4DBE-AC7C-54AC94CE7D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5" name="Line 115">
              <a:extLst>
                <a:ext uri="{FF2B5EF4-FFF2-40B4-BE49-F238E27FC236}">
                  <a16:creationId xmlns:a16="http://schemas.microsoft.com/office/drawing/2014/main" xmlns="" id="{C27650DF-1266-496D-8DBA-770EF961D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6" name="Line 116">
              <a:extLst>
                <a:ext uri="{FF2B5EF4-FFF2-40B4-BE49-F238E27FC236}">
                  <a16:creationId xmlns:a16="http://schemas.microsoft.com/office/drawing/2014/main" xmlns="" id="{9F30BC47-CCFA-4B4E-9786-C0C5D313C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7" name="Line 117">
              <a:extLst>
                <a:ext uri="{FF2B5EF4-FFF2-40B4-BE49-F238E27FC236}">
                  <a16:creationId xmlns:a16="http://schemas.microsoft.com/office/drawing/2014/main" xmlns="" id="{F64242DB-09C8-49DF-AACB-63BE06F874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78" name="Line 118">
              <a:extLst>
                <a:ext uri="{FF2B5EF4-FFF2-40B4-BE49-F238E27FC236}">
                  <a16:creationId xmlns:a16="http://schemas.microsoft.com/office/drawing/2014/main" xmlns="" id="{57498D8B-6B0D-413B-9556-946D456493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479" name="Group 119">
            <a:extLst>
              <a:ext uri="{FF2B5EF4-FFF2-40B4-BE49-F238E27FC236}">
                <a16:creationId xmlns:a16="http://schemas.microsoft.com/office/drawing/2014/main" xmlns="" id="{4CA2449D-46F0-43BF-A482-980421A0E058}"/>
              </a:ext>
            </a:extLst>
          </p:cNvPr>
          <p:cNvGrpSpPr>
            <a:grpSpLocks/>
          </p:cNvGrpSpPr>
          <p:nvPr/>
        </p:nvGrpSpPr>
        <p:grpSpPr bwMode="auto">
          <a:xfrm>
            <a:off x="977900" y="3670300"/>
            <a:ext cx="304800" cy="533400"/>
            <a:chOff x="1099" y="1621"/>
            <a:chExt cx="296" cy="390"/>
          </a:xfrm>
        </p:grpSpPr>
        <p:sp>
          <p:nvSpPr>
            <p:cNvPr id="15480" name="Oval 120">
              <a:extLst>
                <a:ext uri="{FF2B5EF4-FFF2-40B4-BE49-F238E27FC236}">
                  <a16:creationId xmlns:a16="http://schemas.microsoft.com/office/drawing/2014/main" xmlns="" id="{85030D8A-F495-4A08-B42D-C3E8B61F8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1" name="Line 121">
              <a:extLst>
                <a:ext uri="{FF2B5EF4-FFF2-40B4-BE49-F238E27FC236}">
                  <a16:creationId xmlns:a16="http://schemas.microsoft.com/office/drawing/2014/main" xmlns="" id="{B480945B-679B-4D01-A8F4-530D064A6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2" name="Line 122">
              <a:extLst>
                <a:ext uri="{FF2B5EF4-FFF2-40B4-BE49-F238E27FC236}">
                  <a16:creationId xmlns:a16="http://schemas.microsoft.com/office/drawing/2014/main" xmlns="" id="{67B0AEBC-FACC-4BE6-8026-C8CD4AA834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3" name="Line 123">
              <a:extLst>
                <a:ext uri="{FF2B5EF4-FFF2-40B4-BE49-F238E27FC236}">
                  <a16:creationId xmlns:a16="http://schemas.microsoft.com/office/drawing/2014/main" xmlns="" id="{E5B4EC3A-0EB4-41AA-A1EA-3E98EAC18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4" name="Line 124">
              <a:extLst>
                <a:ext uri="{FF2B5EF4-FFF2-40B4-BE49-F238E27FC236}">
                  <a16:creationId xmlns:a16="http://schemas.microsoft.com/office/drawing/2014/main" xmlns="" id="{861E16A2-FAE1-445F-ACFD-422C46C19F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5" name="Line 125">
              <a:extLst>
                <a:ext uri="{FF2B5EF4-FFF2-40B4-BE49-F238E27FC236}">
                  <a16:creationId xmlns:a16="http://schemas.microsoft.com/office/drawing/2014/main" xmlns="" id="{1DCFEF24-52AD-4B78-9B09-18AD750A06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486" name="Group 126">
            <a:extLst>
              <a:ext uri="{FF2B5EF4-FFF2-40B4-BE49-F238E27FC236}">
                <a16:creationId xmlns:a16="http://schemas.microsoft.com/office/drawing/2014/main" xmlns="" id="{36B8C79B-23EE-4FA2-800F-153D4A4D30AC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660900"/>
            <a:ext cx="469900" cy="619125"/>
            <a:chOff x="1099" y="1621"/>
            <a:chExt cx="296" cy="390"/>
          </a:xfrm>
        </p:grpSpPr>
        <p:sp>
          <p:nvSpPr>
            <p:cNvPr id="15487" name="Oval 127">
              <a:extLst>
                <a:ext uri="{FF2B5EF4-FFF2-40B4-BE49-F238E27FC236}">
                  <a16:creationId xmlns:a16="http://schemas.microsoft.com/office/drawing/2014/main" xmlns="" id="{387FF1D8-D511-4967-89DE-C1A3705C2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8" name="Line 128">
              <a:extLst>
                <a:ext uri="{FF2B5EF4-FFF2-40B4-BE49-F238E27FC236}">
                  <a16:creationId xmlns:a16="http://schemas.microsoft.com/office/drawing/2014/main" xmlns="" id="{1A1F4B2C-3CF4-4F7B-9466-18CA90867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89" name="Line 129">
              <a:extLst>
                <a:ext uri="{FF2B5EF4-FFF2-40B4-BE49-F238E27FC236}">
                  <a16:creationId xmlns:a16="http://schemas.microsoft.com/office/drawing/2014/main" xmlns="" id="{20D47E73-D9B3-48B4-842E-D955A5A9B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0" name="Line 130">
              <a:extLst>
                <a:ext uri="{FF2B5EF4-FFF2-40B4-BE49-F238E27FC236}">
                  <a16:creationId xmlns:a16="http://schemas.microsoft.com/office/drawing/2014/main" xmlns="" id="{930AB17B-AAFA-4887-8F22-405F811E99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1" name="Line 131">
              <a:extLst>
                <a:ext uri="{FF2B5EF4-FFF2-40B4-BE49-F238E27FC236}">
                  <a16:creationId xmlns:a16="http://schemas.microsoft.com/office/drawing/2014/main" xmlns="" id="{65BCCFEC-64DE-4C59-8481-FD3A02249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2" name="Line 132">
              <a:extLst>
                <a:ext uri="{FF2B5EF4-FFF2-40B4-BE49-F238E27FC236}">
                  <a16:creationId xmlns:a16="http://schemas.microsoft.com/office/drawing/2014/main" xmlns="" id="{034A1777-3FBE-49DA-8991-025C5B7D49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493" name="Group 133">
            <a:extLst>
              <a:ext uri="{FF2B5EF4-FFF2-40B4-BE49-F238E27FC236}">
                <a16:creationId xmlns:a16="http://schemas.microsoft.com/office/drawing/2014/main" xmlns="" id="{701E3227-30A8-4239-8B7D-4DF00B5DA988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889500"/>
            <a:ext cx="304800" cy="381000"/>
            <a:chOff x="1099" y="1621"/>
            <a:chExt cx="296" cy="390"/>
          </a:xfrm>
        </p:grpSpPr>
        <p:sp>
          <p:nvSpPr>
            <p:cNvPr id="15494" name="Oval 134">
              <a:extLst>
                <a:ext uri="{FF2B5EF4-FFF2-40B4-BE49-F238E27FC236}">
                  <a16:creationId xmlns:a16="http://schemas.microsoft.com/office/drawing/2014/main" xmlns="" id="{1EAEDA44-E4FF-42DE-8E02-B8E816D56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5" name="Line 135">
              <a:extLst>
                <a:ext uri="{FF2B5EF4-FFF2-40B4-BE49-F238E27FC236}">
                  <a16:creationId xmlns:a16="http://schemas.microsoft.com/office/drawing/2014/main" xmlns="" id="{8D910E0C-FDFF-4497-A644-9DC659F165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6" name="Line 136">
              <a:extLst>
                <a:ext uri="{FF2B5EF4-FFF2-40B4-BE49-F238E27FC236}">
                  <a16:creationId xmlns:a16="http://schemas.microsoft.com/office/drawing/2014/main" xmlns="" id="{FA71FC2B-7BD4-4DEE-9215-0D2C72D3A4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7" name="Line 137">
              <a:extLst>
                <a:ext uri="{FF2B5EF4-FFF2-40B4-BE49-F238E27FC236}">
                  <a16:creationId xmlns:a16="http://schemas.microsoft.com/office/drawing/2014/main" xmlns="" id="{E8AB76E3-CD3E-4B16-AEF1-74030FA4A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8" name="Line 138">
              <a:extLst>
                <a:ext uri="{FF2B5EF4-FFF2-40B4-BE49-F238E27FC236}">
                  <a16:creationId xmlns:a16="http://schemas.microsoft.com/office/drawing/2014/main" xmlns="" id="{FEF6A3D1-517B-4B92-A43E-F3286F9FF8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99" name="Line 139">
              <a:extLst>
                <a:ext uri="{FF2B5EF4-FFF2-40B4-BE49-F238E27FC236}">
                  <a16:creationId xmlns:a16="http://schemas.microsoft.com/office/drawing/2014/main" xmlns="" id="{18F4BF54-7B73-44F1-9757-D929262CDB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500" name="Group 140">
            <a:extLst>
              <a:ext uri="{FF2B5EF4-FFF2-40B4-BE49-F238E27FC236}">
                <a16:creationId xmlns:a16="http://schemas.microsoft.com/office/drawing/2014/main" xmlns="" id="{DCF9AB2F-B9B9-43CB-8130-18704319F789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813300"/>
            <a:ext cx="304800" cy="533400"/>
            <a:chOff x="1099" y="1621"/>
            <a:chExt cx="296" cy="390"/>
          </a:xfrm>
        </p:grpSpPr>
        <p:sp>
          <p:nvSpPr>
            <p:cNvPr id="15501" name="Oval 141">
              <a:extLst>
                <a:ext uri="{FF2B5EF4-FFF2-40B4-BE49-F238E27FC236}">
                  <a16:creationId xmlns:a16="http://schemas.microsoft.com/office/drawing/2014/main" xmlns="" id="{941D0FB0-9EAC-47C3-A85A-2EF5F2388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2" name="Line 142">
              <a:extLst>
                <a:ext uri="{FF2B5EF4-FFF2-40B4-BE49-F238E27FC236}">
                  <a16:creationId xmlns:a16="http://schemas.microsoft.com/office/drawing/2014/main" xmlns="" id="{156F093D-95C0-490E-99AF-8CAEC160B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3" name="Line 143">
              <a:extLst>
                <a:ext uri="{FF2B5EF4-FFF2-40B4-BE49-F238E27FC236}">
                  <a16:creationId xmlns:a16="http://schemas.microsoft.com/office/drawing/2014/main" xmlns="" id="{D3BEF3F7-809C-4F2E-9995-80BFC4F5FA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4" name="Line 144">
              <a:extLst>
                <a:ext uri="{FF2B5EF4-FFF2-40B4-BE49-F238E27FC236}">
                  <a16:creationId xmlns:a16="http://schemas.microsoft.com/office/drawing/2014/main" xmlns="" id="{7089C25E-3335-456F-8EA3-2E2FD9DD7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5" name="Line 145">
              <a:extLst>
                <a:ext uri="{FF2B5EF4-FFF2-40B4-BE49-F238E27FC236}">
                  <a16:creationId xmlns:a16="http://schemas.microsoft.com/office/drawing/2014/main" xmlns="" id="{27546283-8CE5-492E-8905-DB922823A2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06" name="Line 146">
              <a:extLst>
                <a:ext uri="{FF2B5EF4-FFF2-40B4-BE49-F238E27FC236}">
                  <a16:creationId xmlns:a16="http://schemas.microsoft.com/office/drawing/2014/main" xmlns="" id="{E3FFA627-4162-4D2D-957A-56A1FB7C5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507" name="Text Box 147">
            <a:extLst>
              <a:ext uri="{FF2B5EF4-FFF2-40B4-BE49-F238E27FC236}">
                <a16:creationId xmlns:a16="http://schemas.microsoft.com/office/drawing/2014/main" xmlns="" id="{02B84686-EC66-45AE-97F6-CC2C3BCBD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22600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Premier Members</a:t>
            </a:r>
            <a:endParaRPr lang="en-US" altLang="en-US"/>
          </a:p>
        </p:txBody>
      </p:sp>
      <p:sp>
        <p:nvSpPr>
          <p:cNvPr id="15508" name="Text Box 148">
            <a:extLst>
              <a:ext uri="{FF2B5EF4-FFF2-40B4-BE49-F238E27FC236}">
                <a16:creationId xmlns:a16="http://schemas.microsoft.com/office/drawing/2014/main" xmlns="" id="{9F797FA9-74D9-4C4F-8FE0-972E9235A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03700"/>
            <a:ext cx="2457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Frequent Flyer Members</a:t>
            </a:r>
            <a:endParaRPr lang="en-US" altLang="en-US"/>
          </a:p>
        </p:txBody>
      </p:sp>
      <p:sp>
        <p:nvSpPr>
          <p:cNvPr id="15509" name="Text Box 149">
            <a:extLst>
              <a:ext uri="{FF2B5EF4-FFF2-40B4-BE49-F238E27FC236}">
                <a16:creationId xmlns:a16="http://schemas.microsoft.com/office/drawing/2014/main" xmlns="" id="{2498EA0D-D65D-4F82-B450-F6FC1FA89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36098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Regular Members</a:t>
            </a:r>
            <a:endParaRPr lang="en-US" altLang="en-US"/>
          </a:p>
        </p:txBody>
      </p:sp>
      <p:sp>
        <p:nvSpPr>
          <p:cNvPr id="15510" name="Text Box 150">
            <a:extLst>
              <a:ext uri="{FF2B5EF4-FFF2-40B4-BE49-F238E27FC236}">
                <a16:creationId xmlns:a16="http://schemas.microsoft.com/office/drawing/2014/main" xmlns="" id="{B1163963-81B6-4739-8787-11048DED2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25" y="3733800"/>
            <a:ext cx="199072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Airline Reservation</a:t>
            </a:r>
            <a:endParaRPr lang="en-US" altLang="en-US"/>
          </a:p>
        </p:txBody>
      </p:sp>
      <p:sp>
        <p:nvSpPr>
          <p:cNvPr id="15511" name="Line 151">
            <a:extLst>
              <a:ext uri="{FF2B5EF4-FFF2-40B4-BE49-F238E27FC236}">
                <a16:creationId xmlns:a16="http://schemas.microsoft.com/office/drawing/2014/main" xmlns="" id="{6B0EE4D2-E846-4222-A878-FE15B862D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832100"/>
            <a:ext cx="2351088" cy="884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512" name="Line 152">
            <a:extLst>
              <a:ext uri="{FF2B5EF4-FFF2-40B4-BE49-F238E27FC236}">
                <a16:creationId xmlns:a16="http://schemas.microsoft.com/office/drawing/2014/main" xmlns="" id="{18E2077F-D899-4134-B569-D5C5D8CD3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898900"/>
            <a:ext cx="2120900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513" name="Line 153">
            <a:extLst>
              <a:ext uri="{FF2B5EF4-FFF2-40B4-BE49-F238E27FC236}">
                <a16:creationId xmlns:a16="http://schemas.microsoft.com/office/drawing/2014/main" xmlns="" id="{7754B02A-A135-4D24-BAB4-D71EC7A8D2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4127500"/>
            <a:ext cx="2286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514" name="Text Box 154">
            <a:extLst>
              <a:ext uri="{FF2B5EF4-FFF2-40B4-BE49-F238E27FC236}">
                <a16:creationId xmlns:a16="http://schemas.microsoft.com/office/drawing/2014/main" xmlns="" id="{A1F3D38D-EC2F-425D-88AC-550E8D9A8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888" y="3594100"/>
            <a:ext cx="1085850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Answering</a:t>
            </a:r>
          </a:p>
          <a:p>
            <a:pPr algn="ctr"/>
            <a:r>
              <a:rPr lang="en-US" altLang="en-US" sz="1600"/>
              <a:t>Machine</a:t>
            </a:r>
          </a:p>
        </p:txBody>
      </p:sp>
      <p:sp>
        <p:nvSpPr>
          <p:cNvPr id="15515" name="Line 155">
            <a:extLst>
              <a:ext uri="{FF2B5EF4-FFF2-40B4-BE49-F238E27FC236}">
                <a16:creationId xmlns:a16="http://schemas.microsoft.com/office/drawing/2014/main" xmlns="" id="{C45452FC-BB71-4A90-942F-E51FCC3E0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1525" y="38989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516" name="Text Box 156">
            <a:extLst>
              <a:ext uri="{FF2B5EF4-FFF2-40B4-BE49-F238E27FC236}">
                <a16:creationId xmlns:a16="http://schemas.microsoft.com/office/drawing/2014/main" xmlns="" id="{4FBD2B98-0412-4B08-9B87-5096B7F2C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2863" y="2397125"/>
            <a:ext cx="1252537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Premier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  <a:endParaRPr lang="en-US" altLang="en-US"/>
          </a:p>
        </p:txBody>
      </p:sp>
      <p:sp>
        <p:nvSpPr>
          <p:cNvPr id="15517" name="Text Box 157">
            <a:extLst>
              <a:ext uri="{FF2B5EF4-FFF2-40B4-BE49-F238E27FC236}">
                <a16:creationId xmlns:a16="http://schemas.microsoft.com/office/drawing/2014/main" xmlns="" id="{FB8168DB-3E70-4492-A73F-2AF63724B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517900"/>
            <a:ext cx="1252538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F.F.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</a:p>
        </p:txBody>
      </p:sp>
      <p:sp>
        <p:nvSpPr>
          <p:cNvPr id="15518" name="Text Box 158">
            <a:extLst>
              <a:ext uri="{FF2B5EF4-FFF2-40B4-BE49-F238E27FC236}">
                <a16:creationId xmlns:a16="http://schemas.microsoft.com/office/drawing/2014/main" xmlns="" id="{B2D46D0C-609B-4B4D-AFDE-5DC731495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2863" y="4821238"/>
            <a:ext cx="1252537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Regular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</a:p>
        </p:txBody>
      </p:sp>
      <p:sp>
        <p:nvSpPr>
          <p:cNvPr id="15519" name="Line 159">
            <a:extLst>
              <a:ext uri="{FF2B5EF4-FFF2-40B4-BE49-F238E27FC236}">
                <a16:creationId xmlns:a16="http://schemas.microsoft.com/office/drawing/2014/main" xmlns="" id="{3C5B7165-836C-4608-B2F6-30EF886D6F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9325" y="31369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520" name="Line 160">
            <a:extLst>
              <a:ext uri="{FF2B5EF4-FFF2-40B4-BE49-F238E27FC236}">
                <a16:creationId xmlns:a16="http://schemas.microsoft.com/office/drawing/2014/main" xmlns="" id="{A350E611-2B5F-4FC3-B4AA-F449A04943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9325" y="38989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521" name="Line 161">
            <a:extLst>
              <a:ext uri="{FF2B5EF4-FFF2-40B4-BE49-F238E27FC236}">
                <a16:creationId xmlns:a16="http://schemas.microsoft.com/office/drawing/2014/main" xmlns="" id="{B41BDE3A-C633-4698-93B4-AEE7F1617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9325" y="3898900"/>
            <a:ext cx="381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77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65" name="Object 81">
            <a:extLst>
              <a:ext uri="{FF2B5EF4-FFF2-40B4-BE49-F238E27FC236}">
                <a16:creationId xmlns:a16="http://schemas.microsoft.com/office/drawing/2014/main" xmlns="" id="{E0D8F07F-258B-40FE-96AB-8FB2B87A59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1063" y="2097088"/>
          <a:ext cx="2257425" cy="332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Clip" r:id="rId3" imgW="2247480" imgH="3306240" progId="MS_ClipArt_Gallery.2">
                  <p:embed/>
                </p:oleObj>
              </mc:Choice>
              <mc:Fallback>
                <p:oleObj name="Clip" r:id="rId3" imgW="2247480" imgH="330624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2097088"/>
                        <a:ext cx="2257425" cy="332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6" name="Rectangle 2">
            <a:extLst>
              <a:ext uri="{FF2B5EF4-FFF2-40B4-BE49-F238E27FC236}">
                <a16:creationId xmlns:a16="http://schemas.microsoft.com/office/drawing/2014/main" xmlns="" id="{A6DAF9B3-E49B-4803-8FEB-3D19909144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This is the </a:t>
            </a:r>
            <a:br>
              <a:rPr lang="en-US" altLang="en-US"/>
            </a:br>
            <a:r>
              <a:rPr lang="en-US" altLang="en-US"/>
              <a:t>REST Design Pattern</a:t>
            </a:r>
          </a:p>
        </p:txBody>
      </p:sp>
      <p:grpSp>
        <p:nvGrpSpPr>
          <p:cNvPr id="16387" name="Group 3">
            <a:extLst>
              <a:ext uri="{FF2B5EF4-FFF2-40B4-BE49-F238E27FC236}">
                <a16:creationId xmlns:a16="http://schemas.microsoft.com/office/drawing/2014/main" xmlns="" id="{8531A33A-314B-47CE-9F92-B12FA6F6EAC7}"/>
              </a:ext>
            </a:extLst>
          </p:cNvPr>
          <p:cNvGrpSpPr>
            <a:grpSpLocks/>
          </p:cNvGrpSpPr>
          <p:nvPr/>
        </p:nvGrpSpPr>
        <p:grpSpPr bwMode="auto">
          <a:xfrm>
            <a:off x="1625600" y="2098675"/>
            <a:ext cx="469900" cy="619125"/>
            <a:chOff x="1099" y="1621"/>
            <a:chExt cx="296" cy="390"/>
          </a:xfrm>
        </p:grpSpPr>
        <p:sp>
          <p:nvSpPr>
            <p:cNvPr id="16388" name="Oval 4">
              <a:extLst>
                <a:ext uri="{FF2B5EF4-FFF2-40B4-BE49-F238E27FC236}">
                  <a16:creationId xmlns:a16="http://schemas.microsoft.com/office/drawing/2014/main" xmlns="" id="{A316FFE1-2143-4378-BFA8-A0DEBA639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89" name="Line 5">
              <a:extLst>
                <a:ext uri="{FF2B5EF4-FFF2-40B4-BE49-F238E27FC236}">
                  <a16:creationId xmlns:a16="http://schemas.microsoft.com/office/drawing/2014/main" xmlns="" id="{FAE5E626-B251-4084-A076-E939D283C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0" name="Line 6">
              <a:extLst>
                <a:ext uri="{FF2B5EF4-FFF2-40B4-BE49-F238E27FC236}">
                  <a16:creationId xmlns:a16="http://schemas.microsoft.com/office/drawing/2014/main" xmlns="" id="{F585B0D6-48A9-4193-A43E-CB318CBDB7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1" name="Line 7">
              <a:extLst>
                <a:ext uri="{FF2B5EF4-FFF2-40B4-BE49-F238E27FC236}">
                  <a16:creationId xmlns:a16="http://schemas.microsoft.com/office/drawing/2014/main" xmlns="" id="{51F7B936-0675-4E06-A1A8-24D8F2EF3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2" name="Line 8">
              <a:extLst>
                <a:ext uri="{FF2B5EF4-FFF2-40B4-BE49-F238E27FC236}">
                  <a16:creationId xmlns:a16="http://schemas.microsoft.com/office/drawing/2014/main" xmlns="" id="{66DFFEB9-D3DE-4FDE-BD01-CCEF24E9BC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3" name="Line 9">
              <a:extLst>
                <a:ext uri="{FF2B5EF4-FFF2-40B4-BE49-F238E27FC236}">
                  <a16:creationId xmlns:a16="http://schemas.microsoft.com/office/drawing/2014/main" xmlns="" id="{C4408CCE-5A80-43E6-A67C-C7B58D4D9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394" name="Group 10">
            <a:extLst>
              <a:ext uri="{FF2B5EF4-FFF2-40B4-BE49-F238E27FC236}">
                <a16:creationId xmlns:a16="http://schemas.microsoft.com/office/drawing/2014/main" xmlns="" id="{4B1A7427-EE78-4B4D-A633-A3EDF6A77603}"/>
              </a:ext>
            </a:extLst>
          </p:cNvPr>
          <p:cNvGrpSpPr>
            <a:grpSpLocks/>
          </p:cNvGrpSpPr>
          <p:nvPr/>
        </p:nvGrpSpPr>
        <p:grpSpPr bwMode="auto">
          <a:xfrm>
            <a:off x="1168400" y="2327275"/>
            <a:ext cx="304800" cy="381000"/>
            <a:chOff x="1099" y="1621"/>
            <a:chExt cx="296" cy="390"/>
          </a:xfrm>
        </p:grpSpPr>
        <p:sp>
          <p:nvSpPr>
            <p:cNvPr id="16395" name="Oval 11">
              <a:extLst>
                <a:ext uri="{FF2B5EF4-FFF2-40B4-BE49-F238E27FC236}">
                  <a16:creationId xmlns:a16="http://schemas.microsoft.com/office/drawing/2014/main" xmlns="" id="{51C727BD-CEB7-44F9-99B3-E63810032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6" name="Line 12">
              <a:extLst>
                <a:ext uri="{FF2B5EF4-FFF2-40B4-BE49-F238E27FC236}">
                  <a16:creationId xmlns:a16="http://schemas.microsoft.com/office/drawing/2014/main" xmlns="" id="{F1BAFF3D-0AA3-4062-8CE7-0E1A301DB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7" name="Line 13">
              <a:extLst>
                <a:ext uri="{FF2B5EF4-FFF2-40B4-BE49-F238E27FC236}">
                  <a16:creationId xmlns:a16="http://schemas.microsoft.com/office/drawing/2014/main" xmlns="" id="{4F89592A-97AB-4938-8E7C-EE910F626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8" name="Line 14">
              <a:extLst>
                <a:ext uri="{FF2B5EF4-FFF2-40B4-BE49-F238E27FC236}">
                  <a16:creationId xmlns:a16="http://schemas.microsoft.com/office/drawing/2014/main" xmlns="" id="{6FA2E57E-9AD4-4E06-8D91-4FF700EC1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9" name="Line 15">
              <a:extLst>
                <a:ext uri="{FF2B5EF4-FFF2-40B4-BE49-F238E27FC236}">
                  <a16:creationId xmlns:a16="http://schemas.microsoft.com/office/drawing/2014/main" xmlns="" id="{C62502A8-BB2A-49E6-BD8C-1F08DC0DF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0" name="Line 16">
              <a:extLst>
                <a:ext uri="{FF2B5EF4-FFF2-40B4-BE49-F238E27FC236}">
                  <a16:creationId xmlns:a16="http://schemas.microsoft.com/office/drawing/2014/main" xmlns="" id="{0D90D99F-677D-49A3-A02B-FA53B8B8C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401" name="Group 17">
            <a:extLst>
              <a:ext uri="{FF2B5EF4-FFF2-40B4-BE49-F238E27FC236}">
                <a16:creationId xmlns:a16="http://schemas.microsoft.com/office/drawing/2014/main" xmlns="" id="{62F498AC-30BB-4938-9034-D9309474401E}"/>
              </a:ext>
            </a:extLst>
          </p:cNvPr>
          <p:cNvGrpSpPr>
            <a:grpSpLocks/>
          </p:cNvGrpSpPr>
          <p:nvPr/>
        </p:nvGrpSpPr>
        <p:grpSpPr bwMode="auto">
          <a:xfrm>
            <a:off x="1397000" y="2251075"/>
            <a:ext cx="304800" cy="533400"/>
            <a:chOff x="1099" y="1621"/>
            <a:chExt cx="296" cy="390"/>
          </a:xfrm>
        </p:grpSpPr>
        <p:sp>
          <p:nvSpPr>
            <p:cNvPr id="16402" name="Oval 18">
              <a:extLst>
                <a:ext uri="{FF2B5EF4-FFF2-40B4-BE49-F238E27FC236}">
                  <a16:creationId xmlns:a16="http://schemas.microsoft.com/office/drawing/2014/main" xmlns="" id="{115A7202-EBF7-47DA-8F59-AD6CA9EFF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3" name="Line 19">
              <a:extLst>
                <a:ext uri="{FF2B5EF4-FFF2-40B4-BE49-F238E27FC236}">
                  <a16:creationId xmlns:a16="http://schemas.microsoft.com/office/drawing/2014/main" xmlns="" id="{CDDCB0C8-697B-4DF7-882F-3E561C314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4" name="Line 20">
              <a:extLst>
                <a:ext uri="{FF2B5EF4-FFF2-40B4-BE49-F238E27FC236}">
                  <a16:creationId xmlns:a16="http://schemas.microsoft.com/office/drawing/2014/main" xmlns="" id="{57A85EAE-27DC-4CDA-B2BA-1704A7CDA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5" name="Line 21">
              <a:extLst>
                <a:ext uri="{FF2B5EF4-FFF2-40B4-BE49-F238E27FC236}">
                  <a16:creationId xmlns:a16="http://schemas.microsoft.com/office/drawing/2014/main" xmlns="" id="{EE3A680E-3BBB-460F-AEDD-490F08E1E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6" name="Line 22">
              <a:extLst>
                <a:ext uri="{FF2B5EF4-FFF2-40B4-BE49-F238E27FC236}">
                  <a16:creationId xmlns:a16="http://schemas.microsoft.com/office/drawing/2014/main" xmlns="" id="{D2839607-19C7-4F1E-9E78-02DCD9F238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7" name="Line 23">
              <a:extLst>
                <a:ext uri="{FF2B5EF4-FFF2-40B4-BE49-F238E27FC236}">
                  <a16:creationId xmlns:a16="http://schemas.microsoft.com/office/drawing/2014/main" xmlns="" id="{5D0294E9-2C26-4E9D-B8F3-8FD8E092FB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408" name="Group 24">
            <a:extLst>
              <a:ext uri="{FF2B5EF4-FFF2-40B4-BE49-F238E27FC236}">
                <a16:creationId xmlns:a16="http://schemas.microsoft.com/office/drawing/2014/main" xmlns="" id="{45004B26-4A41-44C2-8FB1-05D35044112F}"/>
              </a:ext>
            </a:extLst>
          </p:cNvPr>
          <p:cNvGrpSpPr>
            <a:grpSpLocks/>
          </p:cNvGrpSpPr>
          <p:nvPr/>
        </p:nvGrpSpPr>
        <p:grpSpPr bwMode="auto">
          <a:xfrm>
            <a:off x="1612900" y="3241675"/>
            <a:ext cx="469900" cy="619125"/>
            <a:chOff x="1099" y="1621"/>
            <a:chExt cx="296" cy="390"/>
          </a:xfrm>
        </p:grpSpPr>
        <p:sp>
          <p:nvSpPr>
            <p:cNvPr id="16409" name="Oval 25">
              <a:extLst>
                <a:ext uri="{FF2B5EF4-FFF2-40B4-BE49-F238E27FC236}">
                  <a16:creationId xmlns:a16="http://schemas.microsoft.com/office/drawing/2014/main" xmlns="" id="{2DCAFC6B-D91B-4C74-AA8D-67E74F74C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0" name="Line 26">
              <a:extLst>
                <a:ext uri="{FF2B5EF4-FFF2-40B4-BE49-F238E27FC236}">
                  <a16:creationId xmlns:a16="http://schemas.microsoft.com/office/drawing/2014/main" xmlns="" id="{BF0820B5-08DA-4E39-9074-B93D8FEBF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1" name="Line 27">
              <a:extLst>
                <a:ext uri="{FF2B5EF4-FFF2-40B4-BE49-F238E27FC236}">
                  <a16:creationId xmlns:a16="http://schemas.microsoft.com/office/drawing/2014/main" xmlns="" id="{73E4225B-A1C4-41B1-810D-5825FF58C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2" name="Line 28">
              <a:extLst>
                <a:ext uri="{FF2B5EF4-FFF2-40B4-BE49-F238E27FC236}">
                  <a16:creationId xmlns:a16="http://schemas.microsoft.com/office/drawing/2014/main" xmlns="" id="{245A4CAD-711C-4BE7-AB96-05A6804F0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3" name="Line 29">
              <a:extLst>
                <a:ext uri="{FF2B5EF4-FFF2-40B4-BE49-F238E27FC236}">
                  <a16:creationId xmlns:a16="http://schemas.microsoft.com/office/drawing/2014/main" xmlns="" id="{98D84D2B-9B33-450C-AD56-CD8F0C926D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4" name="Line 30">
              <a:extLst>
                <a:ext uri="{FF2B5EF4-FFF2-40B4-BE49-F238E27FC236}">
                  <a16:creationId xmlns:a16="http://schemas.microsoft.com/office/drawing/2014/main" xmlns="" id="{17B54EFB-81C5-4BB6-B1A6-9FB644F1B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415" name="Group 31">
            <a:extLst>
              <a:ext uri="{FF2B5EF4-FFF2-40B4-BE49-F238E27FC236}">
                <a16:creationId xmlns:a16="http://schemas.microsoft.com/office/drawing/2014/main" xmlns="" id="{B46B6BA2-621F-4AB8-AAAA-1EF7CC984D63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3470275"/>
            <a:ext cx="304800" cy="381000"/>
            <a:chOff x="1099" y="1621"/>
            <a:chExt cx="296" cy="390"/>
          </a:xfrm>
        </p:grpSpPr>
        <p:sp>
          <p:nvSpPr>
            <p:cNvPr id="16416" name="Oval 32">
              <a:extLst>
                <a:ext uri="{FF2B5EF4-FFF2-40B4-BE49-F238E27FC236}">
                  <a16:creationId xmlns:a16="http://schemas.microsoft.com/office/drawing/2014/main" xmlns="" id="{6A9CF8A0-27ED-41FF-8967-2AF6B799A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7" name="Line 33">
              <a:extLst>
                <a:ext uri="{FF2B5EF4-FFF2-40B4-BE49-F238E27FC236}">
                  <a16:creationId xmlns:a16="http://schemas.microsoft.com/office/drawing/2014/main" xmlns="" id="{2693DD2C-A931-45CB-81ED-1C57201FF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8" name="Line 34">
              <a:extLst>
                <a:ext uri="{FF2B5EF4-FFF2-40B4-BE49-F238E27FC236}">
                  <a16:creationId xmlns:a16="http://schemas.microsoft.com/office/drawing/2014/main" xmlns="" id="{BEAC763F-1E47-4EAF-B5CE-FE336A3946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9" name="Line 35">
              <a:extLst>
                <a:ext uri="{FF2B5EF4-FFF2-40B4-BE49-F238E27FC236}">
                  <a16:creationId xmlns:a16="http://schemas.microsoft.com/office/drawing/2014/main" xmlns="" id="{1C2B2BED-C033-4245-95C8-37A644ED2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0" name="Line 36">
              <a:extLst>
                <a:ext uri="{FF2B5EF4-FFF2-40B4-BE49-F238E27FC236}">
                  <a16:creationId xmlns:a16="http://schemas.microsoft.com/office/drawing/2014/main" xmlns="" id="{CE9A514F-E75C-4CF2-9D19-962917C24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1" name="Line 37">
              <a:extLst>
                <a:ext uri="{FF2B5EF4-FFF2-40B4-BE49-F238E27FC236}">
                  <a16:creationId xmlns:a16="http://schemas.microsoft.com/office/drawing/2014/main" xmlns="" id="{564052D8-C672-4EC2-8823-9FA1BA3E1F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422" name="Group 38">
            <a:extLst>
              <a:ext uri="{FF2B5EF4-FFF2-40B4-BE49-F238E27FC236}">
                <a16:creationId xmlns:a16="http://schemas.microsoft.com/office/drawing/2014/main" xmlns="" id="{FF44BA6E-FE2F-4E9C-B73B-26F461711D95}"/>
              </a:ext>
            </a:extLst>
          </p:cNvPr>
          <p:cNvGrpSpPr>
            <a:grpSpLocks/>
          </p:cNvGrpSpPr>
          <p:nvPr/>
        </p:nvGrpSpPr>
        <p:grpSpPr bwMode="auto">
          <a:xfrm>
            <a:off x="1384300" y="3394075"/>
            <a:ext cx="304800" cy="533400"/>
            <a:chOff x="1099" y="1621"/>
            <a:chExt cx="296" cy="390"/>
          </a:xfrm>
        </p:grpSpPr>
        <p:sp>
          <p:nvSpPr>
            <p:cNvPr id="16423" name="Oval 39">
              <a:extLst>
                <a:ext uri="{FF2B5EF4-FFF2-40B4-BE49-F238E27FC236}">
                  <a16:creationId xmlns:a16="http://schemas.microsoft.com/office/drawing/2014/main" xmlns="" id="{DF16D60E-09E6-45B0-A832-73A8EF3DF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4" name="Line 40">
              <a:extLst>
                <a:ext uri="{FF2B5EF4-FFF2-40B4-BE49-F238E27FC236}">
                  <a16:creationId xmlns:a16="http://schemas.microsoft.com/office/drawing/2014/main" xmlns="" id="{EC5B723B-A874-42BF-A5AE-7CA848DFA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5" name="Line 41">
              <a:extLst>
                <a:ext uri="{FF2B5EF4-FFF2-40B4-BE49-F238E27FC236}">
                  <a16:creationId xmlns:a16="http://schemas.microsoft.com/office/drawing/2014/main" xmlns="" id="{7D4AD420-A07B-4474-8A3E-1B992299E5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6" name="Line 42">
              <a:extLst>
                <a:ext uri="{FF2B5EF4-FFF2-40B4-BE49-F238E27FC236}">
                  <a16:creationId xmlns:a16="http://schemas.microsoft.com/office/drawing/2014/main" xmlns="" id="{A574CE85-E7AF-4E53-B876-F4D6A1A26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7" name="Line 43">
              <a:extLst>
                <a:ext uri="{FF2B5EF4-FFF2-40B4-BE49-F238E27FC236}">
                  <a16:creationId xmlns:a16="http://schemas.microsoft.com/office/drawing/2014/main" xmlns="" id="{379B4814-D1B4-4D87-A986-CD568A0B34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8" name="Line 44">
              <a:extLst>
                <a:ext uri="{FF2B5EF4-FFF2-40B4-BE49-F238E27FC236}">
                  <a16:creationId xmlns:a16="http://schemas.microsoft.com/office/drawing/2014/main" xmlns="" id="{35C8BB79-21C0-497D-ABAB-353E342C9C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429" name="Group 45">
            <a:extLst>
              <a:ext uri="{FF2B5EF4-FFF2-40B4-BE49-F238E27FC236}">
                <a16:creationId xmlns:a16="http://schemas.microsoft.com/office/drawing/2014/main" xmlns="" id="{810B2B96-8F9C-43BF-9D68-B1110968B914}"/>
              </a:ext>
            </a:extLst>
          </p:cNvPr>
          <p:cNvGrpSpPr>
            <a:grpSpLocks/>
          </p:cNvGrpSpPr>
          <p:nvPr/>
        </p:nvGrpSpPr>
        <p:grpSpPr bwMode="auto">
          <a:xfrm>
            <a:off x="1625600" y="4384675"/>
            <a:ext cx="469900" cy="619125"/>
            <a:chOff x="1099" y="1621"/>
            <a:chExt cx="296" cy="390"/>
          </a:xfrm>
        </p:grpSpPr>
        <p:sp>
          <p:nvSpPr>
            <p:cNvPr id="16430" name="Oval 46">
              <a:extLst>
                <a:ext uri="{FF2B5EF4-FFF2-40B4-BE49-F238E27FC236}">
                  <a16:creationId xmlns:a16="http://schemas.microsoft.com/office/drawing/2014/main" xmlns="" id="{FFB8C86E-1D7E-4792-9812-0DC0A2B2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1" name="Line 47">
              <a:extLst>
                <a:ext uri="{FF2B5EF4-FFF2-40B4-BE49-F238E27FC236}">
                  <a16:creationId xmlns:a16="http://schemas.microsoft.com/office/drawing/2014/main" xmlns="" id="{39537BA3-8EF7-4330-B60C-E7CD5950F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2" name="Line 48">
              <a:extLst>
                <a:ext uri="{FF2B5EF4-FFF2-40B4-BE49-F238E27FC236}">
                  <a16:creationId xmlns:a16="http://schemas.microsoft.com/office/drawing/2014/main" xmlns="" id="{71950DF2-7532-4856-AFD7-8BDD280AD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3" name="Line 49">
              <a:extLst>
                <a:ext uri="{FF2B5EF4-FFF2-40B4-BE49-F238E27FC236}">
                  <a16:creationId xmlns:a16="http://schemas.microsoft.com/office/drawing/2014/main" xmlns="" id="{E326B22F-7425-4BF2-B083-0A6CD55E4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4" name="Line 50">
              <a:extLst>
                <a:ext uri="{FF2B5EF4-FFF2-40B4-BE49-F238E27FC236}">
                  <a16:creationId xmlns:a16="http://schemas.microsoft.com/office/drawing/2014/main" xmlns="" id="{5F0847F7-E980-4273-A5A0-314352D2C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5" name="Line 51">
              <a:extLst>
                <a:ext uri="{FF2B5EF4-FFF2-40B4-BE49-F238E27FC236}">
                  <a16:creationId xmlns:a16="http://schemas.microsoft.com/office/drawing/2014/main" xmlns="" id="{E4989952-407E-46A9-98A7-46699054D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436" name="Group 52">
            <a:extLst>
              <a:ext uri="{FF2B5EF4-FFF2-40B4-BE49-F238E27FC236}">
                <a16:creationId xmlns:a16="http://schemas.microsoft.com/office/drawing/2014/main" xmlns="" id="{17A84AB2-27C0-416E-AD97-48483D095C44}"/>
              </a:ext>
            </a:extLst>
          </p:cNvPr>
          <p:cNvGrpSpPr>
            <a:grpSpLocks/>
          </p:cNvGrpSpPr>
          <p:nvPr/>
        </p:nvGrpSpPr>
        <p:grpSpPr bwMode="auto">
          <a:xfrm>
            <a:off x="1168400" y="4613275"/>
            <a:ext cx="304800" cy="381000"/>
            <a:chOff x="1099" y="1621"/>
            <a:chExt cx="296" cy="390"/>
          </a:xfrm>
        </p:grpSpPr>
        <p:sp>
          <p:nvSpPr>
            <p:cNvPr id="16437" name="Oval 53">
              <a:extLst>
                <a:ext uri="{FF2B5EF4-FFF2-40B4-BE49-F238E27FC236}">
                  <a16:creationId xmlns:a16="http://schemas.microsoft.com/office/drawing/2014/main" xmlns="" id="{FFCB6AC6-F5F0-49A3-88A2-D95923064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8" name="Line 54">
              <a:extLst>
                <a:ext uri="{FF2B5EF4-FFF2-40B4-BE49-F238E27FC236}">
                  <a16:creationId xmlns:a16="http://schemas.microsoft.com/office/drawing/2014/main" xmlns="" id="{A2A4CE81-4A64-4C3B-BFDF-23E63B495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9" name="Line 55">
              <a:extLst>
                <a:ext uri="{FF2B5EF4-FFF2-40B4-BE49-F238E27FC236}">
                  <a16:creationId xmlns:a16="http://schemas.microsoft.com/office/drawing/2014/main" xmlns="" id="{7B512085-F514-42C5-9CC4-09450CACB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0" name="Line 56">
              <a:extLst>
                <a:ext uri="{FF2B5EF4-FFF2-40B4-BE49-F238E27FC236}">
                  <a16:creationId xmlns:a16="http://schemas.microsoft.com/office/drawing/2014/main" xmlns="" id="{23B650D9-A57A-485A-992E-C7DA545A4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1" name="Line 57">
              <a:extLst>
                <a:ext uri="{FF2B5EF4-FFF2-40B4-BE49-F238E27FC236}">
                  <a16:creationId xmlns:a16="http://schemas.microsoft.com/office/drawing/2014/main" xmlns="" id="{FF29C405-41C8-43CF-9E27-43CCB6F1F8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2" name="Line 58">
              <a:extLst>
                <a:ext uri="{FF2B5EF4-FFF2-40B4-BE49-F238E27FC236}">
                  <a16:creationId xmlns:a16="http://schemas.microsoft.com/office/drawing/2014/main" xmlns="" id="{69B50A68-2949-46A2-B4BA-F5C35D478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443" name="Group 59">
            <a:extLst>
              <a:ext uri="{FF2B5EF4-FFF2-40B4-BE49-F238E27FC236}">
                <a16:creationId xmlns:a16="http://schemas.microsoft.com/office/drawing/2014/main" xmlns="" id="{190B4162-033A-4C60-B6A9-19CCCC44E411}"/>
              </a:ext>
            </a:extLst>
          </p:cNvPr>
          <p:cNvGrpSpPr>
            <a:grpSpLocks/>
          </p:cNvGrpSpPr>
          <p:nvPr/>
        </p:nvGrpSpPr>
        <p:grpSpPr bwMode="auto">
          <a:xfrm>
            <a:off x="1397000" y="4537075"/>
            <a:ext cx="304800" cy="533400"/>
            <a:chOff x="1099" y="1621"/>
            <a:chExt cx="296" cy="390"/>
          </a:xfrm>
        </p:grpSpPr>
        <p:sp>
          <p:nvSpPr>
            <p:cNvPr id="16444" name="Oval 60">
              <a:extLst>
                <a:ext uri="{FF2B5EF4-FFF2-40B4-BE49-F238E27FC236}">
                  <a16:creationId xmlns:a16="http://schemas.microsoft.com/office/drawing/2014/main" xmlns="" id="{255CBC48-9EB4-41C6-ABAB-66675E85C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1621"/>
              <a:ext cx="117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5" name="Line 61">
              <a:extLst>
                <a:ext uri="{FF2B5EF4-FFF2-40B4-BE49-F238E27FC236}">
                  <a16:creationId xmlns:a16="http://schemas.microsoft.com/office/drawing/2014/main" xmlns="" id="{4873467C-0F82-487A-AB24-55A5D9ED4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5" y="1738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6" name="Line 62">
              <a:extLst>
                <a:ext uri="{FF2B5EF4-FFF2-40B4-BE49-F238E27FC236}">
                  <a16:creationId xmlns:a16="http://schemas.microsoft.com/office/drawing/2014/main" xmlns="" id="{350E3CCC-65EC-4F8A-B2DD-343A42A6A9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7" y="1909"/>
              <a:ext cx="7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7" name="Line 63">
              <a:extLst>
                <a:ext uri="{FF2B5EF4-FFF2-40B4-BE49-F238E27FC236}">
                  <a16:creationId xmlns:a16="http://schemas.microsoft.com/office/drawing/2014/main" xmlns="" id="{9766FC29-522A-477E-9E78-EE72A9BDF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09"/>
              <a:ext cx="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8" name="Line 64">
              <a:extLst>
                <a:ext uri="{FF2B5EF4-FFF2-40B4-BE49-F238E27FC236}">
                  <a16:creationId xmlns:a16="http://schemas.microsoft.com/office/drawing/2014/main" xmlns="" id="{EA1325CA-396E-4A21-AA39-F3B545522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9" y="1777"/>
              <a:ext cx="156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9" name="Line 65">
              <a:extLst>
                <a:ext uri="{FF2B5EF4-FFF2-40B4-BE49-F238E27FC236}">
                  <a16:creationId xmlns:a16="http://schemas.microsoft.com/office/drawing/2014/main" xmlns="" id="{5222AF67-B816-49DA-8FF1-048E836B75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753"/>
              <a:ext cx="133" cy="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50" name="Text Box 66">
            <a:extLst>
              <a:ext uri="{FF2B5EF4-FFF2-40B4-BE49-F238E27FC236}">
                <a16:creationId xmlns:a16="http://schemas.microsoft.com/office/drawing/2014/main" xmlns="" id="{215E7C51-7B85-4446-ADA8-F028D6734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2746375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Premier Members</a:t>
            </a:r>
            <a:endParaRPr lang="en-US" altLang="en-US"/>
          </a:p>
        </p:txBody>
      </p:sp>
      <p:sp>
        <p:nvSpPr>
          <p:cNvPr id="16451" name="Text Box 67">
            <a:extLst>
              <a:ext uri="{FF2B5EF4-FFF2-40B4-BE49-F238E27FC236}">
                <a16:creationId xmlns:a16="http://schemas.microsoft.com/office/drawing/2014/main" xmlns="" id="{5AA00427-4322-468B-95F3-99DAEA93B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3927475"/>
            <a:ext cx="2457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Frequent Flyer Members</a:t>
            </a:r>
            <a:endParaRPr lang="en-US" altLang="en-US"/>
          </a:p>
        </p:txBody>
      </p:sp>
      <p:sp>
        <p:nvSpPr>
          <p:cNvPr id="16452" name="Text Box 68">
            <a:extLst>
              <a:ext uri="{FF2B5EF4-FFF2-40B4-BE49-F238E27FC236}">
                <a16:creationId xmlns:a16="http://schemas.microsoft.com/office/drawing/2014/main" xmlns="" id="{AF27E508-9FEF-444A-896D-14C0AA8FE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5084763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Regular Members</a:t>
            </a:r>
            <a:endParaRPr lang="en-US" altLang="en-US"/>
          </a:p>
        </p:txBody>
      </p:sp>
      <p:sp>
        <p:nvSpPr>
          <p:cNvPr id="16453" name="Text Box 69">
            <a:extLst>
              <a:ext uri="{FF2B5EF4-FFF2-40B4-BE49-F238E27FC236}">
                <a16:creationId xmlns:a16="http://schemas.microsoft.com/office/drawing/2014/main" xmlns="" id="{38C74261-6D8C-4B9B-BD1A-62F0C3001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1525" y="2209800"/>
            <a:ext cx="15271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1-800-Premier</a:t>
            </a:r>
            <a:endParaRPr lang="en-US" altLang="en-US"/>
          </a:p>
        </p:txBody>
      </p:sp>
      <p:sp>
        <p:nvSpPr>
          <p:cNvPr id="16454" name="Line 70">
            <a:extLst>
              <a:ext uri="{FF2B5EF4-FFF2-40B4-BE49-F238E27FC236}">
                <a16:creationId xmlns:a16="http://schemas.microsoft.com/office/drawing/2014/main" xmlns="" id="{642FA1C5-ED32-4A1B-86D6-0404493B1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2408238"/>
            <a:ext cx="243840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55" name="Line 71">
            <a:extLst>
              <a:ext uri="{FF2B5EF4-FFF2-40B4-BE49-F238E27FC236}">
                <a16:creationId xmlns:a16="http://schemas.microsoft.com/office/drawing/2014/main" xmlns="" id="{53689380-87BD-4E34-8FDE-1141DB9D7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2800" y="3622675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56" name="Line 72">
            <a:extLst>
              <a:ext uri="{FF2B5EF4-FFF2-40B4-BE49-F238E27FC236}">
                <a16:creationId xmlns:a16="http://schemas.microsoft.com/office/drawing/2014/main" xmlns="" id="{4D7335C7-7F29-4F7F-B6EB-F016F6F370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5200" y="4732338"/>
            <a:ext cx="1792288" cy="7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57" name="Text Box 73">
            <a:extLst>
              <a:ext uri="{FF2B5EF4-FFF2-40B4-BE49-F238E27FC236}">
                <a16:creationId xmlns:a16="http://schemas.microsoft.com/office/drawing/2014/main" xmlns="" id="{9F9EB91D-6468-41B6-B0E4-17580BA72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3563" y="2032000"/>
            <a:ext cx="1252537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Premier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  <a:endParaRPr lang="en-US" altLang="en-US"/>
          </a:p>
        </p:txBody>
      </p:sp>
      <p:sp>
        <p:nvSpPr>
          <p:cNvPr id="16458" name="Text Box 74">
            <a:extLst>
              <a:ext uri="{FF2B5EF4-FFF2-40B4-BE49-F238E27FC236}">
                <a16:creationId xmlns:a16="http://schemas.microsoft.com/office/drawing/2014/main" xmlns="" id="{271FFCB3-B122-469B-99BF-960DDFFD1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7200" y="3254375"/>
            <a:ext cx="1252538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F.F.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</a:p>
        </p:txBody>
      </p:sp>
      <p:sp>
        <p:nvSpPr>
          <p:cNvPr id="16459" name="Text Box 75">
            <a:extLst>
              <a:ext uri="{FF2B5EF4-FFF2-40B4-BE49-F238E27FC236}">
                <a16:creationId xmlns:a16="http://schemas.microsoft.com/office/drawing/2014/main" xmlns="" id="{13DD3999-8E95-47E0-82B8-811AFF196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463" y="4367213"/>
            <a:ext cx="1252537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Regular</a:t>
            </a:r>
          </a:p>
          <a:p>
            <a:pPr algn="ctr"/>
            <a:r>
              <a:rPr lang="en-US" altLang="en-US" sz="1400"/>
              <a:t>Customer</a:t>
            </a:r>
          </a:p>
          <a:p>
            <a:pPr algn="ctr"/>
            <a:r>
              <a:rPr lang="en-US" altLang="en-US" sz="1400"/>
              <a:t>Representative</a:t>
            </a:r>
          </a:p>
        </p:txBody>
      </p:sp>
      <p:sp>
        <p:nvSpPr>
          <p:cNvPr id="16460" name="Line 76">
            <a:extLst>
              <a:ext uri="{FF2B5EF4-FFF2-40B4-BE49-F238E27FC236}">
                <a16:creationId xmlns:a16="http://schemas.microsoft.com/office/drawing/2014/main" xmlns="" id="{1C70C8F5-4040-4D9F-B0F7-ED5B1C5CF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0925" y="2395538"/>
            <a:ext cx="769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61" name="Text Box 77">
            <a:extLst>
              <a:ext uri="{FF2B5EF4-FFF2-40B4-BE49-F238E27FC236}">
                <a16:creationId xmlns:a16="http://schemas.microsoft.com/office/drawing/2014/main" xmlns="" id="{78082110-5EB7-456D-BD6E-5E3413292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3438525"/>
            <a:ext cx="16160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1-800-Frequent</a:t>
            </a:r>
            <a:endParaRPr lang="en-US" altLang="en-US"/>
          </a:p>
        </p:txBody>
      </p:sp>
      <p:sp>
        <p:nvSpPr>
          <p:cNvPr id="16462" name="Line 78">
            <a:extLst>
              <a:ext uri="{FF2B5EF4-FFF2-40B4-BE49-F238E27FC236}">
                <a16:creationId xmlns:a16="http://schemas.microsoft.com/office/drawing/2014/main" xmlns="" id="{236C28FD-3F87-4CDA-8B8F-2C5E43038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9975" y="3636963"/>
            <a:ext cx="668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63" name="Text Box 79">
            <a:extLst>
              <a:ext uri="{FF2B5EF4-FFF2-40B4-BE49-F238E27FC236}">
                <a16:creationId xmlns:a16="http://schemas.microsoft.com/office/drawing/2014/main" xmlns="" id="{9D5757E7-4C1F-4D76-8FAA-1E405BDE5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25" y="4546600"/>
            <a:ext cx="18954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1-800-Reservation</a:t>
            </a:r>
            <a:endParaRPr lang="en-US" altLang="en-US"/>
          </a:p>
        </p:txBody>
      </p:sp>
      <p:sp>
        <p:nvSpPr>
          <p:cNvPr id="16464" name="Line 80">
            <a:extLst>
              <a:ext uri="{FF2B5EF4-FFF2-40B4-BE49-F238E27FC236}">
                <a16:creationId xmlns:a16="http://schemas.microsoft.com/office/drawing/2014/main" xmlns="" id="{8A49BDD6-0C4C-4970-91E7-812968EBF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3" y="4733925"/>
            <a:ext cx="749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59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35" name="Object 27">
            <a:extLst>
              <a:ext uri="{FF2B5EF4-FFF2-40B4-BE49-F238E27FC236}">
                <a16:creationId xmlns:a16="http://schemas.microsoft.com/office/drawing/2014/main" xmlns="" id="{290C42E3-BB6E-4A63-9521-4A126DE82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2063" y="2044700"/>
          <a:ext cx="4086225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Clip" r:id="rId3" imgW="2724120" imgH="1828800" progId="MS_ClipArt_Gallery.2">
                  <p:embed/>
                </p:oleObj>
              </mc:Choice>
              <mc:Fallback>
                <p:oleObj name="Clip" r:id="rId3" imgW="2724120" imgH="182880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2044700"/>
                        <a:ext cx="4086225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0" name="Rectangle 2">
            <a:extLst>
              <a:ext uri="{FF2B5EF4-FFF2-40B4-BE49-F238E27FC236}">
                <a16:creationId xmlns:a16="http://schemas.microsoft.com/office/drawing/2014/main" xmlns="" id="{CC4C0995-7B34-4438-A961-1F6A3A1ED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This </a:t>
            </a:r>
            <a:r>
              <a:rPr lang="en-US" altLang="zh-CN" dirty="0"/>
              <a:t>is NOT</a:t>
            </a:r>
            <a:r>
              <a:rPr lang="en-US" altLang="en-US" dirty="0"/>
              <a:t> the</a:t>
            </a:r>
            <a:br>
              <a:rPr lang="en-US" altLang="en-US" dirty="0"/>
            </a:br>
            <a:r>
              <a:rPr lang="en-US" altLang="en-US" dirty="0"/>
              <a:t>REST Design Pattern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xmlns="" id="{DE81E66C-EA6B-46A3-8F1C-536A9FBB4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1933575"/>
            <a:ext cx="717550" cy="4206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xmlns="" id="{70369184-C41E-438F-83F1-F85C41A19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2647950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Premier Members</a:t>
            </a:r>
            <a:endParaRPr lang="en-US" altLang="en-US"/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xmlns="" id="{BB944FD6-BAD1-4231-A85C-62D10EFB8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3841750"/>
            <a:ext cx="2457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Frequent Flyer Members</a:t>
            </a:r>
            <a:endParaRPr lang="en-US" altLang="en-US"/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xmlns="" id="{A2AF8997-0CCB-4B88-96B9-A3969AED2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502443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Regular Members</a:t>
            </a:r>
            <a:endParaRPr lang="en-US" altLang="en-US"/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xmlns="" id="{DF84D9B5-2CFD-42C2-B09D-116EB733E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3206750"/>
            <a:ext cx="1285875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800"/>
              <a:t>Reservation</a:t>
            </a:r>
          </a:p>
          <a:p>
            <a:pPr algn="ctr"/>
            <a:r>
              <a:rPr lang="en-US" altLang="en-US" sz="1800"/>
              <a:t>Web </a:t>
            </a:r>
          </a:p>
          <a:p>
            <a:pPr algn="ctr"/>
            <a:r>
              <a:rPr lang="en-US" altLang="en-US" sz="1800"/>
              <a:t>Service</a:t>
            </a:r>
            <a:endParaRPr lang="en-US" altLang="en-US"/>
          </a:p>
        </p:txBody>
      </p:sp>
      <p:sp>
        <p:nvSpPr>
          <p:cNvPr id="17416" name="Line 8">
            <a:extLst>
              <a:ext uri="{FF2B5EF4-FFF2-40B4-BE49-F238E27FC236}">
                <a16:creationId xmlns:a16="http://schemas.microsoft.com/office/drawing/2014/main" xmlns="" id="{55BFBCE4-0768-4D2C-89D2-EA92F12F7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4388" y="2546350"/>
            <a:ext cx="2362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Line 9">
            <a:extLst>
              <a:ext uri="{FF2B5EF4-FFF2-40B4-BE49-F238E27FC236}">
                <a16:creationId xmlns:a16="http://schemas.microsoft.com/office/drawing/2014/main" xmlns="" id="{BAB746A0-D648-4D6D-B530-EC088F44DB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06613" y="3613150"/>
            <a:ext cx="2339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Line 10">
            <a:extLst>
              <a:ext uri="{FF2B5EF4-FFF2-40B4-BE49-F238E27FC236}">
                <a16:creationId xmlns:a16="http://schemas.microsoft.com/office/drawing/2014/main" xmlns="" id="{A877E6B6-B972-48D8-B571-E927D55006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0588" y="3841750"/>
            <a:ext cx="2286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Text Box 11">
            <a:extLst>
              <a:ext uri="{FF2B5EF4-FFF2-40B4-BE49-F238E27FC236}">
                <a16:creationId xmlns:a16="http://schemas.microsoft.com/office/drawing/2014/main" xmlns="" id="{233BE9F0-DC55-4F0A-A024-4414A9F48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925" y="3308350"/>
            <a:ext cx="1054100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Determine</a:t>
            </a:r>
          </a:p>
          <a:p>
            <a:pPr algn="ctr"/>
            <a:r>
              <a:rPr lang="en-US" altLang="en-US" sz="1600"/>
              <a:t>Priority</a:t>
            </a:r>
          </a:p>
        </p:txBody>
      </p:sp>
      <p:sp>
        <p:nvSpPr>
          <p:cNvPr id="17420" name="Line 12">
            <a:extLst>
              <a:ext uri="{FF2B5EF4-FFF2-40B4-BE49-F238E27FC236}">
                <a16:creationId xmlns:a16="http://schemas.microsoft.com/office/drawing/2014/main" xmlns="" id="{A40D4DED-D057-4534-B793-8081C120D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8513" y="36131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Text Box 13">
            <a:extLst>
              <a:ext uri="{FF2B5EF4-FFF2-40B4-BE49-F238E27FC236}">
                <a16:creationId xmlns:a16="http://schemas.microsoft.com/office/drawing/2014/main" xmlns="" id="{CB51680D-C73E-4ED7-AC1B-59FDD7C8C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0013" y="2568575"/>
            <a:ext cx="885825" cy="527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Premier</a:t>
            </a:r>
          </a:p>
          <a:p>
            <a:pPr algn="ctr"/>
            <a:r>
              <a:rPr lang="en-US" altLang="en-US" sz="1400"/>
              <a:t>Customer</a:t>
            </a:r>
            <a:endParaRPr lang="en-US" altLang="en-US"/>
          </a:p>
        </p:txBody>
      </p:sp>
      <p:sp>
        <p:nvSpPr>
          <p:cNvPr id="17422" name="Text Box 14">
            <a:extLst>
              <a:ext uri="{FF2B5EF4-FFF2-40B4-BE49-F238E27FC236}">
                <a16:creationId xmlns:a16="http://schemas.microsoft.com/office/drawing/2014/main" xmlns="" id="{A3B9CB96-A52D-4658-BBEA-08DA45E05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350" y="3333750"/>
            <a:ext cx="885825" cy="527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F.F.</a:t>
            </a:r>
          </a:p>
          <a:p>
            <a:pPr algn="ctr"/>
            <a:r>
              <a:rPr lang="en-US" altLang="en-US" sz="1400"/>
              <a:t>Customer</a:t>
            </a:r>
          </a:p>
        </p:txBody>
      </p:sp>
      <p:sp>
        <p:nvSpPr>
          <p:cNvPr id="17423" name="Text Box 15">
            <a:extLst>
              <a:ext uri="{FF2B5EF4-FFF2-40B4-BE49-F238E27FC236}">
                <a16:creationId xmlns:a16="http://schemas.microsoft.com/office/drawing/2014/main" xmlns="" id="{B341D59A-CF08-4BCE-A633-2A822046E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0013" y="4103688"/>
            <a:ext cx="885825" cy="527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400"/>
              <a:t>Regular</a:t>
            </a:r>
          </a:p>
          <a:p>
            <a:pPr algn="ctr"/>
            <a:r>
              <a:rPr lang="en-US" altLang="en-US" sz="1400"/>
              <a:t>Customer</a:t>
            </a:r>
          </a:p>
        </p:txBody>
      </p:sp>
      <p:sp>
        <p:nvSpPr>
          <p:cNvPr id="17424" name="Line 16">
            <a:extLst>
              <a:ext uri="{FF2B5EF4-FFF2-40B4-BE49-F238E27FC236}">
                <a16:creationId xmlns:a16="http://schemas.microsoft.com/office/drawing/2014/main" xmlns="" id="{D2044300-B3EF-47C2-AD92-748EED31AC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6313" y="285115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Line 17">
            <a:extLst>
              <a:ext uri="{FF2B5EF4-FFF2-40B4-BE49-F238E27FC236}">
                <a16:creationId xmlns:a16="http://schemas.microsoft.com/office/drawing/2014/main" xmlns="" id="{5CFE048B-47F8-4BE7-98CD-91FEA442F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6313" y="36131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18">
            <a:extLst>
              <a:ext uri="{FF2B5EF4-FFF2-40B4-BE49-F238E27FC236}">
                <a16:creationId xmlns:a16="http://schemas.microsoft.com/office/drawing/2014/main" xmlns="" id="{4C37EBFF-B7BA-4256-877B-234264722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6313" y="3613150"/>
            <a:ext cx="381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Rectangle 19">
            <a:extLst>
              <a:ext uri="{FF2B5EF4-FFF2-40B4-BE49-F238E27FC236}">
                <a16:creationId xmlns:a16="http://schemas.microsoft.com/office/drawing/2014/main" xmlns="" id="{60598E96-F7B0-4FFE-9190-12262B158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88" y="2098675"/>
            <a:ext cx="717550" cy="4206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8" name="Rectangle 20">
            <a:extLst>
              <a:ext uri="{FF2B5EF4-FFF2-40B4-BE49-F238E27FC236}">
                <a16:creationId xmlns:a16="http://schemas.microsoft.com/office/drawing/2014/main" xmlns="" id="{03252684-4445-44AC-903F-3304713B1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8" y="2263775"/>
            <a:ext cx="717550" cy="4206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17429" name="Rectangle 21">
            <a:extLst>
              <a:ext uri="{FF2B5EF4-FFF2-40B4-BE49-F238E27FC236}">
                <a16:creationId xmlns:a16="http://schemas.microsoft.com/office/drawing/2014/main" xmlns="" id="{2425F177-A419-43BC-AB11-0B0274667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127375"/>
            <a:ext cx="717550" cy="4206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Rectangle 22">
            <a:extLst>
              <a:ext uri="{FF2B5EF4-FFF2-40B4-BE49-F238E27FC236}">
                <a16:creationId xmlns:a16="http://schemas.microsoft.com/office/drawing/2014/main" xmlns="" id="{372B6ACA-D872-40E4-86D6-701EBD75D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3292475"/>
            <a:ext cx="717550" cy="4206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Rectangle 23">
            <a:extLst>
              <a:ext uri="{FF2B5EF4-FFF2-40B4-BE49-F238E27FC236}">
                <a16:creationId xmlns:a16="http://schemas.microsoft.com/office/drawing/2014/main" xmlns="" id="{6D100D77-9A47-4C1B-96E9-2807BF422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88" y="3457575"/>
            <a:ext cx="717550" cy="4206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17432" name="Rectangle 24">
            <a:extLst>
              <a:ext uri="{FF2B5EF4-FFF2-40B4-BE49-F238E27FC236}">
                <a16:creationId xmlns:a16="http://schemas.microsoft.com/office/drawing/2014/main" xmlns="" id="{40D803C4-2E1C-438A-8D5F-24DE7C9EC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4295775"/>
            <a:ext cx="717550" cy="4206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3" name="Rectangle 25">
            <a:extLst>
              <a:ext uri="{FF2B5EF4-FFF2-40B4-BE49-F238E27FC236}">
                <a16:creationId xmlns:a16="http://schemas.microsoft.com/office/drawing/2014/main" xmlns="" id="{60B97ECC-6CE8-4A33-AB81-CE857270B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4460875"/>
            <a:ext cx="717550" cy="4206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4" name="Rectangle 26">
            <a:extLst>
              <a:ext uri="{FF2B5EF4-FFF2-40B4-BE49-F238E27FC236}">
                <a16:creationId xmlns:a16="http://schemas.microsoft.com/office/drawing/2014/main" xmlns="" id="{C71D66E8-BF38-49C9-A933-1CACEA2FE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88" y="4625975"/>
            <a:ext cx="717550" cy="4206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511896C2-FB1E-4200-9533-F9FD575D0482}"/>
              </a:ext>
            </a:extLst>
          </p:cNvPr>
          <p:cNvSpPr txBox="1"/>
          <p:nvPr/>
        </p:nvSpPr>
        <p:spPr>
          <a:xfrm>
            <a:off x="2316112" y="5665786"/>
            <a:ext cx="5437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 to </a:t>
            </a:r>
            <a:r>
              <a:rPr lang="en-US" altLang="zh-CN" dirty="0"/>
              <a:t>SOAP, clients access the same entry</a:t>
            </a:r>
            <a:r>
              <a:rPr lang="zh-CN" altLang="en-US" dirty="0"/>
              <a:t> </a:t>
            </a:r>
            <a:r>
              <a:rPr lang="en-US" altLang="zh-CN" dirty="0"/>
              <a:t>point, then make differences by calling different methods.</a:t>
            </a:r>
          </a:p>
        </p:txBody>
      </p:sp>
    </p:spTree>
    <p:extLst>
      <p:ext uri="{BB962C8B-B14F-4D97-AF65-F5344CB8AC3E}">
        <p14:creationId xmlns:p14="http://schemas.microsoft.com/office/powerpoint/2010/main" val="1921174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62" name="Object 30">
            <a:extLst>
              <a:ext uri="{FF2B5EF4-FFF2-40B4-BE49-F238E27FC236}">
                <a16:creationId xmlns:a16="http://schemas.microsoft.com/office/drawing/2014/main" xmlns="" id="{E4E2A375-C592-4E48-9817-2FB690B66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1063" y="2185988"/>
          <a:ext cx="2257425" cy="332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Clip" r:id="rId3" imgW="2247480" imgH="3306240" progId="MS_ClipArt_Gallery.2">
                  <p:embed/>
                </p:oleObj>
              </mc:Choice>
              <mc:Fallback>
                <p:oleObj name="Clip" r:id="rId3" imgW="2247480" imgH="330624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2185988"/>
                        <a:ext cx="2257425" cy="332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4" name="Rectangle 2">
            <a:extLst>
              <a:ext uri="{FF2B5EF4-FFF2-40B4-BE49-F238E27FC236}">
                <a16:creationId xmlns:a16="http://schemas.microsoft.com/office/drawing/2014/main" xmlns="" id="{0B4C0563-8EB4-4F4C-AD3F-8BC705607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413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This is the</a:t>
            </a:r>
            <a:br>
              <a:rPr lang="en-US" altLang="en-US"/>
            </a:br>
            <a:r>
              <a:rPr lang="en-US" altLang="en-US"/>
              <a:t>REST Design Pattern</a:t>
            </a:r>
          </a:p>
        </p:txBody>
      </p:sp>
      <p:sp>
        <p:nvSpPr>
          <p:cNvPr id="18463" name="Text Box 31">
            <a:extLst>
              <a:ext uri="{FF2B5EF4-FFF2-40B4-BE49-F238E27FC236}">
                <a16:creationId xmlns:a16="http://schemas.microsoft.com/office/drawing/2014/main" xmlns="" id="{9F435C13-29DF-4212-A3ED-9C4E417C4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237013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Premier Members</a:t>
            </a:r>
            <a:endParaRPr lang="en-US" altLang="en-US"/>
          </a:p>
        </p:txBody>
      </p:sp>
      <p:sp>
        <p:nvSpPr>
          <p:cNvPr id="18464" name="Text Box 32">
            <a:extLst>
              <a:ext uri="{FF2B5EF4-FFF2-40B4-BE49-F238E27FC236}">
                <a16:creationId xmlns:a16="http://schemas.microsoft.com/office/drawing/2014/main" xmlns="" id="{DF71B014-BCED-4DBF-AEA7-43A6A0205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3792538"/>
            <a:ext cx="2457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Frequent Flyer Members</a:t>
            </a:r>
            <a:endParaRPr lang="en-US" altLang="en-US"/>
          </a:p>
        </p:txBody>
      </p:sp>
      <p:sp>
        <p:nvSpPr>
          <p:cNvPr id="18465" name="Text Box 33">
            <a:extLst>
              <a:ext uri="{FF2B5EF4-FFF2-40B4-BE49-F238E27FC236}">
                <a16:creationId xmlns:a16="http://schemas.microsoft.com/office/drawing/2014/main" xmlns="" id="{39F40265-5D29-4B70-97FB-4A50AF809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200" y="5254625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Regular Members</a:t>
            </a:r>
            <a:endParaRPr lang="en-US" altLang="en-US"/>
          </a:p>
        </p:txBody>
      </p:sp>
      <p:sp>
        <p:nvSpPr>
          <p:cNvPr id="18466" name="Line 34">
            <a:extLst>
              <a:ext uri="{FF2B5EF4-FFF2-40B4-BE49-F238E27FC236}">
                <a16:creationId xmlns:a16="http://schemas.microsoft.com/office/drawing/2014/main" xmlns="" id="{EB30B278-A701-47D8-8A28-0C2F25BE5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3375" y="2070100"/>
            <a:ext cx="3292475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7" name="Line 35">
            <a:extLst>
              <a:ext uri="{FF2B5EF4-FFF2-40B4-BE49-F238E27FC236}">
                <a16:creationId xmlns:a16="http://schemas.microsoft.com/office/drawing/2014/main" xmlns="" id="{B92A62F5-A1A6-4D8B-B903-3139DA20DE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6388" y="3525838"/>
            <a:ext cx="33305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8" name="Line 36">
            <a:extLst>
              <a:ext uri="{FF2B5EF4-FFF2-40B4-BE49-F238E27FC236}">
                <a16:creationId xmlns:a16="http://schemas.microsoft.com/office/drawing/2014/main" xmlns="" id="{0AC9C82E-0CC4-4A65-897C-23E12C4B2D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3063" y="4902200"/>
            <a:ext cx="3286125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9" name="Rectangle 37">
            <a:extLst>
              <a:ext uri="{FF2B5EF4-FFF2-40B4-BE49-F238E27FC236}">
                <a16:creationId xmlns:a16="http://schemas.microsoft.com/office/drawing/2014/main" xmlns="" id="{7FFA6641-4415-4820-986D-F990569D5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16684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0" name="Rectangle 38">
            <a:extLst>
              <a:ext uri="{FF2B5EF4-FFF2-40B4-BE49-F238E27FC236}">
                <a16:creationId xmlns:a16="http://schemas.microsoft.com/office/drawing/2014/main" xmlns="" id="{1C49C8BF-987F-43D6-A6A2-8A95811E8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00" y="18335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1" name="Rectangle 39">
            <a:extLst>
              <a:ext uri="{FF2B5EF4-FFF2-40B4-BE49-F238E27FC236}">
                <a16:creationId xmlns:a16="http://schemas.microsoft.com/office/drawing/2014/main" xmlns="" id="{C97DDA64-301B-411B-BE49-11B4C15A3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19986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18472" name="Rectangle 40">
            <a:extLst>
              <a:ext uri="{FF2B5EF4-FFF2-40B4-BE49-F238E27FC236}">
                <a16:creationId xmlns:a16="http://schemas.microsoft.com/office/drawing/2014/main" xmlns="" id="{EB04FE23-AFDE-45E4-B0C2-3B8ADC490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31035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3" name="Rectangle 41">
            <a:extLst>
              <a:ext uri="{FF2B5EF4-FFF2-40B4-BE49-F238E27FC236}">
                <a16:creationId xmlns:a16="http://schemas.microsoft.com/office/drawing/2014/main" xmlns="" id="{4A637B74-C0BF-4D9F-9316-25204B259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00" y="32686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4" name="Rectangle 42">
            <a:extLst>
              <a:ext uri="{FF2B5EF4-FFF2-40B4-BE49-F238E27FC236}">
                <a16:creationId xmlns:a16="http://schemas.microsoft.com/office/drawing/2014/main" xmlns="" id="{D22E5290-16A2-4702-A098-2F6BF44F8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34337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18475" name="Rectangle 43">
            <a:extLst>
              <a:ext uri="{FF2B5EF4-FFF2-40B4-BE49-F238E27FC236}">
                <a16:creationId xmlns:a16="http://schemas.microsoft.com/office/drawing/2014/main" xmlns="" id="{7450BC19-473B-49FA-8B3C-8E718A198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45513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6" name="Rectangle 44">
            <a:extLst>
              <a:ext uri="{FF2B5EF4-FFF2-40B4-BE49-F238E27FC236}">
                <a16:creationId xmlns:a16="http://schemas.microsoft.com/office/drawing/2014/main" xmlns="" id="{7F0D67B7-412C-4F18-9641-ABEB214A2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7164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7" name="Rectangle 45">
            <a:extLst>
              <a:ext uri="{FF2B5EF4-FFF2-40B4-BE49-F238E27FC236}">
                <a16:creationId xmlns:a16="http://schemas.microsoft.com/office/drawing/2014/main" xmlns="" id="{AE39C956-44A3-4FF6-937E-9F9B4B5FD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00" y="4881563"/>
            <a:ext cx="717550" cy="4206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/>
              <a:t>client</a:t>
            </a:r>
            <a:endParaRPr lang="en-US" altLang="en-US"/>
          </a:p>
        </p:txBody>
      </p:sp>
      <p:sp>
        <p:nvSpPr>
          <p:cNvPr id="18478" name="Text Box 46">
            <a:extLst>
              <a:ext uri="{FF2B5EF4-FFF2-40B4-BE49-F238E27FC236}">
                <a16:creationId xmlns:a16="http://schemas.microsoft.com/office/drawing/2014/main" xmlns="" id="{CE307917-1814-45EB-9898-BAE0416F8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1819275"/>
            <a:ext cx="276066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http://www.kings-air/reservations/premier</a:t>
            </a:r>
            <a:endParaRPr lang="en-US" altLang="en-US" sz="1800"/>
          </a:p>
        </p:txBody>
      </p:sp>
      <p:sp>
        <p:nvSpPr>
          <p:cNvPr id="18479" name="Text Box 47">
            <a:extLst>
              <a:ext uri="{FF2B5EF4-FFF2-40B4-BE49-F238E27FC236}">
                <a16:creationId xmlns:a16="http://schemas.microsoft.com/office/drawing/2014/main" xmlns="" id="{886E8208-B841-4BC8-8E0D-F66A0AD2F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5763" y="3278188"/>
            <a:ext cx="31337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http://www.kings-air/reservations/frequent-flyer</a:t>
            </a:r>
            <a:endParaRPr lang="en-US" altLang="en-US" sz="1800"/>
          </a:p>
        </p:txBody>
      </p:sp>
      <p:sp>
        <p:nvSpPr>
          <p:cNvPr id="18480" name="Text Box 48">
            <a:extLst>
              <a:ext uri="{FF2B5EF4-FFF2-40B4-BE49-F238E27FC236}">
                <a16:creationId xmlns:a16="http://schemas.microsoft.com/office/drawing/2014/main" xmlns="" id="{DDADAB01-718C-4D8F-AE06-34FF81CA0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4657725"/>
            <a:ext cx="271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http://www.kings-air/reservations/regular</a:t>
            </a:r>
            <a:endParaRPr lang="en-US" altLang="en-US" sz="1800"/>
          </a:p>
        </p:txBody>
      </p:sp>
      <p:sp>
        <p:nvSpPr>
          <p:cNvPr id="18481" name="Oval 49">
            <a:extLst>
              <a:ext uri="{FF2B5EF4-FFF2-40B4-BE49-F238E27FC236}">
                <a16:creationId xmlns:a16="http://schemas.microsoft.com/office/drawing/2014/main" xmlns="" id="{E54A5692-F964-444E-83F1-F257ADCCC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1476375"/>
            <a:ext cx="1211262" cy="1189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82" name="Text Box 50">
            <a:extLst>
              <a:ext uri="{FF2B5EF4-FFF2-40B4-BE49-F238E27FC236}">
                <a16:creationId xmlns:a16="http://schemas.microsoft.com/office/drawing/2014/main" xmlns="" id="{92AAB71D-260F-4F51-8815-06AFB3912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1577975"/>
            <a:ext cx="1157287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Premier</a:t>
            </a:r>
          </a:p>
          <a:p>
            <a:pPr algn="ctr"/>
            <a:r>
              <a:rPr lang="en-US" altLang="en-US" sz="1600"/>
              <a:t>Member</a:t>
            </a:r>
          </a:p>
          <a:p>
            <a:pPr algn="ctr"/>
            <a:r>
              <a:rPr lang="en-US" altLang="en-US" sz="1600"/>
              <a:t>Reservation</a:t>
            </a:r>
          </a:p>
          <a:p>
            <a:pPr algn="ctr"/>
            <a:r>
              <a:rPr lang="en-US" altLang="en-US" sz="1600"/>
              <a:t>Service</a:t>
            </a:r>
          </a:p>
        </p:txBody>
      </p:sp>
      <p:sp>
        <p:nvSpPr>
          <p:cNvPr id="18483" name="Oval 51">
            <a:extLst>
              <a:ext uri="{FF2B5EF4-FFF2-40B4-BE49-F238E27FC236}">
                <a16:creationId xmlns:a16="http://schemas.microsoft.com/office/drawing/2014/main" xmlns="" id="{B1137C47-6769-4DB8-8975-54CA97D08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898775"/>
            <a:ext cx="1211262" cy="1189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84" name="Text Box 52">
            <a:extLst>
              <a:ext uri="{FF2B5EF4-FFF2-40B4-BE49-F238E27FC236}">
                <a16:creationId xmlns:a16="http://schemas.microsoft.com/office/drawing/2014/main" xmlns="" id="{593E15A5-9B20-46CE-9E05-D3CBA6400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3000375"/>
            <a:ext cx="1157287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Frequent</a:t>
            </a:r>
          </a:p>
          <a:p>
            <a:pPr algn="ctr"/>
            <a:r>
              <a:rPr lang="en-US" altLang="en-US" sz="1600"/>
              <a:t>Flyer</a:t>
            </a:r>
          </a:p>
          <a:p>
            <a:pPr algn="ctr"/>
            <a:r>
              <a:rPr lang="en-US" altLang="en-US" sz="1600"/>
              <a:t>Reservation</a:t>
            </a:r>
          </a:p>
          <a:p>
            <a:pPr algn="ctr"/>
            <a:r>
              <a:rPr lang="en-US" altLang="en-US" sz="1600"/>
              <a:t>Service</a:t>
            </a:r>
          </a:p>
        </p:txBody>
      </p:sp>
      <p:sp>
        <p:nvSpPr>
          <p:cNvPr id="18485" name="Oval 53">
            <a:extLst>
              <a:ext uri="{FF2B5EF4-FFF2-40B4-BE49-F238E27FC236}">
                <a16:creationId xmlns:a16="http://schemas.microsoft.com/office/drawing/2014/main" xmlns="" id="{E13862C8-9925-4CE9-83D6-02A293593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4295775"/>
            <a:ext cx="1211262" cy="1189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86" name="Text Box 54">
            <a:extLst>
              <a:ext uri="{FF2B5EF4-FFF2-40B4-BE49-F238E27FC236}">
                <a16:creationId xmlns:a16="http://schemas.microsoft.com/office/drawing/2014/main" xmlns="" id="{6B8C9C3B-31DA-4E99-B6AA-C47AFAF58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4397375"/>
            <a:ext cx="1157287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600"/>
              <a:t>Regular</a:t>
            </a:r>
          </a:p>
          <a:p>
            <a:pPr algn="ctr"/>
            <a:r>
              <a:rPr lang="en-US" altLang="en-US" sz="1600"/>
              <a:t>Member</a:t>
            </a:r>
          </a:p>
          <a:p>
            <a:pPr algn="ctr"/>
            <a:r>
              <a:rPr lang="en-US" altLang="en-US" sz="1600"/>
              <a:t>Reservation</a:t>
            </a:r>
          </a:p>
          <a:p>
            <a:pPr algn="ctr"/>
            <a:r>
              <a:rPr lang="en-US" altLang="en-US" sz="160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1755575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763</Words>
  <Application>Microsoft Macintosh PowerPoint</Application>
  <PresentationFormat>On-screen Show (4:3)</PresentationFormat>
  <Paragraphs>182</Paragraphs>
  <Slides>15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Calibri Light</vt:lpstr>
      <vt:lpstr>等线</vt:lpstr>
      <vt:lpstr>等线 Light</vt:lpstr>
      <vt:lpstr>Arial</vt:lpstr>
      <vt:lpstr>Office Theme</vt:lpstr>
      <vt:lpstr>Clip</vt:lpstr>
      <vt:lpstr>Discussion  - Example: Airline Reservation Service</vt:lpstr>
      <vt:lpstr>Question</vt:lpstr>
      <vt:lpstr>Approach 1 "Press 1 for Premier, Press 2 for…"</vt:lpstr>
      <vt:lpstr>Approach 2 Telephone Numbers are Cheap! Use Them!</vt:lpstr>
      <vt:lpstr>Discussion</vt:lpstr>
      <vt:lpstr>Web-Based Reservation Service</vt:lpstr>
      <vt:lpstr>Approach 1 One-Stop Shopping</vt:lpstr>
      <vt:lpstr>Approach 1 Disadvantages</vt:lpstr>
      <vt:lpstr>Approach 2:  URLs are Cheap!  Use Them!</vt:lpstr>
      <vt:lpstr>Approach 2 Advantages</vt:lpstr>
      <vt:lpstr>Recap</vt:lpstr>
      <vt:lpstr>This is NOT the  REST Design Pattern</vt:lpstr>
      <vt:lpstr>This is the  REST Design Pattern</vt:lpstr>
      <vt:lpstr>This is NOT the REST Design Pattern</vt:lpstr>
      <vt:lpstr>This is the REST Design Pattern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SOAP and REST</dc:title>
  <dc:creator>Xiang Cao</dc:creator>
  <cp:lastModifiedBy>Microsoft Office User</cp:lastModifiedBy>
  <cp:revision>66</cp:revision>
  <cp:lastPrinted>2019-10-24T15:44:45Z</cp:lastPrinted>
  <dcterms:created xsi:type="dcterms:W3CDTF">2019-03-10T00:45:45Z</dcterms:created>
  <dcterms:modified xsi:type="dcterms:W3CDTF">2019-10-24T15:45:06Z</dcterms:modified>
</cp:coreProperties>
</file>