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1"/>
  </p:notesMasterIdLst>
  <p:sldIdLst>
    <p:sldId id="256" r:id="rId2"/>
    <p:sldId id="303" r:id="rId3"/>
    <p:sldId id="305" r:id="rId4"/>
    <p:sldId id="306" r:id="rId5"/>
    <p:sldId id="315" r:id="rId6"/>
    <p:sldId id="317" r:id="rId7"/>
    <p:sldId id="287" r:id="rId8"/>
    <p:sldId id="267" r:id="rId9"/>
    <p:sldId id="272" r:id="rId10"/>
    <p:sldId id="258" r:id="rId11"/>
    <p:sldId id="261" r:id="rId12"/>
    <p:sldId id="270" r:id="rId13"/>
    <p:sldId id="292" r:id="rId14"/>
    <p:sldId id="273" r:id="rId15"/>
    <p:sldId id="274" r:id="rId16"/>
    <p:sldId id="275" r:id="rId17"/>
    <p:sldId id="318" r:id="rId18"/>
    <p:sldId id="265" r:id="rId19"/>
    <p:sldId id="319" r:id="rId20"/>
    <p:sldId id="320" r:id="rId21"/>
    <p:sldId id="278" r:id="rId22"/>
    <p:sldId id="324" r:id="rId23"/>
    <p:sldId id="325" r:id="rId24"/>
    <p:sldId id="307" r:id="rId25"/>
    <p:sldId id="334" r:id="rId26"/>
    <p:sldId id="311" r:id="rId27"/>
    <p:sldId id="331" r:id="rId28"/>
    <p:sldId id="333" r:id="rId29"/>
    <p:sldId id="314" r:id="rId30"/>
    <p:sldId id="335" r:id="rId31"/>
    <p:sldId id="336" r:id="rId32"/>
    <p:sldId id="337" r:id="rId33"/>
    <p:sldId id="338" r:id="rId34"/>
    <p:sldId id="339" r:id="rId35"/>
    <p:sldId id="340" r:id="rId36"/>
    <p:sldId id="341" r:id="rId37"/>
    <p:sldId id="342" r:id="rId38"/>
    <p:sldId id="343" r:id="rId39"/>
    <p:sldId id="362" r:id="rId40"/>
    <p:sldId id="344" r:id="rId41"/>
    <p:sldId id="345" r:id="rId42"/>
    <p:sldId id="346" r:id="rId43"/>
    <p:sldId id="347" r:id="rId44"/>
    <p:sldId id="348" r:id="rId45"/>
    <p:sldId id="349" r:id="rId46"/>
    <p:sldId id="350" r:id="rId47"/>
    <p:sldId id="351" r:id="rId48"/>
    <p:sldId id="352" r:id="rId49"/>
    <p:sldId id="353" r:id="rId50"/>
    <p:sldId id="260" r:id="rId51"/>
    <p:sldId id="354" r:id="rId52"/>
    <p:sldId id="355" r:id="rId53"/>
    <p:sldId id="356" r:id="rId54"/>
    <p:sldId id="357" r:id="rId55"/>
    <p:sldId id="358" r:id="rId56"/>
    <p:sldId id="359" r:id="rId57"/>
    <p:sldId id="360" r:id="rId58"/>
    <p:sldId id="361" r:id="rId59"/>
    <p:sldId id="363" r:id="rId6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94" autoAdjust="0"/>
    <p:restoredTop sz="92376" autoAdjust="0"/>
  </p:normalViewPr>
  <p:slideViewPr>
    <p:cSldViewPr snapToGrid="0">
      <p:cViewPr varScale="1">
        <p:scale>
          <a:sx n="89" d="100"/>
          <a:sy n="89" d="100"/>
        </p:scale>
        <p:origin x="1904"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DFCF32-FEAA-4B47-9160-DDA3997D0985}" type="datetimeFigureOut">
              <a:rPr lang="en-US" smtClean="0"/>
              <a:t>10/18/25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A731C2-BFDB-466D-A87E-C717F4A5B352}" type="slidenum">
              <a:rPr lang="en-US" smtClean="0"/>
              <a:t>‹#›</a:t>
            </a:fld>
            <a:endParaRPr lang="en-US"/>
          </a:p>
        </p:txBody>
      </p:sp>
    </p:spTree>
    <p:extLst>
      <p:ext uri="{BB962C8B-B14F-4D97-AF65-F5344CB8AC3E}">
        <p14:creationId xmlns:p14="http://schemas.microsoft.com/office/powerpoint/2010/main" val="3407337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Image Placeholder 1">
            <a:extLst>
              <a:ext uri="{FF2B5EF4-FFF2-40B4-BE49-F238E27FC236}">
                <a16:creationId xmlns:a16="http://schemas.microsoft.com/office/drawing/2014/main" id="{997E2F2A-C3D8-401F-80EE-A5208F4D1B1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2" name="Notes Placeholder 2">
            <a:extLst>
              <a:ext uri="{FF2B5EF4-FFF2-40B4-BE49-F238E27FC236}">
                <a16:creationId xmlns:a16="http://schemas.microsoft.com/office/drawing/2014/main" id="{3033CC2E-C4DE-40C5-A32E-0B6FAAC9846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ea typeface="ＭＳ Ｐゴシック" panose="020B0600070205080204" pitchFamily="34" charset="-128"/>
            </a:endParaRPr>
          </a:p>
        </p:txBody>
      </p:sp>
      <p:sp>
        <p:nvSpPr>
          <p:cNvPr id="61443" name="Slide Number Placeholder 3">
            <a:extLst>
              <a:ext uri="{FF2B5EF4-FFF2-40B4-BE49-F238E27FC236}">
                <a16:creationId xmlns:a16="http://schemas.microsoft.com/office/drawing/2014/main" id="{B61654D7-44D8-4088-8DDE-33195A058D2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54B9DB4C-4717-495A-B43E-DBC3676FF837}" type="slidenum">
              <a:rPr lang="en-US" altLang="en-US" smtClean="0"/>
              <a:pPr/>
              <a:t>2</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a:extLst>
              <a:ext uri="{FF2B5EF4-FFF2-40B4-BE49-F238E27FC236}">
                <a16:creationId xmlns:a16="http://schemas.microsoft.com/office/drawing/2014/main" id="{85F1BF21-602E-4F1A-AFD6-2F1A8738603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DD502901-0C5F-4FF8-A4E5-759D796122F4}" type="slidenum">
              <a:rPr lang="en-US" altLang="en-US" smtClean="0">
                <a:latin typeface="Arial" panose="020B0604020202020204" pitchFamily="34" charset="0"/>
              </a:rPr>
              <a:pPr>
                <a:spcBef>
                  <a:spcPct val="0"/>
                </a:spcBef>
              </a:pPr>
              <a:t>3</a:t>
            </a:fld>
            <a:endParaRPr lang="en-US" altLang="en-US">
              <a:latin typeface="Arial" panose="020B0604020202020204" pitchFamily="34" charset="0"/>
            </a:endParaRPr>
          </a:p>
        </p:txBody>
      </p:sp>
      <p:sp>
        <p:nvSpPr>
          <p:cNvPr id="33794" name="Rectangle 2">
            <a:extLst>
              <a:ext uri="{FF2B5EF4-FFF2-40B4-BE49-F238E27FC236}">
                <a16:creationId xmlns:a16="http://schemas.microsoft.com/office/drawing/2014/main" id="{F810E85C-7E9B-4CF3-ACFE-BC1EA3A6B28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Rectangle 3">
            <a:extLst>
              <a:ext uri="{FF2B5EF4-FFF2-40B4-BE49-F238E27FC236}">
                <a16:creationId xmlns:a16="http://schemas.microsoft.com/office/drawing/2014/main" id="{9AA45A01-0741-48AE-9778-29D79F2E58D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z="1800">
                <a:latin typeface="TrebuchetMS" charset="0"/>
                <a:ea typeface="ＭＳ Ｐゴシック" panose="020B0600070205080204" pitchFamily="34" charset="-128"/>
              </a:rPr>
              <a:t>They represent the convergence between a service-oriented architecture and the Web</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a:extLst>
              <a:ext uri="{FF2B5EF4-FFF2-40B4-BE49-F238E27FC236}">
                <a16:creationId xmlns:a16="http://schemas.microsoft.com/office/drawing/2014/main" id="{D77252A2-0D57-4936-AAF3-BB21C91FDBE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4" name="Notes Placeholder 2">
            <a:extLst>
              <a:ext uri="{FF2B5EF4-FFF2-40B4-BE49-F238E27FC236}">
                <a16:creationId xmlns:a16="http://schemas.microsoft.com/office/drawing/2014/main" id="{B3F77058-34CE-4274-B6F0-FE2F7328B94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23555" name="Slide Number Placeholder 3">
            <a:extLst>
              <a:ext uri="{FF2B5EF4-FFF2-40B4-BE49-F238E27FC236}">
                <a16:creationId xmlns:a16="http://schemas.microsoft.com/office/drawing/2014/main" id="{1610B582-6BFC-409B-8335-1BFA43832E4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ea typeface="MS PGothic" panose="020B0600070205080204" pitchFamily="34" charset="-128"/>
              </a:defRPr>
            </a:lvl1pPr>
            <a:lvl2pPr marL="742950" indent="-285750">
              <a:defRPr>
                <a:solidFill>
                  <a:schemeClr val="tx1"/>
                </a:solidFill>
                <a:latin typeface="Tahoma" panose="020B0604030504040204" pitchFamily="34" charset="0"/>
                <a:ea typeface="MS PGothic" panose="020B0600070205080204" pitchFamily="34" charset="-128"/>
              </a:defRPr>
            </a:lvl2pPr>
            <a:lvl3pPr marL="1143000" indent="-228600">
              <a:defRPr>
                <a:solidFill>
                  <a:schemeClr val="tx1"/>
                </a:solidFill>
                <a:latin typeface="Tahoma" panose="020B0604030504040204" pitchFamily="34" charset="0"/>
                <a:ea typeface="MS PGothic" panose="020B0600070205080204" pitchFamily="34" charset="-128"/>
              </a:defRPr>
            </a:lvl3pPr>
            <a:lvl4pPr marL="1600200" indent="-228600">
              <a:defRPr>
                <a:solidFill>
                  <a:schemeClr val="tx1"/>
                </a:solidFill>
                <a:latin typeface="Tahoma" panose="020B0604030504040204" pitchFamily="34" charset="0"/>
                <a:ea typeface="MS PGothic" panose="020B0600070205080204" pitchFamily="34" charset="-128"/>
              </a:defRPr>
            </a:lvl4pPr>
            <a:lvl5pPr marL="2057400" indent="-228600">
              <a:defRPr>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9pPr>
          </a:lstStyle>
          <a:p>
            <a:fld id="{D6FE0ADA-632A-4B23-B5F1-FAC7ED3F5DBB}" type="slidenum">
              <a:rPr lang="en-US" altLang="en-US"/>
              <a:pPr/>
              <a:t>8</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Image Placeholder 1">
            <a:extLst>
              <a:ext uri="{FF2B5EF4-FFF2-40B4-BE49-F238E27FC236}">
                <a16:creationId xmlns:a16="http://schemas.microsoft.com/office/drawing/2014/main" id="{171E9C8E-622B-4020-9E57-6EE61B0BA08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0" name="Notes Placeholder 2">
            <a:extLst>
              <a:ext uri="{FF2B5EF4-FFF2-40B4-BE49-F238E27FC236}">
                <a16:creationId xmlns:a16="http://schemas.microsoft.com/office/drawing/2014/main" id="{EB88FD33-F507-4B79-9B32-C57AA9DD0DF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27651" name="Slide Number Placeholder 3">
            <a:extLst>
              <a:ext uri="{FF2B5EF4-FFF2-40B4-BE49-F238E27FC236}">
                <a16:creationId xmlns:a16="http://schemas.microsoft.com/office/drawing/2014/main" id="{A9440214-102C-43DA-9CEB-24170441DF0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ea typeface="MS PGothic" panose="020B0600070205080204" pitchFamily="34" charset="-128"/>
              </a:defRPr>
            </a:lvl1pPr>
            <a:lvl2pPr marL="742950" indent="-285750">
              <a:defRPr>
                <a:solidFill>
                  <a:schemeClr val="tx1"/>
                </a:solidFill>
                <a:latin typeface="Tahoma" panose="020B0604030504040204" pitchFamily="34" charset="0"/>
                <a:ea typeface="MS PGothic" panose="020B0600070205080204" pitchFamily="34" charset="-128"/>
              </a:defRPr>
            </a:lvl2pPr>
            <a:lvl3pPr marL="1143000" indent="-228600">
              <a:defRPr>
                <a:solidFill>
                  <a:schemeClr val="tx1"/>
                </a:solidFill>
                <a:latin typeface="Tahoma" panose="020B0604030504040204" pitchFamily="34" charset="0"/>
                <a:ea typeface="MS PGothic" panose="020B0600070205080204" pitchFamily="34" charset="-128"/>
              </a:defRPr>
            </a:lvl3pPr>
            <a:lvl4pPr marL="1600200" indent="-228600">
              <a:defRPr>
                <a:solidFill>
                  <a:schemeClr val="tx1"/>
                </a:solidFill>
                <a:latin typeface="Tahoma" panose="020B0604030504040204" pitchFamily="34" charset="0"/>
                <a:ea typeface="MS PGothic" panose="020B0600070205080204" pitchFamily="34" charset="-128"/>
              </a:defRPr>
            </a:lvl4pPr>
            <a:lvl5pPr marL="2057400" indent="-228600">
              <a:defRPr>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9pPr>
          </a:lstStyle>
          <a:p>
            <a:fld id="{39A90D2F-7EB8-4337-9155-7A44719813E6}" type="slidenum">
              <a:rPr lang="en-US" altLang="en-US"/>
              <a:pPr/>
              <a:t>11</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2342ABA-CB55-4675-93F4-521D72A1D5DB}"/>
              </a:ext>
            </a:extLst>
          </p:cNvPr>
          <p:cNvSpPr>
            <a:spLocks noGrp="1" noChangeArrowheads="1"/>
          </p:cNvSpPr>
          <p:nvPr>
            <p:ph type="sldNum" sz="quarter" idx="5"/>
          </p:nvPr>
        </p:nvSpPr>
        <p:spPr>
          <a:ln/>
        </p:spPr>
        <p:txBody>
          <a:bodyPr/>
          <a:lstStyle/>
          <a:p>
            <a:fld id="{E4441A12-CB0E-48D0-9635-8C6783FDA221}" type="slidenum">
              <a:rPr lang="en-US" altLang="en-US"/>
              <a:pPr/>
              <a:t>18</a:t>
            </a:fld>
            <a:endParaRPr lang="en-US" altLang="en-US"/>
          </a:p>
        </p:txBody>
      </p:sp>
      <p:sp>
        <p:nvSpPr>
          <p:cNvPr id="22530" name="Rectangle 2">
            <a:extLst>
              <a:ext uri="{FF2B5EF4-FFF2-40B4-BE49-F238E27FC236}">
                <a16:creationId xmlns:a16="http://schemas.microsoft.com/office/drawing/2014/main" id="{EDAB4162-05C2-4E96-898F-C6004A0ED1D4}"/>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2BB1D8E3-ED4C-4194-9E09-D03B6D06B62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260F70C-87A6-484E-81D1-062EB0640106}"/>
              </a:ext>
            </a:extLst>
          </p:cNvPr>
          <p:cNvSpPr>
            <a:spLocks noGrp="1" noChangeArrowheads="1"/>
          </p:cNvSpPr>
          <p:nvPr>
            <p:ph type="sldNum" sz="quarter" idx="5"/>
          </p:nvPr>
        </p:nvSpPr>
        <p:spPr>
          <a:ln/>
        </p:spPr>
        <p:txBody>
          <a:bodyPr/>
          <a:lstStyle/>
          <a:p>
            <a:fld id="{488D68DC-ECDF-4EFB-A02D-1CFB9F7491E7}" type="slidenum">
              <a:rPr lang="en-US" altLang="en-US"/>
              <a:pPr/>
              <a:t>19</a:t>
            </a:fld>
            <a:endParaRPr lang="en-US" altLang="en-US"/>
          </a:p>
        </p:txBody>
      </p:sp>
      <p:sp>
        <p:nvSpPr>
          <p:cNvPr id="35842" name="Rectangle 2">
            <a:extLst>
              <a:ext uri="{FF2B5EF4-FFF2-40B4-BE49-F238E27FC236}">
                <a16:creationId xmlns:a16="http://schemas.microsoft.com/office/drawing/2014/main" id="{68F64106-0E4D-4991-B870-C31607ED01FE}"/>
              </a:ext>
            </a:extLst>
          </p:cNvPr>
          <p:cNvSpPr>
            <a:spLocks noGrp="1" noRot="1" noChangeAspect="1" noChangeArrowheads="1" noTextEdit="1"/>
          </p:cNvSpPr>
          <p:nvPr>
            <p:ph type="sldImg"/>
          </p:nvPr>
        </p:nvSpPr>
        <p:spPr>
          <a:ln/>
        </p:spPr>
      </p:sp>
      <p:sp>
        <p:nvSpPr>
          <p:cNvPr id="35843" name="Rectangle 3">
            <a:extLst>
              <a:ext uri="{FF2B5EF4-FFF2-40B4-BE49-F238E27FC236}">
                <a16:creationId xmlns:a16="http://schemas.microsoft.com/office/drawing/2014/main" id="{555AD675-0811-414F-8D85-7F52D18ACE2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6990E62-9AEC-446F-B2CD-1FBC905E9DE5}"/>
              </a:ext>
            </a:extLst>
          </p:cNvPr>
          <p:cNvSpPr>
            <a:spLocks noGrp="1" noChangeArrowheads="1"/>
          </p:cNvSpPr>
          <p:nvPr>
            <p:ph type="sldNum" sz="quarter" idx="5"/>
          </p:nvPr>
        </p:nvSpPr>
        <p:spPr>
          <a:ln/>
        </p:spPr>
        <p:txBody>
          <a:bodyPr/>
          <a:lstStyle/>
          <a:p>
            <a:fld id="{93959484-424E-4D1C-AF48-565B92387077}" type="slidenum">
              <a:rPr lang="en-US" altLang="en-US"/>
              <a:pPr/>
              <a:t>20</a:t>
            </a:fld>
            <a:endParaRPr lang="en-US" altLang="en-US"/>
          </a:p>
        </p:txBody>
      </p:sp>
      <p:sp>
        <p:nvSpPr>
          <p:cNvPr id="39938" name="Rectangle 2">
            <a:extLst>
              <a:ext uri="{FF2B5EF4-FFF2-40B4-BE49-F238E27FC236}">
                <a16:creationId xmlns:a16="http://schemas.microsoft.com/office/drawing/2014/main" id="{46C49FC3-B3D8-48F9-9C85-B140A32AA708}"/>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0667D413-337F-4142-8C1A-F1466AAD9DF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6D28D31-3386-41B8-9EA3-514DA7FCC436}"/>
              </a:ext>
            </a:extLst>
          </p:cNvPr>
          <p:cNvSpPr>
            <a:spLocks noGrp="1" noChangeArrowheads="1"/>
          </p:cNvSpPr>
          <p:nvPr>
            <p:ph type="sldNum" sz="quarter" idx="5"/>
          </p:nvPr>
        </p:nvSpPr>
        <p:spPr>
          <a:ln/>
        </p:spPr>
        <p:txBody>
          <a:bodyPr/>
          <a:lstStyle/>
          <a:p>
            <a:fld id="{0F9CEEED-4D3C-44E0-A201-A72AA6B2F00E}" type="slidenum">
              <a:rPr lang="en-US" altLang="en-US"/>
              <a:pPr/>
              <a:t>21</a:t>
            </a:fld>
            <a:endParaRPr lang="en-US" altLang="en-US"/>
          </a:p>
        </p:txBody>
      </p:sp>
      <p:sp>
        <p:nvSpPr>
          <p:cNvPr id="54274" name="Rectangle 2">
            <a:extLst>
              <a:ext uri="{FF2B5EF4-FFF2-40B4-BE49-F238E27FC236}">
                <a16:creationId xmlns:a16="http://schemas.microsoft.com/office/drawing/2014/main" id="{BDBE94BA-7BB7-4DAB-A7BC-6FE72B4E49DF}"/>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7E7085F2-CE95-4C61-B760-4CDEF89D8B4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D83D984-AA45-47AD-89F2-4F6BBC1D3908}"/>
              </a:ext>
            </a:extLst>
          </p:cNvPr>
          <p:cNvSpPr>
            <a:spLocks noGrp="1" noChangeArrowheads="1"/>
          </p:cNvSpPr>
          <p:nvPr>
            <p:ph type="sldNum" sz="quarter" idx="5"/>
          </p:nvPr>
        </p:nvSpPr>
        <p:spPr>
          <a:ln/>
        </p:spPr>
        <p:txBody>
          <a:bodyPr/>
          <a:lstStyle/>
          <a:p>
            <a:fld id="{92E3E23A-9858-43B1-81E3-31AACE655544}" type="slidenum">
              <a:rPr lang="en-US" altLang="en-US"/>
              <a:pPr/>
              <a:t>39</a:t>
            </a:fld>
            <a:endParaRPr lang="en-US" altLang="en-US"/>
          </a:p>
        </p:txBody>
      </p:sp>
      <p:sp>
        <p:nvSpPr>
          <p:cNvPr id="6145" name="Rectangle 1">
            <a:extLst>
              <a:ext uri="{FF2B5EF4-FFF2-40B4-BE49-F238E27FC236}">
                <a16:creationId xmlns:a16="http://schemas.microsoft.com/office/drawing/2014/main" id="{4CE0FEB0-BCE0-442A-8158-FA99B2E6674A}"/>
              </a:ext>
            </a:extLst>
          </p:cNvPr>
          <p:cNvSpPr>
            <a:spLocks noGrp="1" noRot="1" noChangeAspect="1" noChangeArrowheads="1"/>
          </p:cNvSpPr>
          <p:nvPr>
            <p:ph type="sldImg"/>
          </p:nvPr>
        </p:nvSpPr>
        <p:spPr>
          <a:ln/>
        </p:spPr>
      </p:sp>
      <p:sp>
        <p:nvSpPr>
          <p:cNvPr id="6146" name="Rectangle 2">
            <a:extLst>
              <a:ext uri="{FF2B5EF4-FFF2-40B4-BE49-F238E27FC236}">
                <a16:creationId xmlns:a16="http://schemas.microsoft.com/office/drawing/2014/main" id="{C7BB0159-8D17-4F89-A070-C18997FD3E62}"/>
              </a:ext>
            </a:extLst>
          </p:cNvPr>
          <p:cNvSpPr>
            <a:spLocks noGrp="1" noChangeArrowheads="1"/>
          </p:cNvSpPr>
          <p:nvPr>
            <p:ph type="body" idx="1"/>
          </p:nvPr>
        </p:nvSpPr>
        <p:spPr/>
        <p:txBody>
          <a:bodyPr lIns="0" tIns="0" rIns="0" bIns="0"/>
          <a:lstStyle/>
          <a:p>
            <a:pPr>
              <a:lnSpc>
                <a:spcPct val="95000"/>
              </a:lnSpc>
              <a:spcBef>
                <a:spcPct val="0"/>
              </a:spcBef>
            </a:pPr>
            <a:endParaRPr lang="en-US" altLang="en-US" sz="1600" dirty="0">
              <a:solidFill>
                <a:srgbClr val="000000"/>
              </a:solidFill>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B49E04B-1F4C-4084-A497-2F2D2628EF2B}"/>
              </a:ext>
            </a:extLst>
          </p:cNvPr>
          <p:cNvSpPr>
            <a:spLocks noGrp="1" noChangeArrowheads="1"/>
          </p:cNvSpPr>
          <p:nvPr>
            <p:ph type="sldNum" sz="quarter" idx="5"/>
          </p:nvPr>
        </p:nvSpPr>
        <p:spPr>
          <a:ln/>
        </p:spPr>
        <p:txBody>
          <a:bodyPr/>
          <a:lstStyle/>
          <a:p>
            <a:fld id="{4561AE94-40DC-41F2-B099-EC53C94CCA0F}" type="slidenum">
              <a:rPr lang="en-US" altLang="en-US"/>
              <a:pPr/>
              <a:t>40</a:t>
            </a:fld>
            <a:endParaRPr lang="en-US" altLang="en-US"/>
          </a:p>
        </p:txBody>
      </p:sp>
      <p:sp>
        <p:nvSpPr>
          <p:cNvPr id="20482" name="Rectangle 2">
            <a:extLst>
              <a:ext uri="{FF2B5EF4-FFF2-40B4-BE49-F238E27FC236}">
                <a16:creationId xmlns:a16="http://schemas.microsoft.com/office/drawing/2014/main" id="{81A45224-A22B-4177-A82A-0E03A9086027}"/>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C15ECC26-1E53-40AD-8E41-DE4234B33CD2}"/>
              </a:ext>
            </a:extLst>
          </p:cNvPr>
          <p:cNvSpPr>
            <a:spLocks noGrp="1" noChangeArrowheads="1"/>
          </p:cNvSpPr>
          <p:nvPr>
            <p:ph type="body" idx="1"/>
          </p:nvPr>
        </p:nvSpPr>
        <p:spPr>
          <a:xfrm>
            <a:off x="685800" y="4343400"/>
            <a:ext cx="5486400" cy="4114800"/>
          </a:xfrm>
        </p:spPr>
        <p:txBody>
          <a:bodyPr/>
          <a:lstStyle/>
          <a:p>
            <a:endParaRPr lang="en-US" altLang="en-US"/>
          </a:p>
        </p:txBody>
      </p:sp>
    </p:spTree>
    <p:extLst>
      <p:ext uri="{BB962C8B-B14F-4D97-AF65-F5344CB8AC3E}">
        <p14:creationId xmlns:p14="http://schemas.microsoft.com/office/powerpoint/2010/main" val="13048320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BA09E26-E4F3-491A-A779-8B4CF1800C50}"/>
              </a:ext>
            </a:extLst>
          </p:cNvPr>
          <p:cNvSpPr>
            <a:spLocks noGrp="1" noChangeArrowheads="1"/>
          </p:cNvSpPr>
          <p:nvPr>
            <p:ph type="sldNum" sz="quarter" idx="5"/>
          </p:nvPr>
        </p:nvSpPr>
        <p:spPr>
          <a:ln/>
        </p:spPr>
        <p:txBody>
          <a:bodyPr/>
          <a:lstStyle/>
          <a:p>
            <a:fld id="{1570527C-8BA4-4014-A8DC-B3D4922DBCB6}" type="slidenum">
              <a:rPr lang="en-US" altLang="en-US"/>
              <a:pPr/>
              <a:t>50</a:t>
            </a:fld>
            <a:endParaRPr lang="en-US" altLang="en-US"/>
          </a:p>
        </p:txBody>
      </p:sp>
      <p:sp>
        <p:nvSpPr>
          <p:cNvPr id="39938" name="Rectangle 2">
            <a:extLst>
              <a:ext uri="{FF2B5EF4-FFF2-40B4-BE49-F238E27FC236}">
                <a16:creationId xmlns:a16="http://schemas.microsoft.com/office/drawing/2014/main" id="{56F819A0-40AF-4A4E-946F-32FFE7EC8D04}"/>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D36EF8D0-A6F6-44DF-8D18-F0944ABCFF1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Slide Image Placeholder 1">
            <a:extLst>
              <a:ext uri="{FF2B5EF4-FFF2-40B4-BE49-F238E27FC236}">
                <a16:creationId xmlns:a16="http://schemas.microsoft.com/office/drawing/2014/main" id="{C7ED84F8-35D9-4BF0-B0FD-03896D2A7F3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6" name="Notes Placeholder 2">
            <a:extLst>
              <a:ext uri="{FF2B5EF4-FFF2-40B4-BE49-F238E27FC236}">
                <a16:creationId xmlns:a16="http://schemas.microsoft.com/office/drawing/2014/main" id="{DC0882E8-207F-4FB0-9BD4-D8E5E7012E1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ea typeface="ＭＳ Ｐゴシック" panose="020B0600070205080204" pitchFamily="34" charset="-128"/>
              </a:rPr>
              <a:t>Start here Monday 3/26</a:t>
            </a:r>
          </a:p>
        </p:txBody>
      </p:sp>
      <p:sp>
        <p:nvSpPr>
          <p:cNvPr id="62467" name="Slide Number Placeholder 3">
            <a:extLst>
              <a:ext uri="{FF2B5EF4-FFF2-40B4-BE49-F238E27FC236}">
                <a16:creationId xmlns:a16="http://schemas.microsoft.com/office/drawing/2014/main" id="{4E9DF676-DBB2-460A-A4F5-C688589A96F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7640BAE8-30FF-43EA-883B-8E4FA669EFAA}" type="slidenum">
              <a:rPr lang="en-US" altLang="en-US" smtClean="0"/>
              <a:pPr/>
              <a:t>51</a:t>
            </a:fld>
            <a:endParaRPr lang="en-US" altLang="en-US"/>
          </a:p>
        </p:txBody>
      </p:sp>
    </p:spTree>
    <p:extLst>
      <p:ext uri="{BB962C8B-B14F-4D97-AF65-F5344CB8AC3E}">
        <p14:creationId xmlns:p14="http://schemas.microsoft.com/office/powerpoint/2010/main" val="9873331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4737" name="Rectangle 1">
            <a:extLst>
              <a:ext uri="{FF2B5EF4-FFF2-40B4-BE49-F238E27FC236}">
                <a16:creationId xmlns:a16="http://schemas.microsoft.com/office/drawing/2014/main" id="{9B1D9878-5631-4FD3-AC89-C36FDF9B2BD6}"/>
              </a:ext>
            </a:extLst>
          </p:cNvPr>
          <p:cNvSpPr>
            <a:spLocks noGrp="1" noRot="1" noChangeAspect="1" noChangeArrowheads="1" noTextEdit="1"/>
          </p:cNvSpPr>
          <p:nvPr>
            <p:ph type="sldImg"/>
          </p:nvPr>
        </p:nvSpPr>
        <p:spPr bwMode="auto">
          <a:xfrm>
            <a:off x="1585913" y="1006475"/>
            <a:ext cx="4598987" cy="34480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44738" name="Rectangle 2">
            <a:extLst>
              <a:ext uri="{FF2B5EF4-FFF2-40B4-BE49-F238E27FC236}">
                <a16:creationId xmlns:a16="http://schemas.microsoft.com/office/drawing/2014/main" id="{36F1A2F7-3B09-45DB-A88B-F293B68B8550}"/>
              </a:ext>
            </a:extLst>
          </p:cNvPr>
          <p:cNvSpPr txBox="1">
            <a:spLocks noGrp="1" noChangeArrowheads="1"/>
          </p:cNvSpPr>
          <p:nvPr>
            <p:ph type="body" idx="1"/>
          </p:nvPr>
        </p:nvSpPr>
        <p:spPr bwMode="auto">
          <a:xfrm>
            <a:off x="1185863" y="4787900"/>
            <a:ext cx="5407025" cy="3825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p>
        </p:txBody>
      </p:sp>
    </p:spTree>
    <p:extLst>
      <p:ext uri="{BB962C8B-B14F-4D97-AF65-F5344CB8AC3E}">
        <p14:creationId xmlns:p14="http://schemas.microsoft.com/office/powerpoint/2010/main" val="8113369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61" name="Rectangle 1">
            <a:extLst>
              <a:ext uri="{FF2B5EF4-FFF2-40B4-BE49-F238E27FC236}">
                <a16:creationId xmlns:a16="http://schemas.microsoft.com/office/drawing/2014/main" id="{67E8D049-9229-4EBB-901F-339E6C4C1436}"/>
              </a:ext>
            </a:extLst>
          </p:cNvPr>
          <p:cNvSpPr>
            <a:spLocks noGrp="1" noRot="1" noChangeAspect="1" noChangeArrowheads="1" noTextEdit="1"/>
          </p:cNvSpPr>
          <p:nvPr>
            <p:ph type="sldImg"/>
          </p:nvPr>
        </p:nvSpPr>
        <p:spPr bwMode="auto">
          <a:xfrm>
            <a:off x="1585913" y="1006475"/>
            <a:ext cx="4598987" cy="34480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45762" name="Rectangle 2">
            <a:extLst>
              <a:ext uri="{FF2B5EF4-FFF2-40B4-BE49-F238E27FC236}">
                <a16:creationId xmlns:a16="http://schemas.microsoft.com/office/drawing/2014/main" id="{6168CC6B-863D-43D9-BAE3-800B07ED148B}"/>
              </a:ext>
            </a:extLst>
          </p:cNvPr>
          <p:cNvSpPr txBox="1">
            <a:spLocks noGrp="1" noChangeArrowheads="1"/>
          </p:cNvSpPr>
          <p:nvPr>
            <p:ph type="body" idx="1"/>
          </p:nvPr>
        </p:nvSpPr>
        <p:spPr bwMode="auto">
          <a:xfrm>
            <a:off x="1185863" y="4787900"/>
            <a:ext cx="5407025" cy="3825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p>
        </p:txBody>
      </p:sp>
    </p:spTree>
    <p:extLst>
      <p:ext uri="{BB962C8B-B14F-4D97-AF65-F5344CB8AC3E}">
        <p14:creationId xmlns:p14="http://schemas.microsoft.com/office/powerpoint/2010/main" val="16410022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EEB810A-373E-4F78-824B-BCBAB2BDF326}" type="datetimeFigureOut">
              <a:rPr lang="en-US" smtClean="0"/>
              <a:t>10/18/25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1682-1B2F-4BC2-B08C-F2DFFE76DF67}" type="slidenum">
              <a:rPr lang="en-US" smtClean="0"/>
              <a:t>‹#›</a:t>
            </a:fld>
            <a:endParaRPr lang="en-US"/>
          </a:p>
        </p:txBody>
      </p:sp>
    </p:spTree>
    <p:extLst>
      <p:ext uri="{BB962C8B-B14F-4D97-AF65-F5344CB8AC3E}">
        <p14:creationId xmlns:p14="http://schemas.microsoft.com/office/powerpoint/2010/main" val="20145047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EB810A-373E-4F78-824B-BCBAB2BDF326}" type="datetimeFigureOut">
              <a:rPr lang="en-US" smtClean="0"/>
              <a:t>10/18/25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1682-1B2F-4BC2-B08C-F2DFFE76DF67}" type="slidenum">
              <a:rPr lang="en-US" smtClean="0"/>
              <a:t>‹#›</a:t>
            </a:fld>
            <a:endParaRPr lang="en-US"/>
          </a:p>
        </p:txBody>
      </p:sp>
    </p:spTree>
    <p:extLst>
      <p:ext uri="{BB962C8B-B14F-4D97-AF65-F5344CB8AC3E}">
        <p14:creationId xmlns:p14="http://schemas.microsoft.com/office/powerpoint/2010/main" val="786028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EEB810A-373E-4F78-824B-BCBAB2BDF326}" type="datetimeFigureOut">
              <a:rPr lang="en-US" smtClean="0"/>
              <a:t>10/18/25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1682-1B2F-4BC2-B08C-F2DFFE76DF67}" type="slidenum">
              <a:rPr lang="en-US" smtClean="0"/>
              <a:t>‹#›</a:t>
            </a:fld>
            <a:endParaRPr lang="en-US"/>
          </a:p>
        </p:txBody>
      </p:sp>
    </p:spTree>
    <p:extLst>
      <p:ext uri="{BB962C8B-B14F-4D97-AF65-F5344CB8AC3E}">
        <p14:creationId xmlns:p14="http://schemas.microsoft.com/office/powerpoint/2010/main" val="17087001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EEB810A-373E-4F78-824B-BCBAB2BDF326}" type="datetimeFigureOut">
              <a:rPr lang="en-US" smtClean="0"/>
              <a:t>10/18/25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1682-1B2F-4BC2-B08C-F2DFFE76DF67}" type="slidenum">
              <a:rPr lang="en-US" smtClean="0"/>
              <a:t>‹#›</a:t>
            </a:fld>
            <a:endParaRPr lang="en-US"/>
          </a:p>
        </p:txBody>
      </p:sp>
    </p:spTree>
    <p:extLst>
      <p:ext uri="{BB962C8B-B14F-4D97-AF65-F5344CB8AC3E}">
        <p14:creationId xmlns:p14="http://schemas.microsoft.com/office/powerpoint/2010/main" val="1362393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EEB810A-373E-4F78-824B-BCBAB2BDF326}" type="datetimeFigureOut">
              <a:rPr lang="en-US" smtClean="0"/>
              <a:t>10/18/25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1682-1B2F-4BC2-B08C-F2DFFE76DF67}" type="slidenum">
              <a:rPr lang="en-US" smtClean="0"/>
              <a:t>‹#›</a:t>
            </a:fld>
            <a:endParaRPr lang="en-US"/>
          </a:p>
        </p:txBody>
      </p:sp>
    </p:spTree>
    <p:extLst>
      <p:ext uri="{BB962C8B-B14F-4D97-AF65-F5344CB8AC3E}">
        <p14:creationId xmlns:p14="http://schemas.microsoft.com/office/powerpoint/2010/main" val="4036328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EEB810A-373E-4F78-824B-BCBAB2BDF326}" type="datetimeFigureOut">
              <a:rPr lang="en-US" smtClean="0"/>
              <a:t>10/18/25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1682-1B2F-4BC2-B08C-F2DFFE76DF67}" type="slidenum">
              <a:rPr lang="en-US" smtClean="0"/>
              <a:t>‹#›</a:t>
            </a:fld>
            <a:endParaRPr lang="en-US"/>
          </a:p>
        </p:txBody>
      </p:sp>
    </p:spTree>
    <p:extLst>
      <p:ext uri="{BB962C8B-B14F-4D97-AF65-F5344CB8AC3E}">
        <p14:creationId xmlns:p14="http://schemas.microsoft.com/office/powerpoint/2010/main" val="2630928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EB810A-373E-4F78-824B-BCBAB2BDF326}" type="datetimeFigureOut">
              <a:rPr lang="en-US" smtClean="0"/>
              <a:t>10/18/25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1682-1B2F-4BC2-B08C-F2DFFE76DF67}" type="slidenum">
              <a:rPr lang="en-US" smtClean="0"/>
              <a:t>‹#›</a:t>
            </a:fld>
            <a:endParaRPr lang="en-US"/>
          </a:p>
        </p:txBody>
      </p:sp>
    </p:spTree>
    <p:extLst>
      <p:ext uri="{BB962C8B-B14F-4D97-AF65-F5344CB8AC3E}">
        <p14:creationId xmlns:p14="http://schemas.microsoft.com/office/powerpoint/2010/main" val="4257392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EEB810A-373E-4F78-824B-BCBAB2BDF326}" type="datetimeFigureOut">
              <a:rPr lang="en-US" smtClean="0"/>
              <a:t>10/18/25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1682-1B2F-4BC2-B08C-F2DFFE76DF67}" type="slidenum">
              <a:rPr lang="en-US" smtClean="0"/>
              <a:t>‹#›</a:t>
            </a:fld>
            <a:endParaRPr lang="en-US"/>
          </a:p>
        </p:txBody>
      </p:sp>
    </p:spTree>
    <p:extLst>
      <p:ext uri="{BB962C8B-B14F-4D97-AF65-F5344CB8AC3E}">
        <p14:creationId xmlns:p14="http://schemas.microsoft.com/office/powerpoint/2010/main" val="956072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EEB810A-373E-4F78-824B-BCBAB2BDF326}" type="datetimeFigureOut">
              <a:rPr lang="en-US" smtClean="0"/>
              <a:t>10/18/25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1682-1B2F-4BC2-B08C-F2DFFE76DF67}" type="slidenum">
              <a:rPr lang="en-US" smtClean="0"/>
              <a:t>‹#›</a:t>
            </a:fld>
            <a:endParaRPr lang="en-US"/>
          </a:p>
        </p:txBody>
      </p:sp>
    </p:spTree>
    <p:extLst>
      <p:ext uri="{BB962C8B-B14F-4D97-AF65-F5344CB8AC3E}">
        <p14:creationId xmlns:p14="http://schemas.microsoft.com/office/powerpoint/2010/main" val="11012864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EB810A-373E-4F78-824B-BCBAB2BDF326}" type="datetimeFigureOut">
              <a:rPr lang="en-US" smtClean="0"/>
              <a:t>10/18/25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1682-1B2F-4BC2-B08C-F2DFFE76DF67}" type="slidenum">
              <a:rPr lang="en-US" smtClean="0"/>
              <a:t>‹#›</a:t>
            </a:fld>
            <a:endParaRPr lang="en-US"/>
          </a:p>
        </p:txBody>
      </p:sp>
    </p:spTree>
    <p:extLst>
      <p:ext uri="{BB962C8B-B14F-4D97-AF65-F5344CB8AC3E}">
        <p14:creationId xmlns:p14="http://schemas.microsoft.com/office/powerpoint/2010/main" val="2338919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EB810A-373E-4F78-824B-BCBAB2BDF326}" type="datetimeFigureOut">
              <a:rPr lang="en-US" smtClean="0"/>
              <a:t>10/18/25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1682-1B2F-4BC2-B08C-F2DFFE76DF67}" type="slidenum">
              <a:rPr lang="en-US" smtClean="0"/>
              <a:t>‹#›</a:t>
            </a:fld>
            <a:endParaRPr lang="en-US"/>
          </a:p>
        </p:txBody>
      </p:sp>
    </p:spTree>
    <p:extLst>
      <p:ext uri="{BB962C8B-B14F-4D97-AF65-F5344CB8AC3E}">
        <p14:creationId xmlns:p14="http://schemas.microsoft.com/office/powerpoint/2010/main" val="2891723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EB810A-373E-4F78-824B-BCBAB2BDF326}" type="datetimeFigureOut">
              <a:rPr lang="en-US" smtClean="0"/>
              <a:t>10/18/25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1682-1B2F-4BC2-B08C-F2DFFE76DF67}" type="slidenum">
              <a:rPr lang="en-US" smtClean="0"/>
              <a:t>‹#›</a:t>
            </a:fld>
            <a:endParaRPr lang="en-US"/>
          </a:p>
        </p:txBody>
      </p:sp>
    </p:spTree>
    <p:extLst>
      <p:ext uri="{BB962C8B-B14F-4D97-AF65-F5344CB8AC3E}">
        <p14:creationId xmlns:p14="http://schemas.microsoft.com/office/powerpoint/2010/main" val="3763966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en.wikipedia.org/wiki/World_Wide_Web"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en.wikipedia.org/wiki/HTTP"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3.wmf"/><Relationship Id="rId13" Type="http://schemas.openxmlformats.org/officeDocument/2006/relationships/oleObject" Target="../embeddings/oleObject6.bin"/><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5.wmf"/><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w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4.wmf"/><Relationship Id="rId4" Type="http://schemas.openxmlformats.org/officeDocument/2006/relationships/image" Target="../media/image1.wmf"/><Relationship Id="rId9" Type="http://schemas.openxmlformats.org/officeDocument/2006/relationships/oleObject" Target="../embeddings/oleObject4.bin"/><Relationship Id="rId14" Type="http://schemas.openxmlformats.org/officeDocument/2006/relationships/image" Target="../media/image6.emf"/></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oleObject" Target="../embeddings/oleObject7.bin"/><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localhost/books/ISBN-0011" TargetMode="External"/><Relationship Id="rId7" Type="http://schemas.openxmlformats.org/officeDocument/2006/relationships/hyperlink" Target="http://localhost/classes/cs2650/students" TargetMode="External"/><Relationship Id="rId2" Type="http://schemas.openxmlformats.org/officeDocument/2006/relationships/hyperlink" Target="http://localhost/books/" TargetMode="External"/><Relationship Id="rId1" Type="http://schemas.openxmlformats.org/officeDocument/2006/relationships/slideLayout" Target="../slideLayouts/slideLayout2.xml"/><Relationship Id="rId6" Type="http://schemas.openxmlformats.org/officeDocument/2006/relationships/hyperlink" Target="http://localhost/classes/cs2650" TargetMode="External"/><Relationship Id="rId5" Type="http://schemas.openxmlformats.org/officeDocument/2006/relationships/hyperlink" Target="http://localhost/classes" TargetMode="External"/><Relationship Id="rId4" Type="http://schemas.openxmlformats.org/officeDocument/2006/relationships/hyperlink" Target="http://localhost/books/ISBN-0011/authors" TargetMode="Externa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localhost/books/ISBN-0011021" TargetMode="External"/><Relationship Id="rId2" Type="http://schemas.openxmlformats.org/officeDocument/2006/relationships/hyperlink" Target="http://localhost/books" TargetMode="External"/><Relationship Id="rId1" Type="http://schemas.openxmlformats.org/officeDocument/2006/relationships/slideLayout" Target="../slideLayouts/slideLayout2.xml"/><Relationship Id="rId4" Type="http://schemas.openxmlformats.org/officeDocument/2006/relationships/hyperlink" Target="http://localhost/books/ISBN-0011021/authors" TargetMode="External"/></Relationships>
</file>

<file path=ppt/slides/_rels/slide45.xml.rels><?xml version="1.0" encoding="UTF-8" standalone="yes"?>
<Relationships xmlns="http://schemas.openxmlformats.org/package/2006/relationships"><Relationship Id="rId3" Type="http://schemas.openxmlformats.org/officeDocument/2006/relationships/hyperlink" Target="http://localhost/books/isbn-111" TargetMode="External"/><Relationship Id="rId2" Type="http://schemas.openxmlformats.org/officeDocument/2006/relationships/hyperlink" Target="http://localhost/books/"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localhost/books/ISBN-0011"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notesSlide" Target="../notesSlides/notesSlide12.xml"/><Relationship Id="rId5" Type="http://schemas.openxmlformats.org/officeDocument/2006/relationships/tags" Target="../tags/tag5.xml"/><Relationship Id="rId10" Type="http://schemas.openxmlformats.org/officeDocument/2006/relationships/slideLayout" Target="../slideLayouts/slideLayout2.xml"/><Relationship Id="rId4" Type="http://schemas.openxmlformats.org/officeDocument/2006/relationships/tags" Target="../tags/tag4.xml"/><Relationship Id="rId9" Type="http://schemas.openxmlformats.org/officeDocument/2006/relationships/tags" Target="../tags/tag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hyperlink" Target="http://www.example.com/users-in-org/%7borg%7d"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3CD9E-EC54-4499-9B7F-6F00D36B99F4}"/>
              </a:ext>
            </a:extLst>
          </p:cNvPr>
          <p:cNvSpPr>
            <a:spLocks noGrp="1"/>
          </p:cNvSpPr>
          <p:nvPr>
            <p:ph type="ctrTitle"/>
          </p:nvPr>
        </p:nvSpPr>
        <p:spPr/>
        <p:txBody>
          <a:bodyPr/>
          <a:lstStyle/>
          <a:p>
            <a:r>
              <a:rPr lang="en-US" dirty="0">
                <a:solidFill>
                  <a:srgbClr val="FF0000"/>
                </a:solidFill>
              </a:rPr>
              <a:t>Web Service</a:t>
            </a:r>
          </a:p>
        </p:txBody>
      </p:sp>
      <p:sp>
        <p:nvSpPr>
          <p:cNvPr id="3" name="Subtitle 2">
            <a:extLst>
              <a:ext uri="{FF2B5EF4-FFF2-40B4-BE49-F238E27FC236}">
                <a16:creationId xmlns:a16="http://schemas.microsoft.com/office/drawing/2014/main" id="{FCC22051-8562-46D3-967D-8270DE289010}"/>
              </a:ext>
            </a:extLst>
          </p:cNvPr>
          <p:cNvSpPr>
            <a:spLocks noGrp="1"/>
          </p:cNvSpPr>
          <p:nvPr>
            <p:ph type="subTitle" idx="1"/>
          </p:nvPr>
        </p:nvSpPr>
        <p:spPr/>
        <p:txBody>
          <a:bodyPr>
            <a:normAutofit/>
          </a:bodyPr>
          <a:lstStyle/>
          <a:p>
            <a:endParaRPr lang="en-US" sz="3200" dirty="0">
              <a:solidFill>
                <a:srgbClr val="FF0000"/>
              </a:solidFill>
            </a:endParaRPr>
          </a:p>
        </p:txBody>
      </p:sp>
    </p:spTree>
    <p:extLst>
      <p:ext uri="{BB962C8B-B14F-4D97-AF65-F5344CB8AC3E}">
        <p14:creationId xmlns:p14="http://schemas.microsoft.com/office/powerpoint/2010/main" val="3641787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A37BF367-A8D9-4F15-96F4-1F0808166BA4}"/>
              </a:ext>
            </a:extLst>
          </p:cNvPr>
          <p:cNvSpPr>
            <a:spLocks noGrp="1"/>
          </p:cNvSpPr>
          <p:nvPr>
            <p:ph type="title"/>
          </p:nvPr>
        </p:nvSpPr>
        <p:spPr>
          <a:xfrm>
            <a:off x="628650" y="365127"/>
            <a:ext cx="7886700" cy="839206"/>
          </a:xfrm>
        </p:spPr>
        <p:txBody>
          <a:bodyPr/>
          <a:lstStyle/>
          <a:p>
            <a:r>
              <a:rPr lang="en-US" altLang="en-US" dirty="0">
                <a:solidFill>
                  <a:srgbClr val="FF0000"/>
                </a:solidFill>
                <a:ea typeface="ＭＳ Ｐゴシック" panose="020B0600070205080204" pitchFamily="34" charset="-128"/>
              </a:rPr>
              <a:t>Web Services are….</a:t>
            </a:r>
          </a:p>
        </p:txBody>
      </p:sp>
      <p:sp>
        <p:nvSpPr>
          <p:cNvPr id="31746" name="Content Placeholder 2">
            <a:extLst>
              <a:ext uri="{FF2B5EF4-FFF2-40B4-BE49-F238E27FC236}">
                <a16:creationId xmlns:a16="http://schemas.microsoft.com/office/drawing/2014/main" id="{E2E34C47-F0DE-47E2-8E66-D09649796BDB}"/>
              </a:ext>
            </a:extLst>
          </p:cNvPr>
          <p:cNvSpPr>
            <a:spLocks noGrp="1"/>
          </p:cNvSpPr>
          <p:nvPr>
            <p:ph idx="1"/>
          </p:nvPr>
        </p:nvSpPr>
        <p:spPr>
          <a:xfrm>
            <a:off x="628650" y="1393902"/>
            <a:ext cx="7886700" cy="4783061"/>
          </a:xfrm>
        </p:spPr>
        <p:txBody>
          <a:bodyPr>
            <a:normAutofit fontScale="92500" lnSpcReduction="10000"/>
          </a:bodyPr>
          <a:lstStyle/>
          <a:p>
            <a:r>
              <a:rPr lang="en-US" altLang="en-US" dirty="0">
                <a:ea typeface="ＭＳ Ｐゴシック" panose="020B0600070205080204" pitchFamily="34" charset="-128"/>
              </a:rPr>
              <a:t>A specific technology upon which SOA</a:t>
            </a:r>
            <a:r>
              <a:rPr lang="ja-JP" altLang="en-US" dirty="0">
                <a:ea typeface="ＭＳ Ｐゴシック" panose="020B0600070205080204" pitchFamily="34" charset="-128"/>
              </a:rPr>
              <a:t>’</a:t>
            </a:r>
            <a:r>
              <a:rPr lang="en-US" altLang="ja-JP" dirty="0">
                <a:ea typeface="ＭＳ Ｐゴシック" panose="020B0600070205080204" pitchFamily="34" charset="-128"/>
              </a:rPr>
              <a:t>s can be implemented.</a:t>
            </a:r>
          </a:p>
          <a:p>
            <a:r>
              <a:rPr lang="en-US" dirty="0">
                <a:solidFill>
                  <a:srgbClr val="0070C0"/>
                </a:solidFill>
              </a:rPr>
              <a:t>(generic) </a:t>
            </a:r>
            <a:r>
              <a:rPr lang="en-US" dirty="0"/>
              <a:t>a service offered by an electronic device to another electronic device, communicating with each other via the </a:t>
            </a:r>
            <a:r>
              <a:rPr lang="en-US" dirty="0">
                <a:hlinkClick r:id="rId3" tooltip="World Wide Web"/>
              </a:rPr>
              <a:t>World Wide Web</a:t>
            </a:r>
            <a:r>
              <a:rPr lang="en-US" dirty="0"/>
              <a:t>, or</a:t>
            </a:r>
          </a:p>
          <a:p>
            <a:r>
              <a:rPr lang="en-US" dirty="0">
                <a:solidFill>
                  <a:schemeClr val="accent2"/>
                </a:solidFill>
              </a:rPr>
              <a:t>(specific) </a:t>
            </a:r>
            <a:r>
              <a:rPr lang="en-US" dirty="0"/>
              <a:t>a web service implemented in the particular technology or brand, e.g., </a:t>
            </a:r>
            <a:r>
              <a:rPr lang="en-US" altLang="zh-CN" dirty="0"/>
              <a:t>SOAP in </a:t>
            </a:r>
            <a:r>
              <a:rPr lang="en-US" dirty="0"/>
              <a:t>World Wide Web Consortium (W3C) Web Services.</a:t>
            </a:r>
          </a:p>
          <a:p>
            <a:r>
              <a:rPr lang="en-US" dirty="0"/>
              <a:t>In a web service, the Web technology such as </a:t>
            </a:r>
            <a:r>
              <a:rPr lang="en-US" dirty="0">
                <a:hlinkClick r:id="rId4" tooltip="HTTP"/>
              </a:rPr>
              <a:t>HTTP</a:t>
            </a:r>
            <a:r>
              <a:rPr lang="en-US" dirty="0"/>
              <a:t>—originally designed for human-to-machine communication—is utilized for machine-to-machine communication, more specifically for transferring machine-readable file formats.</a:t>
            </a:r>
          </a:p>
          <a:p>
            <a:endParaRPr lang="en-US" altLang="en-US" dirty="0">
              <a:ea typeface="ＭＳ Ｐゴシック" panose="020B0600070205080204" pitchFamily="34"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3E7AF11C-99CA-44E7-B379-17BCF820A221}"/>
              </a:ext>
            </a:extLst>
          </p:cNvPr>
          <p:cNvSpPr>
            <a:spLocks noGrp="1"/>
          </p:cNvSpPr>
          <p:nvPr>
            <p:ph type="title"/>
          </p:nvPr>
        </p:nvSpPr>
        <p:spPr>
          <a:xfrm>
            <a:off x="628650" y="171682"/>
            <a:ext cx="7886700" cy="1325563"/>
          </a:xfrm>
        </p:spPr>
        <p:txBody>
          <a:bodyPr/>
          <a:lstStyle/>
          <a:p>
            <a:r>
              <a:rPr lang="en-US" altLang="en-US" dirty="0">
                <a:solidFill>
                  <a:srgbClr val="FF0000"/>
                </a:solidFill>
                <a:ea typeface="ＭＳ Ｐゴシック" panose="020B0600070205080204" pitchFamily="34" charset="-128"/>
              </a:rPr>
              <a:t>Web Services Evolution</a:t>
            </a:r>
          </a:p>
        </p:txBody>
      </p:sp>
      <p:graphicFrame>
        <p:nvGraphicFramePr>
          <p:cNvPr id="32770" name="Object 2">
            <a:extLst>
              <a:ext uri="{FF2B5EF4-FFF2-40B4-BE49-F238E27FC236}">
                <a16:creationId xmlns:a16="http://schemas.microsoft.com/office/drawing/2014/main" id="{FD2EE998-BCD5-4DD3-A1D6-792FD40FD190}"/>
              </a:ext>
            </a:extLst>
          </p:cNvPr>
          <p:cNvGraphicFramePr>
            <a:graphicFrameLocks noChangeAspect="1"/>
          </p:cNvGraphicFramePr>
          <p:nvPr>
            <p:extLst>
              <p:ext uri="{D42A27DB-BD31-4B8C-83A1-F6EECF244321}">
                <p14:modId xmlns:p14="http://schemas.microsoft.com/office/powerpoint/2010/main" val="1915355930"/>
              </p:ext>
            </p:extLst>
          </p:nvPr>
        </p:nvGraphicFramePr>
        <p:xfrm>
          <a:off x="506516" y="994801"/>
          <a:ext cx="2425700" cy="3362325"/>
        </p:xfrm>
        <a:graphic>
          <a:graphicData uri="http://schemas.openxmlformats.org/presentationml/2006/ole">
            <mc:AlternateContent xmlns:mc="http://schemas.openxmlformats.org/markup-compatibility/2006">
              <mc:Choice xmlns:v="urn:schemas-microsoft-com:vml" Requires="v">
                <p:oleObj name="VISIO" r:id="rId3" imgW="0" imgH="0" progId="Visio.Drawing.6">
                  <p:embed/>
                </p:oleObj>
              </mc:Choice>
              <mc:Fallback>
                <p:oleObj name="VISIO" r:id="rId3" imgW="0" imgH="0" progId="Visio.Drawing.6">
                  <p:embed/>
                  <p:pic>
                    <p:nvPicPr>
                      <p:cNvPr id="32770" name="Object 2">
                        <a:extLst>
                          <a:ext uri="{FF2B5EF4-FFF2-40B4-BE49-F238E27FC236}">
                            <a16:creationId xmlns:a16="http://schemas.microsoft.com/office/drawing/2014/main" id="{FD2EE998-BCD5-4DD3-A1D6-792FD40FD1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6516" y="994801"/>
                        <a:ext cx="2425700" cy="336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2771" name="Object 3">
            <a:extLst>
              <a:ext uri="{FF2B5EF4-FFF2-40B4-BE49-F238E27FC236}">
                <a16:creationId xmlns:a16="http://schemas.microsoft.com/office/drawing/2014/main" id="{757FEB19-045C-4C5C-AA6E-CA6F6461610F}"/>
              </a:ext>
            </a:extLst>
          </p:cNvPr>
          <p:cNvGraphicFramePr>
            <a:graphicFrameLocks noChangeAspect="1"/>
          </p:cNvGraphicFramePr>
          <p:nvPr>
            <p:extLst>
              <p:ext uri="{D42A27DB-BD31-4B8C-83A1-F6EECF244321}">
                <p14:modId xmlns:p14="http://schemas.microsoft.com/office/powerpoint/2010/main" val="3419866433"/>
              </p:ext>
            </p:extLst>
          </p:nvPr>
        </p:nvGraphicFramePr>
        <p:xfrm>
          <a:off x="2694257" y="1228164"/>
          <a:ext cx="1887538" cy="2895600"/>
        </p:xfrm>
        <a:graphic>
          <a:graphicData uri="http://schemas.openxmlformats.org/presentationml/2006/ole">
            <mc:AlternateContent xmlns:mc="http://schemas.openxmlformats.org/markup-compatibility/2006">
              <mc:Choice xmlns:v="urn:schemas-microsoft-com:vml" Requires="v">
                <p:oleObj name="VISIO" r:id="rId5" imgW="0" imgH="0" progId="Visio.Drawing.6">
                  <p:embed/>
                </p:oleObj>
              </mc:Choice>
              <mc:Fallback>
                <p:oleObj name="VISIO" r:id="rId5" imgW="0" imgH="0" progId="Visio.Drawing.6">
                  <p:embed/>
                  <p:pic>
                    <p:nvPicPr>
                      <p:cNvPr id="32771" name="Object 3">
                        <a:extLst>
                          <a:ext uri="{FF2B5EF4-FFF2-40B4-BE49-F238E27FC236}">
                            <a16:creationId xmlns:a16="http://schemas.microsoft.com/office/drawing/2014/main" id="{757FEB19-045C-4C5C-AA6E-CA6F6461610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94257" y="1228164"/>
                        <a:ext cx="1887538"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2772" name="Object 4">
            <a:extLst>
              <a:ext uri="{FF2B5EF4-FFF2-40B4-BE49-F238E27FC236}">
                <a16:creationId xmlns:a16="http://schemas.microsoft.com/office/drawing/2014/main" id="{F8E064C0-4700-491F-A95E-ECA67625A770}"/>
              </a:ext>
            </a:extLst>
          </p:cNvPr>
          <p:cNvGraphicFramePr>
            <a:graphicFrameLocks noChangeAspect="1"/>
          </p:cNvGraphicFramePr>
          <p:nvPr>
            <p:extLst>
              <p:ext uri="{D42A27DB-BD31-4B8C-83A1-F6EECF244321}">
                <p14:modId xmlns:p14="http://schemas.microsoft.com/office/powerpoint/2010/main" val="2962086311"/>
              </p:ext>
            </p:extLst>
          </p:nvPr>
        </p:nvGraphicFramePr>
        <p:xfrm>
          <a:off x="4457932" y="1228164"/>
          <a:ext cx="2408237" cy="3006725"/>
        </p:xfrm>
        <a:graphic>
          <a:graphicData uri="http://schemas.openxmlformats.org/presentationml/2006/ole">
            <mc:AlternateContent xmlns:mc="http://schemas.openxmlformats.org/markup-compatibility/2006">
              <mc:Choice xmlns:v="urn:schemas-microsoft-com:vml" Requires="v">
                <p:oleObj name="VISIO" r:id="rId7" imgW="0" imgH="0" progId="Visio.Drawing.6">
                  <p:embed/>
                </p:oleObj>
              </mc:Choice>
              <mc:Fallback>
                <p:oleObj name="VISIO" r:id="rId7" imgW="0" imgH="0" progId="Visio.Drawing.6">
                  <p:embed/>
                  <p:pic>
                    <p:nvPicPr>
                      <p:cNvPr id="32772" name="Object 4">
                        <a:extLst>
                          <a:ext uri="{FF2B5EF4-FFF2-40B4-BE49-F238E27FC236}">
                            <a16:creationId xmlns:a16="http://schemas.microsoft.com/office/drawing/2014/main" id="{F8E064C0-4700-491F-A95E-ECA67625A77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57932" y="1228164"/>
                        <a:ext cx="2408237" cy="300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2773" name="Object 5">
            <a:extLst>
              <a:ext uri="{FF2B5EF4-FFF2-40B4-BE49-F238E27FC236}">
                <a16:creationId xmlns:a16="http://schemas.microsoft.com/office/drawing/2014/main" id="{55498911-37B8-499E-BA06-37BC60BB02ED}"/>
              </a:ext>
            </a:extLst>
          </p:cNvPr>
          <p:cNvGraphicFramePr>
            <a:graphicFrameLocks noChangeAspect="1"/>
          </p:cNvGraphicFramePr>
          <p:nvPr>
            <p:extLst>
              <p:ext uri="{D42A27DB-BD31-4B8C-83A1-F6EECF244321}">
                <p14:modId xmlns:p14="http://schemas.microsoft.com/office/powerpoint/2010/main" val="1609547139"/>
              </p:ext>
            </p:extLst>
          </p:nvPr>
        </p:nvGraphicFramePr>
        <p:xfrm>
          <a:off x="6549231" y="1228164"/>
          <a:ext cx="2135187" cy="3178175"/>
        </p:xfrm>
        <a:graphic>
          <a:graphicData uri="http://schemas.openxmlformats.org/presentationml/2006/ole">
            <mc:AlternateContent xmlns:mc="http://schemas.openxmlformats.org/markup-compatibility/2006">
              <mc:Choice xmlns:v="urn:schemas-microsoft-com:vml" Requires="v">
                <p:oleObj name="VISIO" r:id="rId9" imgW="0" imgH="0" progId="Visio.Drawing.6">
                  <p:embed/>
                </p:oleObj>
              </mc:Choice>
              <mc:Fallback>
                <p:oleObj name="VISIO" r:id="rId9" imgW="0" imgH="0" progId="Visio.Drawing.6">
                  <p:embed/>
                  <p:pic>
                    <p:nvPicPr>
                      <p:cNvPr id="32773" name="Object 5">
                        <a:extLst>
                          <a:ext uri="{FF2B5EF4-FFF2-40B4-BE49-F238E27FC236}">
                            <a16:creationId xmlns:a16="http://schemas.microsoft.com/office/drawing/2014/main" id="{55498911-37B8-499E-BA06-37BC60BB02E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49231" y="1228164"/>
                        <a:ext cx="2135187" cy="317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2774" name="Object 6">
            <a:extLst>
              <a:ext uri="{FF2B5EF4-FFF2-40B4-BE49-F238E27FC236}">
                <a16:creationId xmlns:a16="http://schemas.microsoft.com/office/drawing/2014/main" id="{609C1A90-3757-4B0B-969A-513C6737B017}"/>
              </a:ext>
            </a:extLst>
          </p:cNvPr>
          <p:cNvGraphicFramePr>
            <a:graphicFrameLocks noChangeAspect="1"/>
          </p:cNvGraphicFramePr>
          <p:nvPr/>
        </p:nvGraphicFramePr>
        <p:xfrm>
          <a:off x="1023938" y="3721100"/>
          <a:ext cx="3167062" cy="3289300"/>
        </p:xfrm>
        <a:graphic>
          <a:graphicData uri="http://schemas.openxmlformats.org/presentationml/2006/ole">
            <mc:AlternateContent xmlns:mc="http://schemas.openxmlformats.org/markup-compatibility/2006">
              <mc:Choice xmlns:v="urn:schemas-microsoft-com:vml" Requires="v">
                <p:oleObj name="VISIO" r:id="rId11" imgW="0" imgH="0" progId="Visio.Drawing.6">
                  <p:embed/>
                </p:oleObj>
              </mc:Choice>
              <mc:Fallback>
                <p:oleObj name="VISIO" r:id="rId11" imgW="0" imgH="0" progId="Visio.Drawing.6">
                  <p:embed/>
                  <p:pic>
                    <p:nvPicPr>
                      <p:cNvPr id="32774" name="Object 6">
                        <a:extLst>
                          <a:ext uri="{FF2B5EF4-FFF2-40B4-BE49-F238E27FC236}">
                            <a16:creationId xmlns:a16="http://schemas.microsoft.com/office/drawing/2014/main" id="{609C1A90-3757-4B0B-969A-513C6737B01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23938" y="3721100"/>
                        <a:ext cx="3167062" cy="328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2775" name="Object 7">
            <a:extLst>
              <a:ext uri="{FF2B5EF4-FFF2-40B4-BE49-F238E27FC236}">
                <a16:creationId xmlns:a16="http://schemas.microsoft.com/office/drawing/2014/main" id="{2F9FA15F-E982-4968-B895-62A598EAB7F4}"/>
              </a:ext>
            </a:extLst>
          </p:cNvPr>
          <p:cNvGraphicFramePr>
            <a:graphicFrameLocks noChangeAspect="1"/>
          </p:cNvGraphicFramePr>
          <p:nvPr>
            <p:extLst>
              <p:ext uri="{D42A27DB-BD31-4B8C-83A1-F6EECF244321}">
                <p14:modId xmlns:p14="http://schemas.microsoft.com/office/powerpoint/2010/main" val="2341466056"/>
              </p:ext>
            </p:extLst>
          </p:nvPr>
        </p:nvGraphicFramePr>
        <p:xfrm>
          <a:off x="4277787" y="3721100"/>
          <a:ext cx="3167063" cy="3289300"/>
        </p:xfrm>
        <a:graphic>
          <a:graphicData uri="http://schemas.openxmlformats.org/presentationml/2006/ole">
            <mc:AlternateContent xmlns:mc="http://schemas.openxmlformats.org/markup-compatibility/2006">
              <mc:Choice xmlns:v="urn:schemas-microsoft-com:vml" Requires="v">
                <p:oleObj name="VISIO" r:id="rId13" imgW="0" imgH="0" progId="Visio.Drawing.6">
                  <p:embed/>
                </p:oleObj>
              </mc:Choice>
              <mc:Fallback>
                <p:oleObj name="VISIO" r:id="rId13" imgW="0" imgH="0" progId="Visio.Drawing.6">
                  <p:embed/>
                  <p:pic>
                    <p:nvPicPr>
                      <p:cNvPr id="32775" name="Object 7">
                        <a:extLst>
                          <a:ext uri="{FF2B5EF4-FFF2-40B4-BE49-F238E27FC236}">
                            <a16:creationId xmlns:a16="http://schemas.microsoft.com/office/drawing/2014/main" id="{2F9FA15F-E982-4968-B895-62A598EAB7F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77787" y="3721100"/>
                        <a:ext cx="3167063" cy="328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06BB6914-F674-435A-A5DF-E11EAF5960EE}"/>
              </a:ext>
            </a:extLst>
          </p:cNvPr>
          <p:cNvSpPr>
            <a:spLocks noGrp="1"/>
          </p:cNvSpPr>
          <p:nvPr>
            <p:ph type="title"/>
          </p:nvPr>
        </p:nvSpPr>
        <p:spPr>
          <a:xfrm>
            <a:off x="628650" y="150859"/>
            <a:ext cx="7886700" cy="1325563"/>
          </a:xfrm>
        </p:spPr>
        <p:txBody>
          <a:bodyPr/>
          <a:lstStyle/>
          <a:p>
            <a:r>
              <a:rPr lang="en-US" altLang="en-US" dirty="0">
                <a:solidFill>
                  <a:srgbClr val="FF0000"/>
                </a:solidFill>
                <a:ea typeface="ＭＳ Ｐゴシック" panose="020B0600070205080204" pitchFamily="34" charset="-128"/>
              </a:rPr>
              <a:t>Web Evolution</a:t>
            </a:r>
          </a:p>
        </p:txBody>
      </p:sp>
      <p:grpSp>
        <p:nvGrpSpPr>
          <p:cNvPr id="34818" name="Group 4">
            <a:extLst>
              <a:ext uri="{FF2B5EF4-FFF2-40B4-BE49-F238E27FC236}">
                <a16:creationId xmlns:a16="http://schemas.microsoft.com/office/drawing/2014/main" id="{2B827B98-8504-406D-BEC4-F7CC57F725DE}"/>
              </a:ext>
            </a:extLst>
          </p:cNvPr>
          <p:cNvGrpSpPr>
            <a:grpSpLocks/>
          </p:cNvGrpSpPr>
          <p:nvPr/>
        </p:nvGrpSpPr>
        <p:grpSpPr bwMode="auto">
          <a:xfrm>
            <a:off x="1193684" y="365126"/>
            <a:ext cx="7142162" cy="7474181"/>
            <a:chOff x="770067" y="200025"/>
            <a:chExt cx="7142033" cy="7213600"/>
          </a:xfrm>
        </p:grpSpPr>
        <p:pic>
          <p:nvPicPr>
            <p:cNvPr id="34820" name="Picture 23" descr="H:\Ballmer\09-13 Dev Day\MegaServices graphic darker.png">
              <a:extLst>
                <a:ext uri="{FF2B5EF4-FFF2-40B4-BE49-F238E27FC236}">
                  <a16:creationId xmlns:a16="http://schemas.microsoft.com/office/drawing/2014/main" id="{0477912A-5D32-47AE-AB26-B312B53ED8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0203"/>
            <a:stretch>
              <a:fillRect/>
            </a:stretch>
          </p:blipFill>
          <p:spPr bwMode="auto">
            <a:xfrm>
              <a:off x="3373438" y="1019175"/>
              <a:ext cx="4538662" cy="544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4821" name="Group 3">
              <a:extLst>
                <a:ext uri="{FF2B5EF4-FFF2-40B4-BE49-F238E27FC236}">
                  <a16:creationId xmlns:a16="http://schemas.microsoft.com/office/drawing/2014/main" id="{330C0CD1-A763-4BE5-B4C9-7149A330D1EC}"/>
                </a:ext>
              </a:extLst>
            </p:cNvPr>
            <p:cNvGrpSpPr>
              <a:grpSpLocks/>
            </p:cNvGrpSpPr>
            <p:nvPr/>
          </p:nvGrpSpPr>
          <p:grpSpPr bwMode="auto">
            <a:xfrm>
              <a:off x="770067" y="200025"/>
              <a:ext cx="6635621" cy="7213600"/>
              <a:chOff x="770067" y="200025"/>
              <a:chExt cx="6635621" cy="7213600"/>
            </a:xfrm>
          </p:grpSpPr>
          <p:pic>
            <p:nvPicPr>
              <p:cNvPr id="34822" name="Picture 34">
                <a:extLst>
                  <a:ext uri="{FF2B5EF4-FFF2-40B4-BE49-F238E27FC236}">
                    <a16:creationId xmlns:a16="http://schemas.microsoft.com/office/drawing/2014/main" id="{18FA8ACC-AB00-45CB-8FF7-8ABA36B57A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5525" y="1708150"/>
                <a:ext cx="3208338"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34823" name="Picture 21" descr="G:\Misc photos\internet cloud smaller.png">
                <a:extLst>
                  <a:ext uri="{FF2B5EF4-FFF2-40B4-BE49-F238E27FC236}">
                    <a16:creationId xmlns:a16="http://schemas.microsoft.com/office/drawing/2014/main" id="{FCB5BCE4-682B-4D36-94A5-7A8BEC03B9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0067" y="3003672"/>
                <a:ext cx="1196975" cy="95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4" name="Picture 22" descr="H:\Ballmer\09-13 Dev Day\MegaServices graphic darker.png">
                <a:extLst>
                  <a:ext uri="{FF2B5EF4-FFF2-40B4-BE49-F238E27FC236}">
                    <a16:creationId xmlns:a16="http://schemas.microsoft.com/office/drawing/2014/main" id="{07346773-242C-4EBF-8D3B-33433A4048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77174"/>
              <a:stretch>
                <a:fillRect/>
              </a:stretch>
            </p:blipFill>
            <p:spPr bwMode="auto">
              <a:xfrm>
                <a:off x="1408113" y="200025"/>
                <a:ext cx="1965325" cy="721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84" name="Text Box 24">
                <a:extLst>
                  <a:ext uri="{FF2B5EF4-FFF2-40B4-BE49-F238E27FC236}">
                    <a16:creationId xmlns:a16="http://schemas.microsoft.com/office/drawing/2014/main" id="{37B434B6-E710-7747-A8AE-9146FD5BD54D}"/>
                  </a:ext>
                </a:extLst>
              </p:cNvPr>
              <p:cNvSpPr txBox="1">
                <a:spLocks noChangeArrowheads="1"/>
              </p:cNvSpPr>
              <p:nvPr/>
            </p:nvSpPr>
            <p:spPr bwMode="auto">
              <a:xfrm rot="20855278">
                <a:off x="5894424" y="2011363"/>
                <a:ext cx="720712" cy="396875"/>
              </a:xfrm>
              <a:prstGeom prst="rect">
                <a:avLst/>
              </a:prstGeom>
              <a:noFill/>
              <a:ln w="12700">
                <a:noFill/>
                <a:miter lim="800000"/>
                <a:headEnd type="none" w="sm" len="sm"/>
                <a:tailEnd type="none" w="sm" len="sm"/>
              </a:ln>
              <a:effectLst/>
            </p:spPr>
            <p:txBody>
              <a:bodyPr wrap="none" anchorCtr="1">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defRPr/>
                </a:pPr>
                <a:r>
                  <a:rPr lang="en-US" altLang="x-none" sz="2000" b="1" i="1">
                    <a:effectLst>
                      <a:outerShdw blurRad="38100" dist="38100" dir="2700000" algn="tl">
                        <a:srgbClr val="C0C0C0"/>
                      </a:outerShdw>
                    </a:effectLst>
                  </a:rPr>
                  <a:t>XML</a:t>
                </a:r>
              </a:p>
            </p:txBody>
          </p:sp>
          <p:sp>
            <p:nvSpPr>
              <p:cNvPr id="296985" name="Text Box 25">
                <a:extLst>
                  <a:ext uri="{FF2B5EF4-FFF2-40B4-BE49-F238E27FC236}">
                    <a16:creationId xmlns:a16="http://schemas.microsoft.com/office/drawing/2014/main" id="{3BB90F4D-D1E5-3746-B231-B5EF3DCD804B}"/>
                  </a:ext>
                </a:extLst>
              </p:cNvPr>
              <p:cNvSpPr txBox="1">
                <a:spLocks noChangeArrowheads="1"/>
              </p:cNvSpPr>
              <p:nvPr/>
            </p:nvSpPr>
            <p:spPr bwMode="auto">
              <a:xfrm>
                <a:off x="5011790" y="3382963"/>
                <a:ext cx="2393907" cy="366712"/>
              </a:xfrm>
              <a:prstGeom prst="rect">
                <a:avLst/>
              </a:prstGeom>
              <a:noFill/>
              <a:ln w="12700">
                <a:noFill/>
                <a:miter lim="800000"/>
                <a:headEnd type="none" w="sm" len="sm"/>
                <a:tailEnd type="none" w="sm" len="sm"/>
              </a:ln>
              <a:effectLst/>
            </p:spPr>
            <p:txBody>
              <a:bodyPr>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a:spcBef>
                    <a:spcPct val="50000"/>
                  </a:spcBef>
                  <a:defRPr/>
                </a:pPr>
                <a:r>
                  <a:rPr lang="en-US" altLang="x-none" sz="1800" b="1">
                    <a:effectLst>
                      <a:outerShdw blurRad="38100" dist="38100" dir="2700000" algn="tl">
                        <a:srgbClr val="C0C0C0"/>
                      </a:outerShdw>
                    </a:effectLst>
                  </a:rPr>
                  <a:t>Programmability</a:t>
                </a:r>
              </a:p>
            </p:txBody>
          </p:sp>
          <p:sp>
            <p:nvSpPr>
              <p:cNvPr id="296986" name="Text Box 26">
                <a:extLst>
                  <a:ext uri="{FF2B5EF4-FFF2-40B4-BE49-F238E27FC236}">
                    <a16:creationId xmlns:a16="http://schemas.microsoft.com/office/drawing/2014/main" id="{09F0FE62-3293-E14A-B70C-FF7EC33C3B65}"/>
                  </a:ext>
                </a:extLst>
              </p:cNvPr>
              <p:cNvSpPr txBox="1">
                <a:spLocks noChangeArrowheads="1"/>
              </p:cNvSpPr>
              <p:nvPr/>
            </p:nvSpPr>
            <p:spPr bwMode="auto">
              <a:xfrm>
                <a:off x="1776524" y="3409950"/>
                <a:ext cx="1636682" cy="325438"/>
              </a:xfrm>
              <a:prstGeom prst="rect">
                <a:avLst/>
              </a:prstGeom>
              <a:noFill/>
              <a:ln w="12700">
                <a:noFill/>
                <a:miter lim="800000"/>
                <a:headEnd type="none" w="sm" len="sm"/>
                <a:tailEnd type="none" w="sm" len="sm"/>
              </a:ln>
              <a:effectLst/>
            </p:spPr>
            <p:txBody>
              <a:bodyPr anchorCtr="1">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a:lnSpc>
                    <a:spcPct val="85000"/>
                  </a:lnSpc>
                  <a:defRPr/>
                </a:pPr>
                <a:r>
                  <a:rPr lang="en-US" altLang="x-none" sz="1800" b="1">
                    <a:effectLst>
                      <a:outerShdw blurRad="38100" dist="38100" dir="2700000" algn="tl">
                        <a:srgbClr val="C0C0C0"/>
                      </a:outerShdw>
                    </a:effectLst>
                  </a:rPr>
                  <a:t>Connectivity</a:t>
                </a:r>
              </a:p>
            </p:txBody>
          </p:sp>
          <p:sp>
            <p:nvSpPr>
              <p:cNvPr id="296987" name="Text Box 27">
                <a:extLst>
                  <a:ext uri="{FF2B5EF4-FFF2-40B4-BE49-F238E27FC236}">
                    <a16:creationId xmlns:a16="http://schemas.microsoft.com/office/drawing/2014/main" id="{476811C4-FB1A-D146-BF58-61D46A0654CF}"/>
                  </a:ext>
                </a:extLst>
              </p:cNvPr>
              <p:cNvSpPr txBox="1">
                <a:spLocks noChangeArrowheads="1"/>
              </p:cNvSpPr>
              <p:nvPr/>
            </p:nvSpPr>
            <p:spPr bwMode="auto">
              <a:xfrm rot="20957281">
                <a:off x="3433844" y="2595563"/>
                <a:ext cx="1663670" cy="369887"/>
              </a:xfrm>
              <a:prstGeom prst="rect">
                <a:avLst/>
              </a:prstGeom>
              <a:noFill/>
              <a:ln w="12700">
                <a:noFill/>
                <a:miter lim="800000"/>
                <a:headEnd type="none" w="sm" len="sm"/>
                <a:tailEnd type="none" w="sm" len="sm"/>
              </a:ln>
              <a:effectLst/>
            </p:spPr>
            <p:txBody>
              <a:bodyPr wrap="none" anchorCtr="1">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defRPr/>
                </a:pPr>
                <a:r>
                  <a:rPr lang="en-US" altLang="x-none" sz="1800" b="1" i="1">
                    <a:effectLst>
                      <a:outerShdw blurRad="38100" dist="38100" dir="2700000" algn="tl">
                        <a:srgbClr val="C0C0C0"/>
                      </a:outerShdw>
                    </a:effectLst>
                  </a:rPr>
                  <a:t>HTTP / HTML</a:t>
                </a:r>
              </a:p>
            </p:txBody>
          </p:sp>
          <p:sp>
            <p:nvSpPr>
              <p:cNvPr id="296988" name="Text Box 28">
                <a:extLst>
                  <a:ext uri="{FF2B5EF4-FFF2-40B4-BE49-F238E27FC236}">
                    <a16:creationId xmlns:a16="http://schemas.microsoft.com/office/drawing/2014/main" id="{CE55030E-6948-B445-841F-3EBFA234B723}"/>
                  </a:ext>
                </a:extLst>
              </p:cNvPr>
              <p:cNvSpPr txBox="1">
                <a:spLocks noChangeArrowheads="1"/>
              </p:cNvSpPr>
              <p:nvPr/>
            </p:nvSpPr>
            <p:spPr bwMode="auto">
              <a:xfrm>
                <a:off x="3257634" y="3382963"/>
                <a:ext cx="1922428" cy="366712"/>
              </a:xfrm>
              <a:prstGeom prst="rect">
                <a:avLst/>
              </a:prstGeom>
              <a:noFill/>
              <a:ln w="12700">
                <a:noFill/>
                <a:miter lim="800000"/>
                <a:headEnd type="none" w="sm" len="sm"/>
                <a:tailEnd type="none" w="sm" len="sm"/>
              </a:ln>
              <a:effectLst/>
            </p:spPr>
            <p:txBody>
              <a:bodyPr>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a:spcBef>
                    <a:spcPct val="50000"/>
                  </a:spcBef>
                  <a:defRPr/>
                </a:pPr>
                <a:r>
                  <a:rPr lang="en-US" altLang="x-none" sz="1800" b="1">
                    <a:effectLst>
                      <a:outerShdw blurRad="38100" dist="38100" dir="2700000" algn="tl">
                        <a:srgbClr val="C0C0C0"/>
                      </a:outerShdw>
                    </a:effectLst>
                  </a:rPr>
                  <a:t>Presentation</a:t>
                </a:r>
              </a:p>
            </p:txBody>
          </p:sp>
          <p:sp>
            <p:nvSpPr>
              <p:cNvPr id="296989" name="Rectangle 29">
                <a:extLst>
                  <a:ext uri="{FF2B5EF4-FFF2-40B4-BE49-F238E27FC236}">
                    <a16:creationId xmlns:a16="http://schemas.microsoft.com/office/drawing/2014/main" id="{3E498A25-DAEF-8344-A6A2-D309F41A3FA1}"/>
                  </a:ext>
                </a:extLst>
              </p:cNvPr>
              <p:cNvSpPr>
                <a:spLocks noChangeArrowheads="1"/>
              </p:cNvSpPr>
              <p:nvPr/>
            </p:nvSpPr>
            <p:spPr bwMode="auto">
              <a:xfrm rot="20527836">
                <a:off x="2384525" y="2992438"/>
                <a:ext cx="800086" cy="307975"/>
              </a:xfrm>
              <a:prstGeom prst="rect">
                <a:avLst/>
              </a:prstGeom>
              <a:noFill/>
              <a:ln w="9525">
                <a:noFill/>
                <a:miter lim="800000"/>
                <a:headEnd/>
                <a:tailEnd/>
              </a:ln>
              <a:effectLst/>
            </p:spPr>
            <p:txBody>
              <a:bodyPr wrap="none">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defRPr/>
                </a:pPr>
                <a:r>
                  <a:rPr lang="en-US" altLang="x-none" sz="1400" b="1" i="1">
                    <a:effectLst>
                      <a:outerShdw blurRad="38100" dist="38100" dir="2700000" algn="tl">
                        <a:srgbClr val="C0C0C0"/>
                      </a:outerShdw>
                    </a:effectLst>
                  </a:rPr>
                  <a:t>TCP/IP </a:t>
                </a:r>
              </a:p>
            </p:txBody>
          </p:sp>
          <p:pic>
            <p:nvPicPr>
              <p:cNvPr id="34831" name="Picture 35">
                <a:extLst>
                  <a:ext uri="{FF2B5EF4-FFF2-40B4-BE49-F238E27FC236}">
                    <a16:creationId xmlns:a16="http://schemas.microsoft.com/office/drawing/2014/main" id="{B403FF1F-1675-4488-9D56-42E3C595F26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4263" y="3986213"/>
                <a:ext cx="3198812" cy="174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296996" name="Text Box 36">
                <a:extLst>
                  <a:ext uri="{FF2B5EF4-FFF2-40B4-BE49-F238E27FC236}">
                    <a16:creationId xmlns:a16="http://schemas.microsoft.com/office/drawing/2014/main" id="{25003BC5-6B2F-5449-ADCE-2D0732B34AD4}"/>
                  </a:ext>
                </a:extLst>
              </p:cNvPr>
              <p:cNvSpPr txBox="1">
                <a:spLocks noChangeArrowheads="1"/>
              </p:cNvSpPr>
              <p:nvPr/>
            </p:nvSpPr>
            <p:spPr bwMode="auto">
              <a:xfrm rot="20355046">
                <a:off x="1251070" y="2919413"/>
                <a:ext cx="1698594" cy="312737"/>
              </a:xfrm>
              <a:prstGeom prst="rect">
                <a:avLst/>
              </a:prstGeom>
              <a:noFill/>
              <a:ln w="12700">
                <a:noFill/>
                <a:miter lim="800000"/>
                <a:headEnd type="none" w="sm" len="sm"/>
                <a:tailEnd type="none" w="sm" len="sm"/>
              </a:ln>
              <a:effectLst/>
            </p:spPr>
            <p:txBody>
              <a:bodyPr anchorCtr="1">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nSpc>
                    <a:spcPct val="85000"/>
                  </a:lnSpc>
                  <a:defRPr/>
                </a:pPr>
                <a:r>
                  <a:rPr lang="en-US" altLang="x-none" sz="1700" b="1" i="1">
                    <a:effectLst>
                      <a:outerShdw blurRad="38100" dist="38100" dir="2700000" algn="tl">
                        <a:srgbClr val="C0C0C0"/>
                      </a:outerShdw>
                    </a:effectLst>
                  </a:rPr>
                  <a:t>Technology</a:t>
                </a:r>
              </a:p>
            </p:txBody>
          </p:sp>
          <p:sp>
            <p:nvSpPr>
              <p:cNvPr id="296997" name="Text Box 37">
                <a:extLst>
                  <a:ext uri="{FF2B5EF4-FFF2-40B4-BE49-F238E27FC236}">
                    <a16:creationId xmlns:a16="http://schemas.microsoft.com/office/drawing/2014/main" id="{CC0860B8-B2A4-FA4B-8537-D6986D685DDF}"/>
                  </a:ext>
                </a:extLst>
              </p:cNvPr>
              <p:cNvSpPr txBox="1">
                <a:spLocks noChangeArrowheads="1"/>
              </p:cNvSpPr>
              <p:nvPr/>
            </p:nvSpPr>
            <p:spPr bwMode="auto">
              <a:xfrm rot="1289576">
                <a:off x="1379656" y="3922713"/>
                <a:ext cx="1331888" cy="312737"/>
              </a:xfrm>
              <a:prstGeom prst="rect">
                <a:avLst/>
              </a:prstGeom>
              <a:noFill/>
              <a:ln w="12700">
                <a:noFill/>
                <a:miter lim="800000"/>
                <a:headEnd type="none" w="sm" len="sm"/>
                <a:tailEnd type="none" w="sm" len="sm"/>
              </a:ln>
              <a:effectLst/>
            </p:spPr>
            <p:txBody>
              <a:bodyPr anchorCtr="1">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nSpc>
                    <a:spcPct val="85000"/>
                  </a:lnSpc>
                  <a:defRPr/>
                </a:pPr>
                <a:r>
                  <a:rPr lang="en-US" altLang="x-none" sz="1700" b="1" i="1">
                    <a:effectLst>
                      <a:outerShdw blurRad="38100" dist="38100" dir="2700000" algn="tl">
                        <a:srgbClr val="C0C0C0"/>
                      </a:outerShdw>
                    </a:effectLst>
                  </a:rPr>
                  <a:t>Innovation</a:t>
                </a:r>
              </a:p>
            </p:txBody>
          </p:sp>
          <p:sp>
            <p:nvSpPr>
              <p:cNvPr id="296998" name="Text Box 38">
                <a:extLst>
                  <a:ext uri="{FF2B5EF4-FFF2-40B4-BE49-F238E27FC236}">
                    <a16:creationId xmlns:a16="http://schemas.microsoft.com/office/drawing/2014/main" id="{5CA6A6E6-C9D5-F042-A990-D9802E25B09D}"/>
                  </a:ext>
                </a:extLst>
              </p:cNvPr>
              <p:cNvSpPr txBox="1">
                <a:spLocks noChangeArrowheads="1"/>
              </p:cNvSpPr>
              <p:nvPr/>
            </p:nvSpPr>
            <p:spPr bwMode="auto">
              <a:xfrm rot="1222717">
                <a:off x="1581264" y="3843338"/>
                <a:ext cx="2260559" cy="244475"/>
              </a:xfrm>
              <a:prstGeom prst="rect">
                <a:avLst/>
              </a:prstGeom>
              <a:noFill/>
              <a:ln w="12700">
                <a:noFill/>
                <a:miter lim="800000"/>
                <a:headEnd type="none" w="sm" len="sm"/>
                <a:tailEnd type="none" w="sm" len="sm"/>
              </a:ln>
              <a:effectLst/>
            </p:spPr>
            <p:txBody>
              <a:bodyPr anchorCtr="1">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a:defRPr/>
                </a:pPr>
                <a:r>
                  <a:rPr lang="en-US" altLang="x-none" sz="900" b="1" i="1">
                    <a:effectLst>
                      <a:outerShdw blurRad="38100" dist="38100" dir="2700000" algn="tl">
                        <a:srgbClr val="C0C0C0"/>
                      </a:outerShdw>
                    </a:effectLst>
                  </a:rPr>
                  <a:t>FTP,</a:t>
                </a:r>
                <a:r>
                  <a:rPr lang="en-US" altLang="x-none" sz="1000" b="1" i="1">
                    <a:effectLst>
                      <a:outerShdw blurRad="38100" dist="38100" dir="2700000" algn="tl">
                        <a:srgbClr val="C0C0C0"/>
                      </a:outerShdw>
                    </a:effectLst>
                  </a:rPr>
                  <a:t> E-mail, Gopher</a:t>
                </a:r>
              </a:p>
            </p:txBody>
          </p:sp>
          <p:sp>
            <p:nvSpPr>
              <p:cNvPr id="296999" name="Text Box 39">
                <a:extLst>
                  <a:ext uri="{FF2B5EF4-FFF2-40B4-BE49-F238E27FC236}">
                    <a16:creationId xmlns:a16="http://schemas.microsoft.com/office/drawing/2014/main" id="{8D187868-7A48-0A45-A305-B0FC979D349D}"/>
                  </a:ext>
                </a:extLst>
              </p:cNvPr>
              <p:cNvSpPr txBox="1">
                <a:spLocks noChangeArrowheads="1"/>
              </p:cNvSpPr>
              <p:nvPr/>
            </p:nvSpPr>
            <p:spPr bwMode="auto">
              <a:xfrm rot="1110071">
                <a:off x="3629102" y="4273550"/>
                <a:ext cx="1266802" cy="336550"/>
              </a:xfrm>
              <a:prstGeom prst="rect">
                <a:avLst/>
              </a:prstGeom>
              <a:noFill/>
              <a:ln w="12700">
                <a:noFill/>
                <a:miter lim="800000"/>
                <a:headEnd type="none" w="sm" len="sm"/>
                <a:tailEnd type="none" w="sm" len="sm"/>
              </a:ln>
              <a:effectLst/>
            </p:spPr>
            <p:txBody>
              <a:bodyPr wrap="none" anchorCtr="1">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defRPr/>
                </a:pPr>
                <a:r>
                  <a:rPr lang="en-US" altLang="x-none" sz="1600" b="1" i="1">
                    <a:effectLst>
                      <a:outerShdw blurRad="38100" dist="38100" dir="2700000" algn="tl">
                        <a:srgbClr val="C0C0C0"/>
                      </a:outerShdw>
                    </a:effectLst>
                  </a:rPr>
                  <a:t>Web Pages</a:t>
                </a:r>
              </a:p>
            </p:txBody>
          </p:sp>
          <p:sp>
            <p:nvSpPr>
              <p:cNvPr id="297000" name="Text Box 40">
                <a:extLst>
                  <a:ext uri="{FF2B5EF4-FFF2-40B4-BE49-F238E27FC236}">
                    <a16:creationId xmlns:a16="http://schemas.microsoft.com/office/drawing/2014/main" id="{A623F223-E254-8B45-8B12-F5E93396D873}"/>
                  </a:ext>
                </a:extLst>
              </p:cNvPr>
              <p:cNvSpPr txBox="1">
                <a:spLocks noChangeArrowheads="1"/>
              </p:cNvSpPr>
              <p:nvPr/>
            </p:nvSpPr>
            <p:spPr bwMode="auto">
              <a:xfrm>
                <a:off x="3438606" y="4984750"/>
                <a:ext cx="1301726" cy="415925"/>
              </a:xfrm>
              <a:prstGeom prst="rect">
                <a:avLst/>
              </a:prstGeom>
              <a:noFill/>
              <a:ln w="12700">
                <a:noFill/>
                <a:miter lim="800000"/>
                <a:headEnd type="none" w="sm" len="sm"/>
                <a:tailEnd type="none" w="sm" len="sm"/>
              </a:ln>
              <a:effectLst/>
            </p:spPr>
            <p:txBody>
              <a:bodyPr lIns="0" tIns="0" rIns="0" bIns="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a:lnSpc>
                    <a:spcPct val="85000"/>
                  </a:lnSpc>
                  <a:defRPr/>
                </a:pPr>
                <a:r>
                  <a:rPr lang="en-US" altLang="x-none" sz="1600" b="1">
                    <a:effectLst>
                      <a:outerShdw blurRad="38100" dist="38100" dir="2700000" algn="tl">
                        <a:srgbClr val="C0C0C0"/>
                      </a:outerShdw>
                    </a:effectLst>
                  </a:rPr>
                  <a:t>Browse </a:t>
                </a:r>
                <a:br>
                  <a:rPr lang="en-US" altLang="x-none" sz="1600" b="1">
                    <a:effectLst>
                      <a:outerShdw blurRad="38100" dist="38100" dir="2700000" algn="tl">
                        <a:srgbClr val="C0C0C0"/>
                      </a:outerShdw>
                    </a:effectLst>
                  </a:rPr>
                </a:br>
                <a:r>
                  <a:rPr lang="en-US" altLang="x-none" sz="1600" b="1">
                    <a:effectLst>
                      <a:outerShdw blurRad="38100" dist="38100" dir="2700000" algn="tl">
                        <a:srgbClr val="C0C0C0"/>
                      </a:outerShdw>
                    </a:effectLst>
                  </a:rPr>
                  <a:t>the Web</a:t>
                </a:r>
              </a:p>
            </p:txBody>
          </p:sp>
          <p:sp>
            <p:nvSpPr>
              <p:cNvPr id="297001" name="Text Box 41">
                <a:extLst>
                  <a:ext uri="{FF2B5EF4-FFF2-40B4-BE49-F238E27FC236}">
                    <a16:creationId xmlns:a16="http://schemas.microsoft.com/office/drawing/2014/main" id="{9CF66676-549F-0F41-9248-96C3935A1398}"/>
                  </a:ext>
                </a:extLst>
              </p:cNvPr>
              <p:cNvSpPr txBox="1">
                <a:spLocks noChangeArrowheads="1"/>
              </p:cNvSpPr>
              <p:nvPr/>
            </p:nvSpPr>
            <p:spPr bwMode="auto">
              <a:xfrm>
                <a:off x="5107039" y="5681663"/>
                <a:ext cx="1409675" cy="415925"/>
              </a:xfrm>
              <a:prstGeom prst="rect">
                <a:avLst/>
              </a:prstGeom>
              <a:noFill/>
              <a:ln w="12700">
                <a:noFill/>
                <a:miter lim="800000"/>
                <a:headEnd type="none" w="sm" len="sm"/>
                <a:tailEnd type="none" w="sm" len="sm"/>
              </a:ln>
              <a:effectLst/>
            </p:spPr>
            <p:txBody>
              <a:bodyPr lIns="0" tIns="0" rIns="0" bIns="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a:lnSpc>
                    <a:spcPct val="85000"/>
                  </a:lnSpc>
                  <a:defRPr/>
                </a:pPr>
                <a:r>
                  <a:rPr lang="en-US" altLang="x-none" sz="1600" b="1">
                    <a:effectLst>
                      <a:outerShdw blurRad="38100" dist="38100" dir="2700000" algn="tl">
                        <a:srgbClr val="C0C0C0"/>
                      </a:outerShdw>
                    </a:effectLst>
                  </a:rPr>
                  <a:t>Program </a:t>
                </a:r>
                <a:br>
                  <a:rPr lang="en-US" altLang="x-none" sz="1600" b="1">
                    <a:effectLst>
                      <a:outerShdw blurRad="38100" dist="38100" dir="2700000" algn="tl">
                        <a:srgbClr val="C0C0C0"/>
                      </a:outerShdw>
                    </a:effectLst>
                  </a:rPr>
                </a:br>
                <a:r>
                  <a:rPr lang="en-US" altLang="x-none" sz="1600" b="1">
                    <a:effectLst>
                      <a:outerShdw blurRad="38100" dist="38100" dir="2700000" algn="tl">
                        <a:srgbClr val="C0C0C0"/>
                      </a:outerShdw>
                    </a:effectLst>
                  </a:rPr>
                  <a:t>the Web</a:t>
                </a:r>
              </a:p>
            </p:txBody>
          </p:sp>
          <p:sp>
            <p:nvSpPr>
              <p:cNvPr id="297002" name="Text Box 42">
                <a:extLst>
                  <a:ext uri="{FF2B5EF4-FFF2-40B4-BE49-F238E27FC236}">
                    <a16:creationId xmlns:a16="http://schemas.microsoft.com/office/drawing/2014/main" id="{ED4AD4ED-4078-4741-97F4-3F6DE20A18C0}"/>
                  </a:ext>
                </a:extLst>
              </p:cNvPr>
              <p:cNvSpPr txBox="1">
                <a:spLocks noChangeArrowheads="1"/>
              </p:cNvSpPr>
              <p:nvPr/>
            </p:nvSpPr>
            <p:spPr bwMode="auto">
              <a:xfrm rot="1207552">
                <a:off x="5376909" y="4943475"/>
                <a:ext cx="1670020" cy="366713"/>
              </a:xfrm>
              <a:prstGeom prst="rect">
                <a:avLst/>
              </a:prstGeom>
              <a:noFill/>
              <a:ln w="12700">
                <a:noFill/>
                <a:miter lim="800000"/>
                <a:headEnd type="none" w="sm" len="sm"/>
                <a:tailEnd type="none" w="sm" len="sm"/>
              </a:ln>
              <a:effectLst/>
            </p:spPr>
            <p:txBody>
              <a:bodyPr wrap="none" anchorCtr="1">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defRPr/>
                </a:pPr>
                <a:r>
                  <a:rPr lang="en-US" altLang="x-none" sz="1800" b="1" i="1">
                    <a:effectLst>
                      <a:outerShdw blurRad="38100" dist="38100" dir="2700000" algn="tl">
                        <a:srgbClr val="C0C0C0"/>
                      </a:outerShdw>
                    </a:effectLst>
                  </a:rPr>
                  <a:t>Web Services</a:t>
                </a:r>
              </a:p>
            </p:txBody>
          </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a:extLst>
              <a:ext uri="{FF2B5EF4-FFF2-40B4-BE49-F238E27FC236}">
                <a16:creationId xmlns:a16="http://schemas.microsoft.com/office/drawing/2014/main" id="{8E5E8C24-4D40-477B-9FE8-2CC5294B3B11}"/>
              </a:ext>
            </a:extLst>
          </p:cNvPr>
          <p:cNvSpPr>
            <a:spLocks noGrp="1"/>
          </p:cNvSpPr>
          <p:nvPr>
            <p:ph type="title"/>
          </p:nvPr>
        </p:nvSpPr>
        <p:spPr/>
        <p:txBody>
          <a:bodyPr/>
          <a:lstStyle/>
          <a:p>
            <a:r>
              <a:rPr lang="en-US" altLang="en-US" dirty="0">
                <a:solidFill>
                  <a:srgbClr val="FF0000"/>
                </a:solidFill>
                <a:ea typeface="ＭＳ Ｐゴシック" panose="020B0600070205080204" pitchFamily="34" charset="-128"/>
              </a:rPr>
              <a:t>What are web services good for?</a:t>
            </a:r>
          </a:p>
        </p:txBody>
      </p:sp>
      <p:sp>
        <p:nvSpPr>
          <p:cNvPr id="46082" name="Content Placeholder 2">
            <a:extLst>
              <a:ext uri="{FF2B5EF4-FFF2-40B4-BE49-F238E27FC236}">
                <a16:creationId xmlns:a16="http://schemas.microsoft.com/office/drawing/2014/main" id="{A6E02A73-A972-4819-A417-E63A718D4ADE}"/>
              </a:ext>
            </a:extLst>
          </p:cNvPr>
          <p:cNvSpPr>
            <a:spLocks noGrp="1"/>
          </p:cNvSpPr>
          <p:nvPr>
            <p:ph idx="1"/>
          </p:nvPr>
        </p:nvSpPr>
        <p:spPr>
          <a:xfrm>
            <a:off x="457200" y="1707066"/>
            <a:ext cx="8229600" cy="3443868"/>
          </a:xfrm>
        </p:spPr>
        <p:txBody>
          <a:bodyPr/>
          <a:lstStyle/>
          <a:p>
            <a:r>
              <a:rPr lang="en-US" altLang="en-US" dirty="0">
                <a:ea typeface="ＭＳ Ｐゴシック" panose="020B0600070205080204" pitchFamily="34" charset="-128"/>
              </a:rPr>
              <a:t>One of the more important innovations in Web Services is </a:t>
            </a:r>
            <a:r>
              <a:rPr lang="ja-JP" altLang="en-US" dirty="0">
                <a:ea typeface="ＭＳ Ｐゴシック" panose="020B0600070205080204" pitchFamily="34" charset="-128"/>
              </a:rPr>
              <a:t>“</a:t>
            </a:r>
            <a:r>
              <a:rPr lang="en-US" altLang="ja-JP" dirty="0">
                <a:ea typeface="ＭＳ Ｐゴシック" panose="020B0600070205080204" pitchFamily="34" charset="-128"/>
              </a:rPr>
              <a:t>machine-to-machine communications.</a:t>
            </a:r>
            <a:r>
              <a:rPr lang="ja-JP" altLang="en-US" dirty="0">
                <a:ea typeface="ＭＳ Ｐゴシック" panose="020B0600070205080204" pitchFamily="34" charset="-128"/>
              </a:rPr>
              <a:t>”</a:t>
            </a:r>
            <a:r>
              <a:rPr lang="en-US" altLang="ja-JP" dirty="0">
                <a:ea typeface="ＭＳ Ｐゴシック" panose="020B0600070205080204" pitchFamily="34" charset="-128"/>
              </a:rPr>
              <a:t> </a:t>
            </a:r>
          </a:p>
          <a:p>
            <a:r>
              <a:rPr lang="en-US" altLang="en-US" dirty="0">
                <a:ea typeface="ＭＳ Ｐゴシック" panose="020B0600070205080204" pitchFamily="34" charset="-128"/>
              </a:rPr>
              <a:t>This means that a Web Service can ask another Web Service to do something, and that Web Service can ask another Web Service to do something, and so on.</a:t>
            </a:r>
          </a:p>
          <a:p>
            <a:r>
              <a:rPr lang="en-US" altLang="en-US" dirty="0">
                <a:ea typeface="ＭＳ Ｐゴシック" panose="020B0600070205080204" pitchFamily="34" charset="-128"/>
              </a:rPr>
              <a:t>In the future, many Web Services will really just be  aggregations of other Web Services. </a:t>
            </a:r>
          </a:p>
          <a:p>
            <a:endParaRPr lang="en-US" altLang="en-US" dirty="0">
              <a:ea typeface="ＭＳ Ｐゴシック" panose="020B0600070205080204" pitchFamily="34"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E50E7-82C0-4F49-9A41-0886F59D69BE}"/>
              </a:ext>
            </a:extLst>
          </p:cNvPr>
          <p:cNvSpPr>
            <a:spLocks noGrp="1"/>
          </p:cNvSpPr>
          <p:nvPr>
            <p:ph type="title"/>
          </p:nvPr>
        </p:nvSpPr>
        <p:spPr/>
        <p:txBody>
          <a:bodyPr/>
          <a:lstStyle/>
          <a:p>
            <a:r>
              <a:rPr lang="en-US" altLang="en-US" dirty="0">
                <a:solidFill>
                  <a:srgbClr val="FF0000"/>
                </a:solidFill>
                <a:ea typeface="ＭＳ Ｐゴシック" panose="020B0600070205080204" pitchFamily="34" charset="-128"/>
              </a:rPr>
              <a:t>Web Service Architectures</a:t>
            </a:r>
            <a:endParaRPr lang="en-US" dirty="0">
              <a:solidFill>
                <a:srgbClr val="FF0000"/>
              </a:solidFill>
            </a:endParaRPr>
          </a:p>
        </p:txBody>
      </p:sp>
      <p:sp>
        <p:nvSpPr>
          <p:cNvPr id="4" name="Content Placeholder 3">
            <a:extLst>
              <a:ext uri="{FF2B5EF4-FFF2-40B4-BE49-F238E27FC236}">
                <a16:creationId xmlns:a16="http://schemas.microsoft.com/office/drawing/2014/main" id="{D2C39D9F-2DB4-46F3-8965-7BC2C038CAA2}"/>
              </a:ext>
            </a:extLst>
          </p:cNvPr>
          <p:cNvSpPr>
            <a:spLocks noGrp="1"/>
          </p:cNvSpPr>
          <p:nvPr>
            <p:ph idx="1"/>
          </p:nvPr>
        </p:nvSpPr>
        <p:spPr>
          <a:xfrm>
            <a:off x="628650" y="1825625"/>
            <a:ext cx="7886700" cy="1550168"/>
          </a:xfrm>
          <a:prstGeom prst="rect">
            <a:avLst/>
          </a:prstGeom>
        </p:spPr>
        <p:txBody>
          <a:bodyPr>
            <a:spAutoFit/>
          </a:bodyPr>
          <a:lstStyle/>
          <a:p>
            <a:r>
              <a:rPr lang="en-US" altLang="en-US" sz="3200" dirty="0">
                <a:ea typeface="ＭＳ Ｐゴシック" panose="020B0600070205080204" pitchFamily="34" charset="-128"/>
              </a:rPr>
              <a:t>Two main approaches:</a:t>
            </a:r>
          </a:p>
          <a:p>
            <a:pPr lvl="1"/>
            <a:r>
              <a:rPr lang="en-US" altLang="en-US" sz="3200" dirty="0">
                <a:ea typeface="ＭＳ Ｐゴシック" panose="020B0600070205080204" pitchFamily="34" charset="-128"/>
              </a:rPr>
              <a:t>SOAP (Simple Object Access Protocol)</a:t>
            </a:r>
          </a:p>
          <a:p>
            <a:pPr lvl="1"/>
            <a:r>
              <a:rPr lang="en-US" altLang="en-US" sz="3200" dirty="0">
                <a:ea typeface="ＭＳ Ｐゴシック" panose="020B0600070205080204" pitchFamily="34" charset="-128"/>
              </a:rPr>
              <a:t>REST (Representational State Transfer)</a:t>
            </a:r>
          </a:p>
        </p:txBody>
      </p:sp>
    </p:spTree>
    <p:extLst>
      <p:ext uri="{BB962C8B-B14F-4D97-AF65-F5344CB8AC3E}">
        <p14:creationId xmlns:p14="http://schemas.microsoft.com/office/powerpoint/2010/main" val="27767238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3">
            <a:extLst>
              <a:ext uri="{FF2B5EF4-FFF2-40B4-BE49-F238E27FC236}">
                <a16:creationId xmlns:a16="http://schemas.microsoft.com/office/drawing/2014/main" id="{23A361D6-8D10-4D02-A056-7288A5B09A7E}"/>
              </a:ext>
            </a:extLst>
          </p:cNvPr>
          <p:cNvSpPr>
            <a:spLocks noGrp="1"/>
          </p:cNvSpPr>
          <p:nvPr>
            <p:ph type="ctrTitle"/>
          </p:nvPr>
        </p:nvSpPr>
        <p:spPr>
          <a:xfrm>
            <a:off x="2209800" y="2133600"/>
            <a:ext cx="4876800" cy="1470025"/>
          </a:xfrm>
        </p:spPr>
        <p:txBody>
          <a:bodyPr/>
          <a:lstStyle/>
          <a:p>
            <a:pPr eaLnBrk="1" hangingPunct="1"/>
            <a:r>
              <a:rPr lang="en-US" altLang="en-US" sz="4800" dirty="0"/>
              <a:t>XML Introduction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3D43C3D8-7957-4887-8B91-8BB0771A32DE}"/>
              </a:ext>
            </a:extLst>
          </p:cNvPr>
          <p:cNvSpPr>
            <a:spLocks noGrp="1"/>
          </p:cNvSpPr>
          <p:nvPr>
            <p:ph type="title"/>
          </p:nvPr>
        </p:nvSpPr>
        <p:spPr/>
        <p:txBody>
          <a:bodyPr/>
          <a:lstStyle/>
          <a:p>
            <a:pPr eaLnBrk="1" hangingPunct="1"/>
            <a:r>
              <a:rPr lang="en-US" altLang="en-US" sz="3600"/>
              <a:t>An example of XML</a:t>
            </a:r>
          </a:p>
        </p:txBody>
      </p:sp>
      <p:sp>
        <p:nvSpPr>
          <p:cNvPr id="22530" name="Rectangle 3">
            <a:extLst>
              <a:ext uri="{FF2B5EF4-FFF2-40B4-BE49-F238E27FC236}">
                <a16:creationId xmlns:a16="http://schemas.microsoft.com/office/drawing/2014/main" id="{24B6D01F-2CBA-4335-9814-0E1E1C1FA209}"/>
              </a:ext>
            </a:extLst>
          </p:cNvPr>
          <p:cNvSpPr>
            <a:spLocks noGrp="1"/>
          </p:cNvSpPr>
          <p:nvPr>
            <p:ph idx="1"/>
          </p:nvPr>
        </p:nvSpPr>
        <p:spPr/>
        <p:txBody>
          <a:bodyPr/>
          <a:lstStyle/>
          <a:p>
            <a:pPr eaLnBrk="1" hangingPunct="1">
              <a:buFont typeface="Wingdings" panose="05000000000000000000" pitchFamily="2" charset="2"/>
              <a:buNone/>
            </a:pPr>
            <a:r>
              <a:rPr lang="en-US" altLang="en-US" sz="2800" dirty="0"/>
              <a:t>&lt;?xml version="1.0" encoding="UTF-8"?&gt;</a:t>
            </a:r>
          </a:p>
          <a:p>
            <a:pPr eaLnBrk="1" hangingPunct="1">
              <a:buFont typeface="Wingdings" panose="05000000000000000000" pitchFamily="2" charset="2"/>
              <a:buNone/>
            </a:pPr>
            <a:r>
              <a:rPr lang="en-US" altLang="en-US" sz="2800" dirty="0"/>
              <a:t>&lt;note&gt; </a:t>
            </a:r>
          </a:p>
          <a:p>
            <a:pPr eaLnBrk="1" hangingPunct="1">
              <a:buFont typeface="Wingdings" panose="05000000000000000000" pitchFamily="2" charset="2"/>
              <a:buNone/>
            </a:pPr>
            <a:r>
              <a:rPr lang="en-US" altLang="en-US" sz="2800" dirty="0"/>
              <a:t>	&lt;to&gt;</a:t>
            </a:r>
            <a:r>
              <a:rPr lang="en-US" altLang="zh-CN" sz="2800" dirty="0"/>
              <a:t>Bob</a:t>
            </a:r>
            <a:r>
              <a:rPr lang="en-US" altLang="en-US" sz="2800" dirty="0"/>
              <a:t>&lt;/to&gt; </a:t>
            </a:r>
          </a:p>
          <a:p>
            <a:pPr eaLnBrk="1" hangingPunct="1">
              <a:buFont typeface="Wingdings" panose="05000000000000000000" pitchFamily="2" charset="2"/>
              <a:buNone/>
            </a:pPr>
            <a:r>
              <a:rPr lang="en-US" altLang="en-US" sz="2800" dirty="0"/>
              <a:t>	&lt;from&gt;Alice&lt;/from&gt;</a:t>
            </a:r>
          </a:p>
          <a:p>
            <a:pPr eaLnBrk="1" hangingPunct="1">
              <a:buFont typeface="Wingdings" panose="05000000000000000000" pitchFamily="2" charset="2"/>
              <a:buNone/>
            </a:pPr>
            <a:r>
              <a:rPr lang="en-US" altLang="en-US" sz="2800" dirty="0"/>
              <a:t>	&lt;heading&gt;Reminder&lt;/heading&gt;</a:t>
            </a:r>
          </a:p>
          <a:p>
            <a:pPr eaLnBrk="1" hangingPunct="1">
              <a:buFont typeface="Wingdings" panose="05000000000000000000" pitchFamily="2" charset="2"/>
              <a:buNone/>
            </a:pPr>
            <a:r>
              <a:rPr lang="en-US" altLang="en-US" sz="2800" dirty="0"/>
              <a:t>	&lt;body&gt;</a:t>
            </a:r>
            <a:r>
              <a:rPr lang="en-US" altLang="zh-CN" sz="2800" dirty="0"/>
              <a:t>The plan for </a:t>
            </a:r>
            <a:r>
              <a:rPr lang="en-US" altLang="en-US" sz="2800" dirty="0"/>
              <a:t>this weekend.&lt;/body&gt; </a:t>
            </a:r>
          </a:p>
          <a:p>
            <a:pPr eaLnBrk="1" hangingPunct="1">
              <a:buFont typeface="Wingdings" panose="05000000000000000000" pitchFamily="2" charset="2"/>
              <a:buNone/>
            </a:pPr>
            <a:r>
              <a:rPr lang="en-US" altLang="en-US" sz="2800" dirty="0"/>
              <a:t>&lt;/note&gt;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8C263127-7D6D-43C9-AD7D-2451EC802AA9}"/>
              </a:ext>
            </a:extLst>
          </p:cNvPr>
          <p:cNvSpPr>
            <a:spLocks noGrp="1"/>
          </p:cNvSpPr>
          <p:nvPr>
            <p:ph type="title"/>
          </p:nvPr>
        </p:nvSpPr>
        <p:spPr/>
        <p:txBody>
          <a:bodyPr/>
          <a:lstStyle/>
          <a:p>
            <a:pPr eaLnBrk="1" hangingPunct="1"/>
            <a:r>
              <a:rPr lang="en-US" altLang="en-US" sz="3600" dirty="0"/>
              <a:t>Difference between XML and HTML</a:t>
            </a:r>
          </a:p>
        </p:txBody>
      </p:sp>
      <p:sp>
        <p:nvSpPr>
          <p:cNvPr id="21506" name="Rectangle 3">
            <a:extLst>
              <a:ext uri="{FF2B5EF4-FFF2-40B4-BE49-F238E27FC236}">
                <a16:creationId xmlns:a16="http://schemas.microsoft.com/office/drawing/2014/main" id="{CA553263-1D5E-4F6E-AB3C-2081DBBE0DF8}"/>
              </a:ext>
            </a:extLst>
          </p:cNvPr>
          <p:cNvSpPr>
            <a:spLocks noGrp="1"/>
          </p:cNvSpPr>
          <p:nvPr>
            <p:ph idx="1"/>
          </p:nvPr>
        </p:nvSpPr>
        <p:spPr>
          <a:xfrm>
            <a:off x="457200" y="1752600"/>
            <a:ext cx="7772400" cy="4114800"/>
          </a:xfrm>
        </p:spPr>
        <p:txBody>
          <a:bodyPr/>
          <a:lstStyle/>
          <a:p>
            <a:pPr eaLnBrk="1" hangingPunct="1">
              <a:lnSpc>
                <a:spcPct val="80000"/>
              </a:lnSpc>
              <a:buFont typeface="Wingdings" panose="05000000000000000000" pitchFamily="2" charset="2"/>
              <a:buNone/>
            </a:pPr>
            <a:r>
              <a:rPr lang="en-US" altLang="en-US" sz="2800" dirty="0"/>
              <a:t>XML was designed to carry data, not displaying data</a:t>
            </a:r>
          </a:p>
          <a:p>
            <a:pPr eaLnBrk="1" hangingPunct="1">
              <a:lnSpc>
                <a:spcPct val="80000"/>
              </a:lnSpc>
              <a:buFont typeface="Wingdings" panose="05000000000000000000" pitchFamily="2" charset="2"/>
              <a:buNone/>
            </a:pPr>
            <a:endParaRPr lang="en-US" altLang="en-US" sz="2800" dirty="0"/>
          </a:p>
          <a:p>
            <a:pPr eaLnBrk="1" hangingPunct="1">
              <a:lnSpc>
                <a:spcPct val="80000"/>
              </a:lnSpc>
            </a:pPr>
            <a:r>
              <a:rPr lang="en-US" altLang="en-US" sz="2400" dirty="0"/>
              <a:t>XML is not a replacement for HTML.</a:t>
            </a:r>
            <a:br>
              <a:rPr lang="en-US" altLang="en-US" sz="2400" dirty="0"/>
            </a:br>
            <a:endParaRPr lang="en-US" altLang="en-US" sz="2400" dirty="0"/>
          </a:p>
          <a:p>
            <a:pPr eaLnBrk="1" hangingPunct="1">
              <a:lnSpc>
                <a:spcPct val="80000"/>
              </a:lnSpc>
            </a:pPr>
            <a:r>
              <a:rPr lang="en-US" altLang="en-US" sz="2400" dirty="0"/>
              <a:t>Different goals:</a:t>
            </a:r>
          </a:p>
          <a:p>
            <a:pPr eaLnBrk="1" hangingPunct="1">
              <a:lnSpc>
                <a:spcPct val="80000"/>
              </a:lnSpc>
              <a:buFont typeface="Wingdings" panose="05000000000000000000" pitchFamily="2" charset="2"/>
              <a:buNone/>
            </a:pPr>
            <a:r>
              <a:rPr lang="en-US" altLang="en-US" sz="2000" dirty="0"/>
              <a:t>	</a:t>
            </a:r>
            <a:r>
              <a:rPr lang="en-US" altLang="en-US" sz="2000" dirty="0">
                <a:solidFill>
                  <a:schemeClr val="hlink"/>
                </a:solidFill>
              </a:rPr>
              <a:t>XML </a:t>
            </a:r>
            <a:r>
              <a:rPr lang="en-US" altLang="en-US" sz="2000" dirty="0"/>
              <a:t>was designed to</a:t>
            </a:r>
            <a:r>
              <a:rPr lang="en-US" altLang="en-US" sz="2000" dirty="0">
                <a:solidFill>
                  <a:schemeClr val="hlink"/>
                </a:solidFill>
              </a:rPr>
              <a:t> describe </a:t>
            </a:r>
            <a:r>
              <a:rPr lang="en-US" altLang="en-US" sz="2000" dirty="0"/>
              <a:t>data and to focus on </a:t>
            </a:r>
            <a:r>
              <a:rPr lang="en-US" altLang="en-US" sz="2000" dirty="0">
                <a:solidFill>
                  <a:schemeClr val="hlink"/>
                </a:solidFill>
              </a:rPr>
              <a:t>what data is</a:t>
            </a:r>
            <a:r>
              <a:rPr lang="en-US" altLang="en-US" sz="2000" dirty="0"/>
              <a:t>.</a:t>
            </a:r>
            <a:br>
              <a:rPr lang="en-US" altLang="en-US" sz="2000" dirty="0"/>
            </a:br>
            <a:r>
              <a:rPr lang="en-US" altLang="en-US" sz="2000" dirty="0">
                <a:solidFill>
                  <a:schemeClr val="hlink"/>
                </a:solidFill>
              </a:rPr>
              <a:t>HTML</a:t>
            </a:r>
            <a:r>
              <a:rPr lang="en-US" altLang="en-US" sz="2000" dirty="0"/>
              <a:t> was designed to</a:t>
            </a:r>
            <a:r>
              <a:rPr lang="en-US" altLang="en-US" sz="2000" dirty="0">
                <a:solidFill>
                  <a:schemeClr val="hlink"/>
                </a:solidFill>
              </a:rPr>
              <a:t> display</a:t>
            </a:r>
            <a:r>
              <a:rPr lang="en-US" altLang="en-US" sz="2000" dirty="0"/>
              <a:t> data and to focus on </a:t>
            </a:r>
            <a:r>
              <a:rPr lang="en-US" altLang="en-US" sz="2000" dirty="0">
                <a:solidFill>
                  <a:schemeClr val="hlink"/>
                </a:solidFill>
              </a:rPr>
              <a:t>how data looks</a:t>
            </a:r>
            <a:r>
              <a:rPr lang="en-US" altLang="en-US" sz="2000" dirty="0"/>
              <a:t>.</a:t>
            </a:r>
          </a:p>
          <a:p>
            <a:pPr eaLnBrk="1" hangingPunct="1">
              <a:lnSpc>
                <a:spcPct val="80000"/>
              </a:lnSpc>
            </a:pPr>
            <a:endParaRPr lang="en-US" altLang="en-US" sz="2000" dirty="0"/>
          </a:p>
          <a:p>
            <a:pPr eaLnBrk="1" hangingPunct="1">
              <a:lnSpc>
                <a:spcPct val="80000"/>
              </a:lnSpc>
            </a:pPr>
            <a:r>
              <a:rPr lang="en-US" altLang="en-US" sz="2400" dirty="0"/>
              <a:t>HTML is about displaying information, </a:t>
            </a:r>
            <a:r>
              <a:rPr lang="en-US" altLang="zh-CN" sz="2400" dirty="0"/>
              <a:t>and</a:t>
            </a:r>
            <a:r>
              <a:rPr lang="en-US" altLang="en-US" sz="2400" dirty="0"/>
              <a:t> XML is about describing information.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0E9D7704-976C-4365-BC54-6A1864DAFBE8}"/>
              </a:ext>
            </a:extLst>
          </p:cNvPr>
          <p:cNvSpPr>
            <a:spLocks noGrp="1"/>
          </p:cNvSpPr>
          <p:nvPr>
            <p:ph type="title"/>
          </p:nvPr>
        </p:nvSpPr>
        <p:spPr/>
        <p:txBody>
          <a:bodyPr/>
          <a:lstStyle/>
          <a:p>
            <a:pPr eaLnBrk="1" hangingPunct="1"/>
            <a:r>
              <a:rPr lang="en-US" altLang="en-US" sz="3600"/>
              <a:t>Why Is XML Important? </a:t>
            </a:r>
          </a:p>
        </p:txBody>
      </p:sp>
      <p:sp>
        <p:nvSpPr>
          <p:cNvPr id="24578" name="Rectangle 3">
            <a:extLst>
              <a:ext uri="{FF2B5EF4-FFF2-40B4-BE49-F238E27FC236}">
                <a16:creationId xmlns:a16="http://schemas.microsoft.com/office/drawing/2014/main" id="{5E7E3FC9-C381-4FC8-8898-3DF665FF2105}"/>
              </a:ext>
            </a:extLst>
          </p:cNvPr>
          <p:cNvSpPr>
            <a:spLocks noGrp="1"/>
          </p:cNvSpPr>
          <p:nvPr>
            <p:ph idx="1"/>
          </p:nvPr>
        </p:nvSpPr>
        <p:spPr/>
        <p:txBody>
          <a:bodyPr/>
          <a:lstStyle/>
          <a:p>
            <a:pPr marL="609600" indent="-609600" eaLnBrk="1" hangingPunct="1">
              <a:lnSpc>
                <a:spcPct val="90000"/>
              </a:lnSpc>
            </a:pPr>
            <a:r>
              <a:rPr lang="en-US" altLang="en-US" sz="2800" dirty="0">
                <a:solidFill>
                  <a:schemeClr val="tx2"/>
                </a:solidFill>
              </a:rPr>
              <a:t>Plain Text </a:t>
            </a:r>
          </a:p>
          <a:p>
            <a:pPr marL="990600" lvl="1" indent="-533400" eaLnBrk="1" hangingPunct="1">
              <a:lnSpc>
                <a:spcPct val="90000"/>
              </a:lnSpc>
            </a:pPr>
            <a:r>
              <a:rPr lang="en-US" altLang="en-US" sz="2400" dirty="0"/>
              <a:t>Easy to edit</a:t>
            </a:r>
          </a:p>
          <a:p>
            <a:pPr marL="990600" lvl="1" indent="-533400" eaLnBrk="1" hangingPunct="1">
              <a:lnSpc>
                <a:spcPct val="90000"/>
              </a:lnSpc>
            </a:pPr>
            <a:r>
              <a:rPr lang="en-US" altLang="en-US" sz="2400" dirty="0"/>
              <a:t>Useful for storing small amounts of data </a:t>
            </a:r>
          </a:p>
          <a:p>
            <a:pPr marL="990600" lvl="1" indent="-533400" eaLnBrk="1" hangingPunct="1">
              <a:lnSpc>
                <a:spcPct val="90000"/>
              </a:lnSpc>
            </a:pPr>
            <a:r>
              <a:rPr lang="en-US" altLang="en-US" sz="2400" dirty="0"/>
              <a:t>Possible to efficiently store large amounts of XML data through an XML front end to a database</a:t>
            </a:r>
          </a:p>
          <a:p>
            <a:pPr marL="990600" lvl="1" indent="-533400" eaLnBrk="1" hangingPunct="1">
              <a:lnSpc>
                <a:spcPct val="90000"/>
              </a:lnSpc>
            </a:pPr>
            <a:endParaRPr lang="en-US" altLang="en-US" sz="2400" dirty="0"/>
          </a:p>
          <a:p>
            <a:pPr marL="609600" indent="-609600" eaLnBrk="1" hangingPunct="1">
              <a:lnSpc>
                <a:spcPct val="90000"/>
              </a:lnSpc>
            </a:pPr>
            <a:r>
              <a:rPr lang="en-US" altLang="en-US" sz="2800" dirty="0">
                <a:solidFill>
                  <a:schemeClr val="tx2"/>
                </a:solidFill>
              </a:rPr>
              <a:t>Data Identification </a:t>
            </a:r>
          </a:p>
          <a:p>
            <a:pPr marL="990600" lvl="1" indent="-533400" eaLnBrk="1" hangingPunct="1">
              <a:lnSpc>
                <a:spcPct val="90000"/>
              </a:lnSpc>
            </a:pPr>
            <a:r>
              <a:rPr lang="en-US" altLang="en-US" sz="2400" dirty="0"/>
              <a:t>Tell you what kind of data you have</a:t>
            </a:r>
          </a:p>
          <a:p>
            <a:pPr marL="990600" lvl="1" indent="-533400" eaLnBrk="1" hangingPunct="1">
              <a:lnSpc>
                <a:spcPct val="90000"/>
              </a:lnSpc>
            </a:pPr>
            <a:r>
              <a:rPr lang="en-US" altLang="en-US" sz="2400" dirty="0"/>
              <a:t>Can be used in different ways by different applications </a:t>
            </a:r>
          </a:p>
          <a:p>
            <a:pPr marL="609600" indent="-609600" eaLnBrk="1" hangingPunct="1">
              <a:lnSpc>
                <a:spcPct val="90000"/>
              </a:lnSpc>
              <a:buFont typeface="Wingdings" panose="05000000000000000000" pitchFamily="2" charset="2"/>
              <a:buNone/>
            </a:pPr>
            <a:endParaRPr lang="en-US" alt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4355A9DE-461C-4346-8060-344C81F6647D}"/>
              </a:ext>
            </a:extLst>
          </p:cNvPr>
          <p:cNvSpPr>
            <a:spLocks noGrp="1"/>
          </p:cNvSpPr>
          <p:nvPr>
            <p:ph type="title"/>
          </p:nvPr>
        </p:nvSpPr>
        <p:spPr/>
        <p:txBody>
          <a:bodyPr/>
          <a:lstStyle/>
          <a:p>
            <a:pPr eaLnBrk="1" hangingPunct="1"/>
            <a:r>
              <a:rPr lang="en-US" altLang="en-US" sz="3600"/>
              <a:t>Why is XML important?</a:t>
            </a:r>
          </a:p>
        </p:txBody>
      </p:sp>
      <p:sp>
        <p:nvSpPr>
          <p:cNvPr id="26626" name="Rectangle 3">
            <a:extLst>
              <a:ext uri="{FF2B5EF4-FFF2-40B4-BE49-F238E27FC236}">
                <a16:creationId xmlns:a16="http://schemas.microsoft.com/office/drawing/2014/main" id="{6EC96DC6-694F-424D-B8D1-134BF37358F0}"/>
              </a:ext>
            </a:extLst>
          </p:cNvPr>
          <p:cNvSpPr>
            <a:spLocks noGrp="1"/>
          </p:cNvSpPr>
          <p:nvPr>
            <p:ph idx="1"/>
          </p:nvPr>
        </p:nvSpPr>
        <p:spPr/>
        <p:txBody>
          <a:bodyPr/>
          <a:lstStyle/>
          <a:p>
            <a:pPr marL="609600" indent="-609600" eaLnBrk="1" hangingPunct="1"/>
            <a:r>
              <a:rPr lang="en-US" altLang="en-US" sz="2800" dirty="0">
                <a:solidFill>
                  <a:schemeClr val="tx2"/>
                </a:solidFill>
              </a:rPr>
              <a:t>Hierarchical </a:t>
            </a:r>
          </a:p>
          <a:p>
            <a:pPr marL="990600" lvl="1" indent="-533400" eaLnBrk="1" hangingPunct="1"/>
            <a:r>
              <a:rPr lang="en-US" altLang="en-US" sz="2000" dirty="0"/>
              <a:t>Faster to access </a:t>
            </a:r>
          </a:p>
          <a:p>
            <a:pPr marL="990600" lvl="1" indent="-533400" eaLnBrk="1" hangingPunct="1"/>
            <a:r>
              <a:rPr lang="en-US" altLang="en-US" sz="2000" dirty="0"/>
              <a:t>Easier to rearrange </a:t>
            </a:r>
          </a:p>
          <a:p>
            <a:pPr marL="609600" indent="-609600" eaLnBrk="1" hangingPunct="1">
              <a:buFont typeface="Wingdings" panose="05000000000000000000" pitchFamily="2" charset="2"/>
              <a:buNone/>
            </a:pPr>
            <a:endParaRPr lang="en-US" altLang="en-US" sz="2000" dirty="0"/>
          </a:p>
          <a:p>
            <a:pPr marL="609600" indent="-609600" eaLnBrk="1" hangingPunct="1"/>
            <a:r>
              <a:rPr lang="en-US" altLang="en-US" sz="2800" dirty="0">
                <a:solidFill>
                  <a:schemeClr val="tx2"/>
                </a:solidFill>
              </a:rPr>
              <a:t>Easily Processed</a:t>
            </a:r>
            <a:r>
              <a:rPr lang="en-US" altLang="en-US" sz="2800" dirty="0"/>
              <a:t> </a:t>
            </a:r>
          </a:p>
          <a:p>
            <a:pPr marL="990600" lvl="1" indent="-533400" eaLnBrk="1" hangingPunct="1"/>
            <a:r>
              <a:rPr lang="en-US" altLang="en-US" sz="2000" dirty="0"/>
              <a:t>Regular and consistent notation</a:t>
            </a:r>
          </a:p>
          <a:p>
            <a:pPr marL="990600" lvl="1" indent="-533400" eaLnBrk="1" hangingPunct="1"/>
            <a:r>
              <a:rPr lang="en-US" altLang="en-US" sz="2000" dirty="0"/>
              <a:t>Vendor-neutral standard</a:t>
            </a:r>
          </a:p>
          <a:p>
            <a:pPr marL="609600" indent="-609600" eaLnBrk="1" hangingPunct="1">
              <a:buFont typeface="Wingdings" panose="05000000000000000000" pitchFamily="2" charset="2"/>
              <a:buNone/>
            </a:pPr>
            <a:endParaRPr lang="en-US" alt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2840F33C-8DEA-43DA-854C-698516B2C9A9}"/>
              </a:ext>
            </a:extLst>
          </p:cNvPr>
          <p:cNvSpPr>
            <a:spLocks noGrp="1"/>
          </p:cNvSpPr>
          <p:nvPr>
            <p:ph type="title"/>
          </p:nvPr>
        </p:nvSpPr>
        <p:spPr/>
        <p:txBody>
          <a:bodyPr/>
          <a:lstStyle/>
          <a:p>
            <a:pPr eaLnBrk="1" hangingPunct="1"/>
            <a:r>
              <a:rPr lang="en-US" altLang="en-US" sz="3600"/>
              <a:t>XML Building blocks</a:t>
            </a:r>
          </a:p>
        </p:txBody>
      </p:sp>
      <p:sp>
        <p:nvSpPr>
          <p:cNvPr id="30722" name="Rectangle 3">
            <a:extLst>
              <a:ext uri="{FF2B5EF4-FFF2-40B4-BE49-F238E27FC236}">
                <a16:creationId xmlns:a16="http://schemas.microsoft.com/office/drawing/2014/main" id="{44702AE4-FB22-427F-9EC2-8A3AA315E497}"/>
              </a:ext>
            </a:extLst>
          </p:cNvPr>
          <p:cNvSpPr>
            <a:spLocks noGrp="1"/>
          </p:cNvSpPr>
          <p:nvPr>
            <p:ph idx="1"/>
          </p:nvPr>
        </p:nvSpPr>
        <p:spPr/>
        <p:txBody>
          <a:bodyPr/>
          <a:lstStyle/>
          <a:p>
            <a:pPr eaLnBrk="1" hangingPunct="1"/>
            <a:r>
              <a:rPr lang="en-US" altLang="en-US" sz="2800" dirty="0"/>
              <a:t>Element</a:t>
            </a:r>
          </a:p>
          <a:p>
            <a:pPr eaLnBrk="1" hangingPunct="1">
              <a:buFont typeface="Wingdings" panose="05000000000000000000" pitchFamily="2" charset="2"/>
              <a:buNone/>
            </a:pPr>
            <a:r>
              <a:rPr lang="en-US" altLang="en-US" sz="2000" dirty="0"/>
              <a:t>	Delimited by angle brackets </a:t>
            </a:r>
          </a:p>
          <a:p>
            <a:pPr eaLnBrk="1" hangingPunct="1">
              <a:buFont typeface="Wingdings" panose="05000000000000000000" pitchFamily="2" charset="2"/>
              <a:buNone/>
            </a:pPr>
            <a:r>
              <a:rPr lang="en-US" altLang="en-US" sz="2000" dirty="0"/>
              <a:t>	Identify the nature of the content they surround</a:t>
            </a:r>
          </a:p>
          <a:p>
            <a:pPr eaLnBrk="1" hangingPunct="1">
              <a:buFont typeface="Wingdings" panose="05000000000000000000" pitchFamily="2" charset="2"/>
              <a:buNone/>
            </a:pPr>
            <a:r>
              <a:rPr lang="en-US" altLang="en-US" sz="2000" dirty="0"/>
              <a:t>	General format: </a:t>
            </a:r>
            <a:r>
              <a:rPr lang="en-US" altLang="en-US" sz="1800" dirty="0">
                <a:solidFill>
                  <a:schemeClr val="accent1"/>
                </a:solidFill>
              </a:rPr>
              <a:t>&lt;element&gt; … &lt;/element&gt;</a:t>
            </a:r>
          </a:p>
          <a:p>
            <a:pPr eaLnBrk="1" hangingPunct="1">
              <a:buFont typeface="Wingdings" panose="05000000000000000000" pitchFamily="2" charset="2"/>
              <a:buNone/>
            </a:pPr>
            <a:r>
              <a:rPr lang="en-US" altLang="en-US" sz="2000" dirty="0"/>
              <a:t>	Empty element: </a:t>
            </a:r>
            <a:r>
              <a:rPr lang="en-US" altLang="en-US" sz="1800" dirty="0">
                <a:solidFill>
                  <a:schemeClr val="accent1"/>
                </a:solidFill>
              </a:rPr>
              <a:t>&lt;empty-Element/&gt;</a:t>
            </a:r>
          </a:p>
          <a:p>
            <a:pPr eaLnBrk="1" hangingPunct="1">
              <a:buFont typeface="Wingdings" panose="05000000000000000000" pitchFamily="2" charset="2"/>
              <a:buNone/>
            </a:pPr>
            <a:endParaRPr lang="en-US" altLang="en-US" sz="1800" dirty="0">
              <a:solidFill>
                <a:schemeClr val="accent1"/>
              </a:solidFill>
            </a:endParaRPr>
          </a:p>
          <a:p>
            <a:pPr eaLnBrk="1" hangingPunct="1"/>
            <a:r>
              <a:rPr lang="en-US" altLang="en-US" sz="2800" dirty="0"/>
              <a:t>Attribute</a:t>
            </a:r>
          </a:p>
          <a:p>
            <a:pPr eaLnBrk="1" hangingPunct="1">
              <a:buFont typeface="Wingdings" panose="05000000000000000000" pitchFamily="2" charset="2"/>
              <a:buNone/>
            </a:pPr>
            <a:r>
              <a:rPr lang="en-US" altLang="en-US" sz="2000" dirty="0"/>
              <a:t>	Name-value pairs that occur inside start-tags after element name, like:  </a:t>
            </a:r>
            <a:r>
              <a:rPr lang="en-US" altLang="en-US" sz="1800" dirty="0">
                <a:solidFill>
                  <a:schemeClr val="accent1"/>
                </a:solidFill>
              </a:rPr>
              <a:t>&lt;element attribute=</a:t>
            </a:r>
            <a:r>
              <a:rPr lang="ja-JP" altLang="en-US" sz="1800" dirty="0">
                <a:solidFill>
                  <a:schemeClr val="accent1"/>
                </a:solidFill>
              </a:rPr>
              <a:t>“</a:t>
            </a:r>
            <a:r>
              <a:rPr lang="en-US" altLang="ja-JP" sz="1800" dirty="0">
                <a:solidFill>
                  <a:schemeClr val="accent1"/>
                </a:solidFill>
              </a:rPr>
              <a:t>value</a:t>
            </a:r>
            <a:r>
              <a:rPr lang="ja-JP" altLang="en-US" sz="1800" dirty="0">
                <a:solidFill>
                  <a:schemeClr val="accent1"/>
                </a:solidFill>
              </a:rPr>
              <a:t>”</a:t>
            </a:r>
            <a:r>
              <a:rPr lang="en-US" altLang="ja-JP" sz="1800" dirty="0">
                <a:solidFill>
                  <a:schemeClr val="accent1"/>
                </a:solidFill>
              </a:rPr>
              <a:t>&gt; </a:t>
            </a:r>
            <a:endParaRPr lang="en-US" altLang="en-US" sz="1800" dirty="0">
              <a:solidFill>
                <a:schemeClr val="accen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94213-ED80-4044-A079-B0F8D019C287}"/>
              </a:ext>
            </a:extLst>
          </p:cNvPr>
          <p:cNvSpPr>
            <a:spLocks noGrp="1"/>
          </p:cNvSpPr>
          <p:nvPr>
            <p:ph type="title"/>
          </p:nvPr>
        </p:nvSpPr>
        <p:spPr>
          <a:xfrm>
            <a:off x="457200" y="152400"/>
            <a:ext cx="8229600" cy="639762"/>
          </a:xfrm>
        </p:spPr>
        <p:txBody>
          <a:bodyPr>
            <a:normAutofit fontScale="90000"/>
          </a:bodyPr>
          <a:lstStyle/>
          <a:p>
            <a:r>
              <a:rPr lang="en-US" altLang="zh-CN" sz="4000" dirty="0"/>
              <a:t>XML  Structure</a:t>
            </a:r>
            <a:endParaRPr lang="en-US" sz="4000" dirty="0"/>
          </a:p>
        </p:txBody>
      </p:sp>
      <p:pic>
        <p:nvPicPr>
          <p:cNvPr id="4" name="Picture 3">
            <a:extLst>
              <a:ext uri="{FF2B5EF4-FFF2-40B4-BE49-F238E27FC236}">
                <a16:creationId xmlns:a16="http://schemas.microsoft.com/office/drawing/2014/main" id="{52C70866-009F-4E57-8EDC-2B2FCF79BDA7}"/>
              </a:ext>
            </a:extLst>
          </p:cNvPr>
          <p:cNvPicPr>
            <a:picLocks noChangeAspect="1"/>
          </p:cNvPicPr>
          <p:nvPr/>
        </p:nvPicPr>
        <p:blipFill>
          <a:blip r:embed="rId2"/>
          <a:stretch>
            <a:fillRect/>
          </a:stretch>
        </p:blipFill>
        <p:spPr>
          <a:xfrm>
            <a:off x="2071990" y="914400"/>
            <a:ext cx="4847619" cy="3152381"/>
          </a:xfrm>
          <a:prstGeom prst="rect">
            <a:avLst/>
          </a:prstGeom>
        </p:spPr>
      </p:pic>
      <p:sp>
        <p:nvSpPr>
          <p:cNvPr id="5" name="Rectangle 4">
            <a:extLst>
              <a:ext uri="{FF2B5EF4-FFF2-40B4-BE49-F238E27FC236}">
                <a16:creationId xmlns:a16="http://schemas.microsoft.com/office/drawing/2014/main" id="{555EF5C6-D35A-4502-94D7-4502EE4F3EBA}"/>
              </a:ext>
            </a:extLst>
          </p:cNvPr>
          <p:cNvSpPr/>
          <p:nvPr/>
        </p:nvSpPr>
        <p:spPr>
          <a:xfrm>
            <a:off x="1219200" y="4189019"/>
            <a:ext cx="6705600" cy="2585323"/>
          </a:xfrm>
          <a:prstGeom prst="rect">
            <a:avLst/>
          </a:prstGeom>
        </p:spPr>
        <p:txBody>
          <a:bodyPr wrap="square">
            <a:spAutoFit/>
          </a:bodyPr>
          <a:lstStyle/>
          <a:p>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?xml</a:t>
            </a:r>
            <a:r>
              <a:rPr lang="en-US" b="0" i="0" dirty="0">
                <a:solidFill>
                  <a:srgbClr val="FF0000"/>
                </a:solidFill>
                <a:effectLst/>
                <a:latin typeface="Consolas" panose="020B0609020204030204" pitchFamily="49" charset="0"/>
              </a:rPr>
              <a:t> version</a:t>
            </a:r>
            <a:r>
              <a:rPr lang="en-US" b="0" i="0" dirty="0">
                <a:solidFill>
                  <a:srgbClr val="0000CD"/>
                </a:solidFill>
                <a:effectLst/>
                <a:latin typeface="Consolas" panose="020B0609020204030204" pitchFamily="49" charset="0"/>
              </a:rPr>
              <a:t>="1.0"</a:t>
            </a:r>
            <a:r>
              <a:rPr lang="en-US" b="0" i="0" dirty="0">
                <a:solidFill>
                  <a:srgbClr val="FF0000"/>
                </a:solidFill>
                <a:effectLst/>
                <a:latin typeface="Consolas" panose="020B0609020204030204" pitchFamily="49" charset="0"/>
              </a:rPr>
              <a:t> encoding</a:t>
            </a:r>
            <a:r>
              <a:rPr lang="en-US" b="0" i="0" dirty="0">
                <a:solidFill>
                  <a:srgbClr val="0000CD"/>
                </a:solidFill>
                <a:effectLst/>
                <a:latin typeface="Consolas" panose="020B0609020204030204" pitchFamily="49" charset="0"/>
              </a:rPr>
              <a:t>="UTF-8</a:t>
            </a:r>
            <a:r>
              <a:rPr lang="en-US" b="1" i="0" dirty="0">
                <a:solidFill>
                  <a:srgbClr val="0000CD"/>
                </a:solidFill>
                <a:effectLst/>
                <a:latin typeface="Consolas" panose="020B0609020204030204" pitchFamily="49" charset="0"/>
              </a:rPr>
              <a:t>"</a:t>
            </a:r>
            <a:r>
              <a:rPr lang="en-US" b="0" i="0" dirty="0">
                <a:solidFill>
                  <a:srgbClr val="FF0000"/>
                </a:solidFill>
                <a:effectLst/>
                <a:latin typeface="Consolas" panose="020B0609020204030204" pitchFamily="49" charset="0"/>
              </a:rPr>
              <a:t>?</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bookstore</a:t>
            </a:r>
            <a:r>
              <a:rPr lang="en-US" b="0" i="0" dirty="0">
                <a:solidFill>
                  <a:srgbClr val="0000CD"/>
                </a:solidFill>
                <a:effectLst/>
                <a:latin typeface="Consolas" panose="020B0609020204030204" pitchFamily="49" charset="0"/>
              </a:rPr>
              <a:t>&gt;</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book</a:t>
            </a:r>
            <a:r>
              <a:rPr lang="en-US" b="0" i="0" dirty="0">
                <a:solidFill>
                  <a:srgbClr val="FF0000"/>
                </a:solidFill>
                <a:effectLst/>
                <a:latin typeface="Consolas" panose="020B0609020204030204" pitchFamily="49" charset="0"/>
              </a:rPr>
              <a:t> category</a:t>
            </a:r>
            <a:r>
              <a:rPr lang="en-US" b="0" i="0" dirty="0">
                <a:solidFill>
                  <a:srgbClr val="0000CD"/>
                </a:solidFill>
                <a:effectLst/>
                <a:latin typeface="Consolas" panose="020B0609020204030204" pitchFamily="49" charset="0"/>
              </a:rPr>
              <a:t>="cooking"&gt;</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title</a:t>
            </a:r>
            <a:r>
              <a:rPr lang="en-US" b="0" i="0" dirty="0">
                <a:solidFill>
                  <a:srgbClr val="FF0000"/>
                </a:solidFill>
                <a:effectLst/>
                <a:latin typeface="Consolas" panose="020B0609020204030204" pitchFamily="49" charset="0"/>
              </a:rPr>
              <a:t> </a:t>
            </a:r>
            <a:r>
              <a:rPr lang="en-US" b="0" i="0" dirty="0" err="1">
                <a:solidFill>
                  <a:srgbClr val="FF0000"/>
                </a:solidFill>
                <a:effectLst/>
                <a:latin typeface="Consolas" panose="020B0609020204030204" pitchFamily="49" charset="0"/>
              </a:rPr>
              <a:t>lang</a:t>
            </a:r>
            <a:r>
              <a:rPr lang="en-US" b="0" i="0" dirty="0">
                <a:solidFill>
                  <a:srgbClr val="0000CD"/>
                </a:solidFill>
                <a:effectLst/>
                <a:latin typeface="Consolas" panose="020B0609020204030204" pitchFamily="49" charset="0"/>
              </a:rPr>
              <a:t>="</a:t>
            </a:r>
            <a:r>
              <a:rPr lang="en-US" b="0" i="0" dirty="0" err="1">
                <a:solidFill>
                  <a:srgbClr val="0000CD"/>
                </a:solidFill>
                <a:effectLst/>
                <a:latin typeface="Consolas" panose="020B0609020204030204" pitchFamily="49" charset="0"/>
              </a:rPr>
              <a:t>en</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Everyday Italian</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/title</a:t>
            </a:r>
            <a:r>
              <a:rPr lang="en-US" b="0" i="0" dirty="0">
                <a:solidFill>
                  <a:srgbClr val="0000CD"/>
                </a:solidFill>
                <a:effectLst/>
                <a:latin typeface="Consolas" panose="020B0609020204030204" pitchFamily="49" charset="0"/>
              </a:rPr>
              <a:t>&gt;</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author</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Giada De </a:t>
            </a:r>
            <a:r>
              <a:rPr lang="en-US" b="0" i="0" dirty="0" err="1">
                <a:solidFill>
                  <a:srgbClr val="000000"/>
                </a:solidFill>
                <a:effectLst/>
                <a:latin typeface="Consolas" panose="020B0609020204030204" pitchFamily="49" charset="0"/>
              </a:rPr>
              <a:t>Laurentiis</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/author</a:t>
            </a:r>
            <a:r>
              <a:rPr lang="en-US" b="0" i="0" dirty="0">
                <a:solidFill>
                  <a:srgbClr val="0000CD"/>
                </a:solidFill>
                <a:effectLst/>
                <a:latin typeface="Consolas" panose="020B0609020204030204" pitchFamily="49" charset="0"/>
              </a:rPr>
              <a:t>&gt;</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year</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2005</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/year</a:t>
            </a:r>
            <a:r>
              <a:rPr lang="en-US" b="0" i="0" dirty="0">
                <a:solidFill>
                  <a:srgbClr val="0000CD"/>
                </a:solidFill>
                <a:effectLst/>
                <a:latin typeface="Consolas" panose="020B0609020204030204" pitchFamily="49" charset="0"/>
              </a:rPr>
              <a:t>&gt;</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price</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30.00</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/price</a:t>
            </a:r>
            <a:r>
              <a:rPr lang="en-US" b="0" i="0" dirty="0">
                <a:solidFill>
                  <a:srgbClr val="0000CD"/>
                </a:solidFill>
                <a:effectLst/>
                <a:latin typeface="Consolas" panose="020B0609020204030204" pitchFamily="49" charset="0"/>
              </a:rPr>
              <a:t>&gt;</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/book</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/bookstore</a:t>
            </a:r>
            <a:r>
              <a:rPr lang="en-US" b="0" i="0" dirty="0">
                <a:solidFill>
                  <a:srgbClr val="0000CD"/>
                </a:solidFill>
                <a:effectLst/>
                <a:latin typeface="Consolas" panose="020B0609020204030204" pitchFamily="49" charset="0"/>
              </a:rPr>
              <a:t>&gt;</a:t>
            </a:r>
            <a:endParaRPr lang="en-US" dirty="0"/>
          </a:p>
        </p:txBody>
      </p:sp>
    </p:spTree>
    <p:extLst>
      <p:ext uri="{BB962C8B-B14F-4D97-AF65-F5344CB8AC3E}">
        <p14:creationId xmlns:p14="http://schemas.microsoft.com/office/powerpoint/2010/main" val="3375075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9162EB17-343C-4104-B797-DBCE4AB2817C}"/>
              </a:ext>
            </a:extLst>
          </p:cNvPr>
          <p:cNvSpPr>
            <a:spLocks noGrp="1"/>
          </p:cNvSpPr>
          <p:nvPr>
            <p:ph type="title"/>
          </p:nvPr>
        </p:nvSpPr>
        <p:spPr/>
        <p:txBody>
          <a:bodyPr/>
          <a:lstStyle/>
          <a:p>
            <a:pPr eaLnBrk="1" hangingPunct="1"/>
            <a:r>
              <a:rPr lang="en-US" altLang="en-US" sz="3600"/>
              <a:t>XML Application 1—Separate data</a:t>
            </a:r>
          </a:p>
        </p:txBody>
      </p:sp>
      <p:sp>
        <p:nvSpPr>
          <p:cNvPr id="39938" name="Rectangle 3">
            <a:extLst>
              <a:ext uri="{FF2B5EF4-FFF2-40B4-BE49-F238E27FC236}">
                <a16:creationId xmlns:a16="http://schemas.microsoft.com/office/drawing/2014/main" id="{36BA58C8-D2C3-4320-A252-F068CA5265DD}"/>
              </a:ext>
            </a:extLst>
          </p:cNvPr>
          <p:cNvSpPr>
            <a:spLocks noGrp="1"/>
          </p:cNvSpPr>
          <p:nvPr>
            <p:ph idx="1"/>
          </p:nvPr>
        </p:nvSpPr>
        <p:spPr/>
        <p:txBody>
          <a:bodyPr/>
          <a:lstStyle/>
          <a:p>
            <a:pPr eaLnBrk="1" hangingPunct="1">
              <a:buFont typeface="Wingdings" panose="05000000000000000000" pitchFamily="2" charset="2"/>
              <a:buNone/>
            </a:pPr>
            <a:r>
              <a:rPr lang="en-US" altLang="en-US" sz="2400"/>
              <a:t>XML can Separate Data from HTML</a:t>
            </a:r>
          </a:p>
          <a:p>
            <a:pPr eaLnBrk="1" hangingPunct="1"/>
            <a:r>
              <a:rPr lang="en-US" altLang="en-US" sz="2000"/>
              <a:t>Store data in separate XML files</a:t>
            </a:r>
          </a:p>
          <a:p>
            <a:pPr eaLnBrk="1" hangingPunct="1"/>
            <a:r>
              <a:rPr lang="en-US" altLang="en-US" sz="2000"/>
              <a:t>Using HTML for layout and display</a:t>
            </a:r>
          </a:p>
          <a:p>
            <a:pPr eaLnBrk="1" hangingPunct="1">
              <a:buFont typeface="Wingdings" panose="05000000000000000000" pitchFamily="2" charset="2"/>
              <a:buNone/>
            </a:pPr>
            <a:endParaRPr lang="en-US" altLang="en-US" sz="2000"/>
          </a:p>
          <a:p>
            <a:pPr eaLnBrk="1" hangingPunct="1">
              <a:buFont typeface="Wingdings" panose="05000000000000000000" pitchFamily="2" charset="2"/>
              <a:buNone/>
            </a:pPr>
            <a:r>
              <a:rPr lang="en-US" altLang="en-US" sz="2400"/>
              <a:t>Benefits:</a:t>
            </a:r>
          </a:p>
          <a:p>
            <a:pPr eaLnBrk="1" hangingPunct="1">
              <a:buFont typeface="Wingdings" panose="05000000000000000000" pitchFamily="2" charset="2"/>
              <a:buNone/>
            </a:pPr>
            <a:r>
              <a:rPr lang="en-US" altLang="en-US"/>
              <a:t>	</a:t>
            </a:r>
            <a:r>
              <a:rPr lang="en-US" altLang="en-US" sz="2000"/>
              <a:t>Changes in the underlying data will not require any changes to your HTML</a:t>
            </a:r>
            <a:endParaRPr lang="en-US" altLang="en-US"/>
          </a:p>
          <a:p>
            <a:pPr eaLnBrk="1" hangingPunct="1">
              <a:buFont typeface="Wingdings" panose="05000000000000000000" pitchFamily="2" charset="2"/>
              <a:buNone/>
            </a:pPr>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7148AA08-98F0-46D7-8016-09F636CBFB23}"/>
              </a:ext>
            </a:extLst>
          </p:cNvPr>
          <p:cNvSpPr>
            <a:spLocks noGrp="1"/>
          </p:cNvSpPr>
          <p:nvPr>
            <p:ph type="title"/>
          </p:nvPr>
        </p:nvSpPr>
        <p:spPr/>
        <p:txBody>
          <a:bodyPr/>
          <a:lstStyle/>
          <a:p>
            <a:pPr eaLnBrk="1" hangingPunct="1"/>
            <a:r>
              <a:rPr lang="en-US" altLang="en-US" sz="3600"/>
              <a:t>XML Application 2—Exchange data</a:t>
            </a:r>
          </a:p>
        </p:txBody>
      </p:sp>
      <p:sp>
        <p:nvSpPr>
          <p:cNvPr id="41986" name="Rectangle 3">
            <a:extLst>
              <a:ext uri="{FF2B5EF4-FFF2-40B4-BE49-F238E27FC236}">
                <a16:creationId xmlns:a16="http://schemas.microsoft.com/office/drawing/2014/main" id="{21CE27E2-E6C9-4E67-B2DC-F8574B2A2810}"/>
              </a:ext>
            </a:extLst>
          </p:cNvPr>
          <p:cNvSpPr>
            <a:spLocks noGrp="1"/>
          </p:cNvSpPr>
          <p:nvPr>
            <p:ph idx="1"/>
          </p:nvPr>
        </p:nvSpPr>
        <p:spPr/>
        <p:txBody>
          <a:bodyPr/>
          <a:lstStyle/>
          <a:p>
            <a:pPr eaLnBrk="1" hangingPunct="1">
              <a:buFont typeface="Wingdings" panose="05000000000000000000" pitchFamily="2" charset="2"/>
              <a:buNone/>
            </a:pPr>
            <a:r>
              <a:rPr lang="en-US" altLang="en-US" sz="2400"/>
              <a:t>XML is used to Exchange Data (web services)</a:t>
            </a:r>
          </a:p>
          <a:p>
            <a:pPr eaLnBrk="1" hangingPunct="1"/>
            <a:r>
              <a:rPr lang="en-US" altLang="en-US" sz="2000"/>
              <a:t>Text format</a:t>
            </a:r>
          </a:p>
          <a:p>
            <a:pPr eaLnBrk="1" hangingPunct="1"/>
            <a:r>
              <a:rPr lang="en-US" altLang="en-US" sz="2000"/>
              <a:t>Software-independent, hardware-independent</a:t>
            </a:r>
          </a:p>
          <a:p>
            <a:pPr eaLnBrk="1" hangingPunct="1"/>
            <a:r>
              <a:rPr lang="en-US" altLang="en-US" sz="2000"/>
              <a:t>Exchange data between incompatible systems, given that they agree on the same tag definition.</a:t>
            </a:r>
          </a:p>
          <a:p>
            <a:pPr eaLnBrk="1" hangingPunct="1"/>
            <a:r>
              <a:rPr lang="en-US" altLang="en-US" sz="2000"/>
              <a:t>Can be read by many different types of applications</a:t>
            </a:r>
          </a:p>
          <a:p>
            <a:pPr eaLnBrk="1" hangingPunct="1"/>
            <a:endParaRPr lang="en-US" altLang="en-US" sz="2000"/>
          </a:p>
          <a:p>
            <a:pPr eaLnBrk="1" hangingPunct="1">
              <a:buFont typeface="Wingdings" panose="05000000000000000000" pitchFamily="2" charset="2"/>
              <a:buNone/>
            </a:pPr>
            <a:r>
              <a:rPr lang="en-US" altLang="en-US" sz="2400"/>
              <a:t>Benefits:</a:t>
            </a:r>
          </a:p>
          <a:p>
            <a:pPr eaLnBrk="1" hangingPunct="1"/>
            <a:r>
              <a:rPr lang="en-US" altLang="en-US" sz="2000"/>
              <a:t>Reduce the complexity of interpreting data</a:t>
            </a:r>
          </a:p>
          <a:p>
            <a:pPr eaLnBrk="1" hangingPunct="1"/>
            <a:r>
              <a:rPr lang="en-US" altLang="en-US" sz="2000"/>
              <a:t>Easier to expand and upgrade a system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C62CF3D5-8995-44FA-99A3-D7E434937CA6}"/>
              </a:ext>
            </a:extLst>
          </p:cNvPr>
          <p:cNvSpPr>
            <a:spLocks noGrp="1"/>
          </p:cNvSpPr>
          <p:nvPr>
            <p:ph type="title"/>
          </p:nvPr>
        </p:nvSpPr>
        <p:spPr/>
        <p:txBody>
          <a:bodyPr/>
          <a:lstStyle/>
          <a:p>
            <a:pPr eaLnBrk="1" hangingPunct="1"/>
            <a:r>
              <a:rPr lang="en-US" altLang="en-US" sz="3600"/>
              <a:t>XML Application3—Store Data</a:t>
            </a:r>
          </a:p>
        </p:txBody>
      </p:sp>
      <p:sp>
        <p:nvSpPr>
          <p:cNvPr id="43010" name="Rectangle 3">
            <a:extLst>
              <a:ext uri="{FF2B5EF4-FFF2-40B4-BE49-F238E27FC236}">
                <a16:creationId xmlns:a16="http://schemas.microsoft.com/office/drawing/2014/main" id="{A3CE60C6-0C94-4EFF-B59F-7CE897A8A9FD}"/>
              </a:ext>
            </a:extLst>
          </p:cNvPr>
          <p:cNvSpPr>
            <a:spLocks noGrp="1"/>
          </p:cNvSpPr>
          <p:nvPr>
            <p:ph idx="1"/>
          </p:nvPr>
        </p:nvSpPr>
        <p:spPr/>
        <p:txBody>
          <a:bodyPr/>
          <a:lstStyle/>
          <a:p>
            <a:pPr eaLnBrk="1" hangingPunct="1">
              <a:buFont typeface="Wingdings" panose="05000000000000000000" pitchFamily="2" charset="2"/>
              <a:buNone/>
            </a:pPr>
            <a:r>
              <a:rPr lang="en-US" altLang="en-US" sz="2400"/>
              <a:t>XML can be used to Store Data </a:t>
            </a:r>
          </a:p>
          <a:p>
            <a:pPr eaLnBrk="1" hangingPunct="1"/>
            <a:r>
              <a:rPr lang="en-US" altLang="en-US" sz="2000"/>
              <a:t>Plain text file</a:t>
            </a:r>
          </a:p>
          <a:p>
            <a:pPr eaLnBrk="1" hangingPunct="1"/>
            <a:r>
              <a:rPr lang="en-US" altLang="en-US" sz="2000"/>
              <a:t>Store data in files or databases</a:t>
            </a:r>
          </a:p>
          <a:p>
            <a:pPr eaLnBrk="1" hangingPunct="1"/>
            <a:r>
              <a:rPr lang="en-US" altLang="en-US" sz="2000"/>
              <a:t>Application can be written to store and retrieve information from the store</a:t>
            </a:r>
          </a:p>
          <a:p>
            <a:pPr eaLnBrk="1" hangingPunct="1"/>
            <a:r>
              <a:rPr lang="en-US" altLang="en-US" sz="2000"/>
              <a:t>Other clients and applications can access your XML files as data sources</a:t>
            </a:r>
          </a:p>
          <a:p>
            <a:pPr eaLnBrk="1" hangingPunct="1">
              <a:buFont typeface="Wingdings" panose="05000000000000000000" pitchFamily="2" charset="2"/>
              <a:buNone/>
            </a:pPr>
            <a:endParaRPr lang="en-US" altLang="en-US" sz="2000"/>
          </a:p>
          <a:p>
            <a:pPr eaLnBrk="1" hangingPunct="1">
              <a:buFont typeface="Wingdings" panose="05000000000000000000" pitchFamily="2" charset="2"/>
              <a:buNone/>
            </a:pPr>
            <a:r>
              <a:rPr lang="en-US" altLang="en-US" sz="2400"/>
              <a:t>Benefits:</a:t>
            </a:r>
          </a:p>
          <a:p>
            <a:pPr eaLnBrk="1" hangingPunct="1">
              <a:buFont typeface="Wingdings" panose="05000000000000000000" pitchFamily="2" charset="2"/>
              <a:buNone/>
            </a:pPr>
            <a:r>
              <a:rPr lang="en-US" altLang="en-US" sz="2000"/>
              <a:t>	Accessible to more applications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73586-1DE0-4B6D-A1E4-8E3AB8E431D5}"/>
              </a:ext>
            </a:extLst>
          </p:cNvPr>
          <p:cNvSpPr>
            <a:spLocks noGrp="1"/>
          </p:cNvSpPr>
          <p:nvPr>
            <p:ph type="ctrTitle"/>
          </p:nvPr>
        </p:nvSpPr>
        <p:spPr/>
        <p:txBody>
          <a:bodyPr/>
          <a:lstStyle/>
          <a:p>
            <a:r>
              <a:rPr lang="en-US" altLang="zh-CN" dirty="0"/>
              <a:t>HTTP</a:t>
            </a:r>
            <a:endParaRPr lang="en-US" dirty="0"/>
          </a:p>
        </p:txBody>
      </p:sp>
      <p:sp>
        <p:nvSpPr>
          <p:cNvPr id="3" name="Subtitle 2">
            <a:extLst>
              <a:ext uri="{FF2B5EF4-FFF2-40B4-BE49-F238E27FC236}">
                <a16:creationId xmlns:a16="http://schemas.microsoft.com/office/drawing/2014/main" id="{86B4E284-1777-4C4B-9D70-E3F98C220AC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059252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7F9EC31-1AF9-4413-A23E-3275AAFAD69A}"/>
              </a:ext>
            </a:extLst>
          </p:cNvPr>
          <p:cNvSpPr>
            <a:spLocks noGrp="1" noChangeArrowheads="1"/>
          </p:cNvSpPr>
          <p:nvPr>
            <p:ph type="body" sz="half" idx="4294967295"/>
          </p:nvPr>
        </p:nvSpPr>
        <p:spPr>
          <a:xfrm>
            <a:off x="457200" y="1828800"/>
            <a:ext cx="2971800" cy="3154363"/>
          </a:xfrm>
        </p:spPr>
        <p:txBody>
          <a:bodyPr>
            <a:normAutofit fontScale="92500" lnSpcReduction="10000"/>
          </a:bodyPr>
          <a:lstStyle/>
          <a:p>
            <a:pPr marL="227013" indent="-227013">
              <a:lnSpc>
                <a:spcPct val="90000"/>
              </a:lnSpc>
            </a:pPr>
            <a:r>
              <a:rPr lang="en-US" altLang="en-US" sz="2000"/>
              <a:t>I would like to open a connection </a:t>
            </a:r>
          </a:p>
          <a:p>
            <a:pPr marL="227013" indent="-227013">
              <a:lnSpc>
                <a:spcPct val="90000"/>
              </a:lnSpc>
            </a:pPr>
            <a:endParaRPr lang="en-US" altLang="en-US" sz="2000"/>
          </a:p>
          <a:p>
            <a:pPr marL="227013" indent="-227013">
              <a:lnSpc>
                <a:spcPct val="90000"/>
              </a:lnSpc>
            </a:pPr>
            <a:r>
              <a:rPr lang="en-US" altLang="en-US" sz="2000"/>
              <a:t>GET &lt;file location&gt;</a:t>
            </a:r>
          </a:p>
          <a:p>
            <a:pPr marL="227013" indent="-227013">
              <a:lnSpc>
                <a:spcPct val="90000"/>
              </a:lnSpc>
              <a:buFontTx/>
              <a:buNone/>
            </a:pPr>
            <a:endParaRPr lang="en-US" altLang="en-US" sz="2000"/>
          </a:p>
          <a:p>
            <a:pPr marL="227013" indent="-227013">
              <a:lnSpc>
                <a:spcPct val="90000"/>
              </a:lnSpc>
              <a:buFontTx/>
              <a:buNone/>
            </a:pPr>
            <a:endParaRPr lang="en-US" altLang="en-US" sz="2000"/>
          </a:p>
          <a:p>
            <a:pPr marL="227013" indent="-227013">
              <a:lnSpc>
                <a:spcPct val="90000"/>
              </a:lnSpc>
            </a:pPr>
            <a:endParaRPr lang="en-US" altLang="en-US" sz="2000"/>
          </a:p>
          <a:p>
            <a:pPr marL="227013" indent="-227013">
              <a:lnSpc>
                <a:spcPct val="90000"/>
              </a:lnSpc>
            </a:pPr>
            <a:r>
              <a:rPr lang="en-US" altLang="en-US" sz="2000"/>
              <a:t>Display response</a:t>
            </a:r>
          </a:p>
          <a:p>
            <a:pPr marL="227013" indent="-227013">
              <a:lnSpc>
                <a:spcPct val="90000"/>
              </a:lnSpc>
            </a:pPr>
            <a:r>
              <a:rPr lang="en-US" altLang="en-US" sz="2000"/>
              <a:t>Close connection</a:t>
            </a:r>
          </a:p>
        </p:txBody>
      </p:sp>
      <p:sp>
        <p:nvSpPr>
          <p:cNvPr id="21507" name="Rectangle 3">
            <a:extLst>
              <a:ext uri="{FF2B5EF4-FFF2-40B4-BE49-F238E27FC236}">
                <a16:creationId xmlns:a16="http://schemas.microsoft.com/office/drawing/2014/main" id="{F7FF89CD-CFE1-406F-9F94-3E99A65BAF82}"/>
              </a:ext>
            </a:extLst>
          </p:cNvPr>
          <p:cNvSpPr>
            <a:spLocks noGrp="1" noChangeArrowheads="1"/>
          </p:cNvSpPr>
          <p:nvPr>
            <p:ph type="body" sz="half" idx="4294967295"/>
          </p:nvPr>
        </p:nvSpPr>
        <p:spPr>
          <a:xfrm>
            <a:off x="4953000" y="1600200"/>
            <a:ext cx="4038600" cy="3886200"/>
          </a:xfrm>
        </p:spPr>
        <p:txBody>
          <a:bodyPr>
            <a:normAutofit fontScale="92500" lnSpcReduction="20000"/>
          </a:bodyPr>
          <a:lstStyle/>
          <a:p>
            <a:pPr marL="227013" indent="-227013">
              <a:lnSpc>
                <a:spcPct val="80000"/>
              </a:lnSpc>
            </a:pPr>
            <a:endParaRPr lang="en-US" altLang="en-US" sz="2000"/>
          </a:p>
          <a:p>
            <a:pPr marL="227013" indent="-227013">
              <a:lnSpc>
                <a:spcPct val="80000"/>
              </a:lnSpc>
            </a:pPr>
            <a:endParaRPr lang="en-US" altLang="en-US" sz="2000"/>
          </a:p>
          <a:p>
            <a:pPr marL="227013" indent="-227013">
              <a:lnSpc>
                <a:spcPct val="80000"/>
              </a:lnSpc>
            </a:pPr>
            <a:r>
              <a:rPr lang="en-US" altLang="en-US" sz="2000"/>
              <a:t>OK</a:t>
            </a:r>
          </a:p>
          <a:p>
            <a:pPr marL="227013" indent="-227013">
              <a:lnSpc>
                <a:spcPct val="80000"/>
              </a:lnSpc>
            </a:pPr>
            <a:endParaRPr lang="en-US" altLang="en-US" sz="2000"/>
          </a:p>
          <a:p>
            <a:pPr marL="227013" indent="-227013">
              <a:lnSpc>
                <a:spcPct val="80000"/>
              </a:lnSpc>
            </a:pPr>
            <a:endParaRPr lang="en-US" altLang="en-US" sz="2000"/>
          </a:p>
          <a:p>
            <a:pPr marL="227013" indent="-227013">
              <a:lnSpc>
                <a:spcPct val="80000"/>
              </a:lnSpc>
            </a:pPr>
            <a:endParaRPr lang="en-US" altLang="en-US" sz="2000"/>
          </a:p>
          <a:p>
            <a:pPr marL="227013" indent="-227013">
              <a:lnSpc>
                <a:spcPct val="80000"/>
              </a:lnSpc>
            </a:pPr>
            <a:r>
              <a:rPr lang="en-US" altLang="en-US" sz="2000"/>
              <a:t>Send page or error message</a:t>
            </a:r>
          </a:p>
          <a:p>
            <a:pPr marL="227013" indent="-227013">
              <a:lnSpc>
                <a:spcPct val="80000"/>
              </a:lnSpc>
            </a:pPr>
            <a:endParaRPr lang="en-US" altLang="en-US" sz="2000"/>
          </a:p>
          <a:p>
            <a:pPr marL="227013" indent="-227013">
              <a:lnSpc>
                <a:spcPct val="80000"/>
              </a:lnSpc>
            </a:pPr>
            <a:endParaRPr lang="en-US" altLang="en-US" sz="2000"/>
          </a:p>
          <a:p>
            <a:pPr marL="227013" indent="-227013">
              <a:lnSpc>
                <a:spcPct val="80000"/>
              </a:lnSpc>
            </a:pPr>
            <a:endParaRPr lang="en-US" altLang="en-US" sz="2000"/>
          </a:p>
          <a:p>
            <a:pPr marL="227013" indent="-227013">
              <a:lnSpc>
                <a:spcPct val="80000"/>
              </a:lnSpc>
            </a:pPr>
            <a:endParaRPr lang="en-US" altLang="en-US" sz="2000"/>
          </a:p>
          <a:p>
            <a:pPr marL="227013" indent="-227013">
              <a:lnSpc>
                <a:spcPct val="80000"/>
              </a:lnSpc>
            </a:pPr>
            <a:r>
              <a:rPr lang="en-US" altLang="en-US" sz="2000"/>
              <a:t>OK</a:t>
            </a:r>
          </a:p>
        </p:txBody>
      </p:sp>
      <p:sp>
        <p:nvSpPr>
          <p:cNvPr id="21508" name="Text Box 4">
            <a:extLst>
              <a:ext uri="{FF2B5EF4-FFF2-40B4-BE49-F238E27FC236}">
                <a16:creationId xmlns:a16="http://schemas.microsoft.com/office/drawing/2014/main" id="{73A7AAA4-9162-49C6-BCD1-00600C3A0F32}"/>
              </a:ext>
            </a:extLst>
          </p:cNvPr>
          <p:cNvSpPr txBox="1">
            <a:spLocks noChangeArrowheads="1"/>
          </p:cNvSpPr>
          <p:nvPr/>
        </p:nvSpPr>
        <p:spPr bwMode="auto">
          <a:xfrm>
            <a:off x="685800" y="1219200"/>
            <a:ext cx="889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a:t>Client</a:t>
            </a:r>
          </a:p>
        </p:txBody>
      </p:sp>
      <p:sp>
        <p:nvSpPr>
          <p:cNvPr id="21509" name="Text Box 5">
            <a:extLst>
              <a:ext uri="{FF2B5EF4-FFF2-40B4-BE49-F238E27FC236}">
                <a16:creationId xmlns:a16="http://schemas.microsoft.com/office/drawing/2014/main" id="{43FAA264-51CE-4CF2-B090-65D65F084631}"/>
              </a:ext>
            </a:extLst>
          </p:cNvPr>
          <p:cNvSpPr txBox="1">
            <a:spLocks noChangeArrowheads="1"/>
          </p:cNvSpPr>
          <p:nvPr/>
        </p:nvSpPr>
        <p:spPr bwMode="auto">
          <a:xfrm>
            <a:off x="5181600" y="1295400"/>
            <a:ext cx="974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a:t>Server</a:t>
            </a:r>
          </a:p>
        </p:txBody>
      </p:sp>
      <p:sp>
        <p:nvSpPr>
          <p:cNvPr id="21510" name="Line 6">
            <a:extLst>
              <a:ext uri="{FF2B5EF4-FFF2-40B4-BE49-F238E27FC236}">
                <a16:creationId xmlns:a16="http://schemas.microsoft.com/office/drawing/2014/main" id="{01F2169D-991E-4EF1-BD79-20E7CBE53B29}"/>
              </a:ext>
            </a:extLst>
          </p:cNvPr>
          <p:cNvSpPr>
            <a:spLocks noChangeShapeType="1"/>
          </p:cNvSpPr>
          <p:nvPr/>
        </p:nvSpPr>
        <p:spPr bwMode="auto">
          <a:xfrm>
            <a:off x="3429000" y="2057400"/>
            <a:ext cx="144780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11" name="Line 7">
            <a:extLst>
              <a:ext uri="{FF2B5EF4-FFF2-40B4-BE49-F238E27FC236}">
                <a16:creationId xmlns:a16="http://schemas.microsoft.com/office/drawing/2014/main" id="{EA904093-9953-45ED-A680-3CE64889B588}"/>
              </a:ext>
            </a:extLst>
          </p:cNvPr>
          <p:cNvSpPr>
            <a:spLocks noChangeShapeType="1"/>
          </p:cNvSpPr>
          <p:nvPr/>
        </p:nvSpPr>
        <p:spPr bwMode="auto">
          <a:xfrm flipH="1">
            <a:off x="3352800" y="2514600"/>
            <a:ext cx="144780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12" name="Line 8">
            <a:extLst>
              <a:ext uri="{FF2B5EF4-FFF2-40B4-BE49-F238E27FC236}">
                <a16:creationId xmlns:a16="http://schemas.microsoft.com/office/drawing/2014/main" id="{F8069C21-0954-466F-B352-33EEF02E18A2}"/>
              </a:ext>
            </a:extLst>
          </p:cNvPr>
          <p:cNvSpPr>
            <a:spLocks noChangeShapeType="1"/>
          </p:cNvSpPr>
          <p:nvPr/>
        </p:nvSpPr>
        <p:spPr bwMode="auto">
          <a:xfrm>
            <a:off x="3352800" y="3124200"/>
            <a:ext cx="14478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13" name="Line 9">
            <a:extLst>
              <a:ext uri="{FF2B5EF4-FFF2-40B4-BE49-F238E27FC236}">
                <a16:creationId xmlns:a16="http://schemas.microsoft.com/office/drawing/2014/main" id="{5980CE99-95CD-4C93-A9FE-DEA694E56D9D}"/>
              </a:ext>
            </a:extLst>
          </p:cNvPr>
          <p:cNvSpPr>
            <a:spLocks noChangeShapeType="1"/>
          </p:cNvSpPr>
          <p:nvPr/>
        </p:nvSpPr>
        <p:spPr bwMode="auto">
          <a:xfrm flipH="1">
            <a:off x="3352800" y="3657600"/>
            <a:ext cx="14478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14" name="Line 10">
            <a:extLst>
              <a:ext uri="{FF2B5EF4-FFF2-40B4-BE49-F238E27FC236}">
                <a16:creationId xmlns:a16="http://schemas.microsoft.com/office/drawing/2014/main" id="{C42D4F2D-444C-442E-8D57-C006557CF733}"/>
              </a:ext>
            </a:extLst>
          </p:cNvPr>
          <p:cNvSpPr>
            <a:spLocks noChangeShapeType="1"/>
          </p:cNvSpPr>
          <p:nvPr/>
        </p:nvSpPr>
        <p:spPr bwMode="auto">
          <a:xfrm>
            <a:off x="3352800" y="4648200"/>
            <a:ext cx="14478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15" name="Text Box 11">
            <a:extLst>
              <a:ext uri="{FF2B5EF4-FFF2-40B4-BE49-F238E27FC236}">
                <a16:creationId xmlns:a16="http://schemas.microsoft.com/office/drawing/2014/main" id="{BCE5EFAA-4D1A-415D-9D26-0077253BC32B}"/>
              </a:ext>
            </a:extLst>
          </p:cNvPr>
          <p:cNvSpPr txBox="1">
            <a:spLocks noChangeArrowheads="1"/>
          </p:cNvSpPr>
          <p:nvPr/>
        </p:nvSpPr>
        <p:spPr bwMode="auto">
          <a:xfrm>
            <a:off x="381000" y="152400"/>
            <a:ext cx="731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ltLang="en-US" sz="2400"/>
          </a:p>
        </p:txBody>
      </p:sp>
      <p:sp>
        <p:nvSpPr>
          <p:cNvPr id="21516" name="Text Box 12">
            <a:extLst>
              <a:ext uri="{FF2B5EF4-FFF2-40B4-BE49-F238E27FC236}">
                <a16:creationId xmlns:a16="http://schemas.microsoft.com/office/drawing/2014/main" id="{A44416E1-0925-49C9-AF17-9653E154F271}"/>
              </a:ext>
            </a:extLst>
          </p:cNvPr>
          <p:cNvSpPr txBox="1">
            <a:spLocks noChangeArrowheads="1"/>
          </p:cNvSpPr>
          <p:nvPr/>
        </p:nvSpPr>
        <p:spPr bwMode="auto">
          <a:xfrm>
            <a:off x="457200" y="5562600"/>
            <a:ext cx="8229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a:solidFill>
                  <a:srgbClr val="FF0000"/>
                </a:solidFill>
              </a:rPr>
              <a:t>HTTP is the set of rules governing the format and content of the conversation between a Web client and server</a:t>
            </a:r>
          </a:p>
        </p:txBody>
      </p:sp>
      <p:sp>
        <p:nvSpPr>
          <p:cNvPr id="21517" name="Rectangle 13">
            <a:extLst>
              <a:ext uri="{FF2B5EF4-FFF2-40B4-BE49-F238E27FC236}">
                <a16:creationId xmlns:a16="http://schemas.microsoft.com/office/drawing/2014/main" id="{347931A2-41F1-49CA-9812-5CC94475B67E}"/>
              </a:ext>
            </a:extLst>
          </p:cNvPr>
          <p:cNvSpPr>
            <a:spLocks noChangeArrowheads="1"/>
          </p:cNvSpPr>
          <p:nvPr/>
        </p:nvSpPr>
        <p:spPr bwMode="auto">
          <a:xfrm>
            <a:off x="457200" y="0"/>
            <a:ext cx="82296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n-US" altLang="en-US" sz="3600" dirty="0"/>
              <a:t>An HTTP conversation</a:t>
            </a:r>
            <a:endParaRPr lang="en-US" altLang="en-US" sz="3600" dirty="0">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8181C454-B10E-4CC6-8F2A-0F29CCD5F5C4}"/>
              </a:ext>
            </a:extLst>
          </p:cNvPr>
          <p:cNvSpPr>
            <a:spLocks noGrp="1" noChangeArrowheads="1"/>
          </p:cNvSpPr>
          <p:nvPr>
            <p:ph type="title"/>
          </p:nvPr>
        </p:nvSpPr>
        <p:spPr>
          <a:xfrm>
            <a:off x="457200" y="274638"/>
            <a:ext cx="8229600" cy="944562"/>
          </a:xfrm>
        </p:spPr>
        <p:txBody>
          <a:bodyPr/>
          <a:lstStyle/>
          <a:p>
            <a:r>
              <a:rPr lang="en-US" altLang="en-US" sz="3600"/>
              <a:t>An HTTP example</a:t>
            </a:r>
          </a:p>
        </p:txBody>
      </p:sp>
      <p:sp>
        <p:nvSpPr>
          <p:cNvPr id="34819" name="Rectangle 3">
            <a:extLst>
              <a:ext uri="{FF2B5EF4-FFF2-40B4-BE49-F238E27FC236}">
                <a16:creationId xmlns:a16="http://schemas.microsoft.com/office/drawing/2014/main" id="{6B7EC8FC-EE2E-4471-BD4C-3669F41AE69A}"/>
              </a:ext>
            </a:extLst>
          </p:cNvPr>
          <p:cNvSpPr>
            <a:spLocks noGrp="1" noChangeArrowheads="1"/>
          </p:cNvSpPr>
          <p:nvPr>
            <p:ph type="body" idx="1"/>
          </p:nvPr>
        </p:nvSpPr>
        <p:spPr>
          <a:xfrm>
            <a:off x="381000" y="1600200"/>
            <a:ext cx="8305800" cy="1447800"/>
          </a:xfrm>
        </p:spPr>
        <p:txBody>
          <a:bodyPr/>
          <a:lstStyle/>
          <a:p>
            <a:pPr marL="0" indent="0">
              <a:buFontTx/>
              <a:buNone/>
            </a:pPr>
            <a:r>
              <a:rPr lang="en-US" altLang="en-US" sz="2400"/>
              <a:t>The message requesting a Web page must begin with the work “GET” and be followed by a space and the location of a file on the server, like this:</a:t>
            </a:r>
          </a:p>
        </p:txBody>
      </p:sp>
      <p:sp>
        <p:nvSpPr>
          <p:cNvPr id="34820" name="Text Box 4">
            <a:extLst>
              <a:ext uri="{FF2B5EF4-FFF2-40B4-BE49-F238E27FC236}">
                <a16:creationId xmlns:a16="http://schemas.microsoft.com/office/drawing/2014/main" id="{C156A607-10D9-40F2-8CD6-6E8D8D5F3242}"/>
              </a:ext>
            </a:extLst>
          </p:cNvPr>
          <p:cNvSpPr txBox="1">
            <a:spLocks noChangeArrowheads="1"/>
          </p:cNvSpPr>
          <p:nvPr/>
        </p:nvSpPr>
        <p:spPr bwMode="auto">
          <a:xfrm>
            <a:off x="2438400" y="3352800"/>
            <a:ext cx="487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a:t>GET /fac/lpress/shortbio.htm </a:t>
            </a:r>
          </a:p>
        </p:txBody>
      </p:sp>
      <p:sp>
        <p:nvSpPr>
          <p:cNvPr id="34821" name="Text Box 5">
            <a:extLst>
              <a:ext uri="{FF2B5EF4-FFF2-40B4-BE49-F238E27FC236}">
                <a16:creationId xmlns:a16="http://schemas.microsoft.com/office/drawing/2014/main" id="{B1675C06-C980-4967-A884-388DD2DE4D22}"/>
              </a:ext>
            </a:extLst>
          </p:cNvPr>
          <p:cNvSpPr txBox="1">
            <a:spLocks noChangeArrowheads="1"/>
          </p:cNvSpPr>
          <p:nvPr/>
        </p:nvSpPr>
        <p:spPr bwMode="auto">
          <a:xfrm>
            <a:off x="381000" y="4724400"/>
            <a:ext cx="7848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a:t>The protocol spells out the exact message format, so any Web client can retrieve pages from any Web server.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82C4CA9A-E376-4A95-9A76-55C9EBA838CE}"/>
              </a:ext>
            </a:extLst>
          </p:cNvPr>
          <p:cNvSpPr>
            <a:spLocks noGrp="1" noChangeArrowheads="1"/>
          </p:cNvSpPr>
          <p:nvPr>
            <p:ph type="title"/>
          </p:nvPr>
        </p:nvSpPr>
        <p:spPr>
          <a:xfrm>
            <a:off x="457200" y="0"/>
            <a:ext cx="8229600" cy="1143000"/>
          </a:xfrm>
        </p:spPr>
        <p:txBody>
          <a:bodyPr/>
          <a:lstStyle/>
          <a:p>
            <a:r>
              <a:rPr lang="en-US" altLang="en-US" sz="3600"/>
              <a:t>HTTP is an </a:t>
            </a:r>
            <a:r>
              <a:rPr lang="en-US" altLang="en-US" sz="3600">
                <a:solidFill>
                  <a:srgbClr val="FF0000"/>
                </a:solidFill>
              </a:rPr>
              <a:t>application layer</a:t>
            </a:r>
            <a:r>
              <a:rPr lang="en-US" altLang="en-US" sz="3600"/>
              <a:t> protocol</a:t>
            </a:r>
            <a:endParaRPr lang="en-US" altLang="en-US" sz="3600">
              <a:solidFill>
                <a:srgbClr val="FF0000"/>
              </a:solidFill>
            </a:endParaRPr>
          </a:p>
        </p:txBody>
      </p:sp>
      <p:sp>
        <p:nvSpPr>
          <p:cNvPr id="38915" name="Rectangle 3">
            <a:extLst>
              <a:ext uri="{FF2B5EF4-FFF2-40B4-BE49-F238E27FC236}">
                <a16:creationId xmlns:a16="http://schemas.microsoft.com/office/drawing/2014/main" id="{8293D2EC-F223-4718-89FE-6515CB2C2E8E}"/>
              </a:ext>
            </a:extLst>
          </p:cNvPr>
          <p:cNvSpPr>
            <a:spLocks noGrp="1" noChangeArrowheads="1"/>
          </p:cNvSpPr>
          <p:nvPr>
            <p:ph type="body" idx="1"/>
          </p:nvPr>
        </p:nvSpPr>
        <p:spPr>
          <a:xfrm>
            <a:off x="304800" y="3810000"/>
            <a:ext cx="8610600" cy="1752600"/>
          </a:xfrm>
        </p:spPr>
        <p:txBody>
          <a:bodyPr>
            <a:normAutofit fontScale="92500" lnSpcReduction="20000"/>
          </a:bodyPr>
          <a:lstStyle/>
          <a:p>
            <a:pPr marL="282575" indent="-282575">
              <a:lnSpc>
                <a:spcPct val="80000"/>
              </a:lnSpc>
            </a:pPr>
            <a:r>
              <a:rPr lang="en-US" altLang="en-US" sz="2400"/>
              <a:t>The Web client and the Web server are application programs</a:t>
            </a:r>
          </a:p>
          <a:p>
            <a:pPr marL="282575" indent="-282575">
              <a:lnSpc>
                <a:spcPct val="80000"/>
              </a:lnSpc>
            </a:pPr>
            <a:r>
              <a:rPr lang="en-US" altLang="en-US" sz="2400"/>
              <a:t>Application layer programs do useful work like retrieving Web pages, sending and receiving email or transferring files</a:t>
            </a:r>
          </a:p>
          <a:p>
            <a:pPr marL="282575" indent="-282575">
              <a:lnSpc>
                <a:spcPct val="80000"/>
              </a:lnSpc>
            </a:pPr>
            <a:r>
              <a:rPr lang="en-US" altLang="en-US" sz="2400"/>
              <a:t>Lower layers take care of the communication details</a:t>
            </a:r>
          </a:p>
          <a:p>
            <a:pPr marL="282575" indent="-282575">
              <a:lnSpc>
                <a:spcPct val="80000"/>
              </a:lnSpc>
            </a:pPr>
            <a:r>
              <a:rPr lang="en-US" altLang="en-US" sz="2400"/>
              <a:t>The client and server send messages and data without knowing anything about the communication network</a:t>
            </a:r>
          </a:p>
        </p:txBody>
      </p:sp>
      <p:pic>
        <p:nvPicPr>
          <p:cNvPr id="38916" name="Picture 4" descr="ClServer">
            <a:extLst>
              <a:ext uri="{FF2B5EF4-FFF2-40B4-BE49-F238E27FC236}">
                <a16:creationId xmlns:a16="http://schemas.microsoft.com/office/drawing/2014/main" id="{B40B9DC2-7816-43C1-9F47-E0FA1898AA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143000"/>
            <a:ext cx="5910263" cy="2222500"/>
          </a:xfrm>
          <a:prstGeom prst="rect">
            <a:avLst/>
          </a:prstGeom>
          <a:noFill/>
          <a:extLst>
            <a:ext uri="{909E8E84-426E-40DD-AFC4-6F175D3DCCD1}">
              <a14:hiddenFill xmlns:a14="http://schemas.microsoft.com/office/drawing/2010/main">
                <a:solidFill>
                  <a:srgbClr val="FFFFFF"/>
                </a:solidFill>
              </a14:hiddenFill>
            </a:ext>
          </a:extLst>
        </p:spPr>
      </p:pic>
      <p:sp>
        <p:nvSpPr>
          <p:cNvPr id="38917" name="Text Box 5">
            <a:extLst>
              <a:ext uri="{FF2B5EF4-FFF2-40B4-BE49-F238E27FC236}">
                <a16:creationId xmlns:a16="http://schemas.microsoft.com/office/drawing/2014/main" id="{BFFE9A90-B83C-4DD8-9F45-200760FF4DB7}"/>
              </a:ext>
            </a:extLst>
          </p:cNvPr>
          <p:cNvSpPr txBox="1">
            <a:spLocks noChangeArrowheads="1"/>
          </p:cNvSpPr>
          <p:nvPr/>
        </p:nvSpPr>
        <p:spPr bwMode="auto">
          <a:xfrm>
            <a:off x="609600" y="6223000"/>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2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13A8CCA5-7DE7-48E1-805E-E6046B2ECC4B}"/>
              </a:ext>
            </a:extLst>
          </p:cNvPr>
          <p:cNvSpPr>
            <a:spLocks noGrp="1" noChangeArrowheads="1"/>
          </p:cNvSpPr>
          <p:nvPr>
            <p:ph type="title"/>
          </p:nvPr>
        </p:nvSpPr>
        <p:spPr>
          <a:xfrm>
            <a:off x="457200" y="76200"/>
            <a:ext cx="8229600" cy="838200"/>
          </a:xfrm>
        </p:spPr>
        <p:txBody>
          <a:bodyPr/>
          <a:lstStyle/>
          <a:p>
            <a:r>
              <a:rPr lang="en-US" altLang="en-US" sz="3200"/>
              <a:t>The application layer is boss – the top layer</a:t>
            </a:r>
          </a:p>
        </p:txBody>
      </p:sp>
      <p:sp>
        <p:nvSpPr>
          <p:cNvPr id="53251" name="Rectangle 3">
            <a:extLst>
              <a:ext uri="{FF2B5EF4-FFF2-40B4-BE49-F238E27FC236}">
                <a16:creationId xmlns:a16="http://schemas.microsoft.com/office/drawing/2014/main" id="{4306BE1C-3086-4069-88F6-EC863A5293D5}"/>
              </a:ext>
            </a:extLst>
          </p:cNvPr>
          <p:cNvSpPr>
            <a:spLocks noGrp="1" noChangeArrowheads="1"/>
          </p:cNvSpPr>
          <p:nvPr>
            <p:ph type="body" idx="1"/>
          </p:nvPr>
        </p:nvSpPr>
        <p:spPr>
          <a:xfrm>
            <a:off x="304800" y="3505200"/>
            <a:ext cx="8229600" cy="1115961"/>
          </a:xfrm>
        </p:spPr>
        <p:txBody>
          <a:bodyPr>
            <a:normAutofit/>
          </a:bodyPr>
          <a:lstStyle/>
          <a:p>
            <a:pPr>
              <a:lnSpc>
                <a:spcPct val="80000"/>
              </a:lnSpc>
            </a:pPr>
            <a:r>
              <a:rPr lang="en-US" altLang="en-US" sz="2000" dirty="0">
                <a:solidFill>
                  <a:srgbClr val="FF0000"/>
                </a:solidFill>
              </a:rPr>
              <a:t>The application program says:</a:t>
            </a:r>
            <a:r>
              <a:rPr lang="en-US" altLang="en-US" sz="2000" i="1" dirty="0"/>
              <a:t>  </a:t>
            </a:r>
            <a:r>
              <a:rPr lang="en-US" altLang="en-US" sz="2000" dirty="0"/>
              <a:t>Send this request to the server -- I don't care how you do it or whether it goes over phone lines, radio, or anything else about the details. Just send the message, and let me know when it arrives or if it cannot be delivered for some reason. </a:t>
            </a:r>
          </a:p>
        </p:txBody>
      </p:sp>
      <p:graphicFrame>
        <p:nvGraphicFramePr>
          <p:cNvPr id="53252" name="Group 4">
            <a:extLst>
              <a:ext uri="{FF2B5EF4-FFF2-40B4-BE49-F238E27FC236}">
                <a16:creationId xmlns:a16="http://schemas.microsoft.com/office/drawing/2014/main" id="{A397778B-925B-423D-9C99-F08036C3F87D}"/>
              </a:ext>
            </a:extLst>
          </p:cNvPr>
          <p:cNvGraphicFramePr>
            <a:graphicFrameLocks noGrp="1"/>
          </p:cNvGraphicFramePr>
          <p:nvPr>
            <p:ph idx="4294967295"/>
          </p:nvPr>
        </p:nvGraphicFramePr>
        <p:xfrm>
          <a:off x="1447800" y="1143000"/>
          <a:ext cx="6629400" cy="1889443"/>
        </p:xfrm>
        <a:graphic>
          <a:graphicData uri="http://schemas.openxmlformats.org/drawingml/2006/table">
            <a:tbl>
              <a:tblPr/>
              <a:tblGrid>
                <a:gridCol w="1676400">
                  <a:extLst>
                    <a:ext uri="{9D8B030D-6E8A-4147-A177-3AD203B41FA5}">
                      <a16:colId xmlns:a16="http://schemas.microsoft.com/office/drawing/2014/main" val="2419282008"/>
                    </a:ext>
                  </a:extLst>
                </a:gridCol>
                <a:gridCol w="4953000">
                  <a:extLst>
                    <a:ext uri="{9D8B030D-6E8A-4147-A177-3AD203B41FA5}">
                      <a16:colId xmlns:a16="http://schemas.microsoft.com/office/drawing/2014/main" val="68975990"/>
                    </a:ext>
                  </a:extLst>
                </a:gridCol>
              </a:tblGrid>
              <a:tr h="381000">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Arial" panose="020B0604020202020204" pitchFamily="34" charset="0"/>
                          <a:cs typeface="Arial" panose="020B0604020202020204" pitchFamily="34" charset="0"/>
                        </a:rPr>
                        <a:t>Layer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Arial" panose="020B0604020202020204" pitchFamily="34" charset="0"/>
                          <a:cs typeface="Arial" panose="020B0604020202020204" pitchFamily="34" charset="0"/>
                        </a:rPr>
                        <a:t>Function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55854408"/>
                  </a:ext>
                </a:extLst>
              </a:tr>
              <a:tr h="792163">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Application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Do useful work like Web browsing, email, and file transfer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2848583343"/>
                  </a:ext>
                </a:extLst>
              </a:tr>
              <a:tr h="693738">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Lower layers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Handle communication between the client and server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30426810"/>
                  </a:ext>
                </a:extLst>
              </a:tr>
            </a:tbl>
          </a:graphicData>
        </a:graphic>
      </p:graphicFrame>
      <p:sp>
        <p:nvSpPr>
          <p:cNvPr id="53266" name="Text Box 18">
            <a:extLst>
              <a:ext uri="{FF2B5EF4-FFF2-40B4-BE49-F238E27FC236}">
                <a16:creationId xmlns:a16="http://schemas.microsoft.com/office/drawing/2014/main" id="{CDB8695C-6EA5-40B9-A91F-AAE1051F60F4}"/>
              </a:ext>
            </a:extLst>
          </p:cNvPr>
          <p:cNvSpPr txBox="1">
            <a:spLocks noChangeArrowheads="1"/>
          </p:cNvSpPr>
          <p:nvPr/>
        </p:nvSpPr>
        <p:spPr bwMode="auto">
          <a:xfrm>
            <a:off x="457199" y="4567091"/>
            <a:ext cx="6848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dirty="0">
                <a:solidFill>
                  <a:srgbClr val="FF0000"/>
                </a:solidFill>
              </a:rPr>
              <a:t>There are five layers, the application layer and four lower layers.</a:t>
            </a:r>
          </a:p>
        </p:txBody>
      </p:sp>
      <p:sp>
        <p:nvSpPr>
          <p:cNvPr id="9" name="TextBox 8">
            <a:extLst>
              <a:ext uri="{FF2B5EF4-FFF2-40B4-BE49-F238E27FC236}">
                <a16:creationId xmlns:a16="http://schemas.microsoft.com/office/drawing/2014/main" id="{7AE0324F-AFC3-49FB-A321-E32C40AE7CC5}"/>
              </a:ext>
            </a:extLst>
          </p:cNvPr>
          <p:cNvSpPr txBox="1"/>
          <p:nvPr/>
        </p:nvSpPr>
        <p:spPr>
          <a:xfrm>
            <a:off x="457198" y="5285815"/>
            <a:ext cx="8366761" cy="1083374"/>
          </a:xfrm>
          <a:prstGeom prst="rect">
            <a:avLst/>
          </a:prstGeom>
          <a:noFill/>
        </p:spPr>
        <p:txBody>
          <a:bodyPr wrap="square">
            <a:spAutoFit/>
          </a:bodyPr>
          <a:lstStyle/>
          <a:p>
            <a:pPr>
              <a:lnSpc>
                <a:spcPct val="80000"/>
              </a:lnSpc>
            </a:pPr>
            <a:r>
              <a:rPr lang="en-US" altLang="zh-CN" sz="2000" dirty="0"/>
              <a:t>Similar example:</a:t>
            </a:r>
          </a:p>
          <a:p>
            <a:pPr>
              <a:lnSpc>
                <a:spcPct val="80000"/>
              </a:lnSpc>
            </a:pPr>
            <a:r>
              <a:rPr lang="en-US" altLang="en-US" sz="2000" dirty="0">
                <a:solidFill>
                  <a:srgbClr val="FF0000"/>
                </a:solidFill>
              </a:rPr>
              <a:t>Your boss says:</a:t>
            </a:r>
            <a:r>
              <a:rPr lang="en-US" altLang="en-US" sz="2000" dirty="0"/>
              <a:t>  Send this package to Miami -- I don't care if you use Federal Express, UPS, or any other means. Also, let me know when it arrives or if it cannot be delivered for some reason.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A9F1F9BC-338C-4069-A6E1-E64E85F84950}"/>
              </a:ext>
            </a:extLst>
          </p:cNvPr>
          <p:cNvSpPr>
            <a:spLocks noGrp="1" noChangeArrowheads="1"/>
          </p:cNvSpPr>
          <p:nvPr>
            <p:ph type="title"/>
          </p:nvPr>
        </p:nvSpPr>
        <p:spPr/>
        <p:txBody>
          <a:bodyPr/>
          <a:lstStyle/>
          <a:p>
            <a:r>
              <a:rPr lang="en-US" altLang="en-US"/>
              <a:t>HTTP 1.0</a:t>
            </a:r>
          </a:p>
        </p:txBody>
      </p:sp>
      <p:sp>
        <p:nvSpPr>
          <p:cNvPr id="53251" name="Rectangle 3">
            <a:extLst>
              <a:ext uri="{FF2B5EF4-FFF2-40B4-BE49-F238E27FC236}">
                <a16:creationId xmlns:a16="http://schemas.microsoft.com/office/drawing/2014/main" id="{41A62281-FD22-473C-82E7-3915F528D439}"/>
              </a:ext>
            </a:extLst>
          </p:cNvPr>
          <p:cNvSpPr>
            <a:spLocks noGrp="1" noChangeArrowheads="1"/>
          </p:cNvSpPr>
          <p:nvPr>
            <p:ph type="body" idx="1"/>
          </p:nvPr>
        </p:nvSpPr>
        <p:spPr/>
        <p:txBody>
          <a:bodyPr>
            <a:normAutofit lnSpcReduction="10000"/>
          </a:bodyPr>
          <a:lstStyle/>
          <a:p>
            <a:r>
              <a:rPr lang="en-US" altLang="en-US" dirty="0"/>
              <a:t>HTTP request </a:t>
            </a:r>
            <a:r>
              <a:rPr lang="en-US" altLang="zh-CN" dirty="0"/>
              <a:t>line</a:t>
            </a:r>
            <a:endParaRPr lang="en-US" altLang="en-US" dirty="0"/>
          </a:p>
          <a:p>
            <a:pPr lvl="1"/>
            <a:r>
              <a:rPr lang="en-US" altLang="en-US" dirty="0"/>
              <a:t>Method</a:t>
            </a:r>
          </a:p>
          <a:p>
            <a:pPr lvl="1"/>
            <a:r>
              <a:rPr lang="en-US" altLang="en-US" dirty="0"/>
              <a:t>URI</a:t>
            </a:r>
          </a:p>
          <a:p>
            <a:pPr lvl="1"/>
            <a:r>
              <a:rPr lang="en-US" altLang="en-US" dirty="0"/>
              <a:t>Protocol version</a:t>
            </a:r>
          </a:p>
          <a:p>
            <a:pPr lvl="1"/>
            <a:r>
              <a:rPr lang="en-US" altLang="en-US" i="1" dirty="0"/>
              <a:t>Method [Request URI] HTTP/1.0</a:t>
            </a:r>
          </a:p>
          <a:p>
            <a:pPr lvl="2"/>
            <a:r>
              <a:rPr lang="en-US" altLang="en-US" i="1" dirty="0"/>
              <a:t>GET /hello.html HTTP/1.0</a:t>
            </a:r>
          </a:p>
          <a:p>
            <a:pPr lvl="2"/>
            <a:endParaRPr lang="en-US" altLang="en-US" i="1" dirty="0"/>
          </a:p>
          <a:p>
            <a:pPr lvl="2"/>
            <a:endParaRPr lang="en-US" altLang="en-US" i="1" dirty="0"/>
          </a:p>
          <a:p>
            <a:r>
              <a:rPr lang="en-US" altLang="en-US" dirty="0"/>
              <a:t>T</a:t>
            </a:r>
            <a:r>
              <a:rPr lang="en-US" altLang="zh-CN" dirty="0"/>
              <a:t>est</a:t>
            </a:r>
            <a:r>
              <a:rPr lang="en-US" altLang="en-US" dirty="0"/>
              <a:t>: in terminal</a:t>
            </a:r>
          </a:p>
          <a:p>
            <a:pPr lvl="1"/>
            <a:r>
              <a:rPr lang="de-DE" altLang="en-US" dirty="0"/>
              <a:t>telnet www.httpforever.com 80</a:t>
            </a:r>
          </a:p>
          <a:p>
            <a:pPr lvl="1"/>
            <a:r>
              <a:rPr lang="en-US" altLang="en-US" dirty="0"/>
              <a:t>GET / HTTP/1.0</a:t>
            </a:r>
          </a:p>
        </p:txBody>
      </p:sp>
      <p:grpSp>
        <p:nvGrpSpPr>
          <p:cNvPr id="6" name="Group 8">
            <a:extLst>
              <a:ext uri="{FF2B5EF4-FFF2-40B4-BE49-F238E27FC236}">
                <a16:creationId xmlns:a16="http://schemas.microsoft.com/office/drawing/2014/main" id="{8A1CA14E-7169-424E-92B8-DCF47835F811}"/>
              </a:ext>
            </a:extLst>
          </p:cNvPr>
          <p:cNvGrpSpPr>
            <a:grpSpLocks/>
          </p:cNvGrpSpPr>
          <p:nvPr/>
        </p:nvGrpSpPr>
        <p:grpSpPr bwMode="auto">
          <a:xfrm>
            <a:off x="5599932" y="1690689"/>
            <a:ext cx="3124200" cy="2814637"/>
            <a:chOff x="5791200" y="457200"/>
            <a:chExt cx="3124200" cy="2814638"/>
          </a:xfrm>
        </p:grpSpPr>
        <p:sp>
          <p:nvSpPr>
            <p:cNvPr id="7" name="Rectangle 4">
              <a:extLst>
                <a:ext uri="{FF2B5EF4-FFF2-40B4-BE49-F238E27FC236}">
                  <a16:creationId xmlns:a16="http://schemas.microsoft.com/office/drawing/2014/main" id="{958D6A54-4482-4BE6-9B15-B46134341803}"/>
                </a:ext>
              </a:extLst>
            </p:cNvPr>
            <p:cNvSpPr>
              <a:spLocks noChangeArrowheads="1"/>
            </p:cNvSpPr>
            <p:nvPr/>
          </p:nvSpPr>
          <p:spPr bwMode="auto">
            <a:xfrm>
              <a:off x="5791200" y="457200"/>
              <a:ext cx="3124200" cy="609600"/>
            </a:xfrm>
            <a:prstGeom prst="rect">
              <a:avLst/>
            </a:prstGeom>
            <a:solidFill>
              <a:schemeClr val="accent5">
                <a:lumMod val="40000"/>
                <a:lumOff val="60000"/>
              </a:schemeClr>
            </a:solidFill>
            <a:ln w="38100">
              <a:solidFill>
                <a:srgbClr val="000000"/>
              </a:solidFill>
              <a:miter lim="800000"/>
              <a:headEnd/>
              <a:tailEnd/>
            </a:ln>
            <a:effectLst/>
          </p:spPr>
          <p:txBody>
            <a:bodyPr wrap="none" anchor="ctr"/>
            <a:lstStyle/>
            <a:p>
              <a:pPr>
                <a:defRPr/>
              </a:pPr>
              <a:r>
                <a:rPr lang="en-US" sz="2800" b="1" dirty="0">
                  <a:solidFill>
                    <a:srgbClr val="000000"/>
                  </a:solidFill>
                  <a:latin typeface="Courier New" pitchFamily="49" charset="0"/>
                </a:rPr>
                <a:t>Request-Line</a:t>
              </a:r>
              <a:endParaRPr lang="en-US" sz="2800" b="1" dirty="0">
                <a:effectLst>
                  <a:outerShdw blurRad="38100" dist="38100" dir="2700000" algn="tl">
                    <a:srgbClr val="000000"/>
                  </a:outerShdw>
                </a:effectLst>
                <a:latin typeface="Courier New" pitchFamily="49" charset="0"/>
              </a:endParaRPr>
            </a:p>
          </p:txBody>
        </p:sp>
        <p:sp>
          <p:nvSpPr>
            <p:cNvPr id="8" name="Rectangle 5">
              <a:extLst>
                <a:ext uri="{FF2B5EF4-FFF2-40B4-BE49-F238E27FC236}">
                  <a16:creationId xmlns:a16="http://schemas.microsoft.com/office/drawing/2014/main" id="{071EF99D-1E0D-4C0E-9389-83E45346C8BE}"/>
                </a:ext>
              </a:extLst>
            </p:cNvPr>
            <p:cNvSpPr>
              <a:spLocks noChangeArrowheads="1"/>
            </p:cNvSpPr>
            <p:nvPr/>
          </p:nvSpPr>
          <p:spPr bwMode="auto">
            <a:xfrm>
              <a:off x="5791200" y="1066800"/>
              <a:ext cx="3124200" cy="1066800"/>
            </a:xfrm>
            <a:prstGeom prst="rect">
              <a:avLst/>
            </a:prstGeom>
            <a:solidFill>
              <a:schemeClr val="accent5">
                <a:lumMod val="60000"/>
                <a:lumOff val="40000"/>
              </a:schemeClr>
            </a:solidFill>
            <a:ln w="38100">
              <a:solidFill>
                <a:srgbClr val="000000"/>
              </a:solidFill>
              <a:miter lim="800000"/>
              <a:headEnd/>
              <a:tailEnd/>
            </a:ln>
            <a:effectLst/>
          </p:spPr>
          <p:txBody>
            <a:bodyPr wrap="none" anchor="ctr"/>
            <a:lstStyle/>
            <a:p>
              <a:pPr>
                <a:lnSpc>
                  <a:spcPct val="40000"/>
                </a:lnSpc>
                <a:defRPr/>
              </a:pPr>
              <a:r>
                <a:rPr lang="en-US" sz="2800" b="1" dirty="0">
                  <a:solidFill>
                    <a:srgbClr val="000000"/>
                  </a:solidFill>
                  <a:latin typeface="Courier New" pitchFamily="49" charset="0"/>
                </a:rPr>
                <a:t>Headers</a:t>
              </a:r>
            </a:p>
            <a:p>
              <a:pPr>
                <a:lnSpc>
                  <a:spcPct val="40000"/>
                </a:lnSpc>
                <a:defRPr/>
              </a:pPr>
              <a:r>
                <a:rPr lang="en-US" sz="2800" b="1" dirty="0">
                  <a:solidFill>
                    <a:srgbClr val="000000"/>
                  </a:solidFill>
                  <a:latin typeface="Courier New" pitchFamily="49" charset="0"/>
                </a:rPr>
                <a:t>.</a:t>
              </a:r>
            </a:p>
            <a:p>
              <a:pPr>
                <a:lnSpc>
                  <a:spcPct val="40000"/>
                </a:lnSpc>
                <a:defRPr/>
              </a:pPr>
              <a:r>
                <a:rPr lang="en-US" sz="2800" b="1" dirty="0">
                  <a:solidFill>
                    <a:srgbClr val="000000"/>
                  </a:solidFill>
                  <a:latin typeface="Courier New" pitchFamily="49" charset="0"/>
                </a:rPr>
                <a:t>.</a:t>
              </a:r>
            </a:p>
            <a:p>
              <a:pPr>
                <a:lnSpc>
                  <a:spcPct val="40000"/>
                </a:lnSpc>
                <a:defRPr/>
              </a:pPr>
              <a:r>
                <a:rPr lang="en-US" sz="2800" b="1" dirty="0">
                  <a:solidFill>
                    <a:srgbClr val="000000"/>
                  </a:solidFill>
                  <a:latin typeface="Courier New" pitchFamily="49" charset="0"/>
                </a:rPr>
                <a:t>.</a:t>
              </a:r>
              <a:endParaRPr lang="en-US" sz="2800" b="1" dirty="0">
                <a:effectLst>
                  <a:outerShdw blurRad="38100" dist="38100" dir="2700000" algn="tl">
                    <a:srgbClr val="000000"/>
                  </a:outerShdw>
                </a:effectLst>
                <a:latin typeface="Courier New" pitchFamily="49" charset="0"/>
              </a:endParaRPr>
            </a:p>
          </p:txBody>
        </p:sp>
        <p:sp>
          <p:nvSpPr>
            <p:cNvPr id="9" name="Rectangle 6">
              <a:extLst>
                <a:ext uri="{FF2B5EF4-FFF2-40B4-BE49-F238E27FC236}">
                  <a16:creationId xmlns:a16="http://schemas.microsoft.com/office/drawing/2014/main" id="{77819CFA-8207-4F9D-AA20-8FCD861D63B7}"/>
                </a:ext>
              </a:extLst>
            </p:cNvPr>
            <p:cNvSpPr>
              <a:spLocks noChangeArrowheads="1"/>
            </p:cNvSpPr>
            <p:nvPr/>
          </p:nvSpPr>
          <p:spPr bwMode="auto">
            <a:xfrm>
              <a:off x="5791200" y="2509838"/>
              <a:ext cx="3124200" cy="762000"/>
            </a:xfrm>
            <a:prstGeom prst="rect">
              <a:avLst/>
            </a:prstGeom>
            <a:solidFill>
              <a:schemeClr val="accent5">
                <a:lumMod val="50000"/>
              </a:schemeClr>
            </a:solidFill>
            <a:ln w="38100">
              <a:solidFill>
                <a:srgbClr val="000000"/>
              </a:solidFill>
              <a:miter lim="800000"/>
              <a:headEnd/>
              <a:tailEnd/>
            </a:ln>
            <a:effectLst/>
          </p:spPr>
          <p:txBody>
            <a:bodyPr wrap="none" anchor="ctr"/>
            <a:lstStyle/>
            <a:p>
              <a:pPr>
                <a:lnSpc>
                  <a:spcPct val="40000"/>
                </a:lnSpc>
                <a:defRPr/>
              </a:pPr>
              <a:r>
                <a:rPr lang="en-US" sz="2800" b="1">
                  <a:solidFill>
                    <a:srgbClr val="000000"/>
                  </a:solidFill>
                  <a:latin typeface="Courier New" pitchFamily="49" charset="0"/>
                </a:rPr>
                <a:t>Content...</a:t>
              </a:r>
            </a:p>
            <a:p>
              <a:pPr>
                <a:lnSpc>
                  <a:spcPct val="40000"/>
                </a:lnSpc>
                <a:defRPr/>
              </a:pPr>
              <a:endParaRPr lang="en-US" sz="2800" b="1">
                <a:effectLst>
                  <a:outerShdw blurRad="38100" dist="38100" dir="2700000" algn="tl">
                    <a:srgbClr val="000000"/>
                  </a:outerShdw>
                </a:effectLst>
                <a:latin typeface="Courier New" pitchFamily="49" charset="0"/>
              </a:endParaRPr>
            </a:p>
          </p:txBody>
        </p:sp>
        <p:sp>
          <p:nvSpPr>
            <p:cNvPr id="10" name="Rectangle 8">
              <a:extLst>
                <a:ext uri="{FF2B5EF4-FFF2-40B4-BE49-F238E27FC236}">
                  <a16:creationId xmlns:a16="http://schemas.microsoft.com/office/drawing/2014/main" id="{3FF3619E-0C5B-4FBF-A5A7-4B4C209BDA8D}"/>
                </a:ext>
              </a:extLst>
            </p:cNvPr>
            <p:cNvSpPr>
              <a:spLocks noChangeArrowheads="1"/>
            </p:cNvSpPr>
            <p:nvPr/>
          </p:nvSpPr>
          <p:spPr bwMode="auto">
            <a:xfrm>
              <a:off x="5791200" y="2138363"/>
              <a:ext cx="3124200" cy="381000"/>
            </a:xfrm>
            <a:prstGeom prst="rect">
              <a:avLst/>
            </a:prstGeom>
            <a:solidFill>
              <a:schemeClr val="accent5">
                <a:lumMod val="75000"/>
              </a:schemeClr>
            </a:solidFill>
            <a:ln w="38100">
              <a:solidFill>
                <a:srgbClr val="000000"/>
              </a:solidFill>
              <a:miter lim="800000"/>
              <a:headEnd/>
              <a:tailEnd/>
            </a:ln>
            <a:effectLst/>
          </p:spPr>
          <p:txBody>
            <a:bodyPr wrap="none" anchor="ctr"/>
            <a:lstStyle/>
            <a:p>
              <a:pPr>
                <a:lnSpc>
                  <a:spcPct val="40000"/>
                </a:lnSpc>
                <a:defRPr/>
              </a:pPr>
              <a:r>
                <a:rPr lang="en-US" sz="1800" b="1" i="1">
                  <a:solidFill>
                    <a:srgbClr val="000000"/>
                  </a:solidFill>
                  <a:effectLst>
                    <a:outerShdw blurRad="38100" dist="38100" dir="2700000" algn="tl">
                      <a:srgbClr val="C0C0C0"/>
                    </a:outerShdw>
                  </a:effectLst>
                  <a:latin typeface="Courier New" pitchFamily="49" charset="0"/>
                </a:rPr>
                <a:t>blank line</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596248B1-24B1-47AE-ACA9-56288541913C}"/>
              </a:ext>
            </a:extLst>
          </p:cNvPr>
          <p:cNvSpPr>
            <a:spLocks noGrp="1" noChangeArrowheads="1"/>
          </p:cNvSpPr>
          <p:nvPr>
            <p:ph type="title"/>
          </p:nvPr>
        </p:nvSpPr>
        <p:spPr>
          <a:xfrm>
            <a:off x="628650" y="296995"/>
            <a:ext cx="7886700" cy="558411"/>
          </a:xfrm>
        </p:spPr>
        <p:txBody>
          <a:bodyPr>
            <a:normAutofit fontScale="90000"/>
          </a:bodyPr>
          <a:lstStyle/>
          <a:p>
            <a:r>
              <a:rPr lang="en-US" altLang="en-US" dirty="0"/>
              <a:t>HTTP 1.0</a:t>
            </a:r>
          </a:p>
        </p:txBody>
      </p:sp>
      <p:sp>
        <p:nvSpPr>
          <p:cNvPr id="54275" name="Rectangle 3">
            <a:extLst>
              <a:ext uri="{FF2B5EF4-FFF2-40B4-BE49-F238E27FC236}">
                <a16:creationId xmlns:a16="http://schemas.microsoft.com/office/drawing/2014/main" id="{50D34154-30D3-4F82-BCA9-197669843950}"/>
              </a:ext>
            </a:extLst>
          </p:cNvPr>
          <p:cNvSpPr>
            <a:spLocks noGrp="1" noChangeArrowheads="1"/>
          </p:cNvSpPr>
          <p:nvPr>
            <p:ph type="body" idx="1"/>
          </p:nvPr>
        </p:nvSpPr>
        <p:spPr>
          <a:xfrm>
            <a:off x="190501" y="1776464"/>
            <a:ext cx="3363247" cy="2716878"/>
          </a:xfrm>
        </p:spPr>
        <p:txBody>
          <a:bodyPr>
            <a:normAutofit fontScale="77500" lnSpcReduction="20000"/>
          </a:bodyPr>
          <a:lstStyle/>
          <a:p>
            <a:r>
              <a:rPr lang="en-US" altLang="en-US" dirty="0"/>
              <a:t>Method</a:t>
            </a:r>
          </a:p>
          <a:p>
            <a:pPr lvl="1"/>
            <a:r>
              <a:rPr lang="en-US" altLang="en-US" dirty="0"/>
              <a:t>Get</a:t>
            </a:r>
          </a:p>
          <a:p>
            <a:pPr lvl="2"/>
            <a:r>
              <a:rPr lang="en-US" altLang="zh-CN" dirty="0"/>
              <a:t>R</a:t>
            </a:r>
            <a:r>
              <a:rPr lang="en-US" altLang="en-US" dirty="0"/>
              <a:t>etrieve information identified by the UR</a:t>
            </a:r>
            <a:r>
              <a:rPr lang="en-US" altLang="zh-CN" dirty="0"/>
              <a:t>L</a:t>
            </a:r>
            <a:r>
              <a:rPr lang="en-US" altLang="en-US" dirty="0"/>
              <a:t>.</a:t>
            </a:r>
          </a:p>
          <a:p>
            <a:pPr lvl="1"/>
            <a:r>
              <a:rPr lang="en-US" altLang="en-US" dirty="0"/>
              <a:t>Head</a:t>
            </a:r>
          </a:p>
          <a:p>
            <a:pPr lvl="2"/>
            <a:r>
              <a:rPr lang="en-US" altLang="en-US" dirty="0"/>
              <a:t>Only returns information about data (metadata)</a:t>
            </a:r>
          </a:p>
          <a:p>
            <a:pPr lvl="1"/>
            <a:r>
              <a:rPr lang="en-US" altLang="en-US" dirty="0"/>
              <a:t>Post</a:t>
            </a:r>
          </a:p>
          <a:p>
            <a:pPr lvl="2"/>
            <a:r>
              <a:rPr lang="en-US" altLang="en-US" dirty="0"/>
              <a:t>Sends/creates something to server, and retrieve result</a:t>
            </a:r>
          </a:p>
        </p:txBody>
      </p:sp>
      <p:sp>
        <p:nvSpPr>
          <p:cNvPr id="2" name="Rectangle 1">
            <a:extLst>
              <a:ext uri="{FF2B5EF4-FFF2-40B4-BE49-F238E27FC236}">
                <a16:creationId xmlns:a16="http://schemas.microsoft.com/office/drawing/2014/main" id="{17367104-FE52-4B84-9BCF-6502C1FCE500}"/>
              </a:ext>
            </a:extLst>
          </p:cNvPr>
          <p:cNvSpPr/>
          <p:nvPr/>
        </p:nvSpPr>
        <p:spPr>
          <a:xfrm>
            <a:off x="1010264" y="5963392"/>
            <a:ext cx="7123472" cy="369332"/>
          </a:xfrm>
          <a:prstGeom prst="rect">
            <a:avLst/>
          </a:prstGeom>
        </p:spPr>
        <p:txBody>
          <a:bodyPr wrap="square">
            <a:spAutoFit/>
          </a:bodyPr>
          <a:lstStyle/>
          <a:p>
            <a:pPr>
              <a:buFont typeface="Arial" panose="020B0604020202020204" pitchFamily="34" charset="0"/>
              <a:buChar char="•"/>
            </a:pPr>
            <a:r>
              <a:rPr lang="en-US" dirty="0">
                <a:latin typeface="medium-content-serif-font"/>
              </a:rPr>
              <a:t>Connection nature: terminated immediately after the response</a:t>
            </a:r>
            <a:endParaRPr lang="en-US" b="0" i="0" dirty="0">
              <a:effectLst/>
              <a:latin typeface="medium-content-serif-font"/>
            </a:endParaRPr>
          </a:p>
        </p:txBody>
      </p:sp>
      <p:pic>
        <p:nvPicPr>
          <p:cNvPr id="3" name="Picture 2">
            <a:extLst>
              <a:ext uri="{FF2B5EF4-FFF2-40B4-BE49-F238E27FC236}">
                <a16:creationId xmlns:a16="http://schemas.microsoft.com/office/drawing/2014/main" id="{759E7D42-694C-46EB-A4C2-8A7A23173BF1}"/>
              </a:ext>
            </a:extLst>
          </p:cNvPr>
          <p:cNvPicPr>
            <a:picLocks noChangeAspect="1"/>
          </p:cNvPicPr>
          <p:nvPr/>
        </p:nvPicPr>
        <p:blipFill>
          <a:blip r:embed="rId2"/>
          <a:stretch>
            <a:fillRect/>
          </a:stretch>
        </p:blipFill>
        <p:spPr>
          <a:xfrm>
            <a:off x="3820166" y="1016802"/>
            <a:ext cx="5133333" cy="462857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BE917A36-5AC9-4522-8B50-0A285615C59D}"/>
              </a:ext>
            </a:extLst>
          </p:cNvPr>
          <p:cNvSpPr>
            <a:spLocks noGrp="1" noChangeArrowheads="1"/>
          </p:cNvSpPr>
          <p:nvPr>
            <p:ph type="title"/>
          </p:nvPr>
        </p:nvSpPr>
        <p:spPr/>
        <p:txBody>
          <a:bodyPr>
            <a:normAutofit/>
          </a:bodyPr>
          <a:lstStyle/>
          <a:p>
            <a:r>
              <a:rPr lang="en-US" altLang="en-US" dirty="0"/>
              <a:t>HTTP 1.1 </a:t>
            </a:r>
            <a:br>
              <a:rPr lang="en-US" altLang="en-US" dirty="0"/>
            </a:br>
            <a:r>
              <a:rPr lang="en-US" altLang="en-US" dirty="0"/>
              <a:t>– improvement from HTTP 1.0</a:t>
            </a:r>
          </a:p>
        </p:txBody>
      </p:sp>
      <p:sp>
        <p:nvSpPr>
          <p:cNvPr id="55299" name="Rectangle 3">
            <a:extLst>
              <a:ext uri="{FF2B5EF4-FFF2-40B4-BE49-F238E27FC236}">
                <a16:creationId xmlns:a16="http://schemas.microsoft.com/office/drawing/2014/main" id="{3B077018-26EE-44F5-B03F-E53C871FA32D}"/>
              </a:ext>
            </a:extLst>
          </p:cNvPr>
          <p:cNvSpPr>
            <a:spLocks noGrp="1" noChangeArrowheads="1"/>
          </p:cNvSpPr>
          <p:nvPr>
            <p:ph type="body" idx="1"/>
          </p:nvPr>
        </p:nvSpPr>
        <p:spPr/>
        <p:txBody>
          <a:bodyPr/>
          <a:lstStyle/>
          <a:p>
            <a:r>
              <a:rPr lang="en-US" dirty="0"/>
              <a:t>This is the HTTP version currently in common use.</a:t>
            </a:r>
          </a:p>
          <a:p>
            <a:r>
              <a:rPr lang="en-US" altLang="en-US" dirty="0"/>
              <a:t>Additional Methods</a:t>
            </a:r>
          </a:p>
          <a:p>
            <a:pPr lvl="1"/>
            <a:r>
              <a:rPr lang="en-US" altLang="en-US" dirty="0"/>
              <a:t>Put</a:t>
            </a:r>
          </a:p>
          <a:p>
            <a:pPr lvl="2"/>
            <a:r>
              <a:rPr lang="en-US" altLang="en-US" dirty="0"/>
              <a:t>Store/update information in location named by UR</a:t>
            </a:r>
            <a:r>
              <a:rPr lang="en-US" altLang="zh-CN" dirty="0"/>
              <a:t>L</a:t>
            </a:r>
            <a:endParaRPr lang="en-US" altLang="en-US" dirty="0"/>
          </a:p>
          <a:p>
            <a:pPr lvl="1"/>
            <a:r>
              <a:rPr lang="en-US" altLang="zh-CN" dirty="0"/>
              <a:t>Delete</a:t>
            </a:r>
            <a:endParaRPr lang="en-US" altLang="en-US" dirty="0"/>
          </a:p>
          <a:p>
            <a:pPr lvl="2"/>
            <a:r>
              <a:rPr lang="en-US" altLang="zh-CN" dirty="0"/>
              <a:t>R</a:t>
            </a:r>
            <a:r>
              <a:rPr lang="en-US" altLang="en-US" dirty="0"/>
              <a:t>emove entity identified by </a:t>
            </a:r>
            <a:r>
              <a:rPr lang="en-US" altLang="zh-CN" dirty="0"/>
              <a:t>URL</a:t>
            </a:r>
            <a:endParaRPr lang="en-US" altLang="en-US" dirty="0"/>
          </a:p>
          <a:p>
            <a:pPr marL="457200" lvl="1" indent="0">
              <a:buNone/>
            </a:pPr>
            <a:endParaRPr lang="en-US" altLang="en-US" dirty="0"/>
          </a:p>
          <a:p>
            <a:r>
              <a:rPr lang="en-US" dirty="0"/>
              <a:t>Connection nature: long-lived</a:t>
            </a:r>
          </a:p>
          <a:p>
            <a:endParaRPr lang="en-US"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F5320-1722-4920-AC98-BECC8B0DC353}"/>
              </a:ext>
            </a:extLst>
          </p:cNvPr>
          <p:cNvSpPr>
            <a:spLocks noGrp="1"/>
          </p:cNvSpPr>
          <p:nvPr>
            <p:ph type="title"/>
          </p:nvPr>
        </p:nvSpPr>
        <p:spPr>
          <a:xfrm>
            <a:off x="628650" y="194032"/>
            <a:ext cx="7886700" cy="588603"/>
          </a:xfrm>
        </p:spPr>
        <p:txBody>
          <a:bodyPr>
            <a:normAutofit fontScale="90000"/>
          </a:bodyPr>
          <a:lstStyle/>
          <a:p>
            <a:r>
              <a:rPr lang="en-US" dirty="0"/>
              <a:t>HTTP 1.0 vs. HTTP 1.1</a:t>
            </a:r>
          </a:p>
        </p:txBody>
      </p:sp>
      <p:sp>
        <p:nvSpPr>
          <p:cNvPr id="3" name="Content Placeholder 2">
            <a:extLst>
              <a:ext uri="{FF2B5EF4-FFF2-40B4-BE49-F238E27FC236}">
                <a16:creationId xmlns:a16="http://schemas.microsoft.com/office/drawing/2014/main" id="{B69EF0A8-D245-479E-8A83-8DC4C2582EF8}"/>
              </a:ext>
            </a:extLst>
          </p:cNvPr>
          <p:cNvSpPr>
            <a:spLocks noGrp="1"/>
          </p:cNvSpPr>
          <p:nvPr>
            <p:ph idx="1"/>
          </p:nvPr>
        </p:nvSpPr>
        <p:spPr>
          <a:xfrm>
            <a:off x="77582" y="1300161"/>
            <a:ext cx="3145247" cy="5220930"/>
          </a:xfrm>
        </p:spPr>
        <p:txBody>
          <a:bodyPr>
            <a:normAutofit fontScale="92500" lnSpcReduction="10000"/>
          </a:bodyPr>
          <a:lstStyle/>
          <a:p>
            <a:r>
              <a:rPr lang="en-US" sz="2000" dirty="0"/>
              <a:t>Before establishing any connection, a TCP three-way handshake happens.</a:t>
            </a:r>
          </a:p>
          <a:p>
            <a:r>
              <a:rPr lang="en-US" sz="2000" dirty="0"/>
              <a:t> At the end, after sending all data to Client, Server sends a message saying there’s no more data to send. Then the client closes the connection (TCP teardown). </a:t>
            </a:r>
          </a:p>
          <a:p>
            <a:r>
              <a:rPr lang="en-US" sz="2000" dirty="0"/>
              <a:t>The problem in HTTP/1.0 is, for each request-response cycle, a connection needs to be opened and closed. </a:t>
            </a:r>
          </a:p>
          <a:p>
            <a:r>
              <a:rPr lang="en-US" sz="2000" dirty="0"/>
              <a:t>And the advantage of using HTTP/1.1 is, we can reuse the same open connection for multiple request-response cycles.</a:t>
            </a:r>
          </a:p>
        </p:txBody>
      </p:sp>
      <p:pic>
        <p:nvPicPr>
          <p:cNvPr id="1026" name="Picture 2" descr="https://cdn-images-1.medium.com/max/1600/1*hr47CCH4G0B6z24i0w-fsg.gif">
            <a:extLst>
              <a:ext uri="{FF2B5EF4-FFF2-40B4-BE49-F238E27FC236}">
                <a16:creationId xmlns:a16="http://schemas.microsoft.com/office/drawing/2014/main" id="{78FB3727-3231-49A3-9B93-977C2D3C54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1892" y="1036995"/>
            <a:ext cx="5724526" cy="54840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08311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491A2869-6EE6-4EC5-BF31-356B5C6A0B28}"/>
              </a:ext>
            </a:extLst>
          </p:cNvPr>
          <p:cNvSpPr>
            <a:spLocks noGrp="1" noChangeArrowheads="1"/>
          </p:cNvSpPr>
          <p:nvPr>
            <p:ph type="title"/>
          </p:nvPr>
        </p:nvSpPr>
        <p:spPr/>
        <p:txBody>
          <a:bodyPr/>
          <a:lstStyle/>
          <a:p>
            <a:r>
              <a:rPr lang="en-US" altLang="en-US" dirty="0"/>
              <a:t>HTTP response</a:t>
            </a:r>
          </a:p>
        </p:txBody>
      </p:sp>
      <p:sp>
        <p:nvSpPr>
          <p:cNvPr id="59395" name="Rectangle 3">
            <a:extLst>
              <a:ext uri="{FF2B5EF4-FFF2-40B4-BE49-F238E27FC236}">
                <a16:creationId xmlns:a16="http://schemas.microsoft.com/office/drawing/2014/main" id="{14BD98B6-02BD-4541-8CD5-37CD2A6CA174}"/>
              </a:ext>
            </a:extLst>
          </p:cNvPr>
          <p:cNvSpPr>
            <a:spLocks noGrp="1" noChangeArrowheads="1"/>
          </p:cNvSpPr>
          <p:nvPr>
            <p:ph type="body" idx="1"/>
          </p:nvPr>
        </p:nvSpPr>
        <p:spPr>
          <a:xfrm>
            <a:off x="281092" y="1727111"/>
            <a:ext cx="5595169" cy="4351338"/>
          </a:xfrm>
        </p:spPr>
        <p:txBody>
          <a:bodyPr>
            <a:normAutofit lnSpcReduction="10000"/>
          </a:bodyPr>
          <a:lstStyle/>
          <a:p>
            <a:r>
              <a:rPr lang="en-US" altLang="en-US" dirty="0"/>
              <a:t>Status line</a:t>
            </a:r>
          </a:p>
          <a:p>
            <a:pPr lvl="1"/>
            <a:r>
              <a:rPr lang="en-US" altLang="en-US" dirty="0"/>
              <a:t>HTTP-version     Status-code     Reason</a:t>
            </a:r>
          </a:p>
          <a:p>
            <a:pPr lvl="1"/>
            <a:r>
              <a:rPr lang="en-US" altLang="en-US" dirty="0"/>
              <a:t>Status-codes 1xx - Informational</a:t>
            </a:r>
          </a:p>
          <a:p>
            <a:pPr lvl="2"/>
            <a:r>
              <a:rPr lang="en-US" altLang="en-US" dirty="0"/>
              <a:t>Reserved for future use</a:t>
            </a:r>
          </a:p>
          <a:p>
            <a:pPr lvl="2"/>
            <a:endParaRPr lang="en-US" altLang="en-US" dirty="0"/>
          </a:p>
          <a:p>
            <a:pPr lvl="1"/>
            <a:r>
              <a:rPr lang="en-US" altLang="en-US" dirty="0"/>
              <a:t>Status-codes 2xx - Success</a:t>
            </a:r>
          </a:p>
          <a:p>
            <a:pPr lvl="2"/>
            <a:r>
              <a:rPr lang="en-US" altLang="en-US" dirty="0"/>
              <a:t>The action was successfully received, understood, and accepted</a:t>
            </a:r>
          </a:p>
          <a:p>
            <a:pPr lvl="3"/>
            <a:r>
              <a:rPr lang="en-US" altLang="en-US" dirty="0"/>
              <a:t>200   	OK</a:t>
            </a:r>
          </a:p>
          <a:p>
            <a:pPr lvl="3"/>
            <a:r>
              <a:rPr lang="en-US" altLang="en-US" dirty="0"/>
              <a:t>201	POST command successful</a:t>
            </a:r>
          </a:p>
          <a:p>
            <a:pPr lvl="3"/>
            <a:r>
              <a:rPr lang="en-US" altLang="en-US" dirty="0"/>
              <a:t>202	Request accepted</a:t>
            </a:r>
          </a:p>
          <a:p>
            <a:pPr lvl="3"/>
            <a:r>
              <a:rPr lang="en-US" altLang="en-US" dirty="0"/>
              <a:t>203	GET or HEAD request fulfilled</a:t>
            </a:r>
          </a:p>
          <a:p>
            <a:pPr lvl="3"/>
            <a:r>
              <a:rPr lang="en-US" altLang="en-US" dirty="0"/>
              <a:t>204	No content</a:t>
            </a:r>
          </a:p>
          <a:p>
            <a:pPr lvl="1"/>
            <a:endParaRPr lang="en-US" altLang="en-US" dirty="0"/>
          </a:p>
        </p:txBody>
      </p:sp>
      <p:pic>
        <p:nvPicPr>
          <p:cNvPr id="2" name="Picture 1">
            <a:extLst>
              <a:ext uri="{FF2B5EF4-FFF2-40B4-BE49-F238E27FC236}">
                <a16:creationId xmlns:a16="http://schemas.microsoft.com/office/drawing/2014/main" id="{7E3D48BB-837D-41C7-A8DA-C4AF0EC33E92}"/>
              </a:ext>
            </a:extLst>
          </p:cNvPr>
          <p:cNvPicPr>
            <a:picLocks noChangeAspect="1"/>
          </p:cNvPicPr>
          <p:nvPr/>
        </p:nvPicPr>
        <p:blipFill>
          <a:blip r:embed="rId2"/>
          <a:stretch>
            <a:fillRect/>
          </a:stretch>
        </p:blipFill>
        <p:spPr>
          <a:xfrm>
            <a:off x="5768107" y="2158806"/>
            <a:ext cx="3267739" cy="3700593"/>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4CE685A9-B86F-4E42-A2B5-33F6568A57C6}"/>
              </a:ext>
            </a:extLst>
          </p:cNvPr>
          <p:cNvSpPr>
            <a:spLocks noGrp="1" noChangeArrowheads="1"/>
          </p:cNvSpPr>
          <p:nvPr>
            <p:ph type="title"/>
          </p:nvPr>
        </p:nvSpPr>
        <p:spPr>
          <a:xfrm>
            <a:off x="628650" y="136524"/>
            <a:ext cx="7886700" cy="1325563"/>
          </a:xfrm>
        </p:spPr>
        <p:txBody>
          <a:bodyPr/>
          <a:lstStyle/>
          <a:p>
            <a:r>
              <a:rPr lang="en-US" altLang="en-US" dirty="0"/>
              <a:t>HTTP response</a:t>
            </a:r>
          </a:p>
        </p:txBody>
      </p:sp>
      <p:sp>
        <p:nvSpPr>
          <p:cNvPr id="79875" name="Rectangle 3">
            <a:extLst>
              <a:ext uri="{FF2B5EF4-FFF2-40B4-BE49-F238E27FC236}">
                <a16:creationId xmlns:a16="http://schemas.microsoft.com/office/drawing/2014/main" id="{B9FA8528-C887-4503-A14C-BBB722C849B9}"/>
              </a:ext>
            </a:extLst>
          </p:cNvPr>
          <p:cNvSpPr>
            <a:spLocks noGrp="1" noChangeArrowheads="1"/>
          </p:cNvSpPr>
          <p:nvPr>
            <p:ph type="body" idx="1"/>
          </p:nvPr>
        </p:nvSpPr>
        <p:spPr>
          <a:xfrm>
            <a:off x="628650" y="1445342"/>
            <a:ext cx="7886700" cy="4911009"/>
          </a:xfrm>
        </p:spPr>
        <p:txBody>
          <a:bodyPr>
            <a:normAutofit fontScale="92500" lnSpcReduction="20000"/>
          </a:bodyPr>
          <a:lstStyle/>
          <a:p>
            <a:r>
              <a:rPr lang="en-US" altLang="en-US" dirty="0"/>
              <a:t>Status line</a:t>
            </a:r>
          </a:p>
          <a:p>
            <a:pPr lvl="1"/>
            <a:r>
              <a:rPr lang="en-US" altLang="en-US" dirty="0"/>
              <a:t>Status-codes 3xx - Redirection</a:t>
            </a:r>
          </a:p>
          <a:p>
            <a:pPr lvl="2"/>
            <a:r>
              <a:rPr lang="en-US" altLang="en-US" dirty="0"/>
              <a:t>Further action must be taken in order to complete request</a:t>
            </a:r>
          </a:p>
          <a:p>
            <a:pPr lvl="3"/>
            <a:r>
              <a:rPr lang="en-US" altLang="en-US" dirty="0"/>
              <a:t>300     Resource found at multiple locations</a:t>
            </a:r>
          </a:p>
          <a:p>
            <a:pPr lvl="3"/>
            <a:r>
              <a:rPr lang="en-US" altLang="en-US" dirty="0"/>
              <a:t>301     Resource moved permanently</a:t>
            </a:r>
          </a:p>
          <a:p>
            <a:pPr lvl="3"/>
            <a:r>
              <a:rPr lang="en-US" altLang="en-US" dirty="0"/>
              <a:t>302     Resource moved temporarily</a:t>
            </a:r>
          </a:p>
          <a:p>
            <a:pPr lvl="3"/>
            <a:r>
              <a:rPr lang="en-US" altLang="en-US" dirty="0"/>
              <a:t>304     Resource has not modified (since date)</a:t>
            </a:r>
          </a:p>
          <a:p>
            <a:pPr lvl="3"/>
            <a:endParaRPr lang="en-US" altLang="en-US" dirty="0"/>
          </a:p>
          <a:p>
            <a:pPr lvl="1"/>
            <a:r>
              <a:rPr lang="en-US" altLang="en-US" dirty="0"/>
              <a:t>Status-codes 4xx - Client error</a:t>
            </a:r>
          </a:p>
          <a:p>
            <a:pPr lvl="2"/>
            <a:r>
              <a:rPr lang="en-US" altLang="en-US" dirty="0"/>
              <a:t>The request contains bad syntax or cannot be fulfilled</a:t>
            </a:r>
          </a:p>
          <a:p>
            <a:pPr lvl="3"/>
            <a:r>
              <a:rPr lang="en-US" altLang="en-US" dirty="0"/>
              <a:t>400	Bad request from client</a:t>
            </a:r>
          </a:p>
          <a:p>
            <a:pPr lvl="3"/>
            <a:r>
              <a:rPr lang="en-US" altLang="en-US" dirty="0"/>
              <a:t>401	Unauthorized request</a:t>
            </a:r>
          </a:p>
          <a:p>
            <a:pPr lvl="3"/>
            <a:r>
              <a:rPr lang="en-US" altLang="en-US" dirty="0"/>
              <a:t>402	Payment required for request</a:t>
            </a:r>
          </a:p>
          <a:p>
            <a:pPr lvl="3"/>
            <a:r>
              <a:rPr lang="en-US" altLang="en-US" dirty="0"/>
              <a:t>403	Resource access forbidden</a:t>
            </a:r>
          </a:p>
          <a:p>
            <a:pPr lvl="3"/>
            <a:r>
              <a:rPr lang="en-US" altLang="en-US" dirty="0"/>
              <a:t>404	Resource not found</a:t>
            </a:r>
          </a:p>
          <a:p>
            <a:pPr lvl="3"/>
            <a:r>
              <a:rPr lang="en-US" altLang="en-US" dirty="0"/>
              <a:t>405	Method not allowed for resource</a:t>
            </a:r>
          </a:p>
          <a:p>
            <a:pPr lvl="3"/>
            <a:r>
              <a:rPr lang="en-US" altLang="en-US" dirty="0"/>
              <a:t>406	Resource type not acceptable</a:t>
            </a:r>
          </a:p>
          <a:p>
            <a:pPr lvl="1"/>
            <a:endParaRPr lang="en-US"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4F9EC31A-EA6E-479C-BF04-7531CB2AD473}"/>
              </a:ext>
            </a:extLst>
          </p:cNvPr>
          <p:cNvSpPr>
            <a:spLocks noGrp="1" noChangeArrowheads="1"/>
          </p:cNvSpPr>
          <p:nvPr>
            <p:ph type="title"/>
          </p:nvPr>
        </p:nvSpPr>
        <p:spPr/>
        <p:txBody>
          <a:bodyPr/>
          <a:lstStyle/>
          <a:p>
            <a:r>
              <a:rPr lang="en-US" altLang="en-US" dirty="0"/>
              <a:t>HTTP response</a:t>
            </a:r>
          </a:p>
        </p:txBody>
      </p:sp>
      <p:sp>
        <p:nvSpPr>
          <p:cNvPr id="81923" name="Rectangle 3">
            <a:extLst>
              <a:ext uri="{FF2B5EF4-FFF2-40B4-BE49-F238E27FC236}">
                <a16:creationId xmlns:a16="http://schemas.microsoft.com/office/drawing/2014/main" id="{834FEE3F-2BA6-442E-AD15-F5D82B895BDC}"/>
              </a:ext>
            </a:extLst>
          </p:cNvPr>
          <p:cNvSpPr>
            <a:spLocks noGrp="1" noChangeArrowheads="1"/>
          </p:cNvSpPr>
          <p:nvPr>
            <p:ph type="body" idx="1"/>
          </p:nvPr>
        </p:nvSpPr>
        <p:spPr/>
        <p:txBody>
          <a:bodyPr/>
          <a:lstStyle/>
          <a:p>
            <a:r>
              <a:rPr lang="en-US" altLang="en-US" dirty="0"/>
              <a:t>Status line</a:t>
            </a:r>
          </a:p>
          <a:p>
            <a:pPr lvl="1"/>
            <a:r>
              <a:rPr lang="en-US" altLang="en-US" dirty="0"/>
              <a:t>Status-codes 5xx - Server error</a:t>
            </a:r>
          </a:p>
          <a:p>
            <a:pPr lvl="2"/>
            <a:r>
              <a:rPr lang="en-US" altLang="en-US" dirty="0"/>
              <a:t>The server failed to fulfill an apparently valid request</a:t>
            </a:r>
          </a:p>
          <a:p>
            <a:pPr lvl="3"/>
            <a:r>
              <a:rPr lang="en-US" altLang="en-US" dirty="0"/>
              <a:t>500	Internal server error</a:t>
            </a:r>
          </a:p>
          <a:p>
            <a:pPr lvl="3"/>
            <a:r>
              <a:rPr lang="en-US" altLang="en-US" dirty="0"/>
              <a:t>501	Method not implemented</a:t>
            </a:r>
          </a:p>
          <a:p>
            <a:pPr lvl="3"/>
            <a:r>
              <a:rPr lang="en-US" altLang="en-US" dirty="0"/>
              <a:t>502	Bad gateway or server overload</a:t>
            </a:r>
          </a:p>
          <a:p>
            <a:pPr lvl="3"/>
            <a:r>
              <a:rPr lang="en-US" altLang="en-US" dirty="0"/>
              <a:t>503	Service unavailable / gateway timeout</a:t>
            </a:r>
          </a:p>
          <a:p>
            <a:pPr lvl="3"/>
            <a:r>
              <a:rPr lang="en-US" altLang="en-US" dirty="0"/>
              <a:t>504	Secondary gateway / server timeout</a:t>
            </a:r>
          </a:p>
          <a:p>
            <a:endParaRPr lang="en-US"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922F1AAB-ED09-4491-8FAE-2AC621D590F8}"/>
              </a:ext>
            </a:extLst>
          </p:cNvPr>
          <p:cNvSpPr>
            <a:spLocks noGrp="1" noChangeArrowheads="1"/>
          </p:cNvSpPr>
          <p:nvPr>
            <p:ph type="title"/>
          </p:nvPr>
        </p:nvSpPr>
        <p:spPr/>
        <p:txBody>
          <a:bodyPr/>
          <a:lstStyle/>
          <a:p>
            <a:r>
              <a:rPr lang="en-US" altLang="en-US" dirty="0"/>
              <a:t>Stateless</a:t>
            </a:r>
          </a:p>
        </p:txBody>
      </p:sp>
      <p:sp>
        <p:nvSpPr>
          <p:cNvPr id="62467" name="Rectangle 3">
            <a:extLst>
              <a:ext uri="{FF2B5EF4-FFF2-40B4-BE49-F238E27FC236}">
                <a16:creationId xmlns:a16="http://schemas.microsoft.com/office/drawing/2014/main" id="{A0AB6FA2-6906-4DF6-B22B-01876497DD30}"/>
              </a:ext>
            </a:extLst>
          </p:cNvPr>
          <p:cNvSpPr>
            <a:spLocks noGrp="1" noChangeArrowheads="1"/>
          </p:cNvSpPr>
          <p:nvPr>
            <p:ph type="body" idx="1"/>
          </p:nvPr>
        </p:nvSpPr>
        <p:spPr>
          <a:xfrm>
            <a:off x="628650" y="1825625"/>
            <a:ext cx="7886700" cy="4467020"/>
          </a:xfrm>
        </p:spPr>
        <p:txBody>
          <a:bodyPr/>
          <a:lstStyle/>
          <a:p>
            <a:r>
              <a:rPr lang="en-US" altLang="en-US" dirty="0"/>
              <a:t>HTTP is stateless</a:t>
            </a:r>
          </a:p>
          <a:p>
            <a:pPr lvl="1"/>
            <a:r>
              <a:rPr lang="en-US" altLang="en-US" dirty="0"/>
              <a:t>Each request requires separate TCP connection</a:t>
            </a:r>
          </a:p>
          <a:p>
            <a:pPr lvl="1"/>
            <a:r>
              <a:rPr lang="en-US" altLang="en-US" dirty="0"/>
              <a:t>Server doesn’t remember previous requests</a:t>
            </a:r>
          </a:p>
          <a:p>
            <a:pPr lvl="1"/>
            <a:r>
              <a:rPr lang="en-US" altLang="zh-CN" dirty="0"/>
              <a:t>F</a:t>
            </a:r>
            <a:r>
              <a:rPr lang="en-US" altLang="en-US" dirty="0"/>
              <a:t>rom one web page to the next there is nothing in the protocol that allows a web program to maintain program “state” (like a desktop program).</a:t>
            </a:r>
          </a:p>
          <a:p>
            <a:pPr lvl="1"/>
            <a:endParaRPr lang="en-US" altLang="en-US" dirty="0"/>
          </a:p>
          <a:p>
            <a:r>
              <a:rPr lang="en-US" altLang="en-US" dirty="0"/>
              <a:t>To maintain state:</a:t>
            </a:r>
          </a:p>
          <a:p>
            <a:pPr lvl="1"/>
            <a:r>
              <a:rPr lang="en-US" altLang="en-US" dirty="0"/>
              <a:t>Session: on server’s side</a:t>
            </a:r>
          </a:p>
          <a:p>
            <a:pPr lvl="1"/>
            <a:r>
              <a:rPr lang="en-US" altLang="en-US" dirty="0"/>
              <a:t>Cookie: in client’s browser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8E9AD5-0CF7-43AB-A330-6740381439E2}"/>
              </a:ext>
            </a:extLst>
          </p:cNvPr>
          <p:cNvSpPr>
            <a:spLocks noGrp="1"/>
          </p:cNvSpPr>
          <p:nvPr>
            <p:ph idx="1"/>
          </p:nvPr>
        </p:nvSpPr>
        <p:spPr/>
        <p:txBody>
          <a:bodyPr>
            <a:normAutofit/>
          </a:bodyPr>
          <a:lstStyle/>
          <a:p>
            <a:pPr marL="0" indent="0" algn="ctr">
              <a:buNone/>
            </a:pPr>
            <a:r>
              <a:rPr lang="en-US" sz="11500" dirty="0"/>
              <a:t>SOAP</a:t>
            </a:r>
          </a:p>
        </p:txBody>
      </p:sp>
    </p:spTree>
    <p:extLst>
      <p:ext uri="{BB962C8B-B14F-4D97-AF65-F5344CB8AC3E}">
        <p14:creationId xmlns:p14="http://schemas.microsoft.com/office/powerpoint/2010/main" val="12139243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F59A77CB-9B29-43C1-9653-CCB82F4B507E}"/>
              </a:ext>
            </a:extLst>
          </p:cNvPr>
          <p:cNvSpPr>
            <a:spLocks noGrp="1"/>
          </p:cNvSpPr>
          <p:nvPr>
            <p:ph type="title"/>
          </p:nvPr>
        </p:nvSpPr>
        <p:spPr/>
        <p:txBody>
          <a:bodyPr/>
          <a:lstStyle/>
          <a:p>
            <a:r>
              <a:rPr lang="en-US" altLang="en-US">
                <a:ea typeface="ＭＳ Ｐゴシック" panose="020B0600070205080204" pitchFamily="34" charset="-128"/>
              </a:rPr>
              <a:t>SOAP Web Services</a:t>
            </a:r>
            <a:br>
              <a:rPr lang="en-US" altLang="en-US">
                <a:ea typeface="ＭＳ Ｐゴシック" panose="020B0600070205080204" pitchFamily="34" charset="-128"/>
              </a:rPr>
            </a:br>
            <a:endParaRPr lang="en-US" altLang="en-US" sz="1500" i="1">
              <a:ea typeface="ＭＳ Ｐゴシック" panose="020B0600070205080204" pitchFamily="34" charset="-128"/>
            </a:endParaRPr>
          </a:p>
        </p:txBody>
      </p:sp>
      <p:sp>
        <p:nvSpPr>
          <p:cNvPr id="22530" name="Rectangle 3">
            <a:extLst>
              <a:ext uri="{FF2B5EF4-FFF2-40B4-BE49-F238E27FC236}">
                <a16:creationId xmlns:a16="http://schemas.microsoft.com/office/drawing/2014/main" id="{8F714846-1C19-4FF7-93C6-4799CA2F6837}"/>
              </a:ext>
            </a:extLst>
          </p:cNvPr>
          <p:cNvSpPr>
            <a:spLocks noGrp="1"/>
          </p:cNvSpPr>
          <p:nvPr>
            <p:ph type="body" idx="1"/>
          </p:nvPr>
        </p:nvSpPr>
        <p:spPr>
          <a:xfrm>
            <a:off x="457200" y="1371600"/>
            <a:ext cx="8229600" cy="4419600"/>
          </a:xfrm>
        </p:spPr>
        <p:txBody>
          <a:bodyPr>
            <a:normAutofit lnSpcReduction="10000"/>
          </a:bodyPr>
          <a:lstStyle/>
          <a:p>
            <a:pPr>
              <a:lnSpc>
                <a:spcPct val="80000"/>
              </a:lnSpc>
              <a:spcBef>
                <a:spcPct val="30000"/>
              </a:spcBef>
              <a:spcAft>
                <a:spcPct val="30000"/>
              </a:spcAft>
            </a:pPr>
            <a:r>
              <a:rPr lang="en-US" altLang="en-US" sz="2000" dirty="0">
                <a:ea typeface="ＭＳ Ｐゴシック" panose="020B0600070205080204" pitchFamily="34" charset="-128"/>
              </a:rPr>
              <a:t>SOAP (</a:t>
            </a:r>
            <a:r>
              <a:rPr lang="en-US" altLang="ja-JP" sz="2000" dirty="0">
                <a:ea typeface="ＭＳ Ｐゴシック" panose="020B0600070205080204" pitchFamily="34" charset="-128"/>
              </a:rPr>
              <a:t>simple object access protocol) </a:t>
            </a:r>
            <a:r>
              <a:rPr lang="en-US" altLang="en-US" sz="2000" dirty="0">
                <a:ea typeface="ＭＳ Ｐゴシック" panose="020B0600070205080204" pitchFamily="34" charset="-128"/>
              </a:rPr>
              <a:t>is a protocol for exchanging XML-based messages over networks, generally via HTTP and HTTPS. </a:t>
            </a:r>
          </a:p>
          <a:p>
            <a:pPr>
              <a:lnSpc>
                <a:spcPct val="80000"/>
              </a:lnSpc>
              <a:spcBef>
                <a:spcPct val="30000"/>
              </a:spcBef>
              <a:spcAft>
                <a:spcPct val="30000"/>
              </a:spcAft>
            </a:pPr>
            <a:r>
              <a:rPr lang="en-US" altLang="en-US" sz="2000" dirty="0">
                <a:ea typeface="ＭＳ Ｐゴシック" panose="020B0600070205080204" pitchFamily="34" charset="-128"/>
              </a:rPr>
              <a:t>Successor to XML-RPC, CORBA, DCOM.  Huge improvement over CORBA.</a:t>
            </a:r>
          </a:p>
          <a:p>
            <a:pPr lvl="1">
              <a:lnSpc>
                <a:spcPct val="80000"/>
              </a:lnSpc>
              <a:spcBef>
                <a:spcPct val="30000"/>
              </a:spcBef>
              <a:spcAft>
                <a:spcPct val="30000"/>
              </a:spcAft>
            </a:pPr>
            <a:r>
              <a:rPr lang="en-US" sz="1900" b="1" dirty="0"/>
              <a:t>XML</a:t>
            </a:r>
            <a:r>
              <a:rPr lang="en-US" sz="1900" dirty="0"/>
              <a:t>-</a:t>
            </a:r>
            <a:r>
              <a:rPr lang="en-US" sz="1900" b="1" dirty="0"/>
              <a:t>RPC</a:t>
            </a:r>
            <a:r>
              <a:rPr lang="en-US" sz="1900" dirty="0"/>
              <a:t> is a remote procedure call (</a:t>
            </a:r>
            <a:r>
              <a:rPr lang="en-US" sz="1900" b="1" dirty="0"/>
              <a:t>RPC</a:t>
            </a:r>
            <a:r>
              <a:rPr lang="en-US" sz="1900" dirty="0"/>
              <a:t>) protocol which uses </a:t>
            </a:r>
            <a:r>
              <a:rPr lang="en-US" sz="1900" b="1" dirty="0"/>
              <a:t>XML</a:t>
            </a:r>
            <a:r>
              <a:rPr lang="en-US" sz="1900" dirty="0"/>
              <a:t> to encode its calls and HTTP as a transport mechanism.</a:t>
            </a:r>
            <a:endParaRPr lang="en-US" altLang="en-US" sz="1900" dirty="0">
              <a:ea typeface="ＭＳ Ｐゴシック" panose="020B0600070205080204" pitchFamily="34" charset="-128"/>
            </a:endParaRPr>
          </a:p>
          <a:p>
            <a:pPr>
              <a:lnSpc>
                <a:spcPct val="80000"/>
              </a:lnSpc>
              <a:spcBef>
                <a:spcPct val="30000"/>
              </a:spcBef>
              <a:spcAft>
                <a:spcPct val="30000"/>
              </a:spcAft>
            </a:pPr>
            <a:r>
              <a:rPr lang="en-US" altLang="en-US" sz="2000" dirty="0">
                <a:ea typeface="ＭＳ Ｐゴシック" panose="020B0600070205080204" pitchFamily="34" charset="-128"/>
              </a:rPr>
              <a:t>Unlike CORBA and DCOM messaging, layering SOAP on HTTP makes it play well with proxies and firewalls.  XML messages are another big win.</a:t>
            </a:r>
          </a:p>
          <a:p>
            <a:pPr>
              <a:lnSpc>
                <a:spcPct val="80000"/>
              </a:lnSpc>
              <a:spcBef>
                <a:spcPct val="30000"/>
              </a:spcBef>
              <a:spcAft>
                <a:spcPct val="30000"/>
              </a:spcAft>
            </a:pPr>
            <a:r>
              <a:rPr lang="en-US" altLang="en-US" sz="2000" dirty="0">
                <a:ea typeface="ＭＳ Ｐゴシック" panose="020B0600070205080204" pitchFamily="34" charset="-128"/>
              </a:rPr>
              <a:t>Created by Microsoft and </a:t>
            </a:r>
            <a:r>
              <a:rPr lang="en-US" altLang="en-US" sz="2000" dirty="0" err="1">
                <a:ea typeface="ＭＳ Ｐゴシック" panose="020B0600070205080204" pitchFamily="34" charset="-128"/>
              </a:rPr>
              <a:t>DevelopMentor</a:t>
            </a:r>
            <a:r>
              <a:rPr lang="en-US" altLang="en-US" sz="2000" dirty="0">
                <a:ea typeface="ＭＳ Ｐゴシック" panose="020B0600070205080204" pitchFamily="34" charset="-128"/>
              </a:rPr>
              <a:t> in 1999, given to the W3C for standardization.  SOAP is now the core component of the W3C</a:t>
            </a:r>
            <a:r>
              <a:rPr lang="ja-JP" altLang="en-US" sz="2000" dirty="0">
                <a:ea typeface="ＭＳ Ｐゴシック" panose="020B0600070205080204" pitchFamily="34" charset="-128"/>
              </a:rPr>
              <a:t>’</a:t>
            </a:r>
            <a:r>
              <a:rPr lang="en-US" altLang="ja-JP" sz="2000" dirty="0">
                <a:ea typeface="ＭＳ Ｐゴシック" panose="020B0600070205080204" pitchFamily="34" charset="-128"/>
              </a:rPr>
              <a:t>s </a:t>
            </a:r>
            <a:r>
              <a:rPr lang="ja-JP" altLang="en-US" sz="2000" dirty="0">
                <a:ea typeface="ＭＳ Ｐゴシック" panose="020B0600070205080204" pitchFamily="34" charset="-128"/>
              </a:rPr>
              <a:t>“</a:t>
            </a:r>
            <a:r>
              <a:rPr lang="en-US" altLang="ja-JP" sz="2000" dirty="0">
                <a:ea typeface="ＭＳ Ｐゴシック" panose="020B0600070205080204" pitchFamily="34" charset="-128"/>
              </a:rPr>
              <a:t>WS-*</a:t>
            </a:r>
            <a:r>
              <a:rPr lang="ja-JP" altLang="en-US" sz="2000" dirty="0">
                <a:ea typeface="ＭＳ Ｐゴシック" panose="020B0600070205080204" pitchFamily="34" charset="-128"/>
              </a:rPr>
              <a:t>”</a:t>
            </a:r>
            <a:r>
              <a:rPr lang="en-US" altLang="ja-JP" sz="2000" dirty="0">
                <a:ea typeface="ＭＳ Ｐゴシック" panose="020B0600070205080204" pitchFamily="34" charset="-128"/>
              </a:rPr>
              <a:t> web services standards.</a:t>
            </a:r>
          </a:p>
          <a:p>
            <a:pPr>
              <a:lnSpc>
                <a:spcPct val="80000"/>
              </a:lnSpc>
              <a:spcBef>
                <a:spcPct val="30000"/>
              </a:spcBef>
              <a:spcAft>
                <a:spcPct val="30000"/>
              </a:spcAft>
            </a:pPr>
            <a:r>
              <a:rPr lang="en-US" altLang="en-US" sz="2000" dirty="0">
                <a:ea typeface="ＭＳ Ｐゴシック" panose="020B0600070205080204" pitchFamily="34" charset="-128"/>
              </a:rPr>
              <a:t>Allied WS-* standards include UDDI for discovering web services and WSDL for describing web service APIs.</a:t>
            </a:r>
          </a:p>
          <a:p>
            <a:pPr>
              <a:lnSpc>
                <a:spcPct val="80000"/>
              </a:lnSpc>
              <a:spcBef>
                <a:spcPct val="30000"/>
              </a:spcBef>
              <a:spcAft>
                <a:spcPct val="30000"/>
              </a:spcAft>
            </a:pPr>
            <a:r>
              <a:rPr lang="en-US" altLang="en-US" sz="2000" dirty="0">
                <a:ea typeface="ＭＳ Ｐゴシック" panose="020B0600070205080204" pitchFamily="34" charset="-128"/>
              </a:rPr>
              <a:t>SOAP supports various messaging patterns, but the remote procedure call (RPC) pattern is </a:t>
            </a:r>
            <a:r>
              <a:rPr lang="en-US" altLang="en-US" sz="2000" u="sng" dirty="0">
                <a:ea typeface="ＭＳ Ｐゴシック" panose="020B0600070205080204" pitchFamily="34" charset="-128"/>
              </a:rPr>
              <a:t>very</a:t>
            </a:r>
            <a:r>
              <a:rPr lang="en-US" altLang="en-US" sz="2000" dirty="0">
                <a:ea typeface="ＭＳ Ｐゴシック" panose="020B0600070205080204" pitchFamily="34" charset="-128"/>
              </a:rPr>
              <a:t> predominantly used.</a:t>
            </a:r>
          </a:p>
        </p:txBody>
      </p:sp>
    </p:spTree>
    <p:extLst>
      <p:ext uri="{BB962C8B-B14F-4D97-AF65-F5344CB8AC3E}">
        <p14:creationId xmlns:p14="http://schemas.microsoft.com/office/powerpoint/2010/main" val="13325594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0F29768D-8462-4FCA-A38B-F103BDF9D02B}"/>
              </a:ext>
            </a:extLst>
          </p:cNvPr>
          <p:cNvSpPr>
            <a:spLocks noGrp="1"/>
          </p:cNvSpPr>
          <p:nvPr>
            <p:ph type="title"/>
          </p:nvPr>
        </p:nvSpPr>
        <p:spPr/>
        <p:txBody>
          <a:bodyPr/>
          <a:lstStyle/>
          <a:p>
            <a:r>
              <a:rPr lang="en-US" altLang="en-US" dirty="0">
                <a:ea typeface="ＭＳ Ｐゴシック" panose="020B0600070205080204" pitchFamily="34" charset="-128"/>
              </a:rPr>
              <a:t>Overview</a:t>
            </a:r>
          </a:p>
        </p:txBody>
      </p:sp>
      <p:graphicFrame>
        <p:nvGraphicFramePr>
          <p:cNvPr id="43010" name="Object 2">
            <a:extLst>
              <a:ext uri="{FF2B5EF4-FFF2-40B4-BE49-F238E27FC236}">
                <a16:creationId xmlns:a16="http://schemas.microsoft.com/office/drawing/2014/main" id="{E77E2EEB-A1D4-4665-B60A-12C59BCDAEB4}"/>
              </a:ext>
            </a:extLst>
          </p:cNvPr>
          <p:cNvGraphicFramePr>
            <a:graphicFrameLocks noChangeAspect="1"/>
          </p:cNvGraphicFramePr>
          <p:nvPr/>
        </p:nvGraphicFramePr>
        <p:xfrm>
          <a:off x="830263" y="1614488"/>
          <a:ext cx="4922837" cy="3749675"/>
        </p:xfrm>
        <a:graphic>
          <a:graphicData uri="http://schemas.openxmlformats.org/presentationml/2006/ole">
            <mc:AlternateContent xmlns:mc="http://schemas.openxmlformats.org/markup-compatibility/2006">
              <mc:Choice xmlns:v="urn:schemas-microsoft-com:vml" Requires="v">
                <p:oleObj name="Bitmap Image" r:id="rId2" imgW="4922947" imgH="3749365" progId="Paint.Picture">
                  <p:embed/>
                </p:oleObj>
              </mc:Choice>
              <mc:Fallback>
                <p:oleObj name="Bitmap Image" r:id="rId2" imgW="4922947" imgH="3749365" progId="Paint.Picture">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0263" y="1614488"/>
                        <a:ext cx="4922837"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pic>
        <p:nvPicPr>
          <p:cNvPr id="43011" name="Picture 9" descr="SOAP Version 1.2 message">
            <a:extLst>
              <a:ext uri="{FF2B5EF4-FFF2-40B4-BE49-F238E27FC236}">
                <a16:creationId xmlns:a16="http://schemas.microsoft.com/office/drawing/2014/main" id="{69A39C2D-F2C5-43F4-A965-541795A2FB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34138" y="2181225"/>
            <a:ext cx="2136775" cy="296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92677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B641082A-1822-4A10-8071-05D2DD9C0134}"/>
              </a:ext>
            </a:extLst>
          </p:cNvPr>
          <p:cNvSpPr>
            <a:spLocks noGrp="1"/>
          </p:cNvSpPr>
          <p:nvPr>
            <p:ph type="title"/>
          </p:nvPr>
        </p:nvSpPr>
        <p:spPr/>
        <p:txBody>
          <a:bodyPr/>
          <a:lstStyle/>
          <a:p>
            <a:r>
              <a:rPr lang="en-US" altLang="en-US">
                <a:ea typeface="ＭＳ Ｐゴシック" panose="020B0600070205080204" pitchFamily="34" charset="-128"/>
              </a:rPr>
              <a:t>SOAP</a:t>
            </a:r>
            <a:br>
              <a:rPr lang="en-US" altLang="en-US">
                <a:ea typeface="ＭＳ Ｐゴシック" panose="020B0600070205080204" pitchFamily="34" charset="-128"/>
              </a:rPr>
            </a:br>
            <a:endParaRPr lang="en-US" altLang="en-US" sz="1500" i="1">
              <a:ea typeface="ＭＳ Ｐゴシック" panose="020B0600070205080204" pitchFamily="34" charset="-128"/>
            </a:endParaRPr>
          </a:p>
        </p:txBody>
      </p:sp>
      <p:sp>
        <p:nvSpPr>
          <p:cNvPr id="23554" name="Rectangle 3">
            <a:extLst>
              <a:ext uri="{FF2B5EF4-FFF2-40B4-BE49-F238E27FC236}">
                <a16:creationId xmlns:a16="http://schemas.microsoft.com/office/drawing/2014/main" id="{3DCA6452-D5AD-489E-9DB3-577A347CCE2B}"/>
              </a:ext>
            </a:extLst>
          </p:cNvPr>
          <p:cNvSpPr>
            <a:spLocks noChangeArrowheads="1"/>
          </p:cNvSpPr>
          <p:nvPr/>
        </p:nvSpPr>
        <p:spPr bwMode="auto">
          <a:xfrm>
            <a:off x="1143000" y="1371600"/>
            <a:ext cx="838200" cy="4267200"/>
          </a:xfrm>
          <a:prstGeom prst="rect">
            <a:avLst/>
          </a:prstGeom>
          <a:gradFill rotWithShape="1">
            <a:gsLst>
              <a:gs pos="0">
                <a:srgbClr val="1C1C1C"/>
              </a:gs>
              <a:gs pos="100000">
                <a:srgbClr val="80808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1"/>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1400">
                <a:solidFill>
                  <a:schemeClr val="bg1"/>
                </a:solidFill>
                <a:latin typeface="Arial" panose="020B0604020202020204" pitchFamily="34" charset="0"/>
              </a:rPr>
              <a:t>Client</a:t>
            </a:r>
          </a:p>
        </p:txBody>
      </p:sp>
      <p:sp>
        <p:nvSpPr>
          <p:cNvPr id="23555" name="Rectangle 4">
            <a:extLst>
              <a:ext uri="{FF2B5EF4-FFF2-40B4-BE49-F238E27FC236}">
                <a16:creationId xmlns:a16="http://schemas.microsoft.com/office/drawing/2014/main" id="{FD428421-E6CA-4BE8-8CB8-3665332C1403}"/>
              </a:ext>
            </a:extLst>
          </p:cNvPr>
          <p:cNvSpPr>
            <a:spLocks noChangeArrowheads="1"/>
          </p:cNvSpPr>
          <p:nvPr/>
        </p:nvSpPr>
        <p:spPr bwMode="auto">
          <a:xfrm>
            <a:off x="6553200" y="990600"/>
            <a:ext cx="1143000" cy="1600200"/>
          </a:xfrm>
          <a:prstGeom prst="rect">
            <a:avLst/>
          </a:prstGeom>
          <a:gradFill rotWithShape="1">
            <a:gsLst>
              <a:gs pos="0">
                <a:srgbClr val="1C1C1C"/>
              </a:gs>
              <a:gs pos="100000">
                <a:srgbClr val="80808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1"/>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1400">
                <a:solidFill>
                  <a:schemeClr val="bg1"/>
                </a:solidFill>
                <a:latin typeface="Arial" panose="020B0604020202020204" pitchFamily="34" charset="0"/>
              </a:rPr>
              <a:t>Server A</a:t>
            </a:r>
          </a:p>
        </p:txBody>
      </p:sp>
      <p:sp>
        <p:nvSpPr>
          <p:cNvPr id="23556" name="Rectangle 5">
            <a:extLst>
              <a:ext uri="{FF2B5EF4-FFF2-40B4-BE49-F238E27FC236}">
                <a16:creationId xmlns:a16="http://schemas.microsoft.com/office/drawing/2014/main" id="{45567321-EB17-4729-AF2A-9244D609964F}"/>
              </a:ext>
            </a:extLst>
          </p:cNvPr>
          <p:cNvSpPr>
            <a:spLocks noChangeArrowheads="1"/>
          </p:cNvSpPr>
          <p:nvPr/>
        </p:nvSpPr>
        <p:spPr bwMode="auto">
          <a:xfrm>
            <a:off x="6553200" y="2971800"/>
            <a:ext cx="1143000" cy="2667000"/>
          </a:xfrm>
          <a:prstGeom prst="rect">
            <a:avLst/>
          </a:prstGeom>
          <a:gradFill rotWithShape="1">
            <a:gsLst>
              <a:gs pos="0">
                <a:srgbClr val="1C1C1C"/>
              </a:gs>
              <a:gs pos="100000">
                <a:srgbClr val="80808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1"/>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1400">
                <a:solidFill>
                  <a:schemeClr val="bg1"/>
                </a:solidFill>
                <a:latin typeface="Arial" panose="020B0604020202020204" pitchFamily="34" charset="0"/>
              </a:rPr>
              <a:t>Server B</a:t>
            </a:r>
          </a:p>
        </p:txBody>
      </p:sp>
      <p:sp>
        <p:nvSpPr>
          <p:cNvPr id="23557" name="Rectangle 6">
            <a:extLst>
              <a:ext uri="{FF2B5EF4-FFF2-40B4-BE49-F238E27FC236}">
                <a16:creationId xmlns:a16="http://schemas.microsoft.com/office/drawing/2014/main" id="{80BC323F-F3DF-4904-BAD4-AB49D957D800}"/>
              </a:ext>
            </a:extLst>
          </p:cNvPr>
          <p:cNvSpPr>
            <a:spLocks noChangeArrowheads="1"/>
          </p:cNvSpPr>
          <p:nvPr/>
        </p:nvSpPr>
        <p:spPr bwMode="auto">
          <a:xfrm>
            <a:off x="6705600" y="1600200"/>
            <a:ext cx="838200" cy="685800"/>
          </a:xfrm>
          <a:prstGeom prst="rect">
            <a:avLst/>
          </a:prstGeom>
          <a:gradFill rotWithShape="1">
            <a:gsLst>
              <a:gs pos="0">
                <a:srgbClr val="3333FF"/>
              </a:gs>
              <a:gs pos="100000">
                <a:srgbClr val="6699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1"/>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1200">
                <a:solidFill>
                  <a:schemeClr val="bg1"/>
                </a:solidFill>
                <a:latin typeface="Arial" panose="020B0604020202020204" pitchFamily="34" charset="0"/>
              </a:rPr>
              <a:t>Discovery</a:t>
            </a:r>
            <a:br>
              <a:rPr lang="en-US" altLang="en-US" sz="1200">
                <a:solidFill>
                  <a:schemeClr val="bg1"/>
                </a:solidFill>
                <a:latin typeface="Arial" panose="020B0604020202020204" pitchFamily="34" charset="0"/>
              </a:rPr>
            </a:br>
            <a:r>
              <a:rPr lang="en-US" altLang="en-US" sz="1200">
                <a:solidFill>
                  <a:schemeClr val="bg1"/>
                </a:solidFill>
                <a:latin typeface="Arial" panose="020B0604020202020204" pitchFamily="34" charset="0"/>
              </a:rPr>
              <a:t>Service</a:t>
            </a:r>
            <a:br>
              <a:rPr lang="en-US" altLang="en-US" sz="1200">
                <a:solidFill>
                  <a:schemeClr val="bg1"/>
                </a:solidFill>
                <a:latin typeface="Arial" panose="020B0604020202020204" pitchFamily="34" charset="0"/>
              </a:rPr>
            </a:br>
            <a:r>
              <a:rPr lang="en-US" altLang="en-US" sz="1200">
                <a:solidFill>
                  <a:schemeClr val="bg1"/>
                </a:solidFill>
                <a:latin typeface="Arial" panose="020B0604020202020204" pitchFamily="34" charset="0"/>
              </a:rPr>
              <a:t>(UDDI)</a:t>
            </a:r>
          </a:p>
        </p:txBody>
      </p:sp>
      <p:sp>
        <p:nvSpPr>
          <p:cNvPr id="23558" name="Rectangle 7">
            <a:extLst>
              <a:ext uri="{FF2B5EF4-FFF2-40B4-BE49-F238E27FC236}">
                <a16:creationId xmlns:a16="http://schemas.microsoft.com/office/drawing/2014/main" id="{31D3DDC3-9C49-45D4-8AEE-13CC2F0D0718}"/>
              </a:ext>
            </a:extLst>
          </p:cNvPr>
          <p:cNvSpPr>
            <a:spLocks noChangeArrowheads="1"/>
          </p:cNvSpPr>
          <p:nvPr/>
        </p:nvSpPr>
        <p:spPr bwMode="auto">
          <a:xfrm>
            <a:off x="6705600" y="3429000"/>
            <a:ext cx="838200" cy="1905000"/>
          </a:xfrm>
          <a:prstGeom prst="rect">
            <a:avLst/>
          </a:prstGeom>
          <a:gradFill rotWithShape="1">
            <a:gsLst>
              <a:gs pos="0">
                <a:srgbClr val="3333FF"/>
              </a:gs>
              <a:gs pos="100000">
                <a:srgbClr val="6699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1"/>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1200">
                <a:solidFill>
                  <a:schemeClr val="bg1"/>
                </a:solidFill>
                <a:latin typeface="Arial" panose="020B0604020202020204" pitchFamily="34" charset="0"/>
              </a:rPr>
              <a:t>Web</a:t>
            </a:r>
            <a:br>
              <a:rPr lang="en-US" altLang="en-US" sz="1200">
                <a:solidFill>
                  <a:schemeClr val="bg1"/>
                </a:solidFill>
                <a:latin typeface="Arial" panose="020B0604020202020204" pitchFamily="34" charset="0"/>
              </a:rPr>
            </a:br>
            <a:r>
              <a:rPr lang="en-US" altLang="en-US" sz="1200">
                <a:solidFill>
                  <a:schemeClr val="bg1"/>
                </a:solidFill>
                <a:latin typeface="Arial" panose="020B0604020202020204" pitchFamily="34" charset="0"/>
              </a:rPr>
              <a:t>Service</a:t>
            </a:r>
          </a:p>
        </p:txBody>
      </p:sp>
      <p:sp>
        <p:nvSpPr>
          <p:cNvPr id="23559" name="Line 8">
            <a:extLst>
              <a:ext uri="{FF2B5EF4-FFF2-40B4-BE49-F238E27FC236}">
                <a16:creationId xmlns:a16="http://schemas.microsoft.com/office/drawing/2014/main" id="{9582C20F-5443-44B3-B26D-5E122C3FC52C}"/>
              </a:ext>
            </a:extLst>
          </p:cNvPr>
          <p:cNvSpPr>
            <a:spLocks noChangeShapeType="1"/>
          </p:cNvSpPr>
          <p:nvPr/>
        </p:nvSpPr>
        <p:spPr bwMode="auto">
          <a:xfrm>
            <a:off x="1981200" y="1828800"/>
            <a:ext cx="4724400" cy="0"/>
          </a:xfrm>
          <a:prstGeom prst="line">
            <a:avLst/>
          </a:prstGeom>
          <a:noFill/>
          <a:ln w="1905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23560" name="Line 9">
            <a:extLst>
              <a:ext uri="{FF2B5EF4-FFF2-40B4-BE49-F238E27FC236}">
                <a16:creationId xmlns:a16="http://schemas.microsoft.com/office/drawing/2014/main" id="{7017EDC9-1316-428D-9111-2AEB30A7B411}"/>
              </a:ext>
            </a:extLst>
          </p:cNvPr>
          <p:cNvSpPr>
            <a:spLocks noChangeShapeType="1"/>
          </p:cNvSpPr>
          <p:nvPr/>
        </p:nvSpPr>
        <p:spPr bwMode="auto">
          <a:xfrm>
            <a:off x="1981200" y="1981200"/>
            <a:ext cx="4724400" cy="0"/>
          </a:xfrm>
          <a:prstGeom prst="line">
            <a:avLst/>
          </a:prstGeom>
          <a:noFill/>
          <a:ln w="19050">
            <a:solidFill>
              <a:schemeClr val="tx1"/>
            </a:solidFill>
            <a:round/>
            <a:headEnd type="stealth" w="med" len="med"/>
            <a:tailEnd/>
          </a:ln>
          <a:extLst>
            <a:ext uri="{909E8E84-426E-40DD-AFC4-6F175D3DCCD1}">
              <a14:hiddenFill xmlns:a14="http://schemas.microsoft.com/office/drawing/2010/main">
                <a:noFill/>
              </a14:hiddenFill>
            </a:ext>
          </a:extLst>
        </p:spPr>
        <p:txBody>
          <a:bodyPr/>
          <a:lstStyle/>
          <a:p>
            <a:endParaRPr lang="en-US"/>
          </a:p>
        </p:txBody>
      </p:sp>
      <p:sp>
        <p:nvSpPr>
          <p:cNvPr id="23561" name="Line 10">
            <a:extLst>
              <a:ext uri="{FF2B5EF4-FFF2-40B4-BE49-F238E27FC236}">
                <a16:creationId xmlns:a16="http://schemas.microsoft.com/office/drawing/2014/main" id="{6BA7393E-72AB-49DE-87CF-39C9745BBFDE}"/>
              </a:ext>
            </a:extLst>
          </p:cNvPr>
          <p:cNvSpPr>
            <a:spLocks noChangeShapeType="1"/>
          </p:cNvSpPr>
          <p:nvPr/>
        </p:nvSpPr>
        <p:spPr bwMode="auto">
          <a:xfrm>
            <a:off x="1981200" y="3810000"/>
            <a:ext cx="4724400" cy="0"/>
          </a:xfrm>
          <a:prstGeom prst="line">
            <a:avLst/>
          </a:prstGeom>
          <a:noFill/>
          <a:ln w="1905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23562" name="Line 11">
            <a:extLst>
              <a:ext uri="{FF2B5EF4-FFF2-40B4-BE49-F238E27FC236}">
                <a16:creationId xmlns:a16="http://schemas.microsoft.com/office/drawing/2014/main" id="{68F6439D-6BE8-4C16-9EC2-633963C64F13}"/>
              </a:ext>
            </a:extLst>
          </p:cNvPr>
          <p:cNvSpPr>
            <a:spLocks noChangeShapeType="1"/>
          </p:cNvSpPr>
          <p:nvPr/>
        </p:nvSpPr>
        <p:spPr bwMode="auto">
          <a:xfrm>
            <a:off x="1981200" y="3962400"/>
            <a:ext cx="4724400" cy="0"/>
          </a:xfrm>
          <a:prstGeom prst="line">
            <a:avLst/>
          </a:prstGeom>
          <a:noFill/>
          <a:ln w="19050">
            <a:solidFill>
              <a:schemeClr val="tx1"/>
            </a:solidFill>
            <a:round/>
            <a:headEnd type="stealth" w="med" len="med"/>
            <a:tailEnd/>
          </a:ln>
          <a:extLst>
            <a:ext uri="{909E8E84-426E-40DD-AFC4-6F175D3DCCD1}">
              <a14:hiddenFill xmlns:a14="http://schemas.microsoft.com/office/drawing/2010/main">
                <a:noFill/>
              </a14:hiddenFill>
            </a:ext>
          </a:extLst>
        </p:spPr>
        <p:txBody>
          <a:bodyPr/>
          <a:lstStyle/>
          <a:p>
            <a:endParaRPr lang="en-US"/>
          </a:p>
        </p:txBody>
      </p:sp>
      <p:sp>
        <p:nvSpPr>
          <p:cNvPr id="23563" name="Line 12">
            <a:extLst>
              <a:ext uri="{FF2B5EF4-FFF2-40B4-BE49-F238E27FC236}">
                <a16:creationId xmlns:a16="http://schemas.microsoft.com/office/drawing/2014/main" id="{4C08570F-F5A3-4554-BDDD-6E66EA074193}"/>
              </a:ext>
            </a:extLst>
          </p:cNvPr>
          <p:cNvSpPr>
            <a:spLocks noChangeShapeType="1"/>
          </p:cNvSpPr>
          <p:nvPr/>
        </p:nvSpPr>
        <p:spPr bwMode="auto">
          <a:xfrm>
            <a:off x="1981200" y="4876800"/>
            <a:ext cx="4724400" cy="0"/>
          </a:xfrm>
          <a:prstGeom prst="line">
            <a:avLst/>
          </a:prstGeom>
          <a:noFill/>
          <a:ln w="1905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23564" name="Line 13">
            <a:extLst>
              <a:ext uri="{FF2B5EF4-FFF2-40B4-BE49-F238E27FC236}">
                <a16:creationId xmlns:a16="http://schemas.microsoft.com/office/drawing/2014/main" id="{ADF1B847-1004-43F1-A1BD-DD2A286ECFF8}"/>
              </a:ext>
            </a:extLst>
          </p:cNvPr>
          <p:cNvSpPr>
            <a:spLocks noChangeShapeType="1"/>
          </p:cNvSpPr>
          <p:nvPr/>
        </p:nvSpPr>
        <p:spPr bwMode="auto">
          <a:xfrm>
            <a:off x="1981200" y="5029200"/>
            <a:ext cx="4724400" cy="0"/>
          </a:xfrm>
          <a:prstGeom prst="line">
            <a:avLst/>
          </a:prstGeom>
          <a:noFill/>
          <a:ln w="19050">
            <a:solidFill>
              <a:schemeClr val="tx1"/>
            </a:solidFill>
            <a:round/>
            <a:headEnd type="stealth" w="med" len="med"/>
            <a:tailEnd/>
          </a:ln>
          <a:extLst>
            <a:ext uri="{909E8E84-426E-40DD-AFC4-6F175D3DCCD1}">
              <a14:hiddenFill xmlns:a14="http://schemas.microsoft.com/office/drawing/2010/main">
                <a:noFill/>
              </a14:hiddenFill>
            </a:ext>
          </a:extLst>
        </p:spPr>
        <p:txBody>
          <a:bodyPr/>
          <a:lstStyle/>
          <a:p>
            <a:endParaRPr lang="en-US"/>
          </a:p>
        </p:txBody>
      </p:sp>
      <p:sp>
        <p:nvSpPr>
          <p:cNvPr id="23565" name="Text Box 14">
            <a:extLst>
              <a:ext uri="{FF2B5EF4-FFF2-40B4-BE49-F238E27FC236}">
                <a16:creationId xmlns:a16="http://schemas.microsoft.com/office/drawing/2014/main" id="{FCC935AE-BC1A-4C7A-9ADD-DDCFC4E2B077}"/>
              </a:ext>
            </a:extLst>
          </p:cNvPr>
          <p:cNvSpPr txBox="1">
            <a:spLocks noChangeArrowheads="1"/>
          </p:cNvSpPr>
          <p:nvPr/>
        </p:nvSpPr>
        <p:spPr bwMode="auto">
          <a:xfrm>
            <a:off x="2666999" y="4419600"/>
            <a:ext cx="362564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50000"/>
              </a:spcBef>
              <a:buFontTx/>
              <a:buNone/>
            </a:pPr>
            <a:r>
              <a:rPr lang="en-US" altLang="en-US" sz="1200" b="1" dirty="0">
                <a:latin typeface="Arial" panose="020B0604020202020204" pitchFamily="34" charset="0"/>
              </a:rPr>
              <a:t>(5) SOAP request:</a:t>
            </a:r>
            <a:r>
              <a:rPr lang="en-US" altLang="en-US" sz="1200" dirty="0">
                <a:latin typeface="Arial" panose="020B0604020202020204" pitchFamily="34" charset="0"/>
              </a:rPr>
              <a:t> </a:t>
            </a:r>
            <a:br>
              <a:rPr lang="en-US" altLang="en-US" sz="1200" dirty="0">
                <a:latin typeface="Arial" panose="020B0604020202020204" pitchFamily="34" charset="0"/>
              </a:rPr>
            </a:br>
            <a:r>
              <a:rPr lang="en-US" altLang="en-US" sz="1200" dirty="0">
                <a:latin typeface="Arial" panose="020B0604020202020204" pitchFamily="34" charset="0"/>
              </a:rPr>
              <a:t>Invoke </a:t>
            </a:r>
            <a:r>
              <a:rPr lang="en-US" altLang="en-US" sz="1200" dirty="0" err="1">
                <a:latin typeface="Arial" panose="020B0604020202020204" pitchFamily="34" charset="0"/>
              </a:rPr>
              <a:t>getWeatherInfo</a:t>
            </a:r>
            <a:r>
              <a:rPr lang="en-US" altLang="en-US" sz="1200" dirty="0">
                <a:latin typeface="Arial" panose="020B0604020202020204" pitchFamily="34" charset="0"/>
              </a:rPr>
              <a:t>() with parameter </a:t>
            </a:r>
            <a:r>
              <a:rPr lang="ja-JP" altLang="en-US" sz="1200" dirty="0">
                <a:latin typeface="Arial" panose="020B0604020202020204" pitchFamily="34" charset="0"/>
              </a:rPr>
              <a:t>‘</a:t>
            </a:r>
            <a:r>
              <a:rPr lang="en-US" altLang="ja-JP" sz="1200" dirty="0">
                <a:latin typeface="Arial" panose="020B0604020202020204" pitchFamily="34" charset="0"/>
              </a:rPr>
              <a:t>60196</a:t>
            </a:r>
            <a:r>
              <a:rPr lang="ja-JP" altLang="en-US" sz="1200" dirty="0">
                <a:latin typeface="Arial" panose="020B0604020202020204" pitchFamily="34" charset="0"/>
              </a:rPr>
              <a:t>’</a:t>
            </a:r>
            <a:endParaRPr lang="en-US" altLang="en-US" sz="1200" dirty="0">
              <a:latin typeface="Arial" panose="020B0604020202020204" pitchFamily="34" charset="0"/>
            </a:endParaRPr>
          </a:p>
        </p:txBody>
      </p:sp>
      <p:sp>
        <p:nvSpPr>
          <p:cNvPr id="23566" name="Text Box 15">
            <a:extLst>
              <a:ext uri="{FF2B5EF4-FFF2-40B4-BE49-F238E27FC236}">
                <a16:creationId xmlns:a16="http://schemas.microsoft.com/office/drawing/2014/main" id="{68362C97-120D-4ED1-BD1B-E2C493D37F9E}"/>
              </a:ext>
            </a:extLst>
          </p:cNvPr>
          <p:cNvSpPr txBox="1">
            <a:spLocks noChangeArrowheads="1"/>
          </p:cNvSpPr>
          <p:nvPr/>
        </p:nvSpPr>
        <p:spPr bwMode="auto">
          <a:xfrm>
            <a:off x="2667000" y="5029200"/>
            <a:ext cx="304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50000"/>
              </a:spcBef>
              <a:buFontTx/>
              <a:buNone/>
            </a:pPr>
            <a:r>
              <a:rPr lang="en-US" altLang="en-US" sz="1200" b="1">
                <a:latin typeface="Arial" panose="020B0604020202020204" pitchFamily="34" charset="0"/>
              </a:rPr>
              <a:t>(6) SOAP response:</a:t>
            </a:r>
            <a:r>
              <a:rPr lang="en-US" altLang="en-US" sz="1200">
                <a:latin typeface="Arial" panose="020B0604020202020204" pitchFamily="34" charset="0"/>
              </a:rPr>
              <a:t> </a:t>
            </a:r>
            <a:br>
              <a:rPr lang="en-US" altLang="en-US" sz="1200">
                <a:latin typeface="Arial" panose="020B0604020202020204" pitchFamily="34" charset="0"/>
              </a:rPr>
            </a:br>
            <a:r>
              <a:rPr lang="en-US" altLang="en-US" sz="1200">
                <a:latin typeface="Arial" panose="020B0604020202020204" pitchFamily="34" charset="0"/>
              </a:rPr>
              <a:t>Severe thunderstorms with flooding</a:t>
            </a:r>
          </a:p>
        </p:txBody>
      </p:sp>
      <p:sp>
        <p:nvSpPr>
          <p:cNvPr id="23567" name="Text Box 16">
            <a:extLst>
              <a:ext uri="{FF2B5EF4-FFF2-40B4-BE49-F238E27FC236}">
                <a16:creationId xmlns:a16="http://schemas.microsoft.com/office/drawing/2014/main" id="{5785CD9E-B1D3-4CE7-9468-378A64E1FC4C}"/>
              </a:ext>
            </a:extLst>
          </p:cNvPr>
          <p:cNvSpPr txBox="1">
            <a:spLocks noChangeArrowheads="1"/>
          </p:cNvSpPr>
          <p:nvPr/>
        </p:nvSpPr>
        <p:spPr bwMode="auto">
          <a:xfrm>
            <a:off x="2667000" y="3505200"/>
            <a:ext cx="3048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50000"/>
              </a:spcBef>
              <a:buFontTx/>
              <a:buNone/>
            </a:pPr>
            <a:r>
              <a:rPr lang="en-US" altLang="en-US" sz="1200" b="1">
                <a:latin typeface="Arial" panose="020B0604020202020204" pitchFamily="34" charset="0"/>
              </a:rPr>
              <a:t>(3)</a:t>
            </a:r>
            <a:r>
              <a:rPr lang="en-US" altLang="en-US" sz="1200">
                <a:latin typeface="Arial" panose="020B0604020202020204" pitchFamily="34" charset="0"/>
              </a:rPr>
              <a:t> How exactly do I invoke you?</a:t>
            </a:r>
          </a:p>
        </p:txBody>
      </p:sp>
      <p:sp>
        <p:nvSpPr>
          <p:cNvPr id="23568" name="Text Box 17">
            <a:extLst>
              <a:ext uri="{FF2B5EF4-FFF2-40B4-BE49-F238E27FC236}">
                <a16:creationId xmlns:a16="http://schemas.microsoft.com/office/drawing/2014/main" id="{A5C0052C-3828-42D9-81AD-B6B7E10FBE5F}"/>
              </a:ext>
            </a:extLst>
          </p:cNvPr>
          <p:cNvSpPr txBox="1">
            <a:spLocks noChangeArrowheads="1"/>
          </p:cNvSpPr>
          <p:nvPr/>
        </p:nvSpPr>
        <p:spPr bwMode="auto">
          <a:xfrm>
            <a:off x="2667000" y="3962400"/>
            <a:ext cx="3048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50000"/>
              </a:spcBef>
              <a:buFontTx/>
              <a:buNone/>
            </a:pPr>
            <a:r>
              <a:rPr lang="en-US" altLang="en-US" sz="1200" b="1">
                <a:latin typeface="Arial" panose="020B0604020202020204" pitchFamily="34" charset="0"/>
              </a:rPr>
              <a:t>(4)</a:t>
            </a:r>
            <a:r>
              <a:rPr lang="en-US" altLang="en-US" sz="1200">
                <a:latin typeface="Arial" panose="020B0604020202020204" pitchFamily="34" charset="0"/>
              </a:rPr>
              <a:t> Take a look at this: </a:t>
            </a:r>
            <a:r>
              <a:rPr lang="en-US" altLang="en-US" sz="1200" b="1">
                <a:latin typeface="Arial" panose="020B0604020202020204" pitchFamily="34" charset="0"/>
              </a:rPr>
              <a:t>WSDL</a:t>
            </a:r>
          </a:p>
        </p:txBody>
      </p:sp>
      <p:sp>
        <p:nvSpPr>
          <p:cNvPr id="23569" name="Text Box 18">
            <a:extLst>
              <a:ext uri="{FF2B5EF4-FFF2-40B4-BE49-F238E27FC236}">
                <a16:creationId xmlns:a16="http://schemas.microsoft.com/office/drawing/2014/main" id="{A70B3AD2-8247-4753-B4FC-27F377511EB0}"/>
              </a:ext>
            </a:extLst>
          </p:cNvPr>
          <p:cNvSpPr txBox="1">
            <a:spLocks noChangeArrowheads="1"/>
          </p:cNvSpPr>
          <p:nvPr/>
        </p:nvSpPr>
        <p:spPr bwMode="auto">
          <a:xfrm>
            <a:off x="2667000" y="1371600"/>
            <a:ext cx="304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50000"/>
              </a:spcBef>
              <a:buFontTx/>
              <a:buNone/>
            </a:pPr>
            <a:r>
              <a:rPr lang="en-US" altLang="en-US" sz="1200" b="1">
                <a:latin typeface="Arial" panose="020B0604020202020204" pitchFamily="34" charset="0"/>
              </a:rPr>
              <a:t>(1) UDDI request:</a:t>
            </a:r>
            <a:r>
              <a:rPr lang="en-US" altLang="en-US" sz="1200">
                <a:latin typeface="Arial" panose="020B0604020202020204" pitchFamily="34" charset="0"/>
              </a:rPr>
              <a:t> </a:t>
            </a:r>
            <a:br>
              <a:rPr lang="en-US" altLang="en-US" sz="1200">
                <a:latin typeface="Arial" panose="020B0604020202020204" pitchFamily="34" charset="0"/>
              </a:rPr>
            </a:br>
            <a:r>
              <a:rPr lang="en-US" altLang="en-US" sz="1200">
                <a:latin typeface="Arial" panose="020B0604020202020204" pitchFamily="34" charset="0"/>
              </a:rPr>
              <a:t>Where can I find a </a:t>
            </a:r>
            <a:r>
              <a:rPr lang="ja-JP" altLang="en-US" sz="1200">
                <a:latin typeface="Arial" panose="020B0604020202020204" pitchFamily="34" charset="0"/>
              </a:rPr>
              <a:t>“</a:t>
            </a:r>
            <a:r>
              <a:rPr lang="en-US" altLang="ja-JP" sz="1200">
                <a:latin typeface="Arial" panose="020B0604020202020204" pitchFamily="34" charset="0"/>
              </a:rPr>
              <a:t>weather service</a:t>
            </a:r>
            <a:r>
              <a:rPr lang="ja-JP" altLang="en-US" sz="1200">
                <a:latin typeface="Arial" panose="020B0604020202020204" pitchFamily="34" charset="0"/>
              </a:rPr>
              <a:t>”</a:t>
            </a:r>
            <a:r>
              <a:rPr lang="en-US" altLang="ja-JP" sz="1200">
                <a:latin typeface="Arial" panose="020B0604020202020204" pitchFamily="34" charset="0"/>
              </a:rPr>
              <a:t>?</a:t>
            </a:r>
            <a:endParaRPr lang="en-US" altLang="en-US" sz="1200">
              <a:latin typeface="Arial" panose="020B0604020202020204" pitchFamily="34" charset="0"/>
            </a:endParaRPr>
          </a:p>
        </p:txBody>
      </p:sp>
      <p:sp>
        <p:nvSpPr>
          <p:cNvPr id="23570" name="Text Box 19">
            <a:extLst>
              <a:ext uri="{FF2B5EF4-FFF2-40B4-BE49-F238E27FC236}">
                <a16:creationId xmlns:a16="http://schemas.microsoft.com/office/drawing/2014/main" id="{941B0548-8C3E-4D59-B3A7-1B54BD6EF2F5}"/>
              </a:ext>
            </a:extLst>
          </p:cNvPr>
          <p:cNvSpPr txBox="1">
            <a:spLocks noChangeArrowheads="1"/>
          </p:cNvSpPr>
          <p:nvPr/>
        </p:nvSpPr>
        <p:spPr bwMode="auto">
          <a:xfrm>
            <a:off x="2667000" y="1997075"/>
            <a:ext cx="304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50000"/>
              </a:spcBef>
              <a:buFontTx/>
              <a:buNone/>
            </a:pPr>
            <a:r>
              <a:rPr lang="en-US" altLang="en-US" sz="1200" b="1">
                <a:latin typeface="Arial" panose="020B0604020202020204" pitchFamily="34" charset="0"/>
              </a:rPr>
              <a:t>(2) UDDI response:</a:t>
            </a:r>
            <a:r>
              <a:rPr lang="en-US" altLang="en-US" sz="1200">
                <a:latin typeface="Arial" panose="020B0604020202020204" pitchFamily="34" charset="0"/>
              </a:rPr>
              <a:t> </a:t>
            </a:r>
            <a:br>
              <a:rPr lang="en-US" altLang="en-US" sz="1200">
                <a:latin typeface="Arial" panose="020B0604020202020204" pitchFamily="34" charset="0"/>
              </a:rPr>
            </a:br>
            <a:r>
              <a:rPr lang="en-US" altLang="en-US" sz="1200">
                <a:latin typeface="Arial" panose="020B0604020202020204" pitchFamily="34" charset="0"/>
              </a:rPr>
              <a:t>There is a </a:t>
            </a:r>
            <a:r>
              <a:rPr lang="ja-JP" altLang="en-US" sz="1200">
                <a:latin typeface="Arial" panose="020B0604020202020204" pitchFamily="34" charset="0"/>
              </a:rPr>
              <a:t>“</a:t>
            </a:r>
            <a:r>
              <a:rPr lang="en-US" altLang="ja-JP" sz="1200">
                <a:latin typeface="Arial" panose="020B0604020202020204" pitchFamily="34" charset="0"/>
              </a:rPr>
              <a:t>weather service</a:t>
            </a:r>
            <a:r>
              <a:rPr lang="ja-JP" altLang="en-US" sz="1200">
                <a:latin typeface="Arial" panose="020B0604020202020204" pitchFamily="34" charset="0"/>
              </a:rPr>
              <a:t>”</a:t>
            </a:r>
            <a:r>
              <a:rPr lang="en-US" altLang="ja-JP" sz="1200">
                <a:latin typeface="Arial" panose="020B0604020202020204" pitchFamily="34" charset="0"/>
              </a:rPr>
              <a:t> on Server B</a:t>
            </a:r>
            <a:endParaRPr lang="en-US" altLang="en-US" sz="1200">
              <a:latin typeface="Arial" panose="020B0604020202020204" pitchFamily="34" charset="0"/>
            </a:endParaRPr>
          </a:p>
        </p:txBody>
      </p:sp>
    </p:spTree>
    <p:extLst>
      <p:ext uri="{BB962C8B-B14F-4D97-AF65-F5344CB8AC3E}">
        <p14:creationId xmlns:p14="http://schemas.microsoft.com/office/powerpoint/2010/main" val="1519427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3A985-5882-4BA1-8A5A-FC651B5623B3}"/>
              </a:ext>
            </a:extLst>
          </p:cNvPr>
          <p:cNvSpPr>
            <a:spLocks noGrp="1"/>
          </p:cNvSpPr>
          <p:nvPr>
            <p:ph type="title"/>
          </p:nvPr>
        </p:nvSpPr>
        <p:spPr/>
        <p:txBody>
          <a:bodyPr/>
          <a:lstStyle/>
          <a:p>
            <a:r>
              <a:rPr lang="en-US" altLang="zh-CN" dirty="0"/>
              <a:t>XML-RPC: Example</a:t>
            </a:r>
            <a:endParaRPr lang="en-US" dirty="0"/>
          </a:p>
        </p:txBody>
      </p:sp>
      <p:sp>
        <p:nvSpPr>
          <p:cNvPr id="3" name="Content Placeholder 2">
            <a:extLst>
              <a:ext uri="{FF2B5EF4-FFF2-40B4-BE49-F238E27FC236}">
                <a16:creationId xmlns:a16="http://schemas.microsoft.com/office/drawing/2014/main" id="{369A895F-CFC6-4465-BFC7-C44F7C219BB7}"/>
              </a:ext>
            </a:extLst>
          </p:cNvPr>
          <p:cNvSpPr>
            <a:spLocks noGrp="1"/>
          </p:cNvSpPr>
          <p:nvPr>
            <p:ph idx="1"/>
          </p:nvPr>
        </p:nvSpPr>
        <p:spPr>
          <a:xfrm>
            <a:off x="628650" y="1962151"/>
            <a:ext cx="7886700" cy="4351338"/>
          </a:xfrm>
        </p:spPr>
        <p:txBody>
          <a:bodyPr/>
          <a:lstStyle/>
          <a:p>
            <a:r>
              <a:rPr lang="en-US" dirty="0"/>
              <a:t>An example of a typical XML-RPC request would be:</a:t>
            </a:r>
          </a:p>
          <a:p>
            <a:endParaRPr lang="en-US" dirty="0"/>
          </a:p>
        </p:txBody>
      </p:sp>
      <p:sp>
        <p:nvSpPr>
          <p:cNvPr id="4" name="Rectangle 1">
            <a:extLst>
              <a:ext uri="{FF2B5EF4-FFF2-40B4-BE49-F238E27FC236}">
                <a16:creationId xmlns:a16="http://schemas.microsoft.com/office/drawing/2014/main" id="{24514136-2D38-41ED-91AB-DF673839D86D}"/>
              </a:ext>
            </a:extLst>
          </p:cNvPr>
          <p:cNvSpPr>
            <a:spLocks noChangeArrowheads="1"/>
          </p:cNvSpPr>
          <p:nvPr/>
        </p:nvSpPr>
        <p:spPr bwMode="auto">
          <a:xfrm>
            <a:off x="717755" y="3040556"/>
            <a:ext cx="7797595" cy="2862322"/>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BC7A00"/>
                </a:solidFill>
                <a:effectLst/>
                <a:latin typeface="Courier New" panose="02070309020205020404" pitchFamily="49" charset="0"/>
                <a:cs typeface="Courier New" panose="02070309020205020404" pitchFamily="49" charset="0"/>
              </a:rPr>
              <a:t>&lt;?xml version="1.0"?&gt;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8000"/>
                </a:solidFill>
                <a:effectLst/>
                <a:latin typeface="Courier New" panose="02070309020205020404" pitchFamily="49" charset="0"/>
                <a:cs typeface="Courier New" panose="02070309020205020404" pitchFamily="49" charset="0"/>
              </a:rPr>
              <a:t>&lt;</a:t>
            </a:r>
            <a:r>
              <a:rPr kumimoji="0" lang="en-US" altLang="en-US" sz="2000" b="1" i="0" u="none" strike="noStrike" cap="none" normalizeH="0" baseline="0" dirty="0" err="1">
                <a:ln>
                  <a:noFill/>
                </a:ln>
                <a:solidFill>
                  <a:srgbClr val="008000"/>
                </a:solidFill>
                <a:effectLst/>
                <a:latin typeface="Courier New" panose="02070309020205020404" pitchFamily="49" charset="0"/>
                <a:cs typeface="Courier New" panose="02070309020205020404" pitchFamily="49" charset="0"/>
              </a:rPr>
              <a:t>methodCall</a:t>
            </a:r>
            <a:r>
              <a:rPr kumimoji="0" lang="en-US" altLang="en-US" sz="2000" b="1" i="0" u="none" strike="noStrike" cap="none" normalizeH="0" baseline="0" dirty="0">
                <a:ln>
                  <a:noFill/>
                </a:ln>
                <a:solidFill>
                  <a:srgbClr val="008000"/>
                </a:solidFill>
                <a:effectLst/>
                <a:latin typeface="Courier New" panose="02070309020205020404" pitchFamily="49" charset="0"/>
                <a:cs typeface="Courier New" panose="02070309020205020404" pitchFamily="49" charset="0"/>
              </a:rPr>
              <a:t>&gt;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solidFill>
                  <a:srgbClr val="008000"/>
                </a:solidFill>
                <a:latin typeface="Courier New" panose="02070309020205020404" pitchFamily="49" charset="0"/>
                <a:cs typeface="Courier New" panose="02070309020205020404" pitchFamily="49" charset="0"/>
              </a:rPr>
              <a:t>  </a:t>
            </a:r>
            <a:r>
              <a:rPr kumimoji="0" lang="en-US" altLang="en-US" sz="2000" b="1" i="0" u="none" strike="noStrike" cap="none" normalizeH="0" baseline="0" dirty="0">
                <a:ln>
                  <a:noFill/>
                </a:ln>
                <a:solidFill>
                  <a:srgbClr val="008000"/>
                </a:solidFill>
                <a:effectLst/>
                <a:latin typeface="Courier New" panose="02070309020205020404" pitchFamily="49" charset="0"/>
                <a:cs typeface="Courier New" panose="02070309020205020404" pitchFamily="49" charset="0"/>
              </a:rPr>
              <a:t>&lt;</a:t>
            </a:r>
            <a:r>
              <a:rPr kumimoji="0" lang="en-US" altLang="en-US" sz="2000" b="1" i="0" u="none" strike="noStrike" cap="none" normalizeH="0" baseline="0" dirty="0" err="1">
                <a:ln>
                  <a:noFill/>
                </a:ln>
                <a:solidFill>
                  <a:srgbClr val="008000"/>
                </a:solidFill>
                <a:effectLst/>
                <a:latin typeface="Courier New" panose="02070309020205020404" pitchFamily="49" charset="0"/>
                <a:cs typeface="Courier New" panose="02070309020205020404" pitchFamily="49" charset="0"/>
              </a:rPr>
              <a:t>methodName</a:t>
            </a:r>
            <a:r>
              <a:rPr kumimoji="0" lang="en-US" altLang="en-US" sz="2000" b="1" i="0" u="none" strike="noStrike" cap="none" normalizeH="0" baseline="0" dirty="0">
                <a:ln>
                  <a:noFill/>
                </a:ln>
                <a:solidFill>
                  <a:srgbClr val="008000"/>
                </a:solidFill>
                <a:effectLst/>
                <a:latin typeface="Courier New" panose="02070309020205020404" pitchFamily="49" charset="0"/>
                <a:cs typeface="Courier New" panose="02070309020205020404" pitchFamily="49" charset="0"/>
              </a:rPr>
              <a:t>&gt;</a:t>
            </a:r>
            <a:r>
              <a:rPr kumimoji="0" lang="en-US" altLang="en-US" sz="20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examples.getStateName</a:t>
            </a:r>
            <a:r>
              <a:rPr kumimoji="0" lang="en-US" altLang="en-US" sz="2000" b="1" i="0" u="none" strike="noStrike" cap="none" normalizeH="0" baseline="0" dirty="0">
                <a:ln>
                  <a:noFill/>
                </a:ln>
                <a:solidFill>
                  <a:srgbClr val="008000"/>
                </a:solidFill>
                <a:effectLst/>
                <a:latin typeface="Courier New" panose="02070309020205020404" pitchFamily="49" charset="0"/>
                <a:cs typeface="Courier New" panose="02070309020205020404" pitchFamily="49" charset="0"/>
              </a:rPr>
              <a:t>&lt;/</a:t>
            </a:r>
            <a:r>
              <a:rPr kumimoji="0" lang="en-US" altLang="en-US" sz="2000" b="1" i="0" u="none" strike="noStrike" cap="none" normalizeH="0" baseline="0" dirty="0" err="1">
                <a:ln>
                  <a:noFill/>
                </a:ln>
                <a:solidFill>
                  <a:srgbClr val="008000"/>
                </a:solidFill>
                <a:effectLst/>
                <a:latin typeface="Courier New" panose="02070309020205020404" pitchFamily="49" charset="0"/>
                <a:cs typeface="Courier New" panose="02070309020205020404" pitchFamily="49" charset="0"/>
              </a:rPr>
              <a:t>methodName</a:t>
            </a:r>
            <a:r>
              <a:rPr kumimoji="0" lang="en-US" altLang="en-US" sz="2000" b="1" i="0" u="none" strike="noStrike" cap="none" normalizeH="0" baseline="0" dirty="0">
                <a:ln>
                  <a:noFill/>
                </a:ln>
                <a:solidFill>
                  <a:srgbClr val="008000"/>
                </a:solidFill>
                <a:effectLst/>
                <a:latin typeface="Courier New" panose="02070309020205020404" pitchFamily="49" charset="0"/>
                <a:cs typeface="Courier New" panose="02070309020205020404" pitchFamily="49" charset="0"/>
              </a:rPr>
              <a:t>&gt;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00"/>
                </a:solidFill>
                <a:latin typeface="Courier New" panose="02070309020205020404" pitchFamily="49" charset="0"/>
                <a:cs typeface="Courier New" panose="02070309020205020404" pitchFamily="49" charset="0"/>
              </a:rPr>
              <a:t>    </a:t>
            </a:r>
            <a:r>
              <a:rPr kumimoji="0" lang="en-US" altLang="en-US" sz="2000" b="1" i="0" u="none" strike="noStrike" cap="none" normalizeH="0" baseline="0" dirty="0">
                <a:ln>
                  <a:noFill/>
                </a:ln>
                <a:solidFill>
                  <a:srgbClr val="008000"/>
                </a:solidFill>
                <a:effectLst/>
                <a:latin typeface="Courier New" panose="02070309020205020404" pitchFamily="49" charset="0"/>
                <a:cs typeface="Courier New" panose="02070309020205020404" pitchFamily="49" charset="0"/>
              </a:rPr>
              <a:t>&lt;params&gt;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00"/>
                </a:solidFill>
                <a:latin typeface="Courier New" panose="02070309020205020404" pitchFamily="49" charset="0"/>
                <a:cs typeface="Courier New" panose="02070309020205020404" pitchFamily="49" charset="0"/>
              </a:rPr>
              <a:t>      </a:t>
            </a:r>
            <a:r>
              <a:rPr kumimoji="0" lang="en-US" altLang="en-US" sz="2000" b="1" i="0" u="none" strike="noStrike" cap="none" normalizeH="0" baseline="0" dirty="0">
                <a:ln>
                  <a:noFill/>
                </a:ln>
                <a:solidFill>
                  <a:srgbClr val="008000"/>
                </a:solidFill>
                <a:effectLst/>
                <a:latin typeface="Courier New" panose="02070309020205020404" pitchFamily="49" charset="0"/>
                <a:cs typeface="Courier New" panose="02070309020205020404" pitchFamily="49" charset="0"/>
              </a:rPr>
              <a:t>&lt;param&gt;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00"/>
                </a:solidFill>
                <a:latin typeface="Courier New" panose="02070309020205020404" pitchFamily="49" charset="0"/>
                <a:cs typeface="Courier New" panose="02070309020205020404" pitchFamily="49" charset="0"/>
              </a:rPr>
              <a:t>        </a:t>
            </a:r>
            <a:r>
              <a:rPr kumimoji="0" lang="en-US" altLang="en-US" sz="2000" b="1" i="0" u="none" strike="noStrike" cap="none" normalizeH="0" baseline="0" dirty="0">
                <a:ln>
                  <a:noFill/>
                </a:ln>
                <a:solidFill>
                  <a:srgbClr val="008000"/>
                </a:solidFill>
                <a:effectLst/>
                <a:latin typeface="Courier New" panose="02070309020205020404" pitchFamily="49" charset="0"/>
                <a:cs typeface="Courier New" panose="02070309020205020404" pitchFamily="49" charset="0"/>
              </a:rPr>
              <a:t>&lt;value&gt;&lt;i4&gt;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40</a:t>
            </a:r>
            <a:r>
              <a:rPr kumimoji="0" lang="en-US" altLang="en-US" sz="2000" b="1" i="0" u="none" strike="noStrike" cap="none" normalizeH="0" baseline="0" dirty="0">
                <a:ln>
                  <a:noFill/>
                </a:ln>
                <a:solidFill>
                  <a:srgbClr val="008000"/>
                </a:solidFill>
                <a:effectLst/>
                <a:latin typeface="Courier New" panose="02070309020205020404" pitchFamily="49" charset="0"/>
                <a:cs typeface="Courier New" panose="02070309020205020404" pitchFamily="49" charset="0"/>
              </a:rPr>
              <a:t>&lt;/i4&gt;&lt;/value&gt;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00"/>
                </a:solidFill>
                <a:latin typeface="Courier New" panose="02070309020205020404" pitchFamily="49" charset="0"/>
                <a:cs typeface="Courier New" panose="02070309020205020404" pitchFamily="49" charset="0"/>
              </a:rPr>
              <a:t>      </a:t>
            </a:r>
            <a:r>
              <a:rPr kumimoji="0" lang="en-US" altLang="en-US" sz="2000" b="1" i="0" u="none" strike="noStrike" cap="none" normalizeH="0" baseline="0" dirty="0">
                <a:ln>
                  <a:noFill/>
                </a:ln>
                <a:solidFill>
                  <a:srgbClr val="008000"/>
                </a:solidFill>
                <a:effectLst/>
                <a:latin typeface="Courier New" panose="02070309020205020404" pitchFamily="49" charset="0"/>
                <a:cs typeface="Courier New" panose="02070309020205020404" pitchFamily="49" charset="0"/>
              </a:rPr>
              <a:t>&lt;/param&gt;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00"/>
                </a:solidFill>
                <a:latin typeface="Courier New" panose="02070309020205020404" pitchFamily="49" charset="0"/>
                <a:cs typeface="Courier New" panose="02070309020205020404" pitchFamily="49" charset="0"/>
              </a:rPr>
              <a:t>    </a:t>
            </a:r>
            <a:r>
              <a:rPr kumimoji="0" lang="en-US" altLang="en-US" sz="2000" b="1" i="0" u="none" strike="noStrike" cap="none" normalizeH="0" baseline="0" dirty="0">
                <a:ln>
                  <a:noFill/>
                </a:ln>
                <a:solidFill>
                  <a:srgbClr val="008000"/>
                </a:solidFill>
                <a:effectLst/>
                <a:latin typeface="Courier New" panose="02070309020205020404" pitchFamily="49" charset="0"/>
                <a:cs typeface="Courier New" panose="02070309020205020404" pitchFamily="49" charset="0"/>
              </a:rPr>
              <a:t>&lt;/params&gt;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8000"/>
                </a:solidFill>
                <a:effectLst/>
                <a:latin typeface="Courier New" panose="02070309020205020404" pitchFamily="49" charset="0"/>
                <a:cs typeface="Courier New" panose="02070309020205020404" pitchFamily="49" charset="0"/>
              </a:rPr>
              <a:t>&lt;/</a:t>
            </a:r>
            <a:r>
              <a:rPr kumimoji="0" lang="en-US" altLang="en-US" sz="2000" b="1" i="0" u="none" strike="noStrike" cap="none" normalizeH="0" baseline="0" dirty="0" err="1">
                <a:ln>
                  <a:noFill/>
                </a:ln>
                <a:solidFill>
                  <a:srgbClr val="008000"/>
                </a:solidFill>
                <a:effectLst/>
                <a:latin typeface="Courier New" panose="02070309020205020404" pitchFamily="49" charset="0"/>
                <a:cs typeface="Courier New" panose="02070309020205020404" pitchFamily="49" charset="0"/>
              </a:rPr>
              <a:t>methodCall</a:t>
            </a:r>
            <a:r>
              <a:rPr kumimoji="0" lang="en-US" altLang="en-US" sz="2000" b="1" i="0" u="none" strike="noStrike" cap="none" normalizeH="0" baseline="0" dirty="0">
                <a:ln>
                  <a:noFill/>
                </a:ln>
                <a:solidFill>
                  <a:srgbClr val="008000"/>
                </a:solidFill>
                <a:effectLst/>
                <a:latin typeface="Courier New" panose="02070309020205020404" pitchFamily="49" charset="0"/>
                <a:cs typeface="Courier New" panose="02070309020205020404" pitchFamily="49" charset="0"/>
              </a:rPr>
              <a:t>&gt;</a:t>
            </a:r>
            <a:r>
              <a:rPr kumimoji="0" lang="en-US" altLang="en-US" sz="1200" b="0" i="0" u="none" strike="noStrike" cap="none" normalizeH="0" baseline="0" dirty="0">
                <a:ln>
                  <a:noFill/>
                </a:ln>
                <a:solidFill>
                  <a:schemeClr val="tx1"/>
                </a:solidFill>
                <a:effectLst/>
              </a:rPr>
              <a:t>   </a:t>
            </a:r>
            <a:endParaRPr kumimoji="0" lang="en-US" altLang="en-US" sz="4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34740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3A985-5882-4BA1-8A5A-FC651B5623B3}"/>
              </a:ext>
            </a:extLst>
          </p:cNvPr>
          <p:cNvSpPr>
            <a:spLocks noGrp="1"/>
          </p:cNvSpPr>
          <p:nvPr>
            <p:ph type="title"/>
          </p:nvPr>
        </p:nvSpPr>
        <p:spPr/>
        <p:txBody>
          <a:bodyPr/>
          <a:lstStyle/>
          <a:p>
            <a:r>
              <a:rPr lang="en-US" altLang="zh-CN" dirty="0"/>
              <a:t>XML-RPC: Example</a:t>
            </a:r>
            <a:endParaRPr lang="en-US" dirty="0"/>
          </a:p>
        </p:txBody>
      </p:sp>
      <p:sp>
        <p:nvSpPr>
          <p:cNvPr id="3" name="Content Placeholder 2">
            <a:extLst>
              <a:ext uri="{FF2B5EF4-FFF2-40B4-BE49-F238E27FC236}">
                <a16:creationId xmlns:a16="http://schemas.microsoft.com/office/drawing/2014/main" id="{369A895F-CFC6-4465-BFC7-C44F7C219BB7}"/>
              </a:ext>
            </a:extLst>
          </p:cNvPr>
          <p:cNvSpPr>
            <a:spLocks noGrp="1"/>
          </p:cNvSpPr>
          <p:nvPr>
            <p:ph idx="1"/>
          </p:nvPr>
        </p:nvSpPr>
        <p:spPr>
          <a:xfrm>
            <a:off x="422787" y="1922822"/>
            <a:ext cx="8092563" cy="4351338"/>
          </a:xfrm>
        </p:spPr>
        <p:txBody>
          <a:bodyPr/>
          <a:lstStyle/>
          <a:p>
            <a:r>
              <a:rPr lang="en-US" dirty="0"/>
              <a:t>An example of a typical XML-RPC response would be:</a:t>
            </a:r>
          </a:p>
        </p:txBody>
      </p:sp>
      <p:sp>
        <p:nvSpPr>
          <p:cNvPr id="5" name="Rectangle 1">
            <a:extLst>
              <a:ext uri="{FF2B5EF4-FFF2-40B4-BE49-F238E27FC236}">
                <a16:creationId xmlns:a16="http://schemas.microsoft.com/office/drawing/2014/main" id="{A185CB33-2B4D-4E12-AF7C-67DCF85C7023}"/>
              </a:ext>
            </a:extLst>
          </p:cNvPr>
          <p:cNvSpPr>
            <a:spLocks noChangeArrowheads="1"/>
          </p:cNvSpPr>
          <p:nvPr/>
        </p:nvSpPr>
        <p:spPr bwMode="auto">
          <a:xfrm>
            <a:off x="422788" y="3009594"/>
            <a:ext cx="8092562" cy="2554545"/>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BC7A00"/>
                </a:solidFill>
                <a:effectLst/>
                <a:latin typeface="Courier New" panose="02070309020205020404" pitchFamily="49" charset="0"/>
                <a:cs typeface="Courier New" panose="02070309020205020404" pitchFamily="49" charset="0"/>
              </a:rPr>
              <a:t>&lt;?xml version="1.0"?&gt;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8000"/>
                </a:solidFill>
                <a:effectLst/>
                <a:latin typeface="Courier New" panose="02070309020205020404" pitchFamily="49" charset="0"/>
                <a:cs typeface="Courier New" panose="02070309020205020404" pitchFamily="49" charset="0"/>
              </a:rPr>
              <a:t>&lt;</a:t>
            </a:r>
            <a:r>
              <a:rPr kumimoji="0" lang="en-US" altLang="en-US" sz="2000" b="1" i="0" u="none" strike="noStrike" cap="none" normalizeH="0" baseline="0" dirty="0" err="1">
                <a:ln>
                  <a:noFill/>
                </a:ln>
                <a:solidFill>
                  <a:srgbClr val="008000"/>
                </a:solidFill>
                <a:effectLst/>
                <a:latin typeface="Courier New" panose="02070309020205020404" pitchFamily="49" charset="0"/>
                <a:cs typeface="Courier New" panose="02070309020205020404" pitchFamily="49" charset="0"/>
              </a:rPr>
              <a:t>methodResponse</a:t>
            </a:r>
            <a:r>
              <a:rPr kumimoji="0" lang="en-US" altLang="en-US" sz="2000" b="1" i="0" u="none" strike="noStrike" cap="none" normalizeH="0" baseline="0" dirty="0">
                <a:ln>
                  <a:noFill/>
                </a:ln>
                <a:solidFill>
                  <a:srgbClr val="008000"/>
                </a:solidFill>
                <a:effectLst/>
                <a:latin typeface="Courier New" panose="02070309020205020404" pitchFamily="49" charset="0"/>
                <a:cs typeface="Courier New" panose="02070309020205020404" pitchFamily="49" charset="0"/>
              </a:rPr>
              <a:t>&gt;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00"/>
                </a:solidFill>
                <a:latin typeface="Courier New" panose="02070309020205020404" pitchFamily="49" charset="0"/>
                <a:cs typeface="Courier New" panose="02070309020205020404" pitchFamily="49" charset="0"/>
              </a:rPr>
              <a:t>  </a:t>
            </a:r>
            <a:r>
              <a:rPr kumimoji="0" lang="en-US" altLang="en-US" sz="2000" b="1" i="0" u="none" strike="noStrike" cap="none" normalizeH="0" baseline="0" dirty="0">
                <a:ln>
                  <a:noFill/>
                </a:ln>
                <a:solidFill>
                  <a:srgbClr val="008000"/>
                </a:solidFill>
                <a:effectLst/>
                <a:latin typeface="Courier New" panose="02070309020205020404" pitchFamily="49" charset="0"/>
                <a:cs typeface="Courier New" panose="02070309020205020404" pitchFamily="49" charset="0"/>
              </a:rPr>
              <a:t>&lt;params&gt;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00"/>
                </a:solidFill>
                <a:latin typeface="Courier New" panose="02070309020205020404" pitchFamily="49" charset="0"/>
                <a:cs typeface="Courier New" panose="02070309020205020404" pitchFamily="49" charset="0"/>
              </a:rPr>
              <a:t>    </a:t>
            </a:r>
            <a:r>
              <a:rPr kumimoji="0" lang="en-US" altLang="en-US" sz="2000" b="1" i="0" u="none" strike="noStrike" cap="none" normalizeH="0" baseline="0" dirty="0">
                <a:ln>
                  <a:noFill/>
                </a:ln>
                <a:solidFill>
                  <a:srgbClr val="008000"/>
                </a:solidFill>
                <a:effectLst/>
                <a:latin typeface="Courier New" panose="02070309020205020404" pitchFamily="49" charset="0"/>
                <a:cs typeface="Courier New" panose="02070309020205020404" pitchFamily="49" charset="0"/>
              </a:rPr>
              <a:t>&lt;param&gt;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00"/>
                </a:solidFill>
                <a:latin typeface="Courier New" panose="02070309020205020404" pitchFamily="49" charset="0"/>
                <a:cs typeface="Courier New" panose="02070309020205020404" pitchFamily="49" charset="0"/>
              </a:rPr>
              <a:t>      </a:t>
            </a:r>
            <a:r>
              <a:rPr kumimoji="0" lang="en-US" altLang="en-US" sz="2000" b="1" i="0" u="none" strike="noStrike" cap="none" normalizeH="0" baseline="0" dirty="0">
                <a:ln>
                  <a:noFill/>
                </a:ln>
                <a:solidFill>
                  <a:srgbClr val="008000"/>
                </a:solidFill>
                <a:effectLst/>
                <a:latin typeface="Courier New" panose="02070309020205020404" pitchFamily="49" charset="0"/>
                <a:cs typeface="Courier New" panose="02070309020205020404" pitchFamily="49" charset="0"/>
              </a:rPr>
              <a:t>&lt;value&gt;&lt;string&gt;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South Dakota</a:t>
            </a:r>
            <a:r>
              <a:rPr kumimoji="0" lang="en-US" altLang="en-US" sz="2000" b="1" i="0" u="none" strike="noStrike" cap="none" normalizeH="0" baseline="0" dirty="0">
                <a:ln>
                  <a:noFill/>
                </a:ln>
                <a:solidFill>
                  <a:srgbClr val="008000"/>
                </a:solidFill>
                <a:effectLst/>
                <a:latin typeface="Courier New" panose="02070309020205020404" pitchFamily="49" charset="0"/>
                <a:cs typeface="Courier New" panose="02070309020205020404" pitchFamily="49" charset="0"/>
              </a:rPr>
              <a:t>&lt;/string&gt;&lt;/value&gt;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solidFill>
                  <a:srgbClr val="008000"/>
                </a:solidFill>
                <a:latin typeface="Courier New" panose="02070309020205020404" pitchFamily="49" charset="0"/>
                <a:cs typeface="Courier New" panose="02070309020205020404" pitchFamily="49" charset="0"/>
              </a:rPr>
              <a:t>    </a:t>
            </a:r>
            <a:r>
              <a:rPr kumimoji="0" lang="en-US" altLang="en-US" sz="2000" b="1" i="0" u="none" strike="noStrike" cap="none" normalizeH="0" baseline="0" dirty="0">
                <a:ln>
                  <a:noFill/>
                </a:ln>
                <a:solidFill>
                  <a:srgbClr val="008000"/>
                </a:solidFill>
                <a:effectLst/>
                <a:latin typeface="Courier New" panose="02070309020205020404" pitchFamily="49" charset="0"/>
                <a:cs typeface="Courier New" panose="02070309020205020404" pitchFamily="49" charset="0"/>
              </a:rPr>
              <a:t>&lt;/param&gt;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00"/>
                </a:solidFill>
                <a:latin typeface="Courier New" panose="02070309020205020404" pitchFamily="49" charset="0"/>
                <a:cs typeface="Courier New" panose="02070309020205020404" pitchFamily="49" charset="0"/>
              </a:rPr>
              <a:t>  </a:t>
            </a:r>
            <a:r>
              <a:rPr kumimoji="0" lang="en-US" altLang="en-US" sz="2000" b="1" i="0" u="none" strike="noStrike" cap="none" normalizeH="0" baseline="0" dirty="0">
                <a:ln>
                  <a:noFill/>
                </a:ln>
                <a:solidFill>
                  <a:srgbClr val="008000"/>
                </a:solidFill>
                <a:effectLst/>
                <a:latin typeface="Courier New" panose="02070309020205020404" pitchFamily="49" charset="0"/>
                <a:cs typeface="Courier New" panose="02070309020205020404" pitchFamily="49" charset="0"/>
              </a:rPr>
              <a:t>&lt;/params&gt;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8000"/>
                </a:solidFill>
                <a:effectLst/>
                <a:latin typeface="Courier New" panose="02070309020205020404" pitchFamily="49" charset="0"/>
                <a:cs typeface="Courier New" panose="02070309020205020404" pitchFamily="49" charset="0"/>
              </a:rPr>
              <a:t>&lt;/</a:t>
            </a:r>
            <a:r>
              <a:rPr kumimoji="0" lang="en-US" altLang="en-US" sz="2000" b="1" i="0" u="none" strike="noStrike" cap="none" normalizeH="0" baseline="0" dirty="0" err="1">
                <a:ln>
                  <a:noFill/>
                </a:ln>
                <a:solidFill>
                  <a:srgbClr val="008000"/>
                </a:solidFill>
                <a:effectLst/>
                <a:latin typeface="Courier New" panose="02070309020205020404" pitchFamily="49" charset="0"/>
                <a:cs typeface="Courier New" panose="02070309020205020404" pitchFamily="49" charset="0"/>
              </a:rPr>
              <a:t>methodResponse</a:t>
            </a:r>
            <a:r>
              <a:rPr kumimoji="0" lang="en-US" altLang="en-US" sz="2000" b="1" i="0" u="none" strike="noStrike" cap="none" normalizeH="0" baseline="0" dirty="0">
                <a:ln>
                  <a:noFill/>
                </a:ln>
                <a:solidFill>
                  <a:srgbClr val="008000"/>
                </a:solidFill>
                <a:effectLst/>
                <a:latin typeface="Courier New" panose="02070309020205020404" pitchFamily="49" charset="0"/>
                <a:cs typeface="Courier New" panose="02070309020205020404" pitchFamily="49" charset="0"/>
              </a:rPr>
              <a:t>&gt;</a:t>
            </a:r>
            <a:r>
              <a:rPr kumimoji="0" lang="en-US" altLang="en-US" sz="2000" b="0" i="0" u="none" strike="noStrike" cap="none" normalizeH="0" baseline="0" dirty="0">
                <a:ln>
                  <a:noFill/>
                </a:ln>
                <a:solidFill>
                  <a:schemeClr val="tx1"/>
                </a:solidFill>
                <a:effectLst/>
              </a:rPr>
              <a:t>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23992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8B7A0F-3139-413D-A36C-FD0AA0219EF0}"/>
              </a:ext>
            </a:extLst>
          </p:cNvPr>
          <p:cNvSpPr>
            <a:spLocks noGrp="1"/>
          </p:cNvSpPr>
          <p:nvPr>
            <p:ph idx="1"/>
          </p:nvPr>
        </p:nvSpPr>
        <p:spPr/>
        <p:txBody>
          <a:bodyPr>
            <a:normAutofit/>
          </a:bodyPr>
          <a:lstStyle/>
          <a:p>
            <a:pPr marL="0" indent="0" algn="ctr">
              <a:buNone/>
            </a:pPr>
            <a:r>
              <a:rPr lang="en-US" altLang="zh-CN" sz="11500" b="1" dirty="0"/>
              <a:t>REST</a:t>
            </a:r>
            <a:endParaRPr lang="en-US" sz="11500" b="1" dirty="0"/>
          </a:p>
        </p:txBody>
      </p:sp>
    </p:spTree>
    <p:extLst>
      <p:ext uri="{BB962C8B-B14F-4D97-AF65-F5344CB8AC3E}">
        <p14:creationId xmlns:p14="http://schemas.microsoft.com/office/powerpoint/2010/main" val="10292120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2FBF1D01-0158-4660-AC84-7851316715CC}"/>
              </a:ext>
            </a:extLst>
          </p:cNvPr>
          <p:cNvSpPr>
            <a:spLocks noGrp="1" noChangeArrowheads="1"/>
          </p:cNvSpPr>
          <p:nvPr>
            <p:ph type="title"/>
          </p:nvPr>
        </p:nvSpPr>
        <p:spPr/>
        <p:txBody>
          <a:bodyPr/>
          <a:lstStyle/>
          <a:p>
            <a:r>
              <a:rPr lang="en-US" altLang="en-US"/>
              <a:t>Web Design, Axiom 0</a:t>
            </a:r>
            <a:br>
              <a:rPr lang="en-US" altLang="en-US"/>
            </a:br>
            <a:r>
              <a:rPr lang="en-US" altLang="en-US" sz="2800"/>
              <a:t>(Tim Berners-Lee, director of W3C)</a:t>
            </a:r>
            <a:endParaRPr lang="en-US" altLang="en-US"/>
          </a:p>
        </p:txBody>
      </p:sp>
      <p:sp>
        <p:nvSpPr>
          <p:cNvPr id="12291" name="Rectangle 3">
            <a:extLst>
              <a:ext uri="{FF2B5EF4-FFF2-40B4-BE49-F238E27FC236}">
                <a16:creationId xmlns:a16="http://schemas.microsoft.com/office/drawing/2014/main" id="{DC5B66FC-8530-4986-9FF4-129E92A4F1CE}"/>
              </a:ext>
            </a:extLst>
          </p:cNvPr>
          <p:cNvSpPr>
            <a:spLocks noGrp="1" noChangeArrowheads="1"/>
          </p:cNvSpPr>
          <p:nvPr>
            <p:ph type="body" idx="1"/>
          </p:nvPr>
        </p:nvSpPr>
        <p:spPr/>
        <p:txBody>
          <a:bodyPr/>
          <a:lstStyle/>
          <a:p>
            <a:pPr>
              <a:spcBef>
                <a:spcPts val="500"/>
              </a:spcBef>
              <a:spcAft>
                <a:spcPts val="500"/>
              </a:spcAft>
            </a:pPr>
            <a:r>
              <a:rPr lang="en-US" altLang="en-US"/>
              <a:t>Axiom 0: all resources on the Web must be uniquely identified with a URI.</a:t>
            </a:r>
          </a:p>
          <a:p>
            <a:endParaRPr lang="en-US" altLang="en-US"/>
          </a:p>
        </p:txBody>
      </p:sp>
      <p:sp>
        <p:nvSpPr>
          <p:cNvPr id="12292" name="Oval 4">
            <a:extLst>
              <a:ext uri="{FF2B5EF4-FFF2-40B4-BE49-F238E27FC236}">
                <a16:creationId xmlns:a16="http://schemas.microsoft.com/office/drawing/2014/main" id="{3301EA95-9BC3-4B44-8780-F078E4C48E0F}"/>
              </a:ext>
            </a:extLst>
          </p:cNvPr>
          <p:cNvSpPr>
            <a:spLocks noChangeArrowheads="1"/>
          </p:cNvSpPr>
          <p:nvPr/>
        </p:nvSpPr>
        <p:spPr bwMode="auto">
          <a:xfrm>
            <a:off x="4702175" y="3189288"/>
            <a:ext cx="1063625" cy="101441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800"/>
              <a:t>resource1</a:t>
            </a:r>
            <a:endParaRPr lang="en-US" altLang="en-US"/>
          </a:p>
        </p:txBody>
      </p:sp>
      <p:sp>
        <p:nvSpPr>
          <p:cNvPr id="12294" name="Line 6">
            <a:extLst>
              <a:ext uri="{FF2B5EF4-FFF2-40B4-BE49-F238E27FC236}">
                <a16:creationId xmlns:a16="http://schemas.microsoft.com/office/drawing/2014/main" id="{72AA5A41-0727-4636-A9AA-D04A8D11CEF7}"/>
              </a:ext>
            </a:extLst>
          </p:cNvPr>
          <p:cNvSpPr>
            <a:spLocks noChangeShapeType="1"/>
          </p:cNvSpPr>
          <p:nvPr/>
        </p:nvSpPr>
        <p:spPr bwMode="auto">
          <a:xfrm>
            <a:off x="2165350" y="3757613"/>
            <a:ext cx="25114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95" name="Text Box 7">
            <a:extLst>
              <a:ext uri="{FF2B5EF4-FFF2-40B4-BE49-F238E27FC236}">
                <a16:creationId xmlns:a16="http://schemas.microsoft.com/office/drawing/2014/main" id="{73E660C2-68E5-4261-9BBB-A04CE50104DB}"/>
              </a:ext>
            </a:extLst>
          </p:cNvPr>
          <p:cNvSpPr txBox="1">
            <a:spLocks noChangeArrowheads="1"/>
          </p:cNvSpPr>
          <p:nvPr/>
        </p:nvSpPr>
        <p:spPr bwMode="auto">
          <a:xfrm>
            <a:off x="2963863" y="3319463"/>
            <a:ext cx="946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URL1</a:t>
            </a:r>
          </a:p>
        </p:txBody>
      </p:sp>
      <p:sp>
        <p:nvSpPr>
          <p:cNvPr id="12296" name="Oval 8">
            <a:extLst>
              <a:ext uri="{FF2B5EF4-FFF2-40B4-BE49-F238E27FC236}">
                <a16:creationId xmlns:a16="http://schemas.microsoft.com/office/drawing/2014/main" id="{26710E93-1142-4FEA-9228-2E8825A34E22}"/>
              </a:ext>
            </a:extLst>
          </p:cNvPr>
          <p:cNvSpPr>
            <a:spLocks noChangeArrowheads="1"/>
          </p:cNvSpPr>
          <p:nvPr/>
        </p:nvSpPr>
        <p:spPr bwMode="auto">
          <a:xfrm>
            <a:off x="4702175" y="4395788"/>
            <a:ext cx="1063625" cy="101441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800"/>
              <a:t>resource2</a:t>
            </a:r>
            <a:endParaRPr lang="en-US" altLang="en-US"/>
          </a:p>
        </p:txBody>
      </p:sp>
      <p:sp>
        <p:nvSpPr>
          <p:cNvPr id="12297" name="Line 9">
            <a:extLst>
              <a:ext uri="{FF2B5EF4-FFF2-40B4-BE49-F238E27FC236}">
                <a16:creationId xmlns:a16="http://schemas.microsoft.com/office/drawing/2014/main" id="{2FC9BBF5-97C8-4135-A42A-B28EA4A498F8}"/>
              </a:ext>
            </a:extLst>
          </p:cNvPr>
          <p:cNvSpPr>
            <a:spLocks noChangeShapeType="1"/>
          </p:cNvSpPr>
          <p:nvPr/>
        </p:nvSpPr>
        <p:spPr bwMode="auto">
          <a:xfrm>
            <a:off x="2165350" y="4964113"/>
            <a:ext cx="25114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98" name="Text Box 10">
            <a:extLst>
              <a:ext uri="{FF2B5EF4-FFF2-40B4-BE49-F238E27FC236}">
                <a16:creationId xmlns:a16="http://schemas.microsoft.com/office/drawing/2014/main" id="{09C38955-8422-49DE-903F-D5069468E066}"/>
              </a:ext>
            </a:extLst>
          </p:cNvPr>
          <p:cNvSpPr txBox="1">
            <a:spLocks noChangeArrowheads="1"/>
          </p:cNvSpPr>
          <p:nvPr/>
        </p:nvSpPr>
        <p:spPr bwMode="auto">
          <a:xfrm>
            <a:off x="2963863" y="4525963"/>
            <a:ext cx="946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URL2</a:t>
            </a:r>
          </a:p>
        </p:txBody>
      </p:sp>
      <p:sp>
        <p:nvSpPr>
          <p:cNvPr id="12299" name="Oval 11">
            <a:extLst>
              <a:ext uri="{FF2B5EF4-FFF2-40B4-BE49-F238E27FC236}">
                <a16:creationId xmlns:a16="http://schemas.microsoft.com/office/drawing/2014/main" id="{9EB1A382-7D5D-4B44-B832-595FD650EBA4}"/>
              </a:ext>
            </a:extLst>
          </p:cNvPr>
          <p:cNvSpPr>
            <a:spLocks noChangeArrowheads="1"/>
          </p:cNvSpPr>
          <p:nvPr/>
        </p:nvSpPr>
        <p:spPr bwMode="auto">
          <a:xfrm>
            <a:off x="4702175" y="5653088"/>
            <a:ext cx="1063625" cy="101441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800"/>
              <a:t>resource3</a:t>
            </a:r>
            <a:endParaRPr lang="en-US" altLang="en-US"/>
          </a:p>
        </p:txBody>
      </p:sp>
      <p:sp>
        <p:nvSpPr>
          <p:cNvPr id="12300" name="Line 12">
            <a:extLst>
              <a:ext uri="{FF2B5EF4-FFF2-40B4-BE49-F238E27FC236}">
                <a16:creationId xmlns:a16="http://schemas.microsoft.com/office/drawing/2014/main" id="{F524CFE7-3223-4389-908E-9D1C9BBECEBF}"/>
              </a:ext>
            </a:extLst>
          </p:cNvPr>
          <p:cNvSpPr>
            <a:spLocks noChangeShapeType="1"/>
          </p:cNvSpPr>
          <p:nvPr/>
        </p:nvSpPr>
        <p:spPr bwMode="auto">
          <a:xfrm>
            <a:off x="2165350" y="6221413"/>
            <a:ext cx="25114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301" name="Text Box 13">
            <a:extLst>
              <a:ext uri="{FF2B5EF4-FFF2-40B4-BE49-F238E27FC236}">
                <a16:creationId xmlns:a16="http://schemas.microsoft.com/office/drawing/2014/main" id="{E41AD3E1-1F99-469C-AC0C-F614B137D198}"/>
              </a:ext>
            </a:extLst>
          </p:cNvPr>
          <p:cNvSpPr txBox="1">
            <a:spLocks noChangeArrowheads="1"/>
          </p:cNvSpPr>
          <p:nvPr/>
        </p:nvSpPr>
        <p:spPr bwMode="auto">
          <a:xfrm>
            <a:off x="2963863" y="5783263"/>
            <a:ext cx="946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URL3</a:t>
            </a:r>
          </a:p>
        </p:txBody>
      </p:sp>
    </p:spTree>
    <p:extLst>
      <p:ext uri="{BB962C8B-B14F-4D97-AF65-F5344CB8AC3E}">
        <p14:creationId xmlns:p14="http://schemas.microsoft.com/office/powerpoint/2010/main" val="21344045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8CCA2FD5-9034-4695-AB52-1E827D11FAFD}"/>
              </a:ext>
            </a:extLst>
          </p:cNvPr>
          <p:cNvSpPr>
            <a:spLocks noGrp="1" noChangeArrowheads="1"/>
          </p:cNvSpPr>
          <p:nvPr>
            <p:ph type="title"/>
          </p:nvPr>
        </p:nvSpPr>
        <p:spPr/>
        <p:txBody>
          <a:bodyPr/>
          <a:lstStyle/>
          <a:p>
            <a:r>
              <a:rPr lang="en-US" altLang="en-US" dirty="0"/>
              <a:t>Fundamental Aspects of the REST Design Pattern</a:t>
            </a:r>
          </a:p>
        </p:txBody>
      </p:sp>
      <p:sp>
        <p:nvSpPr>
          <p:cNvPr id="19459" name="Rectangle 3">
            <a:extLst>
              <a:ext uri="{FF2B5EF4-FFF2-40B4-BE49-F238E27FC236}">
                <a16:creationId xmlns:a16="http://schemas.microsoft.com/office/drawing/2014/main" id="{7105285E-2DC4-4F58-AB35-9B979CE812A4}"/>
              </a:ext>
            </a:extLst>
          </p:cNvPr>
          <p:cNvSpPr>
            <a:spLocks noGrp="1" noChangeArrowheads="1"/>
          </p:cNvSpPr>
          <p:nvPr>
            <p:ph type="body" idx="1"/>
          </p:nvPr>
        </p:nvSpPr>
        <p:spPr/>
        <p:txBody>
          <a:bodyPr/>
          <a:lstStyle/>
          <a:p>
            <a:r>
              <a:rPr lang="en-US" altLang="en-US" b="1" dirty="0"/>
              <a:t>Resources</a:t>
            </a:r>
            <a:br>
              <a:rPr lang="en-US" altLang="en-US" dirty="0"/>
            </a:br>
            <a:r>
              <a:rPr lang="en-US" altLang="en-US" sz="2800" dirty="0"/>
              <a:t>Every distinguishable entity is a resource.  A resource may be a Web site, an HTML page, an XML document, a Web service, a physical device, </a:t>
            </a:r>
            <a:r>
              <a:rPr lang="en-US" altLang="en-US" sz="2800" i="1" dirty="0"/>
              <a:t>etc.</a:t>
            </a:r>
          </a:p>
          <a:p>
            <a:endParaRPr lang="en-US" altLang="en-US" dirty="0"/>
          </a:p>
          <a:p>
            <a:r>
              <a:rPr lang="en-US" altLang="en-US" b="1" dirty="0"/>
              <a:t>URLs Identify Resources</a:t>
            </a:r>
            <a:br>
              <a:rPr lang="en-US" altLang="en-US" dirty="0"/>
            </a:br>
            <a:r>
              <a:rPr lang="en-US" altLang="en-US" sz="2800" dirty="0"/>
              <a:t>Every resource is uniquely identified by a URL.  This is Tim Berners-Lee Web Design, Axiom 0.</a:t>
            </a:r>
            <a:endParaRPr lang="en-US" altLang="en-US" dirty="0"/>
          </a:p>
        </p:txBody>
      </p:sp>
    </p:spTree>
    <p:extLst>
      <p:ext uri="{BB962C8B-B14F-4D97-AF65-F5344CB8AC3E}">
        <p14:creationId xmlns:p14="http://schemas.microsoft.com/office/powerpoint/2010/main" val="13701634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7" name="Rectangle 7">
            <a:extLst>
              <a:ext uri="{FF2B5EF4-FFF2-40B4-BE49-F238E27FC236}">
                <a16:creationId xmlns:a16="http://schemas.microsoft.com/office/drawing/2014/main" id="{C86C9CDB-D601-4F6A-A7D1-0CE00B11AAFB}"/>
              </a:ext>
            </a:extLst>
          </p:cNvPr>
          <p:cNvSpPr>
            <a:spLocks noGrp="1" noChangeArrowheads="1"/>
          </p:cNvSpPr>
          <p:nvPr>
            <p:ph type="title"/>
          </p:nvPr>
        </p:nvSpPr>
        <p:spPr/>
        <p:txBody>
          <a:bodyPr/>
          <a:lstStyle/>
          <a:p>
            <a:r>
              <a:rPr lang="en-US" altLang="en-US" sz="3240"/>
              <a:t>Representational State Transfer (REST)</a:t>
            </a:r>
          </a:p>
        </p:txBody>
      </p:sp>
      <p:sp>
        <p:nvSpPr>
          <p:cNvPr id="5128" name="Rectangle 8">
            <a:extLst>
              <a:ext uri="{FF2B5EF4-FFF2-40B4-BE49-F238E27FC236}">
                <a16:creationId xmlns:a16="http://schemas.microsoft.com/office/drawing/2014/main" id="{8B018BBC-179F-42F5-B443-06D6694F9A76}"/>
              </a:ext>
            </a:extLst>
          </p:cNvPr>
          <p:cNvSpPr>
            <a:spLocks noGrp="1" noChangeArrowheads="1"/>
          </p:cNvSpPr>
          <p:nvPr>
            <p:ph type="body" idx="1"/>
          </p:nvPr>
        </p:nvSpPr>
        <p:spPr/>
        <p:txBody>
          <a:bodyPr/>
          <a:lstStyle/>
          <a:p>
            <a:pPr>
              <a:lnSpc>
                <a:spcPct val="90000"/>
              </a:lnSpc>
            </a:pPr>
            <a:r>
              <a:rPr lang="en-US" altLang="en-US" sz="2520"/>
              <a:t>A style of software architecture for distributed hypermedia systems such as the World Wide Web. </a:t>
            </a:r>
          </a:p>
          <a:p>
            <a:pPr>
              <a:lnSpc>
                <a:spcPct val="90000"/>
              </a:lnSpc>
            </a:pPr>
            <a:endParaRPr lang="en-US" altLang="en-US" sz="2520"/>
          </a:p>
          <a:p>
            <a:pPr>
              <a:lnSpc>
                <a:spcPct val="90000"/>
              </a:lnSpc>
            </a:pPr>
            <a:r>
              <a:rPr lang="en-US" altLang="en-US" sz="2520"/>
              <a:t>Introduced in the doctoral dissertation of Roy Fielding</a:t>
            </a:r>
          </a:p>
          <a:p>
            <a:pPr lvl="1">
              <a:lnSpc>
                <a:spcPct val="90000"/>
              </a:lnSpc>
            </a:pPr>
            <a:r>
              <a:rPr lang="en-US" altLang="en-US" sz="1980"/>
              <a:t>One of the principal authors of the HTTP specification. </a:t>
            </a:r>
          </a:p>
          <a:p>
            <a:pPr>
              <a:lnSpc>
                <a:spcPct val="90000"/>
              </a:lnSpc>
              <a:buFontTx/>
              <a:buNone/>
            </a:pPr>
            <a:endParaRPr lang="en-US" altLang="en-US" sz="2520"/>
          </a:p>
          <a:p>
            <a:pPr>
              <a:lnSpc>
                <a:spcPct val="90000"/>
              </a:lnSpc>
            </a:pPr>
            <a:r>
              <a:rPr lang="en-US" altLang="en-US" sz="2520"/>
              <a:t>A collection of network architecture principles which outline how resources are defined and addressed </a:t>
            </a:r>
          </a:p>
          <a:p>
            <a:pPr>
              <a:lnSpc>
                <a:spcPct val="90000"/>
              </a:lnSpc>
              <a:buFontTx/>
              <a:buNone/>
            </a:pPr>
            <a:endParaRPr lang="en-US" altLang="en-US" sz="2520"/>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7F8AB72E-86F7-46E6-A421-080C0B83D3E5}"/>
              </a:ext>
            </a:extLst>
          </p:cNvPr>
          <p:cNvSpPr>
            <a:spLocks noGrp="1" noChangeArrowheads="1"/>
          </p:cNvSpPr>
          <p:nvPr>
            <p:ph type="title"/>
          </p:nvPr>
        </p:nvSpPr>
        <p:spPr/>
        <p:txBody>
          <a:bodyPr/>
          <a:lstStyle/>
          <a:p>
            <a:r>
              <a:rPr lang="en-US" altLang="en-US"/>
              <a:t>Main Concepts</a:t>
            </a:r>
          </a:p>
        </p:txBody>
      </p:sp>
      <p:sp>
        <p:nvSpPr>
          <p:cNvPr id="19459" name="AutoShape 3">
            <a:extLst>
              <a:ext uri="{FF2B5EF4-FFF2-40B4-BE49-F238E27FC236}">
                <a16:creationId xmlns:a16="http://schemas.microsoft.com/office/drawing/2014/main" id="{8B42E4C4-B210-4E84-832A-F792F0C14EC1}"/>
              </a:ext>
            </a:extLst>
          </p:cNvPr>
          <p:cNvSpPr>
            <a:spLocks noChangeArrowheads="1"/>
          </p:cNvSpPr>
          <p:nvPr/>
        </p:nvSpPr>
        <p:spPr bwMode="auto">
          <a:xfrm>
            <a:off x="3131820" y="2700338"/>
            <a:ext cx="3040380" cy="2511743"/>
          </a:xfrm>
          <a:prstGeom prst="triangle">
            <a:avLst>
              <a:gd name="adj" fmla="val 50000"/>
            </a:avLst>
          </a:prstGeom>
          <a:solidFill>
            <a:schemeClr val="accent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7" tIns="45717" rIns="91437" bIns="45717" anchor="ct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buClr>
                <a:schemeClr val="accent2"/>
              </a:buClr>
              <a:buFont typeface="Wingdings" panose="05000000000000000000" pitchFamily="2" charset="2"/>
              <a:buNone/>
            </a:pPr>
            <a:endParaRPr lang="en-US" altLang="en-US" sz="2430">
              <a:latin typeface="Arial" panose="020B0604020202020204" pitchFamily="34" charset="0"/>
            </a:endParaRPr>
          </a:p>
        </p:txBody>
      </p:sp>
      <p:sp>
        <p:nvSpPr>
          <p:cNvPr id="19460" name="Text Box 4">
            <a:extLst>
              <a:ext uri="{FF2B5EF4-FFF2-40B4-BE49-F238E27FC236}">
                <a16:creationId xmlns:a16="http://schemas.microsoft.com/office/drawing/2014/main" id="{A568F400-AF2D-4385-8B64-415F834F5155}"/>
              </a:ext>
            </a:extLst>
          </p:cNvPr>
          <p:cNvSpPr txBox="1">
            <a:spLocks noChangeArrowheads="1"/>
          </p:cNvSpPr>
          <p:nvPr/>
        </p:nvSpPr>
        <p:spPr bwMode="auto">
          <a:xfrm>
            <a:off x="3200400" y="1675925"/>
            <a:ext cx="5049774" cy="70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7" tIns="45717" rIns="91437" bIns="45717">
            <a:spAutoFit/>
          </a:bodyP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a:spcBef>
                <a:spcPct val="50000"/>
              </a:spcBef>
              <a:buClr>
                <a:schemeClr val="accent2"/>
              </a:buClr>
              <a:buFont typeface="Wingdings" panose="05000000000000000000" pitchFamily="2" charset="2"/>
              <a:buNone/>
            </a:pPr>
            <a:r>
              <a:rPr lang="en-US" altLang="en-US" sz="1980" b="1" dirty="0">
                <a:latin typeface="Arial" panose="020B0604020202020204" pitchFamily="34" charset="0"/>
              </a:rPr>
              <a:t>Nouns (Resources)</a:t>
            </a:r>
            <a:br>
              <a:rPr lang="en-US" altLang="en-US" sz="1980" b="1" dirty="0">
                <a:latin typeface="Arial" panose="020B0604020202020204" pitchFamily="34" charset="0"/>
              </a:rPr>
            </a:br>
            <a:r>
              <a:rPr lang="en-US" altLang="en-US" sz="1980" dirty="0">
                <a:latin typeface="Arial" panose="020B0604020202020204" pitchFamily="34" charset="0"/>
              </a:rPr>
              <a:t>e.g., http://example.com/employees/12345</a:t>
            </a:r>
          </a:p>
        </p:txBody>
      </p:sp>
      <p:sp>
        <p:nvSpPr>
          <p:cNvPr id="19461" name="Text Box 5">
            <a:extLst>
              <a:ext uri="{FF2B5EF4-FFF2-40B4-BE49-F238E27FC236}">
                <a16:creationId xmlns:a16="http://schemas.microsoft.com/office/drawing/2014/main" id="{DE6BE6F5-27BD-4ABC-B86C-EED05AEBFF9D}"/>
              </a:ext>
            </a:extLst>
          </p:cNvPr>
          <p:cNvSpPr txBox="1">
            <a:spLocks noChangeArrowheads="1"/>
          </p:cNvSpPr>
          <p:nvPr/>
        </p:nvSpPr>
        <p:spPr bwMode="auto">
          <a:xfrm>
            <a:off x="1554480" y="5074920"/>
            <a:ext cx="1285923" cy="70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7" tIns="45717" rIns="91437" bIns="45717">
            <a:spAutoFit/>
          </a:bodyP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a:spcBef>
                <a:spcPct val="50000"/>
              </a:spcBef>
              <a:buClr>
                <a:schemeClr val="accent2"/>
              </a:buClr>
              <a:buFont typeface="Wingdings" panose="05000000000000000000" pitchFamily="2" charset="2"/>
              <a:buNone/>
            </a:pPr>
            <a:r>
              <a:rPr lang="en-US" altLang="en-US" sz="1980" b="1" dirty="0">
                <a:latin typeface="Arial" panose="020B0604020202020204" pitchFamily="34" charset="0"/>
              </a:rPr>
              <a:t>Verbs</a:t>
            </a:r>
            <a:br>
              <a:rPr lang="en-US" altLang="en-US" sz="1980" b="1" dirty="0">
                <a:latin typeface="Arial" panose="020B0604020202020204" pitchFamily="34" charset="0"/>
              </a:rPr>
            </a:br>
            <a:r>
              <a:rPr lang="en-US" altLang="en-US" sz="1980" dirty="0">
                <a:latin typeface="Arial" panose="020B0604020202020204" pitchFamily="34" charset="0"/>
              </a:rPr>
              <a:t>e.g., GET</a:t>
            </a:r>
          </a:p>
        </p:txBody>
      </p:sp>
      <p:sp>
        <p:nvSpPr>
          <p:cNvPr id="19462" name="Text Box 6">
            <a:extLst>
              <a:ext uri="{FF2B5EF4-FFF2-40B4-BE49-F238E27FC236}">
                <a16:creationId xmlns:a16="http://schemas.microsoft.com/office/drawing/2014/main" id="{DDD3D8CD-80DC-4A6E-996F-E92D319848E6}"/>
              </a:ext>
            </a:extLst>
          </p:cNvPr>
          <p:cNvSpPr txBox="1">
            <a:spLocks noChangeArrowheads="1"/>
          </p:cNvSpPr>
          <p:nvPr/>
        </p:nvSpPr>
        <p:spPr bwMode="auto">
          <a:xfrm>
            <a:off x="6286500" y="5074920"/>
            <a:ext cx="2175590" cy="70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7" tIns="45717" rIns="91437" bIns="45717">
            <a:spAutoFit/>
          </a:bodyP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a:spcBef>
                <a:spcPct val="50000"/>
              </a:spcBef>
              <a:buClr>
                <a:schemeClr val="accent2"/>
              </a:buClr>
              <a:buFont typeface="Wingdings" panose="05000000000000000000" pitchFamily="2" charset="2"/>
              <a:buNone/>
            </a:pPr>
            <a:r>
              <a:rPr lang="en-US" altLang="en-US" sz="1980" b="1" dirty="0">
                <a:latin typeface="Arial" panose="020B0604020202020204" pitchFamily="34" charset="0"/>
              </a:rPr>
              <a:t>Representations</a:t>
            </a:r>
            <a:br>
              <a:rPr lang="en-US" altLang="en-US" sz="1980" b="1" dirty="0">
                <a:latin typeface="Arial" panose="020B0604020202020204" pitchFamily="34" charset="0"/>
              </a:rPr>
            </a:br>
            <a:r>
              <a:rPr lang="en-US" altLang="en-US" sz="1980" dirty="0">
                <a:latin typeface="Arial" panose="020B0604020202020204" pitchFamily="34" charset="0"/>
              </a:rPr>
              <a:t>e.g., XML</a:t>
            </a:r>
          </a:p>
        </p:txBody>
      </p:sp>
      <p:sp>
        <p:nvSpPr>
          <p:cNvPr id="19474" name="Text Box 18">
            <a:extLst>
              <a:ext uri="{FF2B5EF4-FFF2-40B4-BE49-F238E27FC236}">
                <a16:creationId xmlns:a16="http://schemas.microsoft.com/office/drawing/2014/main" id="{DF41C601-9D58-4091-B1BA-70F717966888}"/>
              </a:ext>
            </a:extLst>
          </p:cNvPr>
          <p:cNvSpPr txBox="1">
            <a:spLocks noChangeArrowheads="1"/>
          </p:cNvSpPr>
          <p:nvPr/>
        </p:nvSpPr>
        <p:spPr bwMode="auto">
          <a:xfrm>
            <a:off x="4091940" y="3909060"/>
            <a:ext cx="909544"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80"/>
              <a:t>REST</a:t>
            </a:r>
          </a:p>
        </p:txBody>
      </p:sp>
    </p:spTree>
    <p:extLst>
      <p:ext uri="{BB962C8B-B14F-4D97-AF65-F5344CB8AC3E}">
        <p14:creationId xmlns:p14="http://schemas.microsoft.com/office/powerpoint/2010/main" val="869957369"/>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4">
            <a:extLst>
              <a:ext uri="{FF2B5EF4-FFF2-40B4-BE49-F238E27FC236}">
                <a16:creationId xmlns:a16="http://schemas.microsoft.com/office/drawing/2014/main" id="{505DDF27-AA44-4BD4-BC37-5CBC552E2D9F}"/>
              </a:ext>
            </a:extLst>
          </p:cNvPr>
          <p:cNvSpPr>
            <a:spLocks noGrp="1" noChangeArrowheads="1"/>
          </p:cNvSpPr>
          <p:nvPr>
            <p:ph type="title"/>
          </p:nvPr>
        </p:nvSpPr>
        <p:spPr/>
        <p:txBody>
          <a:bodyPr/>
          <a:lstStyle/>
          <a:p>
            <a:r>
              <a:rPr lang="en-US" altLang="en-US"/>
              <a:t>Resources</a:t>
            </a:r>
          </a:p>
        </p:txBody>
      </p:sp>
      <p:sp>
        <p:nvSpPr>
          <p:cNvPr id="10245" name="Rectangle 5">
            <a:extLst>
              <a:ext uri="{FF2B5EF4-FFF2-40B4-BE49-F238E27FC236}">
                <a16:creationId xmlns:a16="http://schemas.microsoft.com/office/drawing/2014/main" id="{20ACCD33-2EF2-4EEF-B343-F0B90BC86B8B}"/>
              </a:ext>
            </a:extLst>
          </p:cNvPr>
          <p:cNvSpPr>
            <a:spLocks noGrp="1" noChangeArrowheads="1"/>
          </p:cNvSpPr>
          <p:nvPr>
            <p:ph type="body" idx="1"/>
          </p:nvPr>
        </p:nvSpPr>
        <p:spPr>
          <a:xfrm>
            <a:off x="628650" y="1825624"/>
            <a:ext cx="7886700" cy="4742323"/>
          </a:xfrm>
        </p:spPr>
        <p:txBody>
          <a:bodyPr>
            <a:normAutofit fontScale="92500" lnSpcReduction="20000"/>
          </a:bodyPr>
          <a:lstStyle/>
          <a:p>
            <a:pPr>
              <a:lnSpc>
                <a:spcPct val="90000"/>
              </a:lnSpc>
            </a:pPr>
            <a:r>
              <a:rPr lang="en-US" altLang="en-US" sz="2520" dirty="0"/>
              <a:t>The key abstraction of information in REST is a resource.</a:t>
            </a:r>
          </a:p>
          <a:p>
            <a:pPr>
              <a:lnSpc>
                <a:spcPct val="90000"/>
              </a:lnSpc>
            </a:pPr>
            <a:endParaRPr lang="en-US" altLang="en-US" sz="2520" dirty="0"/>
          </a:p>
          <a:p>
            <a:pPr>
              <a:lnSpc>
                <a:spcPct val="90000"/>
              </a:lnSpc>
            </a:pPr>
            <a:r>
              <a:rPr lang="en-US" altLang="en-US" sz="2520" dirty="0"/>
              <a:t>A resource is a conceptual mapping to a set of entities</a:t>
            </a:r>
          </a:p>
          <a:p>
            <a:pPr lvl="1">
              <a:lnSpc>
                <a:spcPct val="90000"/>
              </a:lnSpc>
            </a:pPr>
            <a:r>
              <a:rPr lang="en-US" altLang="en-US" sz="2160" dirty="0"/>
              <a:t>Any information that can be named can be a resource: a document or image, a temporal service (e.g. "today's weather in Los Angeles"), a collection of other resources, a non-virtual object (e.g. a person), and so on</a:t>
            </a:r>
          </a:p>
          <a:p>
            <a:pPr lvl="1">
              <a:lnSpc>
                <a:spcPct val="90000"/>
              </a:lnSpc>
            </a:pPr>
            <a:endParaRPr lang="en-US" altLang="en-US" sz="2160" dirty="0"/>
          </a:p>
          <a:p>
            <a:pPr>
              <a:lnSpc>
                <a:spcPct val="90000"/>
              </a:lnSpc>
            </a:pPr>
            <a:r>
              <a:rPr lang="en-US" altLang="en-US" sz="2520" dirty="0"/>
              <a:t>Represented with a global identifier (URL in HTTP)</a:t>
            </a:r>
          </a:p>
          <a:p>
            <a:pPr>
              <a:lnSpc>
                <a:spcPct val="90000"/>
              </a:lnSpc>
            </a:pPr>
            <a:endParaRPr lang="en-US" altLang="en-US" sz="2520" dirty="0"/>
          </a:p>
          <a:p>
            <a:r>
              <a:rPr lang="en-US" altLang="en-US" dirty="0">
                <a:ea typeface="ＭＳ Ｐゴシック" panose="020B0600070205080204" pitchFamily="34" charset="-128"/>
              </a:rPr>
              <a:t>Each resource is </a:t>
            </a:r>
            <a:r>
              <a:rPr lang="en-US" altLang="en-US" u="sng" dirty="0">
                <a:ea typeface="ＭＳ Ｐゴシック" panose="020B0600070205080204" pitchFamily="34" charset="-128"/>
              </a:rPr>
              <a:t>linked</a:t>
            </a:r>
            <a:r>
              <a:rPr lang="en-US" altLang="en-US" dirty="0">
                <a:ea typeface="ＭＳ Ｐゴシック" panose="020B0600070205080204" pitchFamily="34" charset="-128"/>
              </a:rPr>
              <a:t> to other resources.</a:t>
            </a:r>
          </a:p>
          <a:p>
            <a:pPr>
              <a:lnSpc>
                <a:spcPct val="90000"/>
              </a:lnSpc>
            </a:pPr>
            <a:endParaRPr lang="en-US" altLang="en-US" sz="2520" dirty="0"/>
          </a:p>
          <a:p>
            <a:pPr>
              <a:lnSpc>
                <a:spcPct val="90000"/>
              </a:lnSpc>
            </a:pPr>
            <a:endParaRPr lang="en-US" altLang="en-US" sz="2520" dirty="0"/>
          </a:p>
          <a:p>
            <a:pPr lvl="1">
              <a:lnSpc>
                <a:spcPct val="90000"/>
              </a:lnSpc>
            </a:pPr>
            <a:r>
              <a:rPr lang="en-US" altLang="en-US" sz="2160" dirty="0"/>
              <a:t>http://www.boeing.com/aircraft/747</a:t>
            </a:r>
          </a:p>
        </p:txBody>
      </p:sp>
    </p:spTree>
    <p:extLst>
      <p:ext uri="{BB962C8B-B14F-4D97-AF65-F5344CB8AC3E}">
        <p14:creationId xmlns:p14="http://schemas.microsoft.com/office/powerpoint/2010/main" val="208538485"/>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a:extLst>
              <a:ext uri="{FF2B5EF4-FFF2-40B4-BE49-F238E27FC236}">
                <a16:creationId xmlns:a16="http://schemas.microsoft.com/office/drawing/2014/main" id="{E570B16F-6B77-4146-8F2E-75A26CFA25C8}"/>
              </a:ext>
            </a:extLst>
          </p:cNvPr>
          <p:cNvSpPr>
            <a:spLocks noGrp="1" noChangeArrowheads="1"/>
          </p:cNvSpPr>
          <p:nvPr>
            <p:ph type="title"/>
          </p:nvPr>
        </p:nvSpPr>
        <p:spPr/>
        <p:txBody>
          <a:bodyPr/>
          <a:lstStyle/>
          <a:p>
            <a:r>
              <a:rPr lang="en-US" altLang="en-US"/>
              <a:t>Naming Resources</a:t>
            </a:r>
          </a:p>
        </p:txBody>
      </p:sp>
      <p:sp>
        <p:nvSpPr>
          <p:cNvPr id="234499" name="Rectangle 3">
            <a:extLst>
              <a:ext uri="{FF2B5EF4-FFF2-40B4-BE49-F238E27FC236}">
                <a16:creationId xmlns:a16="http://schemas.microsoft.com/office/drawing/2014/main" id="{F4D3458F-0B1C-4052-ADF5-F6A8FDB3FD4E}"/>
              </a:ext>
            </a:extLst>
          </p:cNvPr>
          <p:cNvSpPr>
            <a:spLocks noGrp="1" noChangeArrowheads="1"/>
          </p:cNvSpPr>
          <p:nvPr>
            <p:ph type="body" idx="1"/>
          </p:nvPr>
        </p:nvSpPr>
        <p:spPr/>
        <p:txBody>
          <a:bodyPr>
            <a:normAutofit lnSpcReduction="10000"/>
          </a:bodyPr>
          <a:lstStyle/>
          <a:p>
            <a:pPr>
              <a:lnSpc>
                <a:spcPct val="90000"/>
              </a:lnSpc>
            </a:pPr>
            <a:r>
              <a:rPr lang="en-US" altLang="en-US" sz="2520" dirty="0"/>
              <a:t>REST uses URL to identify resources</a:t>
            </a:r>
          </a:p>
          <a:p>
            <a:pPr>
              <a:lnSpc>
                <a:spcPct val="90000"/>
              </a:lnSpc>
            </a:pPr>
            <a:endParaRPr lang="en-US" altLang="en-US" sz="2520" dirty="0"/>
          </a:p>
          <a:p>
            <a:pPr lvl="1">
              <a:lnSpc>
                <a:spcPct val="90000"/>
              </a:lnSpc>
            </a:pPr>
            <a:r>
              <a:rPr lang="en-US" altLang="en-US" sz="1980" dirty="0">
                <a:hlinkClick r:id="rId2"/>
              </a:rPr>
              <a:t>http://localhost/books/</a:t>
            </a:r>
            <a:endParaRPr lang="en-US" altLang="en-US" sz="1980" dirty="0"/>
          </a:p>
          <a:p>
            <a:pPr lvl="1">
              <a:lnSpc>
                <a:spcPct val="90000"/>
              </a:lnSpc>
            </a:pPr>
            <a:r>
              <a:rPr lang="en-US" altLang="en-US" sz="1980" dirty="0">
                <a:hlinkClick r:id="rId3"/>
              </a:rPr>
              <a:t>http://localhost/books/ISBN-0011</a:t>
            </a:r>
            <a:endParaRPr lang="en-US" altLang="en-US" sz="1980" dirty="0"/>
          </a:p>
          <a:p>
            <a:pPr lvl="1">
              <a:lnSpc>
                <a:spcPct val="90000"/>
              </a:lnSpc>
            </a:pPr>
            <a:r>
              <a:rPr lang="en-US" altLang="en-US" sz="1980" dirty="0">
                <a:hlinkClick r:id="rId4"/>
              </a:rPr>
              <a:t>http://localhost/books/ISBN-0011/authors</a:t>
            </a:r>
            <a:endParaRPr lang="en-US" altLang="en-US" sz="1980" dirty="0"/>
          </a:p>
          <a:p>
            <a:pPr lvl="1">
              <a:lnSpc>
                <a:spcPct val="90000"/>
              </a:lnSpc>
            </a:pPr>
            <a:endParaRPr lang="en-US" altLang="en-US" sz="1980" dirty="0"/>
          </a:p>
          <a:p>
            <a:pPr lvl="1">
              <a:lnSpc>
                <a:spcPct val="90000"/>
              </a:lnSpc>
            </a:pPr>
            <a:r>
              <a:rPr lang="en-US" altLang="en-US" sz="1980" dirty="0">
                <a:hlinkClick r:id="rId5"/>
              </a:rPr>
              <a:t>http://localhost/classes</a:t>
            </a:r>
            <a:endParaRPr lang="en-US" altLang="en-US" sz="1980" dirty="0"/>
          </a:p>
          <a:p>
            <a:pPr lvl="1">
              <a:lnSpc>
                <a:spcPct val="90000"/>
              </a:lnSpc>
            </a:pPr>
            <a:r>
              <a:rPr lang="en-US" altLang="en-US" sz="1980" dirty="0">
                <a:hlinkClick r:id="rId6"/>
              </a:rPr>
              <a:t>http://localhost/classes/cs2650</a:t>
            </a:r>
            <a:endParaRPr lang="en-US" altLang="en-US" sz="1980" dirty="0"/>
          </a:p>
          <a:p>
            <a:pPr lvl="1">
              <a:lnSpc>
                <a:spcPct val="90000"/>
              </a:lnSpc>
            </a:pPr>
            <a:r>
              <a:rPr lang="en-US" altLang="en-US" sz="1980" dirty="0">
                <a:hlinkClick r:id="rId7"/>
              </a:rPr>
              <a:t>http://localhost/classes/cs2650/students</a:t>
            </a:r>
            <a:endParaRPr lang="en-US" altLang="en-US" sz="1980" dirty="0"/>
          </a:p>
          <a:p>
            <a:pPr lvl="1">
              <a:lnSpc>
                <a:spcPct val="90000"/>
              </a:lnSpc>
            </a:pPr>
            <a:endParaRPr lang="en-US" altLang="en-US" sz="1980" dirty="0"/>
          </a:p>
          <a:p>
            <a:pPr>
              <a:lnSpc>
                <a:spcPct val="90000"/>
              </a:lnSpc>
            </a:pPr>
            <a:r>
              <a:rPr lang="en-US" altLang="en-US" sz="2520" dirty="0"/>
              <a:t>As you traverse the path from more generic to more specific, you are navigating the data</a:t>
            </a:r>
          </a:p>
        </p:txBody>
      </p:sp>
    </p:spTree>
    <p:extLst>
      <p:ext uri="{BB962C8B-B14F-4D97-AF65-F5344CB8AC3E}">
        <p14:creationId xmlns:p14="http://schemas.microsoft.com/office/powerpoint/2010/main" val="2130054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5" name="Rectangle 9">
            <a:extLst>
              <a:ext uri="{FF2B5EF4-FFF2-40B4-BE49-F238E27FC236}">
                <a16:creationId xmlns:a16="http://schemas.microsoft.com/office/drawing/2014/main" id="{9D9CA516-990E-4929-AC0F-3A41566C7A6B}"/>
              </a:ext>
            </a:extLst>
          </p:cNvPr>
          <p:cNvSpPr>
            <a:spLocks noGrp="1" noChangeArrowheads="1"/>
          </p:cNvSpPr>
          <p:nvPr>
            <p:ph type="title"/>
          </p:nvPr>
        </p:nvSpPr>
        <p:spPr/>
        <p:txBody>
          <a:bodyPr/>
          <a:lstStyle/>
          <a:p>
            <a:r>
              <a:rPr lang="en-US" altLang="en-US"/>
              <a:t>Verbs</a:t>
            </a:r>
          </a:p>
        </p:txBody>
      </p:sp>
      <p:sp>
        <p:nvSpPr>
          <p:cNvPr id="9226" name="Rectangle 10">
            <a:extLst>
              <a:ext uri="{FF2B5EF4-FFF2-40B4-BE49-F238E27FC236}">
                <a16:creationId xmlns:a16="http://schemas.microsoft.com/office/drawing/2014/main" id="{ED95FABE-DC45-40D0-8885-AFA36D083467}"/>
              </a:ext>
            </a:extLst>
          </p:cNvPr>
          <p:cNvSpPr>
            <a:spLocks noGrp="1" noChangeArrowheads="1"/>
          </p:cNvSpPr>
          <p:nvPr>
            <p:ph type="body" idx="1"/>
          </p:nvPr>
        </p:nvSpPr>
        <p:spPr>
          <a:xfrm>
            <a:off x="628650" y="1451999"/>
            <a:ext cx="7886700" cy="4351338"/>
          </a:xfrm>
        </p:spPr>
        <p:txBody>
          <a:bodyPr/>
          <a:lstStyle/>
          <a:p>
            <a:r>
              <a:rPr lang="en-US" altLang="en-US" sz="2520" dirty="0"/>
              <a:t>Represent the actions to be performed on resources</a:t>
            </a:r>
          </a:p>
          <a:p>
            <a:r>
              <a:rPr lang="en-US" altLang="en-US" sz="2520" dirty="0"/>
              <a:t>HTTP GET, HTTP POST, HTTP PUT, HTTP DELETE</a:t>
            </a:r>
          </a:p>
        </p:txBody>
      </p:sp>
      <p:pic>
        <p:nvPicPr>
          <p:cNvPr id="2" name="Picture 1">
            <a:extLst>
              <a:ext uri="{FF2B5EF4-FFF2-40B4-BE49-F238E27FC236}">
                <a16:creationId xmlns:a16="http://schemas.microsoft.com/office/drawing/2014/main" id="{20EB3E29-3AA6-4452-8894-F9D9D338FB77}"/>
              </a:ext>
            </a:extLst>
          </p:cNvPr>
          <p:cNvPicPr>
            <a:picLocks noChangeAspect="1"/>
          </p:cNvPicPr>
          <p:nvPr/>
        </p:nvPicPr>
        <p:blipFill>
          <a:blip r:embed="rId2"/>
          <a:stretch>
            <a:fillRect/>
          </a:stretch>
        </p:blipFill>
        <p:spPr>
          <a:xfrm>
            <a:off x="765666" y="2395282"/>
            <a:ext cx="7749684" cy="3961069"/>
          </a:xfrm>
          <a:prstGeom prst="rect">
            <a:avLst/>
          </a:prstGeom>
        </p:spPr>
      </p:pic>
    </p:spTree>
    <p:extLst>
      <p:ext uri="{BB962C8B-B14F-4D97-AF65-F5344CB8AC3E}">
        <p14:creationId xmlns:p14="http://schemas.microsoft.com/office/powerpoint/2010/main" val="128047688"/>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a:extLst>
              <a:ext uri="{FF2B5EF4-FFF2-40B4-BE49-F238E27FC236}">
                <a16:creationId xmlns:a16="http://schemas.microsoft.com/office/drawing/2014/main" id="{4FE3A36F-0F84-44F6-A5C4-91AB72AE5FA7}"/>
              </a:ext>
            </a:extLst>
          </p:cNvPr>
          <p:cNvSpPr>
            <a:spLocks noGrp="1" noChangeArrowheads="1"/>
          </p:cNvSpPr>
          <p:nvPr>
            <p:ph type="title"/>
          </p:nvPr>
        </p:nvSpPr>
        <p:spPr/>
        <p:txBody>
          <a:bodyPr/>
          <a:lstStyle/>
          <a:p>
            <a:r>
              <a:rPr lang="en-US" altLang="en-US"/>
              <a:t>HTTP GET</a:t>
            </a:r>
          </a:p>
        </p:txBody>
      </p:sp>
      <p:sp>
        <p:nvSpPr>
          <p:cNvPr id="230403" name="Rectangle 3">
            <a:extLst>
              <a:ext uri="{FF2B5EF4-FFF2-40B4-BE49-F238E27FC236}">
                <a16:creationId xmlns:a16="http://schemas.microsoft.com/office/drawing/2014/main" id="{85CC0158-435E-4C90-BCC3-3C032DD80F24}"/>
              </a:ext>
            </a:extLst>
          </p:cNvPr>
          <p:cNvSpPr>
            <a:spLocks noGrp="1" noChangeArrowheads="1"/>
          </p:cNvSpPr>
          <p:nvPr>
            <p:ph type="body" idx="1"/>
          </p:nvPr>
        </p:nvSpPr>
        <p:spPr/>
        <p:txBody>
          <a:bodyPr>
            <a:normAutofit fontScale="92500" lnSpcReduction="10000"/>
          </a:bodyPr>
          <a:lstStyle/>
          <a:p>
            <a:pPr>
              <a:lnSpc>
                <a:spcPct val="90000"/>
              </a:lnSpc>
            </a:pPr>
            <a:r>
              <a:rPr lang="en-US" altLang="en-US" sz="2520"/>
              <a:t>How clients ask for the information they seek.</a:t>
            </a:r>
          </a:p>
          <a:p>
            <a:pPr>
              <a:lnSpc>
                <a:spcPct val="90000"/>
              </a:lnSpc>
            </a:pPr>
            <a:endParaRPr lang="en-US" altLang="en-US" sz="2520"/>
          </a:p>
          <a:p>
            <a:pPr>
              <a:lnSpc>
                <a:spcPct val="90000"/>
              </a:lnSpc>
            </a:pPr>
            <a:r>
              <a:rPr lang="en-US" altLang="en-US" sz="2520"/>
              <a:t>Issuing a GET request transfers the data from the server to the client in some representation</a:t>
            </a:r>
          </a:p>
          <a:p>
            <a:pPr>
              <a:lnSpc>
                <a:spcPct val="90000"/>
              </a:lnSpc>
            </a:pPr>
            <a:endParaRPr lang="en-US" altLang="en-US" sz="2520"/>
          </a:p>
          <a:p>
            <a:pPr>
              <a:lnSpc>
                <a:spcPct val="90000"/>
              </a:lnSpc>
            </a:pPr>
            <a:r>
              <a:rPr lang="en-US" altLang="en-US" sz="1800"/>
              <a:t>GET </a:t>
            </a:r>
            <a:r>
              <a:rPr lang="en-US" altLang="en-US" sz="1800">
                <a:hlinkClick r:id="rId2"/>
              </a:rPr>
              <a:t>http://localhost/books</a:t>
            </a:r>
            <a:endParaRPr lang="en-US" altLang="en-US" sz="1800"/>
          </a:p>
          <a:p>
            <a:pPr lvl="1">
              <a:lnSpc>
                <a:spcPct val="90000"/>
              </a:lnSpc>
            </a:pPr>
            <a:r>
              <a:rPr lang="en-US" altLang="en-US" sz="1710"/>
              <a:t>Retrieve all books</a:t>
            </a:r>
          </a:p>
          <a:p>
            <a:pPr lvl="1">
              <a:lnSpc>
                <a:spcPct val="90000"/>
              </a:lnSpc>
            </a:pPr>
            <a:endParaRPr lang="en-US" altLang="en-US" sz="1710"/>
          </a:p>
          <a:p>
            <a:pPr>
              <a:lnSpc>
                <a:spcPct val="90000"/>
              </a:lnSpc>
            </a:pPr>
            <a:r>
              <a:rPr lang="en-US" altLang="en-US" sz="1800"/>
              <a:t>GET </a:t>
            </a:r>
            <a:r>
              <a:rPr lang="en-US" altLang="en-US" sz="1800">
                <a:hlinkClick r:id="rId3"/>
              </a:rPr>
              <a:t>http://localhost/books/ISBN-0011021</a:t>
            </a:r>
            <a:endParaRPr lang="en-US" altLang="en-US" sz="1800"/>
          </a:p>
          <a:p>
            <a:pPr lvl="1">
              <a:lnSpc>
                <a:spcPct val="90000"/>
              </a:lnSpc>
            </a:pPr>
            <a:r>
              <a:rPr lang="en-US" altLang="en-US" sz="1710"/>
              <a:t>Retrieve book identified with ISBN-0011021</a:t>
            </a:r>
          </a:p>
          <a:p>
            <a:pPr lvl="1">
              <a:lnSpc>
                <a:spcPct val="90000"/>
              </a:lnSpc>
            </a:pPr>
            <a:endParaRPr lang="en-US" altLang="en-US" sz="1710"/>
          </a:p>
          <a:p>
            <a:pPr>
              <a:lnSpc>
                <a:spcPct val="90000"/>
              </a:lnSpc>
            </a:pPr>
            <a:r>
              <a:rPr lang="en-US" altLang="en-US" sz="1800"/>
              <a:t>GET </a:t>
            </a:r>
            <a:r>
              <a:rPr lang="en-US" altLang="en-US" sz="1800">
                <a:hlinkClick r:id="rId4"/>
              </a:rPr>
              <a:t>http://localhost/books/ISBN-0011021/authors</a:t>
            </a:r>
            <a:endParaRPr lang="en-US" altLang="en-US" sz="1800"/>
          </a:p>
          <a:p>
            <a:pPr lvl="1">
              <a:lnSpc>
                <a:spcPct val="90000"/>
              </a:lnSpc>
            </a:pPr>
            <a:r>
              <a:rPr lang="en-US" altLang="en-US" sz="1710"/>
              <a:t>Retrieve authors for book identified with ISBN-0011021</a:t>
            </a:r>
          </a:p>
        </p:txBody>
      </p:sp>
    </p:spTree>
    <p:extLst>
      <p:ext uri="{BB962C8B-B14F-4D97-AF65-F5344CB8AC3E}">
        <p14:creationId xmlns:p14="http://schemas.microsoft.com/office/powerpoint/2010/main" val="3188779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a:extLst>
              <a:ext uri="{FF2B5EF4-FFF2-40B4-BE49-F238E27FC236}">
                <a16:creationId xmlns:a16="http://schemas.microsoft.com/office/drawing/2014/main" id="{8E01F5B7-04A3-4042-B1AE-B142D4E6F4A1}"/>
              </a:ext>
            </a:extLst>
          </p:cNvPr>
          <p:cNvSpPr>
            <a:spLocks noGrp="1" noChangeArrowheads="1"/>
          </p:cNvSpPr>
          <p:nvPr>
            <p:ph type="title"/>
          </p:nvPr>
        </p:nvSpPr>
        <p:spPr/>
        <p:txBody>
          <a:bodyPr/>
          <a:lstStyle/>
          <a:p>
            <a:r>
              <a:rPr lang="en-US" altLang="en-US"/>
              <a:t>HTTP PUT, HTTP POST</a:t>
            </a:r>
          </a:p>
        </p:txBody>
      </p:sp>
      <p:sp>
        <p:nvSpPr>
          <p:cNvPr id="231427" name="Rectangle 3">
            <a:extLst>
              <a:ext uri="{FF2B5EF4-FFF2-40B4-BE49-F238E27FC236}">
                <a16:creationId xmlns:a16="http://schemas.microsoft.com/office/drawing/2014/main" id="{8C46ACF2-26BB-422B-91F5-19B0D69F6C63}"/>
              </a:ext>
            </a:extLst>
          </p:cNvPr>
          <p:cNvSpPr>
            <a:spLocks noGrp="1" noChangeArrowheads="1"/>
          </p:cNvSpPr>
          <p:nvPr>
            <p:ph type="body" idx="1"/>
          </p:nvPr>
        </p:nvSpPr>
        <p:spPr/>
        <p:txBody>
          <a:bodyPr/>
          <a:lstStyle/>
          <a:p>
            <a:r>
              <a:rPr lang="en-US" altLang="en-US" sz="2520"/>
              <a:t>HTTP POST creates a resource</a:t>
            </a:r>
          </a:p>
          <a:p>
            <a:r>
              <a:rPr lang="en-US" altLang="en-US" sz="2520"/>
              <a:t>HTTP PUT updates a resource</a:t>
            </a:r>
          </a:p>
          <a:p>
            <a:endParaRPr lang="en-US" altLang="en-US" sz="2520"/>
          </a:p>
          <a:p>
            <a:r>
              <a:rPr lang="en-US" altLang="en-US" sz="2520"/>
              <a:t>POST </a:t>
            </a:r>
            <a:r>
              <a:rPr lang="en-US" altLang="en-US" sz="2520">
                <a:hlinkClick r:id="rId2"/>
              </a:rPr>
              <a:t>http://localhost/books/</a:t>
            </a:r>
            <a:r>
              <a:rPr lang="en-US" altLang="en-US" sz="2520"/>
              <a:t>  </a:t>
            </a:r>
          </a:p>
          <a:p>
            <a:pPr lvl="1"/>
            <a:r>
              <a:rPr lang="en-US" altLang="en-US" sz="1800"/>
              <a:t>Content: {title, authors[], …}</a:t>
            </a:r>
          </a:p>
          <a:p>
            <a:pPr lvl="1"/>
            <a:r>
              <a:rPr lang="en-US" altLang="en-US" sz="1800"/>
              <a:t>Creates a new book with given properties</a:t>
            </a:r>
          </a:p>
          <a:p>
            <a:pPr lvl="1"/>
            <a:endParaRPr lang="en-US" altLang="en-US" sz="1800"/>
          </a:p>
          <a:p>
            <a:r>
              <a:rPr lang="en-US" altLang="en-US" sz="2520"/>
              <a:t>PUT </a:t>
            </a:r>
            <a:r>
              <a:rPr lang="en-US" altLang="en-US" sz="2520">
                <a:hlinkClick r:id="rId3"/>
              </a:rPr>
              <a:t>http://localhost/books/isbn-111</a:t>
            </a:r>
            <a:r>
              <a:rPr lang="en-US" altLang="en-US" sz="2520"/>
              <a:t> </a:t>
            </a:r>
          </a:p>
          <a:p>
            <a:pPr lvl="1"/>
            <a:r>
              <a:rPr lang="en-US" altLang="en-US" sz="1800"/>
              <a:t>Content: {isbn, title, authors[], …}</a:t>
            </a:r>
          </a:p>
          <a:p>
            <a:pPr lvl="1"/>
            <a:r>
              <a:rPr lang="en-US" altLang="en-US" sz="1800"/>
              <a:t>Updates book identified by isbn-111 with submitted properties</a:t>
            </a:r>
          </a:p>
        </p:txBody>
      </p:sp>
    </p:spTree>
    <p:extLst>
      <p:ext uri="{BB962C8B-B14F-4D97-AF65-F5344CB8AC3E}">
        <p14:creationId xmlns:p14="http://schemas.microsoft.com/office/powerpoint/2010/main" val="14095357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a:extLst>
              <a:ext uri="{FF2B5EF4-FFF2-40B4-BE49-F238E27FC236}">
                <a16:creationId xmlns:a16="http://schemas.microsoft.com/office/drawing/2014/main" id="{9D1D8B59-F312-4A86-9568-5ECD687D9D83}"/>
              </a:ext>
            </a:extLst>
          </p:cNvPr>
          <p:cNvSpPr>
            <a:spLocks noGrp="1" noChangeArrowheads="1"/>
          </p:cNvSpPr>
          <p:nvPr>
            <p:ph type="title"/>
          </p:nvPr>
        </p:nvSpPr>
        <p:spPr/>
        <p:txBody>
          <a:bodyPr/>
          <a:lstStyle/>
          <a:p>
            <a:r>
              <a:rPr lang="en-US" altLang="en-US"/>
              <a:t>HTTP DELETE</a:t>
            </a:r>
          </a:p>
        </p:txBody>
      </p:sp>
      <p:sp>
        <p:nvSpPr>
          <p:cNvPr id="232451" name="Rectangle 3">
            <a:extLst>
              <a:ext uri="{FF2B5EF4-FFF2-40B4-BE49-F238E27FC236}">
                <a16:creationId xmlns:a16="http://schemas.microsoft.com/office/drawing/2014/main" id="{577961EA-7EB5-4812-B881-BE14EC45822A}"/>
              </a:ext>
            </a:extLst>
          </p:cNvPr>
          <p:cNvSpPr>
            <a:spLocks noGrp="1" noChangeArrowheads="1"/>
          </p:cNvSpPr>
          <p:nvPr>
            <p:ph type="body" idx="1"/>
          </p:nvPr>
        </p:nvSpPr>
        <p:spPr/>
        <p:txBody>
          <a:bodyPr/>
          <a:lstStyle/>
          <a:p>
            <a:r>
              <a:rPr lang="en-US" altLang="en-US" sz="2520"/>
              <a:t>Removes the resource identified by the URI</a:t>
            </a:r>
          </a:p>
          <a:p>
            <a:endParaRPr lang="en-US" altLang="en-US" sz="2520"/>
          </a:p>
          <a:p>
            <a:r>
              <a:rPr lang="en-US" altLang="en-US" sz="2520"/>
              <a:t>DELETE </a:t>
            </a:r>
            <a:r>
              <a:rPr lang="en-US" altLang="en-US" sz="2520">
                <a:hlinkClick r:id="rId2"/>
              </a:rPr>
              <a:t>http://localhost/books/ISBN-0011</a:t>
            </a:r>
            <a:endParaRPr lang="en-US" altLang="en-US" sz="2520"/>
          </a:p>
          <a:p>
            <a:pPr lvl="1"/>
            <a:r>
              <a:rPr lang="en-US" altLang="en-US" sz="2160"/>
              <a:t>Delete book identified by ISBN-0011</a:t>
            </a:r>
          </a:p>
        </p:txBody>
      </p:sp>
    </p:spTree>
    <p:extLst>
      <p:ext uri="{BB962C8B-B14F-4D97-AF65-F5344CB8AC3E}">
        <p14:creationId xmlns:p14="http://schemas.microsoft.com/office/powerpoint/2010/main" val="11758956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4">
            <a:extLst>
              <a:ext uri="{FF2B5EF4-FFF2-40B4-BE49-F238E27FC236}">
                <a16:creationId xmlns:a16="http://schemas.microsoft.com/office/drawing/2014/main" id="{C106A4E8-880F-4226-8928-F1E7377FD371}"/>
              </a:ext>
            </a:extLst>
          </p:cNvPr>
          <p:cNvSpPr>
            <a:spLocks noGrp="1" noChangeArrowheads="1"/>
          </p:cNvSpPr>
          <p:nvPr>
            <p:ph type="title"/>
          </p:nvPr>
        </p:nvSpPr>
        <p:spPr/>
        <p:txBody>
          <a:bodyPr/>
          <a:lstStyle/>
          <a:p>
            <a:r>
              <a:rPr lang="en-US" altLang="en-US"/>
              <a:t>Representations</a:t>
            </a:r>
          </a:p>
        </p:txBody>
      </p:sp>
      <p:sp>
        <p:nvSpPr>
          <p:cNvPr id="11269" name="Rectangle 5">
            <a:extLst>
              <a:ext uri="{FF2B5EF4-FFF2-40B4-BE49-F238E27FC236}">
                <a16:creationId xmlns:a16="http://schemas.microsoft.com/office/drawing/2014/main" id="{D1BA1555-ED86-41FB-9C7F-DC748D81E2B8}"/>
              </a:ext>
            </a:extLst>
          </p:cNvPr>
          <p:cNvSpPr>
            <a:spLocks noGrp="1" noChangeArrowheads="1"/>
          </p:cNvSpPr>
          <p:nvPr>
            <p:ph type="body" idx="1"/>
          </p:nvPr>
        </p:nvSpPr>
        <p:spPr/>
        <p:txBody>
          <a:bodyPr>
            <a:normAutofit lnSpcReduction="10000"/>
          </a:bodyPr>
          <a:lstStyle/>
          <a:p>
            <a:pPr>
              <a:lnSpc>
                <a:spcPct val="90000"/>
              </a:lnSpc>
            </a:pPr>
            <a:r>
              <a:rPr lang="en-US" altLang="en-US" sz="2520"/>
              <a:t>How data is represented or returned to the client for presentation.</a:t>
            </a:r>
          </a:p>
          <a:p>
            <a:pPr>
              <a:lnSpc>
                <a:spcPct val="90000"/>
              </a:lnSpc>
            </a:pPr>
            <a:endParaRPr lang="en-US" altLang="en-US" sz="2520"/>
          </a:p>
          <a:p>
            <a:pPr>
              <a:lnSpc>
                <a:spcPct val="90000"/>
              </a:lnSpc>
            </a:pPr>
            <a:r>
              <a:rPr lang="en-US" altLang="en-US" sz="2520"/>
              <a:t>Two main formats:</a:t>
            </a:r>
          </a:p>
          <a:p>
            <a:pPr>
              <a:lnSpc>
                <a:spcPct val="90000"/>
              </a:lnSpc>
            </a:pPr>
            <a:endParaRPr lang="en-US" altLang="en-US" sz="2520"/>
          </a:p>
          <a:p>
            <a:pPr lvl="1">
              <a:lnSpc>
                <a:spcPct val="90000"/>
              </a:lnSpc>
            </a:pPr>
            <a:r>
              <a:rPr lang="en-US" altLang="en-US" sz="2520"/>
              <a:t>JavaScript Object Notation (JSON)</a:t>
            </a:r>
          </a:p>
          <a:p>
            <a:pPr>
              <a:lnSpc>
                <a:spcPct val="90000"/>
              </a:lnSpc>
            </a:pPr>
            <a:endParaRPr lang="en-US" altLang="en-US" sz="2520"/>
          </a:p>
          <a:p>
            <a:pPr lvl="1">
              <a:lnSpc>
                <a:spcPct val="90000"/>
              </a:lnSpc>
            </a:pPr>
            <a:r>
              <a:rPr lang="en-US" altLang="en-US" sz="2520"/>
              <a:t>XML</a:t>
            </a:r>
          </a:p>
          <a:p>
            <a:pPr lvl="1">
              <a:lnSpc>
                <a:spcPct val="90000"/>
              </a:lnSpc>
            </a:pPr>
            <a:endParaRPr lang="en-US" altLang="en-US" sz="2520"/>
          </a:p>
          <a:p>
            <a:pPr>
              <a:lnSpc>
                <a:spcPct val="90000"/>
              </a:lnSpc>
            </a:pPr>
            <a:r>
              <a:rPr lang="en-US" altLang="en-US" sz="2520"/>
              <a:t>It is common to have multiple representations of the same data</a:t>
            </a:r>
          </a:p>
        </p:txBody>
      </p:sp>
    </p:spTree>
    <p:extLst>
      <p:ext uri="{BB962C8B-B14F-4D97-AF65-F5344CB8AC3E}">
        <p14:creationId xmlns:p14="http://schemas.microsoft.com/office/powerpoint/2010/main" val="2133938768"/>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EFDE40B5-FD14-4DFE-B250-C202D730755D}"/>
              </a:ext>
            </a:extLst>
          </p:cNvPr>
          <p:cNvSpPr>
            <a:spLocks noGrp="1" noChangeArrowheads="1"/>
          </p:cNvSpPr>
          <p:nvPr>
            <p:ph type="title"/>
          </p:nvPr>
        </p:nvSpPr>
        <p:spPr/>
        <p:txBody>
          <a:bodyPr/>
          <a:lstStyle/>
          <a:p>
            <a:r>
              <a:rPr lang="en-US" altLang="en-US"/>
              <a:t>Representations</a:t>
            </a:r>
          </a:p>
        </p:txBody>
      </p:sp>
      <p:sp>
        <p:nvSpPr>
          <p:cNvPr id="240643" name="Rectangle 3">
            <a:extLst>
              <a:ext uri="{FF2B5EF4-FFF2-40B4-BE49-F238E27FC236}">
                <a16:creationId xmlns:a16="http://schemas.microsoft.com/office/drawing/2014/main" id="{19541F48-5122-4DF7-B5CE-AFD99DD328E5}"/>
              </a:ext>
            </a:extLst>
          </p:cNvPr>
          <p:cNvSpPr>
            <a:spLocks noGrp="1" noChangeArrowheads="1"/>
          </p:cNvSpPr>
          <p:nvPr>
            <p:ph type="body" idx="1"/>
          </p:nvPr>
        </p:nvSpPr>
        <p:spPr/>
        <p:txBody>
          <a:bodyPr/>
          <a:lstStyle/>
          <a:p>
            <a:r>
              <a:rPr lang="en-US" altLang="en-US" sz="2520"/>
              <a:t>XML</a:t>
            </a:r>
          </a:p>
          <a:p>
            <a:endParaRPr lang="en-US" altLang="en-US" sz="1440"/>
          </a:p>
          <a:p>
            <a:pPr lvl="1"/>
            <a:r>
              <a:rPr lang="en-US" altLang="en-US" sz="1620"/>
              <a:t>&lt;COURSE&gt;</a:t>
            </a:r>
          </a:p>
          <a:p>
            <a:pPr lvl="2"/>
            <a:r>
              <a:rPr lang="en-US" altLang="en-US" sz="1620"/>
              <a:t>&lt;ID&gt;CS2650&lt;/ID&gt;</a:t>
            </a:r>
          </a:p>
          <a:p>
            <a:pPr lvl="2"/>
            <a:r>
              <a:rPr lang="en-US" altLang="en-US" sz="1620"/>
              <a:t>&lt;NAME&gt;Distributed Multimedia Software&lt;/NAME&gt;</a:t>
            </a:r>
          </a:p>
          <a:p>
            <a:pPr lvl="1"/>
            <a:r>
              <a:rPr lang="en-US" altLang="en-US" sz="1620"/>
              <a:t>&lt;/COURSE&gt;</a:t>
            </a:r>
          </a:p>
          <a:p>
            <a:pPr lvl="1"/>
            <a:endParaRPr lang="en-US" altLang="en-US" sz="1260"/>
          </a:p>
          <a:p>
            <a:r>
              <a:rPr lang="en-US" altLang="en-US" sz="2520"/>
              <a:t>JSON</a:t>
            </a:r>
          </a:p>
          <a:p>
            <a:endParaRPr lang="en-US" altLang="en-US" sz="2520"/>
          </a:p>
          <a:p>
            <a:pPr lvl="1"/>
            <a:r>
              <a:rPr lang="en-US" altLang="en-US" sz="1620"/>
              <a:t>{course</a:t>
            </a:r>
          </a:p>
          <a:p>
            <a:pPr lvl="2"/>
            <a:r>
              <a:rPr lang="en-US" altLang="en-US" sz="1620"/>
              <a:t>{id: CS2650}</a:t>
            </a:r>
          </a:p>
          <a:p>
            <a:pPr lvl="2"/>
            <a:r>
              <a:rPr lang="en-US" altLang="en-US" sz="1620"/>
              <a:t>{name: Distributed Multimedia Sofware}</a:t>
            </a:r>
          </a:p>
          <a:p>
            <a:pPr lvl="1"/>
            <a:r>
              <a:rPr lang="en-US" altLang="en-US" sz="1620"/>
              <a:t>}</a:t>
            </a:r>
          </a:p>
        </p:txBody>
      </p:sp>
    </p:spTree>
    <p:extLst>
      <p:ext uri="{BB962C8B-B14F-4D97-AF65-F5344CB8AC3E}">
        <p14:creationId xmlns:p14="http://schemas.microsoft.com/office/powerpoint/2010/main" val="21319688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367FF2C8-1574-4FCF-9E94-05D846770525}"/>
              </a:ext>
            </a:extLst>
          </p:cNvPr>
          <p:cNvSpPr>
            <a:spLocks noGrp="1" noChangeArrowheads="1"/>
          </p:cNvSpPr>
          <p:nvPr>
            <p:ph type="title"/>
          </p:nvPr>
        </p:nvSpPr>
        <p:spPr/>
        <p:txBody>
          <a:bodyPr/>
          <a:lstStyle/>
          <a:p>
            <a:r>
              <a:rPr lang="en-US" altLang="en-US"/>
              <a:t>Why is it called </a:t>
            </a:r>
            <a:br>
              <a:rPr lang="en-US" altLang="en-US"/>
            </a:br>
            <a:r>
              <a:rPr lang="en-US" altLang="en-US"/>
              <a:t>"Representational State Transfer"?</a:t>
            </a:r>
          </a:p>
        </p:txBody>
      </p:sp>
      <p:sp>
        <p:nvSpPr>
          <p:cNvPr id="99331" name="Oval 3">
            <a:extLst>
              <a:ext uri="{FF2B5EF4-FFF2-40B4-BE49-F238E27FC236}">
                <a16:creationId xmlns:a16="http://schemas.microsoft.com/office/drawing/2014/main" id="{34F84FD2-737B-4DD5-8C90-358207F7E061}"/>
              </a:ext>
            </a:extLst>
          </p:cNvPr>
          <p:cNvSpPr>
            <a:spLocks noChangeArrowheads="1"/>
          </p:cNvSpPr>
          <p:nvPr/>
        </p:nvSpPr>
        <p:spPr bwMode="auto">
          <a:xfrm>
            <a:off x="6316504" y="2001679"/>
            <a:ext cx="1558766" cy="1471613"/>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9" tIns="45719" rIns="91439" bIns="45719" anchor="ct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algn="ctr" eaLnBrk="0" hangingPunct="0"/>
            <a:r>
              <a:rPr lang="en-US" altLang="en-US" sz="1800"/>
              <a:t>Resource</a:t>
            </a:r>
          </a:p>
        </p:txBody>
      </p:sp>
      <p:sp>
        <p:nvSpPr>
          <p:cNvPr id="99332" name="Rectangle 4">
            <a:extLst>
              <a:ext uri="{FF2B5EF4-FFF2-40B4-BE49-F238E27FC236}">
                <a16:creationId xmlns:a16="http://schemas.microsoft.com/office/drawing/2014/main" id="{79A06A6C-FD2B-436C-900C-04BF710E022F}"/>
              </a:ext>
            </a:extLst>
          </p:cNvPr>
          <p:cNvSpPr>
            <a:spLocks noChangeArrowheads="1"/>
          </p:cNvSpPr>
          <p:nvPr/>
        </p:nvSpPr>
        <p:spPr bwMode="auto">
          <a:xfrm>
            <a:off x="1157288" y="2244567"/>
            <a:ext cx="1284447" cy="102584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9" tIns="45719" rIns="91439" bIns="45719" anchor="ct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algn="ctr" eaLnBrk="0" hangingPunct="0"/>
            <a:r>
              <a:rPr lang="en-US" altLang="en-US" sz="1800"/>
              <a:t>Client</a:t>
            </a:r>
          </a:p>
        </p:txBody>
      </p:sp>
      <p:sp>
        <p:nvSpPr>
          <p:cNvPr id="99333" name="Line 5">
            <a:extLst>
              <a:ext uri="{FF2B5EF4-FFF2-40B4-BE49-F238E27FC236}">
                <a16:creationId xmlns:a16="http://schemas.microsoft.com/office/drawing/2014/main" id="{437F2516-4581-4B1C-A61B-AB2009F9C3A9}"/>
              </a:ext>
            </a:extLst>
          </p:cNvPr>
          <p:cNvSpPr>
            <a:spLocks noChangeShapeType="1"/>
          </p:cNvSpPr>
          <p:nvPr/>
        </p:nvSpPr>
        <p:spPr bwMode="auto">
          <a:xfrm flipV="1">
            <a:off x="2441735" y="2691765"/>
            <a:ext cx="37961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99334" name="Text Box 6">
            <a:extLst>
              <a:ext uri="{FF2B5EF4-FFF2-40B4-BE49-F238E27FC236}">
                <a16:creationId xmlns:a16="http://schemas.microsoft.com/office/drawing/2014/main" id="{DF9C0AD0-C7A6-4CAE-B7D7-B4E8A87909FD}"/>
              </a:ext>
            </a:extLst>
          </p:cNvPr>
          <p:cNvSpPr txBox="1">
            <a:spLocks noChangeArrowheads="1"/>
          </p:cNvSpPr>
          <p:nvPr/>
        </p:nvSpPr>
        <p:spPr bwMode="auto">
          <a:xfrm>
            <a:off x="2567464" y="2340293"/>
            <a:ext cx="3503906" cy="369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9" tIns="45719" rIns="91439" bIns="45719">
            <a:spAutoFit/>
          </a:bodyP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1800"/>
              <a:t>http://www.boeing.com/aircraft/747</a:t>
            </a:r>
          </a:p>
        </p:txBody>
      </p:sp>
      <p:sp>
        <p:nvSpPr>
          <p:cNvPr id="99335" name="Line 7">
            <a:extLst>
              <a:ext uri="{FF2B5EF4-FFF2-40B4-BE49-F238E27FC236}">
                <a16:creationId xmlns:a16="http://schemas.microsoft.com/office/drawing/2014/main" id="{26B42B7F-B52D-4A41-B59A-9F492834B33C}"/>
              </a:ext>
            </a:extLst>
          </p:cNvPr>
          <p:cNvSpPr>
            <a:spLocks noChangeShapeType="1"/>
          </p:cNvSpPr>
          <p:nvPr/>
        </p:nvSpPr>
        <p:spPr bwMode="auto">
          <a:xfrm flipH="1">
            <a:off x="2471738" y="2851785"/>
            <a:ext cx="382333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99336" name="Line 8">
            <a:extLst>
              <a:ext uri="{FF2B5EF4-FFF2-40B4-BE49-F238E27FC236}">
                <a16:creationId xmlns:a16="http://schemas.microsoft.com/office/drawing/2014/main" id="{7ADD9368-D1C9-4DA7-8B5E-7772E99B2D8B}"/>
              </a:ext>
            </a:extLst>
          </p:cNvPr>
          <p:cNvSpPr>
            <a:spLocks noChangeShapeType="1"/>
          </p:cNvSpPr>
          <p:nvPr/>
        </p:nvSpPr>
        <p:spPr bwMode="auto">
          <a:xfrm>
            <a:off x="3453289" y="2883218"/>
            <a:ext cx="0" cy="1037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99337" name="Line 9">
            <a:extLst>
              <a:ext uri="{FF2B5EF4-FFF2-40B4-BE49-F238E27FC236}">
                <a16:creationId xmlns:a16="http://schemas.microsoft.com/office/drawing/2014/main" id="{3DEC4946-538B-4DA8-AFCD-889516998C7F}"/>
              </a:ext>
            </a:extLst>
          </p:cNvPr>
          <p:cNvSpPr>
            <a:spLocks noChangeShapeType="1"/>
          </p:cNvSpPr>
          <p:nvPr/>
        </p:nvSpPr>
        <p:spPr bwMode="auto">
          <a:xfrm>
            <a:off x="5219224" y="3034665"/>
            <a:ext cx="0" cy="10387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99338" name="Text Box 10">
            <a:extLst>
              <a:ext uri="{FF2B5EF4-FFF2-40B4-BE49-F238E27FC236}">
                <a16:creationId xmlns:a16="http://schemas.microsoft.com/office/drawing/2014/main" id="{07BE01BC-60C2-4EB0-BE14-76B53BA21775}"/>
              </a:ext>
            </a:extLst>
          </p:cNvPr>
          <p:cNvSpPr txBox="1">
            <a:spLocks noChangeArrowheads="1"/>
          </p:cNvSpPr>
          <p:nvPr/>
        </p:nvSpPr>
        <p:spPr bwMode="auto">
          <a:xfrm>
            <a:off x="3446145" y="4071938"/>
            <a:ext cx="1678663" cy="369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9" tIns="45719" rIns="91439" bIns="45719">
            <a:spAutoFit/>
          </a:bodyP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1800"/>
              <a:t>Boeing747.html</a:t>
            </a:r>
          </a:p>
        </p:txBody>
      </p:sp>
      <p:sp>
        <p:nvSpPr>
          <p:cNvPr id="99339" name="Freeform 11">
            <a:extLst>
              <a:ext uri="{FF2B5EF4-FFF2-40B4-BE49-F238E27FC236}">
                <a16:creationId xmlns:a16="http://schemas.microsoft.com/office/drawing/2014/main" id="{974330C7-8B7E-4C6A-B13C-E087AC858174}"/>
              </a:ext>
            </a:extLst>
          </p:cNvPr>
          <p:cNvSpPr>
            <a:spLocks/>
          </p:cNvSpPr>
          <p:nvPr/>
        </p:nvSpPr>
        <p:spPr bwMode="auto">
          <a:xfrm>
            <a:off x="3346133" y="2847500"/>
            <a:ext cx="1851660" cy="252888"/>
          </a:xfrm>
          <a:custGeom>
            <a:avLst/>
            <a:gdLst>
              <a:gd name="T0" fmla="*/ 76 w 1166"/>
              <a:gd name="T1" fmla="*/ 22 h 159"/>
              <a:gd name="T2" fmla="*/ 148 w 1166"/>
              <a:gd name="T3" fmla="*/ 49 h 159"/>
              <a:gd name="T4" fmla="*/ 312 w 1166"/>
              <a:gd name="T5" fmla="*/ 76 h 159"/>
              <a:gd name="T6" fmla="*/ 376 w 1166"/>
              <a:gd name="T7" fmla="*/ 67 h 159"/>
              <a:gd name="T8" fmla="*/ 385 w 1166"/>
              <a:gd name="T9" fmla="*/ 94 h 159"/>
              <a:gd name="T10" fmla="*/ 467 w 1166"/>
              <a:gd name="T11" fmla="*/ 113 h 159"/>
              <a:gd name="T12" fmla="*/ 603 w 1166"/>
              <a:gd name="T13" fmla="*/ 149 h 159"/>
              <a:gd name="T14" fmla="*/ 821 w 1166"/>
              <a:gd name="T15" fmla="*/ 122 h 159"/>
              <a:gd name="T16" fmla="*/ 1103 w 1166"/>
              <a:gd name="T17" fmla="*/ 149 h 159"/>
              <a:gd name="T18" fmla="*/ 1166 w 1166"/>
              <a:gd name="T19" fmla="*/ 131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6" h="159">
                <a:moveTo>
                  <a:pt x="76" y="22"/>
                </a:moveTo>
                <a:cubicBezTo>
                  <a:pt x="218" y="58"/>
                  <a:pt x="0" y="0"/>
                  <a:pt x="148" y="49"/>
                </a:cubicBezTo>
                <a:cubicBezTo>
                  <a:pt x="199" y="66"/>
                  <a:pt x="261" y="70"/>
                  <a:pt x="312" y="76"/>
                </a:cubicBezTo>
                <a:cubicBezTo>
                  <a:pt x="333" y="73"/>
                  <a:pt x="355" y="62"/>
                  <a:pt x="376" y="67"/>
                </a:cubicBezTo>
                <a:cubicBezTo>
                  <a:pt x="385" y="69"/>
                  <a:pt x="377" y="90"/>
                  <a:pt x="385" y="94"/>
                </a:cubicBezTo>
                <a:cubicBezTo>
                  <a:pt x="410" y="107"/>
                  <a:pt x="440" y="105"/>
                  <a:pt x="467" y="113"/>
                </a:cubicBezTo>
                <a:cubicBezTo>
                  <a:pt x="513" y="126"/>
                  <a:pt x="557" y="137"/>
                  <a:pt x="603" y="149"/>
                </a:cubicBezTo>
                <a:cubicBezTo>
                  <a:pt x="630" y="68"/>
                  <a:pt x="762" y="119"/>
                  <a:pt x="821" y="122"/>
                </a:cubicBezTo>
                <a:cubicBezTo>
                  <a:pt x="916" y="153"/>
                  <a:pt x="1004" y="159"/>
                  <a:pt x="1103" y="149"/>
                </a:cubicBezTo>
                <a:cubicBezTo>
                  <a:pt x="1160" y="130"/>
                  <a:pt x="1138" y="131"/>
                  <a:pt x="1166" y="131"/>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99340" name="Freeform 12">
            <a:extLst>
              <a:ext uri="{FF2B5EF4-FFF2-40B4-BE49-F238E27FC236}">
                <a16:creationId xmlns:a16="http://schemas.microsoft.com/office/drawing/2014/main" id="{8FD43982-9057-47A1-B62D-205250D23B13}"/>
              </a:ext>
            </a:extLst>
          </p:cNvPr>
          <p:cNvSpPr>
            <a:spLocks/>
          </p:cNvSpPr>
          <p:nvPr/>
        </p:nvSpPr>
        <p:spPr bwMode="auto">
          <a:xfrm>
            <a:off x="3340418" y="3880485"/>
            <a:ext cx="1850232" cy="251460"/>
          </a:xfrm>
          <a:custGeom>
            <a:avLst/>
            <a:gdLst>
              <a:gd name="T0" fmla="*/ 76 w 1166"/>
              <a:gd name="T1" fmla="*/ 22 h 159"/>
              <a:gd name="T2" fmla="*/ 148 w 1166"/>
              <a:gd name="T3" fmla="*/ 49 h 159"/>
              <a:gd name="T4" fmla="*/ 312 w 1166"/>
              <a:gd name="T5" fmla="*/ 76 h 159"/>
              <a:gd name="T6" fmla="*/ 376 w 1166"/>
              <a:gd name="T7" fmla="*/ 67 h 159"/>
              <a:gd name="T8" fmla="*/ 385 w 1166"/>
              <a:gd name="T9" fmla="*/ 94 h 159"/>
              <a:gd name="T10" fmla="*/ 467 w 1166"/>
              <a:gd name="T11" fmla="*/ 113 h 159"/>
              <a:gd name="T12" fmla="*/ 603 w 1166"/>
              <a:gd name="T13" fmla="*/ 149 h 159"/>
              <a:gd name="T14" fmla="*/ 821 w 1166"/>
              <a:gd name="T15" fmla="*/ 122 h 159"/>
              <a:gd name="T16" fmla="*/ 1103 w 1166"/>
              <a:gd name="T17" fmla="*/ 149 h 159"/>
              <a:gd name="T18" fmla="*/ 1166 w 1166"/>
              <a:gd name="T19" fmla="*/ 131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6" h="159">
                <a:moveTo>
                  <a:pt x="76" y="22"/>
                </a:moveTo>
                <a:cubicBezTo>
                  <a:pt x="218" y="58"/>
                  <a:pt x="0" y="0"/>
                  <a:pt x="148" y="49"/>
                </a:cubicBezTo>
                <a:cubicBezTo>
                  <a:pt x="199" y="66"/>
                  <a:pt x="261" y="70"/>
                  <a:pt x="312" y="76"/>
                </a:cubicBezTo>
                <a:cubicBezTo>
                  <a:pt x="333" y="73"/>
                  <a:pt x="355" y="62"/>
                  <a:pt x="376" y="67"/>
                </a:cubicBezTo>
                <a:cubicBezTo>
                  <a:pt x="385" y="69"/>
                  <a:pt x="377" y="90"/>
                  <a:pt x="385" y="94"/>
                </a:cubicBezTo>
                <a:cubicBezTo>
                  <a:pt x="410" y="107"/>
                  <a:pt x="440" y="105"/>
                  <a:pt x="467" y="113"/>
                </a:cubicBezTo>
                <a:cubicBezTo>
                  <a:pt x="513" y="126"/>
                  <a:pt x="557" y="137"/>
                  <a:pt x="603" y="149"/>
                </a:cubicBezTo>
                <a:cubicBezTo>
                  <a:pt x="630" y="68"/>
                  <a:pt x="762" y="119"/>
                  <a:pt x="821" y="122"/>
                </a:cubicBezTo>
                <a:cubicBezTo>
                  <a:pt x="916" y="153"/>
                  <a:pt x="1004" y="159"/>
                  <a:pt x="1103" y="149"/>
                </a:cubicBezTo>
                <a:cubicBezTo>
                  <a:pt x="1160" y="130"/>
                  <a:pt x="1138" y="131"/>
                  <a:pt x="1166" y="131"/>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99341" name="Text Box 13">
            <a:extLst>
              <a:ext uri="{FF2B5EF4-FFF2-40B4-BE49-F238E27FC236}">
                <a16:creationId xmlns:a16="http://schemas.microsoft.com/office/drawing/2014/main" id="{06AF6DF5-9A19-40D9-B0EB-29F756B81B7D}"/>
              </a:ext>
            </a:extLst>
          </p:cNvPr>
          <p:cNvSpPr txBox="1">
            <a:spLocks noChangeArrowheads="1"/>
          </p:cNvSpPr>
          <p:nvPr/>
        </p:nvSpPr>
        <p:spPr bwMode="auto">
          <a:xfrm>
            <a:off x="720090" y="4657725"/>
            <a:ext cx="7829550" cy="142192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9" tIns="45719" rIns="91439" bIns="45719">
            <a:spAutoFit/>
          </a:bodyP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1440" dirty="0"/>
              <a:t>The Client references a Web</a:t>
            </a:r>
            <a:r>
              <a:rPr lang="en-US" altLang="en-US" sz="1440" b="1" dirty="0"/>
              <a:t> </a:t>
            </a:r>
            <a:r>
              <a:rPr lang="en-US" altLang="en-US" sz="1440" dirty="0"/>
              <a:t>resource using a URL.  A </a:t>
            </a:r>
            <a:r>
              <a:rPr lang="en-US" altLang="en-US" sz="1440" b="1" dirty="0"/>
              <a:t>representation</a:t>
            </a:r>
            <a:r>
              <a:rPr lang="en-US" altLang="en-US" sz="1440" dirty="0"/>
              <a:t> of the resource is returned (in this case as an HTML document). </a:t>
            </a:r>
          </a:p>
          <a:p>
            <a:pPr eaLnBrk="0" hangingPunct="0"/>
            <a:r>
              <a:rPr lang="en-US" altLang="en-US" sz="1440" dirty="0"/>
              <a:t>The representation (e.g., Boeing747.html) places the client application in a </a:t>
            </a:r>
            <a:r>
              <a:rPr lang="en-US" altLang="en-US" sz="1440" b="1" dirty="0"/>
              <a:t>state</a:t>
            </a:r>
            <a:r>
              <a:rPr lang="en-US" altLang="en-US" sz="1440" dirty="0"/>
              <a:t>.  The result of the client traversing a hyperlink in Boeing747.html is another resource accessed.  The new representation places the client application into yet another state.  Thus, the client application changes (</a:t>
            </a:r>
            <a:r>
              <a:rPr lang="en-US" altLang="en-US" sz="1440" b="1" dirty="0"/>
              <a:t>transfer</a:t>
            </a:r>
            <a:r>
              <a:rPr lang="en-US" altLang="en-US" sz="1440" dirty="0"/>
              <a:t>s) state with each resource representation --&gt; Representational State Transfer!</a:t>
            </a:r>
          </a:p>
        </p:txBody>
      </p:sp>
      <p:sp>
        <p:nvSpPr>
          <p:cNvPr id="99342" name="Text Box 14">
            <a:extLst>
              <a:ext uri="{FF2B5EF4-FFF2-40B4-BE49-F238E27FC236}">
                <a16:creationId xmlns:a16="http://schemas.microsoft.com/office/drawing/2014/main" id="{CF749C9B-9F5E-4F85-97FC-4006FED9399F}"/>
              </a:ext>
            </a:extLst>
          </p:cNvPr>
          <p:cNvSpPr txBox="1">
            <a:spLocks noChangeArrowheads="1"/>
          </p:cNvSpPr>
          <p:nvPr/>
        </p:nvSpPr>
        <p:spPr bwMode="auto">
          <a:xfrm>
            <a:off x="3474721" y="3174683"/>
            <a:ext cx="1832551" cy="757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9" tIns="45719" rIns="91439" bIns="45719">
            <a:spAutoFit/>
          </a:bodyP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1440" u="sng" dirty="0">
                <a:solidFill>
                  <a:schemeClr val="accent2"/>
                </a:solidFill>
              </a:rPr>
              <a:t>Fuel requirements</a:t>
            </a:r>
          </a:p>
          <a:p>
            <a:pPr eaLnBrk="0" hangingPunct="0"/>
            <a:r>
              <a:rPr lang="en-US" altLang="en-US" sz="1440" u="sng" dirty="0">
                <a:solidFill>
                  <a:schemeClr val="accent2"/>
                </a:solidFill>
              </a:rPr>
              <a:t>Maintenance schedule</a:t>
            </a:r>
            <a:endParaRPr lang="en-US" altLang="en-US" sz="1440" dirty="0"/>
          </a:p>
          <a:p>
            <a:pPr eaLnBrk="0" hangingPunct="0"/>
            <a:r>
              <a:rPr lang="en-US" altLang="en-US" sz="1440" dirty="0"/>
              <a:t>...</a:t>
            </a:r>
          </a:p>
        </p:txBody>
      </p:sp>
    </p:spTree>
    <p:extLst>
      <p:ext uri="{BB962C8B-B14F-4D97-AF65-F5344CB8AC3E}">
        <p14:creationId xmlns:p14="http://schemas.microsoft.com/office/powerpoint/2010/main" val="1236248737"/>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a:extLst>
              <a:ext uri="{FF2B5EF4-FFF2-40B4-BE49-F238E27FC236}">
                <a16:creationId xmlns:a16="http://schemas.microsoft.com/office/drawing/2014/main" id="{599E7F66-E41F-448A-BECE-A015812FBFF7}"/>
              </a:ext>
            </a:extLst>
          </p:cNvPr>
          <p:cNvSpPr>
            <a:spLocks noGrp="1" noChangeArrowheads="1"/>
          </p:cNvSpPr>
          <p:nvPr>
            <p:ph type="body" idx="1"/>
          </p:nvPr>
        </p:nvSpPr>
        <p:spPr/>
        <p:txBody>
          <a:bodyPr/>
          <a:lstStyle/>
          <a:p>
            <a:pPr>
              <a:buFont typeface="Wingdings" panose="05000000000000000000" pitchFamily="2" charset="2"/>
              <a:buNone/>
            </a:pPr>
            <a:r>
              <a:rPr lang="en-US" altLang="en-US" sz="2400" b="1">
                <a:solidFill>
                  <a:schemeClr val="folHlink"/>
                </a:solidFill>
                <a:latin typeface="Times New Roman" panose="02020603050405020304" pitchFamily="18" charset="0"/>
              </a:rPr>
              <a:t>    "Representational State Transfer is intended to evoke an image of how a well-designed Web application behaves: a network of web pages (a virtual state-machine), where the user progresses through an application by selecting links (state transitions), resulting in the next page (representing the next state of the application) being transferred to the user and rendered for their use."</a:t>
            </a:r>
            <a:r>
              <a:rPr lang="en-US" altLang="en-US"/>
              <a:t> </a:t>
            </a:r>
          </a:p>
          <a:p>
            <a:pPr>
              <a:buFont typeface="Wingdings" panose="05000000000000000000" pitchFamily="2" charset="2"/>
              <a:buNone/>
            </a:pPr>
            <a:r>
              <a:rPr lang="en-US" altLang="en-US"/>
              <a:t>                                         </a:t>
            </a:r>
            <a:r>
              <a:rPr lang="en-US" altLang="en-US" sz="2400" b="1">
                <a:solidFill>
                  <a:schemeClr val="folHlink"/>
                </a:solidFill>
                <a:latin typeface="Times New Roman" panose="02020603050405020304" pitchFamily="18" charset="0"/>
              </a:rPr>
              <a:t>Roy Fielding.</a:t>
            </a:r>
            <a:r>
              <a:rPr lang="en-US" altLang="en-US"/>
              <a:t>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48EC7928-1C4E-49D3-BC3F-D42A1D305A95}"/>
              </a:ext>
            </a:extLst>
          </p:cNvPr>
          <p:cNvSpPr>
            <a:spLocks noGrp="1"/>
          </p:cNvSpPr>
          <p:nvPr>
            <p:ph type="title"/>
          </p:nvPr>
        </p:nvSpPr>
        <p:spPr>
          <a:xfrm>
            <a:off x="628650" y="365126"/>
            <a:ext cx="7886700" cy="808037"/>
          </a:xfrm>
        </p:spPr>
        <p:txBody>
          <a:bodyPr/>
          <a:lstStyle/>
          <a:p>
            <a:r>
              <a:rPr lang="en-US" altLang="en-US" dirty="0">
                <a:ea typeface="ＭＳ Ｐゴシック" panose="020B0600070205080204" pitchFamily="34" charset="-128"/>
              </a:rPr>
              <a:t>REST Properties (Connectedness)</a:t>
            </a:r>
            <a:endParaRPr lang="en-US" altLang="en-US" sz="1500" i="1" dirty="0">
              <a:ea typeface="ＭＳ Ｐゴシック" panose="020B0600070205080204" pitchFamily="34" charset="-128"/>
            </a:endParaRPr>
          </a:p>
        </p:txBody>
      </p:sp>
      <p:sp>
        <p:nvSpPr>
          <p:cNvPr id="32770" name="Rectangle 6">
            <a:extLst>
              <a:ext uri="{FF2B5EF4-FFF2-40B4-BE49-F238E27FC236}">
                <a16:creationId xmlns:a16="http://schemas.microsoft.com/office/drawing/2014/main" id="{61A7FF67-7633-476B-A03E-E4925D151472}"/>
              </a:ext>
            </a:extLst>
          </p:cNvPr>
          <p:cNvSpPr>
            <a:spLocks noGrp="1"/>
          </p:cNvSpPr>
          <p:nvPr>
            <p:ph type="body" idx="1"/>
          </p:nvPr>
        </p:nvSpPr>
        <p:spPr>
          <a:xfrm>
            <a:off x="457200" y="3581400"/>
            <a:ext cx="7772400" cy="2514600"/>
          </a:xfrm>
          <a:noFill/>
        </p:spPr>
        <p:txBody>
          <a:bodyPr>
            <a:normAutofit lnSpcReduction="10000"/>
          </a:bodyPr>
          <a:lstStyle/>
          <a:p>
            <a:r>
              <a:rPr lang="en-US" altLang="en-US" sz="2000" dirty="0">
                <a:ea typeface="ＭＳ Ｐゴシック" panose="020B0600070205080204" pitchFamily="34" charset="-128"/>
              </a:rPr>
              <a:t>Three services (a-c) expose identical functionality with increasing usability.</a:t>
            </a:r>
          </a:p>
          <a:p>
            <a:pPr>
              <a:buFontTx/>
              <a:buAutoNum type="alphaLcParenBoth"/>
            </a:pPr>
            <a:r>
              <a:rPr lang="en-US" altLang="en-US" sz="2000" dirty="0">
                <a:ea typeface="ＭＳ Ｐゴシック" panose="020B0600070205080204" pitchFamily="34" charset="-128"/>
              </a:rPr>
              <a:t>A pure RPC web service with just a single URI.  The service is neither </a:t>
            </a:r>
            <a:r>
              <a:rPr lang="en-US" altLang="en-US" sz="2000" i="1" dirty="0">
                <a:ea typeface="ＭＳ Ｐゴシック" panose="020B0600070205080204" pitchFamily="34" charset="-128"/>
              </a:rPr>
              <a:t>addressable</a:t>
            </a:r>
            <a:r>
              <a:rPr lang="en-US" altLang="en-US" sz="2000" dirty="0">
                <a:ea typeface="ＭＳ Ｐゴシック" panose="020B0600070205080204" pitchFamily="34" charset="-128"/>
              </a:rPr>
              <a:t> nor </a:t>
            </a:r>
            <a:r>
              <a:rPr lang="en-US" altLang="en-US" sz="2000" i="1" dirty="0">
                <a:ea typeface="ＭＳ Ｐゴシック" panose="020B0600070205080204" pitchFamily="34" charset="-128"/>
              </a:rPr>
              <a:t>connected</a:t>
            </a:r>
            <a:r>
              <a:rPr lang="en-US" altLang="en-US" sz="2000" dirty="0">
                <a:ea typeface="ＭＳ Ｐゴシック" panose="020B0600070205080204" pitchFamily="34" charset="-128"/>
              </a:rPr>
              <a:t>.  SOAP services generally are pure RPC.</a:t>
            </a:r>
          </a:p>
          <a:p>
            <a:pPr>
              <a:buFontTx/>
              <a:buAutoNum type="alphaLcParenBoth"/>
            </a:pPr>
            <a:r>
              <a:rPr lang="en-US" altLang="en-US" sz="2000" dirty="0">
                <a:ea typeface="ＭＳ Ｐゴシック" panose="020B0600070205080204" pitchFamily="34" charset="-128"/>
              </a:rPr>
              <a:t>A web service where resources are </a:t>
            </a:r>
            <a:r>
              <a:rPr lang="en-US" altLang="en-US" sz="2000" i="1" dirty="0">
                <a:ea typeface="ＭＳ Ｐゴシック" panose="020B0600070205080204" pitchFamily="34" charset="-128"/>
              </a:rPr>
              <a:t>addressable</a:t>
            </a:r>
            <a:r>
              <a:rPr lang="en-US" altLang="en-US" sz="2000" dirty="0">
                <a:ea typeface="ＭＳ Ｐゴシック" panose="020B0600070205080204" pitchFamily="34" charset="-128"/>
              </a:rPr>
              <a:t>, but not </a:t>
            </a:r>
            <a:r>
              <a:rPr lang="en-US" altLang="en-US" sz="2000" i="1" dirty="0">
                <a:ea typeface="ＭＳ Ｐゴシック" panose="020B0600070205080204" pitchFamily="34" charset="-128"/>
              </a:rPr>
              <a:t>connected</a:t>
            </a:r>
            <a:r>
              <a:rPr lang="en-US" altLang="en-US" sz="2000" dirty="0">
                <a:ea typeface="ＭＳ Ｐゴシック" panose="020B0600070205080204" pitchFamily="34" charset="-128"/>
              </a:rPr>
              <a:t> (for instance, some REST/RPC hybrid web services).</a:t>
            </a:r>
          </a:p>
          <a:p>
            <a:pPr>
              <a:buFontTx/>
              <a:buAutoNum type="alphaLcParenBoth"/>
            </a:pPr>
            <a:r>
              <a:rPr lang="en-US" altLang="en-US" sz="2000" dirty="0">
                <a:ea typeface="ＭＳ Ｐゴシック" panose="020B0600070205080204" pitchFamily="34" charset="-128"/>
              </a:rPr>
              <a:t>A fully RESTful web service: resources are </a:t>
            </a:r>
            <a:r>
              <a:rPr lang="en-US" altLang="en-US" sz="2000" i="1" dirty="0">
                <a:ea typeface="ＭＳ Ｐゴシック" panose="020B0600070205080204" pitchFamily="34" charset="-128"/>
              </a:rPr>
              <a:t>addressable</a:t>
            </a:r>
            <a:r>
              <a:rPr lang="en-US" altLang="en-US" sz="2000" dirty="0">
                <a:ea typeface="ＭＳ Ｐゴシック" panose="020B0600070205080204" pitchFamily="34" charset="-128"/>
              </a:rPr>
              <a:t> and </a:t>
            </a:r>
            <a:r>
              <a:rPr lang="en-US" altLang="en-US" sz="2000" i="1" dirty="0">
                <a:ea typeface="ＭＳ Ｐゴシック" panose="020B0600070205080204" pitchFamily="34" charset="-128"/>
              </a:rPr>
              <a:t>connected</a:t>
            </a:r>
            <a:r>
              <a:rPr lang="en-US" altLang="en-US" sz="2000" dirty="0">
                <a:ea typeface="ＭＳ Ｐゴシック" panose="020B0600070205080204" pitchFamily="34" charset="-128"/>
              </a:rPr>
              <a:t>.</a:t>
            </a:r>
          </a:p>
          <a:p>
            <a:r>
              <a:rPr lang="en-US" altLang="en-US" sz="1400" dirty="0">
                <a:ea typeface="ＭＳ Ｐゴシック" panose="020B0600070205080204" pitchFamily="34" charset="-128"/>
              </a:rPr>
              <a:t>Source: RESTful Web Services, Leonard Richardson and Sam Ruby</a:t>
            </a:r>
          </a:p>
        </p:txBody>
      </p:sp>
      <p:sp>
        <p:nvSpPr>
          <p:cNvPr id="32771" name="AutoShape 151">
            <a:extLst>
              <a:ext uri="{FF2B5EF4-FFF2-40B4-BE49-F238E27FC236}">
                <a16:creationId xmlns:a16="http://schemas.microsoft.com/office/drawing/2014/main" id="{18E3B9F0-309A-4AA3-8552-39929B8AE1C2}"/>
              </a:ext>
            </a:extLst>
          </p:cNvPr>
          <p:cNvSpPr>
            <a:spLocks noChangeArrowheads="1"/>
          </p:cNvSpPr>
          <p:nvPr>
            <p:custDataLst>
              <p:tags r:id="rId1"/>
            </p:custDataLst>
          </p:nvPr>
        </p:nvSpPr>
        <p:spPr bwMode="invGray">
          <a:xfrm>
            <a:off x="914400" y="1779588"/>
            <a:ext cx="457200" cy="474662"/>
          </a:xfrm>
          <a:prstGeom prst="roundRect">
            <a:avLst>
              <a:gd name="adj" fmla="val 16667"/>
            </a:avLst>
          </a:prstGeom>
          <a:solidFill>
            <a:schemeClr val="accent1"/>
          </a:solidFill>
          <a:ln w="28575">
            <a:solidFill>
              <a:schemeClr val="bg2"/>
            </a:solidFill>
            <a:round/>
            <a:headEnd/>
            <a:tailEnd/>
          </a:ln>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endParaRPr lang="en-US" altLang="en-US" sz="1000">
              <a:latin typeface="Arial" panose="020B0604020202020204" pitchFamily="34" charset="0"/>
            </a:endParaRPr>
          </a:p>
        </p:txBody>
      </p:sp>
      <p:sp>
        <p:nvSpPr>
          <p:cNvPr id="32772" name="AutoShape 151">
            <a:extLst>
              <a:ext uri="{FF2B5EF4-FFF2-40B4-BE49-F238E27FC236}">
                <a16:creationId xmlns:a16="http://schemas.microsoft.com/office/drawing/2014/main" id="{7FC9F410-1B22-41A9-AB61-1F08B9081BD6}"/>
              </a:ext>
            </a:extLst>
          </p:cNvPr>
          <p:cNvSpPr>
            <a:spLocks noChangeArrowheads="1"/>
          </p:cNvSpPr>
          <p:nvPr>
            <p:custDataLst>
              <p:tags r:id="rId2"/>
            </p:custDataLst>
          </p:nvPr>
        </p:nvSpPr>
        <p:spPr bwMode="invGray">
          <a:xfrm>
            <a:off x="3124200" y="1339850"/>
            <a:ext cx="457200" cy="474663"/>
          </a:xfrm>
          <a:prstGeom prst="roundRect">
            <a:avLst>
              <a:gd name="adj" fmla="val 16667"/>
            </a:avLst>
          </a:prstGeom>
          <a:solidFill>
            <a:schemeClr val="accent1"/>
          </a:solidFill>
          <a:ln w="28575">
            <a:solidFill>
              <a:schemeClr val="bg2"/>
            </a:solidFill>
            <a:round/>
            <a:headEnd/>
            <a:tailEnd/>
          </a:ln>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endParaRPr lang="en-US" altLang="en-US" sz="1000">
              <a:latin typeface="Arial" panose="020B0604020202020204" pitchFamily="34" charset="0"/>
            </a:endParaRPr>
          </a:p>
        </p:txBody>
      </p:sp>
      <p:sp>
        <p:nvSpPr>
          <p:cNvPr id="32773" name="AutoShape 151">
            <a:extLst>
              <a:ext uri="{FF2B5EF4-FFF2-40B4-BE49-F238E27FC236}">
                <a16:creationId xmlns:a16="http://schemas.microsoft.com/office/drawing/2014/main" id="{CECD816F-A769-4C62-855F-8071840E1905}"/>
              </a:ext>
            </a:extLst>
          </p:cNvPr>
          <p:cNvSpPr>
            <a:spLocks noChangeArrowheads="1"/>
          </p:cNvSpPr>
          <p:nvPr>
            <p:custDataLst>
              <p:tags r:id="rId3"/>
            </p:custDataLst>
          </p:nvPr>
        </p:nvSpPr>
        <p:spPr bwMode="invGray">
          <a:xfrm>
            <a:off x="4038600" y="1339850"/>
            <a:ext cx="457200" cy="474663"/>
          </a:xfrm>
          <a:prstGeom prst="roundRect">
            <a:avLst>
              <a:gd name="adj" fmla="val 16667"/>
            </a:avLst>
          </a:prstGeom>
          <a:solidFill>
            <a:schemeClr val="accent1"/>
          </a:solidFill>
          <a:ln w="28575">
            <a:solidFill>
              <a:schemeClr val="bg2"/>
            </a:solidFill>
            <a:round/>
            <a:headEnd/>
            <a:tailEnd/>
          </a:ln>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endParaRPr lang="en-US" altLang="en-US" sz="1000">
              <a:latin typeface="Arial" panose="020B0604020202020204" pitchFamily="34" charset="0"/>
            </a:endParaRPr>
          </a:p>
        </p:txBody>
      </p:sp>
      <p:sp>
        <p:nvSpPr>
          <p:cNvPr id="32774" name="AutoShape 151">
            <a:extLst>
              <a:ext uri="{FF2B5EF4-FFF2-40B4-BE49-F238E27FC236}">
                <a16:creationId xmlns:a16="http://schemas.microsoft.com/office/drawing/2014/main" id="{1579E424-E2F3-43C6-8C0A-7FC82B9445C2}"/>
              </a:ext>
            </a:extLst>
          </p:cNvPr>
          <p:cNvSpPr>
            <a:spLocks noChangeArrowheads="1"/>
          </p:cNvSpPr>
          <p:nvPr>
            <p:custDataLst>
              <p:tags r:id="rId4"/>
            </p:custDataLst>
          </p:nvPr>
        </p:nvSpPr>
        <p:spPr bwMode="invGray">
          <a:xfrm>
            <a:off x="3505200" y="2178050"/>
            <a:ext cx="457200" cy="474663"/>
          </a:xfrm>
          <a:prstGeom prst="roundRect">
            <a:avLst>
              <a:gd name="adj" fmla="val 16667"/>
            </a:avLst>
          </a:prstGeom>
          <a:solidFill>
            <a:schemeClr val="accent1"/>
          </a:solidFill>
          <a:ln w="28575">
            <a:solidFill>
              <a:schemeClr val="bg2"/>
            </a:solidFill>
            <a:round/>
            <a:headEnd/>
            <a:tailEnd/>
          </a:ln>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endParaRPr lang="en-US" altLang="en-US" sz="1000">
              <a:latin typeface="Arial" panose="020B0604020202020204" pitchFamily="34" charset="0"/>
            </a:endParaRPr>
          </a:p>
        </p:txBody>
      </p:sp>
      <p:sp>
        <p:nvSpPr>
          <p:cNvPr id="32775" name="AutoShape 151">
            <a:extLst>
              <a:ext uri="{FF2B5EF4-FFF2-40B4-BE49-F238E27FC236}">
                <a16:creationId xmlns:a16="http://schemas.microsoft.com/office/drawing/2014/main" id="{B82872A5-E08D-4B31-A74B-51BBBBFAF2C7}"/>
              </a:ext>
            </a:extLst>
          </p:cNvPr>
          <p:cNvSpPr>
            <a:spLocks noChangeArrowheads="1"/>
          </p:cNvSpPr>
          <p:nvPr>
            <p:custDataLst>
              <p:tags r:id="rId5"/>
            </p:custDataLst>
          </p:nvPr>
        </p:nvSpPr>
        <p:spPr bwMode="invGray">
          <a:xfrm>
            <a:off x="4419600" y="2254250"/>
            <a:ext cx="457200" cy="474663"/>
          </a:xfrm>
          <a:prstGeom prst="roundRect">
            <a:avLst>
              <a:gd name="adj" fmla="val 16667"/>
            </a:avLst>
          </a:prstGeom>
          <a:solidFill>
            <a:schemeClr val="accent1"/>
          </a:solidFill>
          <a:ln w="28575">
            <a:solidFill>
              <a:schemeClr val="bg2"/>
            </a:solidFill>
            <a:round/>
            <a:headEnd/>
            <a:tailEnd/>
          </a:ln>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endParaRPr lang="en-US" altLang="en-US" sz="1000">
              <a:latin typeface="Arial" panose="020B0604020202020204" pitchFamily="34" charset="0"/>
            </a:endParaRPr>
          </a:p>
        </p:txBody>
      </p:sp>
      <p:sp>
        <p:nvSpPr>
          <p:cNvPr id="32776" name="Text Box 34">
            <a:extLst>
              <a:ext uri="{FF2B5EF4-FFF2-40B4-BE49-F238E27FC236}">
                <a16:creationId xmlns:a16="http://schemas.microsoft.com/office/drawing/2014/main" id="{37140C9E-0786-4306-A3F9-A6C6325E67ED}"/>
              </a:ext>
            </a:extLst>
          </p:cNvPr>
          <p:cNvSpPr txBox="1">
            <a:spLocks noChangeArrowheads="1"/>
          </p:cNvSpPr>
          <p:nvPr/>
        </p:nvSpPr>
        <p:spPr bwMode="auto">
          <a:xfrm>
            <a:off x="990600" y="3016250"/>
            <a:ext cx="304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50000"/>
              </a:spcBef>
              <a:buFontTx/>
              <a:buNone/>
            </a:pPr>
            <a:r>
              <a:rPr lang="en-US" altLang="en-US" sz="1800" b="1">
                <a:latin typeface="Arial" panose="020B0604020202020204" pitchFamily="34" charset="0"/>
              </a:rPr>
              <a:t>a</a:t>
            </a:r>
          </a:p>
        </p:txBody>
      </p:sp>
      <p:sp>
        <p:nvSpPr>
          <p:cNvPr id="32777" name="Text Box 35">
            <a:extLst>
              <a:ext uri="{FF2B5EF4-FFF2-40B4-BE49-F238E27FC236}">
                <a16:creationId xmlns:a16="http://schemas.microsoft.com/office/drawing/2014/main" id="{C128F5AC-E9BA-4D27-91F0-A2480F4A1A3B}"/>
              </a:ext>
            </a:extLst>
          </p:cNvPr>
          <p:cNvSpPr txBox="1">
            <a:spLocks noChangeArrowheads="1"/>
          </p:cNvSpPr>
          <p:nvPr/>
        </p:nvSpPr>
        <p:spPr bwMode="auto">
          <a:xfrm>
            <a:off x="3962400" y="3016250"/>
            <a:ext cx="304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50000"/>
              </a:spcBef>
              <a:buFontTx/>
              <a:buNone/>
            </a:pPr>
            <a:r>
              <a:rPr lang="en-US" altLang="en-US" sz="1800" b="1">
                <a:latin typeface="Arial" panose="020B0604020202020204" pitchFamily="34" charset="0"/>
              </a:rPr>
              <a:t>b</a:t>
            </a:r>
          </a:p>
        </p:txBody>
      </p:sp>
      <p:sp>
        <p:nvSpPr>
          <p:cNvPr id="32778" name="Text Box 36">
            <a:extLst>
              <a:ext uri="{FF2B5EF4-FFF2-40B4-BE49-F238E27FC236}">
                <a16:creationId xmlns:a16="http://schemas.microsoft.com/office/drawing/2014/main" id="{974129DB-0C87-47E5-B5BD-D1A2CB113EFD}"/>
              </a:ext>
            </a:extLst>
          </p:cNvPr>
          <p:cNvSpPr txBox="1">
            <a:spLocks noChangeArrowheads="1"/>
          </p:cNvSpPr>
          <p:nvPr/>
        </p:nvSpPr>
        <p:spPr bwMode="auto">
          <a:xfrm>
            <a:off x="7162800" y="3016250"/>
            <a:ext cx="304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50000"/>
              </a:spcBef>
              <a:buFontTx/>
              <a:buNone/>
            </a:pPr>
            <a:r>
              <a:rPr lang="en-US" altLang="en-US" sz="1800" b="1">
                <a:latin typeface="Arial" panose="020B0604020202020204" pitchFamily="34" charset="0"/>
              </a:rPr>
              <a:t>c</a:t>
            </a:r>
          </a:p>
        </p:txBody>
      </p:sp>
      <p:cxnSp>
        <p:nvCxnSpPr>
          <p:cNvPr id="32779" name="AutoShape 38">
            <a:extLst>
              <a:ext uri="{FF2B5EF4-FFF2-40B4-BE49-F238E27FC236}">
                <a16:creationId xmlns:a16="http://schemas.microsoft.com/office/drawing/2014/main" id="{8E3A3A87-1D44-4CFB-AADB-F6B62DE4084A}"/>
              </a:ext>
            </a:extLst>
          </p:cNvPr>
          <p:cNvCxnSpPr>
            <a:cxnSpLocks noChangeShapeType="1"/>
            <a:stCxn id="32780" idx="3"/>
            <a:endCxn id="32781" idx="1"/>
          </p:cNvCxnSpPr>
          <p:nvPr/>
        </p:nvCxnSpPr>
        <p:spPr bwMode="auto">
          <a:xfrm>
            <a:off x="6872288" y="1501775"/>
            <a:ext cx="428625"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2780" name="AutoShape 151">
            <a:extLst>
              <a:ext uri="{FF2B5EF4-FFF2-40B4-BE49-F238E27FC236}">
                <a16:creationId xmlns:a16="http://schemas.microsoft.com/office/drawing/2014/main" id="{BAE3A4D2-9285-4D93-B55C-6A3AE8890DE5}"/>
              </a:ext>
            </a:extLst>
          </p:cNvPr>
          <p:cNvSpPr>
            <a:spLocks noChangeArrowheads="1"/>
          </p:cNvSpPr>
          <p:nvPr>
            <p:custDataLst>
              <p:tags r:id="rId6"/>
            </p:custDataLst>
          </p:nvPr>
        </p:nvSpPr>
        <p:spPr bwMode="invGray">
          <a:xfrm>
            <a:off x="6400800" y="1263650"/>
            <a:ext cx="457200" cy="474663"/>
          </a:xfrm>
          <a:prstGeom prst="roundRect">
            <a:avLst>
              <a:gd name="adj" fmla="val 16667"/>
            </a:avLst>
          </a:prstGeom>
          <a:solidFill>
            <a:schemeClr val="accent1"/>
          </a:solidFill>
          <a:ln w="28575">
            <a:solidFill>
              <a:schemeClr val="bg2"/>
            </a:solidFill>
            <a:round/>
            <a:headEnd/>
            <a:tailEnd/>
          </a:ln>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endParaRPr lang="en-US" altLang="en-US" sz="1000">
              <a:latin typeface="Arial" panose="020B0604020202020204" pitchFamily="34" charset="0"/>
            </a:endParaRPr>
          </a:p>
        </p:txBody>
      </p:sp>
      <p:sp>
        <p:nvSpPr>
          <p:cNvPr id="32781" name="AutoShape 151">
            <a:extLst>
              <a:ext uri="{FF2B5EF4-FFF2-40B4-BE49-F238E27FC236}">
                <a16:creationId xmlns:a16="http://schemas.microsoft.com/office/drawing/2014/main" id="{DF10401A-E708-46D5-B2C6-D52A4ED14DDE}"/>
              </a:ext>
            </a:extLst>
          </p:cNvPr>
          <p:cNvSpPr>
            <a:spLocks noChangeArrowheads="1"/>
          </p:cNvSpPr>
          <p:nvPr>
            <p:custDataLst>
              <p:tags r:id="rId7"/>
            </p:custDataLst>
          </p:nvPr>
        </p:nvSpPr>
        <p:spPr bwMode="invGray">
          <a:xfrm>
            <a:off x="7315200" y="1263650"/>
            <a:ext cx="457200" cy="474663"/>
          </a:xfrm>
          <a:prstGeom prst="roundRect">
            <a:avLst>
              <a:gd name="adj" fmla="val 16667"/>
            </a:avLst>
          </a:prstGeom>
          <a:solidFill>
            <a:schemeClr val="accent1"/>
          </a:solidFill>
          <a:ln w="28575">
            <a:solidFill>
              <a:schemeClr val="bg2"/>
            </a:solidFill>
            <a:round/>
            <a:headEnd/>
            <a:tailEnd/>
          </a:ln>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endParaRPr lang="en-US" altLang="en-US" sz="1000">
              <a:latin typeface="Arial" panose="020B0604020202020204" pitchFamily="34" charset="0"/>
            </a:endParaRPr>
          </a:p>
        </p:txBody>
      </p:sp>
      <p:sp>
        <p:nvSpPr>
          <p:cNvPr id="32782" name="AutoShape 151">
            <a:extLst>
              <a:ext uri="{FF2B5EF4-FFF2-40B4-BE49-F238E27FC236}">
                <a16:creationId xmlns:a16="http://schemas.microsoft.com/office/drawing/2014/main" id="{4983ACA1-7332-4F75-8C80-C9CB083E464C}"/>
              </a:ext>
            </a:extLst>
          </p:cNvPr>
          <p:cNvSpPr>
            <a:spLocks noChangeArrowheads="1"/>
          </p:cNvSpPr>
          <p:nvPr>
            <p:custDataLst>
              <p:tags r:id="rId8"/>
            </p:custDataLst>
          </p:nvPr>
        </p:nvSpPr>
        <p:spPr bwMode="invGray">
          <a:xfrm>
            <a:off x="6781800" y="2101850"/>
            <a:ext cx="457200" cy="474663"/>
          </a:xfrm>
          <a:prstGeom prst="roundRect">
            <a:avLst>
              <a:gd name="adj" fmla="val 16667"/>
            </a:avLst>
          </a:prstGeom>
          <a:solidFill>
            <a:schemeClr val="accent1"/>
          </a:solidFill>
          <a:ln w="28575">
            <a:solidFill>
              <a:schemeClr val="bg2"/>
            </a:solidFill>
            <a:round/>
            <a:headEnd/>
            <a:tailEnd/>
          </a:ln>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endParaRPr lang="en-US" altLang="en-US" sz="1000">
              <a:latin typeface="Arial" panose="020B0604020202020204" pitchFamily="34" charset="0"/>
            </a:endParaRPr>
          </a:p>
        </p:txBody>
      </p:sp>
      <p:sp>
        <p:nvSpPr>
          <p:cNvPr id="32783" name="AutoShape 151">
            <a:extLst>
              <a:ext uri="{FF2B5EF4-FFF2-40B4-BE49-F238E27FC236}">
                <a16:creationId xmlns:a16="http://schemas.microsoft.com/office/drawing/2014/main" id="{8754A0BE-91E8-4FCB-A3DF-0EE2AF6F06AA}"/>
              </a:ext>
            </a:extLst>
          </p:cNvPr>
          <p:cNvSpPr>
            <a:spLocks noChangeArrowheads="1"/>
          </p:cNvSpPr>
          <p:nvPr>
            <p:custDataLst>
              <p:tags r:id="rId9"/>
            </p:custDataLst>
          </p:nvPr>
        </p:nvSpPr>
        <p:spPr bwMode="invGray">
          <a:xfrm>
            <a:off x="7696200" y="2178050"/>
            <a:ext cx="457200" cy="474663"/>
          </a:xfrm>
          <a:prstGeom prst="roundRect">
            <a:avLst>
              <a:gd name="adj" fmla="val 16667"/>
            </a:avLst>
          </a:prstGeom>
          <a:solidFill>
            <a:schemeClr val="accent1"/>
          </a:solidFill>
          <a:ln w="28575">
            <a:solidFill>
              <a:schemeClr val="bg2"/>
            </a:solidFill>
            <a:round/>
            <a:headEnd/>
            <a:tailEnd/>
          </a:ln>
        </p:spPr>
        <p:txBody>
          <a:bodyPr wrap="none" lIns="0" tIns="0" rIns="0" bIns="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endParaRPr lang="en-US" altLang="en-US" sz="1000">
              <a:latin typeface="Arial" panose="020B0604020202020204" pitchFamily="34" charset="0"/>
            </a:endParaRPr>
          </a:p>
        </p:txBody>
      </p:sp>
      <p:cxnSp>
        <p:nvCxnSpPr>
          <p:cNvPr id="32784" name="AutoShape 44">
            <a:extLst>
              <a:ext uri="{FF2B5EF4-FFF2-40B4-BE49-F238E27FC236}">
                <a16:creationId xmlns:a16="http://schemas.microsoft.com/office/drawing/2014/main" id="{BAC6D3AB-7C2F-4D87-8AB4-5F45574BC012}"/>
              </a:ext>
            </a:extLst>
          </p:cNvPr>
          <p:cNvCxnSpPr>
            <a:cxnSpLocks noChangeShapeType="1"/>
            <a:stCxn id="32781" idx="3"/>
            <a:endCxn id="32783" idx="0"/>
          </p:cNvCxnSpPr>
          <p:nvPr/>
        </p:nvCxnSpPr>
        <p:spPr bwMode="auto">
          <a:xfrm>
            <a:off x="7786688" y="1501775"/>
            <a:ext cx="138112" cy="661988"/>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2785" name="AutoShape 45">
            <a:extLst>
              <a:ext uri="{FF2B5EF4-FFF2-40B4-BE49-F238E27FC236}">
                <a16:creationId xmlns:a16="http://schemas.microsoft.com/office/drawing/2014/main" id="{618306A6-4F68-4BEF-AA3D-B1AC391544BD}"/>
              </a:ext>
            </a:extLst>
          </p:cNvPr>
          <p:cNvCxnSpPr>
            <a:cxnSpLocks noChangeShapeType="1"/>
            <a:stCxn id="32783" idx="2"/>
            <a:endCxn id="32780" idx="1"/>
          </p:cNvCxnSpPr>
          <p:nvPr/>
        </p:nvCxnSpPr>
        <p:spPr bwMode="auto">
          <a:xfrm rot="16200000" flipV="1">
            <a:off x="6573044" y="1315244"/>
            <a:ext cx="1165225" cy="1538287"/>
          </a:xfrm>
          <a:prstGeom prst="curvedConnector4">
            <a:avLst>
              <a:gd name="adj1" fmla="val -18255"/>
              <a:gd name="adj2" fmla="val 11393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2786" name="AutoShape 46">
            <a:extLst>
              <a:ext uri="{FF2B5EF4-FFF2-40B4-BE49-F238E27FC236}">
                <a16:creationId xmlns:a16="http://schemas.microsoft.com/office/drawing/2014/main" id="{0A5C7667-D6B6-448A-AA62-C6EF5A444824}"/>
              </a:ext>
            </a:extLst>
          </p:cNvPr>
          <p:cNvCxnSpPr>
            <a:cxnSpLocks noChangeShapeType="1"/>
            <a:stCxn id="32780" idx="2"/>
            <a:endCxn id="32782" idx="1"/>
          </p:cNvCxnSpPr>
          <p:nvPr/>
        </p:nvCxnSpPr>
        <p:spPr bwMode="auto">
          <a:xfrm rot="16200000" flipH="1">
            <a:off x="6404769" y="1977231"/>
            <a:ext cx="587375" cy="138113"/>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2787" name="AutoShape 49">
            <a:extLst>
              <a:ext uri="{FF2B5EF4-FFF2-40B4-BE49-F238E27FC236}">
                <a16:creationId xmlns:a16="http://schemas.microsoft.com/office/drawing/2014/main" id="{FF09FC13-267D-40F7-BA74-C8BED709AEC0}"/>
              </a:ext>
            </a:extLst>
          </p:cNvPr>
          <p:cNvCxnSpPr>
            <a:cxnSpLocks noChangeShapeType="1"/>
            <a:stCxn id="32782" idx="3"/>
            <a:endCxn id="32781" idx="2"/>
          </p:cNvCxnSpPr>
          <p:nvPr/>
        </p:nvCxnSpPr>
        <p:spPr bwMode="auto">
          <a:xfrm flipV="1">
            <a:off x="7253288" y="1752600"/>
            <a:ext cx="290512" cy="587375"/>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7282380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4995D63E-D7E2-423A-9E5B-891050095937}"/>
              </a:ext>
            </a:extLst>
          </p:cNvPr>
          <p:cNvSpPr>
            <a:spLocks noChangeArrowheads="1"/>
          </p:cNvSpPr>
          <p:nvPr/>
        </p:nvSpPr>
        <p:spPr bwMode="auto">
          <a:xfrm>
            <a:off x="685800" y="287179"/>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7" tIns="45717" rIns="91437" bIns="45717" anchor="ctr"/>
          <a:lstStyle>
            <a:lvl1pPr defTabSz="1016000">
              <a:defRPr sz="4000">
                <a:solidFill>
                  <a:srgbClr val="D1D7C3"/>
                </a:solidFill>
                <a:latin typeface="Arial" panose="020B0604020202020204" pitchFamily="34" charset="0"/>
                <a:cs typeface="Arial" panose="020B0604020202020204" pitchFamily="34" charset="0"/>
              </a:defRPr>
            </a:lvl1pPr>
            <a:lvl2pPr defTabSz="1016000">
              <a:defRPr sz="4000">
                <a:solidFill>
                  <a:srgbClr val="D1D7C3"/>
                </a:solidFill>
                <a:latin typeface="Arial" panose="020B0604020202020204" pitchFamily="34" charset="0"/>
                <a:cs typeface="Arial" panose="020B0604020202020204" pitchFamily="34" charset="0"/>
              </a:defRPr>
            </a:lvl2pPr>
            <a:lvl3pPr defTabSz="1016000">
              <a:defRPr sz="4000">
                <a:solidFill>
                  <a:srgbClr val="D1D7C3"/>
                </a:solidFill>
                <a:latin typeface="Arial" panose="020B0604020202020204" pitchFamily="34" charset="0"/>
                <a:cs typeface="Arial" panose="020B0604020202020204" pitchFamily="34" charset="0"/>
              </a:defRPr>
            </a:lvl3pPr>
            <a:lvl4pPr defTabSz="1016000">
              <a:defRPr sz="4000">
                <a:solidFill>
                  <a:srgbClr val="D1D7C3"/>
                </a:solidFill>
                <a:latin typeface="Arial" panose="020B0604020202020204" pitchFamily="34" charset="0"/>
                <a:cs typeface="Arial" panose="020B0604020202020204" pitchFamily="34" charset="0"/>
              </a:defRPr>
            </a:lvl4pPr>
            <a:lvl5pPr defTabSz="1016000">
              <a:defRPr sz="4000">
                <a:solidFill>
                  <a:srgbClr val="D1D7C3"/>
                </a:solidFill>
                <a:latin typeface="Arial" panose="020B0604020202020204" pitchFamily="34" charset="0"/>
                <a:cs typeface="Arial" panose="020B0604020202020204" pitchFamily="34" charset="0"/>
              </a:defRPr>
            </a:lvl5pPr>
            <a:lvl6pPr marL="457200" defTabSz="1016000" fontAlgn="base">
              <a:spcBef>
                <a:spcPct val="0"/>
              </a:spcBef>
              <a:spcAft>
                <a:spcPct val="0"/>
              </a:spcAft>
              <a:defRPr sz="4000">
                <a:solidFill>
                  <a:srgbClr val="D1D7C3"/>
                </a:solidFill>
                <a:latin typeface="Arial" panose="020B0604020202020204" pitchFamily="34" charset="0"/>
                <a:cs typeface="Arial" panose="020B0604020202020204" pitchFamily="34" charset="0"/>
              </a:defRPr>
            </a:lvl6pPr>
            <a:lvl7pPr marL="914400" defTabSz="1016000" fontAlgn="base">
              <a:spcBef>
                <a:spcPct val="0"/>
              </a:spcBef>
              <a:spcAft>
                <a:spcPct val="0"/>
              </a:spcAft>
              <a:defRPr sz="4000">
                <a:solidFill>
                  <a:srgbClr val="D1D7C3"/>
                </a:solidFill>
                <a:latin typeface="Arial" panose="020B0604020202020204" pitchFamily="34" charset="0"/>
                <a:cs typeface="Arial" panose="020B0604020202020204" pitchFamily="34" charset="0"/>
              </a:defRPr>
            </a:lvl7pPr>
            <a:lvl8pPr marL="1371600" defTabSz="1016000" fontAlgn="base">
              <a:spcBef>
                <a:spcPct val="0"/>
              </a:spcBef>
              <a:spcAft>
                <a:spcPct val="0"/>
              </a:spcAft>
              <a:defRPr sz="4000">
                <a:solidFill>
                  <a:srgbClr val="D1D7C3"/>
                </a:solidFill>
                <a:latin typeface="Arial" panose="020B0604020202020204" pitchFamily="34" charset="0"/>
                <a:cs typeface="Arial" panose="020B0604020202020204" pitchFamily="34" charset="0"/>
              </a:defRPr>
            </a:lvl8pPr>
            <a:lvl9pPr marL="1828800" defTabSz="1016000" fontAlgn="base">
              <a:spcBef>
                <a:spcPct val="0"/>
              </a:spcBef>
              <a:spcAft>
                <a:spcPct val="0"/>
              </a:spcAft>
              <a:defRPr sz="4000">
                <a:solidFill>
                  <a:srgbClr val="D1D7C3"/>
                </a:solidFill>
                <a:latin typeface="Arial" panose="020B0604020202020204" pitchFamily="34" charset="0"/>
                <a:cs typeface="Arial" panose="020B0604020202020204" pitchFamily="34" charset="0"/>
              </a:defRPr>
            </a:lvl9pPr>
          </a:lstStyle>
          <a:p>
            <a:endParaRPr lang="en-US" altLang="en-US" sz="3600"/>
          </a:p>
        </p:txBody>
      </p:sp>
      <p:grpSp>
        <p:nvGrpSpPr>
          <p:cNvPr id="18435" name="Group 3">
            <a:extLst>
              <a:ext uri="{FF2B5EF4-FFF2-40B4-BE49-F238E27FC236}">
                <a16:creationId xmlns:a16="http://schemas.microsoft.com/office/drawing/2014/main" id="{F776BE66-CD6E-45DB-A99A-EE4C207967DE}"/>
              </a:ext>
            </a:extLst>
          </p:cNvPr>
          <p:cNvGrpSpPr>
            <a:grpSpLocks/>
          </p:cNvGrpSpPr>
          <p:nvPr/>
        </p:nvGrpSpPr>
        <p:grpSpPr bwMode="auto">
          <a:xfrm>
            <a:off x="1074420" y="1920240"/>
            <a:ext cx="897255" cy="407194"/>
            <a:chOff x="363" y="1476"/>
            <a:chExt cx="477" cy="257"/>
          </a:xfrm>
        </p:grpSpPr>
        <p:sp>
          <p:nvSpPr>
            <p:cNvPr id="18436" name="Rectangle 4">
              <a:extLst>
                <a:ext uri="{FF2B5EF4-FFF2-40B4-BE49-F238E27FC236}">
                  <a16:creationId xmlns:a16="http://schemas.microsoft.com/office/drawing/2014/main" id="{A27717A5-418E-4DFD-833B-2065F905E8D8}"/>
                </a:ext>
              </a:extLst>
            </p:cNvPr>
            <p:cNvSpPr>
              <a:spLocks noChangeArrowheads="1"/>
            </p:cNvSpPr>
            <p:nvPr/>
          </p:nvSpPr>
          <p:spPr bwMode="auto">
            <a:xfrm>
              <a:off x="410" y="1476"/>
              <a:ext cx="384" cy="257"/>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18437" name="Text Box 5">
              <a:extLst>
                <a:ext uri="{FF2B5EF4-FFF2-40B4-BE49-F238E27FC236}">
                  <a16:creationId xmlns:a16="http://schemas.microsoft.com/office/drawing/2014/main" id="{B8804AE6-E5DA-4175-844A-45F953894F0A}"/>
                </a:ext>
              </a:extLst>
            </p:cNvPr>
            <p:cNvSpPr txBox="1">
              <a:spLocks noChangeArrowheads="1"/>
            </p:cNvSpPr>
            <p:nvPr/>
          </p:nvSpPr>
          <p:spPr bwMode="auto">
            <a:xfrm>
              <a:off x="363" y="1478"/>
              <a:ext cx="477"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7" tIns="45717" rIns="91437" bIns="45717">
              <a:spAutoFit/>
            </a:bodyP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algn="ctr" eaLnBrk="0" hangingPunct="0"/>
              <a:r>
                <a:rPr lang="en-US" altLang="en-US" sz="990"/>
                <a:t>Request</a:t>
              </a:r>
            </a:p>
            <a:p>
              <a:pPr algn="ctr" eaLnBrk="0" hangingPunct="0"/>
              <a:r>
                <a:rPr lang="en-US" altLang="en-US" sz="990"/>
                <a:t>(XML doc)</a:t>
              </a:r>
              <a:endParaRPr lang="en-US" altLang="en-US" sz="1980"/>
            </a:p>
          </p:txBody>
        </p:sp>
      </p:grpSp>
      <p:sp>
        <p:nvSpPr>
          <p:cNvPr id="18445" name="Line 13">
            <a:extLst>
              <a:ext uri="{FF2B5EF4-FFF2-40B4-BE49-F238E27FC236}">
                <a16:creationId xmlns:a16="http://schemas.microsoft.com/office/drawing/2014/main" id="{28C4B5BD-8D03-4E38-9E03-B0391D16FB2F}"/>
              </a:ext>
            </a:extLst>
          </p:cNvPr>
          <p:cNvSpPr>
            <a:spLocks noChangeShapeType="1"/>
          </p:cNvSpPr>
          <p:nvPr/>
        </p:nvSpPr>
        <p:spPr bwMode="auto">
          <a:xfrm>
            <a:off x="5103495" y="2288858"/>
            <a:ext cx="1041559"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18453" name="Line 21">
            <a:extLst>
              <a:ext uri="{FF2B5EF4-FFF2-40B4-BE49-F238E27FC236}">
                <a16:creationId xmlns:a16="http://schemas.microsoft.com/office/drawing/2014/main" id="{C804DC37-04E2-4DD6-8ED5-9398AD09136E}"/>
              </a:ext>
            </a:extLst>
          </p:cNvPr>
          <p:cNvSpPr>
            <a:spLocks noChangeShapeType="1"/>
          </p:cNvSpPr>
          <p:nvPr/>
        </p:nvSpPr>
        <p:spPr bwMode="auto">
          <a:xfrm>
            <a:off x="5099210" y="2668905"/>
            <a:ext cx="1041558"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grpSp>
        <p:nvGrpSpPr>
          <p:cNvPr id="18466" name="Group 34">
            <a:extLst>
              <a:ext uri="{FF2B5EF4-FFF2-40B4-BE49-F238E27FC236}">
                <a16:creationId xmlns:a16="http://schemas.microsoft.com/office/drawing/2014/main" id="{9126750D-F90E-46BF-ADCD-09E5ABBC1DAC}"/>
              </a:ext>
            </a:extLst>
          </p:cNvPr>
          <p:cNvGrpSpPr>
            <a:grpSpLocks/>
          </p:cNvGrpSpPr>
          <p:nvPr/>
        </p:nvGrpSpPr>
        <p:grpSpPr bwMode="auto">
          <a:xfrm>
            <a:off x="1129258" y="2537460"/>
            <a:ext cx="787581" cy="408623"/>
            <a:chOff x="392" y="1476"/>
            <a:chExt cx="421" cy="257"/>
          </a:xfrm>
        </p:grpSpPr>
        <p:sp>
          <p:nvSpPr>
            <p:cNvPr id="18467" name="Rectangle 35">
              <a:extLst>
                <a:ext uri="{FF2B5EF4-FFF2-40B4-BE49-F238E27FC236}">
                  <a16:creationId xmlns:a16="http://schemas.microsoft.com/office/drawing/2014/main" id="{B2E91236-418C-4B35-89A8-14FAF3818718}"/>
                </a:ext>
              </a:extLst>
            </p:cNvPr>
            <p:cNvSpPr>
              <a:spLocks noChangeArrowheads="1"/>
            </p:cNvSpPr>
            <p:nvPr/>
          </p:nvSpPr>
          <p:spPr bwMode="auto">
            <a:xfrm>
              <a:off x="410" y="1476"/>
              <a:ext cx="384" cy="257"/>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18468" name="Text Box 36">
              <a:extLst>
                <a:ext uri="{FF2B5EF4-FFF2-40B4-BE49-F238E27FC236}">
                  <a16:creationId xmlns:a16="http://schemas.microsoft.com/office/drawing/2014/main" id="{FA705F16-A30E-41B2-87C3-2975D2AD65E1}"/>
                </a:ext>
              </a:extLst>
            </p:cNvPr>
            <p:cNvSpPr txBox="1">
              <a:spLocks noChangeArrowheads="1"/>
            </p:cNvSpPr>
            <p:nvPr/>
          </p:nvSpPr>
          <p:spPr bwMode="auto">
            <a:xfrm>
              <a:off x="392" y="1478"/>
              <a:ext cx="42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7" tIns="45717" rIns="91437" bIns="45717">
              <a:spAutoFit/>
            </a:bodyP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algn="ctr" eaLnBrk="0" hangingPunct="0"/>
              <a:r>
                <a:rPr lang="en-US" altLang="en-US" sz="990"/>
                <a:t>Response</a:t>
              </a:r>
            </a:p>
            <a:p>
              <a:pPr algn="ctr" eaLnBrk="0" hangingPunct="0"/>
              <a:r>
                <a:rPr lang="en-US" altLang="en-US" sz="990"/>
                <a:t>(</a:t>
              </a:r>
              <a:r>
                <a:rPr lang="en-US" altLang="en-US" sz="990" b="1"/>
                <a:t>XML doc</a:t>
              </a:r>
              <a:r>
                <a:rPr lang="en-US" altLang="en-US" sz="990"/>
                <a:t>)</a:t>
              </a:r>
              <a:endParaRPr lang="en-US" altLang="en-US" sz="1980"/>
            </a:p>
          </p:txBody>
        </p:sp>
      </p:grpSp>
      <p:grpSp>
        <p:nvGrpSpPr>
          <p:cNvPr id="18469" name="Group 37">
            <a:extLst>
              <a:ext uri="{FF2B5EF4-FFF2-40B4-BE49-F238E27FC236}">
                <a16:creationId xmlns:a16="http://schemas.microsoft.com/office/drawing/2014/main" id="{666DCFFE-F208-466D-B974-CB344F3A62BA}"/>
              </a:ext>
            </a:extLst>
          </p:cNvPr>
          <p:cNvGrpSpPr>
            <a:grpSpLocks/>
          </p:cNvGrpSpPr>
          <p:nvPr/>
        </p:nvGrpSpPr>
        <p:grpSpPr bwMode="auto">
          <a:xfrm>
            <a:off x="4333399" y="1975962"/>
            <a:ext cx="758666" cy="3777615"/>
            <a:chOff x="2778" y="1755"/>
            <a:chExt cx="478" cy="1156"/>
          </a:xfrm>
        </p:grpSpPr>
        <p:sp>
          <p:nvSpPr>
            <p:cNvPr id="18470" name="Rectangle 38">
              <a:extLst>
                <a:ext uri="{FF2B5EF4-FFF2-40B4-BE49-F238E27FC236}">
                  <a16:creationId xmlns:a16="http://schemas.microsoft.com/office/drawing/2014/main" id="{7BBC51AF-F391-4593-BA89-A244D829E0F3}"/>
                </a:ext>
              </a:extLst>
            </p:cNvPr>
            <p:cNvSpPr>
              <a:spLocks noChangeArrowheads="1"/>
            </p:cNvSpPr>
            <p:nvPr/>
          </p:nvSpPr>
          <p:spPr bwMode="auto">
            <a:xfrm>
              <a:off x="2778" y="1755"/>
              <a:ext cx="478" cy="1156"/>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18471" name="Text Box 39">
              <a:extLst>
                <a:ext uri="{FF2B5EF4-FFF2-40B4-BE49-F238E27FC236}">
                  <a16:creationId xmlns:a16="http://schemas.microsoft.com/office/drawing/2014/main" id="{B9A33007-BB56-47E8-BBA5-3E06E26A0F63}"/>
                </a:ext>
              </a:extLst>
            </p:cNvPr>
            <p:cNvSpPr txBox="1">
              <a:spLocks noChangeArrowheads="1"/>
            </p:cNvSpPr>
            <p:nvPr/>
          </p:nvSpPr>
          <p:spPr bwMode="auto">
            <a:xfrm rot="16200000">
              <a:off x="2597" y="2221"/>
              <a:ext cx="78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7" tIns="45717" rIns="91437" bIns="45717">
              <a:spAutoFit/>
            </a:bodyP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1980"/>
                <a:t>        Web/Proxy Server</a:t>
              </a:r>
            </a:p>
          </p:txBody>
        </p:sp>
      </p:grpSp>
      <p:grpSp>
        <p:nvGrpSpPr>
          <p:cNvPr id="18472" name="Group 40">
            <a:extLst>
              <a:ext uri="{FF2B5EF4-FFF2-40B4-BE49-F238E27FC236}">
                <a16:creationId xmlns:a16="http://schemas.microsoft.com/office/drawing/2014/main" id="{1CCC8F62-4093-4254-AEA5-B25245531B53}"/>
              </a:ext>
            </a:extLst>
          </p:cNvPr>
          <p:cNvGrpSpPr>
            <a:grpSpLocks/>
          </p:cNvGrpSpPr>
          <p:nvPr/>
        </p:nvGrpSpPr>
        <p:grpSpPr bwMode="auto">
          <a:xfrm>
            <a:off x="6149340" y="2004537"/>
            <a:ext cx="1678782" cy="3739038"/>
            <a:chOff x="3634" y="2055"/>
            <a:chExt cx="1056" cy="489"/>
          </a:xfrm>
        </p:grpSpPr>
        <p:sp>
          <p:nvSpPr>
            <p:cNvPr id="18473" name="Rectangle 41">
              <a:extLst>
                <a:ext uri="{FF2B5EF4-FFF2-40B4-BE49-F238E27FC236}">
                  <a16:creationId xmlns:a16="http://schemas.microsoft.com/office/drawing/2014/main" id="{3489476A-C733-45E8-B6A7-43DF65379DFE}"/>
                </a:ext>
              </a:extLst>
            </p:cNvPr>
            <p:cNvSpPr>
              <a:spLocks noChangeArrowheads="1"/>
            </p:cNvSpPr>
            <p:nvPr/>
          </p:nvSpPr>
          <p:spPr bwMode="auto">
            <a:xfrm>
              <a:off x="3634" y="2055"/>
              <a:ext cx="1056" cy="489"/>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18474" name="Text Box 42">
              <a:extLst>
                <a:ext uri="{FF2B5EF4-FFF2-40B4-BE49-F238E27FC236}">
                  <a16:creationId xmlns:a16="http://schemas.microsoft.com/office/drawing/2014/main" id="{2CF1E2C0-906F-446E-B62D-E59678B53F0B}"/>
                </a:ext>
              </a:extLst>
            </p:cNvPr>
            <p:cNvSpPr txBox="1">
              <a:spLocks noChangeArrowheads="1"/>
            </p:cNvSpPr>
            <p:nvPr/>
          </p:nvSpPr>
          <p:spPr bwMode="auto">
            <a:xfrm>
              <a:off x="4103" y="2136"/>
              <a:ext cx="116" cy="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7" tIns="45717" rIns="91437" bIns="45717">
              <a:spAutoFit/>
            </a:bodyP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algn="ctr" eaLnBrk="0" hangingPunct="0"/>
              <a:endParaRPr lang="en-US" altLang="en-US" sz="1980"/>
            </a:p>
          </p:txBody>
        </p:sp>
      </p:grpSp>
      <p:sp>
        <p:nvSpPr>
          <p:cNvPr id="18476" name="Text Box 44">
            <a:extLst>
              <a:ext uri="{FF2B5EF4-FFF2-40B4-BE49-F238E27FC236}">
                <a16:creationId xmlns:a16="http://schemas.microsoft.com/office/drawing/2014/main" id="{7A7B4B66-BF51-4E00-A897-1E88699A10E5}"/>
              </a:ext>
            </a:extLst>
          </p:cNvPr>
          <p:cNvSpPr txBox="1">
            <a:spLocks noChangeArrowheads="1"/>
          </p:cNvSpPr>
          <p:nvPr/>
        </p:nvSpPr>
        <p:spPr bwMode="auto">
          <a:xfrm>
            <a:off x="1955960" y="1955959"/>
            <a:ext cx="888379" cy="272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7" tIns="45717" rIns="91437" bIns="45717">
            <a:spAutoFit/>
          </a:bodyP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1170"/>
              <a:t>HTTP GET</a:t>
            </a:r>
          </a:p>
        </p:txBody>
      </p:sp>
      <p:sp>
        <p:nvSpPr>
          <p:cNvPr id="18479" name="Text Box 47">
            <a:extLst>
              <a:ext uri="{FF2B5EF4-FFF2-40B4-BE49-F238E27FC236}">
                <a16:creationId xmlns:a16="http://schemas.microsoft.com/office/drawing/2014/main" id="{9E5B147A-B7E2-4B6C-9B66-00954301E6C5}"/>
              </a:ext>
            </a:extLst>
          </p:cNvPr>
          <p:cNvSpPr txBox="1">
            <a:spLocks noChangeArrowheads="1"/>
          </p:cNvSpPr>
          <p:nvPr/>
        </p:nvSpPr>
        <p:spPr bwMode="auto">
          <a:xfrm>
            <a:off x="3091816" y="2068830"/>
            <a:ext cx="685951" cy="31392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7" tIns="45717" rIns="91437" bIns="45717">
            <a:spAutoFit/>
          </a:bodyP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1440"/>
              <a:t>URL 1</a:t>
            </a:r>
          </a:p>
        </p:txBody>
      </p:sp>
      <p:sp>
        <p:nvSpPr>
          <p:cNvPr id="18480" name="Line 48">
            <a:extLst>
              <a:ext uri="{FF2B5EF4-FFF2-40B4-BE49-F238E27FC236}">
                <a16:creationId xmlns:a16="http://schemas.microsoft.com/office/drawing/2014/main" id="{C7ABB77A-CD44-4087-A91C-31694BD58F18}"/>
              </a:ext>
            </a:extLst>
          </p:cNvPr>
          <p:cNvSpPr>
            <a:spLocks noChangeShapeType="1"/>
          </p:cNvSpPr>
          <p:nvPr/>
        </p:nvSpPr>
        <p:spPr bwMode="auto">
          <a:xfrm>
            <a:off x="3787617" y="2228850"/>
            <a:ext cx="55578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18481" name="Text Box 49">
            <a:extLst>
              <a:ext uri="{FF2B5EF4-FFF2-40B4-BE49-F238E27FC236}">
                <a16:creationId xmlns:a16="http://schemas.microsoft.com/office/drawing/2014/main" id="{F57A830C-FF83-47C7-9D3F-B61D12637DB5}"/>
              </a:ext>
            </a:extLst>
          </p:cNvPr>
          <p:cNvSpPr txBox="1">
            <a:spLocks noChangeArrowheads="1"/>
          </p:cNvSpPr>
          <p:nvPr/>
        </p:nvSpPr>
        <p:spPr bwMode="auto">
          <a:xfrm>
            <a:off x="3183255" y="2577465"/>
            <a:ext cx="1172110" cy="272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7" tIns="45717" rIns="91437" bIns="45717">
            <a:spAutoFit/>
          </a:bodyP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1170"/>
              <a:t>HTTP Response</a:t>
            </a:r>
          </a:p>
        </p:txBody>
      </p:sp>
      <p:sp>
        <p:nvSpPr>
          <p:cNvPr id="18482" name="Line 50">
            <a:extLst>
              <a:ext uri="{FF2B5EF4-FFF2-40B4-BE49-F238E27FC236}">
                <a16:creationId xmlns:a16="http://schemas.microsoft.com/office/drawing/2014/main" id="{DA5ED808-DD7A-455B-8D20-95BA5BE5FEEF}"/>
              </a:ext>
            </a:extLst>
          </p:cNvPr>
          <p:cNvSpPr>
            <a:spLocks noChangeShapeType="1"/>
          </p:cNvSpPr>
          <p:nvPr/>
        </p:nvSpPr>
        <p:spPr bwMode="auto">
          <a:xfrm>
            <a:off x="7848125" y="2268855"/>
            <a:ext cx="21288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18483" name="Rectangle 51">
            <a:extLst>
              <a:ext uri="{FF2B5EF4-FFF2-40B4-BE49-F238E27FC236}">
                <a16:creationId xmlns:a16="http://schemas.microsoft.com/office/drawing/2014/main" id="{473C76A0-947A-44F4-975B-C9358499AA50}"/>
              </a:ext>
            </a:extLst>
          </p:cNvPr>
          <p:cNvSpPr>
            <a:spLocks noChangeArrowheads="1"/>
          </p:cNvSpPr>
          <p:nvPr/>
        </p:nvSpPr>
        <p:spPr bwMode="auto">
          <a:xfrm>
            <a:off x="7999572" y="2097405"/>
            <a:ext cx="758535" cy="313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7" tIns="45717" rIns="91437" bIns="45717">
            <a:spAutoFit/>
          </a:bodyP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1440"/>
              <a:t>doGet()</a:t>
            </a:r>
          </a:p>
        </p:txBody>
      </p:sp>
      <p:grpSp>
        <p:nvGrpSpPr>
          <p:cNvPr id="18484" name="Group 52">
            <a:extLst>
              <a:ext uri="{FF2B5EF4-FFF2-40B4-BE49-F238E27FC236}">
                <a16:creationId xmlns:a16="http://schemas.microsoft.com/office/drawing/2014/main" id="{DD3ACB75-E154-4CB5-A0A1-7D4C21A84A80}"/>
              </a:ext>
            </a:extLst>
          </p:cNvPr>
          <p:cNvGrpSpPr>
            <a:grpSpLocks/>
          </p:cNvGrpSpPr>
          <p:nvPr/>
        </p:nvGrpSpPr>
        <p:grpSpPr bwMode="auto">
          <a:xfrm>
            <a:off x="1115232" y="3223260"/>
            <a:ext cx="765626" cy="408623"/>
            <a:chOff x="381" y="1476"/>
            <a:chExt cx="440" cy="257"/>
          </a:xfrm>
        </p:grpSpPr>
        <p:sp>
          <p:nvSpPr>
            <p:cNvPr id="18485" name="Rectangle 53">
              <a:extLst>
                <a:ext uri="{FF2B5EF4-FFF2-40B4-BE49-F238E27FC236}">
                  <a16:creationId xmlns:a16="http://schemas.microsoft.com/office/drawing/2014/main" id="{7E8A87E7-2DD0-45E7-92DD-E97B6E61D2C6}"/>
                </a:ext>
              </a:extLst>
            </p:cNvPr>
            <p:cNvSpPr>
              <a:spLocks noChangeArrowheads="1"/>
            </p:cNvSpPr>
            <p:nvPr/>
          </p:nvSpPr>
          <p:spPr bwMode="auto">
            <a:xfrm>
              <a:off x="410" y="1476"/>
              <a:ext cx="384" cy="257"/>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18486" name="Text Box 54">
              <a:extLst>
                <a:ext uri="{FF2B5EF4-FFF2-40B4-BE49-F238E27FC236}">
                  <a16:creationId xmlns:a16="http://schemas.microsoft.com/office/drawing/2014/main" id="{23DE7D09-9B0A-49C7-90C2-0FBB9E00E9DA}"/>
                </a:ext>
              </a:extLst>
            </p:cNvPr>
            <p:cNvSpPr txBox="1">
              <a:spLocks noChangeArrowheads="1"/>
            </p:cNvSpPr>
            <p:nvPr/>
          </p:nvSpPr>
          <p:spPr bwMode="auto">
            <a:xfrm>
              <a:off x="381" y="1478"/>
              <a:ext cx="4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7" tIns="45717" rIns="91437" bIns="45717">
              <a:spAutoFit/>
            </a:bodyP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algn="ctr" eaLnBrk="0" hangingPunct="0"/>
              <a:r>
                <a:rPr lang="en-US" altLang="en-US" sz="990"/>
                <a:t>Request</a:t>
              </a:r>
            </a:p>
            <a:p>
              <a:pPr algn="ctr" eaLnBrk="0" hangingPunct="0"/>
              <a:r>
                <a:rPr lang="en-US" altLang="en-US" sz="990"/>
                <a:t>(XML doc)</a:t>
              </a:r>
              <a:endParaRPr lang="en-US" altLang="en-US" sz="1980"/>
            </a:p>
          </p:txBody>
        </p:sp>
      </p:grpSp>
      <p:grpSp>
        <p:nvGrpSpPr>
          <p:cNvPr id="18499" name="Group 67">
            <a:extLst>
              <a:ext uri="{FF2B5EF4-FFF2-40B4-BE49-F238E27FC236}">
                <a16:creationId xmlns:a16="http://schemas.microsoft.com/office/drawing/2014/main" id="{C13EB438-FD51-4FAE-98D0-C6AC2F180C2E}"/>
              </a:ext>
            </a:extLst>
          </p:cNvPr>
          <p:cNvGrpSpPr>
            <a:grpSpLocks/>
          </p:cNvGrpSpPr>
          <p:nvPr/>
        </p:nvGrpSpPr>
        <p:grpSpPr bwMode="auto">
          <a:xfrm>
            <a:off x="1055955" y="3840480"/>
            <a:ext cx="816586" cy="408623"/>
            <a:chOff x="384" y="1476"/>
            <a:chExt cx="437" cy="257"/>
          </a:xfrm>
        </p:grpSpPr>
        <p:sp>
          <p:nvSpPr>
            <p:cNvPr id="18500" name="Rectangle 68">
              <a:extLst>
                <a:ext uri="{FF2B5EF4-FFF2-40B4-BE49-F238E27FC236}">
                  <a16:creationId xmlns:a16="http://schemas.microsoft.com/office/drawing/2014/main" id="{83F7EB50-525C-44B7-AB14-72E2C8DF2C03}"/>
                </a:ext>
              </a:extLst>
            </p:cNvPr>
            <p:cNvSpPr>
              <a:spLocks noChangeArrowheads="1"/>
            </p:cNvSpPr>
            <p:nvPr/>
          </p:nvSpPr>
          <p:spPr bwMode="auto">
            <a:xfrm>
              <a:off x="410" y="1476"/>
              <a:ext cx="384" cy="257"/>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18501" name="Text Box 69">
              <a:extLst>
                <a:ext uri="{FF2B5EF4-FFF2-40B4-BE49-F238E27FC236}">
                  <a16:creationId xmlns:a16="http://schemas.microsoft.com/office/drawing/2014/main" id="{64E080BB-F555-445B-BB52-D05F59F65882}"/>
                </a:ext>
              </a:extLst>
            </p:cNvPr>
            <p:cNvSpPr txBox="1">
              <a:spLocks noChangeArrowheads="1"/>
            </p:cNvSpPr>
            <p:nvPr/>
          </p:nvSpPr>
          <p:spPr bwMode="auto">
            <a:xfrm>
              <a:off x="384" y="1478"/>
              <a:ext cx="43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7" tIns="45717" rIns="91437" bIns="45717">
              <a:spAutoFit/>
            </a:bodyP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algn="ctr" eaLnBrk="0" hangingPunct="0"/>
              <a:r>
                <a:rPr lang="en-US" altLang="en-US" sz="990"/>
                <a:t>Response</a:t>
              </a:r>
            </a:p>
            <a:p>
              <a:pPr algn="ctr" eaLnBrk="0" hangingPunct="0"/>
              <a:r>
                <a:rPr lang="en-US" altLang="en-US" sz="990"/>
                <a:t>(</a:t>
              </a:r>
              <a:r>
                <a:rPr lang="en-US" altLang="en-US" sz="990" b="1"/>
                <a:t>JSON doc</a:t>
              </a:r>
              <a:r>
                <a:rPr lang="en-US" altLang="en-US" sz="990"/>
                <a:t>)</a:t>
              </a:r>
              <a:endParaRPr lang="en-US" altLang="en-US" sz="1980"/>
            </a:p>
          </p:txBody>
        </p:sp>
      </p:grpSp>
      <p:sp>
        <p:nvSpPr>
          <p:cNvPr id="18502" name="Line 70">
            <a:extLst>
              <a:ext uri="{FF2B5EF4-FFF2-40B4-BE49-F238E27FC236}">
                <a16:creationId xmlns:a16="http://schemas.microsoft.com/office/drawing/2014/main" id="{2C76B4C2-3A2A-45BC-B228-72ABE1840C11}"/>
              </a:ext>
            </a:extLst>
          </p:cNvPr>
          <p:cNvSpPr>
            <a:spLocks noChangeShapeType="1"/>
          </p:cNvSpPr>
          <p:nvPr/>
        </p:nvSpPr>
        <p:spPr bwMode="auto">
          <a:xfrm flipV="1">
            <a:off x="1828800" y="3491865"/>
            <a:ext cx="1254443" cy="5715"/>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18503" name="Line 71">
            <a:extLst>
              <a:ext uri="{FF2B5EF4-FFF2-40B4-BE49-F238E27FC236}">
                <a16:creationId xmlns:a16="http://schemas.microsoft.com/office/drawing/2014/main" id="{293CFEE8-5E8B-430E-ADEE-CF1063682FD3}"/>
              </a:ext>
            </a:extLst>
          </p:cNvPr>
          <p:cNvSpPr>
            <a:spLocks noChangeShapeType="1"/>
          </p:cNvSpPr>
          <p:nvPr/>
        </p:nvSpPr>
        <p:spPr bwMode="auto">
          <a:xfrm flipH="1" flipV="1">
            <a:off x="1828800" y="3977640"/>
            <a:ext cx="1414463" cy="1000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18504" name="Text Box 72">
            <a:extLst>
              <a:ext uri="{FF2B5EF4-FFF2-40B4-BE49-F238E27FC236}">
                <a16:creationId xmlns:a16="http://schemas.microsoft.com/office/drawing/2014/main" id="{85C6BA90-B7AF-4C1C-B5C2-28D8A67E3953}"/>
              </a:ext>
            </a:extLst>
          </p:cNvPr>
          <p:cNvSpPr txBox="1">
            <a:spLocks noChangeArrowheads="1"/>
          </p:cNvSpPr>
          <p:nvPr/>
        </p:nvSpPr>
        <p:spPr bwMode="auto">
          <a:xfrm>
            <a:off x="1955959" y="3223260"/>
            <a:ext cx="963719" cy="272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7" tIns="45717" rIns="91437" bIns="45717">
            <a:spAutoFit/>
          </a:bodyP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1170"/>
              <a:t>HTTP POST</a:t>
            </a:r>
          </a:p>
        </p:txBody>
      </p:sp>
      <p:sp>
        <p:nvSpPr>
          <p:cNvPr id="18507" name="Text Box 75">
            <a:extLst>
              <a:ext uri="{FF2B5EF4-FFF2-40B4-BE49-F238E27FC236}">
                <a16:creationId xmlns:a16="http://schemas.microsoft.com/office/drawing/2014/main" id="{0F419D82-5610-41A0-84E4-10EC7E2605AE}"/>
              </a:ext>
            </a:extLst>
          </p:cNvPr>
          <p:cNvSpPr txBox="1">
            <a:spLocks noChangeArrowheads="1"/>
          </p:cNvSpPr>
          <p:nvPr/>
        </p:nvSpPr>
        <p:spPr bwMode="auto">
          <a:xfrm>
            <a:off x="3091816" y="3334703"/>
            <a:ext cx="685951" cy="31392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7" tIns="45717" rIns="91437" bIns="45717">
            <a:spAutoFit/>
          </a:bodyP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1440"/>
              <a:t>URL 1</a:t>
            </a:r>
          </a:p>
        </p:txBody>
      </p:sp>
      <p:sp>
        <p:nvSpPr>
          <p:cNvPr id="18508" name="Line 76">
            <a:extLst>
              <a:ext uri="{FF2B5EF4-FFF2-40B4-BE49-F238E27FC236}">
                <a16:creationId xmlns:a16="http://schemas.microsoft.com/office/drawing/2014/main" id="{B8B14898-C2E5-4B95-8C7E-87CBEC485067}"/>
              </a:ext>
            </a:extLst>
          </p:cNvPr>
          <p:cNvSpPr>
            <a:spLocks noChangeShapeType="1"/>
          </p:cNvSpPr>
          <p:nvPr/>
        </p:nvSpPr>
        <p:spPr bwMode="auto">
          <a:xfrm>
            <a:off x="3800475" y="3496152"/>
            <a:ext cx="5429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18509" name="Text Box 77">
            <a:extLst>
              <a:ext uri="{FF2B5EF4-FFF2-40B4-BE49-F238E27FC236}">
                <a16:creationId xmlns:a16="http://schemas.microsoft.com/office/drawing/2014/main" id="{C3B2339E-CF73-4851-AAE5-428E39083820}"/>
              </a:ext>
            </a:extLst>
          </p:cNvPr>
          <p:cNvSpPr txBox="1">
            <a:spLocks noChangeArrowheads="1"/>
          </p:cNvSpPr>
          <p:nvPr/>
        </p:nvSpPr>
        <p:spPr bwMode="auto">
          <a:xfrm>
            <a:off x="3183255" y="3844767"/>
            <a:ext cx="1172110" cy="272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7" tIns="45717" rIns="91437" bIns="45717">
            <a:spAutoFit/>
          </a:bodyP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1170"/>
              <a:t>HTTP Response</a:t>
            </a:r>
          </a:p>
        </p:txBody>
      </p:sp>
      <p:sp>
        <p:nvSpPr>
          <p:cNvPr id="18510" name="Line 78">
            <a:extLst>
              <a:ext uri="{FF2B5EF4-FFF2-40B4-BE49-F238E27FC236}">
                <a16:creationId xmlns:a16="http://schemas.microsoft.com/office/drawing/2014/main" id="{F6A429A5-EC5F-4CAE-B305-C65ACE6FEA43}"/>
              </a:ext>
            </a:extLst>
          </p:cNvPr>
          <p:cNvSpPr>
            <a:spLocks noChangeShapeType="1"/>
          </p:cNvSpPr>
          <p:nvPr/>
        </p:nvSpPr>
        <p:spPr bwMode="auto">
          <a:xfrm>
            <a:off x="7849553" y="3188970"/>
            <a:ext cx="21288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18511" name="Rectangle 79">
            <a:extLst>
              <a:ext uri="{FF2B5EF4-FFF2-40B4-BE49-F238E27FC236}">
                <a16:creationId xmlns:a16="http://schemas.microsoft.com/office/drawing/2014/main" id="{DA560E95-3ABD-4B6E-928E-58F5C5784404}"/>
              </a:ext>
            </a:extLst>
          </p:cNvPr>
          <p:cNvSpPr>
            <a:spLocks noChangeArrowheads="1"/>
          </p:cNvSpPr>
          <p:nvPr/>
        </p:nvSpPr>
        <p:spPr bwMode="auto">
          <a:xfrm>
            <a:off x="8001000" y="3017520"/>
            <a:ext cx="955705" cy="313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7" tIns="45717" rIns="91437" bIns="45717">
            <a:spAutoFit/>
          </a:bodyP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1440"/>
              <a:t>doPost(id)</a:t>
            </a:r>
          </a:p>
        </p:txBody>
      </p:sp>
      <p:sp>
        <p:nvSpPr>
          <p:cNvPr id="18513" name="Line 81">
            <a:extLst>
              <a:ext uri="{FF2B5EF4-FFF2-40B4-BE49-F238E27FC236}">
                <a16:creationId xmlns:a16="http://schemas.microsoft.com/office/drawing/2014/main" id="{75CCF672-10F5-4F17-9C62-45C713B37871}"/>
              </a:ext>
            </a:extLst>
          </p:cNvPr>
          <p:cNvSpPr>
            <a:spLocks noChangeShapeType="1"/>
          </p:cNvSpPr>
          <p:nvPr/>
        </p:nvSpPr>
        <p:spPr bwMode="auto">
          <a:xfrm>
            <a:off x="5123498" y="3556159"/>
            <a:ext cx="104013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18521" name="Line 89">
            <a:extLst>
              <a:ext uri="{FF2B5EF4-FFF2-40B4-BE49-F238E27FC236}">
                <a16:creationId xmlns:a16="http://schemas.microsoft.com/office/drawing/2014/main" id="{381300EA-3B0D-47A6-A823-6EF21FD15D75}"/>
              </a:ext>
            </a:extLst>
          </p:cNvPr>
          <p:cNvSpPr>
            <a:spLocks noChangeShapeType="1"/>
          </p:cNvSpPr>
          <p:nvPr/>
        </p:nvSpPr>
        <p:spPr bwMode="auto">
          <a:xfrm>
            <a:off x="5117783" y="3934778"/>
            <a:ext cx="1041559"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18528" name="Text Box 96">
            <a:extLst>
              <a:ext uri="{FF2B5EF4-FFF2-40B4-BE49-F238E27FC236}">
                <a16:creationId xmlns:a16="http://schemas.microsoft.com/office/drawing/2014/main" id="{0106E45B-E9AC-4A62-A6E4-7331F6A9A098}"/>
              </a:ext>
            </a:extLst>
          </p:cNvPr>
          <p:cNvSpPr txBox="1">
            <a:spLocks noChangeArrowheads="1"/>
          </p:cNvSpPr>
          <p:nvPr/>
        </p:nvSpPr>
        <p:spPr bwMode="auto">
          <a:xfrm>
            <a:off x="6269355" y="3223260"/>
            <a:ext cx="1457325" cy="1144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7" tIns="45717" rIns="91437" bIns="45717">
            <a:spAutoFit/>
          </a:bodyP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1800"/>
              <a:t>REST Engine</a:t>
            </a:r>
          </a:p>
          <a:p>
            <a:pPr eaLnBrk="0" hangingPunct="0"/>
            <a:r>
              <a:rPr lang="en-US" altLang="en-US" sz="1800"/>
              <a:t>(</a:t>
            </a:r>
            <a:r>
              <a:rPr lang="en-US" altLang="en-US" sz="1440"/>
              <a:t>locate resource and generate response</a:t>
            </a:r>
            <a:r>
              <a:rPr lang="en-US" altLang="en-US" sz="1800"/>
              <a:t>)</a:t>
            </a:r>
          </a:p>
        </p:txBody>
      </p:sp>
      <p:grpSp>
        <p:nvGrpSpPr>
          <p:cNvPr id="18530" name="Group 98">
            <a:extLst>
              <a:ext uri="{FF2B5EF4-FFF2-40B4-BE49-F238E27FC236}">
                <a16:creationId xmlns:a16="http://schemas.microsoft.com/office/drawing/2014/main" id="{8622387E-9504-41D9-B59E-EE98EC8EC282}"/>
              </a:ext>
            </a:extLst>
          </p:cNvPr>
          <p:cNvGrpSpPr>
            <a:grpSpLocks/>
          </p:cNvGrpSpPr>
          <p:nvPr/>
        </p:nvGrpSpPr>
        <p:grpSpPr bwMode="auto">
          <a:xfrm>
            <a:off x="1072098" y="4526280"/>
            <a:ext cx="765186" cy="408623"/>
            <a:chOff x="398" y="1476"/>
            <a:chExt cx="408" cy="257"/>
          </a:xfrm>
        </p:grpSpPr>
        <p:sp>
          <p:nvSpPr>
            <p:cNvPr id="18531" name="Rectangle 99">
              <a:extLst>
                <a:ext uri="{FF2B5EF4-FFF2-40B4-BE49-F238E27FC236}">
                  <a16:creationId xmlns:a16="http://schemas.microsoft.com/office/drawing/2014/main" id="{B8C706AC-2495-4C3C-8213-E37F0479A11D}"/>
                </a:ext>
              </a:extLst>
            </p:cNvPr>
            <p:cNvSpPr>
              <a:spLocks noChangeArrowheads="1"/>
            </p:cNvSpPr>
            <p:nvPr/>
          </p:nvSpPr>
          <p:spPr bwMode="auto">
            <a:xfrm>
              <a:off x="410" y="1476"/>
              <a:ext cx="384" cy="257"/>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18532" name="Text Box 100">
              <a:extLst>
                <a:ext uri="{FF2B5EF4-FFF2-40B4-BE49-F238E27FC236}">
                  <a16:creationId xmlns:a16="http://schemas.microsoft.com/office/drawing/2014/main" id="{496A3806-B51B-4F3B-8397-FE6B525761AB}"/>
                </a:ext>
              </a:extLst>
            </p:cNvPr>
            <p:cNvSpPr txBox="1">
              <a:spLocks noChangeArrowheads="1"/>
            </p:cNvSpPr>
            <p:nvPr/>
          </p:nvSpPr>
          <p:spPr bwMode="auto">
            <a:xfrm>
              <a:off x="398" y="1478"/>
              <a:ext cx="40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7" tIns="45717" rIns="91437" bIns="45717">
              <a:spAutoFit/>
            </a:bodyP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algn="ctr" eaLnBrk="0" hangingPunct="0"/>
              <a:r>
                <a:rPr lang="en-US" altLang="en-US" sz="990"/>
                <a:t>PO</a:t>
              </a:r>
            </a:p>
            <a:p>
              <a:pPr algn="ctr" eaLnBrk="0" hangingPunct="0"/>
              <a:r>
                <a:rPr lang="en-US" altLang="en-US" sz="990"/>
                <a:t>(XML doc)</a:t>
              </a:r>
              <a:endParaRPr lang="en-US" altLang="en-US" sz="1980"/>
            </a:p>
          </p:txBody>
        </p:sp>
      </p:grpSp>
      <p:sp>
        <p:nvSpPr>
          <p:cNvPr id="18539" name="Line 107">
            <a:extLst>
              <a:ext uri="{FF2B5EF4-FFF2-40B4-BE49-F238E27FC236}">
                <a16:creationId xmlns:a16="http://schemas.microsoft.com/office/drawing/2014/main" id="{42CE2F4E-390D-4B50-B541-5803644C8278}"/>
              </a:ext>
            </a:extLst>
          </p:cNvPr>
          <p:cNvSpPr>
            <a:spLocks noChangeShapeType="1"/>
          </p:cNvSpPr>
          <p:nvPr/>
        </p:nvSpPr>
        <p:spPr bwMode="auto">
          <a:xfrm>
            <a:off x="1917383" y="4770597"/>
            <a:ext cx="1160145" cy="285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18540" name="Text Box 108">
            <a:extLst>
              <a:ext uri="{FF2B5EF4-FFF2-40B4-BE49-F238E27FC236}">
                <a16:creationId xmlns:a16="http://schemas.microsoft.com/office/drawing/2014/main" id="{68031C85-A67C-4F10-9BB7-9AF94BA66B75}"/>
              </a:ext>
            </a:extLst>
          </p:cNvPr>
          <p:cNvSpPr txBox="1">
            <a:spLocks noChangeArrowheads="1"/>
          </p:cNvSpPr>
          <p:nvPr/>
        </p:nvSpPr>
        <p:spPr bwMode="auto">
          <a:xfrm>
            <a:off x="1951673" y="4503420"/>
            <a:ext cx="1162492" cy="272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7" tIns="45717" rIns="91437" bIns="45717">
            <a:spAutoFit/>
          </a:bodyP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1170"/>
              <a:t>HTTP DELETE</a:t>
            </a:r>
          </a:p>
        </p:txBody>
      </p:sp>
      <p:sp>
        <p:nvSpPr>
          <p:cNvPr id="18542" name="Text Box 110">
            <a:extLst>
              <a:ext uri="{FF2B5EF4-FFF2-40B4-BE49-F238E27FC236}">
                <a16:creationId xmlns:a16="http://schemas.microsoft.com/office/drawing/2014/main" id="{A36B739A-49ED-4DA1-96E3-3E189C832486}"/>
              </a:ext>
            </a:extLst>
          </p:cNvPr>
          <p:cNvSpPr txBox="1">
            <a:spLocks noChangeArrowheads="1"/>
          </p:cNvSpPr>
          <p:nvPr/>
        </p:nvSpPr>
        <p:spPr bwMode="auto">
          <a:xfrm>
            <a:off x="3087530" y="4616292"/>
            <a:ext cx="685951" cy="31392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7" tIns="45717" rIns="91437" bIns="45717">
            <a:spAutoFit/>
          </a:bodyP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1440"/>
              <a:t>URL 1</a:t>
            </a:r>
          </a:p>
        </p:txBody>
      </p:sp>
      <p:sp>
        <p:nvSpPr>
          <p:cNvPr id="18543" name="Line 111">
            <a:extLst>
              <a:ext uri="{FF2B5EF4-FFF2-40B4-BE49-F238E27FC236}">
                <a16:creationId xmlns:a16="http://schemas.microsoft.com/office/drawing/2014/main" id="{0B5F13A4-BAC6-438A-80DB-30A27C548AD0}"/>
              </a:ext>
            </a:extLst>
          </p:cNvPr>
          <p:cNvSpPr>
            <a:spLocks noChangeShapeType="1"/>
          </p:cNvSpPr>
          <p:nvPr/>
        </p:nvSpPr>
        <p:spPr bwMode="auto">
          <a:xfrm>
            <a:off x="3796189" y="4776312"/>
            <a:ext cx="5429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18545" name="Line 113">
            <a:extLst>
              <a:ext uri="{FF2B5EF4-FFF2-40B4-BE49-F238E27FC236}">
                <a16:creationId xmlns:a16="http://schemas.microsoft.com/office/drawing/2014/main" id="{ABDD79B4-7BFF-403C-948C-EBCE121AFD38}"/>
              </a:ext>
            </a:extLst>
          </p:cNvPr>
          <p:cNvSpPr>
            <a:spLocks noChangeShapeType="1"/>
          </p:cNvSpPr>
          <p:nvPr/>
        </p:nvSpPr>
        <p:spPr bwMode="auto">
          <a:xfrm>
            <a:off x="5117783" y="4807744"/>
            <a:ext cx="1041559"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18552" name="Line 120">
            <a:extLst>
              <a:ext uri="{FF2B5EF4-FFF2-40B4-BE49-F238E27FC236}">
                <a16:creationId xmlns:a16="http://schemas.microsoft.com/office/drawing/2014/main" id="{CEF431D8-7AE7-48E6-96CF-280A5FCF5222}"/>
              </a:ext>
            </a:extLst>
          </p:cNvPr>
          <p:cNvSpPr>
            <a:spLocks noChangeShapeType="1"/>
          </p:cNvSpPr>
          <p:nvPr/>
        </p:nvSpPr>
        <p:spPr bwMode="auto">
          <a:xfrm>
            <a:off x="7863840" y="4183380"/>
            <a:ext cx="21288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18553" name="Rectangle 121">
            <a:extLst>
              <a:ext uri="{FF2B5EF4-FFF2-40B4-BE49-F238E27FC236}">
                <a16:creationId xmlns:a16="http://schemas.microsoft.com/office/drawing/2014/main" id="{DD624183-05FC-4B46-BB7A-3CA69AC9D456}"/>
              </a:ext>
            </a:extLst>
          </p:cNvPr>
          <p:cNvSpPr>
            <a:spLocks noChangeArrowheads="1"/>
          </p:cNvSpPr>
          <p:nvPr/>
        </p:nvSpPr>
        <p:spPr bwMode="auto">
          <a:xfrm>
            <a:off x="8001000" y="3977640"/>
            <a:ext cx="973337" cy="313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7" tIns="45717" rIns="91437" bIns="45717">
            <a:spAutoFit/>
          </a:bodyP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1440"/>
              <a:t>doDelete()</a:t>
            </a:r>
          </a:p>
        </p:txBody>
      </p:sp>
      <p:grpSp>
        <p:nvGrpSpPr>
          <p:cNvPr id="18560" name="Group 128">
            <a:extLst>
              <a:ext uri="{FF2B5EF4-FFF2-40B4-BE49-F238E27FC236}">
                <a16:creationId xmlns:a16="http://schemas.microsoft.com/office/drawing/2014/main" id="{A235EC42-3033-4006-B5B4-92DA4ED2111C}"/>
              </a:ext>
            </a:extLst>
          </p:cNvPr>
          <p:cNvGrpSpPr>
            <a:grpSpLocks/>
          </p:cNvGrpSpPr>
          <p:nvPr/>
        </p:nvGrpSpPr>
        <p:grpSpPr bwMode="auto">
          <a:xfrm>
            <a:off x="1058985" y="5143500"/>
            <a:ext cx="837262" cy="407194"/>
            <a:chOff x="393" y="1476"/>
            <a:chExt cx="418" cy="257"/>
          </a:xfrm>
        </p:grpSpPr>
        <p:sp>
          <p:nvSpPr>
            <p:cNvPr id="18561" name="Rectangle 129">
              <a:extLst>
                <a:ext uri="{FF2B5EF4-FFF2-40B4-BE49-F238E27FC236}">
                  <a16:creationId xmlns:a16="http://schemas.microsoft.com/office/drawing/2014/main" id="{F14D9ACC-90EE-423E-874F-E12B40765ED5}"/>
                </a:ext>
              </a:extLst>
            </p:cNvPr>
            <p:cNvSpPr>
              <a:spLocks noChangeArrowheads="1"/>
            </p:cNvSpPr>
            <p:nvPr/>
          </p:nvSpPr>
          <p:spPr bwMode="auto">
            <a:xfrm>
              <a:off x="410" y="1476"/>
              <a:ext cx="384" cy="257"/>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18562" name="Text Box 130">
              <a:extLst>
                <a:ext uri="{FF2B5EF4-FFF2-40B4-BE49-F238E27FC236}">
                  <a16:creationId xmlns:a16="http://schemas.microsoft.com/office/drawing/2014/main" id="{E1FA430F-0535-433B-903A-D23028552181}"/>
                </a:ext>
              </a:extLst>
            </p:cNvPr>
            <p:cNvSpPr txBox="1">
              <a:spLocks noChangeArrowheads="1"/>
            </p:cNvSpPr>
            <p:nvPr/>
          </p:nvSpPr>
          <p:spPr bwMode="auto">
            <a:xfrm>
              <a:off x="393" y="1478"/>
              <a:ext cx="418"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7" tIns="45717" rIns="91437" bIns="45717">
              <a:spAutoFit/>
            </a:bodyP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algn="ctr" eaLnBrk="0" hangingPunct="0"/>
              <a:r>
                <a:rPr lang="en-US" altLang="en-US" sz="990"/>
                <a:t>Response</a:t>
              </a:r>
            </a:p>
            <a:p>
              <a:pPr algn="ctr" eaLnBrk="0" hangingPunct="0"/>
              <a:r>
                <a:rPr lang="en-US" altLang="en-US" sz="990"/>
                <a:t>(</a:t>
              </a:r>
              <a:r>
                <a:rPr lang="en-US" altLang="en-US" sz="990" b="1"/>
                <a:t>TEXT doc</a:t>
              </a:r>
              <a:r>
                <a:rPr lang="en-US" altLang="en-US" sz="990"/>
                <a:t>)</a:t>
              </a:r>
              <a:endParaRPr lang="en-US" altLang="en-US" sz="1980"/>
            </a:p>
          </p:txBody>
        </p:sp>
      </p:grpSp>
      <p:sp>
        <p:nvSpPr>
          <p:cNvPr id="18563" name="Line 131">
            <a:extLst>
              <a:ext uri="{FF2B5EF4-FFF2-40B4-BE49-F238E27FC236}">
                <a16:creationId xmlns:a16="http://schemas.microsoft.com/office/drawing/2014/main" id="{2860F3E2-D5BE-4148-ACFC-F39C3F7B2E2C}"/>
              </a:ext>
            </a:extLst>
          </p:cNvPr>
          <p:cNvSpPr>
            <a:spLocks noChangeShapeType="1"/>
          </p:cNvSpPr>
          <p:nvPr/>
        </p:nvSpPr>
        <p:spPr bwMode="auto">
          <a:xfrm flipH="1" flipV="1">
            <a:off x="1880235" y="5294948"/>
            <a:ext cx="1337310" cy="1429"/>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18565" name="Text Box 133">
            <a:extLst>
              <a:ext uri="{FF2B5EF4-FFF2-40B4-BE49-F238E27FC236}">
                <a16:creationId xmlns:a16="http://schemas.microsoft.com/office/drawing/2014/main" id="{FA3C88F2-23D8-4541-8C0F-6E82C6E53DC4}"/>
              </a:ext>
            </a:extLst>
          </p:cNvPr>
          <p:cNvSpPr txBox="1">
            <a:spLocks noChangeArrowheads="1"/>
          </p:cNvSpPr>
          <p:nvPr/>
        </p:nvSpPr>
        <p:spPr bwMode="auto">
          <a:xfrm>
            <a:off x="3157538" y="5153502"/>
            <a:ext cx="1172110" cy="272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7" tIns="45717" rIns="91437" bIns="45717">
            <a:spAutoFit/>
          </a:bodyPr>
          <a:lstStyle>
            <a:lvl1pPr defTabSz="1016000">
              <a:defRPr sz="2400">
                <a:solidFill>
                  <a:schemeClr val="tx1"/>
                </a:solidFill>
                <a:latin typeface="Times New Roman" panose="02020603050405020304" pitchFamily="18" charset="0"/>
              </a:defRPr>
            </a:lvl1pPr>
            <a:lvl2pPr marL="508000" defTabSz="1016000">
              <a:defRPr sz="2400">
                <a:solidFill>
                  <a:schemeClr val="tx1"/>
                </a:solidFill>
                <a:latin typeface="Times New Roman" panose="02020603050405020304" pitchFamily="18" charset="0"/>
              </a:defRPr>
            </a:lvl2pPr>
            <a:lvl3pPr marL="1016000" defTabSz="1016000">
              <a:defRPr sz="2400">
                <a:solidFill>
                  <a:schemeClr val="tx1"/>
                </a:solidFill>
                <a:latin typeface="Times New Roman" panose="02020603050405020304" pitchFamily="18" charset="0"/>
              </a:defRPr>
            </a:lvl3pPr>
            <a:lvl4pPr marL="1524000" defTabSz="1016000">
              <a:defRPr sz="2400">
                <a:solidFill>
                  <a:schemeClr val="tx1"/>
                </a:solidFill>
                <a:latin typeface="Times New Roman" panose="02020603050405020304" pitchFamily="18" charset="0"/>
              </a:defRPr>
            </a:lvl4pPr>
            <a:lvl5pPr marL="2032000" defTabSz="1016000">
              <a:defRPr sz="2400">
                <a:solidFill>
                  <a:schemeClr val="tx1"/>
                </a:solidFill>
                <a:latin typeface="Times New Roman" panose="02020603050405020304" pitchFamily="18" charset="0"/>
              </a:defRPr>
            </a:lvl5pPr>
            <a:lvl6pPr marL="2489200" defTabSz="1016000" fontAlgn="base">
              <a:spcBef>
                <a:spcPct val="0"/>
              </a:spcBef>
              <a:spcAft>
                <a:spcPct val="0"/>
              </a:spcAft>
              <a:defRPr sz="2400">
                <a:solidFill>
                  <a:schemeClr val="tx1"/>
                </a:solidFill>
                <a:latin typeface="Times New Roman" panose="02020603050405020304" pitchFamily="18" charset="0"/>
              </a:defRPr>
            </a:lvl6pPr>
            <a:lvl7pPr marL="2946400" defTabSz="1016000" fontAlgn="base">
              <a:spcBef>
                <a:spcPct val="0"/>
              </a:spcBef>
              <a:spcAft>
                <a:spcPct val="0"/>
              </a:spcAft>
              <a:defRPr sz="2400">
                <a:solidFill>
                  <a:schemeClr val="tx1"/>
                </a:solidFill>
                <a:latin typeface="Times New Roman" panose="02020603050405020304" pitchFamily="18" charset="0"/>
              </a:defRPr>
            </a:lvl7pPr>
            <a:lvl8pPr marL="3403600" defTabSz="1016000" fontAlgn="base">
              <a:spcBef>
                <a:spcPct val="0"/>
              </a:spcBef>
              <a:spcAft>
                <a:spcPct val="0"/>
              </a:spcAft>
              <a:defRPr sz="2400">
                <a:solidFill>
                  <a:schemeClr val="tx1"/>
                </a:solidFill>
                <a:latin typeface="Times New Roman" panose="02020603050405020304" pitchFamily="18" charset="0"/>
              </a:defRPr>
            </a:lvl8pPr>
            <a:lvl9pPr marL="3860800" defTabSz="101600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1170"/>
              <a:t>HTTP Response</a:t>
            </a:r>
          </a:p>
        </p:txBody>
      </p:sp>
      <p:sp>
        <p:nvSpPr>
          <p:cNvPr id="18567" name="Line 135">
            <a:extLst>
              <a:ext uri="{FF2B5EF4-FFF2-40B4-BE49-F238E27FC236}">
                <a16:creationId xmlns:a16="http://schemas.microsoft.com/office/drawing/2014/main" id="{B7201670-D7DC-48BF-8828-A32E999FFBFE}"/>
              </a:ext>
            </a:extLst>
          </p:cNvPr>
          <p:cNvSpPr>
            <a:spLocks noChangeShapeType="1"/>
          </p:cNvSpPr>
          <p:nvPr/>
        </p:nvSpPr>
        <p:spPr bwMode="auto">
          <a:xfrm>
            <a:off x="5092065" y="5243513"/>
            <a:ext cx="1041559"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18574" name="Line 142">
            <a:extLst>
              <a:ext uri="{FF2B5EF4-FFF2-40B4-BE49-F238E27FC236}">
                <a16:creationId xmlns:a16="http://schemas.microsoft.com/office/drawing/2014/main" id="{C0892EFA-6BEE-4C7E-814E-CDE83474FE84}"/>
              </a:ext>
            </a:extLst>
          </p:cNvPr>
          <p:cNvSpPr>
            <a:spLocks noChangeShapeType="1"/>
          </p:cNvSpPr>
          <p:nvPr/>
        </p:nvSpPr>
        <p:spPr bwMode="auto">
          <a:xfrm flipH="1" flipV="1">
            <a:off x="1871663" y="2696052"/>
            <a:ext cx="1338739" cy="142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18575" name="Line 143">
            <a:extLst>
              <a:ext uri="{FF2B5EF4-FFF2-40B4-BE49-F238E27FC236}">
                <a16:creationId xmlns:a16="http://schemas.microsoft.com/office/drawing/2014/main" id="{EED4819C-595C-4EDD-93B2-F57D5AB43589}"/>
              </a:ext>
            </a:extLst>
          </p:cNvPr>
          <p:cNvSpPr>
            <a:spLocks noChangeShapeType="1"/>
          </p:cNvSpPr>
          <p:nvPr/>
        </p:nvSpPr>
        <p:spPr bwMode="auto">
          <a:xfrm>
            <a:off x="1913097" y="2208848"/>
            <a:ext cx="1160145" cy="285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18578" name="Rectangle 146">
            <a:extLst>
              <a:ext uri="{FF2B5EF4-FFF2-40B4-BE49-F238E27FC236}">
                <a16:creationId xmlns:a16="http://schemas.microsoft.com/office/drawing/2014/main" id="{958F9470-B692-4F4C-8D49-7BBB1D173AC8}"/>
              </a:ext>
            </a:extLst>
          </p:cNvPr>
          <p:cNvSpPr>
            <a:spLocks noGrp="1" noChangeArrowheads="1"/>
          </p:cNvSpPr>
          <p:nvPr>
            <p:ph type="title"/>
          </p:nvPr>
        </p:nvSpPr>
        <p:spPr/>
        <p:txBody>
          <a:bodyPr/>
          <a:lstStyle/>
          <a:p>
            <a:r>
              <a:rPr lang="en-US" altLang="en-US"/>
              <a:t>Architecture Style</a:t>
            </a:r>
          </a:p>
        </p:txBody>
      </p:sp>
      <p:sp>
        <p:nvSpPr>
          <p:cNvPr id="18579" name="AutoShape 147">
            <a:extLst>
              <a:ext uri="{FF2B5EF4-FFF2-40B4-BE49-F238E27FC236}">
                <a16:creationId xmlns:a16="http://schemas.microsoft.com/office/drawing/2014/main" id="{21AE36C1-8594-4194-8240-AEF09F6536B3}"/>
              </a:ext>
            </a:extLst>
          </p:cNvPr>
          <p:cNvSpPr>
            <a:spLocks noChangeArrowheads="1"/>
          </p:cNvSpPr>
          <p:nvPr/>
        </p:nvSpPr>
        <p:spPr bwMode="auto">
          <a:xfrm>
            <a:off x="8343900" y="4869180"/>
            <a:ext cx="480060" cy="617220"/>
          </a:xfrm>
          <a:prstGeom prst="flowChartMagneticDisk">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18580" name="AutoShape 148">
            <a:extLst>
              <a:ext uri="{FF2B5EF4-FFF2-40B4-BE49-F238E27FC236}">
                <a16:creationId xmlns:a16="http://schemas.microsoft.com/office/drawing/2014/main" id="{F1486F0C-67D4-461E-89C9-8AF81AC9FBFB}"/>
              </a:ext>
            </a:extLst>
          </p:cNvPr>
          <p:cNvSpPr>
            <a:spLocks noChangeArrowheads="1"/>
          </p:cNvSpPr>
          <p:nvPr/>
        </p:nvSpPr>
        <p:spPr bwMode="auto">
          <a:xfrm>
            <a:off x="8549640" y="5143500"/>
            <a:ext cx="480060" cy="617220"/>
          </a:xfrm>
          <a:prstGeom prst="can">
            <a:avLst>
              <a:gd name="adj" fmla="val 32143"/>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20"/>
          </a:p>
        </p:txBody>
      </p:sp>
      <p:sp>
        <p:nvSpPr>
          <p:cNvPr id="18581" name="Line 149">
            <a:extLst>
              <a:ext uri="{FF2B5EF4-FFF2-40B4-BE49-F238E27FC236}">
                <a16:creationId xmlns:a16="http://schemas.microsoft.com/office/drawing/2014/main" id="{7125B241-D89F-44BB-81E4-67ACFF7FA568}"/>
              </a:ext>
            </a:extLst>
          </p:cNvPr>
          <p:cNvSpPr>
            <a:spLocks noChangeShapeType="1"/>
          </p:cNvSpPr>
          <p:nvPr/>
        </p:nvSpPr>
        <p:spPr bwMode="auto">
          <a:xfrm>
            <a:off x="7795260" y="5074920"/>
            <a:ext cx="548640"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20"/>
          </a:p>
        </p:txBody>
      </p:sp>
    </p:spTree>
    <p:extLst>
      <p:ext uri="{BB962C8B-B14F-4D97-AF65-F5344CB8AC3E}">
        <p14:creationId xmlns:p14="http://schemas.microsoft.com/office/powerpoint/2010/main" val="502699926"/>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EEBD0-4F0E-4C9C-AD6E-B22BE39D9405}"/>
              </a:ext>
            </a:extLst>
          </p:cNvPr>
          <p:cNvSpPr>
            <a:spLocks noGrp="1"/>
          </p:cNvSpPr>
          <p:nvPr>
            <p:ph type="title"/>
          </p:nvPr>
        </p:nvSpPr>
        <p:spPr/>
        <p:txBody>
          <a:bodyPr/>
          <a:lstStyle/>
          <a:p>
            <a:r>
              <a:rPr lang="en-US" dirty="0"/>
              <a:t>From Non-REST to REST</a:t>
            </a:r>
          </a:p>
        </p:txBody>
      </p:sp>
      <p:sp>
        <p:nvSpPr>
          <p:cNvPr id="3" name="Content Placeholder 2">
            <a:extLst>
              <a:ext uri="{FF2B5EF4-FFF2-40B4-BE49-F238E27FC236}">
                <a16:creationId xmlns:a16="http://schemas.microsoft.com/office/drawing/2014/main" id="{40F0C549-1261-41E6-B799-508BE1019986}"/>
              </a:ext>
            </a:extLst>
          </p:cNvPr>
          <p:cNvSpPr>
            <a:spLocks noGrp="1"/>
          </p:cNvSpPr>
          <p:nvPr>
            <p:ph idx="1"/>
          </p:nvPr>
        </p:nvSpPr>
        <p:spPr/>
        <p:txBody>
          <a:bodyPr/>
          <a:lstStyle/>
          <a:p>
            <a:r>
              <a:rPr lang="en-US" dirty="0"/>
              <a:t>Many abstract concepts in a procedural API get mapped into “concrete” resources in REST:</a:t>
            </a:r>
          </a:p>
          <a:p>
            <a:pPr lvl="1">
              <a:lnSpc>
                <a:spcPct val="80000"/>
              </a:lnSpc>
              <a:spcBef>
                <a:spcPct val="30000"/>
              </a:spcBef>
              <a:spcAft>
                <a:spcPct val="30000"/>
              </a:spcAft>
            </a:pPr>
            <a:r>
              <a:rPr lang="en-US" altLang="en-US" dirty="0">
                <a:ea typeface="ＭＳ Ｐゴシック" panose="020B0600070205080204" pitchFamily="34" charset="-128"/>
              </a:rPr>
              <a:t>setUserLastName() becomes </a:t>
            </a:r>
          </a:p>
          <a:p>
            <a:pPr marL="457200" lvl="1" indent="0">
              <a:lnSpc>
                <a:spcPct val="80000"/>
              </a:lnSpc>
              <a:spcBef>
                <a:spcPct val="30000"/>
              </a:spcBef>
              <a:spcAft>
                <a:spcPct val="30000"/>
              </a:spcAft>
              <a:buNone/>
            </a:pPr>
            <a:r>
              <a:rPr lang="en-US" altLang="en-US" dirty="0">
                <a:ea typeface="ＭＳ Ｐゴシック" panose="020B0600070205080204" pitchFamily="34" charset="-128"/>
              </a:rPr>
              <a:t>	PUT www.example.com/user/{userid}</a:t>
            </a:r>
          </a:p>
          <a:p>
            <a:pPr lvl="1">
              <a:lnSpc>
                <a:spcPct val="80000"/>
              </a:lnSpc>
              <a:spcBef>
                <a:spcPct val="30000"/>
              </a:spcBef>
              <a:spcAft>
                <a:spcPct val="30000"/>
              </a:spcAft>
            </a:pPr>
            <a:r>
              <a:rPr lang="en-US" altLang="en-US" dirty="0" err="1">
                <a:ea typeface="ＭＳ Ｐゴシック" panose="020B0600070205080204" pitchFamily="34" charset="-128"/>
              </a:rPr>
              <a:t>findUsersFromOrganization</a:t>
            </a:r>
            <a:r>
              <a:rPr lang="en-US" altLang="en-US" dirty="0">
                <a:ea typeface="ＭＳ Ｐゴシック" panose="020B0600070205080204" pitchFamily="34" charset="-128"/>
              </a:rPr>
              <a:t>() becomes </a:t>
            </a:r>
          </a:p>
          <a:p>
            <a:pPr marL="457200" lvl="1" indent="0">
              <a:lnSpc>
                <a:spcPct val="80000"/>
              </a:lnSpc>
              <a:spcBef>
                <a:spcPct val="30000"/>
              </a:spcBef>
              <a:spcAft>
                <a:spcPct val="30000"/>
              </a:spcAft>
              <a:buNone/>
            </a:pPr>
            <a:r>
              <a:rPr lang="en-US" altLang="en-US" dirty="0">
                <a:ea typeface="ＭＳ Ｐゴシック" panose="020B0600070205080204" pitchFamily="34" charset="-128"/>
              </a:rPr>
              <a:t>	GET </a:t>
            </a:r>
            <a:r>
              <a:rPr lang="en-US" altLang="en-US" dirty="0">
                <a:ea typeface="ＭＳ Ｐゴシック" panose="020B0600070205080204" pitchFamily="34" charset="-128"/>
                <a:hlinkClick r:id="rId2" invalidUrl="http://www.example.com/users-in-org/{org}"/>
              </a:rPr>
              <a:t>www.example.com/users-in-org/{org}</a:t>
            </a:r>
            <a:endParaRPr lang="en-US" altLang="en-US" dirty="0">
              <a:ea typeface="ＭＳ Ｐゴシック" panose="020B0600070205080204" pitchFamily="34" charset="-128"/>
            </a:endParaRPr>
          </a:p>
          <a:p>
            <a:endParaRPr lang="en-US" dirty="0"/>
          </a:p>
        </p:txBody>
      </p:sp>
    </p:spTree>
    <p:extLst>
      <p:ext uri="{BB962C8B-B14F-4D97-AF65-F5344CB8AC3E}">
        <p14:creationId xmlns:p14="http://schemas.microsoft.com/office/powerpoint/2010/main" val="6769889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F0879-9CFC-4922-A759-39DCD1DB767D}"/>
              </a:ext>
            </a:extLst>
          </p:cNvPr>
          <p:cNvSpPr>
            <a:spLocks noGrp="1"/>
          </p:cNvSpPr>
          <p:nvPr>
            <p:ph type="title"/>
          </p:nvPr>
        </p:nvSpPr>
        <p:spPr>
          <a:xfrm>
            <a:off x="628650" y="2272584"/>
            <a:ext cx="7886700" cy="1325563"/>
          </a:xfrm>
        </p:spPr>
        <p:txBody>
          <a:bodyPr>
            <a:normAutofit/>
          </a:bodyPr>
          <a:lstStyle/>
          <a:p>
            <a:pPr algn="ctr"/>
            <a:r>
              <a:rPr lang="en-US" sz="8000" b="1" dirty="0"/>
              <a:t>SOAP vs. REST</a:t>
            </a:r>
          </a:p>
        </p:txBody>
      </p:sp>
    </p:spTree>
    <p:extLst>
      <p:ext uri="{BB962C8B-B14F-4D97-AF65-F5344CB8AC3E}">
        <p14:creationId xmlns:p14="http://schemas.microsoft.com/office/powerpoint/2010/main" val="7854922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1">
            <a:extLst>
              <a:ext uri="{FF2B5EF4-FFF2-40B4-BE49-F238E27FC236}">
                <a16:creationId xmlns:a16="http://schemas.microsoft.com/office/drawing/2014/main" id="{9AB17FD6-E2CE-4E3F-AADA-D2FE823CA235}"/>
              </a:ext>
            </a:extLst>
          </p:cNvPr>
          <p:cNvSpPr>
            <a:spLocks noGrp="1" noChangeArrowheads="1"/>
          </p:cNvSpPr>
          <p:nvPr>
            <p:ph type="title"/>
          </p:nvPr>
        </p:nvSpPr>
        <p:spPr>
          <a:xfrm>
            <a:off x="672024" y="887259"/>
            <a:ext cx="7808914" cy="1018489"/>
          </a:xfrm>
          <a:ln/>
        </p:spPr>
        <p:txBody>
          <a:bodyPr/>
          <a:lstStyle/>
          <a:p>
            <a:pPr>
              <a:tabLst>
                <a:tab pos="0" algn="l"/>
                <a:tab pos="430088" algn="l"/>
                <a:tab pos="860176" algn="l"/>
                <a:tab pos="1290264" algn="l"/>
                <a:tab pos="1720352" algn="l"/>
                <a:tab pos="2150440" algn="l"/>
                <a:tab pos="2580528" algn="l"/>
                <a:tab pos="3010616" algn="l"/>
                <a:tab pos="3440704" algn="l"/>
                <a:tab pos="3870792" algn="l"/>
                <a:tab pos="4300880" algn="l"/>
                <a:tab pos="4730968" algn="l"/>
                <a:tab pos="5161056" algn="l"/>
                <a:tab pos="5591145" algn="l"/>
                <a:tab pos="6021233" algn="l"/>
                <a:tab pos="6451321" algn="l"/>
                <a:tab pos="6881409" algn="l"/>
                <a:tab pos="7311497" algn="l"/>
                <a:tab pos="7741585" algn="l"/>
                <a:tab pos="8171673" algn="l"/>
                <a:tab pos="8601761" algn="l"/>
              </a:tabLst>
            </a:pPr>
            <a:r>
              <a:rPr lang="en-GB" altLang="en-US" dirty="0"/>
              <a:t>SOAP</a:t>
            </a:r>
          </a:p>
        </p:txBody>
      </p:sp>
      <p:sp>
        <p:nvSpPr>
          <p:cNvPr id="93186" name="Rectangle 2">
            <a:extLst>
              <a:ext uri="{FF2B5EF4-FFF2-40B4-BE49-F238E27FC236}">
                <a16:creationId xmlns:a16="http://schemas.microsoft.com/office/drawing/2014/main" id="{0D6A8C96-D5AA-46F4-A2A8-1EEF8C7620D8}"/>
              </a:ext>
            </a:extLst>
          </p:cNvPr>
          <p:cNvSpPr>
            <a:spLocks noGrp="1" noChangeArrowheads="1"/>
          </p:cNvSpPr>
          <p:nvPr>
            <p:ph type="body" idx="1"/>
          </p:nvPr>
        </p:nvSpPr>
        <p:spPr>
          <a:xfrm>
            <a:off x="672024" y="2075993"/>
            <a:ext cx="7808914" cy="3840988"/>
          </a:xfrm>
          <a:ln/>
        </p:spPr>
        <p:txBody>
          <a:bodyPr>
            <a:normAutofit lnSpcReduction="10000"/>
          </a:bodyPr>
          <a:lstStyle/>
          <a:p>
            <a:pPr>
              <a:lnSpc>
                <a:spcPct val="85000"/>
              </a:lnSpc>
              <a:tabLst>
                <a:tab pos="427101" algn="l"/>
                <a:tab pos="857189" algn="l"/>
                <a:tab pos="1287277" algn="l"/>
                <a:tab pos="1717365" algn="l"/>
                <a:tab pos="2147453" algn="l"/>
                <a:tab pos="2577542" algn="l"/>
                <a:tab pos="3007630" algn="l"/>
                <a:tab pos="3437718" algn="l"/>
                <a:tab pos="3867806" algn="l"/>
                <a:tab pos="4297894" algn="l"/>
                <a:tab pos="4727982" algn="l"/>
                <a:tab pos="5158070" algn="l"/>
                <a:tab pos="5588158" algn="l"/>
                <a:tab pos="6018246" algn="l"/>
                <a:tab pos="6448334" algn="l"/>
                <a:tab pos="6878422" algn="l"/>
                <a:tab pos="7308510" algn="l"/>
                <a:tab pos="7738598" algn="l"/>
                <a:tab pos="8168686" algn="l"/>
                <a:tab pos="8598774" algn="l"/>
              </a:tabLst>
            </a:pPr>
            <a:r>
              <a:rPr lang="en-US" altLang="en-US" dirty="0">
                <a:ea typeface="ＭＳ Ｐゴシック" panose="020B0600070205080204" pitchFamily="34" charset="-128"/>
              </a:rPr>
              <a:t>SOAP is a full set of standards, based on the RPC paradigm.</a:t>
            </a:r>
          </a:p>
          <a:p>
            <a:pPr>
              <a:lnSpc>
                <a:spcPct val="85000"/>
              </a:lnSpc>
              <a:tabLst>
                <a:tab pos="427101" algn="l"/>
                <a:tab pos="857189" algn="l"/>
                <a:tab pos="1287277" algn="l"/>
                <a:tab pos="1717365" algn="l"/>
                <a:tab pos="2147453" algn="l"/>
                <a:tab pos="2577542" algn="l"/>
                <a:tab pos="3007630" algn="l"/>
                <a:tab pos="3437718" algn="l"/>
                <a:tab pos="3867806" algn="l"/>
                <a:tab pos="4297894" algn="l"/>
                <a:tab pos="4727982" algn="l"/>
                <a:tab pos="5158070" algn="l"/>
                <a:tab pos="5588158" algn="l"/>
                <a:tab pos="6018246" algn="l"/>
                <a:tab pos="6448334" algn="l"/>
                <a:tab pos="6878422" algn="l"/>
                <a:tab pos="7308510" algn="l"/>
                <a:tab pos="7738598" algn="l"/>
                <a:tab pos="8168686" algn="l"/>
                <a:tab pos="8598774" algn="l"/>
              </a:tabLst>
            </a:pPr>
            <a:r>
              <a:rPr lang="en-GB" altLang="en-US" dirty="0"/>
              <a:t>Every object has its own unique methods </a:t>
            </a:r>
          </a:p>
          <a:p>
            <a:pPr>
              <a:lnSpc>
                <a:spcPct val="85000"/>
              </a:lnSpc>
              <a:tabLst>
                <a:tab pos="427101" algn="l"/>
                <a:tab pos="857189" algn="l"/>
                <a:tab pos="1287277" algn="l"/>
                <a:tab pos="1717365" algn="l"/>
                <a:tab pos="2147453" algn="l"/>
                <a:tab pos="2577542" algn="l"/>
                <a:tab pos="3007630" algn="l"/>
                <a:tab pos="3437718" algn="l"/>
                <a:tab pos="3867806" algn="l"/>
                <a:tab pos="4297894" algn="l"/>
                <a:tab pos="4727982" algn="l"/>
                <a:tab pos="5158070" algn="l"/>
                <a:tab pos="5588158" algn="l"/>
                <a:tab pos="6018246" algn="l"/>
                <a:tab pos="6448334" algn="l"/>
                <a:tab pos="6878422" algn="l"/>
                <a:tab pos="7308510" algn="l"/>
                <a:tab pos="7738598" algn="l"/>
                <a:tab pos="8168686" algn="l"/>
                <a:tab pos="8598774" algn="l"/>
              </a:tabLst>
            </a:pPr>
            <a:r>
              <a:rPr lang="en-GB" altLang="en-US" dirty="0"/>
              <a:t>Methods can be remotely invoked over the Internet</a:t>
            </a:r>
          </a:p>
          <a:p>
            <a:pPr>
              <a:lnSpc>
                <a:spcPct val="85000"/>
              </a:lnSpc>
              <a:tabLst>
                <a:tab pos="427101" algn="l"/>
                <a:tab pos="857189" algn="l"/>
                <a:tab pos="1287277" algn="l"/>
                <a:tab pos="1717365" algn="l"/>
                <a:tab pos="2147453" algn="l"/>
                <a:tab pos="2577542" algn="l"/>
                <a:tab pos="3007630" algn="l"/>
                <a:tab pos="3437718" algn="l"/>
                <a:tab pos="3867806" algn="l"/>
                <a:tab pos="4297894" algn="l"/>
                <a:tab pos="4727982" algn="l"/>
                <a:tab pos="5158070" algn="l"/>
                <a:tab pos="5588158" algn="l"/>
                <a:tab pos="6018246" algn="l"/>
                <a:tab pos="6448334" algn="l"/>
                <a:tab pos="6878422" algn="l"/>
                <a:tab pos="7308510" algn="l"/>
                <a:tab pos="7738598" algn="l"/>
                <a:tab pos="8168686" algn="l"/>
                <a:tab pos="8598774" algn="l"/>
              </a:tabLst>
            </a:pPr>
            <a:r>
              <a:rPr lang="en-GB" altLang="en-US" dirty="0"/>
              <a:t>A single URL represents the end-point, and that's the only contact with the Web</a:t>
            </a:r>
          </a:p>
          <a:p>
            <a:pPr>
              <a:lnSpc>
                <a:spcPct val="85000"/>
              </a:lnSpc>
              <a:tabLst>
                <a:tab pos="427101" algn="l"/>
                <a:tab pos="857189" algn="l"/>
                <a:tab pos="1287277" algn="l"/>
                <a:tab pos="1717365" algn="l"/>
                <a:tab pos="2147453" algn="l"/>
                <a:tab pos="2577542" algn="l"/>
                <a:tab pos="3007630" algn="l"/>
                <a:tab pos="3437718" algn="l"/>
                <a:tab pos="3867806" algn="l"/>
                <a:tab pos="4297894" algn="l"/>
                <a:tab pos="4727982" algn="l"/>
                <a:tab pos="5158070" algn="l"/>
                <a:tab pos="5588158" algn="l"/>
                <a:tab pos="6018246" algn="l"/>
                <a:tab pos="6448334" algn="l"/>
                <a:tab pos="6878422" algn="l"/>
                <a:tab pos="7308510" algn="l"/>
                <a:tab pos="7738598" algn="l"/>
                <a:tab pos="8168686" algn="l"/>
                <a:tab pos="8598774" algn="l"/>
              </a:tabLst>
            </a:pPr>
            <a:r>
              <a:rPr lang="en-GB" altLang="en-US" dirty="0"/>
              <a:t>Data hidden behind method calls and parameters</a:t>
            </a:r>
          </a:p>
          <a:p>
            <a:pPr>
              <a:lnSpc>
                <a:spcPct val="85000"/>
              </a:lnSpc>
              <a:tabLst>
                <a:tab pos="427101" algn="l"/>
                <a:tab pos="857189" algn="l"/>
                <a:tab pos="1287277" algn="l"/>
                <a:tab pos="1717365" algn="l"/>
                <a:tab pos="2147453" algn="l"/>
                <a:tab pos="2577542" algn="l"/>
                <a:tab pos="3007630" algn="l"/>
                <a:tab pos="3437718" algn="l"/>
                <a:tab pos="3867806" algn="l"/>
                <a:tab pos="4297894" algn="l"/>
                <a:tab pos="4727982" algn="l"/>
                <a:tab pos="5158070" algn="l"/>
                <a:tab pos="5588158" algn="l"/>
                <a:tab pos="6018246" algn="l"/>
                <a:tab pos="6448334" algn="l"/>
                <a:tab pos="6878422" algn="l"/>
                <a:tab pos="7308510" algn="l"/>
                <a:tab pos="7738598" algn="l"/>
                <a:tab pos="8168686" algn="l"/>
                <a:tab pos="8598774" algn="l"/>
              </a:tabLst>
            </a:pPr>
            <a:r>
              <a:rPr lang="en-GB" altLang="en-US" dirty="0"/>
              <a:t>Data is unavailable to Web applications</a:t>
            </a:r>
          </a:p>
          <a:p>
            <a:pPr>
              <a:lnSpc>
                <a:spcPct val="85000"/>
              </a:lnSpc>
              <a:tabLst>
                <a:tab pos="427101" algn="l"/>
                <a:tab pos="857189" algn="l"/>
                <a:tab pos="1287277" algn="l"/>
                <a:tab pos="1717365" algn="l"/>
                <a:tab pos="2147453" algn="l"/>
                <a:tab pos="2577542" algn="l"/>
                <a:tab pos="3007630" algn="l"/>
                <a:tab pos="3437718" algn="l"/>
                <a:tab pos="3867806" algn="l"/>
                <a:tab pos="4297894" algn="l"/>
                <a:tab pos="4727982" algn="l"/>
                <a:tab pos="5158070" algn="l"/>
                <a:tab pos="5588158" algn="l"/>
                <a:tab pos="6018246" algn="l"/>
                <a:tab pos="6448334" algn="l"/>
                <a:tab pos="6878422" algn="l"/>
                <a:tab pos="7308510" algn="l"/>
                <a:tab pos="7738598" algn="l"/>
                <a:tab pos="8168686" algn="l"/>
                <a:tab pos="8598774" algn="l"/>
              </a:tabLst>
            </a:pPr>
            <a:endParaRPr lang="en-GB" altLang="en-US" dirty="0"/>
          </a:p>
        </p:txBody>
      </p:sp>
    </p:spTree>
    <p:extLst>
      <p:ext uri="{BB962C8B-B14F-4D97-AF65-F5344CB8AC3E}">
        <p14:creationId xmlns:p14="http://schemas.microsoft.com/office/powerpoint/2010/main" val="1186805465"/>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1">
            <a:extLst>
              <a:ext uri="{FF2B5EF4-FFF2-40B4-BE49-F238E27FC236}">
                <a16:creationId xmlns:a16="http://schemas.microsoft.com/office/drawing/2014/main" id="{5B84760B-3123-42A9-B9BB-C7CABF650BC6}"/>
              </a:ext>
            </a:extLst>
          </p:cNvPr>
          <p:cNvSpPr>
            <a:spLocks noGrp="1" noChangeArrowheads="1"/>
          </p:cNvSpPr>
          <p:nvPr>
            <p:ph type="title"/>
          </p:nvPr>
        </p:nvSpPr>
        <p:spPr>
          <a:xfrm>
            <a:off x="667543" y="267827"/>
            <a:ext cx="7808914" cy="1018489"/>
          </a:xfrm>
          <a:ln/>
        </p:spPr>
        <p:txBody>
          <a:bodyPr/>
          <a:lstStyle/>
          <a:p>
            <a:pPr>
              <a:tabLst>
                <a:tab pos="0" algn="l"/>
                <a:tab pos="430088" algn="l"/>
                <a:tab pos="860176" algn="l"/>
                <a:tab pos="1290264" algn="l"/>
                <a:tab pos="1720352" algn="l"/>
                <a:tab pos="2150440" algn="l"/>
                <a:tab pos="2580528" algn="l"/>
                <a:tab pos="3010616" algn="l"/>
                <a:tab pos="3440704" algn="l"/>
                <a:tab pos="3870792" algn="l"/>
                <a:tab pos="4300880" algn="l"/>
                <a:tab pos="4730968" algn="l"/>
                <a:tab pos="5161056" algn="l"/>
                <a:tab pos="5591145" algn="l"/>
                <a:tab pos="6021233" algn="l"/>
                <a:tab pos="6451321" algn="l"/>
                <a:tab pos="6881409" algn="l"/>
                <a:tab pos="7311497" algn="l"/>
                <a:tab pos="7741585" algn="l"/>
                <a:tab pos="8171673" algn="l"/>
                <a:tab pos="8601761" algn="l"/>
              </a:tabLst>
            </a:pPr>
            <a:r>
              <a:rPr lang="en-GB" altLang="en-US" dirty="0"/>
              <a:t>REST</a:t>
            </a:r>
          </a:p>
        </p:txBody>
      </p:sp>
      <p:sp>
        <p:nvSpPr>
          <p:cNvPr id="94210" name="Rectangle 2">
            <a:extLst>
              <a:ext uri="{FF2B5EF4-FFF2-40B4-BE49-F238E27FC236}">
                <a16:creationId xmlns:a16="http://schemas.microsoft.com/office/drawing/2014/main" id="{7997B6FA-C380-4B9F-9E4A-199312DBDB59}"/>
              </a:ext>
            </a:extLst>
          </p:cNvPr>
          <p:cNvSpPr>
            <a:spLocks noGrp="1" noChangeArrowheads="1"/>
          </p:cNvSpPr>
          <p:nvPr>
            <p:ph type="body" idx="1"/>
          </p:nvPr>
        </p:nvSpPr>
        <p:spPr>
          <a:xfrm>
            <a:off x="501445" y="1436897"/>
            <a:ext cx="8386916" cy="4226484"/>
          </a:xfrm>
          <a:ln/>
        </p:spPr>
        <p:txBody>
          <a:bodyPr>
            <a:normAutofit/>
          </a:bodyPr>
          <a:lstStyle/>
          <a:p>
            <a:pPr>
              <a:tabLst>
                <a:tab pos="427101" algn="l"/>
                <a:tab pos="857189" algn="l"/>
                <a:tab pos="1287277" algn="l"/>
                <a:tab pos="1717365" algn="l"/>
                <a:tab pos="2147453" algn="l"/>
                <a:tab pos="2577542" algn="l"/>
                <a:tab pos="3007630" algn="l"/>
                <a:tab pos="3437718" algn="l"/>
                <a:tab pos="3867806" algn="l"/>
                <a:tab pos="4297894" algn="l"/>
                <a:tab pos="4727982" algn="l"/>
                <a:tab pos="5158070" algn="l"/>
                <a:tab pos="5588158" algn="l"/>
                <a:tab pos="6018246" algn="l"/>
                <a:tab pos="6448334" algn="l"/>
                <a:tab pos="6878422" algn="l"/>
                <a:tab pos="7308510" algn="l"/>
                <a:tab pos="7738598" algn="l"/>
                <a:tab pos="8168686" algn="l"/>
                <a:tab pos="8598774" algn="l"/>
              </a:tabLst>
            </a:pPr>
            <a:r>
              <a:rPr lang="en-US" altLang="en-US" dirty="0">
                <a:ea typeface="ＭＳ Ｐゴシック" panose="020B0600070205080204" pitchFamily="34" charset="-128"/>
              </a:rPr>
              <a:t>REST approaches are much simpler than SOAP.</a:t>
            </a:r>
          </a:p>
          <a:p>
            <a:pPr>
              <a:tabLst>
                <a:tab pos="427101" algn="l"/>
                <a:tab pos="857189" algn="l"/>
                <a:tab pos="1287277" algn="l"/>
                <a:tab pos="1717365" algn="l"/>
                <a:tab pos="2147453" algn="l"/>
                <a:tab pos="2577542" algn="l"/>
                <a:tab pos="3007630" algn="l"/>
                <a:tab pos="3437718" algn="l"/>
                <a:tab pos="3867806" algn="l"/>
                <a:tab pos="4297894" algn="l"/>
                <a:tab pos="4727982" algn="l"/>
                <a:tab pos="5158070" algn="l"/>
                <a:tab pos="5588158" algn="l"/>
                <a:tab pos="6018246" algn="l"/>
                <a:tab pos="6448334" algn="l"/>
                <a:tab pos="6878422" algn="l"/>
                <a:tab pos="7308510" algn="l"/>
                <a:tab pos="7738598" algn="l"/>
                <a:tab pos="8168686" algn="l"/>
                <a:tab pos="8598774" algn="l"/>
              </a:tabLst>
            </a:pPr>
            <a:r>
              <a:rPr lang="en-GB" altLang="en-US" i="1" dirty="0"/>
              <a:t>Every</a:t>
            </a:r>
            <a:r>
              <a:rPr lang="en-GB" altLang="en-US" dirty="0"/>
              <a:t> useful data object has an address.</a:t>
            </a:r>
          </a:p>
          <a:p>
            <a:pPr>
              <a:tabLst>
                <a:tab pos="427101" algn="l"/>
                <a:tab pos="857189" algn="l"/>
                <a:tab pos="1287277" algn="l"/>
                <a:tab pos="1717365" algn="l"/>
                <a:tab pos="2147453" algn="l"/>
                <a:tab pos="2577542" algn="l"/>
                <a:tab pos="3007630" algn="l"/>
                <a:tab pos="3437718" algn="l"/>
                <a:tab pos="3867806" algn="l"/>
                <a:tab pos="4297894" algn="l"/>
                <a:tab pos="4727982" algn="l"/>
                <a:tab pos="5158070" algn="l"/>
                <a:tab pos="5588158" algn="l"/>
                <a:tab pos="6018246" algn="l"/>
                <a:tab pos="6448334" algn="l"/>
                <a:tab pos="6878422" algn="l"/>
                <a:tab pos="7308510" algn="l"/>
                <a:tab pos="7738598" algn="l"/>
                <a:tab pos="8168686" algn="l"/>
                <a:tab pos="8598774" algn="l"/>
              </a:tabLst>
            </a:pPr>
            <a:r>
              <a:rPr lang="en-GB" altLang="en-US" dirty="0"/>
              <a:t>Resources themselves are the targets for method calls.</a:t>
            </a:r>
          </a:p>
          <a:p>
            <a:pPr>
              <a:tabLst>
                <a:tab pos="427101" algn="l"/>
                <a:tab pos="857189" algn="l"/>
                <a:tab pos="1287277" algn="l"/>
                <a:tab pos="1717365" algn="l"/>
                <a:tab pos="2147453" algn="l"/>
                <a:tab pos="2577542" algn="l"/>
                <a:tab pos="3007630" algn="l"/>
                <a:tab pos="3437718" algn="l"/>
                <a:tab pos="3867806" algn="l"/>
                <a:tab pos="4297894" algn="l"/>
                <a:tab pos="4727982" algn="l"/>
                <a:tab pos="5158070" algn="l"/>
                <a:tab pos="5588158" algn="l"/>
                <a:tab pos="6018246" algn="l"/>
                <a:tab pos="6448334" algn="l"/>
                <a:tab pos="6878422" algn="l"/>
                <a:tab pos="7308510" algn="l"/>
                <a:tab pos="7738598" algn="l"/>
                <a:tab pos="8168686" algn="l"/>
                <a:tab pos="8598774" algn="l"/>
              </a:tabLst>
            </a:pPr>
            <a:r>
              <a:rPr lang="en-GB" altLang="en-US" dirty="0"/>
              <a:t>The list of methods is fixed for all resources.</a:t>
            </a:r>
          </a:p>
          <a:p>
            <a:r>
              <a:rPr lang="en-US" altLang="en-US" dirty="0">
                <a:ea typeface="ＭＳ Ｐゴシック" panose="020B0600070205080204" pitchFamily="34" charset="-128"/>
              </a:rPr>
              <a:t>Crucial for efficiency, scalability, fault tolerance:</a:t>
            </a:r>
          </a:p>
          <a:p>
            <a:pPr lvl="1"/>
            <a:r>
              <a:rPr lang="en-US" altLang="en-US" dirty="0">
                <a:ea typeface="ＭＳ Ｐゴシック" panose="020B0600070205080204" pitchFamily="34" charset="-128"/>
              </a:rPr>
              <a:t>Load balancers can route requests to any web server.</a:t>
            </a:r>
          </a:p>
          <a:p>
            <a:pPr lvl="1"/>
            <a:r>
              <a:rPr lang="en-US" altLang="en-US" dirty="0">
                <a:ea typeface="ＭＳ Ｐゴシック" panose="020B0600070205080204" pitchFamily="34" charset="-128"/>
              </a:rPr>
              <a:t>Web server going down has only minor impact.</a:t>
            </a:r>
          </a:p>
          <a:p>
            <a:pPr lvl="1"/>
            <a:r>
              <a:rPr lang="en-US" altLang="en-US" dirty="0">
                <a:ea typeface="ＭＳ Ｐゴシック" panose="020B0600070205080204" pitchFamily="34" charset="-128"/>
              </a:rPr>
              <a:t>Just add more web servers for horizontal scaling.</a:t>
            </a:r>
          </a:p>
          <a:p>
            <a:pPr>
              <a:tabLst>
                <a:tab pos="427101" algn="l"/>
                <a:tab pos="857189" algn="l"/>
                <a:tab pos="1287277" algn="l"/>
                <a:tab pos="1717365" algn="l"/>
                <a:tab pos="2147453" algn="l"/>
                <a:tab pos="2577542" algn="l"/>
                <a:tab pos="3007630" algn="l"/>
                <a:tab pos="3437718" algn="l"/>
                <a:tab pos="3867806" algn="l"/>
                <a:tab pos="4297894" algn="l"/>
                <a:tab pos="4727982" algn="l"/>
                <a:tab pos="5158070" algn="l"/>
                <a:tab pos="5588158" algn="l"/>
                <a:tab pos="6018246" algn="l"/>
                <a:tab pos="6448334" algn="l"/>
                <a:tab pos="6878422" algn="l"/>
                <a:tab pos="7308510" algn="l"/>
                <a:tab pos="7738598" algn="l"/>
                <a:tab pos="8168686" algn="l"/>
                <a:tab pos="8598774" algn="l"/>
              </a:tabLst>
            </a:pPr>
            <a:endParaRPr lang="en-GB" altLang="en-US" dirty="0"/>
          </a:p>
          <a:p>
            <a:pPr>
              <a:tabLst>
                <a:tab pos="427101" algn="l"/>
                <a:tab pos="857189" algn="l"/>
                <a:tab pos="1287277" algn="l"/>
                <a:tab pos="1717365" algn="l"/>
                <a:tab pos="2147453" algn="l"/>
                <a:tab pos="2577542" algn="l"/>
                <a:tab pos="3007630" algn="l"/>
                <a:tab pos="3437718" algn="l"/>
                <a:tab pos="3867806" algn="l"/>
                <a:tab pos="4297894" algn="l"/>
                <a:tab pos="4727982" algn="l"/>
                <a:tab pos="5158070" algn="l"/>
                <a:tab pos="5588158" algn="l"/>
                <a:tab pos="6018246" algn="l"/>
                <a:tab pos="6448334" algn="l"/>
                <a:tab pos="6878422" algn="l"/>
                <a:tab pos="7308510" algn="l"/>
                <a:tab pos="7738598" algn="l"/>
                <a:tab pos="8168686" algn="l"/>
                <a:tab pos="8598774" algn="l"/>
              </a:tabLst>
            </a:pPr>
            <a:endParaRPr lang="en-GB" altLang="en-US" dirty="0"/>
          </a:p>
        </p:txBody>
      </p:sp>
    </p:spTree>
    <p:extLst>
      <p:ext uri="{BB962C8B-B14F-4D97-AF65-F5344CB8AC3E}">
        <p14:creationId xmlns:p14="http://schemas.microsoft.com/office/powerpoint/2010/main" val="1765922830"/>
      </p:ext>
    </p:ext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Content Placeholder 2">
            <a:extLst>
              <a:ext uri="{FF2B5EF4-FFF2-40B4-BE49-F238E27FC236}">
                <a16:creationId xmlns:a16="http://schemas.microsoft.com/office/drawing/2014/main" id="{476D863F-2743-4012-8FB8-117C3DEF788D}"/>
              </a:ext>
            </a:extLst>
          </p:cNvPr>
          <p:cNvSpPr>
            <a:spLocks noGrp="1"/>
          </p:cNvSpPr>
          <p:nvPr>
            <p:ph idx="1"/>
          </p:nvPr>
        </p:nvSpPr>
        <p:spPr/>
        <p:txBody>
          <a:bodyPr/>
          <a:lstStyle/>
          <a:p>
            <a:pPr>
              <a:buFont typeface="Arial" panose="020B0604020202020204" pitchFamily="34" charset="0"/>
              <a:buNone/>
            </a:pPr>
            <a:endParaRPr lang="en-US" altLang="en-US" dirty="0"/>
          </a:p>
          <a:p>
            <a:r>
              <a:rPr lang="en-US" altLang="en-US" dirty="0"/>
              <a:t>A SOAP service </a:t>
            </a:r>
            <a:r>
              <a:rPr lang="en-US" altLang="en-US" dirty="0">
                <a:sym typeface="Wingdings" panose="05000000000000000000" pitchFamily="2" charset="2"/>
              </a:rPr>
              <a:t>has a single endpoint that handles all the operations – therefore it has to have an application-specific interface.</a:t>
            </a:r>
          </a:p>
          <a:p>
            <a:endParaRPr lang="en-US" altLang="en-US" dirty="0">
              <a:sym typeface="Wingdings" panose="05000000000000000000" pitchFamily="2" charset="2"/>
            </a:endParaRPr>
          </a:p>
          <a:p>
            <a:r>
              <a:rPr lang="en-US" altLang="en-US" dirty="0">
                <a:sym typeface="Wingdings" panose="05000000000000000000" pitchFamily="2" charset="2"/>
              </a:rPr>
              <a:t>A RESTful service has a number of resources (the collection, each entry), so the operations can be distributed onto the resources and mapped to a small uniform set of operations.</a:t>
            </a:r>
          </a:p>
          <a:p>
            <a:endParaRPr lang="en-US" altLang="en-US" dirty="0"/>
          </a:p>
          <a:p>
            <a:endParaRPr lang="en-US" altLang="en-US" dirty="0"/>
          </a:p>
          <a:p>
            <a:endParaRPr lang="en-US" altLang="en-US" dirty="0"/>
          </a:p>
        </p:txBody>
      </p:sp>
      <p:sp>
        <p:nvSpPr>
          <p:cNvPr id="55299" name="Rectangle 2">
            <a:extLst>
              <a:ext uri="{FF2B5EF4-FFF2-40B4-BE49-F238E27FC236}">
                <a16:creationId xmlns:a16="http://schemas.microsoft.com/office/drawing/2014/main" id="{91022BDA-C57C-441F-BED2-63B391AE96DD}"/>
              </a:ext>
            </a:extLst>
          </p:cNvPr>
          <p:cNvSpPr txBox="1">
            <a:spLocks/>
          </p:cNvSpPr>
          <p:nvPr/>
        </p:nvSpPr>
        <p:spPr bwMode="auto">
          <a:xfrm>
            <a:off x="628650" y="855559"/>
            <a:ext cx="579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762000"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defTabSz="762000"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a:r>
              <a:rPr lang="en-US" altLang="en-US" sz="4000" dirty="0">
                <a:latin typeface="+mj-lt"/>
                <a:cs typeface="Arial" panose="020B0604020202020204" pitchFamily="34" charset="0"/>
              </a:rPr>
              <a:t>SOAP </a:t>
            </a:r>
            <a:r>
              <a:rPr lang="en-US" altLang="en-US" sz="4000" dirty="0">
                <a:latin typeface="+mj-lt"/>
                <a:cs typeface="Arial" panose="020B0604020202020204" pitchFamily="34" charset="0"/>
                <a:sym typeface="Wingdings" panose="05000000000000000000" pitchFamily="2" charset="2"/>
              </a:rPr>
              <a:t>vs.</a:t>
            </a:r>
            <a:r>
              <a:rPr lang="en-US" altLang="en-US" sz="3600" dirty="0">
                <a:latin typeface="+mj-lt"/>
                <a:cs typeface="Arial" panose="020B0604020202020204" pitchFamily="34" charset="0"/>
                <a:sym typeface="Wingdings" panose="05000000000000000000" pitchFamily="2" charset="2"/>
              </a:rPr>
              <a:t> </a:t>
            </a:r>
            <a:r>
              <a:rPr lang="en-US" altLang="en-US" sz="3600" dirty="0">
                <a:latin typeface="+mj-lt"/>
                <a:cs typeface="Arial" panose="020B0604020202020204" pitchFamily="34" charset="0"/>
              </a:rPr>
              <a:t>REST</a:t>
            </a:r>
            <a:endParaRPr lang="en-US" altLang="en-US" sz="4000" dirty="0">
              <a:latin typeface="+mj-lt"/>
              <a:cs typeface="Arial" panose="020B0604020202020204" pitchFamily="34" charset="0"/>
            </a:endParaRPr>
          </a:p>
        </p:txBody>
      </p:sp>
    </p:spTree>
    <p:extLst>
      <p:ext uri="{BB962C8B-B14F-4D97-AF65-F5344CB8AC3E}">
        <p14:creationId xmlns:p14="http://schemas.microsoft.com/office/powerpoint/2010/main" val="1926734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a:extLst>
              <a:ext uri="{FF2B5EF4-FFF2-40B4-BE49-F238E27FC236}">
                <a16:creationId xmlns:a16="http://schemas.microsoft.com/office/drawing/2014/main" id="{F02DB05C-E95E-4FA5-B12C-C63271239C15}"/>
              </a:ext>
            </a:extLst>
          </p:cNvPr>
          <p:cNvSpPr>
            <a:spLocks noGrp="1"/>
          </p:cNvSpPr>
          <p:nvPr>
            <p:ph type="title"/>
          </p:nvPr>
        </p:nvSpPr>
        <p:spPr/>
        <p:txBody>
          <a:bodyPr/>
          <a:lstStyle/>
          <a:p>
            <a:r>
              <a:rPr lang="en-US" altLang="en-US">
                <a:ea typeface="ＭＳ Ｐゴシック" panose="020B0600070205080204" pitchFamily="34" charset="-128"/>
              </a:rPr>
              <a:t>REST vs. SOAP: # of APIs</a:t>
            </a:r>
          </a:p>
        </p:txBody>
      </p:sp>
      <p:sp>
        <p:nvSpPr>
          <p:cNvPr id="44034" name="TextBox 4">
            <a:extLst>
              <a:ext uri="{FF2B5EF4-FFF2-40B4-BE49-F238E27FC236}">
                <a16:creationId xmlns:a16="http://schemas.microsoft.com/office/drawing/2014/main" id="{42EE6812-B338-4E98-899F-A3E19355D4B8}"/>
              </a:ext>
            </a:extLst>
          </p:cNvPr>
          <p:cNvSpPr txBox="1">
            <a:spLocks noChangeArrowheads="1"/>
          </p:cNvSpPr>
          <p:nvPr/>
        </p:nvSpPr>
        <p:spPr bwMode="auto">
          <a:xfrm>
            <a:off x="304800" y="6172200"/>
            <a:ext cx="6934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800">
                <a:latin typeface="Arial" panose="020B0604020202020204" pitchFamily="34" charset="0"/>
              </a:rPr>
              <a:t>Credits: http://www.slideshare.net/jmusser/pw-glue-conmay2010</a:t>
            </a:r>
          </a:p>
        </p:txBody>
      </p:sp>
      <p:pic>
        <p:nvPicPr>
          <p:cNvPr id="44035" name="Picture 5" descr="rest-apis.png">
            <a:extLst>
              <a:ext uri="{FF2B5EF4-FFF2-40B4-BE49-F238E27FC236}">
                <a16:creationId xmlns:a16="http://schemas.microsoft.com/office/drawing/2014/main" id="{5FB87A83-25F6-4AF9-B1FE-BF19C880BFD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417638"/>
            <a:ext cx="8262938"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051374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277E451C-D97A-4A32-9988-C5DE1D2639F1}"/>
              </a:ext>
            </a:extLst>
          </p:cNvPr>
          <p:cNvSpPr>
            <a:spLocks noGrp="1"/>
          </p:cNvSpPr>
          <p:nvPr>
            <p:ph type="title"/>
          </p:nvPr>
        </p:nvSpPr>
        <p:spPr>
          <a:xfrm>
            <a:off x="628650" y="365127"/>
            <a:ext cx="7886700" cy="706590"/>
          </a:xfrm>
        </p:spPr>
        <p:txBody>
          <a:bodyPr/>
          <a:lstStyle/>
          <a:p>
            <a:r>
              <a:rPr lang="en-US" altLang="en-US" dirty="0">
                <a:ea typeface="ＭＳ Ｐゴシック" panose="020B0600070205080204" pitchFamily="34" charset="-128"/>
              </a:rPr>
              <a:t>Conclusion</a:t>
            </a:r>
          </a:p>
        </p:txBody>
      </p:sp>
      <p:sp>
        <p:nvSpPr>
          <p:cNvPr id="50179" name="Rectangle 3">
            <a:extLst>
              <a:ext uri="{FF2B5EF4-FFF2-40B4-BE49-F238E27FC236}">
                <a16:creationId xmlns:a16="http://schemas.microsoft.com/office/drawing/2014/main" id="{228BDFB0-CC72-4976-B0EF-06452D5A9DD3}"/>
              </a:ext>
            </a:extLst>
          </p:cNvPr>
          <p:cNvSpPr>
            <a:spLocks noGrp="1"/>
          </p:cNvSpPr>
          <p:nvPr>
            <p:ph type="body" idx="1"/>
          </p:nvPr>
        </p:nvSpPr>
        <p:spPr>
          <a:xfrm>
            <a:off x="495300" y="1710812"/>
            <a:ext cx="8153400" cy="2723535"/>
          </a:xfrm>
          <a:noFill/>
        </p:spPr>
        <p:txBody>
          <a:bodyPr/>
          <a:lstStyle/>
          <a:p>
            <a:r>
              <a:rPr lang="en-US" altLang="en-US" dirty="0">
                <a:ea typeface="ＭＳ Ｐゴシック" panose="020B0600070205080204" pitchFamily="34" charset="-128"/>
              </a:rPr>
              <a:t>REST and SOAP are both good techniques to know.</a:t>
            </a:r>
          </a:p>
          <a:p>
            <a:r>
              <a:rPr lang="en-US" altLang="en-US" dirty="0">
                <a:ea typeface="ＭＳ Ｐゴシック" panose="020B0600070205080204" pitchFamily="34" charset="-128"/>
              </a:rPr>
              <a:t>Use SOAP for tasks that are naturally RPC.</a:t>
            </a:r>
          </a:p>
          <a:p>
            <a:r>
              <a:rPr lang="en-US" altLang="en-US" dirty="0">
                <a:ea typeface="ＭＳ Ｐゴシック" panose="020B0600070205080204" pitchFamily="34" charset="-128"/>
              </a:rPr>
              <a:t>Use REST for web services that are naturally about managing content.</a:t>
            </a:r>
          </a:p>
          <a:p>
            <a:r>
              <a:rPr lang="en-US" altLang="en-US" dirty="0">
                <a:ea typeface="ＭＳ Ｐゴシック" panose="020B0600070205080204" pitchFamily="34" charset="-128"/>
              </a:rPr>
              <a:t>Use REST when scalability is a concern.</a:t>
            </a:r>
          </a:p>
          <a:p>
            <a:endParaRPr lang="en-US" altLang="en-US" sz="2000" dirty="0">
              <a:ea typeface="ＭＳ Ｐゴシック" panose="020B0600070205080204" pitchFamily="34" charset="-128"/>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XpOE8LUz2EiZnChqq5fsbg"/>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XpOE8LUz2EiZnChqq5fsb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XpOE8LUz2EiZnChqq5fsb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XpOE8LUz2EiZnChqq5fsb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XpOE8LUz2EiZnChqq5fsb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XpOE8LUz2EiZnChqq5fsb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XpOE8LUz2EiZnChqq5fsb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XpOE8LUz2EiZnChqq5fsb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XpOE8LUz2EiZnChqq5fsbg"/>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499</TotalTime>
  <Words>3195</Words>
  <Application>Microsoft Macintosh PowerPoint</Application>
  <PresentationFormat>On-screen Show (4:3)</PresentationFormat>
  <Paragraphs>483</Paragraphs>
  <Slides>59</Slides>
  <Notes>14</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2</vt:i4>
      </vt:variant>
      <vt:variant>
        <vt:lpstr>Slide Titles</vt:lpstr>
      </vt:variant>
      <vt:variant>
        <vt:i4>59</vt:i4>
      </vt:variant>
    </vt:vector>
  </HeadingPairs>
  <TitlesOfParts>
    <vt:vector size="72" baseType="lpstr">
      <vt:lpstr>medium-content-serif-font</vt:lpstr>
      <vt:lpstr>ＭＳ Ｐゴシック</vt:lpstr>
      <vt:lpstr>Arial</vt:lpstr>
      <vt:lpstr>Calibri</vt:lpstr>
      <vt:lpstr>Calibri Light</vt:lpstr>
      <vt:lpstr>Consolas</vt:lpstr>
      <vt:lpstr>Courier New</vt:lpstr>
      <vt:lpstr>Times New Roman</vt:lpstr>
      <vt:lpstr>TrebuchetMS</vt:lpstr>
      <vt:lpstr>Wingdings</vt:lpstr>
      <vt:lpstr>Office Theme</vt:lpstr>
      <vt:lpstr>VISIO</vt:lpstr>
      <vt:lpstr>Bitmap Image</vt:lpstr>
      <vt:lpstr>Web Service</vt:lpstr>
      <vt:lpstr>Web Services are….</vt:lpstr>
      <vt:lpstr>Web Services Evolution</vt:lpstr>
      <vt:lpstr>Web Evolution</vt:lpstr>
      <vt:lpstr>What are web services good for?</vt:lpstr>
      <vt:lpstr>Web Service Architectures</vt:lpstr>
      <vt:lpstr>XML Introduction</vt:lpstr>
      <vt:lpstr>An example of XML</vt:lpstr>
      <vt:lpstr>Difference between XML and HTML</vt:lpstr>
      <vt:lpstr>Why Is XML Important? </vt:lpstr>
      <vt:lpstr>Why is XML important?</vt:lpstr>
      <vt:lpstr>XML Building blocks</vt:lpstr>
      <vt:lpstr>XML  Structure</vt:lpstr>
      <vt:lpstr>XML Application 1—Separate data</vt:lpstr>
      <vt:lpstr>XML Application 2—Exchange data</vt:lpstr>
      <vt:lpstr>XML Application3—Store Data</vt:lpstr>
      <vt:lpstr>HTTP</vt:lpstr>
      <vt:lpstr>PowerPoint Presentation</vt:lpstr>
      <vt:lpstr>An HTTP example</vt:lpstr>
      <vt:lpstr>HTTP is an application layer protocol</vt:lpstr>
      <vt:lpstr>The application layer is boss – the top layer</vt:lpstr>
      <vt:lpstr>HTTP 1.0</vt:lpstr>
      <vt:lpstr>HTTP 1.0</vt:lpstr>
      <vt:lpstr>HTTP 1.1  – improvement from HTTP 1.0</vt:lpstr>
      <vt:lpstr>HTTP 1.0 vs. HTTP 1.1</vt:lpstr>
      <vt:lpstr>HTTP response</vt:lpstr>
      <vt:lpstr>HTTP response</vt:lpstr>
      <vt:lpstr>HTTP response</vt:lpstr>
      <vt:lpstr>Stateless</vt:lpstr>
      <vt:lpstr>PowerPoint Presentation</vt:lpstr>
      <vt:lpstr>SOAP Web Services </vt:lpstr>
      <vt:lpstr>Overview</vt:lpstr>
      <vt:lpstr>SOAP </vt:lpstr>
      <vt:lpstr>XML-RPC: Example</vt:lpstr>
      <vt:lpstr>XML-RPC: Example</vt:lpstr>
      <vt:lpstr>PowerPoint Presentation</vt:lpstr>
      <vt:lpstr>Web Design, Axiom 0 (Tim Berners-Lee, director of W3C)</vt:lpstr>
      <vt:lpstr>Fundamental Aspects of the REST Design Pattern</vt:lpstr>
      <vt:lpstr>Representational State Transfer (REST)</vt:lpstr>
      <vt:lpstr>Main Concepts</vt:lpstr>
      <vt:lpstr>Resources</vt:lpstr>
      <vt:lpstr>Naming Resources</vt:lpstr>
      <vt:lpstr>Verbs</vt:lpstr>
      <vt:lpstr>HTTP GET</vt:lpstr>
      <vt:lpstr>HTTP PUT, HTTP POST</vt:lpstr>
      <vt:lpstr>HTTP DELETE</vt:lpstr>
      <vt:lpstr>Representations</vt:lpstr>
      <vt:lpstr>Representations</vt:lpstr>
      <vt:lpstr>Why is it called  "Representational State Transfer"?</vt:lpstr>
      <vt:lpstr>PowerPoint Presentation</vt:lpstr>
      <vt:lpstr>REST Properties (Connectedness)</vt:lpstr>
      <vt:lpstr>Architecture Style</vt:lpstr>
      <vt:lpstr>From Non-REST to REST</vt:lpstr>
      <vt:lpstr>SOAP vs. REST</vt:lpstr>
      <vt:lpstr>SOAP</vt:lpstr>
      <vt:lpstr>REST</vt:lpstr>
      <vt:lpstr>PowerPoint Presentation</vt:lpstr>
      <vt:lpstr>REST vs. SOAP: # of APIs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Service</dc:title>
  <dc:creator>Xiang Cao</dc:creator>
  <cp:lastModifiedBy>Xiang Cao</cp:lastModifiedBy>
  <cp:revision>46</cp:revision>
  <dcterms:created xsi:type="dcterms:W3CDTF">2019-03-09T00:09:44Z</dcterms:created>
  <dcterms:modified xsi:type="dcterms:W3CDTF">2025-10-19T00:31:05Z</dcterms:modified>
</cp:coreProperties>
</file>