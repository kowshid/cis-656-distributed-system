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3" r:id="rId2"/>
  </p:sldMasterIdLst>
  <p:notesMasterIdLst>
    <p:notesMasterId r:id="rId73"/>
  </p:notesMasterIdLst>
  <p:handoutMasterIdLst>
    <p:handoutMasterId r:id="rId74"/>
  </p:handoutMasterIdLst>
  <p:sldIdLst>
    <p:sldId id="256" r:id="rId3"/>
    <p:sldId id="257" r:id="rId4"/>
    <p:sldId id="343" r:id="rId5"/>
    <p:sldId id="323" r:id="rId6"/>
    <p:sldId id="327" r:id="rId7"/>
    <p:sldId id="281" r:id="rId8"/>
    <p:sldId id="305" r:id="rId9"/>
    <p:sldId id="328" r:id="rId10"/>
    <p:sldId id="258" r:id="rId11"/>
    <p:sldId id="366" r:id="rId12"/>
    <p:sldId id="344" r:id="rId13"/>
    <p:sldId id="285" r:id="rId14"/>
    <p:sldId id="367" r:id="rId15"/>
    <p:sldId id="573" r:id="rId16"/>
    <p:sldId id="368" r:id="rId17"/>
    <p:sldId id="369" r:id="rId18"/>
    <p:sldId id="269" r:id="rId19"/>
    <p:sldId id="371" r:id="rId20"/>
    <p:sldId id="574" r:id="rId21"/>
    <p:sldId id="372" r:id="rId22"/>
    <p:sldId id="374" r:id="rId23"/>
    <p:sldId id="375" r:id="rId24"/>
    <p:sldId id="376" r:id="rId25"/>
    <p:sldId id="377" r:id="rId26"/>
    <p:sldId id="346" r:id="rId27"/>
    <p:sldId id="347" r:id="rId28"/>
    <p:sldId id="348" r:id="rId29"/>
    <p:sldId id="349" r:id="rId30"/>
    <p:sldId id="350" r:id="rId31"/>
    <p:sldId id="351" r:id="rId32"/>
    <p:sldId id="352" r:id="rId33"/>
    <p:sldId id="353" r:id="rId34"/>
    <p:sldId id="354" r:id="rId35"/>
    <p:sldId id="355" r:id="rId36"/>
    <p:sldId id="356" r:id="rId37"/>
    <p:sldId id="357" r:id="rId38"/>
    <p:sldId id="358" r:id="rId39"/>
    <p:sldId id="359" r:id="rId40"/>
    <p:sldId id="360" r:id="rId41"/>
    <p:sldId id="361" r:id="rId42"/>
    <p:sldId id="362" r:id="rId43"/>
    <p:sldId id="363" r:id="rId44"/>
    <p:sldId id="364" r:id="rId45"/>
    <p:sldId id="365" r:id="rId46"/>
    <p:sldId id="379" r:id="rId47"/>
    <p:sldId id="380" r:id="rId48"/>
    <p:sldId id="381" r:id="rId49"/>
    <p:sldId id="382" r:id="rId50"/>
    <p:sldId id="383" r:id="rId51"/>
    <p:sldId id="266" r:id="rId52"/>
    <p:sldId id="278" r:id="rId53"/>
    <p:sldId id="279" r:id="rId54"/>
    <p:sldId id="264" r:id="rId55"/>
    <p:sldId id="569" r:id="rId56"/>
    <p:sldId id="299" r:id="rId57"/>
    <p:sldId id="280" r:id="rId58"/>
    <p:sldId id="390" r:id="rId59"/>
    <p:sldId id="384" r:id="rId60"/>
    <p:sldId id="572" r:id="rId61"/>
    <p:sldId id="274" r:id="rId62"/>
    <p:sldId id="283" r:id="rId63"/>
    <p:sldId id="575" r:id="rId64"/>
    <p:sldId id="570" r:id="rId65"/>
    <p:sldId id="265" r:id="rId66"/>
    <p:sldId id="284" r:id="rId67"/>
    <p:sldId id="385" r:id="rId68"/>
    <p:sldId id="286" r:id="rId69"/>
    <p:sldId id="287" r:id="rId70"/>
    <p:sldId id="567" r:id="rId71"/>
    <p:sldId id="568" r:id="rId72"/>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88489" autoAdjust="0"/>
  </p:normalViewPr>
  <p:slideViewPr>
    <p:cSldViewPr snapToGrid="0">
      <p:cViewPr>
        <p:scale>
          <a:sx n="110" d="100"/>
          <a:sy n="110" d="100"/>
        </p:scale>
        <p:origin x="1698"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D07F42-6995-4FD5-8D8E-C4F37D105C2F}"/>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B285480-09EB-4191-BC26-9BADBC5EE6F4}"/>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CD017246-7C5F-4280-9DC9-247DD41B72B2}"/>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9E09012-24B9-4F47-BE44-FB58DAD28331}"/>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EC04CB57-BCD2-497D-9354-852C58733AD1}" type="slidenum">
              <a:rPr lang="en-US" smtClean="0"/>
              <a:t>‹#›</a:t>
            </a:fld>
            <a:endParaRPr lang="en-US"/>
          </a:p>
        </p:txBody>
      </p:sp>
    </p:spTree>
    <p:extLst>
      <p:ext uri="{BB962C8B-B14F-4D97-AF65-F5344CB8AC3E}">
        <p14:creationId xmlns:p14="http://schemas.microsoft.com/office/powerpoint/2010/main" val="259401790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2C6496CB-BBA7-4860-8F18-6A91B4309502}" type="slidenum">
              <a:rPr lang="en-US" smtClean="0"/>
              <a:t>‹#›</a:t>
            </a:fld>
            <a:endParaRPr lang="en-US"/>
          </a:p>
        </p:txBody>
      </p:sp>
    </p:spTree>
    <p:extLst>
      <p:ext uri="{BB962C8B-B14F-4D97-AF65-F5344CB8AC3E}">
        <p14:creationId xmlns:p14="http://schemas.microsoft.com/office/powerpoint/2010/main" val="1577733780"/>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F486437A-AC56-41AB-B045-89DACF93519B}"/>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35DA3B9C-6FA0-4B6E-88B1-F2A437F6E8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44909974-A42F-4845-B5CD-68B9443B68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85372" indent="-302066" eaLnBrk="0" hangingPunct="0">
              <a:defRPr>
                <a:solidFill>
                  <a:schemeClr val="tx1"/>
                </a:solidFill>
                <a:latin typeface="Arial" panose="020B0604020202020204" pitchFamily="34" charset="0"/>
              </a:defRPr>
            </a:lvl2pPr>
            <a:lvl3pPr marL="1208265" indent="-241653" eaLnBrk="0" hangingPunct="0">
              <a:defRPr>
                <a:solidFill>
                  <a:schemeClr val="tx1"/>
                </a:solidFill>
                <a:latin typeface="Arial" panose="020B0604020202020204" pitchFamily="34" charset="0"/>
              </a:defRPr>
            </a:lvl3pPr>
            <a:lvl4pPr marL="1691571" indent="-241653" eaLnBrk="0" hangingPunct="0">
              <a:defRPr>
                <a:solidFill>
                  <a:schemeClr val="tx1"/>
                </a:solidFill>
                <a:latin typeface="Arial" panose="020B0604020202020204" pitchFamily="34" charset="0"/>
              </a:defRPr>
            </a:lvl4pPr>
            <a:lvl5pPr marL="2174878" indent="-241653" eaLnBrk="0" hangingPunct="0">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57ADF6-E994-4595-ACC0-E1CF007C0E33}" type="slidenum">
              <a:rPr lang="en-US" altLang="en-US"/>
              <a:pPr eaLnBrk="1" hangingPunct="1"/>
              <a:t>2</a:t>
            </a:fld>
            <a:endParaRPr lang="en-US" altLang="en-US"/>
          </a:p>
        </p:txBody>
      </p:sp>
      <p:sp>
        <p:nvSpPr>
          <p:cNvPr id="2" name="Date Placeholder 1">
            <a:extLst>
              <a:ext uri="{FF2B5EF4-FFF2-40B4-BE49-F238E27FC236}">
                <a16:creationId xmlns:a16="http://schemas.microsoft.com/office/drawing/2014/main" id="{660EF00A-46C9-4F38-9988-E3372861125C}"/>
              </a:ext>
            </a:extLst>
          </p:cNvPr>
          <p:cNvSpPr>
            <a:spLocks noGrp="1"/>
          </p:cNvSpPr>
          <p:nvPr>
            <p:ph type="dt"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BFB6284A-409C-47DA-AD31-10A506CE7B5E}"/>
              </a:ext>
            </a:extLst>
          </p:cNvPr>
          <p:cNvSpPr>
            <a:spLocks noGrp="1" noRot="1" noChangeAspect="1" noTextEdit="1"/>
          </p:cNvSpPr>
          <p:nvPr>
            <p:ph type="sldImg"/>
          </p:nvPr>
        </p:nvSpPr>
        <p:spPr>
          <a:ln/>
        </p:spPr>
      </p:sp>
      <p:sp>
        <p:nvSpPr>
          <p:cNvPr id="70659" name="Notes Placeholder 2">
            <a:extLst>
              <a:ext uri="{FF2B5EF4-FFF2-40B4-BE49-F238E27FC236}">
                <a16:creationId xmlns:a16="http://schemas.microsoft.com/office/drawing/2014/main" id="{FB44148F-02EF-42C9-905A-BC123A64FC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70660" name="Slide Number Placeholder 3">
            <a:extLst>
              <a:ext uri="{FF2B5EF4-FFF2-40B4-BE49-F238E27FC236}">
                <a16:creationId xmlns:a16="http://schemas.microsoft.com/office/drawing/2014/main" id="{98CC95A4-F447-49F4-9C47-7CFB8ECF96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85372" indent="-302066" eaLnBrk="0" hangingPunct="0">
              <a:defRPr>
                <a:solidFill>
                  <a:schemeClr val="tx1"/>
                </a:solidFill>
                <a:latin typeface="Arial" panose="020B0604020202020204" pitchFamily="34" charset="0"/>
              </a:defRPr>
            </a:lvl2pPr>
            <a:lvl3pPr marL="1208265" indent="-241653" eaLnBrk="0" hangingPunct="0">
              <a:defRPr>
                <a:solidFill>
                  <a:schemeClr val="tx1"/>
                </a:solidFill>
                <a:latin typeface="Arial" panose="020B0604020202020204" pitchFamily="34" charset="0"/>
              </a:defRPr>
            </a:lvl3pPr>
            <a:lvl4pPr marL="1691571" indent="-241653" eaLnBrk="0" hangingPunct="0">
              <a:defRPr>
                <a:solidFill>
                  <a:schemeClr val="tx1"/>
                </a:solidFill>
                <a:latin typeface="Arial" panose="020B0604020202020204" pitchFamily="34" charset="0"/>
              </a:defRPr>
            </a:lvl4pPr>
            <a:lvl5pPr marL="2174878" indent="-241653" eaLnBrk="0" hangingPunct="0">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17B914-A6D2-4400-9172-19D26C751AC1}" type="slidenum">
              <a:rPr lang="en-US" altLang="en-US"/>
              <a:pPr eaLnBrk="1" hangingPunct="1"/>
              <a:t>3</a:t>
            </a:fld>
            <a:endParaRPr lang="en-US" altLang="en-US"/>
          </a:p>
        </p:txBody>
      </p:sp>
      <p:sp>
        <p:nvSpPr>
          <p:cNvPr id="2" name="Date Placeholder 1">
            <a:extLst>
              <a:ext uri="{FF2B5EF4-FFF2-40B4-BE49-F238E27FC236}">
                <a16:creationId xmlns:a16="http://schemas.microsoft.com/office/drawing/2014/main" id="{B7D708E6-C15F-4CF1-BDEA-7BF7C45B2B01}"/>
              </a:ext>
            </a:extLst>
          </p:cNvPr>
          <p:cNvSpPr>
            <a:spLocks noGrp="1"/>
          </p:cNvSpPr>
          <p:nvPr>
            <p:ph type="dt"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D49CA35-6FFF-49C5-B612-98457FEF11A1}"/>
              </a:ext>
            </a:extLst>
          </p:cNvPr>
          <p:cNvSpPr>
            <a:spLocks noGrp="1" noChangeArrowheads="1"/>
          </p:cNvSpPr>
          <p:nvPr>
            <p:ph type="hdr" sz="quarter"/>
          </p:nvPr>
        </p:nvSpPr>
        <p:spPr>
          <a:ln/>
        </p:spPr>
        <p:txBody>
          <a:bodyPr/>
          <a:lstStyle/>
          <a:p>
            <a:r>
              <a:rPr lang="en-US" altLang="en-US"/>
              <a:t>Copyright 1999, University of California</a:t>
            </a:r>
          </a:p>
        </p:txBody>
      </p:sp>
      <p:sp>
        <p:nvSpPr>
          <p:cNvPr id="5" name="Rectangle 8">
            <a:extLst>
              <a:ext uri="{FF2B5EF4-FFF2-40B4-BE49-F238E27FC236}">
                <a16:creationId xmlns:a16="http://schemas.microsoft.com/office/drawing/2014/main" id="{CB285E41-D2DC-4E8F-8266-9C51AB1838DB}"/>
              </a:ext>
            </a:extLst>
          </p:cNvPr>
          <p:cNvSpPr>
            <a:spLocks noGrp="1" noChangeArrowheads="1"/>
          </p:cNvSpPr>
          <p:nvPr>
            <p:ph type="dt" idx="1"/>
          </p:nvPr>
        </p:nvSpPr>
        <p:spPr>
          <a:ln/>
        </p:spPr>
        <p:txBody>
          <a:bodyPr/>
          <a:lstStyle/>
          <a:p>
            <a:endParaRPr lang="en-US" altLang="en-US"/>
          </a:p>
        </p:txBody>
      </p:sp>
      <p:sp>
        <p:nvSpPr>
          <p:cNvPr id="7" name="Rectangle 10">
            <a:extLst>
              <a:ext uri="{FF2B5EF4-FFF2-40B4-BE49-F238E27FC236}">
                <a16:creationId xmlns:a16="http://schemas.microsoft.com/office/drawing/2014/main" id="{F0A01A76-8ADB-4654-AD8D-016D108B4D57}"/>
              </a:ext>
            </a:extLst>
          </p:cNvPr>
          <p:cNvSpPr>
            <a:spLocks noGrp="1" noChangeArrowheads="1"/>
          </p:cNvSpPr>
          <p:nvPr>
            <p:ph type="sldNum" sz="quarter" idx="5"/>
          </p:nvPr>
        </p:nvSpPr>
        <p:spPr>
          <a:ln/>
        </p:spPr>
        <p:txBody>
          <a:bodyPr/>
          <a:lstStyle/>
          <a:p>
            <a:fld id="{D4CFB4DC-0856-4432-9FBB-34F8B570308E}" type="slidenum">
              <a:rPr lang="en-US" altLang="en-US"/>
              <a:pPr/>
              <a:t>4</a:t>
            </a:fld>
            <a:endParaRPr lang="en-US" altLang="en-US"/>
          </a:p>
        </p:txBody>
      </p:sp>
      <p:sp>
        <p:nvSpPr>
          <p:cNvPr id="130050" name="Rectangle 2">
            <a:extLst>
              <a:ext uri="{FF2B5EF4-FFF2-40B4-BE49-F238E27FC236}">
                <a16:creationId xmlns:a16="http://schemas.microsoft.com/office/drawing/2014/main" id="{62A5F50A-E5B3-4FAC-9428-EEB72400C847}"/>
              </a:ext>
            </a:extLst>
          </p:cNvPr>
          <p:cNvSpPr>
            <a:spLocks noGrp="1" noRot="1" noChangeAspect="1" noChangeArrowheads="1" noTextEdit="1"/>
          </p:cNvSpPr>
          <p:nvPr>
            <p:ph type="sldImg"/>
          </p:nvPr>
        </p:nvSpPr>
        <p:spPr>
          <a:xfrm>
            <a:off x="1384300" y="769938"/>
            <a:ext cx="5022850" cy="3767137"/>
          </a:xfrm>
          <a:ln/>
        </p:spPr>
      </p:sp>
      <p:sp>
        <p:nvSpPr>
          <p:cNvPr id="130051" name="Rectangle 3">
            <a:extLst>
              <a:ext uri="{FF2B5EF4-FFF2-40B4-BE49-F238E27FC236}">
                <a16:creationId xmlns:a16="http://schemas.microsoft.com/office/drawing/2014/main" id="{C8F78B04-87C1-43CF-BC5E-8CD7AF696E29}"/>
              </a:ext>
            </a:extLst>
          </p:cNvPr>
          <p:cNvSpPr>
            <a:spLocks noGrp="1" noChangeArrowheads="1"/>
          </p:cNvSpPr>
          <p:nvPr>
            <p:ph type="body" idx="1"/>
          </p:nvPr>
        </p:nvSpPr>
        <p:spPr>
          <a:xfrm>
            <a:off x="1038014" y="4793933"/>
            <a:ext cx="5711613" cy="4537234"/>
          </a:xfrm>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0466D6E-6CA0-4530-91BD-A4B2F7A6D0EA}"/>
              </a:ext>
            </a:extLst>
          </p:cNvPr>
          <p:cNvSpPr>
            <a:spLocks noGrp="1" noRot="1" noChangeAspect="1" noChangeArrowheads="1" noTextEdit="1"/>
          </p:cNvSpPr>
          <p:nvPr>
            <p:ph type="sldImg"/>
          </p:nvPr>
        </p:nvSpPr>
        <p:spPr bwMode="auto">
          <a:xfrm>
            <a:off x="1397000" y="550863"/>
            <a:ext cx="4549775" cy="34115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a:extLst>
              <a:ext uri="{FF2B5EF4-FFF2-40B4-BE49-F238E27FC236}">
                <a16:creationId xmlns:a16="http://schemas.microsoft.com/office/drawing/2014/main" id="{42E30C27-D604-4D85-9D52-47BD77B773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TW" altLang="en-US">
              <a:latin typeface="Arial" panose="020B0604020202020204" pitchFamily="34" charset="0"/>
            </a:endParaRPr>
          </a:p>
        </p:txBody>
      </p:sp>
      <p:sp>
        <p:nvSpPr>
          <p:cNvPr id="2" name="Date Placeholder 1">
            <a:extLst>
              <a:ext uri="{FF2B5EF4-FFF2-40B4-BE49-F238E27FC236}">
                <a16:creationId xmlns:a16="http://schemas.microsoft.com/office/drawing/2014/main" id="{82DA1B79-66D6-49DA-B13B-065F1385FCD2}"/>
              </a:ext>
            </a:extLst>
          </p:cNvPr>
          <p:cNvSpPr>
            <a:spLocks noGrp="1"/>
          </p:cNvSpPr>
          <p:nvPr>
            <p:ph type="dt"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99871275-E0C2-4440-8BE1-40699EEAA94F}" type="slidenum">
              <a:rPr lang="en-US" altLang="en-US"/>
              <a:pPr>
                <a:spcBef>
                  <a:spcPct val="0"/>
                </a:spcBef>
              </a:pPr>
              <a:t>10</a:t>
            </a:fld>
            <a:endParaRPr lang="en-US" altLang="en-US"/>
          </a:p>
        </p:txBody>
      </p:sp>
      <p:sp>
        <p:nvSpPr>
          <p:cNvPr id="2" name="Date Placeholder 1">
            <a:extLst>
              <a:ext uri="{FF2B5EF4-FFF2-40B4-BE49-F238E27FC236}">
                <a16:creationId xmlns:a16="http://schemas.microsoft.com/office/drawing/2014/main" id="{830201D1-1AD8-4124-AADD-DD589C471331}"/>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231551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37E44B1A-106A-AF4D-80E8-73605AC4A874}" type="slidenum">
              <a:rPr lang="en-US" altLang="en-US"/>
              <a:pPr>
                <a:spcBef>
                  <a:spcPct val="0"/>
                </a:spcBef>
              </a:pPr>
              <a:t>13</a:t>
            </a:fld>
            <a:endParaRPr lang="en-US" altLang="en-US"/>
          </a:p>
        </p:txBody>
      </p:sp>
      <p:sp>
        <p:nvSpPr>
          <p:cNvPr id="2" name="Date Placeholder 1">
            <a:extLst>
              <a:ext uri="{FF2B5EF4-FFF2-40B4-BE49-F238E27FC236}">
                <a16:creationId xmlns:a16="http://schemas.microsoft.com/office/drawing/2014/main" id="{42ACA52D-9EF6-4284-B198-89272A9C42F8}"/>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843385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ChangeArrowheads="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90F67661-765E-6C47-BD8E-C0E16A39683A}" type="slidenum">
              <a:rPr lang="en-US" altLang="en-US"/>
              <a:pPr>
                <a:spcBef>
                  <a:spcPct val="0"/>
                </a:spcBef>
              </a:pPr>
              <a:t>18</a:t>
            </a:fld>
            <a:endParaRPr lang="en-US" altLang="en-US"/>
          </a:p>
        </p:txBody>
      </p:sp>
      <p:sp>
        <p:nvSpPr>
          <p:cNvPr id="2" name="Date Placeholder 1">
            <a:extLst>
              <a:ext uri="{FF2B5EF4-FFF2-40B4-BE49-F238E27FC236}">
                <a16:creationId xmlns:a16="http://schemas.microsoft.com/office/drawing/2014/main" id="{9270A851-A09C-470F-84EE-E040BFD1159D}"/>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609880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ChangeArrowheads="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ED145987-5E25-8E4E-BB6B-B790F9287C64}" type="slidenum">
              <a:rPr lang="en-US" altLang="en-US"/>
              <a:pPr>
                <a:spcBef>
                  <a:spcPct val="0"/>
                </a:spcBef>
              </a:pPr>
              <a:t>20</a:t>
            </a:fld>
            <a:endParaRPr lang="en-US" altLang="en-US"/>
          </a:p>
        </p:txBody>
      </p:sp>
      <p:sp>
        <p:nvSpPr>
          <p:cNvPr id="2" name="Date Placeholder 1">
            <a:extLst>
              <a:ext uri="{FF2B5EF4-FFF2-40B4-BE49-F238E27FC236}">
                <a16:creationId xmlns:a16="http://schemas.microsoft.com/office/drawing/2014/main" id="{EA5B29BF-EB7F-4644-8CB4-266B4303F529}"/>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526846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E567F7A4-8714-EA4D-B255-A9C4E872E060}" type="slidenum">
              <a:rPr lang="en-US" altLang="en-US"/>
              <a:pPr>
                <a:spcBef>
                  <a:spcPct val="0"/>
                </a:spcBef>
              </a:pPr>
              <a:t>24</a:t>
            </a:fld>
            <a:endParaRPr lang="en-US" altLang="en-US"/>
          </a:p>
        </p:txBody>
      </p:sp>
      <p:sp>
        <p:nvSpPr>
          <p:cNvPr id="2" name="Date Placeholder 1">
            <a:extLst>
              <a:ext uri="{FF2B5EF4-FFF2-40B4-BE49-F238E27FC236}">
                <a16:creationId xmlns:a16="http://schemas.microsoft.com/office/drawing/2014/main" id="{968CF592-07F7-4A23-A1D5-DDEF73532F05}"/>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543845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ChangeArrowheads="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1DD19C04-99D5-7E45-9DA3-D2D272DC7872}" type="slidenum">
              <a:rPr lang="en-US" altLang="en-US"/>
              <a:pPr>
                <a:spcBef>
                  <a:spcPct val="0"/>
                </a:spcBef>
              </a:pPr>
              <a:t>25</a:t>
            </a:fld>
            <a:endParaRPr lang="en-US" altLang="en-US"/>
          </a:p>
        </p:txBody>
      </p:sp>
      <p:sp>
        <p:nvSpPr>
          <p:cNvPr id="2" name="Date Placeholder 1">
            <a:extLst>
              <a:ext uri="{FF2B5EF4-FFF2-40B4-BE49-F238E27FC236}">
                <a16:creationId xmlns:a16="http://schemas.microsoft.com/office/drawing/2014/main" id="{B68B8F79-AAEE-40E7-BB34-36321DAC4379}"/>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483646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AA1FFA14-4D59-1142-9973-EB77A5932BA7}" type="slidenum">
              <a:rPr lang="en-US" altLang="en-US"/>
              <a:pPr>
                <a:spcBef>
                  <a:spcPct val="0"/>
                </a:spcBef>
              </a:pPr>
              <a:t>26</a:t>
            </a:fld>
            <a:endParaRPr lang="en-US"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13D5AC22-B630-41DF-93EE-E477CD9A31E5}"/>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251175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ChangeArrowheads="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6F85A7B3-4D13-654B-8B39-6A0EBA2831B7}" type="slidenum">
              <a:rPr lang="en-US" altLang="en-US"/>
              <a:pPr>
                <a:spcBef>
                  <a:spcPct val="0"/>
                </a:spcBef>
              </a:pPr>
              <a:t>34</a:t>
            </a:fld>
            <a:endParaRPr lang="en-US" altLang="en-US"/>
          </a:p>
        </p:txBody>
      </p:sp>
      <p:sp>
        <p:nvSpPr>
          <p:cNvPr id="2" name="Date Placeholder 1">
            <a:extLst>
              <a:ext uri="{FF2B5EF4-FFF2-40B4-BE49-F238E27FC236}">
                <a16:creationId xmlns:a16="http://schemas.microsoft.com/office/drawing/2014/main" id="{F6D4D01F-3FD1-46D4-AA49-96AA20CABE88}"/>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604576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ChangeArrowheads="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03B9743D-F8C4-204A-9EED-A7642429E859}" type="slidenum">
              <a:rPr lang="en-US" altLang="en-US"/>
              <a:pPr>
                <a:spcBef>
                  <a:spcPct val="0"/>
                </a:spcBef>
              </a:pPr>
              <a:t>35</a:t>
            </a:fld>
            <a:endParaRPr lang="en-US" altLang="en-US"/>
          </a:p>
        </p:txBody>
      </p:sp>
      <p:sp>
        <p:nvSpPr>
          <p:cNvPr id="2" name="Date Placeholder 1">
            <a:extLst>
              <a:ext uri="{FF2B5EF4-FFF2-40B4-BE49-F238E27FC236}">
                <a16:creationId xmlns:a16="http://schemas.microsoft.com/office/drawing/2014/main" id="{D8CC6CA7-3B18-48E3-BCF0-EF087F45E150}"/>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007316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ChangeArrowheads="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8BB4A785-C301-A848-892E-36EBB897A466}" type="slidenum">
              <a:rPr lang="en-US" altLang="en-US"/>
              <a:pPr>
                <a:spcBef>
                  <a:spcPct val="0"/>
                </a:spcBef>
              </a:pPr>
              <a:t>36</a:t>
            </a:fld>
            <a:endParaRPr lang="en-US" altLang="en-US"/>
          </a:p>
        </p:txBody>
      </p:sp>
      <p:sp>
        <p:nvSpPr>
          <p:cNvPr id="2" name="Date Placeholder 1">
            <a:extLst>
              <a:ext uri="{FF2B5EF4-FFF2-40B4-BE49-F238E27FC236}">
                <a16:creationId xmlns:a16="http://schemas.microsoft.com/office/drawing/2014/main" id="{EA3709A6-5842-4B0F-96D2-BCE6EC74D6AB}"/>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433611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ChangeArrowheads="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CD0248D7-0196-3842-A393-635A4A1C08DB}" type="slidenum">
              <a:rPr lang="en-US" altLang="en-US"/>
              <a:pPr>
                <a:spcBef>
                  <a:spcPct val="0"/>
                </a:spcBef>
              </a:pPr>
              <a:t>37</a:t>
            </a:fld>
            <a:endParaRPr lang="en-US" altLang="en-US"/>
          </a:p>
        </p:txBody>
      </p:sp>
      <p:sp>
        <p:nvSpPr>
          <p:cNvPr id="2" name="Date Placeholder 1">
            <a:extLst>
              <a:ext uri="{FF2B5EF4-FFF2-40B4-BE49-F238E27FC236}">
                <a16:creationId xmlns:a16="http://schemas.microsoft.com/office/drawing/2014/main" id="{14B86C64-5245-4843-B7FA-FDCC795D323B}"/>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426846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ChangeArrowheads="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CF9CF827-57D7-4148-A793-4D1EC7593BCB}" type="slidenum">
              <a:rPr lang="en-US" altLang="en-US"/>
              <a:pPr>
                <a:spcBef>
                  <a:spcPct val="0"/>
                </a:spcBef>
              </a:pPr>
              <a:t>38</a:t>
            </a:fld>
            <a:endParaRPr lang="en-US" altLang="en-US"/>
          </a:p>
        </p:txBody>
      </p:sp>
      <p:sp>
        <p:nvSpPr>
          <p:cNvPr id="2" name="Date Placeholder 1">
            <a:extLst>
              <a:ext uri="{FF2B5EF4-FFF2-40B4-BE49-F238E27FC236}">
                <a16:creationId xmlns:a16="http://schemas.microsoft.com/office/drawing/2014/main" id="{0CDE7BF8-A001-44B4-AF55-B7699A38C136}"/>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85333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1B056A62-9F02-9742-82E5-04C438CE1B25}" type="slidenum">
              <a:rPr lang="en-US" altLang="en-US"/>
              <a:pPr>
                <a:spcBef>
                  <a:spcPct val="0"/>
                </a:spcBef>
              </a:pPr>
              <a:t>39</a:t>
            </a:fld>
            <a:endParaRPr lang="en-US" altLang="en-US"/>
          </a:p>
        </p:txBody>
      </p:sp>
      <p:sp>
        <p:nvSpPr>
          <p:cNvPr id="87043" name="Rectangle 2"/>
          <p:cNvSpPr>
            <a:spLocks noGrp="1" noRot="1" noChangeAspect="1" noChangeArrowheads="1" noTextEdit="1"/>
          </p:cNvSpPr>
          <p:nvPr>
            <p:ph type="sldImg"/>
          </p:nvPr>
        </p:nvSpPr>
        <p:spPr>
          <a:xfrm>
            <a:off x="1258888" y="720725"/>
            <a:ext cx="4800600" cy="3600450"/>
          </a:xfrm>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66A55ADE-93ED-4A46-966A-ED718C1D9FBF}"/>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054223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77DDEF3E-88CF-0642-84EB-BB2085F74262}" type="slidenum">
              <a:rPr lang="en-US" altLang="en-US"/>
              <a:pPr>
                <a:spcBef>
                  <a:spcPct val="0"/>
                </a:spcBef>
              </a:pPr>
              <a:t>40</a:t>
            </a:fld>
            <a:endParaRPr lang="en-US" altLang="en-US"/>
          </a:p>
        </p:txBody>
      </p:sp>
      <p:sp>
        <p:nvSpPr>
          <p:cNvPr id="89091" name="Rectangle 2"/>
          <p:cNvSpPr>
            <a:spLocks noGrp="1" noRot="1" noChangeAspect="1" noChangeArrowheads="1" noTextEdit="1"/>
          </p:cNvSpPr>
          <p:nvPr>
            <p:ph type="sldImg"/>
          </p:nvPr>
        </p:nvSpPr>
        <p:spPr>
          <a:xfrm>
            <a:off x="1258888" y="720725"/>
            <a:ext cx="4800600" cy="3600450"/>
          </a:xfrm>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AA789A74-BA66-4F59-A61C-3101AF1D5D36}"/>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972339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40F13864-AC96-CD42-A68A-AE8926D7EFCF}" type="slidenum">
              <a:rPr lang="en-US" altLang="en-US"/>
              <a:pPr>
                <a:spcBef>
                  <a:spcPct val="0"/>
                </a:spcBef>
              </a:pPr>
              <a:t>42</a:t>
            </a:fld>
            <a:endParaRPr lang="en-US" alt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E93A3FD6-CB36-4010-A040-5F169E721A78}"/>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764537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6DA0D17F-FC16-A848-A553-645A15D9303B}" type="slidenum">
              <a:rPr lang="en-US" altLang="en-US"/>
              <a:pPr>
                <a:spcBef>
                  <a:spcPct val="0"/>
                </a:spcBef>
              </a:pPr>
              <a:t>43</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975360" y="4560570"/>
            <a:ext cx="5364480" cy="43205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240CC9EE-EACA-4642-8DA6-A9EC26529F1D}"/>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645860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charset="0"/>
              </a:defRPr>
            </a:lvl1pPr>
            <a:lvl2pPr marL="785372" indent="-302066">
              <a:spcBef>
                <a:spcPct val="30000"/>
              </a:spcBef>
              <a:defRPr sz="1300">
                <a:solidFill>
                  <a:schemeClr val="tx1"/>
                </a:solidFill>
                <a:latin typeface="Arial" charset="0"/>
              </a:defRPr>
            </a:lvl2pPr>
            <a:lvl3pPr marL="1208265" indent="-241653">
              <a:spcBef>
                <a:spcPct val="30000"/>
              </a:spcBef>
              <a:defRPr sz="1300">
                <a:solidFill>
                  <a:schemeClr val="tx1"/>
                </a:solidFill>
                <a:latin typeface="Arial" charset="0"/>
              </a:defRPr>
            </a:lvl3pPr>
            <a:lvl4pPr marL="1691571" indent="-241653">
              <a:spcBef>
                <a:spcPct val="30000"/>
              </a:spcBef>
              <a:defRPr sz="1300">
                <a:solidFill>
                  <a:schemeClr val="tx1"/>
                </a:solidFill>
                <a:latin typeface="Arial" charset="0"/>
              </a:defRPr>
            </a:lvl4pPr>
            <a:lvl5pPr marL="2174878" indent="-241653">
              <a:spcBef>
                <a:spcPct val="30000"/>
              </a:spcBef>
              <a:defRPr sz="1300">
                <a:solidFill>
                  <a:schemeClr val="tx1"/>
                </a:solidFill>
                <a:latin typeface="Arial" charset="0"/>
              </a:defRPr>
            </a:lvl5pPr>
            <a:lvl6pPr marL="2658184" indent="-241653" eaLnBrk="0" fontAlgn="base" hangingPunct="0">
              <a:spcBef>
                <a:spcPct val="30000"/>
              </a:spcBef>
              <a:spcAft>
                <a:spcPct val="0"/>
              </a:spcAft>
              <a:defRPr sz="1300">
                <a:solidFill>
                  <a:schemeClr val="tx1"/>
                </a:solidFill>
                <a:latin typeface="Arial" charset="0"/>
              </a:defRPr>
            </a:lvl6pPr>
            <a:lvl7pPr marL="3141490" indent="-241653" eaLnBrk="0" fontAlgn="base" hangingPunct="0">
              <a:spcBef>
                <a:spcPct val="30000"/>
              </a:spcBef>
              <a:spcAft>
                <a:spcPct val="0"/>
              </a:spcAft>
              <a:defRPr sz="1300">
                <a:solidFill>
                  <a:schemeClr val="tx1"/>
                </a:solidFill>
                <a:latin typeface="Arial" charset="0"/>
              </a:defRPr>
            </a:lvl7pPr>
            <a:lvl8pPr marL="3624796" indent="-241653" eaLnBrk="0" fontAlgn="base" hangingPunct="0">
              <a:spcBef>
                <a:spcPct val="30000"/>
              </a:spcBef>
              <a:spcAft>
                <a:spcPct val="0"/>
              </a:spcAft>
              <a:defRPr sz="1300">
                <a:solidFill>
                  <a:schemeClr val="tx1"/>
                </a:solidFill>
                <a:latin typeface="Arial" charset="0"/>
              </a:defRPr>
            </a:lvl8pPr>
            <a:lvl9pPr marL="4108102" indent="-241653" eaLnBrk="0" fontAlgn="base" hangingPunct="0">
              <a:spcBef>
                <a:spcPct val="30000"/>
              </a:spcBef>
              <a:spcAft>
                <a:spcPct val="0"/>
              </a:spcAft>
              <a:defRPr sz="1300">
                <a:solidFill>
                  <a:schemeClr val="tx1"/>
                </a:solidFill>
                <a:latin typeface="Arial" charset="0"/>
              </a:defRPr>
            </a:lvl9pPr>
          </a:lstStyle>
          <a:p>
            <a:pPr>
              <a:spcBef>
                <a:spcPct val="0"/>
              </a:spcBef>
            </a:pPr>
            <a:fld id="{9FAE75D4-49B5-6F47-8BE0-D7ACFF42B1EF}" type="slidenum">
              <a:rPr lang="en-US" altLang="en-US"/>
              <a:pPr>
                <a:spcBef>
                  <a:spcPct val="0"/>
                </a:spcBef>
              </a:pPr>
              <a:t>44</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xfrm>
            <a:off x="975360" y="4560570"/>
            <a:ext cx="5364480" cy="43205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
        <p:nvSpPr>
          <p:cNvPr id="2" name="Date Placeholder 1">
            <a:extLst>
              <a:ext uri="{FF2B5EF4-FFF2-40B4-BE49-F238E27FC236}">
                <a16:creationId xmlns:a16="http://schemas.microsoft.com/office/drawing/2014/main" id="{269D0578-EF40-4457-AA0F-F767C1ED54D8}"/>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006596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15:notes"/>
          <p:cNvSpPr txBox="1">
            <a:spLocks noGrp="1"/>
          </p:cNvSpPr>
          <p:nvPr>
            <p:ph type="body" idx="1"/>
          </p:nvPr>
        </p:nvSpPr>
        <p:spPr>
          <a:xfrm>
            <a:off x="368639" y="2329265"/>
            <a:ext cx="2954190" cy="1907375"/>
          </a:xfrm>
          <a:prstGeom prst="rect">
            <a:avLst/>
          </a:prstGeom>
        </p:spPr>
        <p:txBody>
          <a:bodyPr spcFirstLastPara="1" wrap="square" lIns="96645" tIns="48309" rIns="96645" bIns="48309" anchor="t" anchorCtr="0">
            <a:noAutofit/>
          </a:bodyPr>
          <a:lstStyle/>
          <a:p>
            <a:endParaRPr/>
          </a:p>
        </p:txBody>
      </p:sp>
      <p:sp>
        <p:nvSpPr>
          <p:cNvPr id="576" name="Google Shape;576;p15:notes"/>
          <p:cNvSpPr>
            <a:spLocks noGrp="1" noRot="1" noChangeAspect="1"/>
          </p:cNvSpPr>
          <p:nvPr>
            <p:ph type="sldImg" idx="2"/>
          </p:nvPr>
        </p:nvSpPr>
        <p:spPr>
          <a:xfrm>
            <a:off x="757238" y="606425"/>
            <a:ext cx="2176462" cy="16319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40FA8325-F651-49D7-B19F-D1C23BD6F513}"/>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3700153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Finger table of N42:</a:t>
            </a:r>
          </a:p>
          <a:p>
            <a:r>
              <a:rPr lang="en-US" dirty="0"/>
              <a:t>N42+1: N48</a:t>
            </a:r>
          </a:p>
          <a:p>
            <a:r>
              <a:rPr lang="en-US" dirty="0"/>
              <a:t>N42+2: N48</a:t>
            </a:r>
          </a:p>
          <a:p>
            <a:r>
              <a:rPr lang="en-US" dirty="0"/>
              <a:t>N42+4: N48</a:t>
            </a:r>
          </a:p>
          <a:p>
            <a:r>
              <a:rPr lang="en-US" dirty="0"/>
              <a:t>N42+8: N51</a:t>
            </a:r>
          </a:p>
          <a:p>
            <a:r>
              <a:rPr lang="en-US" dirty="0"/>
              <a:t>N42+16: N1</a:t>
            </a:r>
          </a:p>
          <a:p>
            <a:r>
              <a:rPr lang="en-US" dirty="0"/>
              <a:t>N42+32: N14</a:t>
            </a:r>
          </a:p>
          <a:p>
            <a:endParaRPr lang="en-US" dirty="0"/>
          </a:p>
          <a:p>
            <a:r>
              <a:rPr lang="en-US" dirty="0"/>
              <a:t>Partial finger table of N51:</a:t>
            </a:r>
          </a:p>
          <a:p>
            <a:r>
              <a:rPr lang="en-US" dirty="0"/>
              <a:t>N51+1: N56</a:t>
            </a:r>
          </a:p>
          <a:p>
            <a:r>
              <a:rPr lang="en-US" dirty="0"/>
              <a:t>N51+2: N56</a:t>
            </a:r>
          </a:p>
          <a:p>
            <a:r>
              <a:rPr lang="en-US" dirty="0"/>
              <a:t>N51+4: N56</a:t>
            </a:r>
          </a:p>
          <a:p>
            <a:endParaRPr lang="en-US" dirty="0"/>
          </a:p>
          <a:p>
            <a:endParaRPr lang="en-US" dirty="0"/>
          </a:p>
        </p:txBody>
      </p:sp>
      <p:sp>
        <p:nvSpPr>
          <p:cNvPr id="4" name="Slide Number Placeholder 3"/>
          <p:cNvSpPr>
            <a:spLocks noGrp="1"/>
          </p:cNvSpPr>
          <p:nvPr>
            <p:ph type="sldNum" sz="quarter" idx="5"/>
          </p:nvPr>
        </p:nvSpPr>
        <p:spPr/>
        <p:txBody>
          <a:bodyPr/>
          <a:lstStyle/>
          <a:p>
            <a:fld id="{2C6496CB-BBA7-4860-8F18-6A91B4309502}" type="slidenum">
              <a:rPr lang="en-US" smtClean="0"/>
              <a:t>60</a:t>
            </a:fld>
            <a:endParaRPr lang="en-US"/>
          </a:p>
        </p:txBody>
      </p:sp>
      <p:sp>
        <p:nvSpPr>
          <p:cNvPr id="5" name="Date Placeholder 4">
            <a:extLst>
              <a:ext uri="{FF2B5EF4-FFF2-40B4-BE49-F238E27FC236}">
                <a16:creationId xmlns:a16="http://schemas.microsoft.com/office/drawing/2014/main" id="{F008DFEB-8852-444A-BFDB-BCF447A07C53}"/>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2456755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6496CB-BBA7-4860-8F18-6A91B4309502}" type="slidenum">
              <a:rPr lang="en-US" smtClean="0"/>
              <a:t>61</a:t>
            </a:fld>
            <a:endParaRPr lang="en-US"/>
          </a:p>
        </p:txBody>
      </p:sp>
      <p:sp>
        <p:nvSpPr>
          <p:cNvPr id="5" name="Date Placeholder 4">
            <a:extLst>
              <a:ext uri="{FF2B5EF4-FFF2-40B4-BE49-F238E27FC236}">
                <a16:creationId xmlns:a16="http://schemas.microsoft.com/office/drawing/2014/main" id="{D828B1D0-B19C-4E7A-9F8A-A8404F8F10C6}"/>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2718397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6:notes"/>
          <p:cNvSpPr>
            <a:spLocks noGrp="1" noRot="1" noChangeAspect="1"/>
          </p:cNvSpPr>
          <p:nvPr>
            <p:ph type="sldImg" idx="2"/>
          </p:nvPr>
        </p:nvSpPr>
        <p:spPr>
          <a:xfrm>
            <a:off x="757238" y="606425"/>
            <a:ext cx="2176462" cy="16319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16:notes"/>
          <p:cNvSpPr txBox="1">
            <a:spLocks noGrp="1"/>
          </p:cNvSpPr>
          <p:nvPr>
            <p:ph type="body" idx="1"/>
          </p:nvPr>
        </p:nvSpPr>
        <p:spPr>
          <a:xfrm>
            <a:off x="368639" y="2329265"/>
            <a:ext cx="2954190" cy="1907375"/>
          </a:xfrm>
          <a:prstGeom prst="rect">
            <a:avLst/>
          </a:prstGeom>
          <a:noFill/>
          <a:ln>
            <a:noFill/>
          </a:ln>
        </p:spPr>
        <p:txBody>
          <a:bodyPr spcFirstLastPara="1" wrap="square" lIns="96645" tIns="48309" rIns="96645" bIns="48309" anchor="t" anchorCtr="0">
            <a:noAutofit/>
          </a:bodyPr>
          <a:lstStyle/>
          <a:p>
            <a:r>
              <a:rPr lang="en-US" dirty="0">
                <a:latin typeface="Arial"/>
                <a:ea typeface="Arial"/>
                <a:cs typeface="Arial"/>
                <a:sym typeface="Arial"/>
              </a:rPr>
              <a:t>K=26 from node 1</a:t>
            </a:r>
            <a:endParaRPr dirty="0"/>
          </a:p>
          <a:p>
            <a:r>
              <a:rPr lang="en-US" dirty="0">
                <a:latin typeface="Arial"/>
                <a:ea typeface="Arial"/>
                <a:cs typeface="Arial"/>
                <a:sym typeface="Arial"/>
              </a:rPr>
              <a:t>26 &gt; FT1[5] so we go to Node 18</a:t>
            </a:r>
            <a:endParaRPr dirty="0"/>
          </a:p>
          <a:p>
            <a:r>
              <a:rPr lang="en-US" dirty="0">
                <a:latin typeface="Arial"/>
                <a:ea typeface="Arial"/>
                <a:cs typeface="Arial"/>
                <a:sym typeface="Arial"/>
              </a:rPr>
              <a:t>FT18[2] &lt;= k &lt; FT18[3] so we go with FT18[2] which is 20</a:t>
            </a:r>
            <a:endParaRPr dirty="0"/>
          </a:p>
          <a:p>
            <a:r>
              <a:rPr lang="en-US" dirty="0">
                <a:latin typeface="Arial"/>
                <a:ea typeface="Arial"/>
                <a:cs typeface="Arial"/>
                <a:sym typeface="Arial"/>
              </a:rPr>
              <a:t>FT20[1] &lt;= k &lt; FT18[2] so we go with FT20[1] which is 21</a:t>
            </a:r>
            <a:endParaRPr dirty="0"/>
          </a:p>
          <a:p>
            <a:r>
              <a:rPr lang="en-US" dirty="0">
                <a:latin typeface="Arial"/>
                <a:ea typeface="Arial"/>
                <a:cs typeface="Arial"/>
                <a:sym typeface="Arial"/>
              </a:rPr>
              <a:t>FT21[1] &gt; k so we go to FT21[1] which is 28 and there we find our data.  </a:t>
            </a:r>
            <a:endParaRPr dirty="0"/>
          </a:p>
          <a:p>
            <a:endParaRPr lang="en-US" dirty="0"/>
          </a:p>
          <a:p>
            <a:endParaRPr dirty="0"/>
          </a:p>
        </p:txBody>
      </p:sp>
      <p:sp>
        <p:nvSpPr>
          <p:cNvPr id="601" name="Google Shape;601;p16:notes"/>
          <p:cNvSpPr txBox="1">
            <a:spLocks noGrp="1"/>
          </p:cNvSpPr>
          <p:nvPr>
            <p:ph type="sldNum" idx="12"/>
          </p:nvPr>
        </p:nvSpPr>
        <p:spPr>
          <a:xfrm>
            <a:off x="2091069" y="4598576"/>
            <a:ext cx="1599127" cy="242029"/>
          </a:xfrm>
          <a:prstGeom prst="rect">
            <a:avLst/>
          </a:prstGeom>
          <a:noFill/>
          <a:ln>
            <a:noFill/>
          </a:ln>
        </p:spPr>
        <p:txBody>
          <a:bodyPr spcFirstLastPara="1" wrap="square" lIns="96645" tIns="48309" rIns="96645" bIns="48309" anchor="b" anchorCtr="0">
            <a:noAutofit/>
          </a:bodyPr>
          <a:lstStyle/>
          <a:p>
            <a:fld id="{00000000-1234-1234-1234-123412341234}" type="slidenum">
              <a:rPr lang="en-US"/>
              <a:pPr/>
              <a:t>63</a:t>
            </a:fld>
            <a:endParaRPr/>
          </a:p>
        </p:txBody>
      </p:sp>
      <p:sp>
        <p:nvSpPr>
          <p:cNvPr id="2" name="Date Placeholder 1">
            <a:extLst>
              <a:ext uri="{FF2B5EF4-FFF2-40B4-BE49-F238E27FC236}">
                <a16:creationId xmlns:a16="http://schemas.microsoft.com/office/drawing/2014/main" id="{587B3BDA-A677-4042-9191-C0A16DF72767}"/>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1526975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4B4E737-53F0-4CE6-AC31-80E2D82A677A}"/>
              </a:ext>
            </a:extLst>
          </p:cNvPr>
          <p:cNvSpPr>
            <a:spLocks noGrp="1" noChangeArrowheads="1"/>
          </p:cNvSpPr>
          <p:nvPr>
            <p:ph type="sldNum" sz="quarter" idx="5"/>
          </p:nvPr>
        </p:nvSpPr>
        <p:spPr>
          <a:ln/>
        </p:spPr>
        <p:txBody>
          <a:bodyPr/>
          <a:lstStyle/>
          <a:p>
            <a:fld id="{E2CA394F-7594-4C5F-A724-BBAC79AE4D18}" type="slidenum">
              <a:rPr lang="en-US" altLang="en-US"/>
              <a:pPr/>
              <a:t>69</a:t>
            </a:fld>
            <a:endParaRPr lang="en-US" altLang="en-US"/>
          </a:p>
        </p:txBody>
      </p:sp>
      <p:sp>
        <p:nvSpPr>
          <p:cNvPr id="417794" name="Rectangle 2">
            <a:extLst>
              <a:ext uri="{FF2B5EF4-FFF2-40B4-BE49-F238E27FC236}">
                <a16:creationId xmlns:a16="http://schemas.microsoft.com/office/drawing/2014/main" id="{A09A7BD5-F15B-454E-B175-7B24B198107F}"/>
              </a:ext>
            </a:extLst>
          </p:cNvPr>
          <p:cNvSpPr>
            <a:spLocks noGrp="1" noRot="1" noChangeAspect="1" noChangeArrowheads="1" noTextEdit="1"/>
          </p:cNvSpPr>
          <p:nvPr>
            <p:ph type="sldImg"/>
          </p:nvPr>
        </p:nvSpPr>
        <p:spPr>
          <a:ln/>
        </p:spPr>
      </p:sp>
      <p:sp>
        <p:nvSpPr>
          <p:cNvPr id="417795" name="Rectangle 3">
            <a:extLst>
              <a:ext uri="{FF2B5EF4-FFF2-40B4-BE49-F238E27FC236}">
                <a16:creationId xmlns:a16="http://schemas.microsoft.com/office/drawing/2014/main" id="{2C04C623-F5B3-490B-8EC5-413FC4B50906}"/>
              </a:ext>
            </a:extLst>
          </p:cNvPr>
          <p:cNvSpPr>
            <a:spLocks noGrp="1" noChangeArrowheads="1"/>
          </p:cNvSpPr>
          <p:nvPr>
            <p:ph type="body" idx="1"/>
          </p:nvPr>
        </p:nvSpPr>
        <p:spPr/>
        <p:txBody>
          <a:bodyPr/>
          <a:lstStyle/>
          <a:p>
            <a:endParaRPr lang="en-US" altLang="en-US" dirty="0"/>
          </a:p>
        </p:txBody>
      </p:sp>
      <p:sp>
        <p:nvSpPr>
          <p:cNvPr id="2" name="Date Placeholder 1">
            <a:extLst>
              <a:ext uri="{FF2B5EF4-FFF2-40B4-BE49-F238E27FC236}">
                <a16:creationId xmlns:a16="http://schemas.microsoft.com/office/drawing/2014/main" id="{B7924ACD-6754-4300-9D93-6E89C35DB6A9}"/>
              </a:ext>
            </a:extLst>
          </p:cNvPr>
          <p:cNvSpPr>
            <a:spLocks noGrp="1"/>
          </p:cNvSpPr>
          <p:nvPr>
            <p:ph type="dt"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1544960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75757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1286284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4253857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3158820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286759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272326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139882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2420359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254352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2D8E1-E770-41DD-9F25-C531EB532395}" type="slidenum">
              <a:rPr lang="en-US" smtClean="0"/>
              <a:t>‹#›</a:t>
            </a:fld>
            <a:endParaRPr lang="en-US"/>
          </a:p>
        </p:txBody>
      </p:sp>
    </p:spTree>
    <p:extLst>
      <p:ext uri="{BB962C8B-B14F-4D97-AF65-F5344CB8AC3E}">
        <p14:creationId xmlns:p14="http://schemas.microsoft.com/office/powerpoint/2010/main" val="412766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750B-A1EA-4FAA-9D36-F77DBA13D6C8}"/>
              </a:ext>
            </a:extLst>
          </p:cNvPr>
          <p:cNvSpPr>
            <a:spLocks noGrp="1"/>
          </p:cNvSpPr>
          <p:nvPr>
            <p:ph type="title"/>
          </p:nvPr>
        </p:nvSpPr>
        <p:spPr>
          <a:xfrm>
            <a:off x="1150938" y="214313"/>
            <a:ext cx="7793037" cy="1462087"/>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240D02-8049-42C8-97DC-CAA41086B3E5}"/>
              </a:ext>
            </a:extLst>
          </p:cNvPr>
          <p:cNvSpPr>
            <a:spLocks noGrp="1"/>
          </p:cNvSpPr>
          <p:nvPr>
            <p:ph type="body" sz="half" idx="1"/>
          </p:nvPr>
        </p:nvSpPr>
        <p:spPr>
          <a:xfrm>
            <a:off x="1182688" y="2017713"/>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FB5DBC-D4F9-4B41-A96C-3E1D5729F145}"/>
              </a:ext>
            </a:extLst>
          </p:cNvPr>
          <p:cNvSpPr>
            <a:spLocks noGrp="1"/>
          </p:cNvSpPr>
          <p:nvPr>
            <p:ph sz="half" idx="2"/>
          </p:nvPr>
        </p:nvSpPr>
        <p:spPr>
          <a:xfrm>
            <a:off x="5145088" y="2017713"/>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72F18F-9D6F-41B3-899F-92F94BB574A2}"/>
              </a:ext>
            </a:extLst>
          </p:cNvPr>
          <p:cNvSpPr>
            <a:spLocks noGrp="1"/>
          </p:cNvSpPr>
          <p:nvPr>
            <p:ph type="dt" sz="half" idx="10"/>
          </p:nvPr>
        </p:nvSpPr>
        <p:spPr>
          <a:xfrm>
            <a:off x="1162050" y="6243638"/>
            <a:ext cx="1905000" cy="457200"/>
          </a:xfrm>
        </p:spPr>
        <p:txBody>
          <a:bodyPr/>
          <a:lstStyle>
            <a:lvl1pPr>
              <a:defRPr/>
            </a:lvl1pPr>
          </a:lstStyle>
          <a:p>
            <a:endParaRPr lang="en-US" altLang="ko-KR"/>
          </a:p>
        </p:txBody>
      </p:sp>
      <p:sp>
        <p:nvSpPr>
          <p:cNvPr id="6" name="Footer Placeholder 5">
            <a:extLst>
              <a:ext uri="{FF2B5EF4-FFF2-40B4-BE49-F238E27FC236}">
                <a16:creationId xmlns:a16="http://schemas.microsoft.com/office/drawing/2014/main" id="{49381BF5-8C92-40E7-A233-B638667E914A}"/>
              </a:ext>
            </a:extLst>
          </p:cNvPr>
          <p:cNvSpPr>
            <a:spLocks noGrp="1"/>
          </p:cNvSpPr>
          <p:nvPr>
            <p:ph type="ftr" sz="quarter" idx="11"/>
          </p:nvPr>
        </p:nvSpPr>
        <p:spPr>
          <a:xfrm>
            <a:off x="3657600" y="6243638"/>
            <a:ext cx="2895600" cy="457200"/>
          </a:xfrm>
        </p:spPr>
        <p:txBody>
          <a:bodyPr/>
          <a:lstStyle>
            <a:lvl1pPr>
              <a:defRPr/>
            </a:lvl1pPr>
          </a:lstStyle>
          <a:p>
            <a:endParaRPr lang="en-US" altLang="ko-KR"/>
          </a:p>
        </p:txBody>
      </p:sp>
      <p:sp>
        <p:nvSpPr>
          <p:cNvPr id="7" name="Slide Number Placeholder 6">
            <a:extLst>
              <a:ext uri="{FF2B5EF4-FFF2-40B4-BE49-F238E27FC236}">
                <a16:creationId xmlns:a16="http://schemas.microsoft.com/office/drawing/2014/main" id="{5C89A246-25FD-48B9-9819-65ECBFA86F27}"/>
              </a:ext>
            </a:extLst>
          </p:cNvPr>
          <p:cNvSpPr>
            <a:spLocks noGrp="1"/>
          </p:cNvSpPr>
          <p:nvPr>
            <p:ph type="sldNum" sz="quarter" idx="12"/>
          </p:nvPr>
        </p:nvSpPr>
        <p:spPr>
          <a:xfrm>
            <a:off x="7042150" y="6243638"/>
            <a:ext cx="1905000" cy="457200"/>
          </a:xfrm>
        </p:spPr>
        <p:txBody>
          <a:bodyPr/>
          <a:lstStyle>
            <a:lvl1pPr>
              <a:defRPr/>
            </a:lvl1pPr>
          </a:lstStyle>
          <a:p>
            <a:fld id="{062E4CD0-EF46-47BB-B995-378B671C1868}" type="slidenum">
              <a:rPr lang="ko-KR" altLang="en-US"/>
              <a:pPr/>
              <a:t>‹#›</a:t>
            </a:fld>
            <a:endParaRPr lang="en-US" altLang="ko-KR"/>
          </a:p>
        </p:txBody>
      </p:sp>
    </p:spTree>
    <p:extLst>
      <p:ext uri="{BB962C8B-B14F-4D97-AF65-F5344CB8AC3E}">
        <p14:creationId xmlns:p14="http://schemas.microsoft.com/office/powerpoint/2010/main" val="1664907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C83DC-9FD2-4C43-AEA7-658B3C5010D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36905F-CFB4-49E1-A3C6-67AA0680551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C46FBF-B7EA-4340-9731-89680BB954E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78B8626-086C-4326-B492-852B6F05D3A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AE9BDD0-D2A8-473E-995F-6964B6E7F244}"/>
              </a:ext>
            </a:extLst>
          </p:cNvPr>
          <p:cNvSpPr>
            <a:spLocks noGrp="1"/>
          </p:cNvSpPr>
          <p:nvPr>
            <p:ph type="sldNum" sz="quarter" idx="12"/>
          </p:nvPr>
        </p:nvSpPr>
        <p:spPr/>
        <p:txBody>
          <a:bodyPr/>
          <a:lstStyle>
            <a:lvl1pPr>
              <a:defRPr/>
            </a:lvl1pPr>
          </a:lstStyle>
          <a:p>
            <a:fld id="{421751A9-5516-43DB-BF7C-9201214E15A7}" type="slidenum">
              <a:rPr lang="en-US" altLang="en-US"/>
              <a:pPr/>
              <a:t>‹#›</a:t>
            </a:fld>
            <a:endParaRPr lang="en-US" altLang="en-US"/>
          </a:p>
        </p:txBody>
      </p:sp>
    </p:spTree>
    <p:extLst>
      <p:ext uri="{BB962C8B-B14F-4D97-AF65-F5344CB8AC3E}">
        <p14:creationId xmlns:p14="http://schemas.microsoft.com/office/powerpoint/2010/main" val="1664417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0A229-241D-4E2C-A481-B2EC52212E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C40FA-BD16-4729-833E-516A1BB24E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1F4BC-3DA5-4717-835B-2F32CF068B3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C0A1917-787A-47E7-96A1-40BF46F3E4B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6B6ADA-71FB-4313-BBB3-B66D5FC9D746}"/>
              </a:ext>
            </a:extLst>
          </p:cNvPr>
          <p:cNvSpPr>
            <a:spLocks noGrp="1"/>
          </p:cNvSpPr>
          <p:nvPr>
            <p:ph type="sldNum" sz="quarter" idx="12"/>
          </p:nvPr>
        </p:nvSpPr>
        <p:spPr/>
        <p:txBody>
          <a:bodyPr/>
          <a:lstStyle>
            <a:lvl1pPr>
              <a:defRPr/>
            </a:lvl1pPr>
          </a:lstStyle>
          <a:p>
            <a:fld id="{925A485E-AA36-4CA5-B6C2-D71E7680420D}" type="slidenum">
              <a:rPr lang="en-US" altLang="en-US"/>
              <a:pPr/>
              <a:t>‹#›</a:t>
            </a:fld>
            <a:endParaRPr lang="en-US" altLang="en-US"/>
          </a:p>
        </p:txBody>
      </p:sp>
    </p:spTree>
    <p:extLst>
      <p:ext uri="{BB962C8B-B14F-4D97-AF65-F5344CB8AC3E}">
        <p14:creationId xmlns:p14="http://schemas.microsoft.com/office/powerpoint/2010/main" val="793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2E272-4C93-4EBF-A6E9-AA8E0A6C9347}"/>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91A312-89EC-4717-BC08-B81E49C5418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1A5E64C-EA7D-4053-9E56-CAE61268F784}"/>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75B1856-535C-42EF-ACB3-FBE3477B610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E9B79E2-72D8-4552-911B-C1518C207001}"/>
              </a:ext>
            </a:extLst>
          </p:cNvPr>
          <p:cNvSpPr>
            <a:spLocks noGrp="1"/>
          </p:cNvSpPr>
          <p:nvPr>
            <p:ph type="sldNum" sz="quarter" idx="12"/>
          </p:nvPr>
        </p:nvSpPr>
        <p:spPr/>
        <p:txBody>
          <a:bodyPr/>
          <a:lstStyle>
            <a:lvl1pPr>
              <a:defRPr/>
            </a:lvl1pPr>
          </a:lstStyle>
          <a:p>
            <a:fld id="{482567BC-7C6A-4EE7-9859-CF4A3B00AC25}" type="slidenum">
              <a:rPr lang="en-US" altLang="en-US"/>
              <a:pPr/>
              <a:t>‹#›</a:t>
            </a:fld>
            <a:endParaRPr lang="en-US" altLang="en-US"/>
          </a:p>
        </p:txBody>
      </p:sp>
    </p:spTree>
    <p:extLst>
      <p:ext uri="{BB962C8B-B14F-4D97-AF65-F5344CB8AC3E}">
        <p14:creationId xmlns:p14="http://schemas.microsoft.com/office/powerpoint/2010/main" val="4061239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1112-20C7-4FF7-87D6-47C00256BB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F5ED1-1C7F-4BCA-A84A-210CA36B8E66}"/>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A9414E-9ADB-4550-BFAE-A59F6EFF4FCA}"/>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87A689-21B4-4C5F-85E1-F2A18140C636}"/>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D84BE3E-A9D5-4C73-BD1F-CBA1E63C7901}"/>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A1B93BD7-E14B-4D6F-8946-81CAF91F0755}"/>
              </a:ext>
            </a:extLst>
          </p:cNvPr>
          <p:cNvSpPr>
            <a:spLocks noGrp="1"/>
          </p:cNvSpPr>
          <p:nvPr>
            <p:ph type="sldNum" sz="quarter" idx="12"/>
          </p:nvPr>
        </p:nvSpPr>
        <p:spPr/>
        <p:txBody>
          <a:bodyPr/>
          <a:lstStyle>
            <a:lvl1pPr>
              <a:defRPr/>
            </a:lvl1pPr>
          </a:lstStyle>
          <a:p>
            <a:fld id="{D394E9AA-3F03-4018-8744-36E2CCA8B57C}" type="slidenum">
              <a:rPr lang="en-US" altLang="en-US"/>
              <a:pPr/>
              <a:t>‹#›</a:t>
            </a:fld>
            <a:endParaRPr lang="en-US" altLang="en-US"/>
          </a:p>
        </p:txBody>
      </p:sp>
    </p:spTree>
    <p:extLst>
      <p:ext uri="{BB962C8B-B14F-4D97-AF65-F5344CB8AC3E}">
        <p14:creationId xmlns:p14="http://schemas.microsoft.com/office/powerpoint/2010/main" val="1676181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78E5-49A1-4628-9806-2FB33F80D86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D60425-7584-4886-997D-D8809755E4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65F8A2-1776-4E45-904E-EFA4133FCF2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63F233-DEE9-4972-A577-B11B18BC60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FD1E77-B7E0-478C-9258-AEDD5DA04D47}"/>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4F7E96-0D8D-4369-B5CC-7C784E87CD2B}"/>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3A6DA15-0162-48BB-B444-7EA6C293F8E9}"/>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92676B26-2942-4614-BE95-868A748B93CE}"/>
              </a:ext>
            </a:extLst>
          </p:cNvPr>
          <p:cNvSpPr>
            <a:spLocks noGrp="1"/>
          </p:cNvSpPr>
          <p:nvPr>
            <p:ph type="sldNum" sz="quarter" idx="12"/>
          </p:nvPr>
        </p:nvSpPr>
        <p:spPr/>
        <p:txBody>
          <a:bodyPr/>
          <a:lstStyle>
            <a:lvl1pPr>
              <a:defRPr/>
            </a:lvl1pPr>
          </a:lstStyle>
          <a:p>
            <a:fld id="{71B0CF4F-86E7-4134-8973-F24796069F11}" type="slidenum">
              <a:rPr lang="en-US" altLang="en-US"/>
              <a:pPr/>
              <a:t>‹#›</a:t>
            </a:fld>
            <a:endParaRPr lang="en-US" altLang="en-US"/>
          </a:p>
        </p:txBody>
      </p:sp>
    </p:spTree>
    <p:extLst>
      <p:ext uri="{BB962C8B-B14F-4D97-AF65-F5344CB8AC3E}">
        <p14:creationId xmlns:p14="http://schemas.microsoft.com/office/powerpoint/2010/main" val="2488041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579B-165E-490B-BD2C-D2BF84F441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67B7B5-223E-4B89-943C-B0124C58F963}"/>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1D1AD9D7-995C-40D7-8098-238B7FB2581E}"/>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0BB669BA-8056-4C6F-A471-81ED56AE74B4}"/>
              </a:ext>
            </a:extLst>
          </p:cNvPr>
          <p:cNvSpPr>
            <a:spLocks noGrp="1"/>
          </p:cNvSpPr>
          <p:nvPr>
            <p:ph type="sldNum" sz="quarter" idx="12"/>
          </p:nvPr>
        </p:nvSpPr>
        <p:spPr/>
        <p:txBody>
          <a:bodyPr/>
          <a:lstStyle>
            <a:lvl1pPr>
              <a:defRPr/>
            </a:lvl1pPr>
          </a:lstStyle>
          <a:p>
            <a:fld id="{DA5C25B0-A2A5-41CB-9611-A571BB29F60C}" type="slidenum">
              <a:rPr lang="en-US" altLang="en-US"/>
              <a:pPr/>
              <a:t>‹#›</a:t>
            </a:fld>
            <a:endParaRPr lang="en-US" altLang="en-US"/>
          </a:p>
        </p:txBody>
      </p:sp>
    </p:spTree>
    <p:extLst>
      <p:ext uri="{BB962C8B-B14F-4D97-AF65-F5344CB8AC3E}">
        <p14:creationId xmlns:p14="http://schemas.microsoft.com/office/powerpoint/2010/main" val="1415028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5AC4B-EB59-4FA3-AC76-9AF2BCFADB96}"/>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29E7050-EAAA-4782-9A83-26C2571933BE}"/>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3B89D738-8ADB-42D9-B4B6-A7EDD8352355}"/>
              </a:ext>
            </a:extLst>
          </p:cNvPr>
          <p:cNvSpPr>
            <a:spLocks noGrp="1"/>
          </p:cNvSpPr>
          <p:nvPr>
            <p:ph type="sldNum" sz="quarter" idx="12"/>
          </p:nvPr>
        </p:nvSpPr>
        <p:spPr/>
        <p:txBody>
          <a:bodyPr/>
          <a:lstStyle>
            <a:lvl1pPr>
              <a:defRPr/>
            </a:lvl1pPr>
          </a:lstStyle>
          <a:p>
            <a:fld id="{62062E4B-B39B-407F-ABEB-D07AE95BB5B7}" type="slidenum">
              <a:rPr lang="en-US" altLang="en-US"/>
              <a:pPr/>
              <a:t>‹#›</a:t>
            </a:fld>
            <a:endParaRPr lang="en-US" altLang="en-US"/>
          </a:p>
        </p:txBody>
      </p:sp>
    </p:spTree>
    <p:extLst>
      <p:ext uri="{BB962C8B-B14F-4D97-AF65-F5344CB8AC3E}">
        <p14:creationId xmlns:p14="http://schemas.microsoft.com/office/powerpoint/2010/main" val="34341645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0DA4-3427-4E58-8FEC-9098717DDB0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6CCE82-0C5E-4993-973A-D30A764E36C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BA140D-1601-47E9-8CBB-EB786AEA013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341BDC-871C-47AC-ACF7-97EA4902648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EA96172-1CE6-4FC7-A1FA-0BBB234E950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B93C9D1-6F5F-4046-B793-9618B8585AD0}"/>
              </a:ext>
            </a:extLst>
          </p:cNvPr>
          <p:cNvSpPr>
            <a:spLocks noGrp="1"/>
          </p:cNvSpPr>
          <p:nvPr>
            <p:ph type="sldNum" sz="quarter" idx="12"/>
          </p:nvPr>
        </p:nvSpPr>
        <p:spPr/>
        <p:txBody>
          <a:bodyPr/>
          <a:lstStyle>
            <a:lvl1pPr>
              <a:defRPr/>
            </a:lvl1pPr>
          </a:lstStyle>
          <a:p>
            <a:fld id="{4E9A5B84-62F9-402E-A981-54D99D37EFC9}" type="slidenum">
              <a:rPr lang="en-US" altLang="en-US"/>
              <a:pPr/>
              <a:t>‹#›</a:t>
            </a:fld>
            <a:endParaRPr lang="en-US" altLang="en-US"/>
          </a:p>
        </p:txBody>
      </p:sp>
    </p:spTree>
    <p:extLst>
      <p:ext uri="{BB962C8B-B14F-4D97-AF65-F5344CB8AC3E}">
        <p14:creationId xmlns:p14="http://schemas.microsoft.com/office/powerpoint/2010/main" val="19841127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F2EB-50F4-4227-BD10-7EE45FAF959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987C10-747F-4CB1-AC55-AF9BF51B014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06A8D9-25E4-4AA0-81DC-6E693664E32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DF6B09-B31F-436C-A5BE-087E89C4D65F}"/>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2698BAE-8C5D-427A-8385-E6825AF5586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AEEE14C-4F54-422A-8A9B-96B7C0FD2050}"/>
              </a:ext>
            </a:extLst>
          </p:cNvPr>
          <p:cNvSpPr>
            <a:spLocks noGrp="1"/>
          </p:cNvSpPr>
          <p:nvPr>
            <p:ph type="sldNum" sz="quarter" idx="12"/>
          </p:nvPr>
        </p:nvSpPr>
        <p:spPr/>
        <p:txBody>
          <a:bodyPr/>
          <a:lstStyle>
            <a:lvl1pPr>
              <a:defRPr/>
            </a:lvl1pPr>
          </a:lstStyle>
          <a:p>
            <a:fld id="{DA2D0CF8-C4CF-48CD-9FDF-3FCC6CF49322}" type="slidenum">
              <a:rPr lang="en-US" altLang="en-US"/>
              <a:pPr/>
              <a:t>‹#›</a:t>
            </a:fld>
            <a:endParaRPr lang="en-US" altLang="en-US"/>
          </a:p>
        </p:txBody>
      </p:sp>
    </p:spTree>
    <p:extLst>
      <p:ext uri="{BB962C8B-B14F-4D97-AF65-F5344CB8AC3E}">
        <p14:creationId xmlns:p14="http://schemas.microsoft.com/office/powerpoint/2010/main" val="27959120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C161F-753D-44E8-BBE6-8DED987CDE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B0A03E-223C-4D2E-ABC7-FBABCFEEFC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F8CD9-74A7-4091-A3E2-D6DAC4A98B8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88F276B-A10C-43D5-BE5B-8E30DA301F4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6DF7EC0-B80B-4F6D-B463-03D741991AE9}"/>
              </a:ext>
            </a:extLst>
          </p:cNvPr>
          <p:cNvSpPr>
            <a:spLocks noGrp="1"/>
          </p:cNvSpPr>
          <p:nvPr>
            <p:ph type="sldNum" sz="quarter" idx="12"/>
          </p:nvPr>
        </p:nvSpPr>
        <p:spPr/>
        <p:txBody>
          <a:bodyPr/>
          <a:lstStyle>
            <a:lvl1pPr>
              <a:defRPr/>
            </a:lvl1pPr>
          </a:lstStyle>
          <a:p>
            <a:fld id="{C27DCD5E-AE57-404D-A191-4275DF9426DC}" type="slidenum">
              <a:rPr lang="en-US" altLang="en-US"/>
              <a:pPr/>
              <a:t>‹#›</a:t>
            </a:fld>
            <a:endParaRPr lang="en-US" altLang="en-US"/>
          </a:p>
        </p:txBody>
      </p:sp>
    </p:spTree>
    <p:extLst>
      <p:ext uri="{BB962C8B-B14F-4D97-AF65-F5344CB8AC3E}">
        <p14:creationId xmlns:p14="http://schemas.microsoft.com/office/powerpoint/2010/main" val="33947326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25A25A-DE97-4339-BF9D-65D175F539A5}"/>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73C8AE-2D99-4D8E-B2F1-4BCE7BF07B5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C0DA19-D27A-4E5B-92FD-F544F19CBB8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BD5361A-56DC-4AA7-8F1D-54841D3D481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EC016F2-4420-4D14-AE1A-78EF2D4DC0D3}"/>
              </a:ext>
            </a:extLst>
          </p:cNvPr>
          <p:cNvSpPr>
            <a:spLocks noGrp="1"/>
          </p:cNvSpPr>
          <p:nvPr>
            <p:ph type="sldNum" sz="quarter" idx="12"/>
          </p:nvPr>
        </p:nvSpPr>
        <p:spPr/>
        <p:txBody>
          <a:bodyPr/>
          <a:lstStyle>
            <a:lvl1pPr>
              <a:defRPr/>
            </a:lvl1pPr>
          </a:lstStyle>
          <a:p>
            <a:fld id="{0A040F8F-8DC9-4BB0-9179-3B84D76B7872}" type="slidenum">
              <a:rPr lang="en-US" altLang="en-US"/>
              <a:pPr/>
              <a:t>‹#›</a:t>
            </a:fld>
            <a:endParaRPr lang="en-US" altLang="en-US"/>
          </a:p>
        </p:txBody>
      </p:sp>
    </p:spTree>
    <p:extLst>
      <p:ext uri="{BB962C8B-B14F-4D97-AF65-F5344CB8AC3E}">
        <p14:creationId xmlns:p14="http://schemas.microsoft.com/office/powerpoint/2010/main" val="4152809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0" y="255697"/>
            <a:ext cx="9144000" cy="637983"/>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sz="2774" b="0" i="0">
                <a:solidFill>
                  <a:srgbClr val="04064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241825" y="1052570"/>
            <a:ext cx="8655312" cy="3921014"/>
          </a:xfrm>
          <a:prstGeom prst="rect">
            <a:avLst/>
          </a:prstGeom>
          <a:noFill/>
          <a:ln>
            <a:noFill/>
          </a:ln>
        </p:spPr>
        <p:txBody>
          <a:bodyPr spcFirstLastPara="1" wrap="square" lIns="0" tIns="0" rIns="0" bIns="0" anchor="t" anchorCtr="0"/>
          <a:lstStyle>
            <a:lvl1pPr marL="906033" lvl="0" indent="-453017" algn="l">
              <a:spcBef>
                <a:spcPts val="0"/>
              </a:spcBef>
              <a:spcAft>
                <a:spcPts val="0"/>
              </a:spcAft>
              <a:buSzPts val="1400"/>
              <a:buNone/>
              <a:defRPr sz="1982" b="0" i="0">
                <a:solidFill>
                  <a:srgbClr val="04064C"/>
                </a:solidFill>
                <a:latin typeface="Arial"/>
                <a:ea typeface="Arial"/>
                <a:cs typeface="Arial"/>
                <a:sym typeface="Arial"/>
              </a:defRPr>
            </a:lvl1pPr>
            <a:lvl2pPr marL="1812066" lvl="1" indent="-453017" algn="l">
              <a:spcBef>
                <a:spcPts val="0"/>
              </a:spcBef>
              <a:spcAft>
                <a:spcPts val="0"/>
              </a:spcAft>
              <a:buSzPts val="1400"/>
              <a:buNone/>
              <a:defRPr/>
            </a:lvl2pPr>
            <a:lvl3pPr marL="2718100" lvl="2" indent="-453017" algn="l">
              <a:spcBef>
                <a:spcPts val="0"/>
              </a:spcBef>
              <a:spcAft>
                <a:spcPts val="0"/>
              </a:spcAft>
              <a:buSzPts val="1400"/>
              <a:buNone/>
              <a:defRPr/>
            </a:lvl3pPr>
            <a:lvl4pPr marL="3624133" lvl="3" indent="-453017" algn="l">
              <a:spcBef>
                <a:spcPts val="0"/>
              </a:spcBef>
              <a:spcAft>
                <a:spcPts val="0"/>
              </a:spcAft>
              <a:buSzPts val="1400"/>
              <a:buNone/>
              <a:defRPr/>
            </a:lvl4pPr>
            <a:lvl5pPr marL="4530166" lvl="4" indent="-453017" algn="l">
              <a:spcBef>
                <a:spcPts val="0"/>
              </a:spcBef>
              <a:spcAft>
                <a:spcPts val="0"/>
              </a:spcAft>
              <a:buSzPts val="1400"/>
              <a:buNone/>
              <a:defRPr/>
            </a:lvl5pPr>
            <a:lvl6pPr marL="5436199" lvl="5" indent="-453017" algn="l">
              <a:spcBef>
                <a:spcPts val="0"/>
              </a:spcBef>
              <a:spcAft>
                <a:spcPts val="0"/>
              </a:spcAft>
              <a:buSzPts val="1400"/>
              <a:buNone/>
              <a:defRPr/>
            </a:lvl6pPr>
            <a:lvl7pPr marL="6342233" lvl="6" indent="-453017" algn="l">
              <a:spcBef>
                <a:spcPts val="0"/>
              </a:spcBef>
              <a:spcAft>
                <a:spcPts val="0"/>
              </a:spcAft>
              <a:buSzPts val="1400"/>
              <a:buNone/>
              <a:defRPr/>
            </a:lvl7pPr>
            <a:lvl8pPr marL="7248266" lvl="7" indent="-453017" algn="l">
              <a:spcBef>
                <a:spcPts val="0"/>
              </a:spcBef>
              <a:spcAft>
                <a:spcPts val="0"/>
              </a:spcAft>
              <a:buSzPts val="1400"/>
              <a:buNone/>
              <a:defRPr/>
            </a:lvl8pPr>
            <a:lvl9pPr marL="8154299" lvl="8" indent="-453017"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08960" y="6377940"/>
            <a:ext cx="2926080" cy="342899"/>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457201" y="6377940"/>
            <a:ext cx="2103120" cy="342899"/>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471500" y="6601381"/>
            <a:ext cx="536549" cy="236568"/>
          </a:xfrm>
          <a:prstGeom prst="rect">
            <a:avLst/>
          </a:prstGeom>
          <a:noFill/>
          <a:ln>
            <a:noFill/>
          </a:ln>
        </p:spPr>
        <p:txBody>
          <a:bodyPr spcFirstLastPara="1" wrap="square" lIns="0" tIns="0" rIns="0" bIns="0" anchor="t" anchorCtr="0">
            <a:noAutofit/>
          </a:bodyPr>
          <a:lstStyle>
            <a:lvl1pPr marL="50335" marR="0" lvl="0" indent="0" algn="l">
              <a:lnSpc>
                <a:spcPct val="100000"/>
              </a:lnSpc>
              <a:spcBef>
                <a:spcPts val="0"/>
              </a:spcBef>
              <a:buNone/>
              <a:defRPr sz="1189" b="0" i="0">
                <a:solidFill>
                  <a:srgbClr val="04064C"/>
                </a:solidFill>
                <a:latin typeface="Arial"/>
                <a:ea typeface="Arial"/>
                <a:cs typeface="Arial"/>
                <a:sym typeface="Arial"/>
              </a:defRPr>
            </a:lvl1pPr>
            <a:lvl2pPr marL="50335" marR="0" lvl="1" indent="0" algn="l">
              <a:lnSpc>
                <a:spcPct val="100000"/>
              </a:lnSpc>
              <a:spcBef>
                <a:spcPts val="0"/>
              </a:spcBef>
              <a:buNone/>
              <a:defRPr sz="1189" b="0" i="0">
                <a:solidFill>
                  <a:srgbClr val="04064C"/>
                </a:solidFill>
                <a:latin typeface="Arial"/>
                <a:ea typeface="Arial"/>
                <a:cs typeface="Arial"/>
                <a:sym typeface="Arial"/>
              </a:defRPr>
            </a:lvl2pPr>
            <a:lvl3pPr marL="50335" marR="0" lvl="2" indent="0" algn="l">
              <a:lnSpc>
                <a:spcPct val="100000"/>
              </a:lnSpc>
              <a:spcBef>
                <a:spcPts val="0"/>
              </a:spcBef>
              <a:buNone/>
              <a:defRPr sz="1189" b="0" i="0">
                <a:solidFill>
                  <a:srgbClr val="04064C"/>
                </a:solidFill>
                <a:latin typeface="Arial"/>
                <a:ea typeface="Arial"/>
                <a:cs typeface="Arial"/>
                <a:sym typeface="Arial"/>
              </a:defRPr>
            </a:lvl3pPr>
            <a:lvl4pPr marL="50335" marR="0" lvl="3" indent="0" algn="l">
              <a:lnSpc>
                <a:spcPct val="100000"/>
              </a:lnSpc>
              <a:spcBef>
                <a:spcPts val="0"/>
              </a:spcBef>
              <a:buNone/>
              <a:defRPr sz="1189" b="0" i="0">
                <a:solidFill>
                  <a:srgbClr val="04064C"/>
                </a:solidFill>
                <a:latin typeface="Arial"/>
                <a:ea typeface="Arial"/>
                <a:cs typeface="Arial"/>
                <a:sym typeface="Arial"/>
              </a:defRPr>
            </a:lvl4pPr>
            <a:lvl5pPr marL="50335" marR="0" lvl="4" indent="0" algn="l">
              <a:lnSpc>
                <a:spcPct val="100000"/>
              </a:lnSpc>
              <a:spcBef>
                <a:spcPts val="0"/>
              </a:spcBef>
              <a:buNone/>
              <a:defRPr sz="1189" b="0" i="0">
                <a:solidFill>
                  <a:srgbClr val="04064C"/>
                </a:solidFill>
                <a:latin typeface="Arial"/>
                <a:ea typeface="Arial"/>
                <a:cs typeface="Arial"/>
                <a:sym typeface="Arial"/>
              </a:defRPr>
            </a:lvl5pPr>
            <a:lvl6pPr marL="50335" marR="0" lvl="5" indent="0" algn="l">
              <a:lnSpc>
                <a:spcPct val="100000"/>
              </a:lnSpc>
              <a:spcBef>
                <a:spcPts val="0"/>
              </a:spcBef>
              <a:buNone/>
              <a:defRPr sz="1189" b="0" i="0">
                <a:solidFill>
                  <a:srgbClr val="04064C"/>
                </a:solidFill>
                <a:latin typeface="Arial"/>
                <a:ea typeface="Arial"/>
                <a:cs typeface="Arial"/>
                <a:sym typeface="Arial"/>
              </a:defRPr>
            </a:lvl6pPr>
            <a:lvl7pPr marL="50335" marR="0" lvl="6" indent="0" algn="l">
              <a:lnSpc>
                <a:spcPct val="100000"/>
              </a:lnSpc>
              <a:spcBef>
                <a:spcPts val="0"/>
              </a:spcBef>
              <a:buNone/>
              <a:defRPr sz="1189" b="0" i="0">
                <a:solidFill>
                  <a:srgbClr val="04064C"/>
                </a:solidFill>
                <a:latin typeface="Arial"/>
                <a:ea typeface="Arial"/>
                <a:cs typeface="Arial"/>
                <a:sym typeface="Arial"/>
              </a:defRPr>
            </a:lvl7pPr>
            <a:lvl8pPr marL="50335" marR="0" lvl="7" indent="0" algn="l">
              <a:lnSpc>
                <a:spcPct val="100000"/>
              </a:lnSpc>
              <a:spcBef>
                <a:spcPts val="0"/>
              </a:spcBef>
              <a:buNone/>
              <a:defRPr sz="1189" b="0" i="0">
                <a:solidFill>
                  <a:srgbClr val="04064C"/>
                </a:solidFill>
                <a:latin typeface="Arial"/>
                <a:ea typeface="Arial"/>
                <a:cs typeface="Arial"/>
                <a:sym typeface="Arial"/>
              </a:defRPr>
            </a:lvl8pPr>
            <a:lvl9pPr marL="50335" marR="0" lvl="8" indent="0" algn="l">
              <a:lnSpc>
                <a:spcPct val="100000"/>
              </a:lnSpc>
              <a:spcBef>
                <a:spcPts val="0"/>
              </a:spcBef>
              <a:buNone/>
              <a:defRPr sz="1189" b="0" i="0">
                <a:solidFill>
                  <a:srgbClr val="04064C"/>
                </a:solidFill>
                <a:latin typeface="Arial"/>
                <a:ea typeface="Arial"/>
                <a:cs typeface="Arial"/>
                <a:sym typeface="Arial"/>
              </a:defRPr>
            </a:lvl9pPr>
          </a:lstStyle>
          <a:p>
            <a:fld id="{00000000-1234-1234-1234-123412341234}" type="slidenum">
              <a:rPr lang="en-US" smtClean="0"/>
              <a:pPr/>
              <a:t>‹#›</a:t>
            </a:fld>
            <a:r>
              <a:rPr lang="en-US"/>
              <a:t> / 46</a:t>
            </a:r>
          </a:p>
        </p:txBody>
      </p:sp>
    </p:spTree>
    <p:extLst>
      <p:ext uri="{BB962C8B-B14F-4D97-AF65-F5344CB8AC3E}">
        <p14:creationId xmlns:p14="http://schemas.microsoft.com/office/powerpoint/2010/main" val="2460373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60A03-A3D6-4FCA-9CE7-F45EC6137B3D}"/>
              </a:ext>
            </a:extLst>
          </p:cNvPr>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12AE4A-7560-4EE0-97BF-C43977446959}"/>
              </a:ext>
            </a:extLst>
          </p:cNvPr>
          <p:cNvSpPr>
            <a:spLocks noGrp="1"/>
          </p:cNvSpPr>
          <p:nvPr>
            <p:ph type="body" sz="half" idx="1"/>
          </p:nvPr>
        </p:nvSpPr>
        <p:spPr>
          <a:xfrm>
            <a:off x="9144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D9714B-AF91-4F39-8101-86E0EF63C56E}"/>
              </a:ext>
            </a:extLst>
          </p:cNvPr>
          <p:cNvSpPr>
            <a:spLocks noGrp="1"/>
          </p:cNvSpPr>
          <p:nvPr>
            <p:ph sz="half" idx="2"/>
          </p:nvPr>
        </p:nvSpPr>
        <p:spPr>
          <a:xfrm>
            <a:off x="48768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B71ACA-6F01-4CC0-A0F7-DCFB953ABFC2}"/>
              </a:ext>
            </a:extLst>
          </p:cNvPr>
          <p:cNvSpPr>
            <a:spLocks noGrp="1"/>
          </p:cNvSpPr>
          <p:nvPr>
            <p:ph type="dt" sz="half" idx="10"/>
          </p:nvPr>
        </p:nvSpPr>
        <p:spPr>
          <a:xfrm>
            <a:off x="914400" y="6251575"/>
            <a:ext cx="19812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BC3DE1B-B4B1-4908-B478-B9CF6887AB57}"/>
              </a:ext>
            </a:extLst>
          </p:cNvPr>
          <p:cNvSpPr>
            <a:spLocks noGrp="1"/>
          </p:cNvSpPr>
          <p:nvPr>
            <p:ph type="ftr" sz="quarter" idx="11"/>
          </p:nvPr>
        </p:nvSpPr>
        <p:spPr>
          <a:xfrm>
            <a:off x="3352800" y="6248400"/>
            <a:ext cx="2971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D42653A-344D-4385-9F7F-C7B0D2A402B0}"/>
              </a:ext>
            </a:extLst>
          </p:cNvPr>
          <p:cNvSpPr>
            <a:spLocks noGrp="1"/>
          </p:cNvSpPr>
          <p:nvPr>
            <p:ph type="sldNum" sz="quarter" idx="12"/>
          </p:nvPr>
        </p:nvSpPr>
        <p:spPr>
          <a:xfrm>
            <a:off x="6781800" y="6248400"/>
            <a:ext cx="1905000" cy="457200"/>
          </a:xfrm>
        </p:spPr>
        <p:txBody>
          <a:bodyPr/>
          <a:lstStyle>
            <a:lvl1pPr>
              <a:defRPr/>
            </a:lvl1pPr>
          </a:lstStyle>
          <a:p>
            <a:fld id="{6FC62CD2-1098-4B44-B4FD-3BCD526B125D}" type="slidenum">
              <a:rPr lang="en-US" altLang="en-US"/>
              <a:pPr/>
              <a:t>‹#›</a:t>
            </a:fld>
            <a:endParaRPr lang="en-US" altLang="en-US"/>
          </a:p>
        </p:txBody>
      </p:sp>
    </p:spTree>
    <p:extLst>
      <p:ext uri="{BB962C8B-B14F-4D97-AF65-F5344CB8AC3E}">
        <p14:creationId xmlns:p14="http://schemas.microsoft.com/office/powerpoint/2010/main" val="758421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2D8E1-E770-41DD-9F25-C531EB532395}" type="slidenum">
              <a:rPr lang="en-US" smtClean="0"/>
              <a:t>‹#›</a:t>
            </a:fld>
            <a:endParaRPr lang="en-US"/>
          </a:p>
        </p:txBody>
      </p:sp>
    </p:spTree>
    <p:extLst>
      <p:ext uri="{BB962C8B-B14F-4D97-AF65-F5344CB8AC3E}">
        <p14:creationId xmlns:p14="http://schemas.microsoft.com/office/powerpoint/2010/main" val="1467746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CC8F27-08FC-4F64-9468-75F8F420D27F}"/>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28D889B-4271-4111-BB75-9A27D84B5BDB}"/>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EBD9E34-3153-44A8-BB83-35FD662FEB6A}"/>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endParaRPr lang="en-US" altLang="en-US"/>
          </a:p>
        </p:txBody>
      </p:sp>
      <p:sp>
        <p:nvSpPr>
          <p:cNvPr id="1029" name="Rectangle 5">
            <a:extLst>
              <a:ext uri="{FF2B5EF4-FFF2-40B4-BE49-F238E27FC236}">
                <a16:creationId xmlns:a16="http://schemas.microsoft.com/office/drawing/2014/main" id="{F09904EB-C8D8-41A9-9CCF-D5B54524667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30" name="Rectangle 6">
            <a:extLst>
              <a:ext uri="{FF2B5EF4-FFF2-40B4-BE49-F238E27FC236}">
                <a16:creationId xmlns:a16="http://schemas.microsoft.com/office/drawing/2014/main" id="{D6D24B85-3E84-4671-80A6-516C5C21CE30}"/>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D658739-2B76-4C2B-A5C5-B9EB13A6682D}" type="slidenum">
              <a:rPr lang="en-US" altLang="en-US"/>
              <a:pPr/>
              <a:t>‹#›</a:t>
            </a:fld>
            <a:endParaRPr lang="en-US" altLang="en-US"/>
          </a:p>
        </p:txBody>
      </p:sp>
    </p:spTree>
    <p:extLst>
      <p:ext uri="{BB962C8B-B14F-4D97-AF65-F5344CB8AC3E}">
        <p14:creationId xmlns:p14="http://schemas.microsoft.com/office/powerpoint/2010/main" val="81722245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sldNum="0" hdr="0" ft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8.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wmf"/><Relationship Id="rId11" Type="http://schemas.openxmlformats.org/officeDocument/2006/relationships/oleObject" Target="../embeddings/oleObject7.bin"/><Relationship Id="rId5" Type="http://schemas.openxmlformats.org/officeDocument/2006/relationships/oleObject" Target="../embeddings/oleObject2.bin"/><Relationship Id="rId10" Type="http://schemas.openxmlformats.org/officeDocument/2006/relationships/oleObject" Target="../embeddings/oleObject6.bin"/><Relationship Id="rId4" Type="http://schemas.openxmlformats.org/officeDocument/2006/relationships/image" Target="../media/image2.wmf"/><Relationship Id="rId9"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wmf"/><Relationship Id="rId4" Type="http://schemas.openxmlformats.org/officeDocument/2006/relationships/image" Target="../media/image16.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3.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3A09D-7C08-463A-9DB2-02BA20D2F352}"/>
              </a:ext>
            </a:extLst>
          </p:cNvPr>
          <p:cNvSpPr>
            <a:spLocks noGrp="1"/>
          </p:cNvSpPr>
          <p:nvPr>
            <p:ph type="ctrTitle"/>
          </p:nvPr>
        </p:nvSpPr>
        <p:spPr>
          <a:xfrm>
            <a:off x="673100" y="1579563"/>
            <a:ext cx="7772400" cy="2387600"/>
          </a:xfrm>
        </p:spPr>
        <p:txBody>
          <a:bodyPr>
            <a:normAutofit fontScale="90000"/>
          </a:bodyPr>
          <a:lstStyle/>
          <a:p>
            <a:br>
              <a:rPr lang="en-US" sz="9600" dirty="0">
                <a:solidFill>
                  <a:srgbClr val="FF0000"/>
                </a:solidFill>
              </a:rPr>
            </a:br>
            <a:r>
              <a:rPr lang="en-US" sz="9600" b="1" dirty="0">
                <a:solidFill>
                  <a:srgbClr val="FF0000"/>
                </a:solidFill>
              </a:rPr>
              <a:t>P2P</a:t>
            </a:r>
          </a:p>
        </p:txBody>
      </p:sp>
    </p:spTree>
    <p:extLst>
      <p:ext uri="{BB962C8B-B14F-4D97-AF65-F5344CB8AC3E}">
        <p14:creationId xmlns:p14="http://schemas.microsoft.com/office/powerpoint/2010/main" val="835804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0525F6F-C730-4DE1-AD8F-3EFEA51B3B06}"/>
              </a:ext>
            </a:extLst>
          </p:cNvPr>
          <p:cNvSpPr>
            <a:spLocks noGrp="1" noChangeArrowheads="1"/>
          </p:cNvSpPr>
          <p:nvPr>
            <p:ph type="title"/>
          </p:nvPr>
        </p:nvSpPr>
        <p:spPr/>
        <p:txBody>
          <a:bodyPr/>
          <a:lstStyle/>
          <a:p>
            <a:pPr eaLnBrk="1" hangingPunct="1"/>
            <a:r>
              <a:rPr lang="en-US" altLang="en-US" dirty="0"/>
              <a:t>Client/Server Architecture</a:t>
            </a:r>
          </a:p>
        </p:txBody>
      </p:sp>
      <p:sp>
        <p:nvSpPr>
          <p:cNvPr id="6147" name="Rectangle 3">
            <a:extLst>
              <a:ext uri="{FF2B5EF4-FFF2-40B4-BE49-F238E27FC236}">
                <a16:creationId xmlns:a16="http://schemas.microsoft.com/office/drawing/2014/main" id="{94BCB442-D361-4437-A5CF-6CFEB13C29F5}"/>
              </a:ext>
            </a:extLst>
          </p:cNvPr>
          <p:cNvSpPr>
            <a:spLocks noGrp="1" noChangeArrowheads="1"/>
          </p:cNvSpPr>
          <p:nvPr>
            <p:ph type="body" idx="1"/>
          </p:nvPr>
        </p:nvSpPr>
        <p:spPr>
          <a:xfrm>
            <a:off x="457200" y="1600200"/>
            <a:ext cx="4038600" cy="4525963"/>
          </a:xfrm>
        </p:spPr>
        <p:txBody>
          <a:bodyPr/>
          <a:lstStyle/>
          <a:p>
            <a:pPr eaLnBrk="1" hangingPunct="1"/>
            <a:r>
              <a:rPr lang="en-US" altLang="en-US" sz="2800" dirty="0"/>
              <a:t>Well known, powerful, reliable server is a data source</a:t>
            </a:r>
          </a:p>
          <a:p>
            <a:pPr eaLnBrk="1" hangingPunct="1"/>
            <a:r>
              <a:rPr lang="en-US" altLang="en-US" sz="2800" dirty="0"/>
              <a:t>Clients request data from server</a:t>
            </a:r>
          </a:p>
          <a:p>
            <a:pPr eaLnBrk="1" hangingPunct="1"/>
            <a:r>
              <a:rPr lang="en-US" altLang="en-US" sz="2800" dirty="0"/>
              <a:t>Very successful model</a:t>
            </a:r>
          </a:p>
          <a:p>
            <a:pPr lvl="1" eaLnBrk="1" hangingPunct="1"/>
            <a:r>
              <a:rPr lang="en-US" altLang="en-US" sz="2400" dirty="0"/>
              <a:t>WWW (HTTP), FTP, etc.</a:t>
            </a:r>
          </a:p>
        </p:txBody>
      </p:sp>
      <p:pic>
        <p:nvPicPr>
          <p:cNvPr id="6148" name="Picture 4">
            <a:extLst>
              <a:ext uri="{FF2B5EF4-FFF2-40B4-BE49-F238E27FC236}">
                <a16:creationId xmlns:a16="http://schemas.microsoft.com/office/drawing/2014/main" id="{F2488158-490D-40D9-8829-08C30F8AD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828800"/>
            <a:ext cx="426243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5">
            <a:extLst>
              <a:ext uri="{FF2B5EF4-FFF2-40B4-BE49-F238E27FC236}">
                <a16:creationId xmlns:a16="http://schemas.microsoft.com/office/drawing/2014/main" id="{D3C5F358-2671-4838-88FD-02AFBC02DE50}"/>
              </a:ext>
            </a:extLst>
          </p:cNvPr>
          <p:cNvSpPr txBox="1">
            <a:spLocks noChangeArrowheads="1"/>
          </p:cNvSpPr>
          <p:nvPr/>
        </p:nvSpPr>
        <p:spPr bwMode="auto">
          <a:xfrm>
            <a:off x="457200" y="5767388"/>
            <a:ext cx="800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b="1">
                <a:latin typeface="+mn-lt"/>
              </a:rPr>
              <a:t>As more clients are added, the demand on </a:t>
            </a:r>
          </a:p>
          <a:p>
            <a:pPr algn="ctr" eaLnBrk="1" hangingPunct="1"/>
            <a:r>
              <a:rPr lang="en-US" altLang="en-US" sz="2800" b="1">
                <a:latin typeface="+mn-lt"/>
              </a:rPr>
              <a:t>the server increases!!!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D4C6BB4-4D8E-4329-B1D5-212D585298B7}"/>
              </a:ext>
            </a:extLst>
          </p:cNvPr>
          <p:cNvSpPr>
            <a:spLocks noGrp="1" noChangeArrowheads="1"/>
          </p:cNvSpPr>
          <p:nvPr>
            <p:ph type="title"/>
          </p:nvPr>
        </p:nvSpPr>
        <p:spPr/>
        <p:txBody>
          <a:bodyPr/>
          <a:lstStyle/>
          <a:p>
            <a:pPr eaLnBrk="1" hangingPunct="1"/>
            <a:r>
              <a:rPr lang="en-US" altLang="en-US" dirty="0"/>
              <a:t>Client/Server Limitations</a:t>
            </a:r>
          </a:p>
        </p:txBody>
      </p:sp>
      <p:sp>
        <p:nvSpPr>
          <p:cNvPr id="7171" name="Rectangle 3">
            <a:extLst>
              <a:ext uri="{FF2B5EF4-FFF2-40B4-BE49-F238E27FC236}">
                <a16:creationId xmlns:a16="http://schemas.microsoft.com/office/drawing/2014/main" id="{323D51CC-EC76-4D54-A8C1-9C5B6BCA3E93}"/>
              </a:ext>
            </a:extLst>
          </p:cNvPr>
          <p:cNvSpPr>
            <a:spLocks noGrp="1" noChangeArrowheads="1"/>
          </p:cNvSpPr>
          <p:nvPr>
            <p:ph type="body" idx="1"/>
          </p:nvPr>
        </p:nvSpPr>
        <p:spPr/>
        <p:txBody>
          <a:bodyPr/>
          <a:lstStyle/>
          <a:p>
            <a:pPr eaLnBrk="1" hangingPunct="1"/>
            <a:r>
              <a:rPr lang="en-US" altLang="en-US" dirty="0"/>
              <a:t>Scalability is hard to achieve</a:t>
            </a:r>
          </a:p>
          <a:p>
            <a:pPr eaLnBrk="1" hangingPunct="1"/>
            <a:r>
              <a:rPr lang="en-US" altLang="en-US" dirty="0"/>
              <a:t>Presents a single point of failure</a:t>
            </a:r>
          </a:p>
          <a:p>
            <a:pPr eaLnBrk="1" hangingPunct="1"/>
            <a:r>
              <a:rPr lang="en-US" altLang="en-US" dirty="0"/>
              <a:t>Requires administration</a:t>
            </a:r>
          </a:p>
          <a:p>
            <a:pPr eaLnBrk="1" hangingPunct="1"/>
            <a:r>
              <a:rPr lang="en-US" altLang="en-US" dirty="0"/>
              <a:t>Unused resources at the network edge (client side)</a:t>
            </a:r>
          </a:p>
          <a:p>
            <a:pPr lvl="1" eaLnBrk="1" hangingPunct="1"/>
            <a:r>
              <a:rPr lang="en-US" altLang="en-US" dirty="0"/>
              <a:t>CPU cycles, storage, etc.</a:t>
            </a:r>
          </a:p>
          <a:p>
            <a:pPr eaLnBrk="1" hangingPunct="1"/>
            <a:r>
              <a:rPr lang="en-US" altLang="en-US" dirty="0"/>
              <a:t>P2P systems try to address these limitations</a:t>
            </a:r>
          </a:p>
          <a:p>
            <a:pPr eaLnBrk="1" hangingPunct="1"/>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8790B66C-FCDD-46C8-83B9-3DCFB8AE70FD}"/>
              </a:ext>
            </a:extLst>
          </p:cNvPr>
          <p:cNvSpPr>
            <a:spLocks noChangeArrowheads="1"/>
          </p:cNvSpPr>
          <p:nvPr/>
        </p:nvSpPr>
        <p:spPr bwMode="auto">
          <a:xfrm>
            <a:off x="2209800" y="6096000"/>
            <a:ext cx="18938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solidFill>
                  <a:schemeClr val="tx2"/>
                </a:solidFill>
                <a:latin typeface="Arial" panose="020B0604020202020204" pitchFamily="34" charset="0"/>
              </a:rPr>
              <a:t>Client/server</a:t>
            </a:r>
          </a:p>
        </p:txBody>
      </p:sp>
      <p:sp>
        <p:nvSpPr>
          <p:cNvPr id="129027" name="Rectangle 3">
            <a:extLst>
              <a:ext uri="{FF2B5EF4-FFF2-40B4-BE49-F238E27FC236}">
                <a16:creationId xmlns:a16="http://schemas.microsoft.com/office/drawing/2014/main" id="{BE6A01A7-5E46-42AC-A0C0-7F1AFF1A7660}"/>
              </a:ext>
            </a:extLst>
          </p:cNvPr>
          <p:cNvSpPr>
            <a:spLocks noChangeArrowheads="1"/>
          </p:cNvSpPr>
          <p:nvPr/>
        </p:nvSpPr>
        <p:spPr bwMode="auto">
          <a:xfrm>
            <a:off x="6019800" y="3657600"/>
            <a:ext cx="18938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a:solidFill>
                  <a:schemeClr val="tx2"/>
                </a:solidFill>
                <a:latin typeface="Arial" panose="020B0604020202020204" pitchFamily="34" charset="0"/>
              </a:rPr>
              <a:t>Peer-to-peer</a:t>
            </a:r>
          </a:p>
        </p:txBody>
      </p:sp>
      <p:graphicFrame>
        <p:nvGraphicFramePr>
          <p:cNvPr id="129028" name="Object 4">
            <a:extLst>
              <a:ext uri="{FF2B5EF4-FFF2-40B4-BE49-F238E27FC236}">
                <a16:creationId xmlns:a16="http://schemas.microsoft.com/office/drawing/2014/main" id="{8F07BDB1-F1C3-455E-9A53-E7F812F8AD12}"/>
              </a:ext>
            </a:extLst>
          </p:cNvPr>
          <p:cNvGraphicFramePr>
            <a:graphicFrameLocks noChangeAspect="1"/>
          </p:cNvGraphicFramePr>
          <p:nvPr/>
        </p:nvGraphicFramePr>
        <p:xfrm>
          <a:off x="4191000" y="4191000"/>
          <a:ext cx="1149350" cy="1608138"/>
        </p:xfrm>
        <a:graphic>
          <a:graphicData uri="http://schemas.openxmlformats.org/presentationml/2006/ole">
            <mc:AlternateContent xmlns:mc="http://schemas.openxmlformats.org/markup-compatibility/2006">
              <mc:Choice xmlns:v="urn:schemas-microsoft-com:vml" Requires="v">
                <p:oleObj name="Clip" r:id="rId3" imgW="2734920" imgH="3825360" progId="MS_ClipArt_Gallery.2">
                  <p:embed/>
                </p:oleObj>
              </mc:Choice>
              <mc:Fallback>
                <p:oleObj name="Clip" r:id="rId3" imgW="2734920" imgH="3825360" progId="MS_ClipArt_Gallery.2">
                  <p:embed/>
                  <p:pic>
                    <p:nvPicPr>
                      <p:cNvPr id="129028" name="Object 4">
                        <a:extLst>
                          <a:ext uri="{FF2B5EF4-FFF2-40B4-BE49-F238E27FC236}">
                            <a16:creationId xmlns:a16="http://schemas.microsoft.com/office/drawing/2014/main" id="{8F07BDB1-F1C3-455E-9A53-E7F812F8AD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4191000"/>
                        <a:ext cx="1149350" cy="160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29" name="Text Box 5">
            <a:extLst>
              <a:ext uri="{FF2B5EF4-FFF2-40B4-BE49-F238E27FC236}">
                <a16:creationId xmlns:a16="http://schemas.microsoft.com/office/drawing/2014/main" id="{6F730D89-8B5F-483D-B124-7DD0C7246790}"/>
              </a:ext>
            </a:extLst>
          </p:cNvPr>
          <p:cNvSpPr txBox="1">
            <a:spLocks noChangeArrowheads="1"/>
          </p:cNvSpPr>
          <p:nvPr/>
        </p:nvSpPr>
        <p:spPr bwMode="auto">
          <a:xfrm>
            <a:off x="4191000" y="3657600"/>
            <a:ext cx="979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Server</a:t>
            </a:r>
          </a:p>
        </p:txBody>
      </p:sp>
      <p:grpSp>
        <p:nvGrpSpPr>
          <p:cNvPr id="129030" name="Group 6">
            <a:extLst>
              <a:ext uri="{FF2B5EF4-FFF2-40B4-BE49-F238E27FC236}">
                <a16:creationId xmlns:a16="http://schemas.microsoft.com/office/drawing/2014/main" id="{38E2B3FB-62BB-4956-A5E1-8128F1F23EAE}"/>
              </a:ext>
            </a:extLst>
          </p:cNvPr>
          <p:cNvGrpSpPr>
            <a:grpSpLocks/>
          </p:cNvGrpSpPr>
          <p:nvPr/>
        </p:nvGrpSpPr>
        <p:grpSpPr bwMode="auto">
          <a:xfrm>
            <a:off x="5410200" y="457200"/>
            <a:ext cx="1295400" cy="762000"/>
            <a:chOff x="3216" y="768"/>
            <a:chExt cx="816" cy="480"/>
          </a:xfrm>
        </p:grpSpPr>
        <p:graphicFrame>
          <p:nvGraphicFramePr>
            <p:cNvPr id="129031" name="Object 7">
              <a:extLst>
                <a:ext uri="{FF2B5EF4-FFF2-40B4-BE49-F238E27FC236}">
                  <a16:creationId xmlns:a16="http://schemas.microsoft.com/office/drawing/2014/main" id="{229B3405-8D08-403D-8063-F2B16A50680A}"/>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5" imgW="4182480" imgH="3215880" progId="MS_ClipArt_Gallery.2">
                    <p:embed/>
                  </p:oleObj>
                </mc:Choice>
                <mc:Fallback>
                  <p:oleObj name="Clip" r:id="rId5" imgW="4182480" imgH="3215880" progId="MS_ClipArt_Gallery.2">
                    <p:embed/>
                    <p:pic>
                      <p:nvPicPr>
                        <p:cNvPr id="129031" name="Object 7">
                          <a:extLst>
                            <a:ext uri="{FF2B5EF4-FFF2-40B4-BE49-F238E27FC236}">
                              <a16:creationId xmlns:a16="http://schemas.microsoft.com/office/drawing/2014/main" id="{229B3405-8D08-403D-8063-F2B16A5068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32" name="Group 8">
              <a:extLst>
                <a:ext uri="{FF2B5EF4-FFF2-40B4-BE49-F238E27FC236}">
                  <a16:creationId xmlns:a16="http://schemas.microsoft.com/office/drawing/2014/main" id="{83CBE227-F33C-4181-8BF3-CDFFFC24B88E}"/>
                </a:ext>
              </a:extLst>
            </p:cNvPr>
            <p:cNvGrpSpPr>
              <a:grpSpLocks/>
            </p:cNvGrpSpPr>
            <p:nvPr/>
          </p:nvGrpSpPr>
          <p:grpSpPr bwMode="auto">
            <a:xfrm>
              <a:off x="3216" y="816"/>
              <a:ext cx="184" cy="348"/>
              <a:chOff x="283" y="1598"/>
              <a:chExt cx="184" cy="348"/>
            </a:xfrm>
          </p:grpSpPr>
          <p:sp>
            <p:nvSpPr>
              <p:cNvPr id="129033" name="Freeform 9">
                <a:extLst>
                  <a:ext uri="{FF2B5EF4-FFF2-40B4-BE49-F238E27FC236}">
                    <a16:creationId xmlns:a16="http://schemas.microsoft.com/office/drawing/2014/main" id="{F82EB630-EF1C-400C-9F6E-08A99CB2B701}"/>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34" name="Freeform 10">
                <a:extLst>
                  <a:ext uri="{FF2B5EF4-FFF2-40B4-BE49-F238E27FC236}">
                    <a16:creationId xmlns:a16="http://schemas.microsoft.com/office/drawing/2014/main" id="{5A37769F-35E2-4E51-8559-0A0DCEE7B438}"/>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35" name="Rectangle 11">
                <a:extLst>
                  <a:ext uri="{FF2B5EF4-FFF2-40B4-BE49-F238E27FC236}">
                    <a16:creationId xmlns:a16="http://schemas.microsoft.com/office/drawing/2014/main" id="{AF4E9DA5-FC7C-4753-A7AA-9DB59E5F7694}"/>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36" name="Rectangle 12">
                <a:extLst>
                  <a:ext uri="{FF2B5EF4-FFF2-40B4-BE49-F238E27FC236}">
                    <a16:creationId xmlns:a16="http://schemas.microsoft.com/office/drawing/2014/main" id="{AF771C85-0404-4C9C-AB6F-A59053D03DB8}"/>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37" name="Oval 13">
                <a:extLst>
                  <a:ext uri="{FF2B5EF4-FFF2-40B4-BE49-F238E27FC236}">
                    <a16:creationId xmlns:a16="http://schemas.microsoft.com/office/drawing/2014/main" id="{EDB611E6-A8A4-42E7-80C3-94107A6E5AAD}"/>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39" name="Group 15">
            <a:extLst>
              <a:ext uri="{FF2B5EF4-FFF2-40B4-BE49-F238E27FC236}">
                <a16:creationId xmlns:a16="http://schemas.microsoft.com/office/drawing/2014/main" id="{14C8D367-CF27-4F47-BED4-CCCAA4251C77}"/>
              </a:ext>
            </a:extLst>
          </p:cNvPr>
          <p:cNvGrpSpPr>
            <a:grpSpLocks/>
          </p:cNvGrpSpPr>
          <p:nvPr/>
        </p:nvGrpSpPr>
        <p:grpSpPr bwMode="auto">
          <a:xfrm>
            <a:off x="4724400" y="1600200"/>
            <a:ext cx="1295400" cy="762000"/>
            <a:chOff x="3216" y="768"/>
            <a:chExt cx="816" cy="480"/>
          </a:xfrm>
        </p:grpSpPr>
        <p:graphicFrame>
          <p:nvGraphicFramePr>
            <p:cNvPr id="129040" name="Object 16">
              <a:extLst>
                <a:ext uri="{FF2B5EF4-FFF2-40B4-BE49-F238E27FC236}">
                  <a16:creationId xmlns:a16="http://schemas.microsoft.com/office/drawing/2014/main" id="{4A49BDDF-C8DF-483F-B98F-E1C034E3685A}"/>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7" imgW="4182480" imgH="3215880" progId="MS_ClipArt_Gallery.2">
                    <p:embed/>
                  </p:oleObj>
                </mc:Choice>
                <mc:Fallback>
                  <p:oleObj name="Clip" r:id="rId7" imgW="4182480" imgH="3215880" progId="MS_ClipArt_Gallery.2">
                    <p:embed/>
                    <p:pic>
                      <p:nvPicPr>
                        <p:cNvPr id="129040" name="Object 16">
                          <a:extLst>
                            <a:ext uri="{FF2B5EF4-FFF2-40B4-BE49-F238E27FC236}">
                              <a16:creationId xmlns:a16="http://schemas.microsoft.com/office/drawing/2014/main" id="{4A49BDDF-C8DF-483F-B98F-E1C034E368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41" name="Group 17">
              <a:extLst>
                <a:ext uri="{FF2B5EF4-FFF2-40B4-BE49-F238E27FC236}">
                  <a16:creationId xmlns:a16="http://schemas.microsoft.com/office/drawing/2014/main" id="{33DD0ED9-8CE3-4B79-800F-418CED36FA51}"/>
                </a:ext>
              </a:extLst>
            </p:cNvPr>
            <p:cNvGrpSpPr>
              <a:grpSpLocks/>
            </p:cNvGrpSpPr>
            <p:nvPr/>
          </p:nvGrpSpPr>
          <p:grpSpPr bwMode="auto">
            <a:xfrm>
              <a:off x="3216" y="816"/>
              <a:ext cx="184" cy="348"/>
              <a:chOff x="283" y="1598"/>
              <a:chExt cx="184" cy="348"/>
            </a:xfrm>
          </p:grpSpPr>
          <p:sp>
            <p:nvSpPr>
              <p:cNvPr id="129042" name="Freeform 18">
                <a:extLst>
                  <a:ext uri="{FF2B5EF4-FFF2-40B4-BE49-F238E27FC236}">
                    <a16:creationId xmlns:a16="http://schemas.microsoft.com/office/drawing/2014/main" id="{089861B2-C124-4252-8EDB-AE5E1658AEA2}"/>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43" name="Freeform 19">
                <a:extLst>
                  <a:ext uri="{FF2B5EF4-FFF2-40B4-BE49-F238E27FC236}">
                    <a16:creationId xmlns:a16="http://schemas.microsoft.com/office/drawing/2014/main" id="{D0549100-798A-4FBD-A9CF-68BECC02B567}"/>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44" name="Rectangle 20">
                <a:extLst>
                  <a:ext uri="{FF2B5EF4-FFF2-40B4-BE49-F238E27FC236}">
                    <a16:creationId xmlns:a16="http://schemas.microsoft.com/office/drawing/2014/main" id="{7249BEF9-8CA2-4096-9DC4-2F6F8C8E66FB}"/>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45" name="Rectangle 21">
                <a:extLst>
                  <a:ext uri="{FF2B5EF4-FFF2-40B4-BE49-F238E27FC236}">
                    <a16:creationId xmlns:a16="http://schemas.microsoft.com/office/drawing/2014/main" id="{07B17E62-D190-41FA-8BFC-9C0767FC7C5B}"/>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46" name="Oval 22">
                <a:extLst>
                  <a:ext uri="{FF2B5EF4-FFF2-40B4-BE49-F238E27FC236}">
                    <a16:creationId xmlns:a16="http://schemas.microsoft.com/office/drawing/2014/main" id="{1545C69D-0BE2-4C8C-823C-077A86C6F39B}"/>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47" name="Group 23">
            <a:extLst>
              <a:ext uri="{FF2B5EF4-FFF2-40B4-BE49-F238E27FC236}">
                <a16:creationId xmlns:a16="http://schemas.microsoft.com/office/drawing/2014/main" id="{C58FCB96-4D3E-494F-AE4B-96B1FE5ECE8A}"/>
              </a:ext>
            </a:extLst>
          </p:cNvPr>
          <p:cNvGrpSpPr>
            <a:grpSpLocks/>
          </p:cNvGrpSpPr>
          <p:nvPr/>
        </p:nvGrpSpPr>
        <p:grpSpPr bwMode="auto">
          <a:xfrm>
            <a:off x="4953000" y="2743200"/>
            <a:ext cx="1295400" cy="762000"/>
            <a:chOff x="3216" y="768"/>
            <a:chExt cx="816" cy="480"/>
          </a:xfrm>
        </p:grpSpPr>
        <p:graphicFrame>
          <p:nvGraphicFramePr>
            <p:cNvPr id="129048" name="Object 24">
              <a:extLst>
                <a:ext uri="{FF2B5EF4-FFF2-40B4-BE49-F238E27FC236}">
                  <a16:creationId xmlns:a16="http://schemas.microsoft.com/office/drawing/2014/main" id="{E4EAE171-F1DB-4435-B626-A0BEDC765D70}"/>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8" imgW="4182480" imgH="3215880" progId="MS_ClipArt_Gallery.2">
                    <p:embed/>
                  </p:oleObj>
                </mc:Choice>
                <mc:Fallback>
                  <p:oleObj name="Clip" r:id="rId8" imgW="4182480" imgH="3215880" progId="MS_ClipArt_Gallery.2">
                    <p:embed/>
                    <p:pic>
                      <p:nvPicPr>
                        <p:cNvPr id="129048" name="Object 24">
                          <a:extLst>
                            <a:ext uri="{FF2B5EF4-FFF2-40B4-BE49-F238E27FC236}">
                              <a16:creationId xmlns:a16="http://schemas.microsoft.com/office/drawing/2014/main" id="{E4EAE171-F1DB-4435-B626-A0BEDC765D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49" name="Group 25">
              <a:extLst>
                <a:ext uri="{FF2B5EF4-FFF2-40B4-BE49-F238E27FC236}">
                  <a16:creationId xmlns:a16="http://schemas.microsoft.com/office/drawing/2014/main" id="{4A4DD96D-E7F4-453D-B716-6D87E70B173B}"/>
                </a:ext>
              </a:extLst>
            </p:cNvPr>
            <p:cNvGrpSpPr>
              <a:grpSpLocks/>
            </p:cNvGrpSpPr>
            <p:nvPr/>
          </p:nvGrpSpPr>
          <p:grpSpPr bwMode="auto">
            <a:xfrm>
              <a:off x="3216" y="816"/>
              <a:ext cx="184" cy="348"/>
              <a:chOff x="283" y="1598"/>
              <a:chExt cx="184" cy="348"/>
            </a:xfrm>
          </p:grpSpPr>
          <p:sp>
            <p:nvSpPr>
              <p:cNvPr id="129050" name="Freeform 26">
                <a:extLst>
                  <a:ext uri="{FF2B5EF4-FFF2-40B4-BE49-F238E27FC236}">
                    <a16:creationId xmlns:a16="http://schemas.microsoft.com/office/drawing/2014/main" id="{A6668F79-4BF2-4A99-906F-8A40333EB710}"/>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51" name="Freeform 27">
                <a:extLst>
                  <a:ext uri="{FF2B5EF4-FFF2-40B4-BE49-F238E27FC236}">
                    <a16:creationId xmlns:a16="http://schemas.microsoft.com/office/drawing/2014/main" id="{4348B6FB-D857-4688-ABB0-A04A897D1ED5}"/>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52" name="Rectangle 28">
                <a:extLst>
                  <a:ext uri="{FF2B5EF4-FFF2-40B4-BE49-F238E27FC236}">
                    <a16:creationId xmlns:a16="http://schemas.microsoft.com/office/drawing/2014/main" id="{4EFD67DA-B0F0-44E8-A1B4-C443AE5FC5F0}"/>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53" name="Rectangle 29">
                <a:extLst>
                  <a:ext uri="{FF2B5EF4-FFF2-40B4-BE49-F238E27FC236}">
                    <a16:creationId xmlns:a16="http://schemas.microsoft.com/office/drawing/2014/main" id="{6321E437-C05F-458A-BE3D-67B80D60BB61}"/>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54" name="Oval 30">
                <a:extLst>
                  <a:ext uri="{FF2B5EF4-FFF2-40B4-BE49-F238E27FC236}">
                    <a16:creationId xmlns:a16="http://schemas.microsoft.com/office/drawing/2014/main" id="{F4343D6C-3CA6-4692-AE89-854AC29E2AD7}"/>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55" name="Group 31">
            <a:extLst>
              <a:ext uri="{FF2B5EF4-FFF2-40B4-BE49-F238E27FC236}">
                <a16:creationId xmlns:a16="http://schemas.microsoft.com/office/drawing/2014/main" id="{638F9B58-1C84-4B7B-8C85-D4730C5B372B}"/>
              </a:ext>
            </a:extLst>
          </p:cNvPr>
          <p:cNvGrpSpPr>
            <a:grpSpLocks/>
          </p:cNvGrpSpPr>
          <p:nvPr/>
        </p:nvGrpSpPr>
        <p:grpSpPr bwMode="auto">
          <a:xfrm>
            <a:off x="7391400" y="533400"/>
            <a:ext cx="1295400" cy="762000"/>
            <a:chOff x="3216" y="768"/>
            <a:chExt cx="816" cy="480"/>
          </a:xfrm>
        </p:grpSpPr>
        <p:graphicFrame>
          <p:nvGraphicFramePr>
            <p:cNvPr id="129056" name="Object 32">
              <a:extLst>
                <a:ext uri="{FF2B5EF4-FFF2-40B4-BE49-F238E27FC236}">
                  <a16:creationId xmlns:a16="http://schemas.microsoft.com/office/drawing/2014/main" id="{92E86201-055D-4038-9208-5FBED2FAEA73}"/>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9" imgW="4182480" imgH="3215880" progId="MS_ClipArt_Gallery.2">
                    <p:embed/>
                  </p:oleObj>
                </mc:Choice>
                <mc:Fallback>
                  <p:oleObj name="Clip" r:id="rId9" imgW="4182480" imgH="3215880" progId="MS_ClipArt_Gallery.2">
                    <p:embed/>
                    <p:pic>
                      <p:nvPicPr>
                        <p:cNvPr id="129056" name="Object 32">
                          <a:extLst>
                            <a:ext uri="{FF2B5EF4-FFF2-40B4-BE49-F238E27FC236}">
                              <a16:creationId xmlns:a16="http://schemas.microsoft.com/office/drawing/2014/main" id="{92E86201-055D-4038-9208-5FBED2FAEA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57" name="Group 33">
              <a:extLst>
                <a:ext uri="{FF2B5EF4-FFF2-40B4-BE49-F238E27FC236}">
                  <a16:creationId xmlns:a16="http://schemas.microsoft.com/office/drawing/2014/main" id="{5E3323CE-888E-4EC9-A50B-9D4F1AE7B083}"/>
                </a:ext>
              </a:extLst>
            </p:cNvPr>
            <p:cNvGrpSpPr>
              <a:grpSpLocks/>
            </p:cNvGrpSpPr>
            <p:nvPr/>
          </p:nvGrpSpPr>
          <p:grpSpPr bwMode="auto">
            <a:xfrm>
              <a:off x="3216" y="816"/>
              <a:ext cx="184" cy="348"/>
              <a:chOff x="283" y="1598"/>
              <a:chExt cx="184" cy="348"/>
            </a:xfrm>
          </p:grpSpPr>
          <p:sp>
            <p:nvSpPr>
              <p:cNvPr id="129058" name="Freeform 34">
                <a:extLst>
                  <a:ext uri="{FF2B5EF4-FFF2-40B4-BE49-F238E27FC236}">
                    <a16:creationId xmlns:a16="http://schemas.microsoft.com/office/drawing/2014/main" id="{07B5C496-6E07-4488-94B2-D88DEB0BC899}"/>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59" name="Freeform 35">
                <a:extLst>
                  <a:ext uri="{FF2B5EF4-FFF2-40B4-BE49-F238E27FC236}">
                    <a16:creationId xmlns:a16="http://schemas.microsoft.com/office/drawing/2014/main" id="{1CFF6CE1-12B7-4F84-90AA-2CB6330D20A1}"/>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60" name="Rectangle 36">
                <a:extLst>
                  <a:ext uri="{FF2B5EF4-FFF2-40B4-BE49-F238E27FC236}">
                    <a16:creationId xmlns:a16="http://schemas.microsoft.com/office/drawing/2014/main" id="{E4E11B6D-6AE2-4149-81BC-CE4B59955F6F}"/>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61" name="Rectangle 37">
                <a:extLst>
                  <a:ext uri="{FF2B5EF4-FFF2-40B4-BE49-F238E27FC236}">
                    <a16:creationId xmlns:a16="http://schemas.microsoft.com/office/drawing/2014/main" id="{6D45A8B3-94E1-43DE-BB3B-687FE36120F8}"/>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62" name="Oval 38">
                <a:extLst>
                  <a:ext uri="{FF2B5EF4-FFF2-40B4-BE49-F238E27FC236}">
                    <a16:creationId xmlns:a16="http://schemas.microsoft.com/office/drawing/2014/main" id="{6DC081FB-CB14-40C4-B8E7-0D4DE8D6F6DA}"/>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63" name="Group 39">
            <a:extLst>
              <a:ext uri="{FF2B5EF4-FFF2-40B4-BE49-F238E27FC236}">
                <a16:creationId xmlns:a16="http://schemas.microsoft.com/office/drawing/2014/main" id="{64E6619F-1178-4B40-A49F-F1C672CD69DB}"/>
              </a:ext>
            </a:extLst>
          </p:cNvPr>
          <p:cNvGrpSpPr>
            <a:grpSpLocks/>
          </p:cNvGrpSpPr>
          <p:nvPr/>
        </p:nvGrpSpPr>
        <p:grpSpPr bwMode="auto">
          <a:xfrm>
            <a:off x="7467600" y="2895600"/>
            <a:ext cx="1295400" cy="762000"/>
            <a:chOff x="3216" y="768"/>
            <a:chExt cx="816" cy="480"/>
          </a:xfrm>
        </p:grpSpPr>
        <p:graphicFrame>
          <p:nvGraphicFramePr>
            <p:cNvPr id="129064" name="Object 40">
              <a:extLst>
                <a:ext uri="{FF2B5EF4-FFF2-40B4-BE49-F238E27FC236}">
                  <a16:creationId xmlns:a16="http://schemas.microsoft.com/office/drawing/2014/main" id="{825DC9F8-4E77-4328-A588-F7E02A98B21D}"/>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10" imgW="4182480" imgH="3215880" progId="MS_ClipArt_Gallery.2">
                    <p:embed/>
                  </p:oleObj>
                </mc:Choice>
                <mc:Fallback>
                  <p:oleObj name="Clip" r:id="rId10" imgW="4182480" imgH="3215880" progId="MS_ClipArt_Gallery.2">
                    <p:embed/>
                    <p:pic>
                      <p:nvPicPr>
                        <p:cNvPr id="129064" name="Object 40">
                          <a:extLst>
                            <a:ext uri="{FF2B5EF4-FFF2-40B4-BE49-F238E27FC236}">
                              <a16:creationId xmlns:a16="http://schemas.microsoft.com/office/drawing/2014/main" id="{825DC9F8-4E77-4328-A588-F7E02A98B2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65" name="Group 41">
              <a:extLst>
                <a:ext uri="{FF2B5EF4-FFF2-40B4-BE49-F238E27FC236}">
                  <a16:creationId xmlns:a16="http://schemas.microsoft.com/office/drawing/2014/main" id="{3D4B96DB-A509-47D3-987B-A551FFEC1A8B}"/>
                </a:ext>
              </a:extLst>
            </p:cNvPr>
            <p:cNvGrpSpPr>
              <a:grpSpLocks/>
            </p:cNvGrpSpPr>
            <p:nvPr/>
          </p:nvGrpSpPr>
          <p:grpSpPr bwMode="auto">
            <a:xfrm>
              <a:off x="3216" y="816"/>
              <a:ext cx="184" cy="348"/>
              <a:chOff x="283" y="1598"/>
              <a:chExt cx="184" cy="348"/>
            </a:xfrm>
          </p:grpSpPr>
          <p:sp>
            <p:nvSpPr>
              <p:cNvPr id="129066" name="Freeform 42">
                <a:extLst>
                  <a:ext uri="{FF2B5EF4-FFF2-40B4-BE49-F238E27FC236}">
                    <a16:creationId xmlns:a16="http://schemas.microsoft.com/office/drawing/2014/main" id="{271B4AFF-01F0-498A-B2E4-07D51588003B}"/>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67" name="Freeform 43">
                <a:extLst>
                  <a:ext uri="{FF2B5EF4-FFF2-40B4-BE49-F238E27FC236}">
                    <a16:creationId xmlns:a16="http://schemas.microsoft.com/office/drawing/2014/main" id="{3F361643-93EA-4C38-B6FA-843C3FB016D0}"/>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68" name="Rectangle 44">
                <a:extLst>
                  <a:ext uri="{FF2B5EF4-FFF2-40B4-BE49-F238E27FC236}">
                    <a16:creationId xmlns:a16="http://schemas.microsoft.com/office/drawing/2014/main" id="{34A20064-2DE9-4E04-91BA-5B74BB946246}"/>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69" name="Rectangle 45">
                <a:extLst>
                  <a:ext uri="{FF2B5EF4-FFF2-40B4-BE49-F238E27FC236}">
                    <a16:creationId xmlns:a16="http://schemas.microsoft.com/office/drawing/2014/main" id="{A6B8685C-BE35-41A5-BE69-938C636747F5}"/>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70" name="Oval 46">
                <a:extLst>
                  <a:ext uri="{FF2B5EF4-FFF2-40B4-BE49-F238E27FC236}">
                    <a16:creationId xmlns:a16="http://schemas.microsoft.com/office/drawing/2014/main" id="{B85CA296-BBA2-439E-B174-4263D6B61692}"/>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72" name="Group 48">
            <a:extLst>
              <a:ext uri="{FF2B5EF4-FFF2-40B4-BE49-F238E27FC236}">
                <a16:creationId xmlns:a16="http://schemas.microsoft.com/office/drawing/2014/main" id="{BF21B5D8-44A1-4A18-9DC5-2E7964D60457}"/>
              </a:ext>
            </a:extLst>
          </p:cNvPr>
          <p:cNvGrpSpPr>
            <a:grpSpLocks/>
          </p:cNvGrpSpPr>
          <p:nvPr/>
        </p:nvGrpSpPr>
        <p:grpSpPr bwMode="auto">
          <a:xfrm>
            <a:off x="1600200" y="3276600"/>
            <a:ext cx="1295400" cy="762000"/>
            <a:chOff x="3216" y="768"/>
            <a:chExt cx="816" cy="480"/>
          </a:xfrm>
        </p:grpSpPr>
        <p:graphicFrame>
          <p:nvGraphicFramePr>
            <p:cNvPr id="129073" name="Object 49">
              <a:extLst>
                <a:ext uri="{FF2B5EF4-FFF2-40B4-BE49-F238E27FC236}">
                  <a16:creationId xmlns:a16="http://schemas.microsoft.com/office/drawing/2014/main" id="{B1BA3627-8D17-4BA5-BE88-BCAED68E6015}"/>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11" imgW="4182480" imgH="3215880" progId="MS_ClipArt_Gallery.2">
                    <p:embed/>
                  </p:oleObj>
                </mc:Choice>
                <mc:Fallback>
                  <p:oleObj name="Clip" r:id="rId11" imgW="4182480" imgH="3215880" progId="MS_ClipArt_Gallery.2">
                    <p:embed/>
                    <p:pic>
                      <p:nvPicPr>
                        <p:cNvPr id="129073" name="Object 49">
                          <a:extLst>
                            <a:ext uri="{FF2B5EF4-FFF2-40B4-BE49-F238E27FC236}">
                              <a16:creationId xmlns:a16="http://schemas.microsoft.com/office/drawing/2014/main" id="{B1BA3627-8D17-4BA5-BE88-BCAED68E60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74" name="Group 50">
              <a:extLst>
                <a:ext uri="{FF2B5EF4-FFF2-40B4-BE49-F238E27FC236}">
                  <a16:creationId xmlns:a16="http://schemas.microsoft.com/office/drawing/2014/main" id="{3FBD592D-B86B-4E7C-A74C-5973A668FACF}"/>
                </a:ext>
              </a:extLst>
            </p:cNvPr>
            <p:cNvGrpSpPr>
              <a:grpSpLocks/>
            </p:cNvGrpSpPr>
            <p:nvPr/>
          </p:nvGrpSpPr>
          <p:grpSpPr bwMode="auto">
            <a:xfrm>
              <a:off x="3216" y="816"/>
              <a:ext cx="184" cy="348"/>
              <a:chOff x="283" y="1598"/>
              <a:chExt cx="184" cy="348"/>
            </a:xfrm>
          </p:grpSpPr>
          <p:sp>
            <p:nvSpPr>
              <p:cNvPr id="129075" name="Freeform 51">
                <a:extLst>
                  <a:ext uri="{FF2B5EF4-FFF2-40B4-BE49-F238E27FC236}">
                    <a16:creationId xmlns:a16="http://schemas.microsoft.com/office/drawing/2014/main" id="{261EE885-C448-4564-9B44-56CB9C31C58A}"/>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76" name="Freeform 52">
                <a:extLst>
                  <a:ext uri="{FF2B5EF4-FFF2-40B4-BE49-F238E27FC236}">
                    <a16:creationId xmlns:a16="http://schemas.microsoft.com/office/drawing/2014/main" id="{FFBC0CF6-3540-4C86-8681-8376BDBA8384}"/>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77" name="Rectangle 53">
                <a:extLst>
                  <a:ext uri="{FF2B5EF4-FFF2-40B4-BE49-F238E27FC236}">
                    <a16:creationId xmlns:a16="http://schemas.microsoft.com/office/drawing/2014/main" id="{42C1CC31-1D36-4D9B-B1BF-09AB33BC140D}"/>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78" name="Rectangle 54">
                <a:extLst>
                  <a:ext uri="{FF2B5EF4-FFF2-40B4-BE49-F238E27FC236}">
                    <a16:creationId xmlns:a16="http://schemas.microsoft.com/office/drawing/2014/main" id="{D9EDBC0B-A2C5-46E9-9C49-BE39327CDF29}"/>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79" name="Oval 55">
                <a:extLst>
                  <a:ext uri="{FF2B5EF4-FFF2-40B4-BE49-F238E27FC236}">
                    <a16:creationId xmlns:a16="http://schemas.microsoft.com/office/drawing/2014/main" id="{FF675350-D086-4011-92BC-5E58DB809967}"/>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80" name="Group 56">
            <a:extLst>
              <a:ext uri="{FF2B5EF4-FFF2-40B4-BE49-F238E27FC236}">
                <a16:creationId xmlns:a16="http://schemas.microsoft.com/office/drawing/2014/main" id="{41C1F140-AEE1-43D1-96D0-6EBE0A152B48}"/>
              </a:ext>
            </a:extLst>
          </p:cNvPr>
          <p:cNvGrpSpPr>
            <a:grpSpLocks/>
          </p:cNvGrpSpPr>
          <p:nvPr/>
        </p:nvGrpSpPr>
        <p:grpSpPr bwMode="auto">
          <a:xfrm>
            <a:off x="762000" y="4191000"/>
            <a:ext cx="1295400" cy="762000"/>
            <a:chOff x="3216" y="768"/>
            <a:chExt cx="816" cy="480"/>
          </a:xfrm>
        </p:grpSpPr>
        <p:graphicFrame>
          <p:nvGraphicFramePr>
            <p:cNvPr id="129081" name="Object 57">
              <a:extLst>
                <a:ext uri="{FF2B5EF4-FFF2-40B4-BE49-F238E27FC236}">
                  <a16:creationId xmlns:a16="http://schemas.microsoft.com/office/drawing/2014/main" id="{E8A2496B-040C-4075-812B-B5DF398ABF47}"/>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12" imgW="4182480" imgH="3215880" progId="MS_ClipArt_Gallery.2">
                    <p:embed/>
                  </p:oleObj>
                </mc:Choice>
                <mc:Fallback>
                  <p:oleObj name="Clip" r:id="rId12" imgW="4182480" imgH="3215880" progId="MS_ClipArt_Gallery.2">
                    <p:embed/>
                    <p:pic>
                      <p:nvPicPr>
                        <p:cNvPr id="129081" name="Object 57">
                          <a:extLst>
                            <a:ext uri="{FF2B5EF4-FFF2-40B4-BE49-F238E27FC236}">
                              <a16:creationId xmlns:a16="http://schemas.microsoft.com/office/drawing/2014/main" id="{E8A2496B-040C-4075-812B-B5DF398ABF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82" name="Group 58">
              <a:extLst>
                <a:ext uri="{FF2B5EF4-FFF2-40B4-BE49-F238E27FC236}">
                  <a16:creationId xmlns:a16="http://schemas.microsoft.com/office/drawing/2014/main" id="{CCA0213A-1611-426B-B840-AD2DFE47F5F6}"/>
                </a:ext>
              </a:extLst>
            </p:cNvPr>
            <p:cNvGrpSpPr>
              <a:grpSpLocks/>
            </p:cNvGrpSpPr>
            <p:nvPr/>
          </p:nvGrpSpPr>
          <p:grpSpPr bwMode="auto">
            <a:xfrm>
              <a:off x="3216" y="816"/>
              <a:ext cx="184" cy="348"/>
              <a:chOff x="283" y="1598"/>
              <a:chExt cx="184" cy="348"/>
            </a:xfrm>
          </p:grpSpPr>
          <p:sp>
            <p:nvSpPr>
              <p:cNvPr id="129083" name="Freeform 59">
                <a:extLst>
                  <a:ext uri="{FF2B5EF4-FFF2-40B4-BE49-F238E27FC236}">
                    <a16:creationId xmlns:a16="http://schemas.microsoft.com/office/drawing/2014/main" id="{CD07B97F-DE4A-4E60-8E79-8910158D9774}"/>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84" name="Freeform 60">
                <a:extLst>
                  <a:ext uri="{FF2B5EF4-FFF2-40B4-BE49-F238E27FC236}">
                    <a16:creationId xmlns:a16="http://schemas.microsoft.com/office/drawing/2014/main" id="{4115B01A-E06A-4BD2-9FF2-EE9B88F7C4A0}"/>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85" name="Rectangle 61">
                <a:extLst>
                  <a:ext uri="{FF2B5EF4-FFF2-40B4-BE49-F238E27FC236}">
                    <a16:creationId xmlns:a16="http://schemas.microsoft.com/office/drawing/2014/main" id="{B1DC8FD2-2576-49EA-B0C7-09361C78888D}"/>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86" name="Rectangle 62">
                <a:extLst>
                  <a:ext uri="{FF2B5EF4-FFF2-40B4-BE49-F238E27FC236}">
                    <a16:creationId xmlns:a16="http://schemas.microsoft.com/office/drawing/2014/main" id="{85063E78-C349-413B-8E9C-9A4820547395}"/>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87" name="Oval 63">
                <a:extLst>
                  <a:ext uri="{FF2B5EF4-FFF2-40B4-BE49-F238E27FC236}">
                    <a16:creationId xmlns:a16="http://schemas.microsoft.com/office/drawing/2014/main" id="{A1B3C235-CA07-42F3-BBC2-22525546841D}"/>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9088" name="Group 64">
            <a:extLst>
              <a:ext uri="{FF2B5EF4-FFF2-40B4-BE49-F238E27FC236}">
                <a16:creationId xmlns:a16="http://schemas.microsoft.com/office/drawing/2014/main" id="{0EB9F484-1CD1-446C-A4AE-A176A10F857D}"/>
              </a:ext>
            </a:extLst>
          </p:cNvPr>
          <p:cNvGrpSpPr>
            <a:grpSpLocks/>
          </p:cNvGrpSpPr>
          <p:nvPr/>
        </p:nvGrpSpPr>
        <p:grpSpPr bwMode="auto">
          <a:xfrm>
            <a:off x="914400" y="5181600"/>
            <a:ext cx="1295400" cy="762000"/>
            <a:chOff x="3216" y="768"/>
            <a:chExt cx="816" cy="480"/>
          </a:xfrm>
        </p:grpSpPr>
        <p:graphicFrame>
          <p:nvGraphicFramePr>
            <p:cNvPr id="129089" name="Object 65">
              <a:extLst>
                <a:ext uri="{FF2B5EF4-FFF2-40B4-BE49-F238E27FC236}">
                  <a16:creationId xmlns:a16="http://schemas.microsoft.com/office/drawing/2014/main" id="{D9AA0CA1-CD7F-4640-A66A-CE224D350BA5}"/>
                </a:ext>
              </a:extLst>
            </p:cNvPr>
            <p:cNvGraphicFramePr>
              <a:graphicFrameLocks noChangeAspect="1"/>
            </p:cNvGraphicFramePr>
            <p:nvPr/>
          </p:nvGraphicFramePr>
          <p:xfrm>
            <a:off x="3408" y="768"/>
            <a:ext cx="624" cy="480"/>
          </p:xfrm>
          <a:graphic>
            <a:graphicData uri="http://schemas.openxmlformats.org/presentationml/2006/ole">
              <mc:AlternateContent xmlns:mc="http://schemas.openxmlformats.org/markup-compatibility/2006">
                <mc:Choice xmlns:v="urn:schemas-microsoft-com:vml" Requires="v">
                  <p:oleObj name="Clip" r:id="rId13" imgW="4182480" imgH="3215880" progId="MS_ClipArt_Gallery.2">
                    <p:embed/>
                  </p:oleObj>
                </mc:Choice>
                <mc:Fallback>
                  <p:oleObj name="Clip" r:id="rId13" imgW="4182480" imgH="3215880" progId="MS_ClipArt_Gallery.2">
                    <p:embed/>
                    <p:pic>
                      <p:nvPicPr>
                        <p:cNvPr id="129089" name="Object 65">
                          <a:extLst>
                            <a:ext uri="{FF2B5EF4-FFF2-40B4-BE49-F238E27FC236}">
                              <a16:creationId xmlns:a16="http://schemas.microsoft.com/office/drawing/2014/main" id="{D9AA0CA1-CD7F-4640-A66A-CE224D350B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768"/>
                          <a:ext cx="62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090" name="Group 66">
              <a:extLst>
                <a:ext uri="{FF2B5EF4-FFF2-40B4-BE49-F238E27FC236}">
                  <a16:creationId xmlns:a16="http://schemas.microsoft.com/office/drawing/2014/main" id="{636B7D63-DCAA-4373-A5DD-4C4871AFD787}"/>
                </a:ext>
              </a:extLst>
            </p:cNvPr>
            <p:cNvGrpSpPr>
              <a:grpSpLocks/>
            </p:cNvGrpSpPr>
            <p:nvPr/>
          </p:nvGrpSpPr>
          <p:grpSpPr bwMode="auto">
            <a:xfrm>
              <a:off x="3216" y="816"/>
              <a:ext cx="184" cy="348"/>
              <a:chOff x="283" y="1598"/>
              <a:chExt cx="184" cy="348"/>
            </a:xfrm>
          </p:grpSpPr>
          <p:sp>
            <p:nvSpPr>
              <p:cNvPr id="129091" name="Freeform 67">
                <a:extLst>
                  <a:ext uri="{FF2B5EF4-FFF2-40B4-BE49-F238E27FC236}">
                    <a16:creationId xmlns:a16="http://schemas.microsoft.com/office/drawing/2014/main" id="{F5F2457F-F28F-4F9B-B3B6-FA6B5C71997E}"/>
                  </a:ext>
                </a:extLst>
              </p:cNvPr>
              <p:cNvSpPr>
                <a:spLocks/>
              </p:cNvSpPr>
              <p:nvPr/>
            </p:nvSpPr>
            <p:spPr bwMode="black">
              <a:xfrm>
                <a:off x="283" y="1680"/>
                <a:ext cx="102" cy="185"/>
              </a:xfrm>
              <a:custGeom>
                <a:avLst/>
                <a:gdLst>
                  <a:gd name="T0" fmla="*/ 0 w 102"/>
                  <a:gd name="T1" fmla="*/ 0 h 185"/>
                  <a:gd name="T2" fmla="*/ 12 w 102"/>
                  <a:gd name="T3" fmla="*/ 0 h 185"/>
                  <a:gd name="T4" fmla="*/ 12 w 102"/>
                  <a:gd name="T5" fmla="*/ 157 h 185"/>
                  <a:gd name="T6" fmla="*/ 101 w 102"/>
                  <a:gd name="T7" fmla="*/ 157 h 185"/>
                  <a:gd name="T8" fmla="*/ 101 w 102"/>
                  <a:gd name="T9" fmla="*/ 184 h 185"/>
                  <a:gd name="T10" fmla="*/ 0 w 102"/>
                  <a:gd name="T11" fmla="*/ 184 h 185"/>
                  <a:gd name="T12" fmla="*/ 0 w 102"/>
                  <a:gd name="T13" fmla="*/ 0 h 185"/>
                </a:gdLst>
                <a:ahLst/>
                <a:cxnLst>
                  <a:cxn ang="0">
                    <a:pos x="T0" y="T1"/>
                  </a:cxn>
                  <a:cxn ang="0">
                    <a:pos x="T2" y="T3"/>
                  </a:cxn>
                  <a:cxn ang="0">
                    <a:pos x="T4" y="T5"/>
                  </a:cxn>
                  <a:cxn ang="0">
                    <a:pos x="T6" y="T7"/>
                  </a:cxn>
                  <a:cxn ang="0">
                    <a:pos x="T8" y="T9"/>
                  </a:cxn>
                  <a:cxn ang="0">
                    <a:pos x="T10" y="T11"/>
                  </a:cxn>
                  <a:cxn ang="0">
                    <a:pos x="T12" y="T13"/>
                  </a:cxn>
                </a:cxnLst>
                <a:rect l="0" t="0" r="r" b="b"/>
                <a:pathLst>
                  <a:path w="102" h="185">
                    <a:moveTo>
                      <a:pt x="0" y="0"/>
                    </a:moveTo>
                    <a:lnTo>
                      <a:pt x="12" y="0"/>
                    </a:lnTo>
                    <a:lnTo>
                      <a:pt x="12" y="157"/>
                    </a:lnTo>
                    <a:lnTo>
                      <a:pt x="101" y="157"/>
                    </a:lnTo>
                    <a:lnTo>
                      <a:pt x="101" y="184"/>
                    </a:lnTo>
                    <a:lnTo>
                      <a:pt x="0" y="184"/>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92" name="Freeform 68">
                <a:extLst>
                  <a:ext uri="{FF2B5EF4-FFF2-40B4-BE49-F238E27FC236}">
                    <a16:creationId xmlns:a16="http://schemas.microsoft.com/office/drawing/2014/main" id="{4505250A-D904-4B2A-9941-D675A549D559}"/>
                  </a:ext>
                </a:extLst>
              </p:cNvPr>
              <p:cNvSpPr>
                <a:spLocks/>
              </p:cNvSpPr>
              <p:nvPr/>
            </p:nvSpPr>
            <p:spPr bwMode="black">
              <a:xfrm>
                <a:off x="310" y="1680"/>
                <a:ext cx="157" cy="266"/>
              </a:xfrm>
              <a:custGeom>
                <a:avLst/>
                <a:gdLst>
                  <a:gd name="T0" fmla="*/ 0 w 157"/>
                  <a:gd name="T1" fmla="*/ 0 h 266"/>
                  <a:gd name="T2" fmla="*/ 0 w 157"/>
                  <a:gd name="T3" fmla="*/ 14 h 266"/>
                  <a:gd name="T4" fmla="*/ 0 w 157"/>
                  <a:gd name="T5" fmla="*/ 80 h 266"/>
                  <a:gd name="T6" fmla="*/ 0 w 157"/>
                  <a:gd name="T7" fmla="*/ 147 h 266"/>
                  <a:gd name="T8" fmla="*/ 0 w 157"/>
                  <a:gd name="T9" fmla="*/ 159 h 266"/>
                  <a:gd name="T10" fmla="*/ 13 w 157"/>
                  <a:gd name="T11" fmla="*/ 159 h 266"/>
                  <a:gd name="T12" fmla="*/ 66 w 157"/>
                  <a:gd name="T13" fmla="*/ 159 h 266"/>
                  <a:gd name="T14" fmla="*/ 105 w 157"/>
                  <a:gd name="T15" fmla="*/ 159 h 266"/>
                  <a:gd name="T16" fmla="*/ 117 w 157"/>
                  <a:gd name="T17" fmla="*/ 159 h 266"/>
                  <a:gd name="T18" fmla="*/ 117 w 157"/>
                  <a:gd name="T19" fmla="*/ 199 h 266"/>
                  <a:gd name="T20" fmla="*/ 117 w 157"/>
                  <a:gd name="T21" fmla="*/ 239 h 266"/>
                  <a:gd name="T22" fmla="*/ 117 w 157"/>
                  <a:gd name="T23" fmla="*/ 252 h 266"/>
                  <a:gd name="T24" fmla="*/ 130 w 157"/>
                  <a:gd name="T25" fmla="*/ 265 h 266"/>
                  <a:gd name="T26" fmla="*/ 156 w 157"/>
                  <a:gd name="T27" fmla="*/ 252 h 266"/>
                  <a:gd name="T28" fmla="*/ 156 w 157"/>
                  <a:gd name="T29" fmla="*/ 239 h 266"/>
                  <a:gd name="T30" fmla="*/ 156 w 157"/>
                  <a:gd name="T31" fmla="*/ 173 h 266"/>
                  <a:gd name="T32" fmla="*/ 156 w 157"/>
                  <a:gd name="T33" fmla="*/ 107 h 266"/>
                  <a:gd name="T34" fmla="*/ 105 w 157"/>
                  <a:gd name="T35" fmla="*/ 107 h 266"/>
                  <a:gd name="T36" fmla="*/ 66 w 157"/>
                  <a:gd name="T37" fmla="*/ 107 h 266"/>
                  <a:gd name="T38" fmla="*/ 66 w 157"/>
                  <a:gd name="T39" fmla="*/ 80 h 266"/>
                  <a:gd name="T40" fmla="*/ 66 w 157"/>
                  <a:gd name="T41" fmla="*/ 53 h 266"/>
                  <a:gd name="T42" fmla="*/ 91 w 157"/>
                  <a:gd name="T43" fmla="*/ 67 h 266"/>
                  <a:gd name="T44" fmla="*/ 105 w 157"/>
                  <a:gd name="T45" fmla="*/ 93 h 266"/>
                  <a:gd name="T46" fmla="*/ 130 w 157"/>
                  <a:gd name="T47" fmla="*/ 93 h 266"/>
                  <a:gd name="T48" fmla="*/ 156 w 157"/>
                  <a:gd name="T49" fmla="*/ 93 h 266"/>
                  <a:gd name="T50" fmla="*/ 156 w 157"/>
                  <a:gd name="T51" fmla="*/ 80 h 266"/>
                  <a:gd name="T52" fmla="*/ 156 w 157"/>
                  <a:gd name="T53" fmla="*/ 67 h 266"/>
                  <a:gd name="T54" fmla="*/ 144 w 157"/>
                  <a:gd name="T55" fmla="*/ 67 h 266"/>
                  <a:gd name="T56" fmla="*/ 130 w 157"/>
                  <a:gd name="T57" fmla="*/ 67 h 266"/>
                  <a:gd name="T58" fmla="*/ 105 w 157"/>
                  <a:gd name="T59" fmla="*/ 40 h 266"/>
                  <a:gd name="T60" fmla="*/ 66 w 157"/>
                  <a:gd name="T61" fmla="*/ 0 h 266"/>
                  <a:gd name="T62" fmla="*/ 39 w 157"/>
                  <a:gd name="T63" fmla="*/ 0 h 266"/>
                  <a:gd name="T64" fmla="*/ 13 w 157"/>
                  <a:gd name="T65" fmla="*/ 0 h 266"/>
                  <a:gd name="T66" fmla="*/ 0 w 157"/>
                  <a:gd name="T6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66">
                    <a:moveTo>
                      <a:pt x="0" y="0"/>
                    </a:moveTo>
                    <a:lnTo>
                      <a:pt x="0" y="14"/>
                    </a:lnTo>
                    <a:lnTo>
                      <a:pt x="0" y="80"/>
                    </a:lnTo>
                    <a:lnTo>
                      <a:pt x="0" y="147"/>
                    </a:lnTo>
                    <a:lnTo>
                      <a:pt x="0" y="159"/>
                    </a:lnTo>
                    <a:lnTo>
                      <a:pt x="13" y="159"/>
                    </a:lnTo>
                    <a:lnTo>
                      <a:pt x="66" y="159"/>
                    </a:lnTo>
                    <a:lnTo>
                      <a:pt x="105" y="159"/>
                    </a:lnTo>
                    <a:lnTo>
                      <a:pt x="117" y="159"/>
                    </a:lnTo>
                    <a:lnTo>
                      <a:pt x="117" y="199"/>
                    </a:lnTo>
                    <a:lnTo>
                      <a:pt x="117" y="239"/>
                    </a:lnTo>
                    <a:lnTo>
                      <a:pt x="117" y="252"/>
                    </a:lnTo>
                    <a:lnTo>
                      <a:pt x="130" y="265"/>
                    </a:lnTo>
                    <a:lnTo>
                      <a:pt x="156" y="252"/>
                    </a:lnTo>
                    <a:lnTo>
                      <a:pt x="156" y="239"/>
                    </a:lnTo>
                    <a:lnTo>
                      <a:pt x="156" y="173"/>
                    </a:lnTo>
                    <a:lnTo>
                      <a:pt x="156" y="107"/>
                    </a:lnTo>
                    <a:lnTo>
                      <a:pt x="105" y="107"/>
                    </a:lnTo>
                    <a:lnTo>
                      <a:pt x="66" y="107"/>
                    </a:lnTo>
                    <a:lnTo>
                      <a:pt x="66" y="80"/>
                    </a:lnTo>
                    <a:lnTo>
                      <a:pt x="66" y="53"/>
                    </a:lnTo>
                    <a:lnTo>
                      <a:pt x="91" y="67"/>
                    </a:lnTo>
                    <a:lnTo>
                      <a:pt x="105" y="93"/>
                    </a:lnTo>
                    <a:lnTo>
                      <a:pt x="130" y="93"/>
                    </a:lnTo>
                    <a:lnTo>
                      <a:pt x="156" y="93"/>
                    </a:lnTo>
                    <a:lnTo>
                      <a:pt x="156" y="80"/>
                    </a:lnTo>
                    <a:lnTo>
                      <a:pt x="156" y="67"/>
                    </a:lnTo>
                    <a:lnTo>
                      <a:pt x="144" y="67"/>
                    </a:lnTo>
                    <a:lnTo>
                      <a:pt x="130" y="67"/>
                    </a:lnTo>
                    <a:lnTo>
                      <a:pt x="105" y="40"/>
                    </a:lnTo>
                    <a:lnTo>
                      <a:pt x="66" y="0"/>
                    </a:lnTo>
                    <a:lnTo>
                      <a:pt x="39" y="0"/>
                    </a:lnTo>
                    <a:lnTo>
                      <a:pt x="13" y="0"/>
                    </a:lnTo>
                    <a:lnTo>
                      <a:pt x="0" y="0"/>
                    </a:lnTo>
                  </a:path>
                </a:pathLst>
              </a:custGeom>
              <a:solidFill>
                <a:schemeClr val="tx2"/>
              </a:solidFill>
              <a:ln>
                <a:noFill/>
              </a:ln>
              <a:effectLst/>
              <a:extLst>
                <a:ext uri="{91240B29-F687-4F45-9708-019B960494DF}">
                  <a14:hiddenLine xmlns:a14="http://schemas.microsoft.com/office/drawing/2010/main" w="254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93" name="Rectangle 69">
                <a:extLst>
                  <a:ext uri="{FF2B5EF4-FFF2-40B4-BE49-F238E27FC236}">
                    <a16:creationId xmlns:a16="http://schemas.microsoft.com/office/drawing/2014/main" id="{B622BE3F-2E99-41DB-968D-C567ACCA9389}"/>
                  </a:ext>
                </a:extLst>
              </p:cNvPr>
              <p:cNvSpPr>
                <a:spLocks noChangeArrowheads="1"/>
              </p:cNvSpPr>
              <p:nvPr/>
            </p:nvSpPr>
            <p:spPr bwMode="black">
              <a:xfrm>
                <a:off x="283"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94" name="Rectangle 70">
                <a:extLst>
                  <a:ext uri="{FF2B5EF4-FFF2-40B4-BE49-F238E27FC236}">
                    <a16:creationId xmlns:a16="http://schemas.microsoft.com/office/drawing/2014/main" id="{25F0459C-CF74-42E2-B369-83C600660A2F}"/>
                  </a:ext>
                </a:extLst>
              </p:cNvPr>
              <p:cNvSpPr>
                <a:spLocks noChangeArrowheads="1"/>
              </p:cNvSpPr>
              <p:nvPr/>
            </p:nvSpPr>
            <p:spPr bwMode="black">
              <a:xfrm>
                <a:off x="379" y="1885"/>
                <a:ext cx="5" cy="6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95" name="Oval 71">
                <a:extLst>
                  <a:ext uri="{FF2B5EF4-FFF2-40B4-BE49-F238E27FC236}">
                    <a16:creationId xmlns:a16="http://schemas.microsoft.com/office/drawing/2014/main" id="{D5AF0A3B-009F-45D6-87AD-240C61C20905}"/>
                  </a:ext>
                </a:extLst>
              </p:cNvPr>
              <p:cNvSpPr>
                <a:spLocks noChangeArrowheads="1"/>
              </p:cNvSpPr>
              <p:nvPr/>
            </p:nvSpPr>
            <p:spPr bwMode="black">
              <a:xfrm>
                <a:off x="310" y="1598"/>
                <a:ext cx="74" cy="61"/>
              </a:xfrm>
              <a:prstGeom prst="ellipse">
                <a:avLst/>
              </a:prstGeom>
              <a:solidFill>
                <a:schemeClr val="tx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cxnSp>
        <p:nvCxnSpPr>
          <p:cNvPr id="129096" name="AutoShape 72">
            <a:extLst>
              <a:ext uri="{FF2B5EF4-FFF2-40B4-BE49-F238E27FC236}">
                <a16:creationId xmlns:a16="http://schemas.microsoft.com/office/drawing/2014/main" id="{81F6A922-94CA-4C87-ABD2-3AFE7F96E571}"/>
              </a:ext>
            </a:extLst>
          </p:cNvPr>
          <p:cNvCxnSpPr>
            <a:cxnSpLocks noChangeShapeType="1"/>
            <a:stCxn id="0" idx="2"/>
            <a:endCxn id="0" idx="3"/>
          </p:cNvCxnSpPr>
          <p:nvPr/>
        </p:nvCxnSpPr>
        <p:spPr bwMode="auto">
          <a:xfrm>
            <a:off x="2400300" y="4038600"/>
            <a:ext cx="1714500" cy="955675"/>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97" name="AutoShape 73">
            <a:extLst>
              <a:ext uri="{FF2B5EF4-FFF2-40B4-BE49-F238E27FC236}">
                <a16:creationId xmlns:a16="http://schemas.microsoft.com/office/drawing/2014/main" id="{66D94892-5462-4FFC-ABB3-E382CEF3DE85}"/>
              </a:ext>
            </a:extLst>
          </p:cNvPr>
          <p:cNvCxnSpPr>
            <a:cxnSpLocks noChangeShapeType="1"/>
            <a:stCxn id="0" idx="3"/>
            <a:endCxn id="0" idx="3"/>
          </p:cNvCxnSpPr>
          <p:nvPr/>
        </p:nvCxnSpPr>
        <p:spPr bwMode="auto">
          <a:xfrm flipV="1">
            <a:off x="2209800" y="4994275"/>
            <a:ext cx="1905000" cy="568325"/>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98" name="AutoShape 74">
            <a:extLst>
              <a:ext uri="{FF2B5EF4-FFF2-40B4-BE49-F238E27FC236}">
                <a16:creationId xmlns:a16="http://schemas.microsoft.com/office/drawing/2014/main" id="{25B13333-6A90-40FE-BDBA-08ABC7270E17}"/>
              </a:ext>
            </a:extLst>
          </p:cNvPr>
          <p:cNvCxnSpPr>
            <a:cxnSpLocks noChangeShapeType="1"/>
            <a:stCxn id="0" idx="3"/>
            <a:endCxn id="0" idx="3"/>
          </p:cNvCxnSpPr>
          <p:nvPr/>
        </p:nvCxnSpPr>
        <p:spPr bwMode="auto">
          <a:xfrm>
            <a:off x="2057400" y="4572000"/>
            <a:ext cx="2057400" cy="422275"/>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099" name="AutoShape 75">
            <a:extLst>
              <a:ext uri="{FF2B5EF4-FFF2-40B4-BE49-F238E27FC236}">
                <a16:creationId xmlns:a16="http://schemas.microsoft.com/office/drawing/2014/main" id="{A2EBFFD2-69A0-4027-8CC2-F8F5E3BBAE2C}"/>
              </a:ext>
            </a:extLst>
          </p:cNvPr>
          <p:cNvCxnSpPr>
            <a:cxnSpLocks noChangeShapeType="1"/>
            <a:stCxn id="0" idx="3"/>
            <a:endCxn id="0" idx="0"/>
          </p:cNvCxnSpPr>
          <p:nvPr/>
        </p:nvCxnSpPr>
        <p:spPr bwMode="auto">
          <a:xfrm>
            <a:off x="6019800" y="1981200"/>
            <a:ext cx="2247900" cy="914400"/>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100" name="AutoShape 76">
            <a:extLst>
              <a:ext uri="{FF2B5EF4-FFF2-40B4-BE49-F238E27FC236}">
                <a16:creationId xmlns:a16="http://schemas.microsoft.com/office/drawing/2014/main" id="{5D3F8FC7-B77A-4847-897D-64008D678D7F}"/>
              </a:ext>
            </a:extLst>
          </p:cNvPr>
          <p:cNvCxnSpPr>
            <a:cxnSpLocks noChangeShapeType="1"/>
            <a:endCxn id="0" idx="3"/>
          </p:cNvCxnSpPr>
          <p:nvPr/>
        </p:nvCxnSpPr>
        <p:spPr bwMode="auto">
          <a:xfrm flipH="1" flipV="1">
            <a:off x="6705600" y="838200"/>
            <a:ext cx="1524000" cy="1981200"/>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101" name="AutoShape 77">
            <a:extLst>
              <a:ext uri="{FF2B5EF4-FFF2-40B4-BE49-F238E27FC236}">
                <a16:creationId xmlns:a16="http://schemas.microsoft.com/office/drawing/2014/main" id="{13C7E074-9991-4B2B-8F4F-D1FECAA29DAA}"/>
              </a:ext>
            </a:extLst>
          </p:cNvPr>
          <p:cNvCxnSpPr>
            <a:cxnSpLocks noChangeShapeType="1"/>
            <a:stCxn id="0" idx="3"/>
            <a:endCxn id="0" idx="2"/>
          </p:cNvCxnSpPr>
          <p:nvPr/>
        </p:nvCxnSpPr>
        <p:spPr bwMode="auto">
          <a:xfrm flipH="1" flipV="1">
            <a:off x="6210300" y="1219200"/>
            <a:ext cx="38100" cy="1905000"/>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102" name="AutoShape 78">
            <a:extLst>
              <a:ext uri="{FF2B5EF4-FFF2-40B4-BE49-F238E27FC236}">
                <a16:creationId xmlns:a16="http://schemas.microsoft.com/office/drawing/2014/main" id="{C65C85F0-EB5D-483C-8581-E4E02A2B5585}"/>
              </a:ext>
            </a:extLst>
          </p:cNvPr>
          <p:cNvCxnSpPr>
            <a:cxnSpLocks noChangeShapeType="1"/>
            <a:stCxn id="0" idx="3"/>
            <a:endCxn id="0" idx="2"/>
          </p:cNvCxnSpPr>
          <p:nvPr/>
        </p:nvCxnSpPr>
        <p:spPr bwMode="auto">
          <a:xfrm flipV="1">
            <a:off x="6248400" y="1295400"/>
            <a:ext cx="1943100" cy="1828800"/>
          </a:xfrm>
          <a:prstGeom prst="straightConnector1">
            <a:avLst/>
          </a:prstGeom>
          <a:noFill/>
          <a:ln w="28575">
            <a:solidFill>
              <a:schemeClr val="tx1"/>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103" name="AutoShape 79">
            <a:extLst>
              <a:ext uri="{FF2B5EF4-FFF2-40B4-BE49-F238E27FC236}">
                <a16:creationId xmlns:a16="http://schemas.microsoft.com/office/drawing/2014/main" id="{F13AFDAC-63AA-43C2-849F-D502736B4356}"/>
              </a:ext>
            </a:extLst>
          </p:cNvPr>
          <p:cNvSpPr>
            <a:spLocks noChangeArrowheads="1"/>
          </p:cNvSpPr>
          <p:nvPr/>
        </p:nvSpPr>
        <p:spPr bwMode="blackWhite">
          <a:xfrm flipH="1">
            <a:off x="228600" y="1828800"/>
            <a:ext cx="2057400" cy="914400"/>
          </a:xfrm>
          <a:prstGeom prst="wedgeRoundRectCallout">
            <a:avLst>
              <a:gd name="adj1" fmla="val -20681"/>
              <a:gd name="adj2" fmla="val 111106"/>
              <a:gd name="adj3" fmla="val 16667"/>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solidFill>
                  <a:schemeClr val="bg1"/>
                </a:solidFill>
              </a:rPr>
              <a:t>“I want to access </a:t>
            </a:r>
          </a:p>
          <a:p>
            <a:pPr algn="ctr"/>
            <a:r>
              <a:rPr lang="en-US" altLang="en-US" sz="1800">
                <a:solidFill>
                  <a:schemeClr val="bg1"/>
                </a:solidFill>
              </a:rPr>
              <a:t>some information”</a:t>
            </a:r>
          </a:p>
        </p:txBody>
      </p:sp>
      <p:sp>
        <p:nvSpPr>
          <p:cNvPr id="129104" name="AutoShape 80">
            <a:extLst>
              <a:ext uri="{FF2B5EF4-FFF2-40B4-BE49-F238E27FC236}">
                <a16:creationId xmlns:a16="http://schemas.microsoft.com/office/drawing/2014/main" id="{AB17B8AD-BE68-47EA-8161-82C1B930F2D2}"/>
              </a:ext>
            </a:extLst>
          </p:cNvPr>
          <p:cNvSpPr>
            <a:spLocks noChangeArrowheads="1"/>
          </p:cNvSpPr>
          <p:nvPr/>
        </p:nvSpPr>
        <p:spPr bwMode="blackWhite">
          <a:xfrm flipH="1">
            <a:off x="2971800" y="914400"/>
            <a:ext cx="1295400" cy="1447800"/>
          </a:xfrm>
          <a:prstGeom prst="wedgeRoundRectCallout">
            <a:avLst>
              <a:gd name="adj1" fmla="val -98407"/>
              <a:gd name="adj2" fmla="val 75875"/>
              <a:gd name="adj3" fmla="val 16667"/>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solidFill>
                  <a:schemeClr val="bg1"/>
                </a:solidFill>
              </a:rPr>
              <a:t>“I want to </a:t>
            </a:r>
          </a:p>
          <a:p>
            <a:pPr algn="ctr"/>
            <a:r>
              <a:rPr lang="en-US" altLang="en-US" sz="1800">
                <a:solidFill>
                  <a:schemeClr val="bg1"/>
                </a:solidFill>
              </a:rPr>
              <a:t>collaborate </a:t>
            </a:r>
          </a:p>
          <a:p>
            <a:pPr algn="ctr"/>
            <a:r>
              <a:rPr lang="en-US" altLang="en-US" sz="1800">
                <a:solidFill>
                  <a:schemeClr val="bg1"/>
                </a:solidFill>
              </a:rPr>
              <a:t>with my </a:t>
            </a:r>
          </a:p>
          <a:p>
            <a:pPr algn="ctr"/>
            <a:r>
              <a:rPr lang="en-US" altLang="en-US" sz="1800">
                <a:solidFill>
                  <a:schemeClr val="bg1"/>
                </a:solidFill>
              </a:rPr>
              <a:t>colleague”</a:t>
            </a:r>
          </a:p>
        </p:txBody>
      </p:sp>
      <p:sp>
        <p:nvSpPr>
          <p:cNvPr id="129105" name="Text Box 81">
            <a:extLst>
              <a:ext uri="{FF2B5EF4-FFF2-40B4-BE49-F238E27FC236}">
                <a16:creationId xmlns:a16="http://schemas.microsoft.com/office/drawing/2014/main" id="{D865EFAD-7A57-422E-9F52-BE77B02A4798}"/>
              </a:ext>
            </a:extLst>
          </p:cNvPr>
          <p:cNvSpPr txBox="1">
            <a:spLocks noChangeArrowheads="1"/>
          </p:cNvSpPr>
          <p:nvPr/>
        </p:nvSpPr>
        <p:spPr bwMode="auto">
          <a:xfrm>
            <a:off x="2057400" y="2819400"/>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Client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3CE42808-82D5-4393-B8A1-BDAA15A02396}"/>
              </a:ext>
            </a:extLst>
          </p:cNvPr>
          <p:cNvSpPr>
            <a:spLocks noGrp="1" noChangeArrowheads="1"/>
          </p:cNvSpPr>
          <p:nvPr>
            <p:ph type="title"/>
          </p:nvPr>
        </p:nvSpPr>
        <p:spPr/>
        <p:txBody>
          <a:bodyPr/>
          <a:lstStyle/>
          <a:p>
            <a:r>
              <a:rPr lang="en-US" altLang="en-US" dirty="0"/>
              <a:t>Distinctions</a:t>
            </a:r>
          </a:p>
        </p:txBody>
      </p:sp>
      <p:sp>
        <p:nvSpPr>
          <p:cNvPr id="134147" name="Rectangle 3">
            <a:extLst>
              <a:ext uri="{FF2B5EF4-FFF2-40B4-BE49-F238E27FC236}">
                <a16:creationId xmlns:a16="http://schemas.microsoft.com/office/drawing/2014/main" id="{D3BB1871-CE7B-48F6-AC50-EC4F008C599E}"/>
              </a:ext>
            </a:extLst>
          </p:cNvPr>
          <p:cNvSpPr>
            <a:spLocks noGrp="1" noChangeArrowheads="1"/>
          </p:cNvSpPr>
          <p:nvPr>
            <p:ph type="body" idx="1"/>
          </p:nvPr>
        </p:nvSpPr>
        <p:spPr/>
        <p:txBody>
          <a:bodyPr/>
          <a:lstStyle/>
          <a:p>
            <a:r>
              <a:rPr lang="en-US" altLang="en-US" dirty="0"/>
              <a:t>Client-server</a:t>
            </a:r>
          </a:p>
          <a:p>
            <a:pPr lvl="1"/>
            <a:r>
              <a:rPr lang="en-US" altLang="en-US" dirty="0"/>
              <a:t>Asymmetric relationship</a:t>
            </a:r>
          </a:p>
          <a:p>
            <a:pPr lvl="1"/>
            <a:r>
              <a:rPr lang="en-US" altLang="en-US" dirty="0"/>
              <a:t>Client predominately makes requests, server makes replies</a:t>
            </a:r>
          </a:p>
          <a:p>
            <a:pPr lvl="1"/>
            <a:endParaRPr lang="en-US" altLang="en-US" dirty="0"/>
          </a:p>
          <a:p>
            <a:r>
              <a:rPr lang="en-US" altLang="en-US" dirty="0"/>
              <a:t>Peer-to-peer</a:t>
            </a:r>
          </a:p>
          <a:p>
            <a:pPr lvl="1"/>
            <a:r>
              <a:rPr lang="en-US" altLang="en-US" dirty="0"/>
              <a:t>Symmetric relationship in many cases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D937198-4F41-48AB-9881-13F0450006AE}"/>
              </a:ext>
            </a:extLst>
          </p:cNvPr>
          <p:cNvSpPr>
            <a:spLocks noGrp="1" noChangeArrowheads="1"/>
          </p:cNvSpPr>
          <p:nvPr>
            <p:ph type="title"/>
          </p:nvPr>
        </p:nvSpPr>
        <p:spPr>
          <a:xfrm>
            <a:off x="628650" y="365127"/>
            <a:ext cx="7886700" cy="935168"/>
          </a:xfrm>
        </p:spPr>
        <p:txBody>
          <a:bodyPr/>
          <a:lstStyle/>
          <a:p>
            <a:r>
              <a:rPr lang="en-US" altLang="zh-CN" dirty="0">
                <a:ea typeface="新細明體" panose="02020500000000000000" pitchFamily="18" charset="-120"/>
              </a:rPr>
              <a:t>Peer-to-peer (P2P)</a:t>
            </a:r>
            <a:endParaRPr lang="en-US" altLang="ko-KR" dirty="0">
              <a:ea typeface="굴림" panose="020B0600000101010101" pitchFamily="34" charset="-127"/>
            </a:endParaRPr>
          </a:p>
        </p:txBody>
      </p:sp>
      <p:sp>
        <p:nvSpPr>
          <p:cNvPr id="40964" name="AutoShape 4">
            <a:extLst>
              <a:ext uri="{FF2B5EF4-FFF2-40B4-BE49-F238E27FC236}">
                <a16:creationId xmlns:a16="http://schemas.microsoft.com/office/drawing/2014/main" id="{F740716E-96F7-40CC-9767-3F41CD443916}"/>
              </a:ext>
            </a:extLst>
          </p:cNvPr>
          <p:cNvSpPr>
            <a:spLocks noChangeArrowheads="1"/>
          </p:cNvSpPr>
          <p:nvPr/>
        </p:nvSpPr>
        <p:spPr bwMode="auto">
          <a:xfrm>
            <a:off x="628650" y="1447800"/>
            <a:ext cx="7886700" cy="3384550"/>
          </a:xfrm>
          <a:prstGeom prst="roundRect">
            <a:avLst>
              <a:gd name="adj" fmla="val 16667"/>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spcBef>
                <a:spcPct val="20000"/>
              </a:spcBef>
            </a:pPr>
            <a:r>
              <a:rPr kumimoji="1" lang="en-US" altLang="ko-KR" sz="4000" dirty="0"/>
              <a:t>Use the </a:t>
            </a:r>
            <a:r>
              <a:rPr kumimoji="1" lang="en-US" altLang="ko-KR" sz="4000" dirty="0">
                <a:solidFill>
                  <a:srgbClr val="FF0000"/>
                </a:solidFill>
              </a:rPr>
              <a:t>vast resources</a:t>
            </a:r>
            <a:r>
              <a:rPr kumimoji="1" lang="en-US" altLang="ko-KR" sz="4000" dirty="0"/>
              <a:t> of machines at </a:t>
            </a:r>
            <a:r>
              <a:rPr kumimoji="1" lang="en-US" altLang="ko-KR" sz="4000" dirty="0">
                <a:solidFill>
                  <a:srgbClr val="FF0000"/>
                </a:solidFill>
              </a:rPr>
              <a:t>the edge</a:t>
            </a:r>
            <a:r>
              <a:rPr kumimoji="1" lang="en-US" altLang="ko-KR" sz="4000" dirty="0"/>
              <a:t> </a:t>
            </a:r>
            <a:r>
              <a:rPr kumimoji="1" lang="en-US" altLang="ko-KR" sz="4000" dirty="0">
                <a:solidFill>
                  <a:srgbClr val="FF0000"/>
                </a:solidFill>
              </a:rPr>
              <a:t>of the Internet</a:t>
            </a:r>
            <a:r>
              <a:rPr kumimoji="1" lang="en-US" altLang="ko-KR" sz="4000" dirty="0"/>
              <a:t> to build a network that allows resource sharing </a:t>
            </a:r>
            <a:r>
              <a:rPr kumimoji="1" lang="en-US" altLang="ko-KR" sz="4000" dirty="0">
                <a:solidFill>
                  <a:srgbClr val="FF0000"/>
                </a:solidFill>
              </a:rPr>
              <a:t>with limited central authority</a:t>
            </a:r>
            <a:r>
              <a:rPr kumimoji="1" lang="en-US" altLang="ko-KR" sz="4000" dirty="0"/>
              <a:t>.</a:t>
            </a:r>
            <a:endParaRPr kumimoji="1" lang="ko-KR" altLang="en-US" sz="4000" dirty="0"/>
          </a:p>
        </p:txBody>
      </p:sp>
      <p:sp>
        <p:nvSpPr>
          <p:cNvPr id="40965" name="AutoShape 5">
            <a:extLst>
              <a:ext uri="{FF2B5EF4-FFF2-40B4-BE49-F238E27FC236}">
                <a16:creationId xmlns:a16="http://schemas.microsoft.com/office/drawing/2014/main" id="{14BA90C8-E767-4EBE-8277-60F536676B1A}"/>
              </a:ext>
            </a:extLst>
          </p:cNvPr>
          <p:cNvSpPr>
            <a:spLocks noChangeArrowheads="1"/>
          </p:cNvSpPr>
          <p:nvPr/>
        </p:nvSpPr>
        <p:spPr bwMode="auto">
          <a:xfrm>
            <a:off x="738188" y="5122018"/>
            <a:ext cx="7777162" cy="1295400"/>
          </a:xfrm>
          <a:prstGeom prst="roundRect">
            <a:avLst>
              <a:gd name="adj" fmla="val 28556"/>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spcBef>
                <a:spcPct val="20000"/>
              </a:spcBef>
            </a:pPr>
            <a:r>
              <a:rPr kumimoji="1" lang="en-US" altLang="ko-KR" sz="4000" dirty="0">
                <a:solidFill>
                  <a:schemeClr val="accent2"/>
                </a:solidFill>
              </a:rPr>
              <a:t>More than a system for sharing pirated music/movies</a:t>
            </a:r>
            <a:endParaRPr kumimoji="1" lang="ko-KR" altLang="en-US" sz="4000" dirty="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EB66D38-6ECE-4E94-9FB9-6B3F061C1CB7}"/>
              </a:ext>
            </a:extLst>
          </p:cNvPr>
          <p:cNvSpPr>
            <a:spLocks noGrp="1" noChangeArrowheads="1"/>
          </p:cNvSpPr>
          <p:nvPr>
            <p:ph type="title"/>
          </p:nvPr>
        </p:nvSpPr>
        <p:spPr>
          <a:xfrm>
            <a:off x="504031" y="136524"/>
            <a:ext cx="7886700" cy="881857"/>
          </a:xfrm>
        </p:spPr>
        <p:txBody>
          <a:bodyPr/>
          <a:lstStyle/>
          <a:p>
            <a:pPr eaLnBrk="1" hangingPunct="1"/>
            <a:r>
              <a:rPr lang="en-US" altLang="zh-CN" dirty="0">
                <a:ea typeface="新細明體" panose="02020500000000000000" pitchFamily="18" charset="-120"/>
              </a:rPr>
              <a:t>Peer-to-peer architecture</a:t>
            </a:r>
            <a:endParaRPr lang="en-GB" altLang="zh-TW" dirty="0">
              <a:ea typeface="新細明體" panose="02020500000000000000" pitchFamily="18" charset="-120"/>
            </a:endParaRPr>
          </a:p>
        </p:txBody>
      </p:sp>
      <p:pic>
        <p:nvPicPr>
          <p:cNvPr id="25603" name="Picture 4">
            <a:extLst>
              <a:ext uri="{FF2B5EF4-FFF2-40B4-BE49-F238E27FC236}">
                <a16:creationId xmlns:a16="http://schemas.microsoft.com/office/drawing/2014/main" id="{17648BF8-78E8-4609-BF5B-0BDBAC759DAA}"/>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282700" y="1143000"/>
            <a:ext cx="6329363" cy="5002213"/>
          </a:xfrm>
          <a:noFill/>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E2EB0E4-DC2E-470B-9C1B-6C0D10215179}"/>
              </a:ext>
            </a:extLst>
          </p:cNvPr>
          <p:cNvSpPr>
            <a:spLocks noGrp="1" noChangeArrowheads="1"/>
          </p:cNvSpPr>
          <p:nvPr>
            <p:ph type="title"/>
          </p:nvPr>
        </p:nvSpPr>
        <p:spPr>
          <a:xfrm>
            <a:off x="628650" y="365126"/>
            <a:ext cx="7886700" cy="960335"/>
          </a:xfrm>
        </p:spPr>
        <p:txBody>
          <a:bodyPr/>
          <a:lstStyle/>
          <a:p>
            <a:r>
              <a:rPr lang="en-US" altLang="ko-KR" sz="4000" dirty="0">
                <a:ea typeface="굴림" panose="020B0600000101010101" pitchFamily="34" charset="-127"/>
              </a:rPr>
              <a:t>Characteristics of P2P Systems</a:t>
            </a:r>
          </a:p>
        </p:txBody>
      </p:sp>
      <p:sp>
        <p:nvSpPr>
          <p:cNvPr id="6147" name="Rectangle 3">
            <a:extLst>
              <a:ext uri="{FF2B5EF4-FFF2-40B4-BE49-F238E27FC236}">
                <a16:creationId xmlns:a16="http://schemas.microsoft.com/office/drawing/2014/main" id="{DAEF567A-67FC-46D8-BF7A-CFB3B36E06DC}"/>
              </a:ext>
            </a:extLst>
          </p:cNvPr>
          <p:cNvSpPr>
            <a:spLocks noGrp="1" noChangeArrowheads="1"/>
          </p:cNvSpPr>
          <p:nvPr>
            <p:ph type="body" idx="1"/>
          </p:nvPr>
        </p:nvSpPr>
        <p:spPr>
          <a:xfrm>
            <a:off x="685800" y="1690689"/>
            <a:ext cx="7772400" cy="4159541"/>
          </a:xfrm>
        </p:spPr>
        <p:txBody>
          <a:bodyPr>
            <a:normAutofit lnSpcReduction="10000"/>
          </a:bodyPr>
          <a:lstStyle/>
          <a:p>
            <a:r>
              <a:rPr lang="en-US" altLang="ko-KR" sz="2800" dirty="0">
                <a:ea typeface="굴림" panose="020B0600000101010101" pitchFamily="34" charset="-127"/>
              </a:rPr>
              <a:t>Exploit edge resources.</a:t>
            </a:r>
          </a:p>
          <a:p>
            <a:pPr lvl="1"/>
            <a:r>
              <a:rPr lang="en-US" altLang="ko-KR" sz="2400" dirty="0">
                <a:ea typeface="굴림" panose="020B0600000101010101" pitchFamily="34" charset="-127"/>
              </a:rPr>
              <a:t>Storage, content, CPU, Human presence.</a:t>
            </a:r>
          </a:p>
          <a:p>
            <a:pPr lvl="1"/>
            <a:endParaRPr lang="en-US" altLang="ko-KR" sz="2400" dirty="0">
              <a:ea typeface="굴림" panose="020B0600000101010101" pitchFamily="34" charset="-127"/>
            </a:endParaRPr>
          </a:p>
          <a:p>
            <a:r>
              <a:rPr lang="en-US" altLang="ko-KR" sz="2800" dirty="0">
                <a:ea typeface="굴림" panose="020B0600000101010101" pitchFamily="34" charset="-127"/>
              </a:rPr>
              <a:t>Significant autonomy from any centralized authority.</a:t>
            </a:r>
          </a:p>
          <a:p>
            <a:pPr lvl="1"/>
            <a:r>
              <a:rPr lang="en-US" altLang="ko-KR" sz="2400" dirty="0">
                <a:ea typeface="굴림" panose="020B0600000101010101" pitchFamily="34" charset="-127"/>
              </a:rPr>
              <a:t>Each node can act as a Client as well as a Server.</a:t>
            </a:r>
          </a:p>
          <a:p>
            <a:pPr lvl="1"/>
            <a:endParaRPr lang="en-US" altLang="ko-KR" sz="2400" dirty="0">
              <a:ea typeface="굴림" panose="020B0600000101010101" pitchFamily="34" charset="-127"/>
            </a:endParaRPr>
          </a:p>
          <a:p>
            <a:r>
              <a:rPr lang="en-US" altLang="ko-KR" sz="2800" dirty="0">
                <a:ea typeface="굴림" panose="020B0600000101010101" pitchFamily="34" charset="-127"/>
              </a:rPr>
              <a:t>Resources at edge have </a:t>
            </a:r>
            <a:r>
              <a:rPr lang="en-US" altLang="zh-CN" sz="2800" dirty="0">
                <a:ea typeface="굴림" panose="020B0600000101010101" pitchFamily="34" charset="-127"/>
              </a:rPr>
              <a:t>unstable</a:t>
            </a:r>
            <a:r>
              <a:rPr lang="en-US" altLang="ko-KR" sz="2800" dirty="0">
                <a:ea typeface="굴림" panose="020B0600000101010101" pitchFamily="34" charset="-127"/>
              </a:rPr>
              <a:t> connectivity, constantly being added &amp; removed.</a:t>
            </a:r>
          </a:p>
          <a:p>
            <a:pPr lvl="1"/>
            <a:r>
              <a:rPr lang="en-US" altLang="ko-KR" sz="2400" dirty="0">
                <a:ea typeface="굴림" panose="020B0600000101010101" pitchFamily="34" charset="-127"/>
              </a:rPr>
              <a:t>Infrastructure is untrusted and the components are unreliable.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88CFCAB-CB19-4A23-A16E-EACE92FE28E8}"/>
              </a:ext>
            </a:extLst>
          </p:cNvPr>
          <p:cNvSpPr>
            <a:spLocks noGrp="1" noChangeArrowheads="1"/>
          </p:cNvSpPr>
          <p:nvPr>
            <p:ph type="title"/>
          </p:nvPr>
        </p:nvSpPr>
        <p:spPr>
          <a:xfrm>
            <a:off x="589720" y="163513"/>
            <a:ext cx="7772400" cy="936625"/>
          </a:xfrm>
        </p:spPr>
        <p:txBody>
          <a:bodyPr/>
          <a:lstStyle/>
          <a:p>
            <a:r>
              <a:rPr lang="en-US" altLang="ko-KR" dirty="0">
                <a:ea typeface="굴림" panose="020B0600000101010101" pitchFamily="34" charset="-127"/>
              </a:rPr>
              <a:t>Overlay Network</a:t>
            </a:r>
          </a:p>
        </p:txBody>
      </p:sp>
      <p:pic>
        <p:nvPicPr>
          <p:cNvPr id="7172" name="Picture 4">
            <a:extLst>
              <a:ext uri="{FF2B5EF4-FFF2-40B4-BE49-F238E27FC236}">
                <a16:creationId xmlns:a16="http://schemas.microsoft.com/office/drawing/2014/main" id="{ADC7E50E-2C01-4BB8-807B-C446A776604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191777" y="1017588"/>
            <a:ext cx="6913562" cy="4643437"/>
          </a:xfrm>
          <a:noFill/>
          <a:ln/>
        </p:spPr>
      </p:pic>
      <p:sp>
        <p:nvSpPr>
          <p:cNvPr id="7175" name="AutoShape 7">
            <a:extLst>
              <a:ext uri="{FF2B5EF4-FFF2-40B4-BE49-F238E27FC236}">
                <a16:creationId xmlns:a16="http://schemas.microsoft.com/office/drawing/2014/main" id="{BEF90033-D12C-413B-90E6-18363840433A}"/>
              </a:ext>
            </a:extLst>
          </p:cNvPr>
          <p:cNvSpPr>
            <a:spLocks noChangeArrowheads="1"/>
          </p:cNvSpPr>
          <p:nvPr/>
        </p:nvSpPr>
        <p:spPr bwMode="auto">
          <a:xfrm>
            <a:off x="683419" y="5805312"/>
            <a:ext cx="7777162" cy="936625"/>
          </a:xfrm>
          <a:prstGeom prst="roundRect">
            <a:avLst>
              <a:gd name="adj" fmla="val 16667"/>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spcBef>
                <a:spcPct val="20000"/>
              </a:spcBef>
            </a:pPr>
            <a:r>
              <a:rPr lang="en-US" altLang="ko-KR" sz="2400" dirty="0">
                <a:latin typeface="굴림" panose="020B0600000101010101" pitchFamily="34" charset="-127"/>
              </a:rPr>
              <a:t>A P2P network is an </a:t>
            </a:r>
            <a:r>
              <a:rPr lang="en-US" altLang="ko-KR" sz="2400" dirty="0">
                <a:solidFill>
                  <a:srgbClr val="FF0000"/>
                </a:solidFill>
                <a:latin typeface="굴림" panose="020B0600000101010101" pitchFamily="34" charset="-127"/>
              </a:rPr>
              <a:t>overlay network</a:t>
            </a:r>
            <a:r>
              <a:rPr lang="en-US" altLang="ko-KR" sz="2400" dirty="0">
                <a:latin typeface="굴림" panose="020B0600000101010101" pitchFamily="34" charset="-127"/>
              </a:rPr>
              <a:t>. Each link between peers consists of one or more IP links.</a:t>
            </a:r>
            <a:endParaRPr kumimoji="1" lang="ko-KR" altLang="en-US" sz="2400" dirty="0">
              <a:latin typeface="굴림" panose="020B0600000101010101" pitchFamily="34"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dirty="0"/>
              <a:t>Category of P2P Systems</a:t>
            </a:r>
          </a:p>
        </p:txBody>
      </p:sp>
      <p:sp>
        <p:nvSpPr>
          <p:cNvPr id="35843" name="Rectangle 3"/>
          <p:cNvSpPr>
            <a:spLocks noGrp="1" noChangeArrowheads="1"/>
          </p:cNvSpPr>
          <p:nvPr>
            <p:ph type="body" idx="1"/>
          </p:nvPr>
        </p:nvSpPr>
        <p:spPr/>
        <p:txBody>
          <a:bodyPr/>
          <a:lstStyle/>
          <a:p>
            <a:pPr eaLnBrk="1" hangingPunct="1">
              <a:lnSpc>
                <a:spcPct val="90000"/>
              </a:lnSpc>
            </a:pPr>
            <a:r>
              <a:rPr lang="en-US" altLang="en-US" dirty="0"/>
              <a:t>Unstructured</a:t>
            </a:r>
          </a:p>
          <a:p>
            <a:pPr lvl="1" eaLnBrk="1" hangingPunct="1">
              <a:lnSpc>
                <a:spcPct val="90000"/>
              </a:lnSpc>
            </a:pPr>
            <a:r>
              <a:rPr lang="en-US" altLang="en-US" dirty="0"/>
              <a:t>No restriction on overlay structures and data placement</a:t>
            </a:r>
          </a:p>
          <a:p>
            <a:pPr lvl="1" eaLnBrk="1" hangingPunct="1">
              <a:lnSpc>
                <a:spcPct val="90000"/>
              </a:lnSpc>
            </a:pPr>
            <a:r>
              <a:rPr lang="en-US" altLang="en-US" dirty="0"/>
              <a:t>Napster, Gnutella, </a:t>
            </a:r>
            <a:r>
              <a:rPr lang="en-US" altLang="en-US" dirty="0" err="1"/>
              <a:t>KazaA</a:t>
            </a:r>
            <a:r>
              <a:rPr lang="en-US" altLang="en-US" dirty="0"/>
              <a:t>, </a:t>
            </a:r>
            <a:r>
              <a:rPr lang="en-US" altLang="en-US" dirty="0" err="1"/>
              <a:t>BitTorrent</a:t>
            </a:r>
            <a:endParaRPr lang="en-US" altLang="en-US" dirty="0"/>
          </a:p>
          <a:p>
            <a:pPr lvl="1" eaLnBrk="1" hangingPunct="1">
              <a:lnSpc>
                <a:spcPct val="90000"/>
              </a:lnSpc>
            </a:pPr>
            <a:endParaRPr lang="en-US" altLang="en-US" dirty="0"/>
          </a:p>
          <a:p>
            <a:pPr eaLnBrk="1" hangingPunct="1">
              <a:lnSpc>
                <a:spcPct val="90000"/>
              </a:lnSpc>
            </a:pPr>
            <a:r>
              <a:rPr lang="en-US" altLang="en-US" dirty="0"/>
              <a:t>Structured</a:t>
            </a:r>
          </a:p>
          <a:p>
            <a:pPr lvl="1" eaLnBrk="1" hangingPunct="1">
              <a:lnSpc>
                <a:spcPct val="90000"/>
              </a:lnSpc>
            </a:pPr>
            <a:r>
              <a:rPr lang="en-US" altLang="en-US" dirty="0"/>
              <a:t>Distributed hash tables (DHTs)</a:t>
            </a:r>
          </a:p>
          <a:p>
            <a:pPr lvl="1" eaLnBrk="1" hangingPunct="1">
              <a:lnSpc>
                <a:spcPct val="90000"/>
              </a:lnSpc>
            </a:pPr>
            <a:r>
              <a:rPr lang="en-US" altLang="en-US" dirty="0"/>
              <a:t>Place restrictions on overlay structures and data placement</a:t>
            </a:r>
          </a:p>
          <a:p>
            <a:pPr lvl="1" eaLnBrk="1" hangingPunct="1">
              <a:lnSpc>
                <a:spcPct val="90000"/>
              </a:lnSpc>
            </a:pPr>
            <a:r>
              <a:rPr lang="en-US" altLang="en-US" dirty="0"/>
              <a:t>Chord, and others</a:t>
            </a:r>
          </a:p>
        </p:txBody>
      </p:sp>
    </p:spTree>
    <p:extLst>
      <p:ext uri="{BB962C8B-B14F-4D97-AF65-F5344CB8AC3E}">
        <p14:creationId xmlns:p14="http://schemas.microsoft.com/office/powerpoint/2010/main" val="240738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515938" y="2017713"/>
            <a:ext cx="7713662" cy="4114800"/>
          </a:xfrm>
        </p:spPr>
        <p:txBody>
          <a:bodyPr>
            <a:normAutofit/>
          </a:bodyPr>
          <a:lstStyle/>
          <a:p>
            <a:pPr marL="0" indent="0" algn="ctr">
              <a:buNone/>
            </a:pPr>
            <a:endParaRPr lang="en-US" sz="4800" b="1" dirty="0">
              <a:solidFill>
                <a:srgbClr val="FF0000"/>
              </a:solidFill>
            </a:endParaRPr>
          </a:p>
          <a:p>
            <a:pPr marL="0" indent="0" algn="ctr">
              <a:buNone/>
            </a:pPr>
            <a:r>
              <a:rPr lang="en-US" sz="6000" b="1" dirty="0">
                <a:solidFill>
                  <a:srgbClr val="FF0000"/>
                </a:solidFill>
              </a:rPr>
              <a:t>Unstructured P2P</a:t>
            </a:r>
          </a:p>
        </p:txBody>
      </p:sp>
    </p:spTree>
    <p:extLst>
      <p:ext uri="{BB962C8B-B14F-4D97-AF65-F5344CB8AC3E}">
        <p14:creationId xmlns:p14="http://schemas.microsoft.com/office/powerpoint/2010/main" val="1972083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A47344F-7D7F-411A-AAFA-7B4ACE6A18EA}"/>
              </a:ext>
            </a:extLst>
          </p:cNvPr>
          <p:cNvSpPr>
            <a:spLocks noGrp="1" noChangeArrowheads="1"/>
          </p:cNvSpPr>
          <p:nvPr>
            <p:ph type="title"/>
          </p:nvPr>
        </p:nvSpPr>
        <p:spPr/>
        <p:txBody>
          <a:bodyPr/>
          <a:lstStyle/>
          <a:p>
            <a:r>
              <a:rPr lang="en-US" altLang="ko-KR">
                <a:ea typeface="굴림" panose="020B0600000101010101" pitchFamily="34" charset="-127"/>
              </a:rPr>
              <a:t>Lookup Issue</a:t>
            </a:r>
          </a:p>
        </p:txBody>
      </p:sp>
      <p:sp>
        <p:nvSpPr>
          <p:cNvPr id="47107" name="Rectangle 3">
            <a:extLst>
              <a:ext uri="{FF2B5EF4-FFF2-40B4-BE49-F238E27FC236}">
                <a16:creationId xmlns:a16="http://schemas.microsoft.com/office/drawing/2014/main" id="{68980923-44FC-46F9-BC70-E0FBC95A4EDE}"/>
              </a:ext>
            </a:extLst>
          </p:cNvPr>
          <p:cNvSpPr>
            <a:spLocks noGrp="1" noChangeArrowheads="1"/>
          </p:cNvSpPr>
          <p:nvPr>
            <p:ph type="body" idx="1"/>
          </p:nvPr>
        </p:nvSpPr>
        <p:spPr/>
        <p:txBody>
          <a:bodyPr/>
          <a:lstStyle/>
          <a:p>
            <a:r>
              <a:rPr lang="en-US" altLang="ko-KR" sz="2800" dirty="0">
                <a:ea typeface="굴림" panose="020B0600000101010101" pitchFamily="34" charset="-127"/>
              </a:rPr>
              <a:t>How do you locate data/files/objects in a large P2P system built around a dynamic set of nodes in a scalable manner?</a:t>
            </a:r>
          </a:p>
          <a:p>
            <a:endParaRPr lang="en-US" altLang="ko-KR" sz="2800" dirty="0">
              <a:ea typeface="굴림" panose="020B0600000101010101" pitchFamily="34" charset="-127"/>
            </a:endParaRPr>
          </a:p>
          <a:p>
            <a:r>
              <a:rPr lang="en-US" altLang="ko-KR" sz="2800" dirty="0">
                <a:ea typeface="굴림" panose="020B0600000101010101" pitchFamily="34" charset="-127"/>
              </a:rPr>
              <a:t>Efficient routing even if the structure of the network is unpredictable.</a:t>
            </a:r>
          </a:p>
          <a:p>
            <a:pPr lvl="1"/>
            <a:r>
              <a:rPr lang="en-US" altLang="ko-KR" sz="2400" dirty="0">
                <a:ea typeface="굴림" panose="020B0600000101010101" pitchFamily="34" charset="-127"/>
              </a:rPr>
              <a:t>Napster, Gnutella, </a:t>
            </a:r>
            <a:r>
              <a:rPr lang="en-US" altLang="ko-KR" sz="2400" dirty="0" err="1">
                <a:ea typeface="굴림" panose="020B0600000101010101" pitchFamily="34" charset="-127"/>
              </a:rPr>
              <a:t>Ka</a:t>
            </a:r>
            <a:r>
              <a:rPr lang="en-US" altLang="zh-CN" sz="2400" dirty="0" err="1">
                <a:ea typeface="굴림" panose="020B0600000101010101" pitchFamily="34" charset="-127"/>
              </a:rPr>
              <a:t>Z</a:t>
            </a:r>
            <a:r>
              <a:rPr lang="en-US" altLang="ko-KR" sz="2400" dirty="0" err="1">
                <a:ea typeface="굴림" panose="020B0600000101010101" pitchFamily="34" charset="-127"/>
              </a:rPr>
              <a:t>aA</a:t>
            </a:r>
            <a:r>
              <a:rPr lang="en-US" altLang="ko-KR" sz="2400" dirty="0">
                <a:ea typeface="굴림" panose="020B0600000101010101" pitchFamily="34" charset="-127"/>
              </a:rPr>
              <a:t>, BitTorrent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03225" y="190500"/>
            <a:ext cx="3200400" cy="1143000"/>
          </a:xfrm>
        </p:spPr>
        <p:txBody>
          <a:bodyPr/>
          <a:lstStyle/>
          <a:p>
            <a:pPr eaLnBrk="1" hangingPunct="1"/>
            <a:r>
              <a:rPr lang="en-US" altLang="en-US" dirty="0">
                <a:solidFill>
                  <a:schemeClr val="tx1"/>
                </a:solidFill>
              </a:rPr>
              <a:t>Napster</a:t>
            </a:r>
          </a:p>
        </p:txBody>
      </p:sp>
      <p:sp>
        <p:nvSpPr>
          <p:cNvPr id="37891" name="Rectangle 4"/>
          <p:cNvSpPr>
            <a:spLocks noChangeArrowheads="1"/>
          </p:cNvSpPr>
          <p:nvPr/>
        </p:nvSpPr>
        <p:spPr bwMode="auto">
          <a:xfrm>
            <a:off x="4464050" y="190500"/>
            <a:ext cx="441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2000" dirty="0">
                <a:latin typeface="+mn-lt"/>
              </a:rPr>
              <a:t>Share Music files, MP3 data</a:t>
            </a:r>
          </a:p>
          <a:p>
            <a:pPr eaLnBrk="1" hangingPunct="1"/>
            <a:r>
              <a:rPr lang="en-US" altLang="en-US" sz="2000" dirty="0">
                <a:latin typeface="+mn-lt"/>
              </a:rPr>
              <a:t>Nodes register their contents (list of files) and IPs with server</a:t>
            </a:r>
          </a:p>
          <a:p>
            <a:pPr eaLnBrk="1" hangingPunct="1"/>
            <a:r>
              <a:rPr lang="en-US" altLang="en-US" sz="2000" b="1" dirty="0">
                <a:solidFill>
                  <a:srgbClr val="FF0000"/>
                </a:solidFill>
                <a:latin typeface="+mn-lt"/>
              </a:rPr>
              <a:t>Centralized server for searches</a:t>
            </a:r>
          </a:p>
          <a:p>
            <a:pPr lvl="1" eaLnBrk="1" hangingPunct="1"/>
            <a:r>
              <a:rPr lang="en-US" altLang="en-US" sz="1800" dirty="0">
                <a:latin typeface="+mn-lt"/>
              </a:rPr>
              <a:t>The client sends queries to the centralized server for files of interest</a:t>
            </a:r>
          </a:p>
          <a:p>
            <a:pPr lvl="1" eaLnBrk="1" hangingPunct="1"/>
            <a:r>
              <a:rPr lang="en-US" altLang="en-US" sz="1800" dirty="0">
                <a:latin typeface="+mn-lt"/>
              </a:rPr>
              <a:t>Keyword search (</a:t>
            </a:r>
            <a:r>
              <a:rPr lang="en-US" altLang="en-US" sz="2000" dirty="0">
                <a:latin typeface="+mn-lt"/>
              </a:rPr>
              <a:t>artist, song, album, bitrate, etc.</a:t>
            </a:r>
            <a:r>
              <a:rPr lang="en-US" altLang="en-US" sz="1800" dirty="0">
                <a:latin typeface="+mn-lt"/>
              </a:rPr>
              <a:t>)</a:t>
            </a:r>
          </a:p>
          <a:p>
            <a:pPr eaLnBrk="1" hangingPunct="1"/>
            <a:r>
              <a:rPr lang="en-US" altLang="en-US" sz="2000" dirty="0">
                <a:latin typeface="+mn-lt"/>
              </a:rPr>
              <a:t>Napster server replies with IP address of users with matching files</a:t>
            </a:r>
          </a:p>
          <a:p>
            <a:pPr eaLnBrk="1" hangingPunct="1"/>
            <a:r>
              <a:rPr lang="en-US" altLang="en-US" sz="2000" b="1" dirty="0">
                <a:solidFill>
                  <a:srgbClr val="002060"/>
                </a:solidFill>
                <a:latin typeface="+mn-lt"/>
              </a:rPr>
              <a:t>File download done on a peer-to-peer basis</a:t>
            </a:r>
          </a:p>
        </p:txBody>
      </p:sp>
      <p:sp>
        <p:nvSpPr>
          <p:cNvPr id="37892" name="Text Box 5"/>
          <p:cNvSpPr txBox="1">
            <a:spLocks noChangeArrowheads="1"/>
          </p:cNvSpPr>
          <p:nvPr/>
        </p:nvSpPr>
        <p:spPr bwMode="auto">
          <a:xfrm>
            <a:off x="381000" y="1478614"/>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600" b="1"/>
              <a:t>Client</a:t>
            </a:r>
          </a:p>
        </p:txBody>
      </p:sp>
      <p:sp>
        <p:nvSpPr>
          <p:cNvPr id="37893" name="computr2"/>
          <p:cNvSpPr>
            <a:spLocks noEditPoints="1" noChangeArrowheads="1"/>
          </p:cNvSpPr>
          <p:nvPr/>
        </p:nvSpPr>
        <p:spPr bwMode="auto">
          <a:xfrm>
            <a:off x="533400" y="1815164"/>
            <a:ext cx="609600" cy="381000"/>
          </a:xfrm>
          <a:custGeom>
            <a:avLst/>
            <a:gdLst>
              <a:gd name="T0" fmla="*/ 8602133 w 21600"/>
              <a:gd name="T1" fmla="*/ 0 h 21600"/>
              <a:gd name="T2" fmla="*/ 8602133 w 21600"/>
              <a:gd name="T3" fmla="*/ 6720417 h 21600"/>
              <a:gd name="T4" fmla="*/ 13800046 w 21600"/>
              <a:gd name="T5" fmla="*/ 0 h 21600"/>
              <a:gd name="T6" fmla="*/ 3404221 w 21600"/>
              <a:gd name="T7" fmla="*/ 0 h 21600"/>
              <a:gd name="T8" fmla="*/ 3404221 w 21600"/>
              <a:gd name="T9" fmla="*/ 3618759 h 21600"/>
              <a:gd name="T10" fmla="*/ 13800046 w 21600"/>
              <a:gd name="T11" fmla="*/ 3618759 h 21600"/>
              <a:gd name="T12" fmla="*/ 3404221 w 21600"/>
              <a:gd name="T13" fmla="*/ 1809538 h 21600"/>
              <a:gd name="T14" fmla="*/ 13800046 w 21600"/>
              <a:gd name="T15" fmla="*/ 1809538 h 21600"/>
              <a:gd name="T16" fmla="*/ 14996386 w 21600"/>
              <a:gd name="T17" fmla="*/ 4911196 h 21600"/>
              <a:gd name="T18" fmla="*/ 2207881 w 21600"/>
              <a:gd name="T19" fmla="*/ 491119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37894" name="computr2"/>
          <p:cNvSpPr>
            <a:spLocks noEditPoints="1" noChangeArrowheads="1"/>
          </p:cNvSpPr>
          <p:nvPr/>
        </p:nvSpPr>
        <p:spPr bwMode="auto">
          <a:xfrm>
            <a:off x="3657600" y="1815164"/>
            <a:ext cx="609600" cy="304800"/>
          </a:xfrm>
          <a:custGeom>
            <a:avLst/>
            <a:gdLst>
              <a:gd name="T0" fmla="*/ 8602133 w 21600"/>
              <a:gd name="T1" fmla="*/ 0 h 21600"/>
              <a:gd name="T2" fmla="*/ 8602133 w 21600"/>
              <a:gd name="T3" fmla="*/ 4301067 h 21600"/>
              <a:gd name="T4" fmla="*/ 13800046 w 21600"/>
              <a:gd name="T5" fmla="*/ 0 h 21600"/>
              <a:gd name="T6" fmla="*/ 3404221 w 21600"/>
              <a:gd name="T7" fmla="*/ 0 h 21600"/>
              <a:gd name="T8" fmla="*/ 3404221 w 21600"/>
              <a:gd name="T9" fmla="*/ 2316000 h 21600"/>
              <a:gd name="T10" fmla="*/ 13800046 w 21600"/>
              <a:gd name="T11" fmla="*/ 2316000 h 21600"/>
              <a:gd name="T12" fmla="*/ 3404221 w 21600"/>
              <a:gd name="T13" fmla="*/ 1158099 h 21600"/>
              <a:gd name="T14" fmla="*/ 13800046 w 21600"/>
              <a:gd name="T15" fmla="*/ 1158099 h 21600"/>
              <a:gd name="T16" fmla="*/ 14996386 w 21600"/>
              <a:gd name="T17" fmla="*/ 3143165 h 21600"/>
              <a:gd name="T18" fmla="*/ 2207881 w 21600"/>
              <a:gd name="T19" fmla="*/ 314316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37895" name="computr2"/>
          <p:cNvSpPr>
            <a:spLocks noEditPoints="1" noChangeArrowheads="1"/>
          </p:cNvSpPr>
          <p:nvPr/>
        </p:nvSpPr>
        <p:spPr bwMode="auto">
          <a:xfrm>
            <a:off x="533400" y="2653364"/>
            <a:ext cx="609600" cy="371475"/>
          </a:xfrm>
          <a:custGeom>
            <a:avLst/>
            <a:gdLst>
              <a:gd name="T0" fmla="*/ 8602133 w 21600"/>
              <a:gd name="T1" fmla="*/ 0 h 21600"/>
              <a:gd name="T2" fmla="*/ 8602133 w 21600"/>
              <a:gd name="T3" fmla="*/ 6388596 h 21600"/>
              <a:gd name="T4" fmla="*/ 13800046 w 21600"/>
              <a:gd name="T5" fmla="*/ 0 h 21600"/>
              <a:gd name="T6" fmla="*/ 3404221 w 21600"/>
              <a:gd name="T7" fmla="*/ 0 h 21600"/>
              <a:gd name="T8" fmla="*/ 3404221 w 21600"/>
              <a:gd name="T9" fmla="*/ 3440082 h 21600"/>
              <a:gd name="T10" fmla="*/ 13800046 w 21600"/>
              <a:gd name="T11" fmla="*/ 3440082 h 21600"/>
              <a:gd name="T12" fmla="*/ 3404221 w 21600"/>
              <a:gd name="T13" fmla="*/ 1720187 h 21600"/>
              <a:gd name="T14" fmla="*/ 13800046 w 21600"/>
              <a:gd name="T15" fmla="*/ 1720187 h 21600"/>
              <a:gd name="T16" fmla="*/ 14996386 w 21600"/>
              <a:gd name="T17" fmla="*/ 4668701 h 21600"/>
              <a:gd name="T18" fmla="*/ 2207881 w 21600"/>
              <a:gd name="T19" fmla="*/ 466870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37896" name="computr2"/>
          <p:cNvSpPr>
            <a:spLocks noEditPoints="1" noChangeArrowheads="1"/>
          </p:cNvSpPr>
          <p:nvPr/>
        </p:nvSpPr>
        <p:spPr bwMode="auto">
          <a:xfrm>
            <a:off x="533400" y="4101164"/>
            <a:ext cx="609600" cy="371475"/>
          </a:xfrm>
          <a:custGeom>
            <a:avLst/>
            <a:gdLst>
              <a:gd name="T0" fmla="*/ 8602133 w 21600"/>
              <a:gd name="T1" fmla="*/ 0 h 21600"/>
              <a:gd name="T2" fmla="*/ 8602133 w 21600"/>
              <a:gd name="T3" fmla="*/ 6388596 h 21600"/>
              <a:gd name="T4" fmla="*/ 13800046 w 21600"/>
              <a:gd name="T5" fmla="*/ 0 h 21600"/>
              <a:gd name="T6" fmla="*/ 3404221 w 21600"/>
              <a:gd name="T7" fmla="*/ 0 h 21600"/>
              <a:gd name="T8" fmla="*/ 3404221 w 21600"/>
              <a:gd name="T9" fmla="*/ 3440082 h 21600"/>
              <a:gd name="T10" fmla="*/ 13800046 w 21600"/>
              <a:gd name="T11" fmla="*/ 3440082 h 21600"/>
              <a:gd name="T12" fmla="*/ 3404221 w 21600"/>
              <a:gd name="T13" fmla="*/ 1720187 h 21600"/>
              <a:gd name="T14" fmla="*/ 13800046 w 21600"/>
              <a:gd name="T15" fmla="*/ 1720187 h 21600"/>
              <a:gd name="T16" fmla="*/ 14996386 w 21600"/>
              <a:gd name="T17" fmla="*/ 4668701 h 21600"/>
              <a:gd name="T18" fmla="*/ 2207881 w 21600"/>
              <a:gd name="T19" fmla="*/ 4668701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37897" name="computr2"/>
          <p:cNvSpPr>
            <a:spLocks noEditPoints="1" noChangeArrowheads="1"/>
          </p:cNvSpPr>
          <p:nvPr/>
        </p:nvSpPr>
        <p:spPr bwMode="auto">
          <a:xfrm>
            <a:off x="2057400" y="2653364"/>
            <a:ext cx="609600" cy="447675"/>
          </a:xfrm>
          <a:custGeom>
            <a:avLst/>
            <a:gdLst>
              <a:gd name="T0" fmla="*/ 8602133 w 21600"/>
              <a:gd name="T1" fmla="*/ 0 h 21600"/>
              <a:gd name="T2" fmla="*/ 8602133 w 21600"/>
              <a:gd name="T3" fmla="*/ 9278375 h 21600"/>
              <a:gd name="T4" fmla="*/ 13800046 w 21600"/>
              <a:gd name="T5" fmla="*/ 0 h 21600"/>
              <a:gd name="T6" fmla="*/ 3404221 w 21600"/>
              <a:gd name="T7" fmla="*/ 0 h 21600"/>
              <a:gd name="T8" fmla="*/ 3404221 w 21600"/>
              <a:gd name="T9" fmla="*/ 4996157 h 21600"/>
              <a:gd name="T10" fmla="*/ 13800046 w 21600"/>
              <a:gd name="T11" fmla="*/ 4996157 h 21600"/>
              <a:gd name="T12" fmla="*/ 3404221 w 21600"/>
              <a:gd name="T13" fmla="*/ 2498296 h 21600"/>
              <a:gd name="T14" fmla="*/ 13800046 w 21600"/>
              <a:gd name="T15" fmla="*/ 2498296 h 21600"/>
              <a:gd name="T16" fmla="*/ 14996386 w 21600"/>
              <a:gd name="T17" fmla="*/ 6780515 h 21600"/>
              <a:gd name="T18" fmla="*/ 2207881 w 21600"/>
              <a:gd name="T19" fmla="*/ 678051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99CC"/>
          </a:solidFill>
          <a:ln w="9525">
            <a:solidFill>
              <a:srgbClr val="000000"/>
            </a:solidFill>
            <a:miter lim="800000"/>
            <a:headEnd/>
            <a:tailEnd/>
          </a:ln>
        </p:spPr>
        <p:txBody>
          <a:bodyPr/>
          <a:lstStyle/>
          <a:p>
            <a:endParaRPr lang="en-US"/>
          </a:p>
        </p:txBody>
      </p:sp>
      <p:sp>
        <p:nvSpPr>
          <p:cNvPr id="37898" name="Text Box 11"/>
          <p:cNvSpPr txBox="1">
            <a:spLocks noChangeArrowheads="1"/>
          </p:cNvSpPr>
          <p:nvPr/>
        </p:nvSpPr>
        <p:spPr bwMode="auto">
          <a:xfrm>
            <a:off x="3276600" y="2119964"/>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37899" name="Text Box 12"/>
          <p:cNvSpPr txBox="1">
            <a:spLocks noChangeArrowheads="1"/>
          </p:cNvSpPr>
          <p:nvPr/>
        </p:nvSpPr>
        <p:spPr bwMode="auto">
          <a:xfrm>
            <a:off x="2003425" y="2316814"/>
            <a:ext cx="815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600" b="1"/>
              <a:t>Server</a:t>
            </a:r>
          </a:p>
        </p:txBody>
      </p:sp>
      <p:sp>
        <p:nvSpPr>
          <p:cNvPr id="37900" name="Line 13"/>
          <p:cNvSpPr>
            <a:spLocks noChangeShapeType="1"/>
          </p:cNvSpPr>
          <p:nvPr/>
        </p:nvSpPr>
        <p:spPr bwMode="auto">
          <a:xfrm>
            <a:off x="838200" y="3720164"/>
            <a:ext cx="0" cy="30480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7901" name="computr2"/>
          <p:cNvSpPr>
            <a:spLocks noEditPoints="1" noChangeArrowheads="1"/>
          </p:cNvSpPr>
          <p:nvPr/>
        </p:nvSpPr>
        <p:spPr bwMode="auto">
          <a:xfrm>
            <a:off x="3733800" y="4101164"/>
            <a:ext cx="609600" cy="381000"/>
          </a:xfrm>
          <a:custGeom>
            <a:avLst/>
            <a:gdLst>
              <a:gd name="T0" fmla="*/ 8602133 w 21600"/>
              <a:gd name="T1" fmla="*/ 0 h 21600"/>
              <a:gd name="T2" fmla="*/ 8602133 w 21600"/>
              <a:gd name="T3" fmla="*/ 6720417 h 21600"/>
              <a:gd name="T4" fmla="*/ 13800046 w 21600"/>
              <a:gd name="T5" fmla="*/ 0 h 21600"/>
              <a:gd name="T6" fmla="*/ 3404221 w 21600"/>
              <a:gd name="T7" fmla="*/ 0 h 21600"/>
              <a:gd name="T8" fmla="*/ 3404221 w 21600"/>
              <a:gd name="T9" fmla="*/ 3618759 h 21600"/>
              <a:gd name="T10" fmla="*/ 13800046 w 21600"/>
              <a:gd name="T11" fmla="*/ 3618759 h 21600"/>
              <a:gd name="T12" fmla="*/ 3404221 w 21600"/>
              <a:gd name="T13" fmla="*/ 1809538 h 21600"/>
              <a:gd name="T14" fmla="*/ 13800046 w 21600"/>
              <a:gd name="T15" fmla="*/ 1809538 h 21600"/>
              <a:gd name="T16" fmla="*/ 14996386 w 21600"/>
              <a:gd name="T17" fmla="*/ 4911196 h 21600"/>
              <a:gd name="T18" fmla="*/ 2207881 w 21600"/>
              <a:gd name="T19" fmla="*/ 491119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en-US"/>
          </a:p>
        </p:txBody>
      </p:sp>
      <p:sp>
        <p:nvSpPr>
          <p:cNvPr id="37902" name="Line 15"/>
          <p:cNvSpPr>
            <a:spLocks noChangeShapeType="1"/>
          </p:cNvSpPr>
          <p:nvPr/>
        </p:nvSpPr>
        <p:spPr bwMode="auto">
          <a:xfrm flipV="1">
            <a:off x="2667000" y="2119964"/>
            <a:ext cx="914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3" name="Line 16"/>
          <p:cNvSpPr>
            <a:spLocks noChangeShapeType="1"/>
          </p:cNvSpPr>
          <p:nvPr/>
        </p:nvSpPr>
        <p:spPr bwMode="auto">
          <a:xfrm flipH="1">
            <a:off x="2667000" y="2196164"/>
            <a:ext cx="990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4" name="Line 17"/>
          <p:cNvSpPr>
            <a:spLocks noChangeShapeType="1"/>
          </p:cNvSpPr>
          <p:nvPr/>
        </p:nvSpPr>
        <p:spPr bwMode="auto">
          <a:xfrm>
            <a:off x="2590800" y="3110564"/>
            <a:ext cx="114300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5" name="Line 18"/>
          <p:cNvSpPr>
            <a:spLocks noChangeShapeType="1"/>
          </p:cNvSpPr>
          <p:nvPr/>
        </p:nvSpPr>
        <p:spPr bwMode="auto">
          <a:xfrm flipH="1" flipV="1">
            <a:off x="2667000" y="3034364"/>
            <a:ext cx="121920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6" name="Line 19"/>
          <p:cNvSpPr>
            <a:spLocks noChangeShapeType="1"/>
          </p:cNvSpPr>
          <p:nvPr/>
        </p:nvSpPr>
        <p:spPr bwMode="auto">
          <a:xfrm flipH="1">
            <a:off x="990600" y="3186764"/>
            <a:ext cx="10668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7" name="Line 20"/>
          <p:cNvSpPr>
            <a:spLocks noChangeShapeType="1"/>
          </p:cNvSpPr>
          <p:nvPr/>
        </p:nvSpPr>
        <p:spPr bwMode="auto">
          <a:xfrm flipV="1">
            <a:off x="1143000" y="3186764"/>
            <a:ext cx="9906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8" name="Line 21"/>
          <p:cNvSpPr>
            <a:spLocks noChangeShapeType="1"/>
          </p:cNvSpPr>
          <p:nvPr/>
        </p:nvSpPr>
        <p:spPr bwMode="auto">
          <a:xfrm>
            <a:off x="1143000" y="4405964"/>
            <a:ext cx="2514600" cy="0"/>
          </a:xfrm>
          <a:prstGeom prst="line">
            <a:avLst/>
          </a:prstGeom>
          <a:noFill/>
          <a:ln w="28575">
            <a:solidFill>
              <a:srgbClr val="FF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9" name="Text Box 22"/>
          <p:cNvSpPr txBox="1">
            <a:spLocks noChangeArrowheads="1"/>
          </p:cNvSpPr>
          <p:nvPr/>
        </p:nvSpPr>
        <p:spPr bwMode="auto">
          <a:xfrm>
            <a:off x="3557588" y="1510364"/>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600" b="1"/>
              <a:t>Client</a:t>
            </a:r>
          </a:p>
        </p:txBody>
      </p:sp>
      <p:sp>
        <p:nvSpPr>
          <p:cNvPr id="37910" name="Text Box 23"/>
          <p:cNvSpPr txBox="1">
            <a:spLocks noChangeArrowheads="1"/>
          </p:cNvSpPr>
          <p:nvPr/>
        </p:nvSpPr>
        <p:spPr bwMode="auto">
          <a:xfrm>
            <a:off x="3276600" y="3124852"/>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37911" name="Text Box 24"/>
          <p:cNvSpPr txBox="1">
            <a:spLocks noChangeArrowheads="1"/>
          </p:cNvSpPr>
          <p:nvPr/>
        </p:nvSpPr>
        <p:spPr bwMode="auto">
          <a:xfrm>
            <a:off x="2438400" y="3536014"/>
            <a:ext cx="82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600" b="1"/>
              <a:t>Query </a:t>
            </a:r>
          </a:p>
        </p:txBody>
      </p:sp>
      <p:sp>
        <p:nvSpPr>
          <p:cNvPr id="37912" name="Text Box 25"/>
          <p:cNvSpPr txBox="1">
            <a:spLocks noChangeArrowheads="1"/>
          </p:cNvSpPr>
          <p:nvPr/>
        </p:nvSpPr>
        <p:spPr bwMode="auto">
          <a:xfrm>
            <a:off x="3176588" y="3231214"/>
            <a:ext cx="736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600" b="1"/>
              <a:t>Reply</a:t>
            </a:r>
          </a:p>
        </p:txBody>
      </p:sp>
      <p:sp>
        <p:nvSpPr>
          <p:cNvPr id="37913" name="Text Box 26"/>
          <p:cNvSpPr txBox="1">
            <a:spLocks noChangeArrowheads="1"/>
          </p:cNvSpPr>
          <p:nvPr/>
        </p:nvSpPr>
        <p:spPr bwMode="auto">
          <a:xfrm>
            <a:off x="1752600" y="4420252"/>
            <a:ext cx="1555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t>File Transfer</a:t>
            </a:r>
          </a:p>
        </p:txBody>
      </p:sp>
      <p:sp>
        <p:nvSpPr>
          <p:cNvPr id="37914" name="Line 27"/>
          <p:cNvSpPr>
            <a:spLocks noChangeShapeType="1"/>
          </p:cNvSpPr>
          <p:nvPr/>
        </p:nvSpPr>
        <p:spPr bwMode="auto">
          <a:xfrm>
            <a:off x="1066800" y="2196164"/>
            <a:ext cx="1066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5" name="Line 28"/>
          <p:cNvSpPr>
            <a:spLocks noChangeShapeType="1"/>
          </p:cNvSpPr>
          <p:nvPr/>
        </p:nvSpPr>
        <p:spPr bwMode="auto">
          <a:xfrm>
            <a:off x="1066800" y="2881964"/>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TextBox 27">
            <a:extLst>
              <a:ext uri="{FF2B5EF4-FFF2-40B4-BE49-F238E27FC236}">
                <a16:creationId xmlns:a16="http://schemas.microsoft.com/office/drawing/2014/main" id="{CA9D3333-0096-480A-81F9-BBD84EF6E2BF}"/>
              </a:ext>
            </a:extLst>
          </p:cNvPr>
          <p:cNvSpPr txBox="1"/>
          <p:nvPr/>
        </p:nvSpPr>
        <p:spPr>
          <a:xfrm>
            <a:off x="770890" y="5893466"/>
            <a:ext cx="7988710" cy="923330"/>
          </a:xfrm>
          <a:prstGeom prst="rect">
            <a:avLst/>
          </a:prstGeom>
          <a:noFill/>
        </p:spPr>
        <p:txBody>
          <a:bodyPr wrap="square" rtlCol="0">
            <a:spAutoFit/>
          </a:bodyPr>
          <a:lstStyle/>
          <a:p>
            <a:r>
              <a:rPr lang="en-US" dirty="0"/>
              <a:t>Please go to </a:t>
            </a:r>
          </a:p>
          <a:p>
            <a:pPr algn="ctr"/>
            <a:r>
              <a:rPr lang="en-US" sz="3600" dirty="0">
                <a:solidFill>
                  <a:srgbClr val="0070C0"/>
                </a:solidFill>
              </a:rPr>
              <a:t>PollEv.com/cisgvsu429</a:t>
            </a:r>
            <a:endParaRPr lang="en-US" sz="3600" dirty="0"/>
          </a:p>
        </p:txBody>
      </p:sp>
      <p:sp>
        <p:nvSpPr>
          <p:cNvPr id="2" name="TextBox 1">
            <a:extLst>
              <a:ext uri="{FF2B5EF4-FFF2-40B4-BE49-F238E27FC236}">
                <a16:creationId xmlns:a16="http://schemas.microsoft.com/office/drawing/2014/main" id="{3358B674-8FC3-41C8-B568-F774AD39678B}"/>
              </a:ext>
            </a:extLst>
          </p:cNvPr>
          <p:cNvSpPr txBox="1"/>
          <p:nvPr/>
        </p:nvSpPr>
        <p:spPr>
          <a:xfrm>
            <a:off x="533400" y="5175256"/>
            <a:ext cx="8446971" cy="461665"/>
          </a:xfrm>
          <a:prstGeom prst="rect">
            <a:avLst/>
          </a:prstGeom>
          <a:noFill/>
        </p:spPr>
        <p:txBody>
          <a:bodyPr wrap="square" rtlCol="0">
            <a:spAutoFit/>
          </a:bodyPr>
          <a:lstStyle/>
          <a:p>
            <a:r>
              <a:rPr lang="en-US" sz="2400" dirty="0"/>
              <a:t>Discussion: What are the disadvantages of this Napster structure?</a:t>
            </a:r>
          </a:p>
        </p:txBody>
      </p:sp>
    </p:spTree>
    <p:extLst>
      <p:ext uri="{BB962C8B-B14F-4D97-AF65-F5344CB8AC3E}">
        <p14:creationId xmlns:p14="http://schemas.microsoft.com/office/powerpoint/2010/main" val="135048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F8A8C-9667-475F-894D-5A36D8F4B711}"/>
              </a:ext>
            </a:extLst>
          </p:cNvPr>
          <p:cNvSpPr>
            <a:spLocks noGrp="1"/>
          </p:cNvSpPr>
          <p:nvPr>
            <p:ph type="title"/>
          </p:nvPr>
        </p:nvSpPr>
        <p:spPr/>
        <p:txBody>
          <a:bodyPr/>
          <a:lstStyle/>
          <a:p>
            <a:r>
              <a:rPr lang="en-US" dirty="0"/>
              <a:t>Napster</a:t>
            </a:r>
          </a:p>
        </p:txBody>
      </p:sp>
      <p:sp>
        <p:nvSpPr>
          <p:cNvPr id="3" name="Content Placeholder 2">
            <a:extLst>
              <a:ext uri="{FF2B5EF4-FFF2-40B4-BE49-F238E27FC236}">
                <a16:creationId xmlns:a16="http://schemas.microsoft.com/office/drawing/2014/main" id="{B67E72FA-7FFF-4BEE-9492-4D27B9D089E4}"/>
              </a:ext>
            </a:extLst>
          </p:cNvPr>
          <p:cNvSpPr>
            <a:spLocks noGrp="1"/>
          </p:cNvSpPr>
          <p:nvPr>
            <p:ph idx="1"/>
          </p:nvPr>
        </p:nvSpPr>
        <p:spPr/>
        <p:txBody>
          <a:bodyPr/>
          <a:lstStyle/>
          <a:p>
            <a:pPr eaLnBrk="1" hangingPunct="1"/>
            <a:r>
              <a:rPr lang="en-US" altLang="en-US" sz="4000" dirty="0">
                <a:latin typeface="+mn-lt"/>
              </a:rPr>
              <a:t>Disadvantages</a:t>
            </a:r>
          </a:p>
          <a:p>
            <a:pPr lvl="1"/>
            <a:r>
              <a:rPr lang="en-US" altLang="en-US" sz="3600" dirty="0">
                <a:latin typeface="+mn-lt"/>
              </a:rPr>
              <a:t>Poor scalability</a:t>
            </a:r>
          </a:p>
          <a:p>
            <a:pPr lvl="1"/>
            <a:r>
              <a:rPr lang="en-US" altLang="en-US" sz="3600" dirty="0">
                <a:latin typeface="+mn-lt"/>
              </a:rPr>
              <a:t>Single point of failure</a:t>
            </a:r>
          </a:p>
          <a:p>
            <a:pPr lvl="1"/>
            <a:r>
              <a:rPr lang="en-US" altLang="en-US" sz="3600" dirty="0">
                <a:latin typeface="+mn-lt"/>
              </a:rPr>
              <a:t>Legal issues</a:t>
            </a:r>
          </a:p>
          <a:p>
            <a:endParaRPr lang="en-US" dirty="0"/>
          </a:p>
        </p:txBody>
      </p:sp>
    </p:spTree>
    <p:extLst>
      <p:ext uri="{BB962C8B-B14F-4D97-AF65-F5344CB8AC3E}">
        <p14:creationId xmlns:p14="http://schemas.microsoft.com/office/powerpoint/2010/main" val="138948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dirty="0"/>
              <a:t>Napster: Publish</a:t>
            </a:r>
          </a:p>
        </p:txBody>
      </p:sp>
      <p:grpSp>
        <p:nvGrpSpPr>
          <p:cNvPr id="2" name="Group 3"/>
          <p:cNvGrpSpPr>
            <a:grpSpLocks/>
          </p:cNvGrpSpPr>
          <p:nvPr/>
        </p:nvGrpSpPr>
        <p:grpSpPr bwMode="auto">
          <a:xfrm>
            <a:off x="4114800" y="4953000"/>
            <a:ext cx="609600" cy="685800"/>
            <a:chOff x="2592" y="3120"/>
            <a:chExt cx="384" cy="432"/>
          </a:xfrm>
        </p:grpSpPr>
        <p:pic>
          <p:nvPicPr>
            <p:cNvPr id="39981"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2" y="33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82" name="Group 5"/>
            <p:cNvGrpSpPr>
              <a:grpSpLocks/>
            </p:cNvGrpSpPr>
            <p:nvPr/>
          </p:nvGrpSpPr>
          <p:grpSpPr bwMode="auto">
            <a:xfrm>
              <a:off x="2640" y="3120"/>
              <a:ext cx="336" cy="432"/>
              <a:chOff x="2640" y="3120"/>
              <a:chExt cx="336" cy="432"/>
            </a:xfrm>
          </p:grpSpPr>
          <p:pic>
            <p:nvPicPr>
              <p:cNvPr id="39983" name="Picture 6"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 y="312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84" name="Picture 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3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85" name="Picture 8"/>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3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55305" name="Text Box 9"/>
          <p:cNvSpPr txBox="1">
            <a:spLocks noChangeArrowheads="1"/>
          </p:cNvSpPr>
          <p:nvPr/>
        </p:nvSpPr>
        <p:spPr bwMode="auto">
          <a:xfrm>
            <a:off x="1295400" y="5257800"/>
            <a:ext cx="2705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FF0000"/>
                </a:solidFill>
              </a:rPr>
              <a:t>I have X, Y, and Z!</a:t>
            </a:r>
            <a:endParaRPr lang="en-US" altLang="en-US" sz="2400">
              <a:solidFill>
                <a:srgbClr val="FF0000"/>
              </a:solidFill>
              <a:latin typeface="Times New Roman" charset="0"/>
            </a:endParaRPr>
          </a:p>
        </p:txBody>
      </p:sp>
      <p:pic>
        <p:nvPicPr>
          <p:cNvPr id="39941" name="Picture 10" descr="j02235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276600"/>
            <a:ext cx="6826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42" name="Group 11"/>
          <p:cNvGrpSpPr>
            <a:grpSpLocks/>
          </p:cNvGrpSpPr>
          <p:nvPr/>
        </p:nvGrpSpPr>
        <p:grpSpPr bwMode="auto">
          <a:xfrm>
            <a:off x="1447800" y="1676400"/>
            <a:ext cx="5943600" cy="3810000"/>
            <a:chOff x="912" y="1056"/>
            <a:chExt cx="3744" cy="2400"/>
          </a:xfrm>
        </p:grpSpPr>
        <p:pic>
          <p:nvPicPr>
            <p:cNvPr id="39948" name="Picture 12"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1056"/>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9" name="Picture 13"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1056"/>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0" name="Picture 14"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8" y="1536"/>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1" name="Picture 15"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 y="302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2" name="Picture 16"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 y="240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3" name="Picture 17"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134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54" name="Group 18"/>
            <p:cNvGrpSpPr>
              <a:grpSpLocks/>
            </p:cNvGrpSpPr>
            <p:nvPr/>
          </p:nvGrpSpPr>
          <p:grpSpPr bwMode="auto">
            <a:xfrm>
              <a:off x="4080" y="3264"/>
              <a:ext cx="384" cy="192"/>
              <a:chOff x="2688" y="3552"/>
              <a:chExt cx="384" cy="192"/>
            </a:xfrm>
          </p:grpSpPr>
          <p:pic>
            <p:nvPicPr>
              <p:cNvPr id="39978" name="Picture 19"/>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9" name="Picture 20"/>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80" name="Picture 2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55" name="Picture 2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8" y="264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6" name="Picture 2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4" y="264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7" name="Picture 2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00" y="264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58" name="Group 25"/>
            <p:cNvGrpSpPr>
              <a:grpSpLocks/>
            </p:cNvGrpSpPr>
            <p:nvPr/>
          </p:nvGrpSpPr>
          <p:grpSpPr bwMode="auto">
            <a:xfrm>
              <a:off x="1296" y="2640"/>
              <a:ext cx="384" cy="192"/>
              <a:chOff x="2688" y="3552"/>
              <a:chExt cx="384" cy="192"/>
            </a:xfrm>
          </p:grpSpPr>
          <p:pic>
            <p:nvPicPr>
              <p:cNvPr id="39975" name="Picture 2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6" name="Picture 2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7" name="Picture 28"/>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59" name="Picture 29"/>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8" y="177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0" name="Picture 30"/>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4" y="177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1" name="Picture 31"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 y="192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2" name="Picture 3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28"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3" name="Picture 3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2" y="158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64" name="Group 34"/>
            <p:cNvGrpSpPr>
              <a:grpSpLocks/>
            </p:cNvGrpSpPr>
            <p:nvPr/>
          </p:nvGrpSpPr>
          <p:grpSpPr bwMode="auto">
            <a:xfrm>
              <a:off x="4032" y="1056"/>
              <a:ext cx="384" cy="192"/>
              <a:chOff x="2688" y="3552"/>
              <a:chExt cx="384" cy="192"/>
            </a:xfrm>
          </p:grpSpPr>
          <p:pic>
            <p:nvPicPr>
              <p:cNvPr id="39972" name="Picture 3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3" name="Picture 3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4" name="Picture 3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65" name="Picture 38" descr="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 y="110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6" name="Picture 39"/>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2" y="13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7" name="Picture 40"/>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8" y="13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8" name="Picture 4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8" y="158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9" name="Picture 4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6" y="129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0" name="Picture 4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20" y="105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71" name="Picture 4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4" y="158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45"/>
          <p:cNvGrpSpPr>
            <a:grpSpLocks/>
          </p:cNvGrpSpPr>
          <p:nvPr/>
        </p:nvGrpSpPr>
        <p:grpSpPr bwMode="auto">
          <a:xfrm>
            <a:off x="3200400" y="3962400"/>
            <a:ext cx="1295400" cy="990600"/>
            <a:chOff x="2016" y="2496"/>
            <a:chExt cx="816" cy="624"/>
          </a:xfrm>
        </p:grpSpPr>
        <p:sp>
          <p:nvSpPr>
            <p:cNvPr id="39946" name="Line 46"/>
            <p:cNvSpPr>
              <a:spLocks noChangeShapeType="1"/>
            </p:cNvSpPr>
            <p:nvPr/>
          </p:nvSpPr>
          <p:spPr bwMode="auto">
            <a:xfrm flipV="1">
              <a:off x="2688" y="2496"/>
              <a:ext cx="144" cy="624"/>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9947" name="Rectangle 47"/>
            <p:cNvSpPr>
              <a:spLocks noChangeArrowheads="1"/>
            </p:cNvSpPr>
            <p:nvPr/>
          </p:nvSpPr>
          <p:spPr bwMode="auto">
            <a:xfrm>
              <a:off x="2016" y="2640"/>
              <a:ext cx="7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chemeClr val="accent2"/>
                  </a:solidFill>
                </a:rPr>
                <a:t>Publish</a:t>
              </a:r>
            </a:p>
          </p:txBody>
        </p:sp>
      </p:grpSp>
      <p:sp>
        <p:nvSpPr>
          <p:cNvPr id="55344" name="Rectangle 48"/>
          <p:cNvSpPr>
            <a:spLocks noChangeArrowheads="1"/>
          </p:cNvSpPr>
          <p:nvPr/>
        </p:nvSpPr>
        <p:spPr bwMode="auto">
          <a:xfrm>
            <a:off x="4572000" y="2590800"/>
            <a:ext cx="2057400" cy="1143000"/>
          </a:xfrm>
          <a:prstGeom prst="rect">
            <a:avLst/>
          </a:prstGeom>
          <a:solidFill>
            <a:srgbClr val="92D050"/>
          </a:solidFill>
          <a:ln w="9525">
            <a:solidFill>
              <a:schemeClr val="tx1"/>
            </a:solidFill>
            <a:miter lim="800000"/>
            <a:headEnd/>
            <a:tailEnd/>
          </a:ln>
        </p:spPr>
        <p:txBody>
          <a:bodyPr wrap="none"/>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dirty="0"/>
              <a:t>insert(X,</a:t>
            </a:r>
          </a:p>
          <a:p>
            <a:pPr>
              <a:spcBef>
                <a:spcPct val="0"/>
              </a:spcBef>
              <a:buFontTx/>
              <a:buNone/>
            </a:pPr>
            <a:r>
              <a:rPr lang="en-US" altLang="en-US" sz="2400" dirty="0"/>
              <a:t>  123.2.21.23)</a:t>
            </a:r>
          </a:p>
          <a:p>
            <a:pPr>
              <a:spcBef>
                <a:spcPct val="0"/>
              </a:spcBef>
              <a:buFontTx/>
              <a:buNone/>
            </a:pPr>
            <a:r>
              <a:rPr lang="en-US" altLang="en-US" sz="2400" dirty="0"/>
              <a:t>...</a:t>
            </a:r>
          </a:p>
        </p:txBody>
      </p:sp>
      <p:sp>
        <p:nvSpPr>
          <p:cNvPr id="55345" name="Rectangle 49"/>
          <p:cNvSpPr>
            <a:spLocks noChangeArrowheads="1"/>
          </p:cNvSpPr>
          <p:nvPr/>
        </p:nvSpPr>
        <p:spPr bwMode="auto">
          <a:xfrm>
            <a:off x="3505200" y="5638800"/>
            <a:ext cx="179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123.2.21.23</a:t>
            </a:r>
          </a:p>
        </p:txBody>
      </p:sp>
    </p:spTree>
    <p:extLst>
      <p:ext uri="{BB962C8B-B14F-4D97-AF65-F5344CB8AC3E}">
        <p14:creationId xmlns:p14="http://schemas.microsoft.com/office/powerpoint/2010/main" val="13840618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5345"/>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5530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8"/>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5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 grpId="0" autoUpdateAnimBg="0"/>
      <p:bldP spid="55344" grpId="0" animBg="1" autoUpdateAnimBg="0"/>
      <p:bldP spid="5534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dirty="0"/>
              <a:t>Napster: Search</a:t>
            </a:r>
          </a:p>
        </p:txBody>
      </p:sp>
      <p:pic>
        <p:nvPicPr>
          <p:cNvPr id="40963" name="Picture 3"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6764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4"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6764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24384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48006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7"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49530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Picture 8"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8100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Picture 9"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336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0" name="Picture 1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14800" y="533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1" name="Picture 1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67200" y="533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2"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19600" y="533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73" name="Group 13"/>
          <p:cNvGrpSpPr>
            <a:grpSpLocks/>
          </p:cNvGrpSpPr>
          <p:nvPr/>
        </p:nvGrpSpPr>
        <p:grpSpPr bwMode="auto">
          <a:xfrm>
            <a:off x="6477000" y="5181600"/>
            <a:ext cx="609600" cy="304800"/>
            <a:chOff x="2688" y="3552"/>
            <a:chExt cx="384" cy="192"/>
          </a:xfrm>
        </p:grpSpPr>
        <p:pic>
          <p:nvPicPr>
            <p:cNvPr id="41011" name="Picture 1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2" name="Picture 1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3" name="Picture 1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974" name="Picture 1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00200" y="4191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1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52600" y="4191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6" name="Picture 1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5000" y="4191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77" name="Group 20"/>
          <p:cNvGrpSpPr>
            <a:grpSpLocks/>
          </p:cNvGrpSpPr>
          <p:nvPr/>
        </p:nvGrpSpPr>
        <p:grpSpPr bwMode="auto">
          <a:xfrm>
            <a:off x="2057400" y="4191000"/>
            <a:ext cx="609600" cy="304800"/>
            <a:chOff x="2688" y="3552"/>
            <a:chExt cx="384" cy="192"/>
          </a:xfrm>
        </p:grpSpPr>
        <p:pic>
          <p:nvPicPr>
            <p:cNvPr id="41008" name="Picture 2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9" name="Picture 2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0" name="Picture 2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978" name="Picture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34200"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9" name="Picture 2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86600" y="2819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0" name="Picture 2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0480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1" name="Picture 2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32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2" name="Picture 2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7800" y="2514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83" name="Group 29"/>
          <p:cNvGrpSpPr>
            <a:grpSpLocks/>
          </p:cNvGrpSpPr>
          <p:nvPr/>
        </p:nvGrpSpPr>
        <p:grpSpPr bwMode="auto">
          <a:xfrm>
            <a:off x="6400800" y="1676400"/>
            <a:ext cx="609600" cy="304800"/>
            <a:chOff x="2688" y="3552"/>
            <a:chExt cx="384" cy="192"/>
          </a:xfrm>
        </p:grpSpPr>
        <p:pic>
          <p:nvPicPr>
            <p:cNvPr id="41005" name="Picture 3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6" name="Picture 3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7" name="Picture 3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984" name="Picture 33"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752600"/>
            <a:ext cx="3810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5" name="Picture 3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2800" y="2133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6" name="Picture 3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05200" y="2133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7" name="Picture 3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00200" y="2514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8" name="Picture 3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05400" y="2057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9" name="Picture 3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58000" y="1676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59" name="Text Box 39"/>
          <p:cNvSpPr txBox="1">
            <a:spLocks noChangeArrowheads="1"/>
          </p:cNvSpPr>
          <p:nvPr/>
        </p:nvSpPr>
        <p:spPr bwMode="auto">
          <a:xfrm>
            <a:off x="1752600" y="5257800"/>
            <a:ext cx="2319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FF0000"/>
                </a:solidFill>
              </a:rPr>
              <a:t>Where is file A?</a:t>
            </a:r>
            <a:endParaRPr lang="en-US" altLang="en-US" sz="2400">
              <a:solidFill>
                <a:srgbClr val="FF0000"/>
              </a:solidFill>
              <a:latin typeface="Times New Roman" charset="0"/>
            </a:endParaRPr>
          </a:p>
        </p:txBody>
      </p:sp>
      <p:pic>
        <p:nvPicPr>
          <p:cNvPr id="40991" name="Picture 40" descr="j02235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276600"/>
            <a:ext cx="6826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2" name="Picture 4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52600" y="2514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2"/>
          <p:cNvGrpSpPr>
            <a:grpSpLocks/>
          </p:cNvGrpSpPr>
          <p:nvPr/>
        </p:nvGrpSpPr>
        <p:grpSpPr bwMode="auto">
          <a:xfrm>
            <a:off x="3352800" y="3962400"/>
            <a:ext cx="1143000" cy="990600"/>
            <a:chOff x="2112" y="2256"/>
            <a:chExt cx="720" cy="624"/>
          </a:xfrm>
        </p:grpSpPr>
        <p:sp>
          <p:nvSpPr>
            <p:cNvPr id="41003" name="Line 43"/>
            <p:cNvSpPr>
              <a:spLocks noChangeShapeType="1"/>
            </p:cNvSpPr>
            <p:nvPr/>
          </p:nvSpPr>
          <p:spPr bwMode="auto">
            <a:xfrm flipV="1">
              <a:off x="2688" y="2256"/>
              <a:ext cx="144" cy="624"/>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4" name="Rectangle 44"/>
            <p:cNvSpPr>
              <a:spLocks noChangeArrowheads="1"/>
            </p:cNvSpPr>
            <p:nvPr/>
          </p:nvSpPr>
          <p:spPr bwMode="auto">
            <a:xfrm>
              <a:off x="2112" y="2400"/>
              <a:ext cx="63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chemeClr val="accent2"/>
                  </a:solidFill>
                </a:rPr>
                <a:t>Query</a:t>
              </a:r>
            </a:p>
          </p:txBody>
        </p:sp>
      </p:grpSp>
      <p:grpSp>
        <p:nvGrpSpPr>
          <p:cNvPr id="6" name="Group 45"/>
          <p:cNvGrpSpPr>
            <a:grpSpLocks/>
          </p:cNvGrpSpPr>
          <p:nvPr/>
        </p:nvGrpSpPr>
        <p:grpSpPr bwMode="auto">
          <a:xfrm>
            <a:off x="4419600" y="4038600"/>
            <a:ext cx="1117600" cy="914400"/>
            <a:chOff x="2784" y="2304"/>
            <a:chExt cx="704" cy="576"/>
          </a:xfrm>
        </p:grpSpPr>
        <p:sp>
          <p:nvSpPr>
            <p:cNvPr id="41001" name="Line 46"/>
            <p:cNvSpPr>
              <a:spLocks noChangeShapeType="1"/>
            </p:cNvSpPr>
            <p:nvPr/>
          </p:nvSpPr>
          <p:spPr bwMode="auto">
            <a:xfrm flipV="1">
              <a:off x="2784" y="2304"/>
              <a:ext cx="144" cy="576"/>
            </a:xfrm>
            <a:prstGeom prst="line">
              <a:avLst/>
            </a:prstGeom>
            <a:noFill/>
            <a:ln w="38100">
              <a:solidFill>
                <a:srgbClr val="00FF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02" name="Rectangle 47"/>
            <p:cNvSpPr>
              <a:spLocks noChangeArrowheads="1"/>
            </p:cNvSpPr>
            <p:nvPr/>
          </p:nvSpPr>
          <p:spPr bwMode="auto">
            <a:xfrm>
              <a:off x="2880" y="2400"/>
              <a:ext cx="6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00FF00"/>
                  </a:solidFill>
                </a:rPr>
                <a:t>Reply</a:t>
              </a:r>
            </a:p>
          </p:txBody>
        </p:sp>
      </p:grpSp>
      <p:sp>
        <p:nvSpPr>
          <p:cNvPr id="56368" name="Rectangle 48"/>
          <p:cNvSpPr>
            <a:spLocks noChangeArrowheads="1"/>
          </p:cNvSpPr>
          <p:nvPr/>
        </p:nvSpPr>
        <p:spPr bwMode="auto">
          <a:xfrm>
            <a:off x="4572000" y="2590800"/>
            <a:ext cx="2057400" cy="1143000"/>
          </a:xfrm>
          <a:prstGeom prst="rect">
            <a:avLst/>
          </a:prstGeom>
          <a:solidFill>
            <a:srgbClr val="92D050"/>
          </a:solidFill>
          <a:ln w="9525">
            <a:solidFill>
              <a:schemeClr val="tx1"/>
            </a:solidFill>
            <a:miter lim="800000"/>
            <a:headEnd/>
            <a:tailEnd/>
          </a:ln>
        </p:spPr>
        <p:txBody>
          <a:bodyPr wrap="none"/>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search(A)</a:t>
            </a:r>
          </a:p>
          <a:p>
            <a:pPr>
              <a:spcBef>
                <a:spcPct val="0"/>
              </a:spcBef>
              <a:buFontTx/>
              <a:buNone/>
            </a:pPr>
            <a:r>
              <a:rPr lang="en-US" altLang="en-US" sz="2400"/>
              <a:t>--&gt;</a:t>
            </a:r>
          </a:p>
          <a:p>
            <a:pPr>
              <a:spcBef>
                <a:spcPct val="0"/>
              </a:spcBef>
              <a:buFontTx/>
              <a:buNone/>
            </a:pPr>
            <a:r>
              <a:rPr lang="en-US" altLang="en-US" sz="2400"/>
              <a:t>123.2.0.18</a:t>
            </a:r>
          </a:p>
        </p:txBody>
      </p:sp>
      <p:grpSp>
        <p:nvGrpSpPr>
          <p:cNvPr id="7" name="Group 49"/>
          <p:cNvGrpSpPr>
            <a:grpSpLocks/>
          </p:cNvGrpSpPr>
          <p:nvPr/>
        </p:nvGrpSpPr>
        <p:grpSpPr bwMode="auto">
          <a:xfrm>
            <a:off x="2057400" y="2590800"/>
            <a:ext cx="2057400" cy="2514600"/>
            <a:chOff x="1296" y="1632"/>
            <a:chExt cx="1296" cy="1584"/>
          </a:xfrm>
        </p:grpSpPr>
        <p:sp>
          <p:nvSpPr>
            <p:cNvPr id="40998" name="Line 50"/>
            <p:cNvSpPr>
              <a:spLocks noChangeShapeType="1"/>
            </p:cNvSpPr>
            <p:nvPr/>
          </p:nvSpPr>
          <p:spPr bwMode="auto">
            <a:xfrm flipH="1" flipV="1">
              <a:off x="1344" y="1632"/>
              <a:ext cx="1248" cy="1536"/>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9" name="Text Box 51"/>
            <p:cNvSpPr txBox="1">
              <a:spLocks noChangeArrowheads="1"/>
            </p:cNvSpPr>
            <p:nvPr/>
          </p:nvSpPr>
          <p:spPr bwMode="auto">
            <a:xfrm>
              <a:off x="1824" y="2016"/>
              <a:ext cx="5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chemeClr val="hlink"/>
                  </a:solidFill>
                </a:rPr>
                <a:t>Fetch</a:t>
              </a:r>
            </a:p>
          </p:txBody>
        </p:sp>
        <p:sp>
          <p:nvSpPr>
            <p:cNvPr id="41000" name="Line 52"/>
            <p:cNvSpPr>
              <a:spLocks noChangeShapeType="1"/>
            </p:cNvSpPr>
            <p:nvPr/>
          </p:nvSpPr>
          <p:spPr bwMode="auto">
            <a:xfrm>
              <a:off x="1296" y="1728"/>
              <a:ext cx="1248" cy="1488"/>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56373" name="Rectangle 53"/>
          <p:cNvSpPr>
            <a:spLocks noChangeArrowheads="1"/>
          </p:cNvSpPr>
          <p:nvPr/>
        </p:nvSpPr>
        <p:spPr bwMode="auto">
          <a:xfrm>
            <a:off x="1066800" y="1676400"/>
            <a:ext cx="162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123.2.0.18</a:t>
            </a:r>
          </a:p>
        </p:txBody>
      </p:sp>
    </p:spTree>
    <p:extLst>
      <p:ext uri="{BB962C8B-B14F-4D97-AF65-F5344CB8AC3E}">
        <p14:creationId xmlns:p14="http://schemas.microsoft.com/office/powerpoint/2010/main" val="384615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3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368"/>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6373"/>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59" grpId="0" autoUpdateAnimBg="0"/>
      <p:bldP spid="56368" grpId="0" animBg="1" autoUpdateAnimBg="0"/>
      <p:bldP spid="5637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38FD1645-4DE7-4A2E-8370-361F85D95B78}"/>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4400" dirty="0">
                <a:latin typeface="+mj-lt"/>
              </a:rPr>
              <a:t>Gnutella: Query Flooding</a:t>
            </a:r>
          </a:p>
        </p:txBody>
      </p:sp>
      <p:sp>
        <p:nvSpPr>
          <p:cNvPr id="44035" name="Rectangle 3">
            <a:extLst>
              <a:ext uri="{FF2B5EF4-FFF2-40B4-BE49-F238E27FC236}">
                <a16:creationId xmlns:a16="http://schemas.microsoft.com/office/drawing/2014/main" id="{662B91EA-A1BB-46B8-8C6A-3DBB80AE1F2D}"/>
              </a:ext>
            </a:extLst>
          </p:cNvPr>
          <p:cNvSpPr>
            <a:spLocks noChangeArrowheads="1"/>
          </p:cNvSpPr>
          <p:nvPr/>
        </p:nvSpPr>
        <p:spPr bwMode="auto">
          <a:xfrm>
            <a:off x="342900" y="2130425"/>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4400">
              <a:solidFill>
                <a:schemeClr val="tx2"/>
              </a:solidFill>
            </a:endParaRPr>
          </a:p>
        </p:txBody>
      </p:sp>
      <p:sp>
        <p:nvSpPr>
          <p:cNvPr id="44036" name="Rectangle 4">
            <a:extLst>
              <a:ext uri="{FF2B5EF4-FFF2-40B4-BE49-F238E27FC236}">
                <a16:creationId xmlns:a16="http://schemas.microsoft.com/office/drawing/2014/main" id="{C03415F2-56AF-4324-A0F5-2B8D7605487B}"/>
              </a:ext>
            </a:extLst>
          </p:cNvPr>
          <p:cNvSpPr>
            <a:spLocks noChangeArrowheads="1"/>
          </p:cNvSpPr>
          <p:nvPr/>
        </p:nvSpPr>
        <p:spPr bwMode="auto">
          <a:xfrm>
            <a:off x="1028700" y="38862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endParaRPr lang="en-US" altLang="en-US"/>
          </a:p>
        </p:txBody>
      </p:sp>
      <p:sp>
        <p:nvSpPr>
          <p:cNvPr id="44037" name="Rectangle 5">
            <a:extLst>
              <a:ext uri="{FF2B5EF4-FFF2-40B4-BE49-F238E27FC236}">
                <a16:creationId xmlns:a16="http://schemas.microsoft.com/office/drawing/2014/main" id="{5DCCC631-B904-4AE4-885E-7836D41E06F7}"/>
              </a:ext>
            </a:extLst>
          </p:cNvPr>
          <p:cNvSpPr>
            <a:spLocks noChangeArrowheads="1"/>
          </p:cNvSpPr>
          <p:nvPr/>
        </p:nvSpPr>
        <p:spPr bwMode="auto">
          <a:xfrm>
            <a:off x="304800" y="381000"/>
            <a:ext cx="9220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800"/>
          </a:p>
        </p:txBody>
      </p:sp>
      <p:grpSp>
        <p:nvGrpSpPr>
          <p:cNvPr id="44038" name="Group 6">
            <a:extLst>
              <a:ext uri="{FF2B5EF4-FFF2-40B4-BE49-F238E27FC236}">
                <a16:creationId xmlns:a16="http://schemas.microsoft.com/office/drawing/2014/main" id="{75B1B6FB-22D6-491B-8929-0815AC5657BB}"/>
              </a:ext>
            </a:extLst>
          </p:cNvPr>
          <p:cNvGrpSpPr>
            <a:grpSpLocks/>
          </p:cNvGrpSpPr>
          <p:nvPr/>
        </p:nvGrpSpPr>
        <p:grpSpPr bwMode="auto">
          <a:xfrm>
            <a:off x="419100" y="1905000"/>
            <a:ext cx="5943600" cy="4724400"/>
            <a:chOff x="528" y="960"/>
            <a:chExt cx="3456" cy="2976"/>
          </a:xfrm>
        </p:grpSpPr>
        <p:sp>
          <p:nvSpPr>
            <p:cNvPr id="44118" name="Oval 7">
              <a:extLst>
                <a:ext uri="{FF2B5EF4-FFF2-40B4-BE49-F238E27FC236}">
                  <a16:creationId xmlns:a16="http://schemas.microsoft.com/office/drawing/2014/main" id="{66063A07-9E90-4600-A623-7A7C567D390A}"/>
                </a:ext>
              </a:extLst>
            </p:cNvPr>
            <p:cNvSpPr>
              <a:spLocks noChangeArrowheads="1"/>
            </p:cNvSpPr>
            <p:nvPr/>
          </p:nvSpPr>
          <p:spPr bwMode="auto">
            <a:xfrm>
              <a:off x="2256" y="2352"/>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19" name="Oval 8">
              <a:extLst>
                <a:ext uri="{FF2B5EF4-FFF2-40B4-BE49-F238E27FC236}">
                  <a16:creationId xmlns:a16="http://schemas.microsoft.com/office/drawing/2014/main" id="{07EBC27B-6D56-4084-9609-4F023F6199ED}"/>
                </a:ext>
              </a:extLst>
            </p:cNvPr>
            <p:cNvSpPr>
              <a:spLocks noChangeArrowheads="1"/>
            </p:cNvSpPr>
            <p:nvPr/>
          </p:nvSpPr>
          <p:spPr bwMode="auto">
            <a:xfrm>
              <a:off x="2976" y="2304"/>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0" name="Oval 9">
              <a:extLst>
                <a:ext uri="{FF2B5EF4-FFF2-40B4-BE49-F238E27FC236}">
                  <a16:creationId xmlns:a16="http://schemas.microsoft.com/office/drawing/2014/main" id="{0A5AB581-DB1C-4ED0-9FB0-D16F2381EF8B}"/>
                </a:ext>
              </a:extLst>
            </p:cNvPr>
            <p:cNvSpPr>
              <a:spLocks noChangeArrowheads="1"/>
            </p:cNvSpPr>
            <p:nvPr/>
          </p:nvSpPr>
          <p:spPr bwMode="auto">
            <a:xfrm>
              <a:off x="1680" y="3696"/>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1" name="Oval 10">
              <a:extLst>
                <a:ext uri="{FF2B5EF4-FFF2-40B4-BE49-F238E27FC236}">
                  <a16:creationId xmlns:a16="http://schemas.microsoft.com/office/drawing/2014/main" id="{85876728-0B9A-4474-B4D1-CB3AB4320467}"/>
                </a:ext>
              </a:extLst>
            </p:cNvPr>
            <p:cNvSpPr>
              <a:spLocks noChangeArrowheads="1"/>
            </p:cNvSpPr>
            <p:nvPr/>
          </p:nvSpPr>
          <p:spPr bwMode="auto">
            <a:xfrm>
              <a:off x="1872" y="292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2" name="Oval 11">
              <a:extLst>
                <a:ext uri="{FF2B5EF4-FFF2-40B4-BE49-F238E27FC236}">
                  <a16:creationId xmlns:a16="http://schemas.microsoft.com/office/drawing/2014/main" id="{46518CA5-94E5-4B92-8E01-7C8C6FDA1A0B}"/>
                </a:ext>
              </a:extLst>
            </p:cNvPr>
            <p:cNvSpPr>
              <a:spLocks noChangeArrowheads="1"/>
            </p:cNvSpPr>
            <p:nvPr/>
          </p:nvSpPr>
          <p:spPr bwMode="auto">
            <a:xfrm>
              <a:off x="2592" y="3120"/>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3" name="Oval 12">
              <a:extLst>
                <a:ext uri="{FF2B5EF4-FFF2-40B4-BE49-F238E27FC236}">
                  <a16:creationId xmlns:a16="http://schemas.microsoft.com/office/drawing/2014/main" id="{81717621-6C43-4BA4-AB03-6F71D8E5B3C1}"/>
                </a:ext>
              </a:extLst>
            </p:cNvPr>
            <p:cNvSpPr>
              <a:spLocks noChangeArrowheads="1"/>
            </p:cNvSpPr>
            <p:nvPr/>
          </p:nvSpPr>
          <p:spPr bwMode="auto">
            <a:xfrm>
              <a:off x="1536" y="1920"/>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4" name="Oval 13">
              <a:extLst>
                <a:ext uri="{FF2B5EF4-FFF2-40B4-BE49-F238E27FC236}">
                  <a16:creationId xmlns:a16="http://schemas.microsoft.com/office/drawing/2014/main" id="{9B4C9243-B824-4821-B80F-4D056767AA76}"/>
                </a:ext>
              </a:extLst>
            </p:cNvPr>
            <p:cNvSpPr>
              <a:spLocks noChangeArrowheads="1"/>
            </p:cNvSpPr>
            <p:nvPr/>
          </p:nvSpPr>
          <p:spPr bwMode="auto">
            <a:xfrm>
              <a:off x="2256" y="1584"/>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5" name="Oval 14">
              <a:extLst>
                <a:ext uri="{FF2B5EF4-FFF2-40B4-BE49-F238E27FC236}">
                  <a16:creationId xmlns:a16="http://schemas.microsoft.com/office/drawing/2014/main" id="{18DBC2E2-1CD1-4D87-B542-0A09FD676C2F}"/>
                </a:ext>
              </a:extLst>
            </p:cNvPr>
            <p:cNvSpPr>
              <a:spLocks noChangeArrowheads="1"/>
            </p:cNvSpPr>
            <p:nvPr/>
          </p:nvSpPr>
          <p:spPr bwMode="auto">
            <a:xfrm>
              <a:off x="768" y="1584"/>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6" name="Oval 15">
              <a:extLst>
                <a:ext uri="{FF2B5EF4-FFF2-40B4-BE49-F238E27FC236}">
                  <a16:creationId xmlns:a16="http://schemas.microsoft.com/office/drawing/2014/main" id="{EB36D287-2976-4BCC-8BB2-F97F64F13197}"/>
                </a:ext>
              </a:extLst>
            </p:cNvPr>
            <p:cNvSpPr>
              <a:spLocks noChangeArrowheads="1"/>
            </p:cNvSpPr>
            <p:nvPr/>
          </p:nvSpPr>
          <p:spPr bwMode="auto">
            <a:xfrm>
              <a:off x="1056" y="2784"/>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7" name="Oval 16">
              <a:extLst>
                <a:ext uri="{FF2B5EF4-FFF2-40B4-BE49-F238E27FC236}">
                  <a16:creationId xmlns:a16="http://schemas.microsoft.com/office/drawing/2014/main" id="{C5FA1A4B-C8BB-4A80-B586-83BAB54DD382}"/>
                </a:ext>
              </a:extLst>
            </p:cNvPr>
            <p:cNvSpPr>
              <a:spLocks noChangeArrowheads="1"/>
            </p:cNvSpPr>
            <p:nvPr/>
          </p:nvSpPr>
          <p:spPr bwMode="auto">
            <a:xfrm>
              <a:off x="1488" y="148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8" name="Oval 17">
              <a:extLst>
                <a:ext uri="{FF2B5EF4-FFF2-40B4-BE49-F238E27FC236}">
                  <a16:creationId xmlns:a16="http://schemas.microsoft.com/office/drawing/2014/main" id="{F8003F7C-A776-4E9E-B028-D3408FA3667D}"/>
                </a:ext>
              </a:extLst>
            </p:cNvPr>
            <p:cNvSpPr>
              <a:spLocks noChangeArrowheads="1"/>
            </p:cNvSpPr>
            <p:nvPr/>
          </p:nvSpPr>
          <p:spPr bwMode="auto">
            <a:xfrm>
              <a:off x="3552" y="196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29" name="Oval 18">
              <a:extLst>
                <a:ext uri="{FF2B5EF4-FFF2-40B4-BE49-F238E27FC236}">
                  <a16:creationId xmlns:a16="http://schemas.microsoft.com/office/drawing/2014/main" id="{B5945308-372E-4C7C-B407-A92368030BAE}"/>
                </a:ext>
              </a:extLst>
            </p:cNvPr>
            <p:cNvSpPr>
              <a:spLocks noChangeArrowheads="1"/>
            </p:cNvSpPr>
            <p:nvPr/>
          </p:nvSpPr>
          <p:spPr bwMode="auto">
            <a:xfrm>
              <a:off x="3216" y="2976"/>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0" name="Oval 19">
              <a:extLst>
                <a:ext uri="{FF2B5EF4-FFF2-40B4-BE49-F238E27FC236}">
                  <a16:creationId xmlns:a16="http://schemas.microsoft.com/office/drawing/2014/main" id="{B733E621-5A7A-4875-B414-C3CC527D9ACD}"/>
                </a:ext>
              </a:extLst>
            </p:cNvPr>
            <p:cNvSpPr>
              <a:spLocks noChangeArrowheads="1"/>
            </p:cNvSpPr>
            <p:nvPr/>
          </p:nvSpPr>
          <p:spPr bwMode="auto">
            <a:xfrm>
              <a:off x="3120" y="1632"/>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1" name="Oval 20">
              <a:extLst>
                <a:ext uri="{FF2B5EF4-FFF2-40B4-BE49-F238E27FC236}">
                  <a16:creationId xmlns:a16="http://schemas.microsoft.com/office/drawing/2014/main" id="{E24A036B-8A44-4392-8884-BB8723E73A9A}"/>
                </a:ext>
              </a:extLst>
            </p:cNvPr>
            <p:cNvSpPr>
              <a:spLocks noChangeArrowheads="1"/>
            </p:cNvSpPr>
            <p:nvPr/>
          </p:nvSpPr>
          <p:spPr bwMode="auto">
            <a:xfrm>
              <a:off x="528" y="3120"/>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2" name="Oval 21">
              <a:extLst>
                <a:ext uri="{FF2B5EF4-FFF2-40B4-BE49-F238E27FC236}">
                  <a16:creationId xmlns:a16="http://schemas.microsoft.com/office/drawing/2014/main" id="{5764574F-6802-45CF-B446-0CB5FD3B9834}"/>
                </a:ext>
              </a:extLst>
            </p:cNvPr>
            <p:cNvSpPr>
              <a:spLocks noChangeArrowheads="1"/>
            </p:cNvSpPr>
            <p:nvPr/>
          </p:nvSpPr>
          <p:spPr bwMode="auto">
            <a:xfrm>
              <a:off x="2928" y="100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3" name="Oval 22">
              <a:extLst>
                <a:ext uri="{FF2B5EF4-FFF2-40B4-BE49-F238E27FC236}">
                  <a16:creationId xmlns:a16="http://schemas.microsoft.com/office/drawing/2014/main" id="{C13F25FE-3203-4413-9BED-E3BD80978CED}"/>
                </a:ext>
              </a:extLst>
            </p:cNvPr>
            <p:cNvSpPr>
              <a:spLocks noChangeArrowheads="1"/>
            </p:cNvSpPr>
            <p:nvPr/>
          </p:nvSpPr>
          <p:spPr bwMode="auto">
            <a:xfrm>
              <a:off x="3744" y="244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4" name="Oval 23">
              <a:extLst>
                <a:ext uri="{FF2B5EF4-FFF2-40B4-BE49-F238E27FC236}">
                  <a16:creationId xmlns:a16="http://schemas.microsoft.com/office/drawing/2014/main" id="{C690BDF8-E4A7-40D0-8E28-712910B504E2}"/>
                </a:ext>
              </a:extLst>
            </p:cNvPr>
            <p:cNvSpPr>
              <a:spLocks noChangeArrowheads="1"/>
            </p:cNvSpPr>
            <p:nvPr/>
          </p:nvSpPr>
          <p:spPr bwMode="auto">
            <a:xfrm>
              <a:off x="1056" y="960"/>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5" name="Oval 24">
              <a:extLst>
                <a:ext uri="{FF2B5EF4-FFF2-40B4-BE49-F238E27FC236}">
                  <a16:creationId xmlns:a16="http://schemas.microsoft.com/office/drawing/2014/main" id="{921E224C-3DBF-4062-B6E2-6C9587599214}"/>
                </a:ext>
              </a:extLst>
            </p:cNvPr>
            <p:cNvSpPr>
              <a:spLocks noChangeArrowheads="1"/>
            </p:cNvSpPr>
            <p:nvPr/>
          </p:nvSpPr>
          <p:spPr bwMode="auto">
            <a:xfrm>
              <a:off x="2928" y="3648"/>
              <a:ext cx="240" cy="240"/>
            </a:xfrm>
            <a:prstGeom prst="ellipse">
              <a:avLst/>
            </a:prstGeom>
            <a:solidFill>
              <a:schemeClr val="bg1"/>
            </a:solidFill>
            <a:ln w="28575">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36" name="Line 25">
              <a:extLst>
                <a:ext uri="{FF2B5EF4-FFF2-40B4-BE49-F238E27FC236}">
                  <a16:creationId xmlns:a16="http://schemas.microsoft.com/office/drawing/2014/main" id="{54A85641-3E7B-42B7-B0DA-638FE84461C6}"/>
                </a:ext>
              </a:extLst>
            </p:cNvPr>
            <p:cNvSpPr>
              <a:spLocks noChangeShapeType="1"/>
            </p:cNvSpPr>
            <p:nvPr/>
          </p:nvSpPr>
          <p:spPr bwMode="auto">
            <a:xfrm flipH="1" flipV="1">
              <a:off x="2400" y="1824"/>
              <a:ext cx="0" cy="52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37" name="Line 26">
              <a:extLst>
                <a:ext uri="{FF2B5EF4-FFF2-40B4-BE49-F238E27FC236}">
                  <a16:creationId xmlns:a16="http://schemas.microsoft.com/office/drawing/2014/main" id="{D116129E-33B9-46CD-B509-712EE20C29A8}"/>
                </a:ext>
              </a:extLst>
            </p:cNvPr>
            <p:cNvSpPr>
              <a:spLocks noChangeShapeType="1"/>
            </p:cNvSpPr>
            <p:nvPr/>
          </p:nvSpPr>
          <p:spPr bwMode="auto">
            <a:xfrm flipV="1">
              <a:off x="2496" y="2448"/>
              <a:ext cx="48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38" name="Line 27">
              <a:extLst>
                <a:ext uri="{FF2B5EF4-FFF2-40B4-BE49-F238E27FC236}">
                  <a16:creationId xmlns:a16="http://schemas.microsoft.com/office/drawing/2014/main" id="{7E859B8A-7D58-4F76-A848-DCC0AAEE073A}"/>
                </a:ext>
              </a:extLst>
            </p:cNvPr>
            <p:cNvSpPr>
              <a:spLocks noChangeShapeType="1"/>
            </p:cNvSpPr>
            <p:nvPr/>
          </p:nvSpPr>
          <p:spPr bwMode="auto">
            <a:xfrm flipH="1">
              <a:off x="2064" y="2592"/>
              <a:ext cx="24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39" name="Line 28">
              <a:extLst>
                <a:ext uri="{FF2B5EF4-FFF2-40B4-BE49-F238E27FC236}">
                  <a16:creationId xmlns:a16="http://schemas.microsoft.com/office/drawing/2014/main" id="{2129F400-EF65-4053-9D12-1656563BCCBB}"/>
                </a:ext>
              </a:extLst>
            </p:cNvPr>
            <p:cNvSpPr>
              <a:spLocks noChangeShapeType="1"/>
            </p:cNvSpPr>
            <p:nvPr/>
          </p:nvSpPr>
          <p:spPr bwMode="auto">
            <a:xfrm flipH="1" flipV="1">
              <a:off x="1776" y="2112"/>
              <a:ext cx="48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0" name="Line 29">
              <a:extLst>
                <a:ext uri="{FF2B5EF4-FFF2-40B4-BE49-F238E27FC236}">
                  <a16:creationId xmlns:a16="http://schemas.microsoft.com/office/drawing/2014/main" id="{DEB77103-ACED-4227-9C3E-FECC54086FCE}"/>
                </a:ext>
              </a:extLst>
            </p:cNvPr>
            <p:cNvSpPr>
              <a:spLocks noChangeShapeType="1"/>
            </p:cNvSpPr>
            <p:nvPr/>
          </p:nvSpPr>
          <p:spPr bwMode="auto">
            <a:xfrm>
              <a:off x="2112" y="3072"/>
              <a:ext cx="48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1" name="Line 30">
              <a:extLst>
                <a:ext uri="{FF2B5EF4-FFF2-40B4-BE49-F238E27FC236}">
                  <a16:creationId xmlns:a16="http://schemas.microsoft.com/office/drawing/2014/main" id="{7C73986C-4428-462E-B0C0-1B55AE31A441}"/>
                </a:ext>
              </a:extLst>
            </p:cNvPr>
            <p:cNvSpPr>
              <a:spLocks noChangeShapeType="1"/>
            </p:cNvSpPr>
            <p:nvPr/>
          </p:nvSpPr>
          <p:spPr bwMode="auto">
            <a:xfrm flipH="1">
              <a:off x="2784" y="2544"/>
              <a:ext cx="240" cy="57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2" name="Line 31">
              <a:extLst>
                <a:ext uri="{FF2B5EF4-FFF2-40B4-BE49-F238E27FC236}">
                  <a16:creationId xmlns:a16="http://schemas.microsoft.com/office/drawing/2014/main" id="{4EA1C31B-3E47-4058-A901-3C0548D72163}"/>
                </a:ext>
              </a:extLst>
            </p:cNvPr>
            <p:cNvSpPr>
              <a:spLocks noChangeShapeType="1"/>
            </p:cNvSpPr>
            <p:nvPr/>
          </p:nvSpPr>
          <p:spPr bwMode="auto">
            <a:xfrm flipV="1">
              <a:off x="3216" y="2160"/>
              <a:ext cx="384"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3" name="Line 32">
              <a:extLst>
                <a:ext uri="{FF2B5EF4-FFF2-40B4-BE49-F238E27FC236}">
                  <a16:creationId xmlns:a16="http://schemas.microsoft.com/office/drawing/2014/main" id="{11D60E25-62C7-4E2D-8B93-6F120B5C1253}"/>
                </a:ext>
              </a:extLst>
            </p:cNvPr>
            <p:cNvSpPr>
              <a:spLocks noChangeShapeType="1"/>
            </p:cNvSpPr>
            <p:nvPr/>
          </p:nvSpPr>
          <p:spPr bwMode="auto">
            <a:xfrm flipH="1" flipV="1">
              <a:off x="1728" y="1632"/>
              <a:ext cx="528" cy="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4" name="Line 33">
              <a:extLst>
                <a:ext uri="{FF2B5EF4-FFF2-40B4-BE49-F238E27FC236}">
                  <a16:creationId xmlns:a16="http://schemas.microsoft.com/office/drawing/2014/main" id="{967F6F77-8A07-401C-B376-ED05D22EFB15}"/>
                </a:ext>
              </a:extLst>
            </p:cNvPr>
            <p:cNvSpPr>
              <a:spLocks noChangeShapeType="1"/>
            </p:cNvSpPr>
            <p:nvPr/>
          </p:nvSpPr>
          <p:spPr bwMode="auto">
            <a:xfrm flipV="1">
              <a:off x="2496" y="1248"/>
              <a:ext cx="528" cy="38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5" name="Line 34">
              <a:extLst>
                <a:ext uri="{FF2B5EF4-FFF2-40B4-BE49-F238E27FC236}">
                  <a16:creationId xmlns:a16="http://schemas.microsoft.com/office/drawing/2014/main" id="{0689BEEF-EA38-447C-A49C-A33F2CCBC163}"/>
                </a:ext>
              </a:extLst>
            </p:cNvPr>
            <p:cNvSpPr>
              <a:spLocks noChangeShapeType="1"/>
            </p:cNvSpPr>
            <p:nvPr/>
          </p:nvSpPr>
          <p:spPr bwMode="auto">
            <a:xfrm flipH="1">
              <a:off x="1008" y="1632"/>
              <a:ext cx="480" cy="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6" name="Line 35">
              <a:extLst>
                <a:ext uri="{FF2B5EF4-FFF2-40B4-BE49-F238E27FC236}">
                  <a16:creationId xmlns:a16="http://schemas.microsoft.com/office/drawing/2014/main" id="{F0559B21-3806-439E-952E-D252E62B9D82}"/>
                </a:ext>
              </a:extLst>
            </p:cNvPr>
            <p:cNvSpPr>
              <a:spLocks noChangeShapeType="1"/>
            </p:cNvSpPr>
            <p:nvPr/>
          </p:nvSpPr>
          <p:spPr bwMode="auto">
            <a:xfrm flipH="1">
              <a:off x="1824" y="3168"/>
              <a:ext cx="144" cy="52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7" name="Line 36">
              <a:extLst>
                <a:ext uri="{FF2B5EF4-FFF2-40B4-BE49-F238E27FC236}">
                  <a16:creationId xmlns:a16="http://schemas.microsoft.com/office/drawing/2014/main" id="{EF516080-EE4A-474E-9628-2A39AB67CD1A}"/>
                </a:ext>
              </a:extLst>
            </p:cNvPr>
            <p:cNvSpPr>
              <a:spLocks noChangeShapeType="1"/>
            </p:cNvSpPr>
            <p:nvPr/>
          </p:nvSpPr>
          <p:spPr bwMode="auto">
            <a:xfrm flipH="1" flipV="1">
              <a:off x="1296" y="2880"/>
              <a:ext cx="576"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8" name="Line 37">
              <a:extLst>
                <a:ext uri="{FF2B5EF4-FFF2-40B4-BE49-F238E27FC236}">
                  <a16:creationId xmlns:a16="http://schemas.microsoft.com/office/drawing/2014/main" id="{8994F0F0-15B1-42BE-A52A-8ED6289198BE}"/>
                </a:ext>
              </a:extLst>
            </p:cNvPr>
            <p:cNvSpPr>
              <a:spLocks noChangeShapeType="1"/>
            </p:cNvSpPr>
            <p:nvPr/>
          </p:nvSpPr>
          <p:spPr bwMode="auto">
            <a:xfrm flipH="1" flipV="1">
              <a:off x="1248" y="1200"/>
              <a:ext cx="288"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49" name="Line 38">
              <a:extLst>
                <a:ext uri="{FF2B5EF4-FFF2-40B4-BE49-F238E27FC236}">
                  <a16:creationId xmlns:a16="http://schemas.microsoft.com/office/drawing/2014/main" id="{79595D74-B554-482B-BAD5-5C61E0E50760}"/>
                </a:ext>
              </a:extLst>
            </p:cNvPr>
            <p:cNvSpPr>
              <a:spLocks noChangeShapeType="1"/>
            </p:cNvSpPr>
            <p:nvPr/>
          </p:nvSpPr>
          <p:spPr bwMode="auto">
            <a:xfrm flipH="1" flipV="1">
              <a:off x="2496" y="1728"/>
              <a:ext cx="6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50" name="Line 39">
              <a:extLst>
                <a:ext uri="{FF2B5EF4-FFF2-40B4-BE49-F238E27FC236}">
                  <a16:creationId xmlns:a16="http://schemas.microsoft.com/office/drawing/2014/main" id="{3B44DCFA-46EE-421E-852A-E65FBCB6DD79}"/>
                </a:ext>
              </a:extLst>
            </p:cNvPr>
            <p:cNvSpPr>
              <a:spLocks noChangeShapeType="1"/>
            </p:cNvSpPr>
            <p:nvPr/>
          </p:nvSpPr>
          <p:spPr bwMode="auto">
            <a:xfrm>
              <a:off x="3360" y="1824"/>
              <a:ext cx="24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51" name="Line 40">
              <a:extLst>
                <a:ext uri="{FF2B5EF4-FFF2-40B4-BE49-F238E27FC236}">
                  <a16:creationId xmlns:a16="http://schemas.microsoft.com/office/drawing/2014/main" id="{D8FFE7AB-9228-4ABA-879E-48CEA1144640}"/>
                </a:ext>
              </a:extLst>
            </p:cNvPr>
            <p:cNvSpPr>
              <a:spLocks noChangeShapeType="1"/>
            </p:cNvSpPr>
            <p:nvPr/>
          </p:nvSpPr>
          <p:spPr bwMode="auto">
            <a:xfrm>
              <a:off x="3216" y="2448"/>
              <a:ext cx="528"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52" name="Line 41">
              <a:extLst>
                <a:ext uri="{FF2B5EF4-FFF2-40B4-BE49-F238E27FC236}">
                  <a16:creationId xmlns:a16="http://schemas.microsoft.com/office/drawing/2014/main" id="{1B8CE724-C281-4E81-9F6B-212667EBDA9B}"/>
                </a:ext>
              </a:extLst>
            </p:cNvPr>
            <p:cNvSpPr>
              <a:spLocks noChangeShapeType="1"/>
            </p:cNvSpPr>
            <p:nvPr/>
          </p:nvSpPr>
          <p:spPr bwMode="auto">
            <a:xfrm flipH="1">
              <a:off x="768" y="2976"/>
              <a:ext cx="288"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53" name="Line 42">
              <a:extLst>
                <a:ext uri="{FF2B5EF4-FFF2-40B4-BE49-F238E27FC236}">
                  <a16:creationId xmlns:a16="http://schemas.microsoft.com/office/drawing/2014/main" id="{1B784E0E-8827-4AC2-BDDD-20FD0F75B99E}"/>
                </a:ext>
              </a:extLst>
            </p:cNvPr>
            <p:cNvSpPr>
              <a:spLocks noChangeShapeType="1"/>
            </p:cNvSpPr>
            <p:nvPr/>
          </p:nvSpPr>
          <p:spPr bwMode="auto">
            <a:xfrm>
              <a:off x="2784" y="3312"/>
              <a:ext cx="192"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154" name="Line 43">
              <a:extLst>
                <a:ext uri="{FF2B5EF4-FFF2-40B4-BE49-F238E27FC236}">
                  <a16:creationId xmlns:a16="http://schemas.microsoft.com/office/drawing/2014/main" id="{F5FE296E-6852-4E17-B1FD-52EF6C73383A}"/>
                </a:ext>
              </a:extLst>
            </p:cNvPr>
            <p:cNvSpPr>
              <a:spLocks noChangeShapeType="1"/>
            </p:cNvSpPr>
            <p:nvPr/>
          </p:nvSpPr>
          <p:spPr bwMode="auto">
            <a:xfrm>
              <a:off x="3120" y="2544"/>
              <a:ext cx="144"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3" name="Group 44">
            <a:extLst>
              <a:ext uri="{FF2B5EF4-FFF2-40B4-BE49-F238E27FC236}">
                <a16:creationId xmlns:a16="http://schemas.microsoft.com/office/drawing/2014/main" id="{A24BA7C6-E9E5-4083-AB68-AAC23BC4FF20}"/>
              </a:ext>
            </a:extLst>
          </p:cNvPr>
          <p:cNvGrpSpPr>
            <a:grpSpLocks/>
          </p:cNvGrpSpPr>
          <p:nvPr/>
        </p:nvGrpSpPr>
        <p:grpSpPr bwMode="auto">
          <a:xfrm>
            <a:off x="2152650" y="2819400"/>
            <a:ext cx="6845300" cy="2578100"/>
            <a:chOff x="1536" y="1632"/>
            <a:chExt cx="3981" cy="1624"/>
          </a:xfrm>
        </p:grpSpPr>
        <p:grpSp>
          <p:nvGrpSpPr>
            <p:cNvPr id="44101" name="Group 45">
              <a:extLst>
                <a:ext uri="{FF2B5EF4-FFF2-40B4-BE49-F238E27FC236}">
                  <a16:creationId xmlns:a16="http://schemas.microsoft.com/office/drawing/2014/main" id="{72F57DD4-B450-4E67-A2A5-D9D2321B41F4}"/>
                </a:ext>
              </a:extLst>
            </p:cNvPr>
            <p:cNvGrpSpPr>
              <a:grpSpLocks/>
            </p:cNvGrpSpPr>
            <p:nvPr/>
          </p:nvGrpSpPr>
          <p:grpSpPr bwMode="auto">
            <a:xfrm>
              <a:off x="1536" y="1680"/>
              <a:ext cx="1680" cy="1576"/>
              <a:chOff x="1536" y="1680"/>
              <a:chExt cx="1680" cy="1576"/>
            </a:xfrm>
          </p:grpSpPr>
          <p:grpSp>
            <p:nvGrpSpPr>
              <p:cNvPr id="44108" name="Group 46">
                <a:extLst>
                  <a:ext uri="{FF2B5EF4-FFF2-40B4-BE49-F238E27FC236}">
                    <a16:creationId xmlns:a16="http://schemas.microsoft.com/office/drawing/2014/main" id="{30EC1EFA-BAD7-4F6F-8298-63B69CF2C0F6}"/>
                  </a:ext>
                </a:extLst>
              </p:cNvPr>
              <p:cNvGrpSpPr>
                <a:grpSpLocks/>
              </p:cNvGrpSpPr>
              <p:nvPr/>
            </p:nvGrpSpPr>
            <p:grpSpPr bwMode="auto">
              <a:xfrm>
                <a:off x="1808" y="1968"/>
                <a:ext cx="1136" cy="1088"/>
                <a:chOff x="1808" y="1872"/>
                <a:chExt cx="1136" cy="1088"/>
              </a:xfrm>
            </p:grpSpPr>
            <p:sp>
              <p:nvSpPr>
                <p:cNvPr id="44114" name="Line 47">
                  <a:extLst>
                    <a:ext uri="{FF2B5EF4-FFF2-40B4-BE49-F238E27FC236}">
                      <a16:creationId xmlns:a16="http://schemas.microsoft.com/office/drawing/2014/main" id="{1F74C0D4-A050-41A2-9142-AF2D9A91C5B0}"/>
                    </a:ext>
                  </a:extLst>
                </p:cNvPr>
                <p:cNvSpPr>
                  <a:spLocks noChangeShapeType="1"/>
                </p:cNvSpPr>
                <p:nvPr/>
              </p:nvSpPr>
              <p:spPr bwMode="auto">
                <a:xfrm flipV="1">
                  <a:off x="2472" y="1872"/>
                  <a:ext cx="0" cy="432"/>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115" name="Line 48">
                  <a:extLst>
                    <a:ext uri="{FF2B5EF4-FFF2-40B4-BE49-F238E27FC236}">
                      <a16:creationId xmlns:a16="http://schemas.microsoft.com/office/drawing/2014/main" id="{A55292CD-1875-4D14-AD75-FADF7BF9B803}"/>
                    </a:ext>
                  </a:extLst>
                </p:cNvPr>
                <p:cNvSpPr>
                  <a:spLocks noChangeShapeType="1"/>
                </p:cNvSpPr>
                <p:nvPr/>
              </p:nvSpPr>
              <p:spPr bwMode="auto">
                <a:xfrm flipV="1">
                  <a:off x="2544" y="2488"/>
                  <a:ext cx="400" cy="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116" name="Line 49">
                  <a:extLst>
                    <a:ext uri="{FF2B5EF4-FFF2-40B4-BE49-F238E27FC236}">
                      <a16:creationId xmlns:a16="http://schemas.microsoft.com/office/drawing/2014/main" id="{BBBD870F-ADCB-43F5-8979-BDFE4F928C9A}"/>
                    </a:ext>
                  </a:extLst>
                </p:cNvPr>
                <p:cNvSpPr>
                  <a:spLocks noChangeShapeType="1"/>
                </p:cNvSpPr>
                <p:nvPr/>
              </p:nvSpPr>
              <p:spPr bwMode="auto">
                <a:xfrm flipH="1">
                  <a:off x="2104" y="2640"/>
                  <a:ext cx="240" cy="32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117" name="Line 50">
                  <a:extLst>
                    <a:ext uri="{FF2B5EF4-FFF2-40B4-BE49-F238E27FC236}">
                      <a16:creationId xmlns:a16="http://schemas.microsoft.com/office/drawing/2014/main" id="{9F28161B-A033-4C2F-8A89-F7757CDE02DE}"/>
                    </a:ext>
                  </a:extLst>
                </p:cNvPr>
                <p:cNvSpPr>
                  <a:spLocks noChangeShapeType="1"/>
                </p:cNvSpPr>
                <p:nvPr/>
              </p:nvSpPr>
              <p:spPr bwMode="auto">
                <a:xfrm flipH="1" flipV="1">
                  <a:off x="1808" y="2072"/>
                  <a:ext cx="440" cy="304"/>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nvGrpSpPr>
              <p:cNvPr id="44109" name="Group 51">
                <a:extLst>
                  <a:ext uri="{FF2B5EF4-FFF2-40B4-BE49-F238E27FC236}">
                    <a16:creationId xmlns:a16="http://schemas.microsoft.com/office/drawing/2014/main" id="{8F714483-4CCE-4704-8633-62B85040154F}"/>
                  </a:ext>
                </a:extLst>
              </p:cNvPr>
              <p:cNvGrpSpPr>
                <a:grpSpLocks/>
              </p:cNvGrpSpPr>
              <p:nvPr/>
            </p:nvGrpSpPr>
            <p:grpSpPr bwMode="auto">
              <a:xfrm>
                <a:off x="1536" y="1680"/>
                <a:ext cx="1680" cy="1576"/>
                <a:chOff x="1536" y="1584"/>
                <a:chExt cx="1680" cy="1576"/>
              </a:xfrm>
            </p:grpSpPr>
            <p:sp>
              <p:nvSpPr>
                <p:cNvPr id="44110" name="Oval 52">
                  <a:extLst>
                    <a:ext uri="{FF2B5EF4-FFF2-40B4-BE49-F238E27FC236}">
                      <a16:creationId xmlns:a16="http://schemas.microsoft.com/office/drawing/2014/main" id="{9A417609-B163-4646-AD6A-BAC22508C068}"/>
                    </a:ext>
                  </a:extLst>
                </p:cNvPr>
                <p:cNvSpPr>
                  <a:spLocks noChangeArrowheads="1"/>
                </p:cNvSpPr>
                <p:nvPr/>
              </p:nvSpPr>
              <p:spPr bwMode="auto">
                <a:xfrm>
                  <a:off x="2968" y="2304"/>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11" name="Oval 53">
                  <a:extLst>
                    <a:ext uri="{FF2B5EF4-FFF2-40B4-BE49-F238E27FC236}">
                      <a16:creationId xmlns:a16="http://schemas.microsoft.com/office/drawing/2014/main" id="{E9116B83-D70E-4189-9B84-32B3FE20E6B2}"/>
                    </a:ext>
                  </a:extLst>
                </p:cNvPr>
                <p:cNvSpPr>
                  <a:spLocks noChangeArrowheads="1"/>
                </p:cNvSpPr>
                <p:nvPr/>
              </p:nvSpPr>
              <p:spPr bwMode="auto">
                <a:xfrm>
                  <a:off x="1864" y="2928"/>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12" name="Oval 54">
                  <a:extLst>
                    <a:ext uri="{FF2B5EF4-FFF2-40B4-BE49-F238E27FC236}">
                      <a16:creationId xmlns:a16="http://schemas.microsoft.com/office/drawing/2014/main" id="{7C685640-CE9B-45BA-A198-FFD818A6439B}"/>
                    </a:ext>
                  </a:extLst>
                </p:cNvPr>
                <p:cNvSpPr>
                  <a:spLocks noChangeArrowheads="1"/>
                </p:cNvSpPr>
                <p:nvPr/>
              </p:nvSpPr>
              <p:spPr bwMode="auto">
                <a:xfrm>
                  <a:off x="1536" y="1920"/>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13" name="Oval 55">
                  <a:extLst>
                    <a:ext uri="{FF2B5EF4-FFF2-40B4-BE49-F238E27FC236}">
                      <a16:creationId xmlns:a16="http://schemas.microsoft.com/office/drawing/2014/main" id="{732C2376-AA90-46FA-B5BF-5D7D6CE385FC}"/>
                    </a:ext>
                  </a:extLst>
                </p:cNvPr>
                <p:cNvSpPr>
                  <a:spLocks noChangeArrowheads="1"/>
                </p:cNvSpPr>
                <p:nvPr/>
              </p:nvSpPr>
              <p:spPr bwMode="auto">
                <a:xfrm>
                  <a:off x="2256" y="1584"/>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grpSp>
        <p:grpSp>
          <p:nvGrpSpPr>
            <p:cNvPr id="44102" name="Group 56">
              <a:extLst>
                <a:ext uri="{FF2B5EF4-FFF2-40B4-BE49-F238E27FC236}">
                  <a16:creationId xmlns:a16="http://schemas.microsoft.com/office/drawing/2014/main" id="{3C011FAE-4430-4A4E-94BC-E7D20E5559E4}"/>
                </a:ext>
              </a:extLst>
            </p:cNvPr>
            <p:cNvGrpSpPr>
              <a:grpSpLocks/>
            </p:cNvGrpSpPr>
            <p:nvPr/>
          </p:nvGrpSpPr>
          <p:grpSpPr bwMode="auto">
            <a:xfrm>
              <a:off x="4288" y="1632"/>
              <a:ext cx="1067" cy="518"/>
              <a:chOff x="4288" y="1536"/>
              <a:chExt cx="1067" cy="518"/>
            </a:xfrm>
          </p:grpSpPr>
          <p:sp>
            <p:nvSpPr>
              <p:cNvPr id="44106" name="Line 57">
                <a:extLst>
                  <a:ext uri="{FF2B5EF4-FFF2-40B4-BE49-F238E27FC236}">
                    <a16:creationId xmlns:a16="http://schemas.microsoft.com/office/drawing/2014/main" id="{47EC0E82-75D0-4470-B0B8-9FA8EF7C8E78}"/>
                  </a:ext>
                </a:extLst>
              </p:cNvPr>
              <p:cNvSpPr>
                <a:spLocks noChangeShapeType="1"/>
              </p:cNvSpPr>
              <p:nvPr/>
            </p:nvSpPr>
            <p:spPr bwMode="auto">
              <a:xfrm flipH="1" flipV="1">
                <a:off x="4288" y="1560"/>
                <a:ext cx="16" cy="24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107" name="Text Box 58">
                <a:extLst>
                  <a:ext uri="{FF2B5EF4-FFF2-40B4-BE49-F238E27FC236}">
                    <a16:creationId xmlns:a16="http://schemas.microsoft.com/office/drawing/2014/main" id="{E9727C5C-D701-4623-80E4-C5667F56D4F7}"/>
                  </a:ext>
                </a:extLst>
              </p:cNvPr>
              <p:cNvSpPr txBox="1">
                <a:spLocks noChangeArrowheads="1"/>
              </p:cNvSpPr>
              <p:nvPr/>
            </p:nvSpPr>
            <p:spPr bwMode="auto">
              <a:xfrm>
                <a:off x="4446" y="1536"/>
                <a:ext cx="90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latin typeface="Book Antiqua" panose="02040602050305030304" pitchFamily="18" charset="0"/>
                  </a:rPr>
                  <a:t>= forward</a:t>
                </a:r>
              </a:p>
              <a:p>
                <a:pPr eaLnBrk="1" hangingPunct="1">
                  <a:spcBef>
                    <a:spcPct val="0"/>
                  </a:spcBef>
                  <a:buFontTx/>
                  <a:buNone/>
                </a:pPr>
                <a:r>
                  <a:rPr lang="en-US" altLang="en-US" sz="2400" b="1">
                    <a:latin typeface="Book Antiqua" panose="02040602050305030304" pitchFamily="18" charset="0"/>
                  </a:rPr>
                  <a:t>    query</a:t>
                </a:r>
                <a:endParaRPr lang="en-US" altLang="en-US" sz="1800">
                  <a:latin typeface="Book Antiqua" panose="02040602050305030304" pitchFamily="18" charset="0"/>
                </a:endParaRPr>
              </a:p>
            </p:txBody>
          </p:sp>
        </p:grpSp>
        <p:grpSp>
          <p:nvGrpSpPr>
            <p:cNvPr id="44103" name="Group 59">
              <a:extLst>
                <a:ext uri="{FF2B5EF4-FFF2-40B4-BE49-F238E27FC236}">
                  <a16:creationId xmlns:a16="http://schemas.microsoft.com/office/drawing/2014/main" id="{9279314E-3BD5-488E-B26C-A08ED43EB44E}"/>
                </a:ext>
              </a:extLst>
            </p:cNvPr>
            <p:cNvGrpSpPr>
              <a:grpSpLocks/>
            </p:cNvGrpSpPr>
            <p:nvPr/>
          </p:nvGrpSpPr>
          <p:grpSpPr bwMode="auto">
            <a:xfrm>
              <a:off x="4214" y="2152"/>
              <a:ext cx="1303" cy="518"/>
              <a:chOff x="4214" y="2056"/>
              <a:chExt cx="1303" cy="518"/>
            </a:xfrm>
          </p:grpSpPr>
          <p:sp>
            <p:nvSpPr>
              <p:cNvPr id="44104" name="Oval 60">
                <a:extLst>
                  <a:ext uri="{FF2B5EF4-FFF2-40B4-BE49-F238E27FC236}">
                    <a16:creationId xmlns:a16="http://schemas.microsoft.com/office/drawing/2014/main" id="{9FBC9ED8-FAE9-4B46-B0EC-7CC9A26297EA}"/>
                  </a:ext>
                </a:extLst>
              </p:cNvPr>
              <p:cNvSpPr>
                <a:spLocks noChangeArrowheads="1"/>
              </p:cNvSpPr>
              <p:nvPr/>
            </p:nvSpPr>
            <p:spPr bwMode="auto">
              <a:xfrm>
                <a:off x="4214" y="2104"/>
                <a:ext cx="226"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105" name="Text Box 61">
                <a:extLst>
                  <a:ext uri="{FF2B5EF4-FFF2-40B4-BE49-F238E27FC236}">
                    <a16:creationId xmlns:a16="http://schemas.microsoft.com/office/drawing/2014/main" id="{7E87F552-2956-4ABA-B26D-F1E629EEE8A7}"/>
                  </a:ext>
                </a:extLst>
              </p:cNvPr>
              <p:cNvSpPr txBox="1">
                <a:spLocks noChangeArrowheads="1"/>
              </p:cNvSpPr>
              <p:nvPr/>
            </p:nvSpPr>
            <p:spPr bwMode="auto">
              <a:xfrm>
                <a:off x="4462" y="2056"/>
                <a:ext cx="105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latin typeface="Book Antiqua" panose="02040602050305030304" pitchFamily="18" charset="0"/>
                  </a:rPr>
                  <a:t>= processed</a:t>
                </a:r>
              </a:p>
              <a:p>
                <a:pPr eaLnBrk="1" hangingPunct="1">
                  <a:spcBef>
                    <a:spcPct val="0"/>
                  </a:spcBef>
                  <a:buFontTx/>
                  <a:buNone/>
                </a:pPr>
                <a:r>
                  <a:rPr lang="en-US" altLang="en-US" sz="2400" b="1">
                    <a:latin typeface="Book Antiqua" panose="02040602050305030304" pitchFamily="18" charset="0"/>
                  </a:rPr>
                  <a:t>   query</a:t>
                </a:r>
                <a:endParaRPr lang="en-US" altLang="en-US" sz="2400">
                  <a:latin typeface="Book Antiqua" panose="02040602050305030304" pitchFamily="18" charset="0"/>
                </a:endParaRPr>
              </a:p>
            </p:txBody>
          </p:sp>
        </p:grpSp>
      </p:grpSp>
      <p:grpSp>
        <p:nvGrpSpPr>
          <p:cNvPr id="9" name="Group 62">
            <a:extLst>
              <a:ext uri="{FF2B5EF4-FFF2-40B4-BE49-F238E27FC236}">
                <a16:creationId xmlns:a16="http://schemas.microsoft.com/office/drawing/2014/main" id="{25CDAA5D-4F98-4322-BFE8-18B698140DBF}"/>
              </a:ext>
            </a:extLst>
          </p:cNvPr>
          <p:cNvGrpSpPr>
            <a:grpSpLocks/>
          </p:cNvGrpSpPr>
          <p:nvPr/>
        </p:nvGrpSpPr>
        <p:grpSpPr bwMode="auto">
          <a:xfrm>
            <a:off x="1314450" y="1982788"/>
            <a:ext cx="5035550" cy="4622800"/>
            <a:chOff x="1049" y="1105"/>
            <a:chExt cx="2928" cy="2912"/>
          </a:xfrm>
        </p:grpSpPr>
        <p:grpSp>
          <p:nvGrpSpPr>
            <p:cNvPr id="44079" name="Group 63">
              <a:extLst>
                <a:ext uri="{FF2B5EF4-FFF2-40B4-BE49-F238E27FC236}">
                  <a16:creationId xmlns:a16="http://schemas.microsoft.com/office/drawing/2014/main" id="{B137F5A5-E333-435B-A2AB-8A5EE97A0A5C}"/>
                </a:ext>
              </a:extLst>
            </p:cNvPr>
            <p:cNvGrpSpPr>
              <a:grpSpLocks/>
            </p:cNvGrpSpPr>
            <p:nvPr/>
          </p:nvGrpSpPr>
          <p:grpSpPr bwMode="auto">
            <a:xfrm>
              <a:off x="1328" y="1336"/>
              <a:ext cx="2392" cy="2456"/>
              <a:chOff x="1328" y="1240"/>
              <a:chExt cx="2392" cy="2456"/>
            </a:xfrm>
          </p:grpSpPr>
          <p:grpSp>
            <p:nvGrpSpPr>
              <p:cNvPr id="44090" name="Group 64">
                <a:extLst>
                  <a:ext uri="{FF2B5EF4-FFF2-40B4-BE49-F238E27FC236}">
                    <a16:creationId xmlns:a16="http://schemas.microsoft.com/office/drawing/2014/main" id="{B7E4E687-59B1-4EE7-AE6E-AE449185A740}"/>
                  </a:ext>
                </a:extLst>
              </p:cNvPr>
              <p:cNvGrpSpPr>
                <a:grpSpLocks/>
              </p:cNvGrpSpPr>
              <p:nvPr/>
            </p:nvGrpSpPr>
            <p:grpSpPr bwMode="auto">
              <a:xfrm>
                <a:off x="1328" y="1240"/>
                <a:ext cx="2152" cy="2456"/>
                <a:chOff x="1328" y="1240"/>
                <a:chExt cx="2152" cy="2456"/>
              </a:xfrm>
            </p:grpSpPr>
            <p:sp>
              <p:nvSpPr>
                <p:cNvPr id="44092" name="Line 65">
                  <a:extLst>
                    <a:ext uri="{FF2B5EF4-FFF2-40B4-BE49-F238E27FC236}">
                      <a16:creationId xmlns:a16="http://schemas.microsoft.com/office/drawing/2014/main" id="{26AE422D-814C-4F87-9B41-61AF9C9AAB64}"/>
                    </a:ext>
                  </a:extLst>
                </p:cNvPr>
                <p:cNvSpPr>
                  <a:spLocks noChangeShapeType="1"/>
                </p:cNvSpPr>
                <p:nvPr/>
              </p:nvSpPr>
              <p:spPr bwMode="auto">
                <a:xfrm flipV="1">
                  <a:off x="2456" y="1240"/>
                  <a:ext cx="456" cy="328"/>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3" name="Line 66">
                  <a:extLst>
                    <a:ext uri="{FF2B5EF4-FFF2-40B4-BE49-F238E27FC236}">
                      <a16:creationId xmlns:a16="http://schemas.microsoft.com/office/drawing/2014/main" id="{8EC1C8CD-4A5F-4F00-9EA3-7613D4B7EB84}"/>
                    </a:ext>
                  </a:extLst>
                </p:cNvPr>
                <p:cNvSpPr>
                  <a:spLocks noChangeShapeType="1"/>
                </p:cNvSpPr>
                <p:nvPr/>
              </p:nvSpPr>
              <p:spPr bwMode="auto">
                <a:xfrm flipV="1">
                  <a:off x="2576" y="1672"/>
                  <a:ext cx="528" cy="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4" name="Line 67">
                  <a:extLst>
                    <a:ext uri="{FF2B5EF4-FFF2-40B4-BE49-F238E27FC236}">
                      <a16:creationId xmlns:a16="http://schemas.microsoft.com/office/drawing/2014/main" id="{112CF329-1ABD-4615-8A2B-AC54AE3FF9AB}"/>
                    </a:ext>
                  </a:extLst>
                </p:cNvPr>
                <p:cNvSpPr>
                  <a:spLocks noChangeShapeType="1"/>
                </p:cNvSpPr>
                <p:nvPr/>
              </p:nvSpPr>
              <p:spPr bwMode="auto">
                <a:xfrm flipH="1" flipV="1">
                  <a:off x="1760" y="1568"/>
                  <a:ext cx="472" cy="4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5" name="Line 68">
                  <a:extLst>
                    <a:ext uri="{FF2B5EF4-FFF2-40B4-BE49-F238E27FC236}">
                      <a16:creationId xmlns:a16="http://schemas.microsoft.com/office/drawing/2014/main" id="{7BCFFC96-00AC-4A89-B280-862D334BBAE0}"/>
                    </a:ext>
                  </a:extLst>
                </p:cNvPr>
                <p:cNvSpPr>
                  <a:spLocks noChangeShapeType="1"/>
                </p:cNvSpPr>
                <p:nvPr/>
              </p:nvSpPr>
              <p:spPr bwMode="auto">
                <a:xfrm flipV="1">
                  <a:off x="3216" y="2160"/>
                  <a:ext cx="264" cy="128"/>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6" name="Line 69">
                  <a:extLst>
                    <a:ext uri="{FF2B5EF4-FFF2-40B4-BE49-F238E27FC236}">
                      <a16:creationId xmlns:a16="http://schemas.microsoft.com/office/drawing/2014/main" id="{C627B256-D188-48EE-A902-12BD2EE62D95}"/>
                    </a:ext>
                  </a:extLst>
                </p:cNvPr>
                <p:cNvSpPr>
                  <a:spLocks noChangeShapeType="1"/>
                </p:cNvSpPr>
                <p:nvPr/>
              </p:nvSpPr>
              <p:spPr bwMode="auto">
                <a:xfrm>
                  <a:off x="3192" y="2552"/>
                  <a:ext cx="112" cy="352"/>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7" name="Line 70">
                  <a:extLst>
                    <a:ext uri="{FF2B5EF4-FFF2-40B4-BE49-F238E27FC236}">
                      <a16:creationId xmlns:a16="http://schemas.microsoft.com/office/drawing/2014/main" id="{DEE0A5C6-C193-40BC-BD5D-CBE9BDA15F4A}"/>
                    </a:ext>
                  </a:extLst>
                </p:cNvPr>
                <p:cNvSpPr>
                  <a:spLocks noChangeShapeType="1"/>
                </p:cNvSpPr>
                <p:nvPr/>
              </p:nvSpPr>
              <p:spPr bwMode="auto">
                <a:xfrm flipH="1">
                  <a:off x="2824" y="2576"/>
                  <a:ext cx="248" cy="592"/>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8" name="Line 71">
                  <a:extLst>
                    <a:ext uri="{FF2B5EF4-FFF2-40B4-BE49-F238E27FC236}">
                      <a16:creationId xmlns:a16="http://schemas.microsoft.com/office/drawing/2014/main" id="{07FA17A2-D442-44ED-A666-5EFB3DE4591B}"/>
                    </a:ext>
                  </a:extLst>
                </p:cNvPr>
                <p:cNvSpPr>
                  <a:spLocks noChangeShapeType="1"/>
                </p:cNvSpPr>
                <p:nvPr/>
              </p:nvSpPr>
              <p:spPr bwMode="auto">
                <a:xfrm>
                  <a:off x="2160" y="3024"/>
                  <a:ext cx="408" cy="128"/>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99" name="Line 72">
                  <a:extLst>
                    <a:ext uri="{FF2B5EF4-FFF2-40B4-BE49-F238E27FC236}">
                      <a16:creationId xmlns:a16="http://schemas.microsoft.com/office/drawing/2014/main" id="{8C19342A-8B6D-4299-9E6C-BCCB2531968E}"/>
                    </a:ext>
                  </a:extLst>
                </p:cNvPr>
                <p:cNvSpPr>
                  <a:spLocks noChangeShapeType="1"/>
                </p:cNvSpPr>
                <p:nvPr/>
              </p:nvSpPr>
              <p:spPr bwMode="auto">
                <a:xfrm flipH="1">
                  <a:off x="1880" y="3200"/>
                  <a:ext cx="144" cy="496"/>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100" name="Line 73">
                  <a:extLst>
                    <a:ext uri="{FF2B5EF4-FFF2-40B4-BE49-F238E27FC236}">
                      <a16:creationId xmlns:a16="http://schemas.microsoft.com/office/drawing/2014/main" id="{108E4D12-C2F7-446F-9E22-1E13573AB741}"/>
                    </a:ext>
                  </a:extLst>
                </p:cNvPr>
                <p:cNvSpPr>
                  <a:spLocks noChangeShapeType="1"/>
                </p:cNvSpPr>
                <p:nvPr/>
              </p:nvSpPr>
              <p:spPr bwMode="auto">
                <a:xfrm flipH="1" flipV="1">
                  <a:off x="1328" y="2840"/>
                  <a:ext cx="504" cy="152"/>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sp>
            <p:nvSpPr>
              <p:cNvPr id="44091" name="Line 74">
                <a:extLst>
                  <a:ext uri="{FF2B5EF4-FFF2-40B4-BE49-F238E27FC236}">
                    <a16:creationId xmlns:a16="http://schemas.microsoft.com/office/drawing/2014/main" id="{82923F48-1DE2-4E9A-91F9-1DBC70AD451D}"/>
                  </a:ext>
                </a:extLst>
              </p:cNvPr>
              <p:cNvSpPr>
                <a:spLocks noChangeShapeType="1"/>
              </p:cNvSpPr>
              <p:nvPr/>
            </p:nvSpPr>
            <p:spPr bwMode="auto">
              <a:xfrm>
                <a:off x="3272" y="2408"/>
                <a:ext cx="448" cy="80"/>
              </a:xfrm>
              <a:prstGeom prst="line">
                <a:avLst/>
              </a:prstGeom>
              <a:noFill/>
              <a:ln w="57150">
                <a:solidFill>
                  <a:schemeClr val="hlink"/>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nvGrpSpPr>
            <p:cNvPr id="44080" name="Group 75">
              <a:extLst>
                <a:ext uri="{FF2B5EF4-FFF2-40B4-BE49-F238E27FC236}">
                  <a16:creationId xmlns:a16="http://schemas.microsoft.com/office/drawing/2014/main" id="{3E631658-CF1A-4FFD-9C4D-422C966CF64D}"/>
                </a:ext>
              </a:extLst>
            </p:cNvPr>
            <p:cNvGrpSpPr>
              <a:grpSpLocks/>
            </p:cNvGrpSpPr>
            <p:nvPr/>
          </p:nvGrpSpPr>
          <p:grpSpPr bwMode="auto">
            <a:xfrm>
              <a:off x="1049" y="1105"/>
              <a:ext cx="2928" cy="2912"/>
              <a:chOff x="1056" y="1016"/>
              <a:chExt cx="2928" cy="2912"/>
            </a:xfrm>
          </p:grpSpPr>
          <p:sp>
            <p:nvSpPr>
              <p:cNvPr id="44081" name="Oval 76">
                <a:extLst>
                  <a:ext uri="{FF2B5EF4-FFF2-40B4-BE49-F238E27FC236}">
                    <a16:creationId xmlns:a16="http://schemas.microsoft.com/office/drawing/2014/main" id="{8ABB7AC5-D1BB-4A88-8A0B-57CEF18D7664}"/>
                  </a:ext>
                </a:extLst>
              </p:cNvPr>
              <p:cNvSpPr>
                <a:spLocks noChangeArrowheads="1"/>
              </p:cNvSpPr>
              <p:nvPr/>
            </p:nvSpPr>
            <p:spPr bwMode="auto">
              <a:xfrm>
                <a:off x="3216" y="2976"/>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2" name="Oval 77">
                <a:extLst>
                  <a:ext uri="{FF2B5EF4-FFF2-40B4-BE49-F238E27FC236}">
                    <a16:creationId xmlns:a16="http://schemas.microsoft.com/office/drawing/2014/main" id="{CE739103-F00D-4F06-9C02-3314F05FCC9F}"/>
                  </a:ext>
                </a:extLst>
              </p:cNvPr>
              <p:cNvSpPr>
                <a:spLocks noChangeArrowheads="1"/>
              </p:cNvSpPr>
              <p:nvPr/>
            </p:nvSpPr>
            <p:spPr bwMode="auto">
              <a:xfrm>
                <a:off x="3736" y="2448"/>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3" name="Oval 78">
                <a:extLst>
                  <a:ext uri="{FF2B5EF4-FFF2-40B4-BE49-F238E27FC236}">
                    <a16:creationId xmlns:a16="http://schemas.microsoft.com/office/drawing/2014/main" id="{7BF7FE21-329B-45FA-B1CE-40D4C3C97F19}"/>
                  </a:ext>
                </a:extLst>
              </p:cNvPr>
              <p:cNvSpPr>
                <a:spLocks noChangeArrowheads="1"/>
              </p:cNvSpPr>
              <p:nvPr/>
            </p:nvSpPr>
            <p:spPr bwMode="auto">
              <a:xfrm>
                <a:off x="3568" y="1976"/>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4" name="Oval 79">
                <a:extLst>
                  <a:ext uri="{FF2B5EF4-FFF2-40B4-BE49-F238E27FC236}">
                    <a16:creationId xmlns:a16="http://schemas.microsoft.com/office/drawing/2014/main" id="{934F6AEF-D45C-4A12-8580-FEB34902FE8B}"/>
                  </a:ext>
                </a:extLst>
              </p:cNvPr>
              <p:cNvSpPr>
                <a:spLocks noChangeArrowheads="1"/>
              </p:cNvSpPr>
              <p:nvPr/>
            </p:nvSpPr>
            <p:spPr bwMode="auto">
              <a:xfrm>
                <a:off x="3128" y="1640"/>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5" name="Oval 80">
                <a:extLst>
                  <a:ext uri="{FF2B5EF4-FFF2-40B4-BE49-F238E27FC236}">
                    <a16:creationId xmlns:a16="http://schemas.microsoft.com/office/drawing/2014/main" id="{653558C4-FE9F-46F7-BB7D-3726C1E06DE5}"/>
                  </a:ext>
                </a:extLst>
              </p:cNvPr>
              <p:cNvSpPr>
                <a:spLocks noChangeArrowheads="1"/>
              </p:cNvSpPr>
              <p:nvPr/>
            </p:nvSpPr>
            <p:spPr bwMode="auto">
              <a:xfrm>
                <a:off x="1488" y="1488"/>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6" name="Oval 81">
                <a:extLst>
                  <a:ext uri="{FF2B5EF4-FFF2-40B4-BE49-F238E27FC236}">
                    <a16:creationId xmlns:a16="http://schemas.microsoft.com/office/drawing/2014/main" id="{B894FDE2-3C4C-452A-A058-402466C38209}"/>
                  </a:ext>
                </a:extLst>
              </p:cNvPr>
              <p:cNvSpPr>
                <a:spLocks noChangeArrowheads="1"/>
              </p:cNvSpPr>
              <p:nvPr/>
            </p:nvSpPr>
            <p:spPr bwMode="auto">
              <a:xfrm>
                <a:off x="2928" y="1016"/>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7" name="Oval 82">
                <a:extLst>
                  <a:ext uri="{FF2B5EF4-FFF2-40B4-BE49-F238E27FC236}">
                    <a16:creationId xmlns:a16="http://schemas.microsoft.com/office/drawing/2014/main" id="{8E0E68B2-11AF-4B6C-8786-FB1E20E26D04}"/>
                  </a:ext>
                </a:extLst>
              </p:cNvPr>
              <p:cNvSpPr>
                <a:spLocks noChangeArrowheads="1"/>
              </p:cNvSpPr>
              <p:nvPr/>
            </p:nvSpPr>
            <p:spPr bwMode="auto">
              <a:xfrm>
                <a:off x="1056" y="2784"/>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8" name="Oval 83">
                <a:extLst>
                  <a:ext uri="{FF2B5EF4-FFF2-40B4-BE49-F238E27FC236}">
                    <a16:creationId xmlns:a16="http://schemas.microsoft.com/office/drawing/2014/main" id="{2B57AD9C-E766-4B4D-AAC0-73AF0A372E19}"/>
                  </a:ext>
                </a:extLst>
              </p:cNvPr>
              <p:cNvSpPr>
                <a:spLocks noChangeArrowheads="1"/>
              </p:cNvSpPr>
              <p:nvPr/>
            </p:nvSpPr>
            <p:spPr bwMode="auto">
              <a:xfrm>
                <a:off x="1680" y="3696"/>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89" name="Oval 84">
                <a:extLst>
                  <a:ext uri="{FF2B5EF4-FFF2-40B4-BE49-F238E27FC236}">
                    <a16:creationId xmlns:a16="http://schemas.microsoft.com/office/drawing/2014/main" id="{6403288E-1F0A-4838-95B5-3B460C3DEA8E}"/>
                  </a:ext>
                </a:extLst>
              </p:cNvPr>
              <p:cNvSpPr>
                <a:spLocks noChangeArrowheads="1"/>
              </p:cNvSpPr>
              <p:nvPr/>
            </p:nvSpPr>
            <p:spPr bwMode="auto">
              <a:xfrm>
                <a:off x="2592" y="3128"/>
                <a:ext cx="248" cy="232"/>
              </a:xfrm>
              <a:prstGeom prst="ellipse">
                <a:avLst/>
              </a:prstGeom>
              <a:solidFill>
                <a:srgbClr val="99CCFF"/>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grpSp>
      <p:grpSp>
        <p:nvGrpSpPr>
          <p:cNvPr id="13" name="Group 85">
            <a:extLst>
              <a:ext uri="{FF2B5EF4-FFF2-40B4-BE49-F238E27FC236}">
                <a16:creationId xmlns:a16="http://schemas.microsoft.com/office/drawing/2014/main" id="{5BBEB56F-8710-4076-BF33-AF546842DA18}"/>
              </a:ext>
            </a:extLst>
          </p:cNvPr>
          <p:cNvGrpSpPr>
            <a:grpSpLocks/>
          </p:cNvGrpSpPr>
          <p:nvPr/>
        </p:nvGrpSpPr>
        <p:grpSpPr bwMode="auto">
          <a:xfrm>
            <a:off x="2044700" y="2743200"/>
            <a:ext cx="4319588" cy="2971800"/>
            <a:chOff x="1488" y="1488"/>
            <a:chExt cx="2512" cy="1872"/>
          </a:xfrm>
        </p:grpSpPr>
        <p:sp>
          <p:nvSpPr>
            <p:cNvPr id="44075" name="Oval 86">
              <a:extLst>
                <a:ext uri="{FF2B5EF4-FFF2-40B4-BE49-F238E27FC236}">
                  <a16:creationId xmlns:a16="http://schemas.microsoft.com/office/drawing/2014/main" id="{FAEA8F62-0F08-46A1-8584-CD14C7EA004C}"/>
                </a:ext>
              </a:extLst>
            </p:cNvPr>
            <p:cNvSpPr>
              <a:spLocks noChangeArrowheads="1"/>
            </p:cNvSpPr>
            <p:nvPr/>
          </p:nvSpPr>
          <p:spPr bwMode="auto">
            <a:xfrm>
              <a:off x="1488" y="1488"/>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76" name="Oval 87">
              <a:extLst>
                <a:ext uri="{FF2B5EF4-FFF2-40B4-BE49-F238E27FC236}">
                  <a16:creationId xmlns:a16="http://schemas.microsoft.com/office/drawing/2014/main" id="{CA8A4F00-8B3E-47F7-9690-8AAB31BCFB0B}"/>
                </a:ext>
              </a:extLst>
            </p:cNvPr>
            <p:cNvSpPr>
              <a:spLocks noChangeArrowheads="1"/>
            </p:cNvSpPr>
            <p:nvPr/>
          </p:nvSpPr>
          <p:spPr bwMode="auto">
            <a:xfrm>
              <a:off x="3752" y="2448"/>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77" name="Oval 88">
              <a:extLst>
                <a:ext uri="{FF2B5EF4-FFF2-40B4-BE49-F238E27FC236}">
                  <a16:creationId xmlns:a16="http://schemas.microsoft.com/office/drawing/2014/main" id="{B0ED8E3D-4110-4B54-8390-2AB0450EB0C6}"/>
                </a:ext>
              </a:extLst>
            </p:cNvPr>
            <p:cNvSpPr>
              <a:spLocks noChangeArrowheads="1"/>
            </p:cNvSpPr>
            <p:nvPr/>
          </p:nvSpPr>
          <p:spPr bwMode="auto">
            <a:xfrm>
              <a:off x="2592" y="3128"/>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78" name="Oval 89">
              <a:extLst>
                <a:ext uri="{FF2B5EF4-FFF2-40B4-BE49-F238E27FC236}">
                  <a16:creationId xmlns:a16="http://schemas.microsoft.com/office/drawing/2014/main" id="{1C5C5236-B081-4522-976A-635400000A31}"/>
                </a:ext>
              </a:extLst>
            </p:cNvPr>
            <p:cNvSpPr>
              <a:spLocks noChangeArrowheads="1"/>
            </p:cNvSpPr>
            <p:nvPr/>
          </p:nvSpPr>
          <p:spPr bwMode="auto">
            <a:xfrm>
              <a:off x="3128" y="1640"/>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grpSp>
        <p:nvGrpSpPr>
          <p:cNvPr id="14" name="Group 90">
            <a:extLst>
              <a:ext uri="{FF2B5EF4-FFF2-40B4-BE49-F238E27FC236}">
                <a16:creationId xmlns:a16="http://schemas.microsoft.com/office/drawing/2014/main" id="{FC2FEC5D-8682-472B-A7A3-B20CD73F6A0F}"/>
              </a:ext>
            </a:extLst>
          </p:cNvPr>
          <p:cNvGrpSpPr>
            <a:grpSpLocks/>
          </p:cNvGrpSpPr>
          <p:nvPr/>
        </p:nvGrpSpPr>
        <p:grpSpPr bwMode="auto">
          <a:xfrm>
            <a:off x="2524125" y="3060700"/>
            <a:ext cx="3343275" cy="2501900"/>
            <a:chOff x="1752" y="1784"/>
            <a:chExt cx="1944" cy="1576"/>
          </a:xfrm>
        </p:grpSpPr>
        <p:grpSp>
          <p:nvGrpSpPr>
            <p:cNvPr id="44063" name="Group 91">
              <a:extLst>
                <a:ext uri="{FF2B5EF4-FFF2-40B4-BE49-F238E27FC236}">
                  <a16:creationId xmlns:a16="http://schemas.microsoft.com/office/drawing/2014/main" id="{D1C282CC-D026-49B1-9358-7070676F5921}"/>
                </a:ext>
              </a:extLst>
            </p:cNvPr>
            <p:cNvGrpSpPr>
              <a:grpSpLocks/>
            </p:cNvGrpSpPr>
            <p:nvPr/>
          </p:nvGrpSpPr>
          <p:grpSpPr bwMode="auto">
            <a:xfrm>
              <a:off x="1752" y="1784"/>
              <a:ext cx="1944" cy="912"/>
              <a:chOff x="1752" y="1688"/>
              <a:chExt cx="1944" cy="912"/>
            </a:xfrm>
          </p:grpSpPr>
          <p:grpSp>
            <p:nvGrpSpPr>
              <p:cNvPr id="44067" name="Group 92">
                <a:extLst>
                  <a:ext uri="{FF2B5EF4-FFF2-40B4-BE49-F238E27FC236}">
                    <a16:creationId xmlns:a16="http://schemas.microsoft.com/office/drawing/2014/main" id="{3E7B669E-E8DF-44E4-B6B8-785BE81C8BD0}"/>
                  </a:ext>
                </a:extLst>
              </p:cNvPr>
              <p:cNvGrpSpPr>
                <a:grpSpLocks/>
              </p:cNvGrpSpPr>
              <p:nvPr/>
            </p:nvGrpSpPr>
            <p:grpSpPr bwMode="auto">
              <a:xfrm>
                <a:off x="1752" y="1688"/>
                <a:ext cx="600" cy="624"/>
                <a:chOff x="1752" y="1688"/>
                <a:chExt cx="600" cy="624"/>
              </a:xfrm>
            </p:grpSpPr>
            <p:sp>
              <p:nvSpPr>
                <p:cNvPr id="44073" name="Line 93">
                  <a:extLst>
                    <a:ext uri="{FF2B5EF4-FFF2-40B4-BE49-F238E27FC236}">
                      <a16:creationId xmlns:a16="http://schemas.microsoft.com/office/drawing/2014/main" id="{FC39424A-8C20-4A37-AD00-1C44A7731360}"/>
                    </a:ext>
                  </a:extLst>
                </p:cNvPr>
                <p:cNvSpPr>
                  <a:spLocks noChangeShapeType="1"/>
                </p:cNvSpPr>
                <p:nvPr/>
              </p:nvSpPr>
              <p:spPr bwMode="auto">
                <a:xfrm flipH="1">
                  <a:off x="2344" y="1864"/>
                  <a:ext cx="8" cy="448"/>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74" name="Line 94">
                  <a:extLst>
                    <a:ext uri="{FF2B5EF4-FFF2-40B4-BE49-F238E27FC236}">
                      <a16:creationId xmlns:a16="http://schemas.microsoft.com/office/drawing/2014/main" id="{B0162D06-35CD-47B6-ACA3-A1E6EA2691F7}"/>
                    </a:ext>
                  </a:extLst>
                </p:cNvPr>
                <p:cNvSpPr>
                  <a:spLocks noChangeShapeType="1"/>
                </p:cNvSpPr>
                <p:nvPr/>
              </p:nvSpPr>
              <p:spPr bwMode="auto">
                <a:xfrm>
                  <a:off x="1752" y="1688"/>
                  <a:ext cx="480" cy="48"/>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nvGrpSpPr>
              <p:cNvPr id="44068" name="Group 95">
                <a:extLst>
                  <a:ext uri="{FF2B5EF4-FFF2-40B4-BE49-F238E27FC236}">
                    <a16:creationId xmlns:a16="http://schemas.microsoft.com/office/drawing/2014/main" id="{2854E79B-1D68-4115-B8B5-6770F0ED376F}"/>
                  </a:ext>
                </a:extLst>
              </p:cNvPr>
              <p:cNvGrpSpPr>
                <a:grpSpLocks/>
              </p:cNvGrpSpPr>
              <p:nvPr/>
            </p:nvGrpSpPr>
            <p:grpSpPr bwMode="auto">
              <a:xfrm>
                <a:off x="2288" y="1776"/>
                <a:ext cx="1408" cy="824"/>
                <a:chOff x="2288" y="1776"/>
                <a:chExt cx="1408" cy="824"/>
              </a:xfrm>
            </p:grpSpPr>
            <p:sp>
              <p:nvSpPr>
                <p:cNvPr id="44069" name="Line 96">
                  <a:extLst>
                    <a:ext uri="{FF2B5EF4-FFF2-40B4-BE49-F238E27FC236}">
                      <a16:creationId xmlns:a16="http://schemas.microsoft.com/office/drawing/2014/main" id="{61FD03A4-21E2-4EE2-BB11-6F9E92CE9216}"/>
                    </a:ext>
                  </a:extLst>
                </p:cNvPr>
                <p:cNvSpPr>
                  <a:spLocks noChangeShapeType="1"/>
                </p:cNvSpPr>
                <p:nvPr/>
              </p:nvSpPr>
              <p:spPr bwMode="auto">
                <a:xfrm flipH="1" flipV="1">
                  <a:off x="3240" y="2496"/>
                  <a:ext cx="456" cy="104"/>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70" name="Line 97">
                  <a:extLst>
                    <a:ext uri="{FF2B5EF4-FFF2-40B4-BE49-F238E27FC236}">
                      <a16:creationId xmlns:a16="http://schemas.microsoft.com/office/drawing/2014/main" id="{582F06DF-EDD6-4C9A-BAE4-9110758C88D4}"/>
                    </a:ext>
                  </a:extLst>
                </p:cNvPr>
                <p:cNvSpPr>
                  <a:spLocks noChangeShapeType="1"/>
                </p:cNvSpPr>
                <p:nvPr/>
              </p:nvSpPr>
              <p:spPr bwMode="auto">
                <a:xfrm flipH="1">
                  <a:off x="2480" y="2392"/>
                  <a:ext cx="480" cy="0"/>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71" name="Line 98">
                  <a:extLst>
                    <a:ext uri="{FF2B5EF4-FFF2-40B4-BE49-F238E27FC236}">
                      <a16:creationId xmlns:a16="http://schemas.microsoft.com/office/drawing/2014/main" id="{6A1AADBF-97F6-4FCD-BF4E-6FC015FF2179}"/>
                    </a:ext>
                  </a:extLst>
                </p:cNvPr>
                <p:cNvSpPr>
                  <a:spLocks noChangeShapeType="1"/>
                </p:cNvSpPr>
                <p:nvPr/>
              </p:nvSpPr>
              <p:spPr bwMode="auto">
                <a:xfrm>
                  <a:off x="2288" y="1872"/>
                  <a:ext cx="0" cy="432"/>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72" name="Line 99">
                  <a:extLst>
                    <a:ext uri="{FF2B5EF4-FFF2-40B4-BE49-F238E27FC236}">
                      <a16:creationId xmlns:a16="http://schemas.microsoft.com/office/drawing/2014/main" id="{9432EFA8-A1AF-42B1-B0A2-B5DCDC84D36C}"/>
                    </a:ext>
                  </a:extLst>
                </p:cNvPr>
                <p:cNvSpPr>
                  <a:spLocks noChangeShapeType="1"/>
                </p:cNvSpPr>
                <p:nvPr/>
              </p:nvSpPr>
              <p:spPr bwMode="auto">
                <a:xfrm flipH="1" flipV="1">
                  <a:off x="2544" y="1776"/>
                  <a:ext cx="552" cy="0"/>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grpSp>
          <p:nvGrpSpPr>
            <p:cNvPr id="44064" name="Group 100">
              <a:extLst>
                <a:ext uri="{FF2B5EF4-FFF2-40B4-BE49-F238E27FC236}">
                  <a16:creationId xmlns:a16="http://schemas.microsoft.com/office/drawing/2014/main" id="{DF88FD08-9A6D-4AF7-A1CD-6DEC2BAED985}"/>
                </a:ext>
              </a:extLst>
            </p:cNvPr>
            <p:cNvGrpSpPr>
              <a:grpSpLocks/>
            </p:cNvGrpSpPr>
            <p:nvPr/>
          </p:nvGrpSpPr>
          <p:grpSpPr bwMode="auto">
            <a:xfrm>
              <a:off x="1976" y="2664"/>
              <a:ext cx="576" cy="696"/>
              <a:chOff x="1976" y="2664"/>
              <a:chExt cx="576" cy="696"/>
            </a:xfrm>
          </p:grpSpPr>
          <p:sp>
            <p:nvSpPr>
              <p:cNvPr id="44065" name="Line 101">
                <a:extLst>
                  <a:ext uri="{FF2B5EF4-FFF2-40B4-BE49-F238E27FC236}">
                    <a16:creationId xmlns:a16="http://schemas.microsoft.com/office/drawing/2014/main" id="{6E7D23C0-A8C2-46C4-A481-CE2A182453C8}"/>
                  </a:ext>
                </a:extLst>
              </p:cNvPr>
              <p:cNvSpPr>
                <a:spLocks noChangeShapeType="1"/>
              </p:cNvSpPr>
              <p:nvPr/>
            </p:nvSpPr>
            <p:spPr bwMode="auto">
              <a:xfrm flipV="1">
                <a:off x="1976" y="2664"/>
                <a:ext cx="216" cy="304"/>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66" name="Line 102">
                <a:extLst>
                  <a:ext uri="{FF2B5EF4-FFF2-40B4-BE49-F238E27FC236}">
                    <a16:creationId xmlns:a16="http://schemas.microsoft.com/office/drawing/2014/main" id="{D18D735D-D59F-4C3F-863E-5312487F68BE}"/>
                  </a:ext>
                </a:extLst>
              </p:cNvPr>
              <p:cNvSpPr>
                <a:spLocks noChangeShapeType="1"/>
              </p:cNvSpPr>
              <p:nvPr/>
            </p:nvSpPr>
            <p:spPr bwMode="auto">
              <a:xfrm flipH="1" flipV="1">
                <a:off x="2104" y="3232"/>
                <a:ext cx="448" cy="128"/>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grpSp>
        <p:nvGrpSpPr>
          <p:cNvPr id="19" name="Group 103">
            <a:extLst>
              <a:ext uri="{FF2B5EF4-FFF2-40B4-BE49-F238E27FC236}">
                <a16:creationId xmlns:a16="http://schemas.microsoft.com/office/drawing/2014/main" id="{6729E41D-8287-4EE6-94C3-535EBE95F840}"/>
              </a:ext>
            </a:extLst>
          </p:cNvPr>
          <p:cNvGrpSpPr>
            <a:grpSpLocks/>
          </p:cNvGrpSpPr>
          <p:nvPr/>
        </p:nvGrpSpPr>
        <p:grpSpPr bwMode="auto">
          <a:xfrm>
            <a:off x="3390900" y="2336800"/>
            <a:ext cx="5121275" cy="2159000"/>
            <a:chOff x="2256" y="1328"/>
            <a:chExt cx="2978" cy="1360"/>
          </a:xfrm>
        </p:grpSpPr>
        <p:sp>
          <p:nvSpPr>
            <p:cNvPr id="44059" name="Oval 104">
              <a:extLst>
                <a:ext uri="{FF2B5EF4-FFF2-40B4-BE49-F238E27FC236}">
                  <a16:creationId xmlns:a16="http://schemas.microsoft.com/office/drawing/2014/main" id="{6326751E-CD18-4637-9CB3-C64458603C31}"/>
                </a:ext>
              </a:extLst>
            </p:cNvPr>
            <p:cNvSpPr>
              <a:spLocks noChangeArrowheads="1"/>
            </p:cNvSpPr>
            <p:nvPr/>
          </p:nvSpPr>
          <p:spPr bwMode="auto">
            <a:xfrm>
              <a:off x="2256" y="2448"/>
              <a:ext cx="240" cy="240"/>
            </a:xfrm>
            <a:prstGeom prst="ellipse">
              <a:avLst/>
            </a:prstGeom>
            <a:solidFill>
              <a:srgbClr val="FFFF00"/>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nvGrpSpPr>
            <p:cNvPr id="44060" name="Group 105">
              <a:extLst>
                <a:ext uri="{FF2B5EF4-FFF2-40B4-BE49-F238E27FC236}">
                  <a16:creationId xmlns:a16="http://schemas.microsoft.com/office/drawing/2014/main" id="{C53C41D7-3194-4DB9-9C94-07B9C3DAE46E}"/>
                </a:ext>
              </a:extLst>
            </p:cNvPr>
            <p:cNvGrpSpPr>
              <a:grpSpLocks/>
            </p:cNvGrpSpPr>
            <p:nvPr/>
          </p:nvGrpSpPr>
          <p:grpSpPr bwMode="auto">
            <a:xfrm>
              <a:off x="4175" y="1328"/>
              <a:ext cx="1059" cy="289"/>
              <a:chOff x="4175" y="1232"/>
              <a:chExt cx="1059" cy="289"/>
            </a:xfrm>
          </p:grpSpPr>
          <p:sp>
            <p:nvSpPr>
              <p:cNvPr id="44061" name="Oval 106">
                <a:extLst>
                  <a:ext uri="{FF2B5EF4-FFF2-40B4-BE49-F238E27FC236}">
                    <a16:creationId xmlns:a16="http://schemas.microsoft.com/office/drawing/2014/main" id="{1DE6146B-DA7F-4043-8ED3-C40475CE0D27}"/>
                  </a:ext>
                </a:extLst>
              </p:cNvPr>
              <p:cNvSpPr>
                <a:spLocks noChangeArrowheads="1"/>
              </p:cNvSpPr>
              <p:nvPr/>
            </p:nvSpPr>
            <p:spPr bwMode="auto">
              <a:xfrm>
                <a:off x="4175" y="1232"/>
                <a:ext cx="233" cy="240"/>
              </a:xfrm>
              <a:prstGeom prst="ellipse">
                <a:avLst/>
              </a:prstGeom>
              <a:solidFill>
                <a:srgbClr val="FFFF00"/>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62" name="Text Box 107">
                <a:extLst>
                  <a:ext uri="{FF2B5EF4-FFF2-40B4-BE49-F238E27FC236}">
                    <a16:creationId xmlns:a16="http://schemas.microsoft.com/office/drawing/2014/main" id="{556AA0AF-7CCE-43D2-97EC-714E282DE7C0}"/>
                  </a:ext>
                </a:extLst>
              </p:cNvPr>
              <p:cNvSpPr txBox="1">
                <a:spLocks noChangeArrowheads="1"/>
              </p:cNvSpPr>
              <p:nvPr/>
            </p:nvSpPr>
            <p:spPr bwMode="auto">
              <a:xfrm>
                <a:off x="4454" y="1233"/>
                <a:ext cx="7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latin typeface="Book Antiqua" panose="02040602050305030304" pitchFamily="18" charset="0"/>
                  </a:rPr>
                  <a:t>= source</a:t>
                </a:r>
                <a:endParaRPr lang="en-US" altLang="en-US" sz="1800">
                  <a:latin typeface="Book Antiqua" panose="02040602050305030304" pitchFamily="18" charset="0"/>
                </a:endParaRPr>
              </a:p>
            </p:txBody>
          </p:sp>
        </p:grpSp>
      </p:grpSp>
      <p:grpSp>
        <p:nvGrpSpPr>
          <p:cNvPr id="21" name="Group 108">
            <a:extLst>
              <a:ext uri="{FF2B5EF4-FFF2-40B4-BE49-F238E27FC236}">
                <a16:creationId xmlns:a16="http://schemas.microsoft.com/office/drawing/2014/main" id="{EFEE2A99-A38F-4880-8A5B-30F0B2361900}"/>
              </a:ext>
            </a:extLst>
          </p:cNvPr>
          <p:cNvGrpSpPr>
            <a:grpSpLocks/>
          </p:cNvGrpSpPr>
          <p:nvPr/>
        </p:nvGrpSpPr>
        <p:grpSpPr bwMode="auto">
          <a:xfrm>
            <a:off x="2166938" y="3429000"/>
            <a:ext cx="6742112" cy="2917825"/>
            <a:chOff x="1544" y="2016"/>
            <a:chExt cx="3921" cy="1838"/>
          </a:xfrm>
        </p:grpSpPr>
        <p:grpSp>
          <p:nvGrpSpPr>
            <p:cNvPr id="44046" name="Group 109">
              <a:extLst>
                <a:ext uri="{FF2B5EF4-FFF2-40B4-BE49-F238E27FC236}">
                  <a16:creationId xmlns:a16="http://schemas.microsoft.com/office/drawing/2014/main" id="{36EBF191-56C0-41B4-A86A-E10C108EDA31}"/>
                </a:ext>
              </a:extLst>
            </p:cNvPr>
            <p:cNvGrpSpPr>
              <a:grpSpLocks/>
            </p:cNvGrpSpPr>
            <p:nvPr/>
          </p:nvGrpSpPr>
          <p:grpSpPr bwMode="auto">
            <a:xfrm>
              <a:off x="1544" y="2016"/>
              <a:ext cx="688" cy="1248"/>
              <a:chOff x="1544" y="2016"/>
              <a:chExt cx="688" cy="1248"/>
            </a:xfrm>
          </p:grpSpPr>
          <p:grpSp>
            <p:nvGrpSpPr>
              <p:cNvPr id="44053" name="Group 110">
                <a:extLst>
                  <a:ext uri="{FF2B5EF4-FFF2-40B4-BE49-F238E27FC236}">
                    <a16:creationId xmlns:a16="http://schemas.microsoft.com/office/drawing/2014/main" id="{503AF7E1-B4D4-4593-AEC4-5BB0D2426260}"/>
                  </a:ext>
                </a:extLst>
              </p:cNvPr>
              <p:cNvGrpSpPr>
                <a:grpSpLocks/>
              </p:cNvGrpSpPr>
              <p:nvPr/>
            </p:nvGrpSpPr>
            <p:grpSpPr bwMode="auto">
              <a:xfrm>
                <a:off x="1752" y="2256"/>
                <a:ext cx="480" cy="728"/>
                <a:chOff x="1752" y="2160"/>
                <a:chExt cx="480" cy="728"/>
              </a:xfrm>
            </p:grpSpPr>
            <p:sp>
              <p:nvSpPr>
                <p:cNvPr id="44057" name="Line 111">
                  <a:extLst>
                    <a:ext uri="{FF2B5EF4-FFF2-40B4-BE49-F238E27FC236}">
                      <a16:creationId xmlns:a16="http://schemas.microsoft.com/office/drawing/2014/main" id="{DAAF4D3E-15A9-4436-B874-B7511681DC63}"/>
                    </a:ext>
                  </a:extLst>
                </p:cNvPr>
                <p:cNvSpPr>
                  <a:spLocks noChangeShapeType="1"/>
                </p:cNvSpPr>
                <p:nvPr/>
              </p:nvSpPr>
              <p:spPr bwMode="auto">
                <a:xfrm>
                  <a:off x="1752" y="2160"/>
                  <a:ext cx="440" cy="312"/>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58" name="Line 112">
                  <a:extLst>
                    <a:ext uri="{FF2B5EF4-FFF2-40B4-BE49-F238E27FC236}">
                      <a16:creationId xmlns:a16="http://schemas.microsoft.com/office/drawing/2014/main" id="{D86B3F26-B4A0-4F70-BD06-9A77DCDA965C}"/>
                    </a:ext>
                  </a:extLst>
                </p:cNvPr>
                <p:cNvSpPr>
                  <a:spLocks noChangeShapeType="1"/>
                </p:cNvSpPr>
                <p:nvPr/>
              </p:nvSpPr>
              <p:spPr bwMode="auto">
                <a:xfrm flipV="1">
                  <a:off x="2016" y="2592"/>
                  <a:ext cx="216" cy="296"/>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grpSp>
            <p:nvGrpSpPr>
              <p:cNvPr id="44054" name="Group 113">
                <a:extLst>
                  <a:ext uri="{FF2B5EF4-FFF2-40B4-BE49-F238E27FC236}">
                    <a16:creationId xmlns:a16="http://schemas.microsoft.com/office/drawing/2014/main" id="{EE7C2FB7-4B09-4594-9CAC-0423CDFC1EB5}"/>
                  </a:ext>
                </a:extLst>
              </p:cNvPr>
              <p:cNvGrpSpPr>
                <a:grpSpLocks/>
              </p:cNvGrpSpPr>
              <p:nvPr/>
            </p:nvGrpSpPr>
            <p:grpSpPr bwMode="auto">
              <a:xfrm>
                <a:off x="1544" y="2016"/>
                <a:ext cx="568" cy="1248"/>
                <a:chOff x="1544" y="1920"/>
                <a:chExt cx="568" cy="1248"/>
              </a:xfrm>
            </p:grpSpPr>
            <p:sp>
              <p:nvSpPr>
                <p:cNvPr id="44055" name="Oval 114">
                  <a:extLst>
                    <a:ext uri="{FF2B5EF4-FFF2-40B4-BE49-F238E27FC236}">
                      <a16:creationId xmlns:a16="http://schemas.microsoft.com/office/drawing/2014/main" id="{E7304BC2-3854-4BD4-BF47-79C689D5AE2D}"/>
                    </a:ext>
                  </a:extLst>
                </p:cNvPr>
                <p:cNvSpPr>
                  <a:spLocks noChangeArrowheads="1"/>
                </p:cNvSpPr>
                <p:nvPr/>
              </p:nvSpPr>
              <p:spPr bwMode="auto">
                <a:xfrm>
                  <a:off x="1544" y="1920"/>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56" name="Oval 115">
                  <a:extLst>
                    <a:ext uri="{FF2B5EF4-FFF2-40B4-BE49-F238E27FC236}">
                      <a16:creationId xmlns:a16="http://schemas.microsoft.com/office/drawing/2014/main" id="{D30694BF-4E38-4704-85AA-78655EC24AD3}"/>
                    </a:ext>
                  </a:extLst>
                </p:cNvPr>
                <p:cNvSpPr>
                  <a:spLocks noChangeArrowheads="1"/>
                </p:cNvSpPr>
                <p:nvPr/>
              </p:nvSpPr>
              <p:spPr bwMode="auto">
                <a:xfrm>
                  <a:off x="1864" y="2936"/>
                  <a:ext cx="248"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grpSp>
        <p:grpSp>
          <p:nvGrpSpPr>
            <p:cNvPr id="44047" name="Group 116">
              <a:extLst>
                <a:ext uri="{FF2B5EF4-FFF2-40B4-BE49-F238E27FC236}">
                  <a16:creationId xmlns:a16="http://schemas.microsoft.com/office/drawing/2014/main" id="{FF7C30D8-11C5-4368-9CC0-A5D883A74C90}"/>
                </a:ext>
              </a:extLst>
            </p:cNvPr>
            <p:cNvGrpSpPr>
              <a:grpSpLocks/>
            </p:cNvGrpSpPr>
            <p:nvPr/>
          </p:nvGrpSpPr>
          <p:grpSpPr bwMode="auto">
            <a:xfrm>
              <a:off x="4206" y="2760"/>
              <a:ext cx="1007" cy="518"/>
              <a:chOff x="4206" y="2664"/>
              <a:chExt cx="1007" cy="518"/>
            </a:xfrm>
          </p:grpSpPr>
          <p:sp>
            <p:nvSpPr>
              <p:cNvPr id="44051" name="Oval 117">
                <a:extLst>
                  <a:ext uri="{FF2B5EF4-FFF2-40B4-BE49-F238E27FC236}">
                    <a16:creationId xmlns:a16="http://schemas.microsoft.com/office/drawing/2014/main" id="{61DF914C-DD30-4999-ACB6-01256E236118}"/>
                  </a:ext>
                </a:extLst>
              </p:cNvPr>
              <p:cNvSpPr>
                <a:spLocks noChangeArrowheads="1"/>
              </p:cNvSpPr>
              <p:nvPr/>
            </p:nvSpPr>
            <p:spPr bwMode="auto">
              <a:xfrm>
                <a:off x="4206" y="2704"/>
                <a:ext cx="234" cy="232"/>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52" name="Text Box 118">
                <a:extLst>
                  <a:ext uri="{FF2B5EF4-FFF2-40B4-BE49-F238E27FC236}">
                    <a16:creationId xmlns:a16="http://schemas.microsoft.com/office/drawing/2014/main" id="{EB4D4EBD-5880-4116-8A92-E2D8A2AC4201}"/>
                  </a:ext>
                </a:extLst>
              </p:cNvPr>
              <p:cNvSpPr txBox="1">
                <a:spLocks noChangeArrowheads="1"/>
              </p:cNvSpPr>
              <p:nvPr/>
            </p:nvSpPr>
            <p:spPr bwMode="auto">
              <a:xfrm>
                <a:off x="4462" y="2664"/>
                <a:ext cx="75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latin typeface="Book Antiqua" panose="02040602050305030304" pitchFamily="18" charset="0"/>
                  </a:rPr>
                  <a:t>= found</a:t>
                </a:r>
              </a:p>
              <a:p>
                <a:pPr eaLnBrk="1" hangingPunct="1">
                  <a:spcBef>
                    <a:spcPct val="0"/>
                  </a:spcBef>
                  <a:buFontTx/>
                  <a:buNone/>
                </a:pPr>
                <a:r>
                  <a:rPr lang="en-US" altLang="en-US" sz="2400" b="1">
                    <a:latin typeface="Book Antiqua" panose="02040602050305030304" pitchFamily="18" charset="0"/>
                  </a:rPr>
                  <a:t>   result</a:t>
                </a:r>
                <a:endParaRPr lang="en-US" altLang="en-US" sz="1800">
                  <a:latin typeface="Book Antiqua" panose="02040602050305030304" pitchFamily="18" charset="0"/>
                </a:endParaRPr>
              </a:p>
            </p:txBody>
          </p:sp>
        </p:grpSp>
        <p:grpSp>
          <p:nvGrpSpPr>
            <p:cNvPr id="44048" name="Group 119">
              <a:extLst>
                <a:ext uri="{FF2B5EF4-FFF2-40B4-BE49-F238E27FC236}">
                  <a16:creationId xmlns:a16="http://schemas.microsoft.com/office/drawing/2014/main" id="{241E71CB-1209-4BBC-8228-AD2F34150DC6}"/>
                </a:ext>
              </a:extLst>
            </p:cNvPr>
            <p:cNvGrpSpPr>
              <a:grpSpLocks/>
            </p:cNvGrpSpPr>
            <p:nvPr/>
          </p:nvGrpSpPr>
          <p:grpSpPr bwMode="auto">
            <a:xfrm>
              <a:off x="4328" y="3336"/>
              <a:ext cx="1137" cy="518"/>
              <a:chOff x="4328" y="3240"/>
              <a:chExt cx="1137" cy="518"/>
            </a:xfrm>
          </p:grpSpPr>
          <p:sp>
            <p:nvSpPr>
              <p:cNvPr id="44049" name="Line 120">
                <a:extLst>
                  <a:ext uri="{FF2B5EF4-FFF2-40B4-BE49-F238E27FC236}">
                    <a16:creationId xmlns:a16="http://schemas.microsoft.com/office/drawing/2014/main" id="{36598FEF-B839-4D05-BCED-0E2567AFDC1A}"/>
                  </a:ext>
                </a:extLst>
              </p:cNvPr>
              <p:cNvSpPr>
                <a:spLocks noChangeShapeType="1"/>
              </p:cNvSpPr>
              <p:nvPr/>
            </p:nvSpPr>
            <p:spPr bwMode="auto">
              <a:xfrm flipH="1" flipV="1">
                <a:off x="4328" y="3264"/>
                <a:ext cx="16" cy="240"/>
              </a:xfrm>
              <a:prstGeom prst="line">
                <a:avLst/>
              </a:prstGeom>
              <a:noFill/>
              <a:ln w="57150">
                <a:solidFill>
                  <a:srgbClr val="00CC66"/>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050" name="Text Box 121">
                <a:extLst>
                  <a:ext uri="{FF2B5EF4-FFF2-40B4-BE49-F238E27FC236}">
                    <a16:creationId xmlns:a16="http://schemas.microsoft.com/office/drawing/2014/main" id="{35973A47-EE06-4CEA-907D-8EE474153FB0}"/>
                  </a:ext>
                </a:extLst>
              </p:cNvPr>
              <p:cNvSpPr txBox="1">
                <a:spLocks noChangeArrowheads="1"/>
              </p:cNvSpPr>
              <p:nvPr/>
            </p:nvSpPr>
            <p:spPr bwMode="auto">
              <a:xfrm>
                <a:off x="4462" y="3240"/>
                <a:ext cx="100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latin typeface="Book Antiqua" panose="02040602050305030304" pitchFamily="18" charset="0"/>
                  </a:rPr>
                  <a:t>= forward</a:t>
                </a:r>
              </a:p>
              <a:p>
                <a:pPr eaLnBrk="1" hangingPunct="1">
                  <a:spcBef>
                    <a:spcPct val="0"/>
                  </a:spcBef>
                  <a:buFontTx/>
                  <a:buNone/>
                </a:pPr>
                <a:r>
                  <a:rPr lang="en-US" altLang="en-US" sz="2400" b="1">
                    <a:latin typeface="Book Antiqua" panose="02040602050305030304" pitchFamily="18" charset="0"/>
                  </a:rPr>
                  <a:t>    response</a:t>
                </a:r>
                <a:endParaRPr lang="en-US" altLang="en-US" sz="1800">
                  <a:latin typeface="Book Antiqua" panose="02040602050305030304" pitchFamily="18" charset="0"/>
                </a:endParaRPr>
              </a:p>
            </p:txBody>
          </p:sp>
        </p:grpSp>
      </p:grpSp>
      <p:sp>
        <p:nvSpPr>
          <p:cNvPr id="19578" name="Text Box 122">
            <a:extLst>
              <a:ext uri="{FF2B5EF4-FFF2-40B4-BE49-F238E27FC236}">
                <a16:creationId xmlns:a16="http://schemas.microsoft.com/office/drawing/2014/main" id="{BCF235F1-F717-4FA2-ABF5-E808EDE34DD4}"/>
              </a:ext>
            </a:extLst>
          </p:cNvPr>
          <p:cNvSpPr txBox="1">
            <a:spLocks noChangeArrowheads="1"/>
          </p:cNvSpPr>
          <p:nvPr/>
        </p:nvSpPr>
        <p:spPr bwMode="auto">
          <a:xfrm>
            <a:off x="1708765" y="1287463"/>
            <a:ext cx="5719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dirty="0">
                <a:solidFill>
                  <a:schemeClr val="folHlink"/>
                </a:solidFill>
                <a:latin typeface="Verdana" panose="020B0604030504040204" pitchFamily="34" charset="0"/>
              </a:rPr>
              <a:t>Breadth-First Search (BFS)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dirty="0">
                <a:solidFill>
                  <a:schemeClr val="tx1"/>
                </a:solidFill>
              </a:rPr>
              <a:t>Gnutella: Query Flooding</a:t>
            </a:r>
          </a:p>
        </p:txBody>
      </p:sp>
      <p:sp>
        <p:nvSpPr>
          <p:cNvPr id="45059" name="Rectangle 3"/>
          <p:cNvSpPr>
            <a:spLocks noGrp="1" noChangeArrowheads="1"/>
          </p:cNvSpPr>
          <p:nvPr>
            <p:ph type="body" idx="1"/>
          </p:nvPr>
        </p:nvSpPr>
        <p:spPr/>
        <p:txBody>
          <a:bodyPr/>
          <a:lstStyle/>
          <a:p>
            <a:pPr eaLnBrk="1" hangingPunct="1"/>
            <a:r>
              <a:rPr lang="en-US" altLang="en-US" dirty="0"/>
              <a:t>A node/peer connects to a set of Gnutella           neighbors</a:t>
            </a:r>
          </a:p>
          <a:p>
            <a:pPr eaLnBrk="1" hangingPunct="1"/>
            <a:r>
              <a:rPr lang="en-US" altLang="en-US" dirty="0"/>
              <a:t>Forward queries to neighbors</a:t>
            </a:r>
          </a:p>
          <a:p>
            <a:pPr eaLnBrk="1" hangingPunct="1"/>
            <a:endParaRPr lang="en-US" altLang="en-US" dirty="0"/>
          </a:p>
          <a:p>
            <a:pPr eaLnBrk="1" hangingPunct="1"/>
            <a:r>
              <a:rPr lang="en-US" altLang="en-US" dirty="0"/>
              <a:t>Discussion: Please provide one advantage and one disadvantage of query flooding.</a:t>
            </a:r>
          </a:p>
        </p:txBody>
      </p:sp>
      <p:sp>
        <p:nvSpPr>
          <p:cNvPr id="4" name="TextBox 3">
            <a:extLst>
              <a:ext uri="{FF2B5EF4-FFF2-40B4-BE49-F238E27FC236}">
                <a16:creationId xmlns:a16="http://schemas.microsoft.com/office/drawing/2014/main" id="{CEE9A7DE-C411-4F99-BB20-31F10F887091}"/>
              </a:ext>
            </a:extLst>
          </p:cNvPr>
          <p:cNvSpPr txBox="1"/>
          <p:nvPr/>
        </p:nvSpPr>
        <p:spPr>
          <a:xfrm>
            <a:off x="628650" y="5253633"/>
            <a:ext cx="7988710" cy="923330"/>
          </a:xfrm>
          <a:prstGeom prst="rect">
            <a:avLst/>
          </a:prstGeom>
          <a:noFill/>
        </p:spPr>
        <p:txBody>
          <a:bodyPr wrap="square" rtlCol="0">
            <a:spAutoFit/>
          </a:bodyPr>
          <a:lstStyle/>
          <a:p>
            <a:r>
              <a:rPr lang="en-US" dirty="0"/>
              <a:t>Please go to </a:t>
            </a:r>
          </a:p>
          <a:p>
            <a:pPr algn="ctr"/>
            <a:r>
              <a:rPr lang="en-US" sz="3600" dirty="0">
                <a:solidFill>
                  <a:srgbClr val="0070C0"/>
                </a:solidFill>
              </a:rPr>
              <a:t>PollEv.com/cisgvsu429</a:t>
            </a:r>
            <a:endParaRPr lang="en-US" sz="3600" dirty="0"/>
          </a:p>
        </p:txBody>
      </p:sp>
    </p:spTree>
    <p:extLst>
      <p:ext uri="{BB962C8B-B14F-4D97-AF65-F5344CB8AC3E}">
        <p14:creationId xmlns:p14="http://schemas.microsoft.com/office/powerpoint/2010/main" val="127501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EB02-EC8E-497D-81D9-248EBDB78140}"/>
              </a:ext>
            </a:extLst>
          </p:cNvPr>
          <p:cNvSpPr>
            <a:spLocks noGrp="1"/>
          </p:cNvSpPr>
          <p:nvPr>
            <p:ph type="title"/>
          </p:nvPr>
        </p:nvSpPr>
        <p:spPr/>
        <p:txBody>
          <a:bodyPr/>
          <a:lstStyle/>
          <a:p>
            <a:r>
              <a:rPr lang="en-US" dirty="0"/>
              <a:t>Gnutella: Query Flooding</a:t>
            </a:r>
          </a:p>
        </p:txBody>
      </p:sp>
      <p:sp>
        <p:nvSpPr>
          <p:cNvPr id="3" name="Content Placeholder 2">
            <a:extLst>
              <a:ext uri="{FF2B5EF4-FFF2-40B4-BE49-F238E27FC236}">
                <a16:creationId xmlns:a16="http://schemas.microsoft.com/office/drawing/2014/main" id="{46B544A2-0581-48C7-9007-2E82BA0D4729}"/>
              </a:ext>
            </a:extLst>
          </p:cNvPr>
          <p:cNvSpPr>
            <a:spLocks noGrp="1"/>
          </p:cNvSpPr>
          <p:nvPr>
            <p:ph idx="1"/>
          </p:nvPr>
        </p:nvSpPr>
        <p:spPr/>
        <p:txBody>
          <a:bodyPr/>
          <a:lstStyle/>
          <a:p>
            <a:r>
              <a:rPr lang="en-US" altLang="en-US" dirty="0">
                <a:solidFill>
                  <a:schemeClr val="accent2"/>
                </a:solidFill>
              </a:rPr>
              <a:t>Pro: Results are complete</a:t>
            </a:r>
          </a:p>
          <a:p>
            <a:r>
              <a:rPr lang="en-US" altLang="en-US" dirty="0">
                <a:solidFill>
                  <a:schemeClr val="accent2"/>
                </a:solidFill>
                <a:ea typeface="Arial" charset="0"/>
                <a:cs typeface="Arial" charset="0"/>
              </a:rPr>
              <a:t>Con:</a:t>
            </a:r>
            <a:r>
              <a:rPr lang="en-US" altLang="en-US" dirty="0">
                <a:solidFill>
                  <a:schemeClr val="accent2"/>
                </a:solidFill>
              </a:rPr>
              <a:t> Bandwidth wastage</a:t>
            </a:r>
          </a:p>
          <a:p>
            <a:pPr lvl="1"/>
            <a:r>
              <a:rPr lang="en-US" altLang="en-US" dirty="0"/>
              <a:t>Flood network with TTL (Time-To-Live) for termination</a:t>
            </a:r>
          </a:p>
          <a:p>
            <a:endParaRPr lang="en-US" altLang="en-US" dirty="0">
              <a:solidFill>
                <a:schemeClr val="accent2"/>
              </a:solidFill>
            </a:endParaRPr>
          </a:p>
          <a:p>
            <a:endParaRPr lang="en-US" dirty="0"/>
          </a:p>
        </p:txBody>
      </p:sp>
    </p:spTree>
    <p:extLst>
      <p:ext uri="{BB962C8B-B14F-4D97-AF65-F5344CB8AC3E}">
        <p14:creationId xmlns:p14="http://schemas.microsoft.com/office/powerpoint/2010/main" val="1341057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dirty="0" err="1"/>
              <a:t>KaZaA</a:t>
            </a:r>
            <a:r>
              <a:rPr lang="en-US" altLang="en-US" dirty="0"/>
              <a:t> (FastTrack Networks)</a:t>
            </a:r>
          </a:p>
        </p:txBody>
      </p:sp>
      <p:sp>
        <p:nvSpPr>
          <p:cNvPr id="51203" name="Rectangle 3"/>
          <p:cNvSpPr>
            <a:spLocks noGrp="1" noChangeArrowheads="1"/>
          </p:cNvSpPr>
          <p:nvPr>
            <p:ph type="body" idx="1"/>
          </p:nvPr>
        </p:nvSpPr>
        <p:spPr/>
        <p:txBody>
          <a:bodyPr>
            <a:normAutofit lnSpcReduction="10000"/>
          </a:bodyPr>
          <a:lstStyle/>
          <a:p>
            <a:pPr eaLnBrk="1" hangingPunct="1">
              <a:lnSpc>
                <a:spcPct val="80000"/>
              </a:lnSpc>
            </a:pPr>
            <a:r>
              <a:rPr lang="en-US" altLang="en-US" sz="2400" dirty="0"/>
              <a:t>Hybrid of centralized Napster and decentralized Gnutella</a:t>
            </a:r>
          </a:p>
          <a:p>
            <a:pPr eaLnBrk="1" hangingPunct="1">
              <a:lnSpc>
                <a:spcPct val="80000"/>
              </a:lnSpc>
            </a:pPr>
            <a:r>
              <a:rPr lang="en-US" altLang="en-US" sz="2400" dirty="0"/>
              <a:t>Super-peers act as local search hubs</a:t>
            </a:r>
          </a:p>
          <a:p>
            <a:pPr lvl="1" eaLnBrk="1" hangingPunct="1">
              <a:lnSpc>
                <a:spcPct val="80000"/>
              </a:lnSpc>
            </a:pPr>
            <a:r>
              <a:rPr lang="en-US" altLang="en-US" sz="2000" dirty="0"/>
              <a:t>Each super-peer is similar to a Napster server for a small portion of the network</a:t>
            </a:r>
          </a:p>
          <a:p>
            <a:pPr lvl="1" eaLnBrk="1" hangingPunct="1">
              <a:lnSpc>
                <a:spcPct val="80000"/>
              </a:lnSpc>
            </a:pPr>
            <a:r>
              <a:rPr lang="en-US" altLang="en-US" sz="2000" dirty="0"/>
              <a:t>Super-peers are automatically chosen by the system based on their capacities (storage, bandwidth, etc.) and availability (connection time)</a:t>
            </a:r>
          </a:p>
          <a:p>
            <a:pPr eaLnBrk="1" hangingPunct="1">
              <a:lnSpc>
                <a:spcPct val="80000"/>
              </a:lnSpc>
            </a:pPr>
            <a:r>
              <a:rPr lang="en-US" altLang="en-US" sz="2400" dirty="0"/>
              <a:t>Users upload their list of files to a super-peer</a:t>
            </a:r>
          </a:p>
          <a:p>
            <a:pPr eaLnBrk="1" hangingPunct="1">
              <a:lnSpc>
                <a:spcPct val="80000"/>
              </a:lnSpc>
            </a:pPr>
            <a:r>
              <a:rPr lang="en-US" altLang="en-US" sz="2400" dirty="0"/>
              <a:t>Super-peers periodically exchange file lists</a:t>
            </a:r>
          </a:p>
          <a:p>
            <a:pPr eaLnBrk="1" hangingPunct="1">
              <a:lnSpc>
                <a:spcPct val="80000"/>
              </a:lnSpc>
            </a:pPr>
            <a:r>
              <a:rPr lang="en-US" altLang="en-US" sz="2400" dirty="0"/>
              <a:t>You send queries to a super-peer for files of interest</a:t>
            </a:r>
          </a:p>
          <a:p>
            <a:pPr lvl="1" eaLnBrk="1" hangingPunct="1">
              <a:lnSpc>
                <a:spcPct val="80000"/>
              </a:lnSpc>
            </a:pPr>
            <a:r>
              <a:rPr lang="en-US" altLang="en-US" sz="2000" dirty="0"/>
              <a:t>The local super-peer may flood the queries to other super-peers for the files of interest, if it cannot satisfy the queries.</a:t>
            </a:r>
          </a:p>
          <a:p>
            <a:pPr eaLnBrk="1" hangingPunct="1">
              <a:lnSpc>
                <a:spcPct val="80000"/>
              </a:lnSpc>
            </a:pPr>
            <a:r>
              <a:rPr lang="en-US" altLang="en-US" sz="2400" dirty="0"/>
              <a:t>Exploit the heterogeneity of peer nodes</a:t>
            </a:r>
          </a:p>
        </p:txBody>
      </p:sp>
    </p:spTree>
    <p:extLst>
      <p:ext uri="{BB962C8B-B14F-4D97-AF65-F5344CB8AC3E}">
        <p14:creationId xmlns:p14="http://schemas.microsoft.com/office/powerpoint/2010/main" val="1744007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dirty="0" err="1"/>
              <a:t>KaZaA</a:t>
            </a:r>
            <a:r>
              <a:rPr lang="en-US" altLang="en-US" dirty="0"/>
              <a:t>: Network Design</a:t>
            </a:r>
          </a:p>
        </p:txBody>
      </p:sp>
      <p:grpSp>
        <p:nvGrpSpPr>
          <p:cNvPr id="55299" name="Group 3"/>
          <p:cNvGrpSpPr>
            <a:grpSpLocks/>
          </p:cNvGrpSpPr>
          <p:nvPr/>
        </p:nvGrpSpPr>
        <p:grpSpPr bwMode="auto">
          <a:xfrm>
            <a:off x="914400" y="1524000"/>
            <a:ext cx="6781800" cy="4419600"/>
            <a:chOff x="576" y="960"/>
            <a:chExt cx="4272" cy="2784"/>
          </a:xfrm>
        </p:grpSpPr>
        <p:pic>
          <p:nvPicPr>
            <p:cNvPr id="55300" name="Picture 4"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19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02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2" y="192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2" y="31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4" name="Picture 8"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 y="211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305" name="Group 9"/>
            <p:cNvGrpSpPr>
              <a:grpSpLocks/>
            </p:cNvGrpSpPr>
            <p:nvPr/>
          </p:nvGrpSpPr>
          <p:grpSpPr bwMode="auto">
            <a:xfrm>
              <a:off x="4464" y="3408"/>
              <a:ext cx="384" cy="192"/>
              <a:chOff x="2688" y="3552"/>
              <a:chExt cx="384" cy="192"/>
            </a:xfrm>
          </p:grpSpPr>
          <p:pic>
            <p:nvPicPr>
              <p:cNvPr id="55355" name="Picture 1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6" name="Picture 1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7"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5306" name="Picture 1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7" name="Picture 1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6"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8" name="Picture 1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12"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309" name="Group 16"/>
            <p:cNvGrpSpPr>
              <a:grpSpLocks/>
            </p:cNvGrpSpPr>
            <p:nvPr/>
          </p:nvGrpSpPr>
          <p:grpSpPr bwMode="auto">
            <a:xfrm>
              <a:off x="3408" y="2592"/>
              <a:ext cx="384" cy="192"/>
              <a:chOff x="2688" y="3552"/>
              <a:chExt cx="384" cy="192"/>
            </a:xfrm>
          </p:grpSpPr>
          <p:pic>
            <p:nvPicPr>
              <p:cNvPr id="55352" name="Picture 1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3" name="Picture 1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4" name="Picture 1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5310" name="Picture 2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2"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1" name="Picture 2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8"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312" name="Group 22"/>
            <p:cNvGrpSpPr>
              <a:grpSpLocks/>
            </p:cNvGrpSpPr>
            <p:nvPr/>
          </p:nvGrpSpPr>
          <p:grpSpPr bwMode="auto">
            <a:xfrm>
              <a:off x="576" y="2208"/>
              <a:ext cx="384" cy="192"/>
              <a:chOff x="2688" y="3552"/>
              <a:chExt cx="384" cy="192"/>
            </a:xfrm>
          </p:grpSpPr>
          <p:pic>
            <p:nvPicPr>
              <p:cNvPr id="55349" name="Picture 2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0" name="Picture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51" name="Picture 2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5313" name="Picture 2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307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4" name="Picture 2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84"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5" name="Picture 2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0"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6" name="Picture 2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32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7" name="Picture 3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2208"/>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8" name="Picture 31"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 y="2016"/>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9" name="Picture 3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72"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0" name="Picture 3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68"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1" name="Picture 3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64"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2" name="Picture 3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3" name="Picture 3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2"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4" name="Picture 3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8"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5" name="Picture 3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0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6" name="Picture 39"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7" name="Picture 4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8" name="Picture 4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29" name="Line 42"/>
            <p:cNvSpPr>
              <a:spLocks noChangeShapeType="1"/>
            </p:cNvSpPr>
            <p:nvPr/>
          </p:nvSpPr>
          <p:spPr bwMode="auto">
            <a:xfrm>
              <a:off x="2592" y="1440"/>
              <a:ext cx="57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0" name="Line 43"/>
            <p:cNvSpPr>
              <a:spLocks noChangeShapeType="1"/>
            </p:cNvSpPr>
            <p:nvPr/>
          </p:nvSpPr>
          <p:spPr bwMode="auto">
            <a:xfrm flipV="1">
              <a:off x="3312" y="1632"/>
              <a:ext cx="0" cy="48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1" name="Line 44"/>
            <p:cNvSpPr>
              <a:spLocks noChangeShapeType="1"/>
            </p:cNvSpPr>
            <p:nvPr/>
          </p:nvSpPr>
          <p:spPr bwMode="auto">
            <a:xfrm>
              <a:off x="2400" y="2352"/>
              <a:ext cx="81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2" name="Line 45"/>
            <p:cNvSpPr>
              <a:spLocks noChangeShapeType="1"/>
            </p:cNvSpPr>
            <p:nvPr/>
          </p:nvSpPr>
          <p:spPr bwMode="auto">
            <a:xfrm flipH="1">
              <a:off x="2160" y="1584"/>
              <a:ext cx="144" cy="43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3" name="Line 46"/>
            <p:cNvSpPr>
              <a:spLocks noChangeShapeType="1"/>
            </p:cNvSpPr>
            <p:nvPr/>
          </p:nvSpPr>
          <p:spPr bwMode="auto">
            <a:xfrm>
              <a:off x="2544" y="1536"/>
              <a:ext cx="672" cy="67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4" name="Line 47"/>
            <p:cNvSpPr>
              <a:spLocks noChangeShapeType="1"/>
            </p:cNvSpPr>
            <p:nvPr/>
          </p:nvSpPr>
          <p:spPr bwMode="auto">
            <a:xfrm flipV="1">
              <a:off x="2304" y="1584"/>
              <a:ext cx="864" cy="624"/>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35" name="Line 48"/>
            <p:cNvSpPr>
              <a:spLocks noChangeShapeType="1"/>
            </p:cNvSpPr>
            <p:nvPr/>
          </p:nvSpPr>
          <p:spPr bwMode="auto">
            <a:xfrm>
              <a:off x="3648" y="1584"/>
              <a:ext cx="576"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55336" name="Picture 49"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 y="331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37" name="Picture 5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36"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38" name="Picture 5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2"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39" name="Picture 52"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144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40" name="Picture 5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41" name="Picture 5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42" name="Line 55"/>
            <p:cNvSpPr>
              <a:spLocks noChangeShapeType="1"/>
            </p:cNvSpPr>
            <p:nvPr/>
          </p:nvSpPr>
          <p:spPr bwMode="auto">
            <a:xfrm>
              <a:off x="3648" y="2544"/>
              <a:ext cx="864" cy="67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3" name="Line 56"/>
            <p:cNvSpPr>
              <a:spLocks noChangeShapeType="1"/>
            </p:cNvSpPr>
            <p:nvPr/>
          </p:nvSpPr>
          <p:spPr bwMode="auto">
            <a:xfrm>
              <a:off x="3504" y="2544"/>
              <a:ext cx="432" cy="76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4" name="Line 57"/>
            <p:cNvSpPr>
              <a:spLocks noChangeShapeType="1"/>
            </p:cNvSpPr>
            <p:nvPr/>
          </p:nvSpPr>
          <p:spPr bwMode="auto">
            <a:xfrm flipH="1">
              <a:off x="3168" y="2544"/>
              <a:ext cx="144"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5" name="Line 58"/>
            <p:cNvSpPr>
              <a:spLocks noChangeShapeType="1"/>
            </p:cNvSpPr>
            <p:nvPr/>
          </p:nvSpPr>
          <p:spPr bwMode="auto">
            <a:xfrm flipH="1">
              <a:off x="1632" y="2448"/>
              <a:ext cx="336" cy="57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6" name="Line 59"/>
            <p:cNvSpPr>
              <a:spLocks noChangeShapeType="1"/>
            </p:cNvSpPr>
            <p:nvPr/>
          </p:nvSpPr>
          <p:spPr bwMode="auto">
            <a:xfrm flipV="1">
              <a:off x="1104" y="1488"/>
              <a:ext cx="1008" cy="9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7" name="Line 60"/>
            <p:cNvSpPr>
              <a:spLocks noChangeShapeType="1"/>
            </p:cNvSpPr>
            <p:nvPr/>
          </p:nvSpPr>
          <p:spPr bwMode="auto">
            <a:xfrm flipH="1">
              <a:off x="912" y="1584"/>
              <a:ext cx="1200" cy="48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348" name="Text Box 61"/>
            <p:cNvSpPr txBox="1">
              <a:spLocks noChangeArrowheads="1"/>
            </p:cNvSpPr>
            <p:nvPr/>
          </p:nvSpPr>
          <p:spPr bwMode="auto">
            <a:xfrm>
              <a:off x="2160" y="960"/>
              <a:ext cx="13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990000"/>
                  </a:solidFill>
                  <a:latin typeface="Helvetica" charset="0"/>
                </a:rPr>
                <a:t>“Super Nodes”</a:t>
              </a:r>
            </a:p>
          </p:txBody>
        </p:sp>
      </p:grpSp>
    </p:spTree>
    <p:extLst>
      <p:ext uri="{BB962C8B-B14F-4D97-AF65-F5344CB8AC3E}">
        <p14:creationId xmlns:p14="http://schemas.microsoft.com/office/powerpoint/2010/main" val="1297106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en-US" dirty="0" err="1"/>
              <a:t>KaZaA</a:t>
            </a:r>
            <a:r>
              <a:rPr lang="en-US" altLang="en-US" dirty="0"/>
              <a:t>: File Insert</a:t>
            </a:r>
          </a:p>
        </p:txBody>
      </p:sp>
      <p:sp>
        <p:nvSpPr>
          <p:cNvPr id="56323" name="Text Box 3"/>
          <p:cNvSpPr txBox="1">
            <a:spLocks noChangeArrowheads="1"/>
          </p:cNvSpPr>
          <p:nvPr/>
        </p:nvSpPr>
        <p:spPr bwMode="auto">
          <a:xfrm>
            <a:off x="914400" y="4876800"/>
            <a:ext cx="1385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FF0000"/>
                </a:solidFill>
              </a:rPr>
              <a:t>I have X!</a:t>
            </a:r>
            <a:endParaRPr lang="en-US" altLang="en-US" sz="2400">
              <a:solidFill>
                <a:srgbClr val="FF0000"/>
              </a:solidFill>
              <a:latin typeface="Times New Roman" charset="0"/>
            </a:endParaRPr>
          </a:p>
        </p:txBody>
      </p:sp>
      <p:grpSp>
        <p:nvGrpSpPr>
          <p:cNvPr id="56324" name="Group 4"/>
          <p:cNvGrpSpPr>
            <a:grpSpLocks/>
          </p:cNvGrpSpPr>
          <p:nvPr/>
        </p:nvGrpSpPr>
        <p:grpSpPr bwMode="auto">
          <a:xfrm>
            <a:off x="914400" y="1524000"/>
            <a:ext cx="6781800" cy="4419600"/>
            <a:chOff x="576" y="960"/>
            <a:chExt cx="4272" cy="2784"/>
          </a:xfrm>
        </p:grpSpPr>
        <p:pic>
          <p:nvPicPr>
            <p:cNvPr id="56330" name="Picture 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19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1" name="Picture 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02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2" name="Picture 7"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2" y="192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3" name="Picture 8"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2" y="31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4" name="Picture 9"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 y="211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35" name="Group 10"/>
            <p:cNvGrpSpPr>
              <a:grpSpLocks/>
            </p:cNvGrpSpPr>
            <p:nvPr/>
          </p:nvGrpSpPr>
          <p:grpSpPr bwMode="auto">
            <a:xfrm>
              <a:off x="4464" y="3408"/>
              <a:ext cx="384" cy="192"/>
              <a:chOff x="2688" y="3552"/>
              <a:chExt cx="384" cy="192"/>
            </a:xfrm>
          </p:grpSpPr>
          <p:pic>
            <p:nvPicPr>
              <p:cNvPr id="56385" name="Picture 1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6"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7" name="Picture 1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336" name="Picture 1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7" name="Picture 1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6"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8" name="Picture 1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12"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39" name="Group 17"/>
            <p:cNvGrpSpPr>
              <a:grpSpLocks/>
            </p:cNvGrpSpPr>
            <p:nvPr/>
          </p:nvGrpSpPr>
          <p:grpSpPr bwMode="auto">
            <a:xfrm>
              <a:off x="3408" y="2592"/>
              <a:ext cx="384" cy="192"/>
              <a:chOff x="2688" y="3552"/>
              <a:chExt cx="384" cy="192"/>
            </a:xfrm>
          </p:grpSpPr>
          <p:pic>
            <p:nvPicPr>
              <p:cNvPr id="56382" name="Picture 1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3" name="Picture 1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4" name="Picture 2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340" name="Picture 2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2"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1" name="Picture 2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8"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42" name="Group 23"/>
            <p:cNvGrpSpPr>
              <a:grpSpLocks/>
            </p:cNvGrpSpPr>
            <p:nvPr/>
          </p:nvGrpSpPr>
          <p:grpSpPr bwMode="auto">
            <a:xfrm>
              <a:off x="576" y="2208"/>
              <a:ext cx="384" cy="192"/>
              <a:chOff x="2688" y="3552"/>
              <a:chExt cx="384" cy="192"/>
            </a:xfrm>
          </p:grpSpPr>
          <p:pic>
            <p:nvPicPr>
              <p:cNvPr id="56379" name="Picture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0" name="Picture 2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81" name="Picture 2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6343" name="Picture 27"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307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4" name="Picture 2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84"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5" name="Picture 2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0"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6" name="Picture 3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32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7" name="Picture 3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2208"/>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8" name="Picture 32"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 y="2016"/>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9" name="Picture 3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72"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0" name="Picture 3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68"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1" name="Picture 3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64"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2" name="Picture 3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3" name="Picture 3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2"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4" name="Picture 3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8"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5" name="Picture 3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0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6" name="Picture 40"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7" name="Picture 4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8" name="Picture 4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59" name="Line 43"/>
            <p:cNvSpPr>
              <a:spLocks noChangeShapeType="1"/>
            </p:cNvSpPr>
            <p:nvPr/>
          </p:nvSpPr>
          <p:spPr bwMode="auto">
            <a:xfrm>
              <a:off x="2592" y="1440"/>
              <a:ext cx="57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0" name="Line 44"/>
            <p:cNvSpPr>
              <a:spLocks noChangeShapeType="1"/>
            </p:cNvSpPr>
            <p:nvPr/>
          </p:nvSpPr>
          <p:spPr bwMode="auto">
            <a:xfrm flipV="1">
              <a:off x="3312" y="1632"/>
              <a:ext cx="0" cy="48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1" name="Line 45"/>
            <p:cNvSpPr>
              <a:spLocks noChangeShapeType="1"/>
            </p:cNvSpPr>
            <p:nvPr/>
          </p:nvSpPr>
          <p:spPr bwMode="auto">
            <a:xfrm>
              <a:off x="2400" y="2352"/>
              <a:ext cx="81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2" name="Line 46"/>
            <p:cNvSpPr>
              <a:spLocks noChangeShapeType="1"/>
            </p:cNvSpPr>
            <p:nvPr/>
          </p:nvSpPr>
          <p:spPr bwMode="auto">
            <a:xfrm flipH="1">
              <a:off x="2160" y="1584"/>
              <a:ext cx="144" cy="43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3" name="Line 47"/>
            <p:cNvSpPr>
              <a:spLocks noChangeShapeType="1"/>
            </p:cNvSpPr>
            <p:nvPr/>
          </p:nvSpPr>
          <p:spPr bwMode="auto">
            <a:xfrm>
              <a:off x="2544" y="1536"/>
              <a:ext cx="672" cy="67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4" name="Line 48"/>
            <p:cNvSpPr>
              <a:spLocks noChangeShapeType="1"/>
            </p:cNvSpPr>
            <p:nvPr/>
          </p:nvSpPr>
          <p:spPr bwMode="auto">
            <a:xfrm flipV="1">
              <a:off x="2304" y="1584"/>
              <a:ext cx="864" cy="624"/>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65" name="Line 49"/>
            <p:cNvSpPr>
              <a:spLocks noChangeShapeType="1"/>
            </p:cNvSpPr>
            <p:nvPr/>
          </p:nvSpPr>
          <p:spPr bwMode="auto">
            <a:xfrm>
              <a:off x="3648" y="1584"/>
              <a:ext cx="576"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56366" name="Picture 50"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 y="331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67" name="Picture 5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36"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68" name="Picture 5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2"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69" name="Picture 53"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144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70" name="Picture 5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71" name="Picture 5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72" name="Line 56"/>
            <p:cNvSpPr>
              <a:spLocks noChangeShapeType="1"/>
            </p:cNvSpPr>
            <p:nvPr/>
          </p:nvSpPr>
          <p:spPr bwMode="auto">
            <a:xfrm>
              <a:off x="3648" y="2544"/>
              <a:ext cx="864" cy="67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3" name="Line 57"/>
            <p:cNvSpPr>
              <a:spLocks noChangeShapeType="1"/>
            </p:cNvSpPr>
            <p:nvPr/>
          </p:nvSpPr>
          <p:spPr bwMode="auto">
            <a:xfrm>
              <a:off x="3504" y="2544"/>
              <a:ext cx="432" cy="76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4" name="Line 58"/>
            <p:cNvSpPr>
              <a:spLocks noChangeShapeType="1"/>
            </p:cNvSpPr>
            <p:nvPr/>
          </p:nvSpPr>
          <p:spPr bwMode="auto">
            <a:xfrm flipH="1">
              <a:off x="3168" y="2544"/>
              <a:ext cx="144"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5" name="Line 59"/>
            <p:cNvSpPr>
              <a:spLocks noChangeShapeType="1"/>
            </p:cNvSpPr>
            <p:nvPr/>
          </p:nvSpPr>
          <p:spPr bwMode="auto">
            <a:xfrm flipH="1">
              <a:off x="1632" y="2448"/>
              <a:ext cx="336" cy="57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6" name="Line 60"/>
            <p:cNvSpPr>
              <a:spLocks noChangeShapeType="1"/>
            </p:cNvSpPr>
            <p:nvPr/>
          </p:nvSpPr>
          <p:spPr bwMode="auto">
            <a:xfrm flipV="1">
              <a:off x="1104" y="1488"/>
              <a:ext cx="1008" cy="9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7" name="Line 61"/>
            <p:cNvSpPr>
              <a:spLocks noChangeShapeType="1"/>
            </p:cNvSpPr>
            <p:nvPr/>
          </p:nvSpPr>
          <p:spPr bwMode="auto">
            <a:xfrm flipH="1">
              <a:off x="912" y="1584"/>
              <a:ext cx="1200" cy="48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378" name="Text Box 62"/>
            <p:cNvSpPr txBox="1">
              <a:spLocks noChangeArrowheads="1"/>
            </p:cNvSpPr>
            <p:nvPr/>
          </p:nvSpPr>
          <p:spPr bwMode="auto">
            <a:xfrm>
              <a:off x="2160" y="960"/>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endParaRPr lang="en-US" altLang="en-US" sz="2400">
                <a:solidFill>
                  <a:srgbClr val="990000"/>
                </a:solidFill>
                <a:latin typeface="Helvetica" charset="0"/>
              </a:endParaRPr>
            </a:p>
          </p:txBody>
        </p:sp>
      </p:grpSp>
      <p:grpSp>
        <p:nvGrpSpPr>
          <p:cNvPr id="6" name="Group 63"/>
          <p:cNvGrpSpPr>
            <a:grpSpLocks/>
          </p:cNvGrpSpPr>
          <p:nvPr/>
        </p:nvGrpSpPr>
        <p:grpSpPr bwMode="auto">
          <a:xfrm>
            <a:off x="1600200" y="3886200"/>
            <a:ext cx="1524000" cy="914400"/>
            <a:chOff x="528" y="2352"/>
            <a:chExt cx="960" cy="576"/>
          </a:xfrm>
        </p:grpSpPr>
        <p:sp>
          <p:nvSpPr>
            <p:cNvPr id="56328" name="Line 64"/>
            <p:cNvSpPr>
              <a:spLocks noChangeShapeType="1"/>
            </p:cNvSpPr>
            <p:nvPr/>
          </p:nvSpPr>
          <p:spPr bwMode="auto">
            <a:xfrm flipV="1">
              <a:off x="1152" y="2352"/>
              <a:ext cx="336" cy="57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6329" name="Text Box 65"/>
            <p:cNvSpPr txBox="1">
              <a:spLocks noChangeArrowheads="1"/>
            </p:cNvSpPr>
            <p:nvPr/>
          </p:nvSpPr>
          <p:spPr bwMode="auto">
            <a:xfrm>
              <a:off x="528" y="2544"/>
              <a:ext cx="7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chemeClr val="accent2"/>
                  </a:solidFill>
                  <a:latin typeface="Helvetica" charset="0"/>
                </a:rPr>
                <a:t>Publish</a:t>
              </a:r>
            </a:p>
          </p:txBody>
        </p:sp>
      </p:grpSp>
      <p:sp>
        <p:nvSpPr>
          <p:cNvPr id="58434" name="Rectangle 66"/>
          <p:cNvSpPr>
            <a:spLocks noChangeArrowheads="1"/>
          </p:cNvSpPr>
          <p:nvPr/>
        </p:nvSpPr>
        <p:spPr bwMode="auto">
          <a:xfrm>
            <a:off x="1219200" y="2590800"/>
            <a:ext cx="2057400" cy="1143000"/>
          </a:xfrm>
          <a:prstGeom prst="rect">
            <a:avLst/>
          </a:prstGeom>
          <a:solidFill>
            <a:srgbClr val="92D050"/>
          </a:solidFill>
          <a:ln w="9525">
            <a:solidFill>
              <a:schemeClr val="tx1"/>
            </a:solidFill>
            <a:miter lim="800000"/>
            <a:headEnd/>
            <a:tailEnd/>
          </a:ln>
        </p:spPr>
        <p:txBody>
          <a:bodyPr wrap="none"/>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dirty="0"/>
              <a:t>insert(X,</a:t>
            </a:r>
          </a:p>
          <a:p>
            <a:pPr>
              <a:spcBef>
                <a:spcPct val="0"/>
              </a:spcBef>
              <a:buFontTx/>
              <a:buNone/>
            </a:pPr>
            <a:r>
              <a:rPr lang="en-US" altLang="en-US" sz="2400" dirty="0"/>
              <a:t>  123.2.21.23)</a:t>
            </a:r>
          </a:p>
          <a:p>
            <a:pPr>
              <a:spcBef>
                <a:spcPct val="0"/>
              </a:spcBef>
              <a:buFontTx/>
              <a:buNone/>
            </a:pPr>
            <a:r>
              <a:rPr lang="en-US" altLang="en-US" sz="2400" dirty="0"/>
              <a:t>...</a:t>
            </a:r>
          </a:p>
        </p:txBody>
      </p:sp>
      <p:sp>
        <p:nvSpPr>
          <p:cNvPr id="56327" name="Rectangle 67"/>
          <p:cNvSpPr>
            <a:spLocks noChangeArrowheads="1"/>
          </p:cNvSpPr>
          <p:nvPr/>
        </p:nvSpPr>
        <p:spPr bwMode="auto">
          <a:xfrm>
            <a:off x="1676400" y="5486400"/>
            <a:ext cx="179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123.2.21.23</a:t>
            </a:r>
          </a:p>
        </p:txBody>
      </p:sp>
    </p:spTree>
    <p:extLst>
      <p:ext uri="{BB962C8B-B14F-4D97-AF65-F5344CB8AC3E}">
        <p14:creationId xmlns:p14="http://schemas.microsoft.com/office/powerpoint/2010/main" val="1358007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500"/>
                                  </p:stCondLst>
                                  <p:childTnLst>
                                    <p:set>
                                      <p:cBhvr>
                                        <p:cTn id="9" dur="1" fill="hold">
                                          <p:stCondLst>
                                            <p:cond delay="499"/>
                                          </p:stCondLst>
                                        </p:cTn>
                                        <p:tgtEl>
                                          <p:spTgt spid="58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34"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p:cNvGrpSpPr>
            <a:grpSpLocks/>
          </p:cNvGrpSpPr>
          <p:nvPr/>
        </p:nvGrpSpPr>
        <p:grpSpPr bwMode="auto">
          <a:xfrm>
            <a:off x="914400" y="1524000"/>
            <a:ext cx="6781800" cy="4419600"/>
            <a:chOff x="576" y="960"/>
            <a:chExt cx="4272" cy="2784"/>
          </a:xfrm>
        </p:grpSpPr>
        <p:pic>
          <p:nvPicPr>
            <p:cNvPr id="57372" name="Picture 3"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19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3" name="Picture 4"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3024"/>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4" name="Picture 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2" y="192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5" name="Picture 6"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2" y="3168"/>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6" name="Picture 7"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 y="211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77" name="Group 8"/>
            <p:cNvGrpSpPr>
              <a:grpSpLocks/>
            </p:cNvGrpSpPr>
            <p:nvPr/>
          </p:nvGrpSpPr>
          <p:grpSpPr bwMode="auto">
            <a:xfrm>
              <a:off x="4464" y="3408"/>
              <a:ext cx="384" cy="192"/>
              <a:chOff x="2688" y="3552"/>
              <a:chExt cx="384" cy="192"/>
            </a:xfrm>
          </p:grpSpPr>
          <p:pic>
            <p:nvPicPr>
              <p:cNvPr id="57427" name="Picture 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8" name="Picture 1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9" name="Picture 1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78"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9" name="Picture 1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6"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0" name="Picture 1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12" y="259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81" name="Group 15"/>
            <p:cNvGrpSpPr>
              <a:grpSpLocks/>
            </p:cNvGrpSpPr>
            <p:nvPr/>
          </p:nvGrpSpPr>
          <p:grpSpPr bwMode="auto">
            <a:xfrm>
              <a:off x="3408" y="2592"/>
              <a:ext cx="384" cy="192"/>
              <a:chOff x="2688" y="3552"/>
              <a:chExt cx="384" cy="192"/>
            </a:xfrm>
          </p:grpSpPr>
          <p:pic>
            <p:nvPicPr>
              <p:cNvPr id="57424" name="Picture 1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5" name="Picture 1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6" name="Picture 1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82" name="Picture 1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2"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3" name="Picture 2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68" y="21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84" name="Group 21"/>
            <p:cNvGrpSpPr>
              <a:grpSpLocks/>
            </p:cNvGrpSpPr>
            <p:nvPr/>
          </p:nvGrpSpPr>
          <p:grpSpPr bwMode="auto">
            <a:xfrm>
              <a:off x="576" y="2208"/>
              <a:ext cx="384" cy="192"/>
              <a:chOff x="2688" y="3552"/>
              <a:chExt cx="384" cy="192"/>
            </a:xfrm>
          </p:grpSpPr>
          <p:pic>
            <p:nvPicPr>
              <p:cNvPr id="57421" name="Picture 2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8"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2" name="Picture 2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84"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23" name="Picture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0"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85" name="Picture 25"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307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6" name="Picture 2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84"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7" name="Picture 2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0" y="331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8" name="Picture 2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0" y="326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89" name="Picture 2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2208"/>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0" name="Picture 30"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 y="2016"/>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1" name="Picture 3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72"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2" name="Picture 3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68"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3" name="Picture 3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64" y="2544"/>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4" name="Picture 34"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5" name="Picture 3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2"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6" name="Picture 3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8"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7" name="Picture 3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0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8" name="Picture 38"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 y="1152"/>
              <a:ext cx="48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99" name="Picture 3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00" name="Picture 4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01" name="Line 41"/>
            <p:cNvSpPr>
              <a:spLocks noChangeShapeType="1"/>
            </p:cNvSpPr>
            <p:nvPr/>
          </p:nvSpPr>
          <p:spPr bwMode="auto">
            <a:xfrm>
              <a:off x="2592" y="1440"/>
              <a:ext cx="57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2" name="Line 42"/>
            <p:cNvSpPr>
              <a:spLocks noChangeShapeType="1"/>
            </p:cNvSpPr>
            <p:nvPr/>
          </p:nvSpPr>
          <p:spPr bwMode="auto">
            <a:xfrm flipV="1">
              <a:off x="3312" y="1632"/>
              <a:ext cx="0" cy="48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3" name="Line 43"/>
            <p:cNvSpPr>
              <a:spLocks noChangeShapeType="1"/>
            </p:cNvSpPr>
            <p:nvPr/>
          </p:nvSpPr>
          <p:spPr bwMode="auto">
            <a:xfrm>
              <a:off x="2400" y="2352"/>
              <a:ext cx="816" cy="0"/>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4" name="Line 44"/>
            <p:cNvSpPr>
              <a:spLocks noChangeShapeType="1"/>
            </p:cNvSpPr>
            <p:nvPr/>
          </p:nvSpPr>
          <p:spPr bwMode="auto">
            <a:xfrm flipH="1">
              <a:off x="2160" y="1584"/>
              <a:ext cx="144" cy="43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5" name="Line 45"/>
            <p:cNvSpPr>
              <a:spLocks noChangeShapeType="1"/>
            </p:cNvSpPr>
            <p:nvPr/>
          </p:nvSpPr>
          <p:spPr bwMode="auto">
            <a:xfrm>
              <a:off x="2544" y="1536"/>
              <a:ext cx="672" cy="672"/>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6" name="Line 46"/>
            <p:cNvSpPr>
              <a:spLocks noChangeShapeType="1"/>
            </p:cNvSpPr>
            <p:nvPr/>
          </p:nvSpPr>
          <p:spPr bwMode="auto">
            <a:xfrm flipV="1">
              <a:off x="2304" y="1584"/>
              <a:ext cx="864" cy="624"/>
            </a:xfrm>
            <a:prstGeom prst="line">
              <a:avLst/>
            </a:prstGeom>
            <a:noFill/>
            <a:ln w="38100">
              <a:solidFill>
                <a:srgbClr val="99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07" name="Line 47"/>
            <p:cNvSpPr>
              <a:spLocks noChangeShapeType="1"/>
            </p:cNvSpPr>
            <p:nvPr/>
          </p:nvSpPr>
          <p:spPr bwMode="auto">
            <a:xfrm>
              <a:off x="3648" y="1584"/>
              <a:ext cx="576"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57408" name="Picture 48"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 y="3312"/>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09" name="Picture 49"/>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36"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10" name="Picture 5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2" y="355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11" name="Picture 51" desc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1440"/>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12" name="Picture 5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4"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13" name="Picture 5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 y="168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414" name="Line 54"/>
            <p:cNvSpPr>
              <a:spLocks noChangeShapeType="1"/>
            </p:cNvSpPr>
            <p:nvPr/>
          </p:nvSpPr>
          <p:spPr bwMode="auto">
            <a:xfrm>
              <a:off x="3648" y="2544"/>
              <a:ext cx="864" cy="67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15" name="Line 55"/>
            <p:cNvSpPr>
              <a:spLocks noChangeShapeType="1"/>
            </p:cNvSpPr>
            <p:nvPr/>
          </p:nvSpPr>
          <p:spPr bwMode="auto">
            <a:xfrm>
              <a:off x="3504" y="2544"/>
              <a:ext cx="432" cy="76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16" name="Line 56"/>
            <p:cNvSpPr>
              <a:spLocks noChangeShapeType="1"/>
            </p:cNvSpPr>
            <p:nvPr/>
          </p:nvSpPr>
          <p:spPr bwMode="auto">
            <a:xfrm flipH="1">
              <a:off x="3168" y="2544"/>
              <a:ext cx="144" cy="43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17" name="Line 57"/>
            <p:cNvSpPr>
              <a:spLocks noChangeShapeType="1"/>
            </p:cNvSpPr>
            <p:nvPr/>
          </p:nvSpPr>
          <p:spPr bwMode="auto">
            <a:xfrm flipH="1">
              <a:off x="1632" y="2448"/>
              <a:ext cx="336" cy="57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18" name="Line 58"/>
            <p:cNvSpPr>
              <a:spLocks noChangeShapeType="1"/>
            </p:cNvSpPr>
            <p:nvPr/>
          </p:nvSpPr>
          <p:spPr bwMode="auto">
            <a:xfrm flipV="1">
              <a:off x="1104" y="1488"/>
              <a:ext cx="1008" cy="96"/>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19" name="Line 59"/>
            <p:cNvSpPr>
              <a:spLocks noChangeShapeType="1"/>
            </p:cNvSpPr>
            <p:nvPr/>
          </p:nvSpPr>
          <p:spPr bwMode="auto">
            <a:xfrm flipH="1">
              <a:off x="912" y="1584"/>
              <a:ext cx="1200" cy="48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420" name="Text Box 60"/>
            <p:cNvSpPr txBox="1">
              <a:spLocks noChangeArrowheads="1"/>
            </p:cNvSpPr>
            <p:nvPr/>
          </p:nvSpPr>
          <p:spPr bwMode="auto">
            <a:xfrm>
              <a:off x="2160" y="960"/>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endParaRPr lang="en-US" altLang="en-US" sz="2400">
                <a:solidFill>
                  <a:srgbClr val="990000"/>
                </a:solidFill>
                <a:latin typeface="Helvetica" charset="0"/>
              </a:endParaRPr>
            </a:p>
          </p:txBody>
        </p:sp>
      </p:grpSp>
      <p:sp>
        <p:nvSpPr>
          <p:cNvPr id="57347" name="Rectangle 61"/>
          <p:cNvSpPr>
            <a:spLocks noGrp="1" noChangeArrowheads="1"/>
          </p:cNvSpPr>
          <p:nvPr>
            <p:ph type="title"/>
          </p:nvPr>
        </p:nvSpPr>
        <p:spPr/>
        <p:txBody>
          <a:bodyPr/>
          <a:lstStyle/>
          <a:p>
            <a:pPr eaLnBrk="1" hangingPunct="1"/>
            <a:r>
              <a:rPr lang="en-US" altLang="en-US" dirty="0" err="1"/>
              <a:t>KaZaA</a:t>
            </a:r>
            <a:r>
              <a:rPr lang="en-US" altLang="en-US" dirty="0"/>
              <a:t>: File Search</a:t>
            </a:r>
          </a:p>
        </p:txBody>
      </p:sp>
      <p:sp>
        <p:nvSpPr>
          <p:cNvPr id="57348" name="Text Box 62"/>
          <p:cNvSpPr txBox="1">
            <a:spLocks noChangeArrowheads="1"/>
          </p:cNvSpPr>
          <p:nvPr/>
        </p:nvSpPr>
        <p:spPr bwMode="auto">
          <a:xfrm>
            <a:off x="0" y="4876800"/>
            <a:ext cx="2319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FF0000"/>
                </a:solidFill>
              </a:rPr>
              <a:t>Where is file A?</a:t>
            </a:r>
            <a:endParaRPr lang="en-US" altLang="en-US" sz="2400">
              <a:solidFill>
                <a:srgbClr val="FF0000"/>
              </a:solidFill>
              <a:latin typeface="Times New Roman" charset="0"/>
            </a:endParaRPr>
          </a:p>
        </p:txBody>
      </p:sp>
      <p:grpSp>
        <p:nvGrpSpPr>
          <p:cNvPr id="6" name="Group 63"/>
          <p:cNvGrpSpPr>
            <a:grpSpLocks/>
          </p:cNvGrpSpPr>
          <p:nvPr/>
        </p:nvGrpSpPr>
        <p:grpSpPr bwMode="auto">
          <a:xfrm>
            <a:off x="1828800" y="3886200"/>
            <a:ext cx="1295400" cy="914400"/>
            <a:chOff x="1152" y="2448"/>
            <a:chExt cx="816" cy="576"/>
          </a:xfrm>
        </p:grpSpPr>
        <p:sp>
          <p:nvSpPr>
            <p:cNvPr id="57370" name="Line 64"/>
            <p:cNvSpPr>
              <a:spLocks noChangeShapeType="1"/>
            </p:cNvSpPr>
            <p:nvPr/>
          </p:nvSpPr>
          <p:spPr bwMode="auto">
            <a:xfrm flipV="1">
              <a:off x="1632" y="2448"/>
              <a:ext cx="336" cy="57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71" name="Rectangle 65"/>
            <p:cNvSpPr>
              <a:spLocks noChangeArrowheads="1"/>
            </p:cNvSpPr>
            <p:nvPr/>
          </p:nvSpPr>
          <p:spPr bwMode="auto">
            <a:xfrm>
              <a:off x="1152" y="2544"/>
              <a:ext cx="63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chemeClr val="accent2"/>
                  </a:solidFill>
                </a:rPr>
                <a:t>Query</a:t>
              </a:r>
            </a:p>
          </p:txBody>
        </p:sp>
      </p:grpSp>
      <p:grpSp>
        <p:nvGrpSpPr>
          <p:cNvPr id="7" name="Group 66"/>
          <p:cNvGrpSpPr>
            <a:grpSpLocks/>
          </p:cNvGrpSpPr>
          <p:nvPr/>
        </p:nvGrpSpPr>
        <p:grpSpPr bwMode="auto">
          <a:xfrm>
            <a:off x="3429000" y="2514600"/>
            <a:ext cx="1676400" cy="1219200"/>
            <a:chOff x="2160" y="1584"/>
            <a:chExt cx="1056" cy="768"/>
          </a:xfrm>
        </p:grpSpPr>
        <p:sp>
          <p:nvSpPr>
            <p:cNvPr id="57367" name="Line 67"/>
            <p:cNvSpPr>
              <a:spLocks noChangeShapeType="1"/>
            </p:cNvSpPr>
            <p:nvPr/>
          </p:nvSpPr>
          <p:spPr bwMode="auto">
            <a:xfrm flipV="1">
              <a:off x="2160" y="1584"/>
              <a:ext cx="144" cy="432"/>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8" name="Line 68"/>
            <p:cNvSpPr>
              <a:spLocks noChangeShapeType="1"/>
            </p:cNvSpPr>
            <p:nvPr/>
          </p:nvSpPr>
          <p:spPr bwMode="auto">
            <a:xfrm flipV="1">
              <a:off x="2400" y="2352"/>
              <a:ext cx="816"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9" name="Line 69"/>
            <p:cNvSpPr>
              <a:spLocks noChangeShapeType="1"/>
            </p:cNvSpPr>
            <p:nvPr/>
          </p:nvSpPr>
          <p:spPr bwMode="auto">
            <a:xfrm flipV="1">
              <a:off x="2304" y="1584"/>
              <a:ext cx="864" cy="624"/>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 name="Group 70"/>
          <p:cNvGrpSpPr>
            <a:grpSpLocks/>
          </p:cNvGrpSpPr>
          <p:nvPr/>
        </p:nvGrpSpPr>
        <p:grpSpPr bwMode="auto">
          <a:xfrm>
            <a:off x="4038600" y="2286000"/>
            <a:ext cx="1219200" cy="1219200"/>
            <a:chOff x="2544" y="1440"/>
            <a:chExt cx="768" cy="768"/>
          </a:xfrm>
        </p:grpSpPr>
        <p:sp>
          <p:nvSpPr>
            <p:cNvPr id="57364" name="Line 71"/>
            <p:cNvSpPr>
              <a:spLocks noChangeShapeType="1"/>
            </p:cNvSpPr>
            <p:nvPr/>
          </p:nvSpPr>
          <p:spPr bwMode="auto">
            <a:xfrm>
              <a:off x="2544" y="1536"/>
              <a:ext cx="672" cy="672"/>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5" name="Line 72"/>
            <p:cNvSpPr>
              <a:spLocks noChangeShapeType="1"/>
            </p:cNvSpPr>
            <p:nvPr/>
          </p:nvSpPr>
          <p:spPr bwMode="auto">
            <a:xfrm flipV="1">
              <a:off x="2592" y="1440"/>
              <a:ext cx="576"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6" name="Line 73"/>
            <p:cNvSpPr>
              <a:spLocks noChangeShapeType="1"/>
            </p:cNvSpPr>
            <p:nvPr/>
          </p:nvSpPr>
          <p:spPr bwMode="auto">
            <a:xfrm flipV="1">
              <a:off x="3312" y="1632"/>
              <a:ext cx="0" cy="48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9" name="Group 74"/>
          <p:cNvGrpSpPr>
            <a:grpSpLocks/>
          </p:cNvGrpSpPr>
          <p:nvPr/>
        </p:nvGrpSpPr>
        <p:grpSpPr bwMode="auto">
          <a:xfrm>
            <a:off x="1447800" y="1524000"/>
            <a:ext cx="6248400" cy="2971800"/>
            <a:chOff x="912" y="960"/>
            <a:chExt cx="3936" cy="1872"/>
          </a:xfrm>
        </p:grpSpPr>
        <p:sp>
          <p:nvSpPr>
            <p:cNvPr id="57362" name="Rectangle 75"/>
            <p:cNvSpPr>
              <a:spLocks noChangeArrowheads="1"/>
            </p:cNvSpPr>
            <p:nvPr/>
          </p:nvSpPr>
          <p:spPr bwMode="auto">
            <a:xfrm>
              <a:off x="3552" y="2112"/>
              <a:ext cx="1296" cy="720"/>
            </a:xfrm>
            <a:prstGeom prst="rect">
              <a:avLst/>
            </a:prstGeom>
            <a:solidFill>
              <a:srgbClr val="92D050"/>
            </a:solidFill>
            <a:ln w="9525">
              <a:solidFill>
                <a:schemeClr val="tx1"/>
              </a:solidFill>
              <a:miter lim="800000"/>
              <a:headEnd/>
              <a:tailEnd/>
            </a:ln>
          </p:spPr>
          <p:txBody>
            <a:bodyPr wrap="none"/>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search(A)</a:t>
              </a:r>
            </a:p>
            <a:p>
              <a:pPr>
                <a:spcBef>
                  <a:spcPct val="0"/>
                </a:spcBef>
                <a:buFontTx/>
                <a:buNone/>
              </a:pPr>
              <a:r>
                <a:rPr lang="en-US" altLang="en-US" sz="2400"/>
                <a:t>--&gt;</a:t>
              </a:r>
            </a:p>
            <a:p>
              <a:pPr>
                <a:spcBef>
                  <a:spcPct val="0"/>
                </a:spcBef>
                <a:buFontTx/>
                <a:buNone/>
              </a:pPr>
              <a:r>
                <a:rPr lang="en-US" altLang="en-US" sz="2400"/>
                <a:t>123.2.0.18</a:t>
              </a:r>
            </a:p>
          </p:txBody>
        </p:sp>
        <p:sp>
          <p:nvSpPr>
            <p:cNvPr id="57363" name="Rectangle 76"/>
            <p:cNvSpPr>
              <a:spLocks noChangeArrowheads="1"/>
            </p:cNvSpPr>
            <p:nvPr/>
          </p:nvSpPr>
          <p:spPr bwMode="auto">
            <a:xfrm>
              <a:off x="912" y="960"/>
              <a:ext cx="1296" cy="720"/>
            </a:xfrm>
            <a:prstGeom prst="rect">
              <a:avLst/>
            </a:prstGeom>
            <a:solidFill>
              <a:srgbClr val="92D050"/>
            </a:solidFill>
            <a:ln w="9525">
              <a:solidFill>
                <a:schemeClr val="tx1"/>
              </a:solidFill>
              <a:miter lim="800000"/>
              <a:headEnd/>
              <a:tailEnd/>
            </a:ln>
          </p:spPr>
          <p:txBody>
            <a:bodyPr wrap="none"/>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search(A)</a:t>
              </a:r>
            </a:p>
            <a:p>
              <a:pPr>
                <a:spcBef>
                  <a:spcPct val="0"/>
                </a:spcBef>
                <a:buFontTx/>
                <a:buNone/>
              </a:pPr>
              <a:r>
                <a:rPr lang="en-US" altLang="en-US" sz="2400"/>
                <a:t>--&gt;</a:t>
              </a:r>
            </a:p>
            <a:p>
              <a:pPr>
                <a:spcBef>
                  <a:spcPct val="0"/>
                </a:spcBef>
                <a:buFontTx/>
                <a:buNone/>
              </a:pPr>
              <a:r>
                <a:rPr lang="en-US" altLang="en-US" sz="2400"/>
                <a:t>123.2.22.50</a:t>
              </a:r>
            </a:p>
          </p:txBody>
        </p:sp>
      </p:grpSp>
      <p:grpSp>
        <p:nvGrpSpPr>
          <p:cNvPr id="10" name="Group 77"/>
          <p:cNvGrpSpPr>
            <a:grpSpLocks/>
          </p:cNvGrpSpPr>
          <p:nvPr/>
        </p:nvGrpSpPr>
        <p:grpSpPr bwMode="auto">
          <a:xfrm>
            <a:off x="2438400" y="2514600"/>
            <a:ext cx="2667000" cy="2362200"/>
            <a:chOff x="1536" y="1584"/>
            <a:chExt cx="1680" cy="1488"/>
          </a:xfrm>
        </p:grpSpPr>
        <p:sp>
          <p:nvSpPr>
            <p:cNvPr id="57357" name="Line 78"/>
            <p:cNvSpPr>
              <a:spLocks noChangeShapeType="1"/>
            </p:cNvSpPr>
            <p:nvPr/>
          </p:nvSpPr>
          <p:spPr bwMode="auto">
            <a:xfrm flipH="1">
              <a:off x="2304" y="2448"/>
              <a:ext cx="912" cy="0"/>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8" name="Line 79"/>
            <p:cNvSpPr>
              <a:spLocks noChangeShapeType="1"/>
            </p:cNvSpPr>
            <p:nvPr/>
          </p:nvSpPr>
          <p:spPr bwMode="auto">
            <a:xfrm flipH="1">
              <a:off x="2064" y="1584"/>
              <a:ext cx="144" cy="480"/>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9" name="Line 80"/>
            <p:cNvSpPr>
              <a:spLocks noChangeShapeType="1"/>
            </p:cNvSpPr>
            <p:nvPr/>
          </p:nvSpPr>
          <p:spPr bwMode="auto">
            <a:xfrm flipH="1">
              <a:off x="1680" y="2496"/>
              <a:ext cx="336" cy="576"/>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0" name="Text Box 81"/>
            <p:cNvSpPr txBox="1">
              <a:spLocks noChangeArrowheads="1"/>
            </p:cNvSpPr>
            <p:nvPr/>
          </p:nvSpPr>
          <p:spPr bwMode="auto">
            <a:xfrm>
              <a:off x="2160" y="2544"/>
              <a:ext cx="7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solidFill>
                    <a:srgbClr val="00FF00"/>
                  </a:solidFill>
                  <a:latin typeface="Helvetica" charset="0"/>
                </a:rPr>
                <a:t>Replies</a:t>
              </a:r>
            </a:p>
          </p:txBody>
        </p:sp>
        <p:sp>
          <p:nvSpPr>
            <p:cNvPr id="57361" name="Line 82"/>
            <p:cNvSpPr>
              <a:spLocks noChangeShapeType="1"/>
            </p:cNvSpPr>
            <p:nvPr/>
          </p:nvSpPr>
          <p:spPr bwMode="auto">
            <a:xfrm flipH="1">
              <a:off x="1536" y="2448"/>
              <a:ext cx="336" cy="576"/>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83"/>
          <p:cNvGrpSpPr>
            <a:grpSpLocks/>
          </p:cNvGrpSpPr>
          <p:nvPr/>
        </p:nvGrpSpPr>
        <p:grpSpPr bwMode="auto">
          <a:xfrm>
            <a:off x="457200" y="3581400"/>
            <a:ext cx="6807200" cy="2590800"/>
            <a:chOff x="288" y="2256"/>
            <a:chExt cx="4288" cy="1632"/>
          </a:xfrm>
        </p:grpSpPr>
        <p:sp>
          <p:nvSpPr>
            <p:cNvPr id="57355" name="Rectangle 84"/>
            <p:cNvSpPr>
              <a:spLocks noChangeArrowheads="1"/>
            </p:cNvSpPr>
            <p:nvPr/>
          </p:nvSpPr>
          <p:spPr bwMode="auto">
            <a:xfrm>
              <a:off x="3552" y="3600"/>
              <a:ext cx="10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123.2.0.18</a:t>
              </a:r>
            </a:p>
          </p:txBody>
        </p:sp>
        <p:sp>
          <p:nvSpPr>
            <p:cNvPr id="57356" name="Rectangle 85"/>
            <p:cNvSpPr>
              <a:spLocks noChangeArrowheads="1"/>
            </p:cNvSpPr>
            <p:nvPr/>
          </p:nvSpPr>
          <p:spPr bwMode="auto">
            <a:xfrm>
              <a:off x="288" y="2256"/>
              <a:ext cx="11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t>123.2.22.50</a:t>
              </a:r>
            </a:p>
          </p:txBody>
        </p:sp>
      </p:grpSp>
    </p:spTree>
    <p:extLst>
      <p:ext uri="{BB962C8B-B14F-4D97-AF65-F5344CB8AC3E}">
        <p14:creationId xmlns:p14="http://schemas.microsoft.com/office/powerpoint/2010/main" val="5801379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36739" y="362391"/>
            <a:ext cx="7886700" cy="1325563"/>
          </a:xfrm>
        </p:spPr>
        <p:txBody>
          <a:bodyPr/>
          <a:lstStyle/>
          <a:p>
            <a:pPr eaLnBrk="1" hangingPunct="1"/>
            <a:r>
              <a:rPr lang="en-US" altLang="en-US" dirty="0" err="1"/>
              <a:t>BitTorrent</a:t>
            </a:r>
            <a:endParaRPr lang="en-US" altLang="en-US" dirty="0"/>
          </a:p>
        </p:txBody>
      </p:sp>
      <p:sp>
        <p:nvSpPr>
          <p:cNvPr id="60419" name="Rectangle 3"/>
          <p:cNvSpPr>
            <a:spLocks noGrp="1" noChangeArrowheads="1"/>
          </p:cNvSpPr>
          <p:nvPr>
            <p:ph type="body" idx="1"/>
          </p:nvPr>
        </p:nvSpPr>
        <p:spPr>
          <a:xfrm>
            <a:off x="436739" y="1814336"/>
            <a:ext cx="7886700" cy="4351338"/>
          </a:xfrm>
        </p:spPr>
        <p:txBody>
          <a:bodyPr/>
          <a:lstStyle/>
          <a:p>
            <a:pPr eaLnBrk="1" hangingPunct="1"/>
            <a:r>
              <a:rPr lang="en-US" altLang="en-US" dirty="0"/>
              <a:t>A popular P2P application for file exchange!</a:t>
            </a:r>
          </a:p>
          <a:p>
            <a:r>
              <a:rPr lang="en-US" altLang="zh-CN" dirty="0">
                <a:ea typeface="SimSun" charset="-122"/>
              </a:rPr>
              <a:t>Problems to Address</a:t>
            </a:r>
          </a:p>
          <a:p>
            <a:pPr eaLnBrk="1" hangingPunct="1"/>
            <a:endParaRPr lang="en-US" altLang="en-US" dirty="0"/>
          </a:p>
        </p:txBody>
      </p:sp>
      <p:sp>
        <p:nvSpPr>
          <p:cNvPr id="5" name="Rectangle 3">
            <a:extLst>
              <a:ext uri="{FF2B5EF4-FFF2-40B4-BE49-F238E27FC236}">
                <a16:creationId xmlns:a16="http://schemas.microsoft.com/office/drawing/2014/main" id="{E238A2EB-A1CB-459B-8DA7-ABB156EFE8D7}"/>
              </a:ext>
            </a:extLst>
          </p:cNvPr>
          <p:cNvSpPr txBox="1">
            <a:spLocks noChangeArrowheads="1"/>
          </p:cNvSpPr>
          <p:nvPr/>
        </p:nvSpPr>
        <p:spPr>
          <a:xfrm>
            <a:off x="820561" y="2887134"/>
            <a:ext cx="7886700" cy="24133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ea typeface="SimSun" charset="-122"/>
              </a:rPr>
              <a:t>Traditional Client/Server Sharing</a:t>
            </a:r>
          </a:p>
          <a:p>
            <a:pPr lvl="1"/>
            <a:r>
              <a:rPr lang="en-US" altLang="zh-CN" dirty="0">
                <a:ea typeface="SimSun" charset="-122"/>
              </a:rPr>
              <a:t>Performance deteriorates rapidly as the number of clients increases</a:t>
            </a:r>
          </a:p>
          <a:p>
            <a:r>
              <a:rPr lang="en-US" altLang="zh-CN" dirty="0">
                <a:ea typeface="SimSun" charset="-122"/>
              </a:rPr>
              <a:t>Free-riding in P2P network </a:t>
            </a:r>
          </a:p>
          <a:p>
            <a:pPr lvl="1"/>
            <a:r>
              <a:rPr lang="en-US" altLang="zh-CN" dirty="0">
                <a:ea typeface="SimSun" charset="-122"/>
              </a:rPr>
              <a:t>Free riders only download without contributing to the network.</a:t>
            </a:r>
          </a:p>
          <a:p>
            <a:endParaRPr lang="en-US" altLang="zh-CN" dirty="0">
              <a:ea typeface="SimSun" charset="-122"/>
            </a:endParaRPr>
          </a:p>
        </p:txBody>
      </p:sp>
    </p:spTree>
    <p:extLst>
      <p:ext uri="{BB962C8B-B14F-4D97-AF65-F5344CB8AC3E}">
        <p14:creationId xmlns:p14="http://schemas.microsoft.com/office/powerpoint/2010/main" val="158626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en-US" dirty="0"/>
              <a:t>Basic Idea</a:t>
            </a:r>
          </a:p>
        </p:txBody>
      </p:sp>
      <p:sp>
        <p:nvSpPr>
          <p:cNvPr id="64515" name="Rectangle 3"/>
          <p:cNvSpPr>
            <a:spLocks noGrp="1" noChangeArrowheads="1"/>
          </p:cNvSpPr>
          <p:nvPr>
            <p:ph type="body" idx="1"/>
          </p:nvPr>
        </p:nvSpPr>
        <p:spPr/>
        <p:txBody>
          <a:bodyPr>
            <a:normAutofit lnSpcReduction="10000"/>
          </a:bodyPr>
          <a:lstStyle/>
          <a:p>
            <a:pPr eaLnBrk="1" hangingPunct="1">
              <a:lnSpc>
                <a:spcPct val="90000"/>
              </a:lnSpc>
            </a:pPr>
            <a:r>
              <a:rPr lang="en-US" altLang="en-US" sz="2400" dirty="0"/>
              <a:t>Chop file into many pieces</a:t>
            </a:r>
          </a:p>
          <a:p>
            <a:pPr lvl="1" eaLnBrk="1" hangingPunct="1">
              <a:lnSpc>
                <a:spcPct val="90000"/>
              </a:lnSpc>
            </a:pPr>
            <a:r>
              <a:rPr lang="en-US" altLang="en-US" sz="2000" dirty="0"/>
              <a:t>A piece is broken into sub-pieces ... typically 16KB in size</a:t>
            </a:r>
          </a:p>
          <a:p>
            <a:pPr lvl="1" eaLnBrk="1" hangingPunct="1">
              <a:lnSpc>
                <a:spcPct val="90000"/>
              </a:lnSpc>
            </a:pPr>
            <a:r>
              <a:rPr lang="en-US" altLang="en-US" sz="2000" dirty="0"/>
              <a:t>Policy: Until a piece is assembled, only download sub-pieces for that piece</a:t>
            </a:r>
          </a:p>
          <a:p>
            <a:pPr lvl="1" eaLnBrk="1" hangingPunct="1">
              <a:lnSpc>
                <a:spcPct val="90000"/>
              </a:lnSpc>
            </a:pPr>
            <a:r>
              <a:rPr lang="en-US" altLang="en-US" sz="2000" dirty="0"/>
              <a:t>This policy lets complete pieces assemble quickly</a:t>
            </a:r>
          </a:p>
          <a:p>
            <a:pPr lvl="2" eaLnBrk="1" hangingPunct="1">
              <a:lnSpc>
                <a:spcPct val="90000"/>
              </a:lnSpc>
            </a:pPr>
            <a:endParaRPr lang="en-US" altLang="en-US" sz="1800" dirty="0"/>
          </a:p>
          <a:p>
            <a:pPr eaLnBrk="1" hangingPunct="1">
              <a:lnSpc>
                <a:spcPct val="90000"/>
              </a:lnSpc>
            </a:pPr>
            <a:r>
              <a:rPr lang="en-US" altLang="en-US" sz="2400" dirty="0"/>
              <a:t>Replicate DIFFERENT pieces on different peers as soon as possible</a:t>
            </a:r>
          </a:p>
          <a:p>
            <a:pPr eaLnBrk="1" hangingPunct="1">
              <a:lnSpc>
                <a:spcPct val="90000"/>
              </a:lnSpc>
            </a:pPr>
            <a:r>
              <a:rPr lang="en-US" altLang="en-US" sz="2400" dirty="0"/>
              <a:t>As soon as a peer has a complete piece, it can trade it with other peers</a:t>
            </a:r>
          </a:p>
          <a:p>
            <a:pPr eaLnBrk="1" hangingPunct="1">
              <a:lnSpc>
                <a:spcPct val="90000"/>
              </a:lnSpc>
            </a:pPr>
            <a:r>
              <a:rPr lang="en-US" altLang="en-US" sz="2400" dirty="0"/>
              <a:t>Hopefully, we will be able to assemble the entire file at the end</a:t>
            </a:r>
          </a:p>
        </p:txBody>
      </p:sp>
    </p:spTree>
    <p:extLst>
      <p:ext uri="{BB962C8B-B14F-4D97-AF65-F5344CB8AC3E}">
        <p14:creationId xmlns:p14="http://schemas.microsoft.com/office/powerpoint/2010/main" val="513864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en-US" dirty="0"/>
              <a:t>File Organization</a:t>
            </a:r>
          </a:p>
        </p:txBody>
      </p:sp>
      <p:sp>
        <p:nvSpPr>
          <p:cNvPr id="66563" name="Text Box 3"/>
          <p:cNvSpPr txBox="1">
            <a:spLocks noChangeArrowheads="1"/>
          </p:cNvSpPr>
          <p:nvPr/>
        </p:nvSpPr>
        <p:spPr bwMode="auto">
          <a:xfrm>
            <a:off x="4895850" y="3397250"/>
            <a:ext cx="895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b="1" dirty="0">
                <a:solidFill>
                  <a:srgbClr val="FF0000"/>
                </a:solidFill>
                <a:ea typeface="Arial" charset="0"/>
                <a:cs typeface="Arial" charset="0"/>
              </a:rPr>
              <a:t>Piece</a:t>
            </a:r>
            <a:br>
              <a:rPr lang="en-US" altLang="en-US" sz="1800" b="1" dirty="0">
                <a:solidFill>
                  <a:srgbClr val="FF0000"/>
                </a:solidFill>
                <a:ea typeface="Arial" charset="0"/>
                <a:cs typeface="Arial" charset="0"/>
              </a:rPr>
            </a:br>
            <a:r>
              <a:rPr lang="en-US" altLang="en-US" sz="1800" b="1" dirty="0">
                <a:solidFill>
                  <a:srgbClr val="FF0000"/>
                </a:solidFill>
                <a:ea typeface="Arial" charset="0"/>
                <a:cs typeface="Arial" charset="0"/>
              </a:rPr>
              <a:t>256KB</a:t>
            </a:r>
          </a:p>
        </p:txBody>
      </p:sp>
      <p:sp>
        <p:nvSpPr>
          <p:cNvPr id="66564" name="Rectangle 4"/>
          <p:cNvSpPr>
            <a:spLocks noChangeArrowheads="1"/>
          </p:cNvSpPr>
          <p:nvPr/>
        </p:nvSpPr>
        <p:spPr bwMode="auto">
          <a:xfrm>
            <a:off x="1371600" y="5181600"/>
            <a:ext cx="1524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nvGrpSpPr>
          <p:cNvPr id="66565" name="Group 5"/>
          <p:cNvGrpSpPr>
            <a:grpSpLocks/>
          </p:cNvGrpSpPr>
          <p:nvPr/>
        </p:nvGrpSpPr>
        <p:grpSpPr bwMode="auto">
          <a:xfrm>
            <a:off x="2286000" y="2743200"/>
            <a:ext cx="4876800" cy="533400"/>
            <a:chOff x="1008" y="1728"/>
            <a:chExt cx="3072" cy="336"/>
          </a:xfrm>
        </p:grpSpPr>
        <p:grpSp>
          <p:nvGrpSpPr>
            <p:cNvPr id="66592" name="Group 6"/>
            <p:cNvGrpSpPr>
              <a:grpSpLocks/>
            </p:cNvGrpSpPr>
            <p:nvPr/>
          </p:nvGrpSpPr>
          <p:grpSpPr bwMode="auto">
            <a:xfrm>
              <a:off x="1008" y="1728"/>
              <a:ext cx="768" cy="336"/>
              <a:chOff x="1008" y="1728"/>
              <a:chExt cx="768" cy="336"/>
            </a:xfrm>
          </p:grpSpPr>
          <p:grpSp>
            <p:nvGrpSpPr>
              <p:cNvPr id="66626" name="Group 7"/>
              <p:cNvGrpSpPr>
                <a:grpSpLocks/>
              </p:cNvGrpSpPr>
              <p:nvPr/>
            </p:nvGrpSpPr>
            <p:grpSpPr bwMode="auto">
              <a:xfrm>
                <a:off x="1008" y="1728"/>
                <a:ext cx="768" cy="336"/>
                <a:chOff x="1008" y="1728"/>
                <a:chExt cx="768" cy="336"/>
              </a:xfrm>
            </p:grpSpPr>
            <p:sp>
              <p:nvSpPr>
                <p:cNvPr id="66628" name="Rectangle 8"/>
                <p:cNvSpPr>
                  <a:spLocks noChangeArrowheads="1"/>
                </p:cNvSpPr>
                <p:nvPr/>
              </p:nvSpPr>
              <p:spPr bwMode="auto">
                <a:xfrm>
                  <a:off x="100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9" name="Rectangle 9"/>
                <p:cNvSpPr>
                  <a:spLocks noChangeArrowheads="1"/>
                </p:cNvSpPr>
                <p:nvPr/>
              </p:nvSpPr>
              <p:spPr bwMode="auto">
                <a:xfrm>
                  <a:off x="110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0" name="Rectangle 10"/>
                <p:cNvSpPr>
                  <a:spLocks noChangeArrowheads="1"/>
                </p:cNvSpPr>
                <p:nvPr/>
              </p:nvSpPr>
              <p:spPr bwMode="auto">
                <a:xfrm>
                  <a:off x="120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1" name="Rectangle 11"/>
                <p:cNvSpPr>
                  <a:spLocks noChangeArrowheads="1"/>
                </p:cNvSpPr>
                <p:nvPr/>
              </p:nvSpPr>
              <p:spPr bwMode="auto">
                <a:xfrm>
                  <a:off x="1296"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2" name="Rectangle 12"/>
                <p:cNvSpPr>
                  <a:spLocks noChangeArrowheads="1"/>
                </p:cNvSpPr>
                <p:nvPr/>
              </p:nvSpPr>
              <p:spPr bwMode="auto">
                <a:xfrm>
                  <a:off x="1392"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3" name="Rectangle 13"/>
                <p:cNvSpPr>
                  <a:spLocks noChangeArrowheads="1"/>
                </p:cNvSpPr>
                <p:nvPr/>
              </p:nvSpPr>
              <p:spPr bwMode="auto">
                <a:xfrm>
                  <a:off x="148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4" name="Rectangle 14"/>
                <p:cNvSpPr>
                  <a:spLocks noChangeArrowheads="1"/>
                </p:cNvSpPr>
                <p:nvPr/>
              </p:nvSpPr>
              <p:spPr bwMode="auto">
                <a:xfrm>
                  <a:off x="158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35" name="Rectangle 15"/>
                <p:cNvSpPr>
                  <a:spLocks noChangeArrowheads="1"/>
                </p:cNvSpPr>
                <p:nvPr/>
              </p:nvSpPr>
              <p:spPr bwMode="auto">
                <a:xfrm>
                  <a:off x="168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6627" name="Rectangle 16"/>
              <p:cNvSpPr>
                <a:spLocks noChangeArrowheads="1"/>
              </p:cNvSpPr>
              <p:nvPr/>
            </p:nvSpPr>
            <p:spPr bwMode="auto">
              <a:xfrm>
                <a:off x="1008" y="1728"/>
                <a:ext cx="768" cy="3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grpSp>
          <p:nvGrpSpPr>
            <p:cNvPr id="66593" name="Group 17"/>
            <p:cNvGrpSpPr>
              <a:grpSpLocks/>
            </p:cNvGrpSpPr>
            <p:nvPr/>
          </p:nvGrpSpPr>
          <p:grpSpPr bwMode="auto">
            <a:xfrm>
              <a:off x="1776" y="1728"/>
              <a:ext cx="768" cy="336"/>
              <a:chOff x="1008" y="1728"/>
              <a:chExt cx="768" cy="336"/>
            </a:xfrm>
          </p:grpSpPr>
          <p:grpSp>
            <p:nvGrpSpPr>
              <p:cNvPr id="66616" name="Group 18"/>
              <p:cNvGrpSpPr>
                <a:grpSpLocks/>
              </p:cNvGrpSpPr>
              <p:nvPr/>
            </p:nvGrpSpPr>
            <p:grpSpPr bwMode="auto">
              <a:xfrm>
                <a:off x="1008" y="1728"/>
                <a:ext cx="768" cy="336"/>
                <a:chOff x="1008" y="1728"/>
                <a:chExt cx="768" cy="336"/>
              </a:xfrm>
            </p:grpSpPr>
            <p:sp>
              <p:nvSpPr>
                <p:cNvPr id="66618" name="Rectangle 19"/>
                <p:cNvSpPr>
                  <a:spLocks noChangeArrowheads="1"/>
                </p:cNvSpPr>
                <p:nvPr/>
              </p:nvSpPr>
              <p:spPr bwMode="auto">
                <a:xfrm>
                  <a:off x="100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9" name="Rectangle 20"/>
                <p:cNvSpPr>
                  <a:spLocks noChangeArrowheads="1"/>
                </p:cNvSpPr>
                <p:nvPr/>
              </p:nvSpPr>
              <p:spPr bwMode="auto">
                <a:xfrm>
                  <a:off x="110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0" name="Rectangle 21"/>
                <p:cNvSpPr>
                  <a:spLocks noChangeArrowheads="1"/>
                </p:cNvSpPr>
                <p:nvPr/>
              </p:nvSpPr>
              <p:spPr bwMode="auto">
                <a:xfrm>
                  <a:off x="120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1" name="Rectangle 22"/>
                <p:cNvSpPr>
                  <a:spLocks noChangeArrowheads="1"/>
                </p:cNvSpPr>
                <p:nvPr/>
              </p:nvSpPr>
              <p:spPr bwMode="auto">
                <a:xfrm>
                  <a:off x="1296"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2" name="Rectangle 23"/>
                <p:cNvSpPr>
                  <a:spLocks noChangeArrowheads="1"/>
                </p:cNvSpPr>
                <p:nvPr/>
              </p:nvSpPr>
              <p:spPr bwMode="auto">
                <a:xfrm>
                  <a:off x="1392"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3" name="Rectangle 24"/>
                <p:cNvSpPr>
                  <a:spLocks noChangeArrowheads="1"/>
                </p:cNvSpPr>
                <p:nvPr/>
              </p:nvSpPr>
              <p:spPr bwMode="auto">
                <a:xfrm>
                  <a:off x="148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4" name="Rectangle 25"/>
                <p:cNvSpPr>
                  <a:spLocks noChangeArrowheads="1"/>
                </p:cNvSpPr>
                <p:nvPr/>
              </p:nvSpPr>
              <p:spPr bwMode="auto">
                <a:xfrm>
                  <a:off x="158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25" name="Rectangle 26"/>
                <p:cNvSpPr>
                  <a:spLocks noChangeArrowheads="1"/>
                </p:cNvSpPr>
                <p:nvPr/>
              </p:nvSpPr>
              <p:spPr bwMode="auto">
                <a:xfrm>
                  <a:off x="168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6617" name="Rectangle 27"/>
              <p:cNvSpPr>
                <a:spLocks noChangeArrowheads="1"/>
              </p:cNvSpPr>
              <p:nvPr/>
            </p:nvSpPr>
            <p:spPr bwMode="auto">
              <a:xfrm>
                <a:off x="1008" y="1728"/>
                <a:ext cx="768" cy="3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grpSp>
          <p:nvGrpSpPr>
            <p:cNvPr id="66594" name="Group 28"/>
            <p:cNvGrpSpPr>
              <a:grpSpLocks/>
            </p:cNvGrpSpPr>
            <p:nvPr/>
          </p:nvGrpSpPr>
          <p:grpSpPr bwMode="auto">
            <a:xfrm>
              <a:off x="2544" y="1728"/>
              <a:ext cx="768" cy="336"/>
              <a:chOff x="1008" y="1728"/>
              <a:chExt cx="768" cy="336"/>
            </a:xfrm>
          </p:grpSpPr>
          <p:grpSp>
            <p:nvGrpSpPr>
              <p:cNvPr id="66606" name="Group 29"/>
              <p:cNvGrpSpPr>
                <a:grpSpLocks/>
              </p:cNvGrpSpPr>
              <p:nvPr/>
            </p:nvGrpSpPr>
            <p:grpSpPr bwMode="auto">
              <a:xfrm>
                <a:off x="1008" y="1728"/>
                <a:ext cx="768" cy="336"/>
                <a:chOff x="1008" y="1728"/>
                <a:chExt cx="768" cy="336"/>
              </a:xfrm>
            </p:grpSpPr>
            <p:sp>
              <p:nvSpPr>
                <p:cNvPr id="66608" name="Rectangle 30"/>
                <p:cNvSpPr>
                  <a:spLocks noChangeArrowheads="1"/>
                </p:cNvSpPr>
                <p:nvPr/>
              </p:nvSpPr>
              <p:spPr bwMode="auto">
                <a:xfrm>
                  <a:off x="100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9" name="Rectangle 31"/>
                <p:cNvSpPr>
                  <a:spLocks noChangeArrowheads="1"/>
                </p:cNvSpPr>
                <p:nvPr/>
              </p:nvSpPr>
              <p:spPr bwMode="auto">
                <a:xfrm>
                  <a:off x="110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0" name="Rectangle 32"/>
                <p:cNvSpPr>
                  <a:spLocks noChangeArrowheads="1"/>
                </p:cNvSpPr>
                <p:nvPr/>
              </p:nvSpPr>
              <p:spPr bwMode="auto">
                <a:xfrm>
                  <a:off x="120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1" name="Rectangle 33"/>
                <p:cNvSpPr>
                  <a:spLocks noChangeArrowheads="1"/>
                </p:cNvSpPr>
                <p:nvPr/>
              </p:nvSpPr>
              <p:spPr bwMode="auto">
                <a:xfrm>
                  <a:off x="1296"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2" name="Rectangle 34"/>
                <p:cNvSpPr>
                  <a:spLocks noChangeArrowheads="1"/>
                </p:cNvSpPr>
                <p:nvPr/>
              </p:nvSpPr>
              <p:spPr bwMode="auto">
                <a:xfrm>
                  <a:off x="1392"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3" name="Rectangle 35"/>
                <p:cNvSpPr>
                  <a:spLocks noChangeArrowheads="1"/>
                </p:cNvSpPr>
                <p:nvPr/>
              </p:nvSpPr>
              <p:spPr bwMode="auto">
                <a:xfrm>
                  <a:off x="148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4" name="Rectangle 36"/>
                <p:cNvSpPr>
                  <a:spLocks noChangeArrowheads="1"/>
                </p:cNvSpPr>
                <p:nvPr/>
              </p:nvSpPr>
              <p:spPr bwMode="auto">
                <a:xfrm>
                  <a:off x="158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15" name="Rectangle 37"/>
                <p:cNvSpPr>
                  <a:spLocks noChangeArrowheads="1"/>
                </p:cNvSpPr>
                <p:nvPr/>
              </p:nvSpPr>
              <p:spPr bwMode="auto">
                <a:xfrm>
                  <a:off x="168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6607" name="Rectangle 38"/>
              <p:cNvSpPr>
                <a:spLocks noChangeArrowheads="1"/>
              </p:cNvSpPr>
              <p:nvPr/>
            </p:nvSpPr>
            <p:spPr bwMode="auto">
              <a:xfrm>
                <a:off x="1008" y="1728"/>
                <a:ext cx="768" cy="3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grpSp>
          <p:nvGrpSpPr>
            <p:cNvPr id="66595" name="Group 39"/>
            <p:cNvGrpSpPr>
              <a:grpSpLocks/>
            </p:cNvGrpSpPr>
            <p:nvPr/>
          </p:nvGrpSpPr>
          <p:grpSpPr bwMode="auto">
            <a:xfrm>
              <a:off x="3312" y="1728"/>
              <a:ext cx="768" cy="336"/>
              <a:chOff x="1008" y="1728"/>
              <a:chExt cx="768" cy="336"/>
            </a:xfrm>
          </p:grpSpPr>
          <p:grpSp>
            <p:nvGrpSpPr>
              <p:cNvPr id="66596" name="Group 40"/>
              <p:cNvGrpSpPr>
                <a:grpSpLocks/>
              </p:cNvGrpSpPr>
              <p:nvPr/>
            </p:nvGrpSpPr>
            <p:grpSpPr bwMode="auto">
              <a:xfrm>
                <a:off x="1008" y="1728"/>
                <a:ext cx="768" cy="336"/>
                <a:chOff x="1008" y="1728"/>
                <a:chExt cx="768" cy="336"/>
              </a:xfrm>
            </p:grpSpPr>
            <p:sp>
              <p:nvSpPr>
                <p:cNvPr id="66598" name="Rectangle 41"/>
                <p:cNvSpPr>
                  <a:spLocks noChangeArrowheads="1"/>
                </p:cNvSpPr>
                <p:nvPr/>
              </p:nvSpPr>
              <p:spPr bwMode="auto">
                <a:xfrm>
                  <a:off x="100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99" name="Rectangle 42"/>
                <p:cNvSpPr>
                  <a:spLocks noChangeArrowheads="1"/>
                </p:cNvSpPr>
                <p:nvPr/>
              </p:nvSpPr>
              <p:spPr bwMode="auto">
                <a:xfrm>
                  <a:off x="110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0" name="Rectangle 43"/>
                <p:cNvSpPr>
                  <a:spLocks noChangeArrowheads="1"/>
                </p:cNvSpPr>
                <p:nvPr/>
              </p:nvSpPr>
              <p:spPr bwMode="auto">
                <a:xfrm>
                  <a:off x="120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1" name="Rectangle 44"/>
                <p:cNvSpPr>
                  <a:spLocks noChangeArrowheads="1"/>
                </p:cNvSpPr>
                <p:nvPr/>
              </p:nvSpPr>
              <p:spPr bwMode="auto">
                <a:xfrm>
                  <a:off x="1296"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2" name="Rectangle 45"/>
                <p:cNvSpPr>
                  <a:spLocks noChangeArrowheads="1"/>
                </p:cNvSpPr>
                <p:nvPr/>
              </p:nvSpPr>
              <p:spPr bwMode="auto">
                <a:xfrm>
                  <a:off x="1392"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3" name="Rectangle 46"/>
                <p:cNvSpPr>
                  <a:spLocks noChangeArrowheads="1"/>
                </p:cNvSpPr>
                <p:nvPr/>
              </p:nvSpPr>
              <p:spPr bwMode="auto">
                <a:xfrm>
                  <a:off x="148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4" name="Rectangle 47"/>
                <p:cNvSpPr>
                  <a:spLocks noChangeArrowheads="1"/>
                </p:cNvSpPr>
                <p:nvPr/>
              </p:nvSpPr>
              <p:spPr bwMode="auto">
                <a:xfrm>
                  <a:off x="158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605" name="Rectangle 48"/>
                <p:cNvSpPr>
                  <a:spLocks noChangeArrowheads="1"/>
                </p:cNvSpPr>
                <p:nvPr/>
              </p:nvSpPr>
              <p:spPr bwMode="auto">
                <a:xfrm>
                  <a:off x="168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6597" name="Rectangle 49"/>
              <p:cNvSpPr>
                <a:spLocks noChangeArrowheads="1"/>
              </p:cNvSpPr>
              <p:nvPr/>
            </p:nvSpPr>
            <p:spPr bwMode="auto">
              <a:xfrm>
                <a:off x="1008" y="1728"/>
                <a:ext cx="768" cy="3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grpSp>
      <p:sp>
        <p:nvSpPr>
          <p:cNvPr id="66566" name="Line 50"/>
          <p:cNvSpPr>
            <a:spLocks noChangeShapeType="1"/>
          </p:cNvSpPr>
          <p:nvPr/>
        </p:nvSpPr>
        <p:spPr bwMode="auto">
          <a:xfrm flipV="1">
            <a:off x="2362200" y="31242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567" name="Text Box 51"/>
          <p:cNvSpPr txBox="1">
            <a:spLocks noChangeArrowheads="1"/>
          </p:cNvSpPr>
          <p:nvPr/>
        </p:nvSpPr>
        <p:spPr bwMode="auto">
          <a:xfrm>
            <a:off x="1981200" y="4038600"/>
            <a:ext cx="806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b="1" dirty="0">
                <a:solidFill>
                  <a:srgbClr val="FF0000"/>
                </a:solidFill>
                <a:ea typeface="Arial" charset="0"/>
                <a:cs typeface="Arial" charset="0"/>
              </a:rPr>
              <a:t>Block</a:t>
            </a:r>
            <a:br>
              <a:rPr lang="en-US" altLang="en-US" sz="1800" b="1" dirty="0">
                <a:solidFill>
                  <a:srgbClr val="FF0000"/>
                </a:solidFill>
                <a:ea typeface="Arial" charset="0"/>
                <a:cs typeface="Arial" charset="0"/>
              </a:rPr>
            </a:br>
            <a:r>
              <a:rPr lang="en-US" altLang="en-US" sz="1800" b="1" dirty="0">
                <a:solidFill>
                  <a:srgbClr val="FF0000"/>
                </a:solidFill>
                <a:ea typeface="Arial" charset="0"/>
                <a:cs typeface="Arial" charset="0"/>
              </a:rPr>
              <a:t>16KB</a:t>
            </a:r>
          </a:p>
        </p:txBody>
      </p:sp>
      <p:grpSp>
        <p:nvGrpSpPr>
          <p:cNvPr id="66568" name="Group 52"/>
          <p:cNvGrpSpPr>
            <a:grpSpLocks/>
          </p:cNvGrpSpPr>
          <p:nvPr/>
        </p:nvGrpSpPr>
        <p:grpSpPr bwMode="auto">
          <a:xfrm>
            <a:off x="4724400" y="3352800"/>
            <a:ext cx="1219200" cy="76200"/>
            <a:chOff x="2544" y="2200"/>
            <a:chExt cx="768" cy="56"/>
          </a:xfrm>
        </p:grpSpPr>
        <p:sp>
          <p:nvSpPr>
            <p:cNvPr id="66590" name="Freeform 53"/>
            <p:cNvSpPr>
              <a:spLocks/>
            </p:cNvSpPr>
            <p:nvPr/>
          </p:nvSpPr>
          <p:spPr bwMode="auto">
            <a:xfrm>
              <a:off x="2544" y="2200"/>
              <a:ext cx="384" cy="56"/>
            </a:xfrm>
            <a:custGeom>
              <a:avLst/>
              <a:gdLst>
                <a:gd name="T0" fmla="*/ 0 w 384"/>
                <a:gd name="T1" fmla="*/ 8 h 56"/>
                <a:gd name="T2" fmla="*/ 48 w 384"/>
                <a:gd name="T3" fmla="*/ 56 h 56"/>
                <a:gd name="T4" fmla="*/ 288 w 384"/>
                <a:gd name="T5" fmla="*/ 8 h 56"/>
                <a:gd name="T6" fmla="*/ 336 w 384"/>
                <a:gd name="T7" fmla="*/ 8 h 56"/>
                <a:gd name="T8" fmla="*/ 384 w 384"/>
                <a:gd name="T9" fmla="*/ 56 h 56"/>
                <a:gd name="T10" fmla="*/ 0 60000 65536"/>
                <a:gd name="T11" fmla="*/ 0 60000 65536"/>
                <a:gd name="T12" fmla="*/ 0 60000 65536"/>
                <a:gd name="T13" fmla="*/ 0 60000 65536"/>
                <a:gd name="T14" fmla="*/ 0 60000 65536"/>
                <a:gd name="T15" fmla="*/ 0 w 384"/>
                <a:gd name="T16" fmla="*/ 0 h 56"/>
                <a:gd name="T17" fmla="*/ 384 w 384"/>
                <a:gd name="T18" fmla="*/ 56 h 56"/>
              </a:gdLst>
              <a:ahLst/>
              <a:cxnLst>
                <a:cxn ang="T10">
                  <a:pos x="T0" y="T1"/>
                </a:cxn>
                <a:cxn ang="T11">
                  <a:pos x="T2" y="T3"/>
                </a:cxn>
                <a:cxn ang="T12">
                  <a:pos x="T4" y="T5"/>
                </a:cxn>
                <a:cxn ang="T13">
                  <a:pos x="T6" y="T7"/>
                </a:cxn>
                <a:cxn ang="T14">
                  <a:pos x="T8" y="T9"/>
                </a:cxn>
              </a:cxnLst>
              <a:rect l="T15" t="T16" r="T17" b="T18"/>
              <a:pathLst>
                <a:path w="384" h="56">
                  <a:moveTo>
                    <a:pt x="0" y="8"/>
                  </a:moveTo>
                  <a:cubicBezTo>
                    <a:pt x="0" y="32"/>
                    <a:pt x="0" y="56"/>
                    <a:pt x="48" y="56"/>
                  </a:cubicBezTo>
                  <a:cubicBezTo>
                    <a:pt x="96" y="56"/>
                    <a:pt x="240" y="16"/>
                    <a:pt x="288" y="8"/>
                  </a:cubicBezTo>
                  <a:cubicBezTo>
                    <a:pt x="336" y="0"/>
                    <a:pt x="320" y="0"/>
                    <a:pt x="336" y="8"/>
                  </a:cubicBezTo>
                  <a:cubicBezTo>
                    <a:pt x="352" y="16"/>
                    <a:pt x="384" y="48"/>
                    <a:pt x="384" y="5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91" name="Freeform 54"/>
            <p:cNvSpPr>
              <a:spLocks/>
            </p:cNvSpPr>
            <p:nvPr/>
          </p:nvSpPr>
          <p:spPr bwMode="auto">
            <a:xfrm flipH="1">
              <a:off x="2928" y="2200"/>
              <a:ext cx="384" cy="56"/>
            </a:xfrm>
            <a:custGeom>
              <a:avLst/>
              <a:gdLst>
                <a:gd name="T0" fmla="*/ 0 w 384"/>
                <a:gd name="T1" fmla="*/ 8 h 56"/>
                <a:gd name="T2" fmla="*/ 48 w 384"/>
                <a:gd name="T3" fmla="*/ 56 h 56"/>
                <a:gd name="T4" fmla="*/ 288 w 384"/>
                <a:gd name="T5" fmla="*/ 8 h 56"/>
                <a:gd name="T6" fmla="*/ 336 w 384"/>
                <a:gd name="T7" fmla="*/ 8 h 56"/>
                <a:gd name="T8" fmla="*/ 384 w 384"/>
                <a:gd name="T9" fmla="*/ 56 h 56"/>
                <a:gd name="T10" fmla="*/ 0 60000 65536"/>
                <a:gd name="T11" fmla="*/ 0 60000 65536"/>
                <a:gd name="T12" fmla="*/ 0 60000 65536"/>
                <a:gd name="T13" fmla="*/ 0 60000 65536"/>
                <a:gd name="T14" fmla="*/ 0 60000 65536"/>
                <a:gd name="T15" fmla="*/ 0 w 384"/>
                <a:gd name="T16" fmla="*/ 0 h 56"/>
                <a:gd name="T17" fmla="*/ 384 w 384"/>
                <a:gd name="T18" fmla="*/ 56 h 56"/>
              </a:gdLst>
              <a:ahLst/>
              <a:cxnLst>
                <a:cxn ang="T10">
                  <a:pos x="T0" y="T1"/>
                </a:cxn>
                <a:cxn ang="T11">
                  <a:pos x="T2" y="T3"/>
                </a:cxn>
                <a:cxn ang="T12">
                  <a:pos x="T4" y="T5"/>
                </a:cxn>
                <a:cxn ang="T13">
                  <a:pos x="T6" y="T7"/>
                </a:cxn>
                <a:cxn ang="T14">
                  <a:pos x="T8" y="T9"/>
                </a:cxn>
              </a:cxnLst>
              <a:rect l="T15" t="T16" r="T17" b="T18"/>
              <a:pathLst>
                <a:path w="384" h="56">
                  <a:moveTo>
                    <a:pt x="0" y="8"/>
                  </a:moveTo>
                  <a:cubicBezTo>
                    <a:pt x="0" y="32"/>
                    <a:pt x="0" y="56"/>
                    <a:pt x="48" y="56"/>
                  </a:cubicBezTo>
                  <a:cubicBezTo>
                    <a:pt x="96" y="56"/>
                    <a:pt x="240" y="16"/>
                    <a:pt x="288" y="8"/>
                  </a:cubicBezTo>
                  <a:cubicBezTo>
                    <a:pt x="336" y="0"/>
                    <a:pt x="320" y="0"/>
                    <a:pt x="336" y="8"/>
                  </a:cubicBezTo>
                  <a:cubicBezTo>
                    <a:pt x="352" y="16"/>
                    <a:pt x="384" y="48"/>
                    <a:pt x="384" y="5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6569" name="Group 55"/>
          <p:cNvGrpSpPr>
            <a:grpSpLocks/>
          </p:cNvGrpSpPr>
          <p:nvPr/>
        </p:nvGrpSpPr>
        <p:grpSpPr bwMode="auto">
          <a:xfrm flipV="1">
            <a:off x="2286000" y="2590800"/>
            <a:ext cx="4876800" cy="76200"/>
            <a:chOff x="2544" y="2200"/>
            <a:chExt cx="768" cy="56"/>
          </a:xfrm>
        </p:grpSpPr>
        <p:sp>
          <p:nvSpPr>
            <p:cNvPr id="66588" name="Freeform 56"/>
            <p:cNvSpPr>
              <a:spLocks/>
            </p:cNvSpPr>
            <p:nvPr/>
          </p:nvSpPr>
          <p:spPr bwMode="auto">
            <a:xfrm>
              <a:off x="2544" y="2200"/>
              <a:ext cx="384" cy="56"/>
            </a:xfrm>
            <a:custGeom>
              <a:avLst/>
              <a:gdLst>
                <a:gd name="T0" fmla="*/ 0 w 384"/>
                <a:gd name="T1" fmla="*/ 8 h 56"/>
                <a:gd name="T2" fmla="*/ 48 w 384"/>
                <a:gd name="T3" fmla="*/ 56 h 56"/>
                <a:gd name="T4" fmla="*/ 288 w 384"/>
                <a:gd name="T5" fmla="*/ 8 h 56"/>
                <a:gd name="T6" fmla="*/ 336 w 384"/>
                <a:gd name="T7" fmla="*/ 8 h 56"/>
                <a:gd name="T8" fmla="*/ 384 w 384"/>
                <a:gd name="T9" fmla="*/ 56 h 56"/>
                <a:gd name="T10" fmla="*/ 0 60000 65536"/>
                <a:gd name="T11" fmla="*/ 0 60000 65536"/>
                <a:gd name="T12" fmla="*/ 0 60000 65536"/>
                <a:gd name="T13" fmla="*/ 0 60000 65536"/>
                <a:gd name="T14" fmla="*/ 0 60000 65536"/>
                <a:gd name="T15" fmla="*/ 0 w 384"/>
                <a:gd name="T16" fmla="*/ 0 h 56"/>
                <a:gd name="T17" fmla="*/ 384 w 384"/>
                <a:gd name="T18" fmla="*/ 56 h 56"/>
              </a:gdLst>
              <a:ahLst/>
              <a:cxnLst>
                <a:cxn ang="T10">
                  <a:pos x="T0" y="T1"/>
                </a:cxn>
                <a:cxn ang="T11">
                  <a:pos x="T2" y="T3"/>
                </a:cxn>
                <a:cxn ang="T12">
                  <a:pos x="T4" y="T5"/>
                </a:cxn>
                <a:cxn ang="T13">
                  <a:pos x="T6" y="T7"/>
                </a:cxn>
                <a:cxn ang="T14">
                  <a:pos x="T8" y="T9"/>
                </a:cxn>
              </a:cxnLst>
              <a:rect l="T15" t="T16" r="T17" b="T18"/>
              <a:pathLst>
                <a:path w="384" h="56">
                  <a:moveTo>
                    <a:pt x="0" y="8"/>
                  </a:moveTo>
                  <a:cubicBezTo>
                    <a:pt x="0" y="32"/>
                    <a:pt x="0" y="56"/>
                    <a:pt x="48" y="56"/>
                  </a:cubicBezTo>
                  <a:cubicBezTo>
                    <a:pt x="96" y="56"/>
                    <a:pt x="240" y="16"/>
                    <a:pt x="288" y="8"/>
                  </a:cubicBezTo>
                  <a:cubicBezTo>
                    <a:pt x="336" y="0"/>
                    <a:pt x="320" y="0"/>
                    <a:pt x="336" y="8"/>
                  </a:cubicBezTo>
                  <a:cubicBezTo>
                    <a:pt x="352" y="16"/>
                    <a:pt x="384" y="48"/>
                    <a:pt x="384" y="5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89" name="Freeform 57"/>
            <p:cNvSpPr>
              <a:spLocks/>
            </p:cNvSpPr>
            <p:nvPr/>
          </p:nvSpPr>
          <p:spPr bwMode="auto">
            <a:xfrm flipH="1">
              <a:off x="2928" y="2200"/>
              <a:ext cx="384" cy="56"/>
            </a:xfrm>
            <a:custGeom>
              <a:avLst/>
              <a:gdLst>
                <a:gd name="T0" fmla="*/ 0 w 384"/>
                <a:gd name="T1" fmla="*/ 8 h 56"/>
                <a:gd name="T2" fmla="*/ 48 w 384"/>
                <a:gd name="T3" fmla="*/ 56 h 56"/>
                <a:gd name="T4" fmla="*/ 288 w 384"/>
                <a:gd name="T5" fmla="*/ 8 h 56"/>
                <a:gd name="T6" fmla="*/ 336 w 384"/>
                <a:gd name="T7" fmla="*/ 8 h 56"/>
                <a:gd name="T8" fmla="*/ 384 w 384"/>
                <a:gd name="T9" fmla="*/ 56 h 56"/>
                <a:gd name="T10" fmla="*/ 0 60000 65536"/>
                <a:gd name="T11" fmla="*/ 0 60000 65536"/>
                <a:gd name="T12" fmla="*/ 0 60000 65536"/>
                <a:gd name="T13" fmla="*/ 0 60000 65536"/>
                <a:gd name="T14" fmla="*/ 0 60000 65536"/>
                <a:gd name="T15" fmla="*/ 0 w 384"/>
                <a:gd name="T16" fmla="*/ 0 h 56"/>
                <a:gd name="T17" fmla="*/ 384 w 384"/>
                <a:gd name="T18" fmla="*/ 56 h 56"/>
              </a:gdLst>
              <a:ahLst/>
              <a:cxnLst>
                <a:cxn ang="T10">
                  <a:pos x="T0" y="T1"/>
                </a:cxn>
                <a:cxn ang="T11">
                  <a:pos x="T2" y="T3"/>
                </a:cxn>
                <a:cxn ang="T12">
                  <a:pos x="T4" y="T5"/>
                </a:cxn>
                <a:cxn ang="T13">
                  <a:pos x="T6" y="T7"/>
                </a:cxn>
                <a:cxn ang="T14">
                  <a:pos x="T8" y="T9"/>
                </a:cxn>
              </a:cxnLst>
              <a:rect l="T15" t="T16" r="T17" b="T18"/>
              <a:pathLst>
                <a:path w="384" h="56">
                  <a:moveTo>
                    <a:pt x="0" y="8"/>
                  </a:moveTo>
                  <a:cubicBezTo>
                    <a:pt x="0" y="32"/>
                    <a:pt x="0" y="56"/>
                    <a:pt x="48" y="56"/>
                  </a:cubicBezTo>
                  <a:cubicBezTo>
                    <a:pt x="96" y="56"/>
                    <a:pt x="240" y="16"/>
                    <a:pt x="288" y="8"/>
                  </a:cubicBezTo>
                  <a:cubicBezTo>
                    <a:pt x="336" y="0"/>
                    <a:pt x="320" y="0"/>
                    <a:pt x="336" y="8"/>
                  </a:cubicBezTo>
                  <a:cubicBezTo>
                    <a:pt x="352" y="16"/>
                    <a:pt x="384" y="48"/>
                    <a:pt x="384" y="56"/>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6570" name="Text Box 58"/>
          <p:cNvSpPr txBox="1">
            <a:spLocks noChangeArrowheads="1"/>
          </p:cNvSpPr>
          <p:nvPr/>
        </p:nvSpPr>
        <p:spPr bwMode="auto">
          <a:xfrm>
            <a:off x="4451350" y="2286000"/>
            <a:ext cx="57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dirty="0">
                <a:solidFill>
                  <a:srgbClr val="FF0000"/>
                </a:solidFill>
                <a:ea typeface="Arial" charset="0"/>
                <a:cs typeface="Arial" charset="0"/>
              </a:rPr>
              <a:t>File</a:t>
            </a:r>
          </a:p>
        </p:txBody>
      </p:sp>
      <p:sp>
        <p:nvSpPr>
          <p:cNvPr id="66571" name="Text Box 59"/>
          <p:cNvSpPr txBox="1">
            <a:spLocks noChangeArrowheads="1"/>
          </p:cNvSpPr>
          <p:nvPr/>
        </p:nvSpPr>
        <p:spPr bwMode="auto">
          <a:xfrm>
            <a:off x="6323013" y="2743200"/>
            <a:ext cx="38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800" b="1" dirty="0">
                <a:solidFill>
                  <a:srgbClr val="FFC000"/>
                </a:solidFill>
                <a:ea typeface="Arial" charset="0"/>
                <a:cs typeface="Arial" charset="0"/>
              </a:rPr>
              <a:t>4</a:t>
            </a:r>
          </a:p>
        </p:txBody>
      </p:sp>
      <p:sp>
        <p:nvSpPr>
          <p:cNvPr id="66572" name="Text Box 60"/>
          <p:cNvSpPr txBox="1">
            <a:spLocks noChangeArrowheads="1"/>
          </p:cNvSpPr>
          <p:nvPr/>
        </p:nvSpPr>
        <p:spPr bwMode="auto">
          <a:xfrm>
            <a:off x="3962400" y="27432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800" b="1" dirty="0">
                <a:solidFill>
                  <a:srgbClr val="FFC000"/>
                </a:solidFill>
                <a:ea typeface="Arial" charset="0"/>
                <a:cs typeface="Arial" charset="0"/>
              </a:rPr>
              <a:t>2</a:t>
            </a:r>
          </a:p>
        </p:txBody>
      </p:sp>
      <p:sp>
        <p:nvSpPr>
          <p:cNvPr id="66573" name="Text Box 61"/>
          <p:cNvSpPr txBox="1">
            <a:spLocks noChangeArrowheads="1"/>
          </p:cNvSpPr>
          <p:nvPr/>
        </p:nvSpPr>
        <p:spPr bwMode="auto">
          <a:xfrm>
            <a:off x="2743200" y="27574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800" b="1" dirty="0">
                <a:solidFill>
                  <a:srgbClr val="FFC000"/>
                </a:solidFill>
                <a:ea typeface="Arial" charset="0"/>
                <a:cs typeface="Arial" charset="0"/>
              </a:rPr>
              <a:t>1</a:t>
            </a:r>
          </a:p>
        </p:txBody>
      </p:sp>
      <p:sp>
        <p:nvSpPr>
          <p:cNvPr id="66574" name="Text Box 62"/>
          <p:cNvSpPr txBox="1">
            <a:spLocks noChangeArrowheads="1"/>
          </p:cNvSpPr>
          <p:nvPr/>
        </p:nvSpPr>
        <p:spPr bwMode="auto">
          <a:xfrm>
            <a:off x="5105400" y="27432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800" b="1" dirty="0">
                <a:solidFill>
                  <a:srgbClr val="FFC000"/>
                </a:solidFill>
                <a:ea typeface="Arial" charset="0"/>
                <a:cs typeface="Arial" charset="0"/>
              </a:rPr>
              <a:t>3</a:t>
            </a:r>
          </a:p>
        </p:txBody>
      </p:sp>
      <p:sp>
        <p:nvSpPr>
          <p:cNvPr id="66575" name="Line 63"/>
          <p:cNvSpPr>
            <a:spLocks noChangeShapeType="1"/>
          </p:cNvSpPr>
          <p:nvPr/>
        </p:nvSpPr>
        <p:spPr bwMode="auto">
          <a:xfrm flipH="1">
            <a:off x="1600200" y="4648200"/>
            <a:ext cx="6858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3" name="Group 64"/>
          <p:cNvGrpSpPr>
            <a:grpSpLocks/>
          </p:cNvGrpSpPr>
          <p:nvPr/>
        </p:nvGrpSpPr>
        <p:grpSpPr bwMode="auto">
          <a:xfrm>
            <a:off x="5943600" y="5181600"/>
            <a:ext cx="1219200" cy="533400"/>
            <a:chOff x="1008" y="1728"/>
            <a:chExt cx="768" cy="336"/>
          </a:xfrm>
        </p:grpSpPr>
        <p:grpSp>
          <p:nvGrpSpPr>
            <p:cNvPr id="66578" name="Group 65"/>
            <p:cNvGrpSpPr>
              <a:grpSpLocks/>
            </p:cNvGrpSpPr>
            <p:nvPr/>
          </p:nvGrpSpPr>
          <p:grpSpPr bwMode="auto">
            <a:xfrm>
              <a:off x="1008" y="1728"/>
              <a:ext cx="768" cy="336"/>
              <a:chOff x="1008" y="1728"/>
              <a:chExt cx="768" cy="336"/>
            </a:xfrm>
          </p:grpSpPr>
          <p:sp>
            <p:nvSpPr>
              <p:cNvPr id="66580" name="Rectangle 66"/>
              <p:cNvSpPr>
                <a:spLocks noChangeArrowheads="1"/>
              </p:cNvSpPr>
              <p:nvPr/>
            </p:nvSpPr>
            <p:spPr bwMode="auto">
              <a:xfrm>
                <a:off x="1008"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1" name="Rectangle 67"/>
              <p:cNvSpPr>
                <a:spLocks noChangeArrowheads="1"/>
              </p:cNvSpPr>
              <p:nvPr/>
            </p:nvSpPr>
            <p:spPr bwMode="auto">
              <a:xfrm>
                <a:off x="1104" y="1728"/>
                <a:ext cx="96"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2" name="Rectangle 68"/>
              <p:cNvSpPr>
                <a:spLocks noChangeArrowheads="1"/>
              </p:cNvSpPr>
              <p:nvPr/>
            </p:nvSpPr>
            <p:spPr bwMode="auto">
              <a:xfrm>
                <a:off x="120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3" name="Rectangle 69"/>
              <p:cNvSpPr>
                <a:spLocks noChangeArrowheads="1"/>
              </p:cNvSpPr>
              <p:nvPr/>
            </p:nvSpPr>
            <p:spPr bwMode="auto">
              <a:xfrm>
                <a:off x="1296"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4" name="Rectangle 70"/>
              <p:cNvSpPr>
                <a:spLocks noChangeArrowheads="1"/>
              </p:cNvSpPr>
              <p:nvPr/>
            </p:nvSpPr>
            <p:spPr bwMode="auto">
              <a:xfrm>
                <a:off x="1392" y="1728"/>
                <a:ext cx="96"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5" name="Rectangle 71"/>
              <p:cNvSpPr>
                <a:spLocks noChangeArrowheads="1"/>
              </p:cNvSpPr>
              <p:nvPr/>
            </p:nvSpPr>
            <p:spPr bwMode="auto">
              <a:xfrm>
                <a:off x="1488" y="1728"/>
                <a:ext cx="96"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6" name="Rectangle 72"/>
              <p:cNvSpPr>
                <a:spLocks noChangeArrowheads="1"/>
              </p:cNvSpPr>
              <p:nvPr/>
            </p:nvSpPr>
            <p:spPr bwMode="auto">
              <a:xfrm>
                <a:off x="1584"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6587" name="Rectangle 73"/>
              <p:cNvSpPr>
                <a:spLocks noChangeArrowheads="1"/>
              </p:cNvSpPr>
              <p:nvPr/>
            </p:nvSpPr>
            <p:spPr bwMode="auto">
              <a:xfrm>
                <a:off x="1680" y="1728"/>
                <a:ext cx="9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6579" name="Rectangle 74"/>
            <p:cNvSpPr>
              <a:spLocks noChangeArrowheads="1"/>
            </p:cNvSpPr>
            <p:nvPr/>
          </p:nvSpPr>
          <p:spPr bwMode="auto">
            <a:xfrm>
              <a:off x="1008" y="1728"/>
              <a:ext cx="768" cy="33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sp>
        <p:nvSpPr>
          <p:cNvPr id="61515" name="Text Box 75"/>
          <p:cNvSpPr txBox="1">
            <a:spLocks noChangeArrowheads="1"/>
          </p:cNvSpPr>
          <p:nvPr/>
        </p:nvSpPr>
        <p:spPr bwMode="auto">
          <a:xfrm>
            <a:off x="5486400" y="4800600"/>
            <a:ext cx="2051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b="1" dirty="0">
                <a:solidFill>
                  <a:srgbClr val="FF0000"/>
                </a:solidFill>
                <a:ea typeface="Arial" charset="0"/>
                <a:cs typeface="Arial" charset="0"/>
              </a:rPr>
              <a:t>Incomplete Piece</a:t>
            </a:r>
          </a:p>
        </p:txBody>
      </p:sp>
    </p:spTree>
    <p:extLst>
      <p:ext uri="{BB962C8B-B14F-4D97-AF65-F5344CB8AC3E}">
        <p14:creationId xmlns:p14="http://schemas.microsoft.com/office/powerpoint/2010/main" val="1211108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68611" name="Group 3"/>
          <p:cNvGrpSpPr>
            <a:grpSpLocks/>
          </p:cNvGrpSpPr>
          <p:nvPr/>
        </p:nvGrpSpPr>
        <p:grpSpPr bwMode="auto">
          <a:xfrm>
            <a:off x="533400" y="1371600"/>
            <a:ext cx="7086600" cy="5351463"/>
            <a:chOff x="336" y="864"/>
            <a:chExt cx="4464" cy="3371"/>
          </a:xfrm>
        </p:grpSpPr>
        <p:sp>
          <p:nvSpPr>
            <p:cNvPr id="68612"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a:t>Web page </a:t>
              </a:r>
            </a:p>
            <a:p>
              <a:pPr algn="ctr" eaLnBrk="1" hangingPunct="1">
                <a:spcBef>
                  <a:spcPct val="0"/>
                </a:spcBef>
                <a:buFontTx/>
                <a:buNone/>
              </a:pPr>
              <a:r>
                <a:rPr lang="en-US" altLang="en-US" sz="1000"/>
                <a:t>with link </a:t>
              </a:r>
            </a:p>
            <a:p>
              <a:pPr algn="ctr" eaLnBrk="1" hangingPunct="1">
                <a:spcBef>
                  <a:spcPct val="0"/>
                </a:spcBef>
                <a:buFontTx/>
                <a:buNone/>
              </a:pPr>
              <a:r>
                <a:rPr lang="en-US" altLang="en-US" sz="1000"/>
                <a:t>to .torrent</a:t>
              </a:r>
            </a:p>
          </p:txBody>
        </p:sp>
        <p:sp>
          <p:nvSpPr>
            <p:cNvPr id="68613"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8614"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68615"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68616"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dirty="0"/>
                <a:t>C</a:t>
              </a:r>
            </a:p>
          </p:txBody>
        </p:sp>
        <p:sp>
          <p:nvSpPr>
            <p:cNvPr id="68617"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68618"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68619"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68620"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sp>
          <p:nvSpPr>
            <p:cNvPr id="68621" name="Text Box 13"/>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nvGrpSpPr>
            <p:cNvPr id="68622" name="Group 14"/>
            <p:cNvGrpSpPr>
              <a:grpSpLocks/>
            </p:cNvGrpSpPr>
            <p:nvPr/>
          </p:nvGrpSpPr>
          <p:grpSpPr bwMode="auto">
            <a:xfrm>
              <a:off x="528" y="1536"/>
              <a:ext cx="384" cy="1104"/>
              <a:chOff x="528" y="1536"/>
              <a:chExt cx="384" cy="1104"/>
            </a:xfrm>
          </p:grpSpPr>
          <p:sp>
            <p:nvSpPr>
              <p:cNvPr id="68623" name="Line 15"/>
              <p:cNvSpPr>
                <a:spLocks noChangeShapeType="1"/>
              </p:cNvSpPr>
              <p:nvPr/>
            </p:nvSpPr>
            <p:spPr bwMode="auto">
              <a:xfrm flipH="1">
                <a:off x="720" y="1632"/>
                <a:ext cx="19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8624" name="Text Box 16"/>
              <p:cNvSpPr txBox="1">
                <a:spLocks noChangeArrowheads="1"/>
              </p:cNvSpPr>
              <p:nvPr/>
            </p:nvSpPr>
            <p:spPr bwMode="auto">
              <a:xfrm rot="-4596209">
                <a:off x="96" y="1968"/>
                <a:ext cx="10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.torrent</a:t>
                </a:r>
              </a:p>
            </p:txBody>
          </p:sp>
        </p:grpSp>
      </p:grpSp>
    </p:spTree>
    <p:extLst>
      <p:ext uri="{BB962C8B-B14F-4D97-AF65-F5344CB8AC3E}">
        <p14:creationId xmlns:p14="http://schemas.microsoft.com/office/powerpoint/2010/main" val="339916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69635" name="Group 3"/>
          <p:cNvGrpSpPr>
            <a:grpSpLocks/>
          </p:cNvGrpSpPr>
          <p:nvPr/>
        </p:nvGrpSpPr>
        <p:grpSpPr bwMode="auto">
          <a:xfrm>
            <a:off x="533400" y="1371600"/>
            <a:ext cx="7086600" cy="5351463"/>
            <a:chOff x="336" y="864"/>
            <a:chExt cx="4464" cy="3371"/>
          </a:xfrm>
        </p:grpSpPr>
        <p:sp>
          <p:nvSpPr>
            <p:cNvPr id="69636"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dirty="0"/>
                <a:t>Web page </a:t>
              </a:r>
            </a:p>
            <a:p>
              <a:pPr algn="ctr" eaLnBrk="1" hangingPunct="1">
                <a:spcBef>
                  <a:spcPct val="0"/>
                </a:spcBef>
                <a:buFontTx/>
                <a:buNone/>
              </a:pPr>
              <a:r>
                <a:rPr lang="en-US" altLang="en-US" sz="1000" dirty="0"/>
                <a:t>with link </a:t>
              </a:r>
            </a:p>
            <a:p>
              <a:pPr algn="ctr" eaLnBrk="1" hangingPunct="1">
                <a:spcBef>
                  <a:spcPct val="0"/>
                </a:spcBef>
                <a:buFontTx/>
                <a:buNone/>
              </a:pPr>
              <a:r>
                <a:rPr lang="en-US" altLang="en-US" sz="1000" dirty="0"/>
                <a:t>to .torrent</a:t>
              </a:r>
            </a:p>
          </p:txBody>
        </p:sp>
        <p:sp>
          <p:nvSpPr>
            <p:cNvPr id="69637"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69638"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69639"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69640"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69641"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69642"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69643"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69644"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69645" name="Group 13"/>
            <p:cNvGrpSpPr>
              <a:grpSpLocks/>
            </p:cNvGrpSpPr>
            <p:nvPr/>
          </p:nvGrpSpPr>
          <p:grpSpPr bwMode="auto">
            <a:xfrm>
              <a:off x="960" y="1680"/>
              <a:ext cx="1776" cy="960"/>
              <a:chOff x="960" y="1680"/>
              <a:chExt cx="1776" cy="960"/>
            </a:xfrm>
          </p:grpSpPr>
          <p:sp>
            <p:nvSpPr>
              <p:cNvPr id="69647" name="Line 14"/>
              <p:cNvSpPr>
                <a:spLocks noChangeShapeType="1"/>
              </p:cNvSpPr>
              <p:nvPr/>
            </p:nvSpPr>
            <p:spPr bwMode="auto">
              <a:xfrm flipV="1">
                <a:off x="960" y="1680"/>
                <a:ext cx="1776" cy="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48" name="Text Box 15"/>
              <p:cNvSpPr txBox="1">
                <a:spLocks noChangeArrowheads="1"/>
              </p:cNvSpPr>
              <p:nvPr/>
            </p:nvSpPr>
            <p:spPr bwMode="auto">
              <a:xfrm rot="-1770494">
                <a:off x="1385" y="1853"/>
                <a:ext cx="10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Get-announce</a:t>
                </a:r>
              </a:p>
            </p:txBody>
          </p:sp>
        </p:grpSp>
        <p:sp>
          <p:nvSpPr>
            <p:cNvPr id="69646" name="Text Box 16"/>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spTree>
    <p:extLst>
      <p:ext uri="{BB962C8B-B14F-4D97-AF65-F5344CB8AC3E}">
        <p14:creationId xmlns:p14="http://schemas.microsoft.com/office/powerpoint/2010/main" val="672248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70659" name="Group 3"/>
          <p:cNvGrpSpPr>
            <a:grpSpLocks/>
          </p:cNvGrpSpPr>
          <p:nvPr/>
        </p:nvGrpSpPr>
        <p:grpSpPr bwMode="auto">
          <a:xfrm>
            <a:off x="533400" y="1371600"/>
            <a:ext cx="7086600" cy="5351463"/>
            <a:chOff x="336" y="864"/>
            <a:chExt cx="4464" cy="3371"/>
          </a:xfrm>
        </p:grpSpPr>
        <p:sp>
          <p:nvSpPr>
            <p:cNvPr id="70660"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dirty="0"/>
                <a:t>Web page </a:t>
              </a:r>
            </a:p>
            <a:p>
              <a:pPr algn="ctr" eaLnBrk="1" hangingPunct="1">
                <a:spcBef>
                  <a:spcPct val="0"/>
                </a:spcBef>
                <a:buFontTx/>
                <a:buNone/>
              </a:pPr>
              <a:r>
                <a:rPr lang="en-US" altLang="en-US" sz="1000" dirty="0"/>
                <a:t>with link </a:t>
              </a:r>
            </a:p>
            <a:p>
              <a:pPr algn="ctr" eaLnBrk="1" hangingPunct="1">
                <a:spcBef>
                  <a:spcPct val="0"/>
                </a:spcBef>
                <a:buFontTx/>
                <a:buNone/>
              </a:pPr>
              <a:r>
                <a:rPr lang="en-US" altLang="en-US" sz="1000" dirty="0"/>
                <a:t>to .torrent</a:t>
              </a:r>
            </a:p>
          </p:txBody>
        </p:sp>
        <p:sp>
          <p:nvSpPr>
            <p:cNvPr id="70661"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70662"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70663"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70664"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70665"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70666"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70667"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70668"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70669" name="Group 13"/>
            <p:cNvGrpSpPr>
              <a:grpSpLocks/>
            </p:cNvGrpSpPr>
            <p:nvPr/>
          </p:nvGrpSpPr>
          <p:grpSpPr bwMode="auto">
            <a:xfrm>
              <a:off x="1152" y="1680"/>
              <a:ext cx="1808" cy="960"/>
              <a:chOff x="1152" y="1680"/>
              <a:chExt cx="1808" cy="960"/>
            </a:xfrm>
          </p:grpSpPr>
          <p:sp>
            <p:nvSpPr>
              <p:cNvPr id="70671" name="Line 14"/>
              <p:cNvSpPr>
                <a:spLocks noChangeShapeType="1"/>
              </p:cNvSpPr>
              <p:nvPr/>
            </p:nvSpPr>
            <p:spPr bwMode="auto">
              <a:xfrm flipH="1">
                <a:off x="1152" y="1680"/>
                <a:ext cx="1728" cy="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2" name="Text Box 15"/>
              <p:cNvSpPr txBox="1">
                <a:spLocks noChangeArrowheads="1"/>
              </p:cNvSpPr>
              <p:nvPr/>
            </p:nvSpPr>
            <p:spPr bwMode="auto">
              <a:xfrm rot="-1770494">
                <a:off x="1392" y="2112"/>
                <a:ext cx="15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Response-peer list</a:t>
                </a:r>
              </a:p>
            </p:txBody>
          </p:sp>
        </p:grpSp>
        <p:sp>
          <p:nvSpPr>
            <p:cNvPr id="70670" name="Text Box 16"/>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spTree>
    <p:extLst>
      <p:ext uri="{BB962C8B-B14F-4D97-AF65-F5344CB8AC3E}">
        <p14:creationId xmlns:p14="http://schemas.microsoft.com/office/powerpoint/2010/main" val="576955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71683" name="Group 3"/>
          <p:cNvGrpSpPr>
            <a:grpSpLocks/>
          </p:cNvGrpSpPr>
          <p:nvPr/>
        </p:nvGrpSpPr>
        <p:grpSpPr bwMode="auto">
          <a:xfrm>
            <a:off x="533400" y="1371600"/>
            <a:ext cx="7086600" cy="5351463"/>
            <a:chOff x="336" y="864"/>
            <a:chExt cx="4464" cy="3371"/>
          </a:xfrm>
        </p:grpSpPr>
        <p:sp>
          <p:nvSpPr>
            <p:cNvPr id="71684"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a:t>Web page </a:t>
              </a:r>
            </a:p>
            <a:p>
              <a:pPr algn="ctr" eaLnBrk="1" hangingPunct="1">
                <a:spcBef>
                  <a:spcPct val="0"/>
                </a:spcBef>
                <a:buFontTx/>
                <a:buNone/>
              </a:pPr>
              <a:r>
                <a:rPr lang="en-US" altLang="en-US" sz="1000"/>
                <a:t>with link </a:t>
              </a:r>
            </a:p>
            <a:p>
              <a:pPr algn="ctr" eaLnBrk="1" hangingPunct="1">
                <a:spcBef>
                  <a:spcPct val="0"/>
                </a:spcBef>
                <a:buFontTx/>
                <a:buNone/>
              </a:pPr>
              <a:r>
                <a:rPr lang="en-US" altLang="en-US" sz="1000"/>
                <a:t>to .torrent</a:t>
              </a:r>
            </a:p>
          </p:txBody>
        </p:sp>
        <p:sp>
          <p:nvSpPr>
            <p:cNvPr id="71685"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71686"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71687"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71688"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71689"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71690"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71691"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71692"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71693" name="Group 13"/>
            <p:cNvGrpSpPr>
              <a:grpSpLocks/>
            </p:cNvGrpSpPr>
            <p:nvPr/>
          </p:nvGrpSpPr>
          <p:grpSpPr bwMode="auto">
            <a:xfrm>
              <a:off x="1200" y="2400"/>
              <a:ext cx="2976" cy="1104"/>
              <a:chOff x="1200" y="2400"/>
              <a:chExt cx="2976" cy="1104"/>
            </a:xfrm>
          </p:grpSpPr>
          <p:sp>
            <p:nvSpPr>
              <p:cNvPr id="71696" name="Line 14"/>
              <p:cNvSpPr>
                <a:spLocks noChangeShapeType="1"/>
              </p:cNvSpPr>
              <p:nvPr/>
            </p:nvSpPr>
            <p:spPr bwMode="auto">
              <a:xfrm>
                <a:off x="1200" y="2976"/>
                <a:ext cx="912" cy="52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7" name="Line 15"/>
              <p:cNvSpPr>
                <a:spLocks noChangeShapeType="1"/>
              </p:cNvSpPr>
              <p:nvPr/>
            </p:nvSpPr>
            <p:spPr bwMode="auto">
              <a:xfrm flipH="1">
                <a:off x="1200" y="2592"/>
                <a:ext cx="2976" cy="14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8" name="Text Box 16"/>
              <p:cNvSpPr txBox="1">
                <a:spLocks noChangeArrowheads="1"/>
              </p:cNvSpPr>
              <p:nvPr/>
            </p:nvSpPr>
            <p:spPr bwMode="auto">
              <a:xfrm rot="-207199">
                <a:off x="2352" y="2400"/>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Shake-hand</a:t>
                </a:r>
              </a:p>
            </p:txBody>
          </p:sp>
        </p:grpSp>
        <p:sp>
          <p:nvSpPr>
            <p:cNvPr id="71694" name="Text Box 17"/>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sp>
          <p:nvSpPr>
            <p:cNvPr id="71695" name="Text Box 18"/>
            <p:cNvSpPr txBox="1">
              <a:spLocks noChangeArrowheads="1"/>
            </p:cNvSpPr>
            <p:nvPr/>
          </p:nvSpPr>
          <p:spPr bwMode="auto">
            <a:xfrm rot="1756914">
              <a:off x="1152" y="3216"/>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Shake-hand</a:t>
              </a:r>
            </a:p>
          </p:txBody>
        </p:sp>
      </p:grpSp>
    </p:spTree>
    <p:extLst>
      <p:ext uri="{BB962C8B-B14F-4D97-AF65-F5344CB8AC3E}">
        <p14:creationId xmlns:p14="http://schemas.microsoft.com/office/powerpoint/2010/main" val="995968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72707" name="Group 3"/>
          <p:cNvGrpSpPr>
            <a:grpSpLocks/>
          </p:cNvGrpSpPr>
          <p:nvPr/>
        </p:nvGrpSpPr>
        <p:grpSpPr bwMode="auto">
          <a:xfrm>
            <a:off x="533400" y="1371600"/>
            <a:ext cx="7086600" cy="5351463"/>
            <a:chOff x="336" y="864"/>
            <a:chExt cx="4464" cy="3371"/>
          </a:xfrm>
        </p:grpSpPr>
        <p:sp>
          <p:nvSpPr>
            <p:cNvPr id="72708"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dirty="0"/>
                <a:t>Web page </a:t>
              </a:r>
            </a:p>
            <a:p>
              <a:pPr algn="ctr" eaLnBrk="1" hangingPunct="1">
                <a:spcBef>
                  <a:spcPct val="0"/>
                </a:spcBef>
                <a:buFontTx/>
                <a:buNone/>
              </a:pPr>
              <a:r>
                <a:rPr lang="en-US" altLang="en-US" sz="1000" dirty="0"/>
                <a:t>with link </a:t>
              </a:r>
            </a:p>
            <a:p>
              <a:pPr algn="ctr" eaLnBrk="1" hangingPunct="1">
                <a:spcBef>
                  <a:spcPct val="0"/>
                </a:spcBef>
                <a:buFontTx/>
                <a:buNone/>
              </a:pPr>
              <a:r>
                <a:rPr lang="en-US" altLang="en-US" sz="1000" dirty="0"/>
                <a:t>to .torrent</a:t>
              </a:r>
            </a:p>
          </p:txBody>
        </p:sp>
        <p:sp>
          <p:nvSpPr>
            <p:cNvPr id="72709"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72710"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72711"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72712"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72713"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72714"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72715"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72716"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72717" name="Group 13"/>
            <p:cNvGrpSpPr>
              <a:grpSpLocks/>
            </p:cNvGrpSpPr>
            <p:nvPr/>
          </p:nvGrpSpPr>
          <p:grpSpPr bwMode="auto">
            <a:xfrm>
              <a:off x="1200" y="2400"/>
              <a:ext cx="2976" cy="960"/>
              <a:chOff x="1200" y="2400"/>
              <a:chExt cx="2976" cy="960"/>
            </a:xfrm>
          </p:grpSpPr>
          <p:sp>
            <p:nvSpPr>
              <p:cNvPr id="72719" name="Line 14"/>
              <p:cNvSpPr>
                <a:spLocks noChangeShapeType="1"/>
              </p:cNvSpPr>
              <p:nvPr/>
            </p:nvSpPr>
            <p:spPr bwMode="auto">
              <a:xfrm flipH="1" flipV="1">
                <a:off x="1200" y="2832"/>
                <a:ext cx="91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0" name="Line 15"/>
              <p:cNvSpPr>
                <a:spLocks noChangeShapeType="1"/>
              </p:cNvSpPr>
              <p:nvPr/>
            </p:nvSpPr>
            <p:spPr bwMode="auto">
              <a:xfrm flipH="1">
                <a:off x="1200" y="2592"/>
                <a:ext cx="297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1" name="Text Box 16"/>
              <p:cNvSpPr txBox="1">
                <a:spLocks noChangeArrowheads="1"/>
              </p:cNvSpPr>
              <p:nvPr/>
            </p:nvSpPr>
            <p:spPr bwMode="auto">
              <a:xfrm rot="1832436">
                <a:off x="1440" y="292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sp>
            <p:nvSpPr>
              <p:cNvPr id="72722" name="Text Box 17"/>
              <p:cNvSpPr txBox="1">
                <a:spLocks noChangeArrowheads="1"/>
              </p:cNvSpPr>
              <p:nvPr/>
            </p:nvSpPr>
            <p:spPr bwMode="auto">
              <a:xfrm rot="-207199">
                <a:off x="2544" y="240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grpSp>
        <p:sp>
          <p:nvSpPr>
            <p:cNvPr id="72718" name="Text Box 18"/>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spTree>
    <p:extLst>
      <p:ext uri="{BB962C8B-B14F-4D97-AF65-F5344CB8AC3E}">
        <p14:creationId xmlns:p14="http://schemas.microsoft.com/office/powerpoint/2010/main" val="1753471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noFill/>
        </p:spPr>
        <p:txBody>
          <a:bodyPr/>
          <a:lstStyle/>
          <a:p>
            <a:pPr eaLnBrk="1" hangingPunct="1"/>
            <a:r>
              <a:rPr lang="en-US" altLang="en-US" dirty="0"/>
              <a:t>Overall Architecture</a:t>
            </a:r>
          </a:p>
        </p:txBody>
      </p:sp>
      <p:grpSp>
        <p:nvGrpSpPr>
          <p:cNvPr id="73731" name="Group 3"/>
          <p:cNvGrpSpPr>
            <a:grpSpLocks/>
          </p:cNvGrpSpPr>
          <p:nvPr/>
        </p:nvGrpSpPr>
        <p:grpSpPr bwMode="auto">
          <a:xfrm>
            <a:off x="533400" y="1371600"/>
            <a:ext cx="7086600" cy="5351463"/>
            <a:chOff x="336" y="864"/>
            <a:chExt cx="4464" cy="3371"/>
          </a:xfrm>
        </p:grpSpPr>
        <p:sp>
          <p:nvSpPr>
            <p:cNvPr id="73732"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a:t>Web page </a:t>
              </a:r>
            </a:p>
            <a:p>
              <a:pPr algn="ctr" eaLnBrk="1" hangingPunct="1">
                <a:spcBef>
                  <a:spcPct val="0"/>
                </a:spcBef>
                <a:buFontTx/>
                <a:buNone/>
              </a:pPr>
              <a:r>
                <a:rPr lang="en-US" altLang="en-US" sz="1000"/>
                <a:t>with link </a:t>
              </a:r>
            </a:p>
            <a:p>
              <a:pPr algn="ctr" eaLnBrk="1" hangingPunct="1">
                <a:spcBef>
                  <a:spcPct val="0"/>
                </a:spcBef>
                <a:buFontTx/>
                <a:buNone/>
              </a:pPr>
              <a:r>
                <a:rPr lang="en-US" altLang="en-US" sz="1000"/>
                <a:t>to .torrent</a:t>
              </a:r>
            </a:p>
          </p:txBody>
        </p:sp>
        <p:sp>
          <p:nvSpPr>
            <p:cNvPr id="73733"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73734"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73735"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73736"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73737"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73738"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73739"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73740"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73741" name="Group 13"/>
            <p:cNvGrpSpPr>
              <a:grpSpLocks/>
            </p:cNvGrpSpPr>
            <p:nvPr/>
          </p:nvGrpSpPr>
          <p:grpSpPr bwMode="auto">
            <a:xfrm>
              <a:off x="1200" y="2400"/>
              <a:ext cx="2976" cy="1104"/>
              <a:chOff x="1200" y="2400"/>
              <a:chExt cx="2976" cy="1104"/>
            </a:xfrm>
          </p:grpSpPr>
          <p:sp>
            <p:nvSpPr>
              <p:cNvPr id="73743" name="Line 14"/>
              <p:cNvSpPr>
                <a:spLocks noChangeShapeType="1"/>
              </p:cNvSpPr>
              <p:nvPr/>
            </p:nvSpPr>
            <p:spPr bwMode="auto">
              <a:xfrm>
                <a:off x="1200" y="2976"/>
                <a:ext cx="91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4" name="Line 15"/>
              <p:cNvSpPr>
                <a:spLocks noChangeShapeType="1"/>
              </p:cNvSpPr>
              <p:nvPr/>
            </p:nvSpPr>
            <p:spPr bwMode="auto">
              <a:xfrm flipH="1" flipV="1">
                <a:off x="1200" y="2832"/>
                <a:ext cx="91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5" name="Line 16"/>
              <p:cNvSpPr>
                <a:spLocks noChangeShapeType="1"/>
              </p:cNvSpPr>
              <p:nvPr/>
            </p:nvSpPr>
            <p:spPr bwMode="auto">
              <a:xfrm flipH="1">
                <a:off x="1200" y="2592"/>
                <a:ext cx="297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6" name="Text Box 17"/>
              <p:cNvSpPr txBox="1">
                <a:spLocks noChangeArrowheads="1"/>
              </p:cNvSpPr>
              <p:nvPr/>
            </p:nvSpPr>
            <p:spPr bwMode="auto">
              <a:xfrm rot="1832436">
                <a:off x="1440" y="292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sp>
            <p:nvSpPr>
              <p:cNvPr id="73747" name="Text Box 18"/>
              <p:cNvSpPr txBox="1">
                <a:spLocks noChangeArrowheads="1"/>
              </p:cNvSpPr>
              <p:nvPr/>
            </p:nvSpPr>
            <p:spPr bwMode="auto">
              <a:xfrm rot="1832436">
                <a:off x="1296" y="321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sp>
            <p:nvSpPr>
              <p:cNvPr id="73748" name="Text Box 19"/>
              <p:cNvSpPr txBox="1">
                <a:spLocks noChangeArrowheads="1"/>
              </p:cNvSpPr>
              <p:nvPr/>
            </p:nvSpPr>
            <p:spPr bwMode="auto">
              <a:xfrm rot="-207199">
                <a:off x="2544" y="240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grpSp>
        <p:sp>
          <p:nvSpPr>
            <p:cNvPr id="73742" name="Text Box 20"/>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spTree>
    <p:extLst>
      <p:ext uri="{BB962C8B-B14F-4D97-AF65-F5344CB8AC3E}">
        <p14:creationId xmlns:p14="http://schemas.microsoft.com/office/powerpoint/2010/main" val="681295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ltLang="en-US" dirty="0"/>
              <a:t>Overall Architecture</a:t>
            </a:r>
          </a:p>
        </p:txBody>
      </p:sp>
      <p:grpSp>
        <p:nvGrpSpPr>
          <p:cNvPr id="74755" name="Group 3"/>
          <p:cNvGrpSpPr>
            <a:grpSpLocks/>
          </p:cNvGrpSpPr>
          <p:nvPr/>
        </p:nvGrpSpPr>
        <p:grpSpPr bwMode="auto">
          <a:xfrm>
            <a:off x="533400" y="1371600"/>
            <a:ext cx="7086600" cy="5351463"/>
            <a:chOff x="336" y="864"/>
            <a:chExt cx="4464" cy="3371"/>
          </a:xfrm>
        </p:grpSpPr>
        <p:sp>
          <p:nvSpPr>
            <p:cNvPr id="74756" name="AutoShape 4"/>
            <p:cNvSpPr>
              <a:spLocks noChangeArrowheads="1"/>
            </p:cNvSpPr>
            <p:nvPr/>
          </p:nvSpPr>
          <p:spPr bwMode="auto">
            <a:xfrm rot="10656346">
              <a:off x="768" y="1056"/>
              <a:ext cx="576" cy="576"/>
            </a:xfrm>
            <a:prstGeom prst="foldedCorner">
              <a:avLst>
                <a:gd name="adj" fmla="val 12500"/>
              </a:avLst>
            </a:prstGeom>
            <a:solidFill>
              <a:srgbClr val="92D050"/>
            </a:solidFill>
            <a:ln w="9525">
              <a:solidFill>
                <a:schemeClr val="tx1"/>
              </a:solidFill>
              <a:round/>
              <a:headEnd/>
              <a:tailEnd/>
            </a:ln>
          </p:spPr>
          <p:txBody>
            <a:bodyPr rot="10800000"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000"/>
                <a:t>Web page </a:t>
              </a:r>
            </a:p>
            <a:p>
              <a:pPr algn="ctr" eaLnBrk="1" hangingPunct="1">
                <a:spcBef>
                  <a:spcPct val="0"/>
                </a:spcBef>
                <a:buFontTx/>
                <a:buNone/>
              </a:pPr>
              <a:r>
                <a:rPr lang="en-US" altLang="en-US" sz="1000"/>
                <a:t>with link </a:t>
              </a:r>
            </a:p>
            <a:p>
              <a:pPr algn="ctr" eaLnBrk="1" hangingPunct="1">
                <a:spcBef>
                  <a:spcPct val="0"/>
                </a:spcBef>
                <a:buFontTx/>
                <a:buNone/>
              </a:pPr>
              <a:r>
                <a:rPr lang="en-US" altLang="en-US" sz="1000"/>
                <a:t>to .torrent</a:t>
              </a:r>
            </a:p>
          </p:txBody>
        </p:sp>
        <p:sp>
          <p:nvSpPr>
            <p:cNvPr id="74757" name="AutoShape 5"/>
            <p:cNvSpPr>
              <a:spLocks noChangeArrowheads="1"/>
            </p:cNvSpPr>
            <p:nvPr/>
          </p:nvSpPr>
          <p:spPr bwMode="auto">
            <a:xfrm>
              <a:off x="2688" y="1056"/>
              <a:ext cx="768" cy="624"/>
            </a:xfrm>
            <a:prstGeom prst="parallelogram">
              <a:avLst>
                <a:gd name="adj" fmla="val 30769"/>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74758" name="Rectangle 6"/>
            <p:cNvSpPr>
              <a:spLocks noChangeArrowheads="1"/>
            </p:cNvSpPr>
            <p:nvPr/>
          </p:nvSpPr>
          <p:spPr bwMode="auto">
            <a:xfrm>
              <a:off x="576" y="2640"/>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A</a:t>
              </a:r>
            </a:p>
          </p:txBody>
        </p:sp>
        <p:sp>
          <p:nvSpPr>
            <p:cNvPr id="74759" name="Rectangle 7"/>
            <p:cNvSpPr>
              <a:spLocks noChangeArrowheads="1"/>
            </p:cNvSpPr>
            <p:nvPr/>
          </p:nvSpPr>
          <p:spPr bwMode="auto">
            <a:xfrm>
              <a:off x="2112" y="3264"/>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B</a:t>
              </a:r>
            </a:p>
          </p:txBody>
        </p:sp>
        <p:sp>
          <p:nvSpPr>
            <p:cNvPr id="74760" name="Rectangle 8"/>
            <p:cNvSpPr>
              <a:spLocks noChangeArrowheads="1"/>
            </p:cNvSpPr>
            <p:nvPr/>
          </p:nvSpPr>
          <p:spPr bwMode="auto">
            <a:xfrm>
              <a:off x="4176" y="2448"/>
              <a:ext cx="624" cy="432"/>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t>C</a:t>
              </a:r>
            </a:p>
          </p:txBody>
        </p:sp>
        <p:sp>
          <p:nvSpPr>
            <p:cNvPr id="74761" name="Text Box 9"/>
            <p:cNvSpPr txBox="1">
              <a:spLocks noChangeArrowheads="1"/>
            </p:cNvSpPr>
            <p:nvPr/>
          </p:nvSpPr>
          <p:spPr bwMode="auto">
            <a:xfrm>
              <a:off x="336" y="3216"/>
              <a:ext cx="912"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a:p>
              <a:pPr algn="ctr" eaLnBrk="1" hangingPunct="1">
                <a:spcBef>
                  <a:spcPct val="50000"/>
                </a:spcBef>
                <a:buFontTx/>
                <a:buNone/>
              </a:pPr>
              <a:r>
                <a:rPr lang="en-US" altLang="en-US" sz="1800">
                  <a:solidFill>
                    <a:srgbClr val="0000FF"/>
                  </a:solidFill>
                </a:rPr>
                <a:t>Downloader</a:t>
              </a:r>
            </a:p>
            <a:p>
              <a:pPr algn="ctr" eaLnBrk="1" hangingPunct="1">
                <a:spcBef>
                  <a:spcPct val="50000"/>
                </a:spcBef>
                <a:buFontTx/>
                <a:buNone/>
              </a:pPr>
              <a:r>
                <a:rPr lang="en-US" altLang="en-US" sz="1800">
                  <a:solidFill>
                    <a:srgbClr val="0000FF"/>
                  </a:solidFill>
                </a:rPr>
                <a:t>“US”</a:t>
              </a:r>
            </a:p>
          </p:txBody>
        </p:sp>
        <p:sp>
          <p:nvSpPr>
            <p:cNvPr id="74762" name="Text Box 10"/>
            <p:cNvSpPr txBox="1">
              <a:spLocks noChangeArrowheads="1"/>
            </p:cNvSpPr>
            <p:nvPr/>
          </p:nvSpPr>
          <p:spPr bwMode="auto">
            <a:xfrm>
              <a:off x="4224" y="2976"/>
              <a:ext cx="57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[Seed]</a:t>
              </a:r>
            </a:p>
          </p:txBody>
        </p:sp>
        <p:sp>
          <p:nvSpPr>
            <p:cNvPr id="74763" name="Text Box 11"/>
            <p:cNvSpPr txBox="1">
              <a:spLocks noChangeArrowheads="1"/>
            </p:cNvSpPr>
            <p:nvPr/>
          </p:nvSpPr>
          <p:spPr bwMode="auto">
            <a:xfrm>
              <a:off x="2112" y="3744"/>
              <a:ext cx="6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Peer</a:t>
              </a:r>
            </a:p>
            <a:p>
              <a:pPr algn="ctr" eaLnBrk="1" hangingPunct="1">
                <a:spcBef>
                  <a:spcPct val="50000"/>
                </a:spcBef>
                <a:buFontTx/>
                <a:buNone/>
              </a:pPr>
              <a:r>
                <a:rPr lang="en-US" altLang="en-US" sz="1800"/>
                <a:t>[Leech]</a:t>
              </a:r>
            </a:p>
          </p:txBody>
        </p:sp>
        <p:sp>
          <p:nvSpPr>
            <p:cNvPr id="74764" name="Text Box 12"/>
            <p:cNvSpPr txBox="1">
              <a:spLocks noChangeArrowheads="1"/>
            </p:cNvSpPr>
            <p:nvPr/>
          </p:nvSpPr>
          <p:spPr bwMode="auto">
            <a:xfrm>
              <a:off x="3504" y="864"/>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Tracker</a:t>
              </a:r>
            </a:p>
          </p:txBody>
        </p:sp>
        <p:grpSp>
          <p:nvGrpSpPr>
            <p:cNvPr id="74765" name="Group 13"/>
            <p:cNvGrpSpPr>
              <a:grpSpLocks/>
            </p:cNvGrpSpPr>
            <p:nvPr/>
          </p:nvGrpSpPr>
          <p:grpSpPr bwMode="auto">
            <a:xfrm>
              <a:off x="960" y="1680"/>
              <a:ext cx="2000" cy="960"/>
              <a:chOff x="960" y="1680"/>
              <a:chExt cx="2000" cy="960"/>
            </a:xfrm>
          </p:grpSpPr>
          <p:sp>
            <p:nvSpPr>
              <p:cNvPr id="74774" name="Line 14"/>
              <p:cNvSpPr>
                <a:spLocks noChangeShapeType="1"/>
              </p:cNvSpPr>
              <p:nvPr/>
            </p:nvSpPr>
            <p:spPr bwMode="auto">
              <a:xfrm flipV="1">
                <a:off x="960" y="1680"/>
                <a:ext cx="1776" cy="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75" name="Line 15"/>
              <p:cNvSpPr>
                <a:spLocks noChangeShapeType="1"/>
              </p:cNvSpPr>
              <p:nvPr/>
            </p:nvSpPr>
            <p:spPr bwMode="auto">
              <a:xfrm flipH="1">
                <a:off x="1152" y="1680"/>
                <a:ext cx="1728" cy="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76" name="Text Box 16"/>
              <p:cNvSpPr txBox="1">
                <a:spLocks noChangeArrowheads="1"/>
              </p:cNvSpPr>
              <p:nvPr/>
            </p:nvSpPr>
            <p:spPr bwMode="auto">
              <a:xfrm rot="-1770494">
                <a:off x="1385" y="1853"/>
                <a:ext cx="10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Get-announce</a:t>
                </a:r>
              </a:p>
            </p:txBody>
          </p:sp>
          <p:sp>
            <p:nvSpPr>
              <p:cNvPr id="74777" name="Text Box 17"/>
              <p:cNvSpPr txBox="1">
                <a:spLocks noChangeArrowheads="1"/>
              </p:cNvSpPr>
              <p:nvPr/>
            </p:nvSpPr>
            <p:spPr bwMode="auto">
              <a:xfrm rot="-1770494">
                <a:off x="1392" y="2112"/>
                <a:ext cx="15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Response-peer list</a:t>
                </a:r>
              </a:p>
            </p:txBody>
          </p:sp>
        </p:grpSp>
        <p:grpSp>
          <p:nvGrpSpPr>
            <p:cNvPr id="74766" name="Group 18"/>
            <p:cNvGrpSpPr>
              <a:grpSpLocks/>
            </p:cNvGrpSpPr>
            <p:nvPr/>
          </p:nvGrpSpPr>
          <p:grpSpPr bwMode="auto">
            <a:xfrm>
              <a:off x="1200" y="2400"/>
              <a:ext cx="2976" cy="1104"/>
              <a:chOff x="1200" y="2400"/>
              <a:chExt cx="2976" cy="1104"/>
            </a:xfrm>
          </p:grpSpPr>
          <p:sp>
            <p:nvSpPr>
              <p:cNvPr id="74768" name="Line 19"/>
              <p:cNvSpPr>
                <a:spLocks noChangeShapeType="1"/>
              </p:cNvSpPr>
              <p:nvPr/>
            </p:nvSpPr>
            <p:spPr bwMode="auto">
              <a:xfrm>
                <a:off x="1200" y="2976"/>
                <a:ext cx="91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9" name="Line 20"/>
              <p:cNvSpPr>
                <a:spLocks noChangeShapeType="1"/>
              </p:cNvSpPr>
              <p:nvPr/>
            </p:nvSpPr>
            <p:spPr bwMode="auto">
              <a:xfrm flipH="1" flipV="1">
                <a:off x="1200" y="2832"/>
                <a:ext cx="912"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70" name="Line 21"/>
              <p:cNvSpPr>
                <a:spLocks noChangeShapeType="1"/>
              </p:cNvSpPr>
              <p:nvPr/>
            </p:nvSpPr>
            <p:spPr bwMode="auto">
              <a:xfrm flipH="1">
                <a:off x="1200" y="2592"/>
                <a:ext cx="297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71" name="Text Box 22"/>
              <p:cNvSpPr txBox="1">
                <a:spLocks noChangeArrowheads="1"/>
              </p:cNvSpPr>
              <p:nvPr/>
            </p:nvSpPr>
            <p:spPr bwMode="auto">
              <a:xfrm rot="1832436">
                <a:off x="1440" y="292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sp>
            <p:nvSpPr>
              <p:cNvPr id="74772" name="Text Box 23"/>
              <p:cNvSpPr txBox="1">
                <a:spLocks noChangeArrowheads="1"/>
              </p:cNvSpPr>
              <p:nvPr/>
            </p:nvSpPr>
            <p:spPr bwMode="auto">
              <a:xfrm rot="1832436">
                <a:off x="1296" y="321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sp>
            <p:nvSpPr>
              <p:cNvPr id="74773" name="Text Box 24"/>
              <p:cNvSpPr txBox="1">
                <a:spLocks noChangeArrowheads="1"/>
              </p:cNvSpPr>
              <p:nvPr/>
            </p:nvSpPr>
            <p:spPr bwMode="auto">
              <a:xfrm rot="-207199">
                <a:off x="2544" y="240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en-US" sz="1800"/>
                  <a:t>pieces</a:t>
                </a:r>
              </a:p>
            </p:txBody>
          </p:sp>
        </p:grpSp>
        <p:sp>
          <p:nvSpPr>
            <p:cNvPr id="74767" name="Text Box 25"/>
            <p:cNvSpPr txBox="1">
              <a:spLocks noChangeArrowheads="1"/>
            </p:cNvSpPr>
            <p:nvPr/>
          </p:nvSpPr>
          <p:spPr bwMode="auto">
            <a:xfrm>
              <a:off x="1392" y="912"/>
              <a:ext cx="9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en-US" altLang="en-US" sz="1800"/>
                <a:t>Web Server</a:t>
              </a:r>
            </a:p>
          </p:txBody>
        </p:sp>
      </p:grpSp>
    </p:spTree>
    <p:extLst>
      <p:ext uri="{BB962C8B-B14F-4D97-AF65-F5344CB8AC3E}">
        <p14:creationId xmlns:p14="http://schemas.microsoft.com/office/powerpoint/2010/main" val="144544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ltLang="zh-CN" dirty="0">
                <a:ea typeface="SimSun" charset="-122"/>
              </a:rPr>
              <a:t>Critical Elements</a:t>
            </a:r>
          </a:p>
        </p:txBody>
      </p:sp>
      <p:sp>
        <p:nvSpPr>
          <p:cNvPr id="75779" name="Rectangle 3"/>
          <p:cNvSpPr>
            <a:spLocks noGrp="1" noChangeArrowheads="1"/>
          </p:cNvSpPr>
          <p:nvPr>
            <p:ph type="body" idx="1"/>
          </p:nvPr>
        </p:nvSpPr>
        <p:spPr/>
        <p:txBody>
          <a:bodyPr/>
          <a:lstStyle/>
          <a:p>
            <a:pPr eaLnBrk="1" hangingPunct="1"/>
            <a:r>
              <a:rPr lang="en-US" altLang="zh-CN" dirty="0">
                <a:ea typeface="SimSun" charset="-122"/>
              </a:rPr>
              <a:t>1) A web server</a:t>
            </a:r>
          </a:p>
          <a:p>
            <a:pPr lvl="1" eaLnBrk="1" hangingPunct="1"/>
            <a:r>
              <a:rPr lang="en-US" altLang="zh-CN" dirty="0">
                <a:ea typeface="SimSun" charset="-122"/>
              </a:rPr>
              <a:t>To provide the ‘</a:t>
            </a:r>
            <a:r>
              <a:rPr lang="en-US" altLang="zh-CN" dirty="0" err="1">
                <a:ea typeface="SimSun" charset="-122"/>
              </a:rPr>
              <a:t>metainfo</a:t>
            </a:r>
            <a:r>
              <a:rPr lang="en-US" altLang="zh-CN" dirty="0">
                <a:ea typeface="SimSun" charset="-122"/>
              </a:rPr>
              <a:t>’ file by HTTP</a:t>
            </a:r>
          </a:p>
        </p:txBody>
      </p:sp>
      <p:graphicFrame>
        <p:nvGraphicFramePr>
          <p:cNvPr id="75780" name="Object 4"/>
          <p:cNvGraphicFramePr>
            <a:graphicFrameLocks noChangeAspect="1"/>
          </p:cNvGraphicFramePr>
          <p:nvPr/>
        </p:nvGraphicFramePr>
        <p:xfrm>
          <a:off x="4800600" y="2971800"/>
          <a:ext cx="750888" cy="1246188"/>
        </p:xfrm>
        <a:graphic>
          <a:graphicData uri="http://schemas.openxmlformats.org/presentationml/2006/ole">
            <mc:AlternateContent xmlns:mc="http://schemas.openxmlformats.org/markup-compatibility/2006">
              <mc:Choice xmlns:v="urn:schemas-microsoft-com:vml" Requires="v">
                <p:oleObj name="Visio" r:id="rId3" imgW="751637" imgH="1246632" progId="Visio.Drawing.11">
                  <p:embed/>
                </p:oleObj>
              </mc:Choice>
              <mc:Fallback>
                <p:oleObj name="Visio" r:id="rId3" imgW="751637" imgH="124663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971800"/>
                        <a:ext cx="750888" cy="124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5781" name="Text Box 5"/>
          <p:cNvSpPr txBox="1">
            <a:spLocks noChangeArrowheads="1"/>
          </p:cNvSpPr>
          <p:nvPr/>
        </p:nvSpPr>
        <p:spPr bwMode="auto">
          <a:xfrm>
            <a:off x="5715000" y="3200400"/>
            <a:ext cx="1390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zh-CN" sz="1800">
                <a:ea typeface="SimSun" charset="-122"/>
              </a:rPr>
              <a:t>Web Server</a:t>
            </a:r>
          </a:p>
        </p:txBody>
      </p:sp>
      <p:sp>
        <p:nvSpPr>
          <p:cNvPr id="75782" name="Line 6"/>
          <p:cNvSpPr>
            <a:spLocks noChangeShapeType="1"/>
          </p:cNvSpPr>
          <p:nvPr/>
        </p:nvSpPr>
        <p:spPr bwMode="auto">
          <a:xfrm flipH="1">
            <a:off x="3048000" y="4114800"/>
            <a:ext cx="1219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3" name="Line 7"/>
          <p:cNvSpPr>
            <a:spLocks noChangeShapeType="1"/>
          </p:cNvSpPr>
          <p:nvPr/>
        </p:nvSpPr>
        <p:spPr bwMode="auto">
          <a:xfrm flipH="1">
            <a:off x="4419600" y="4343400"/>
            <a:ext cx="68580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4" name="Line 8"/>
          <p:cNvSpPr>
            <a:spLocks noChangeShapeType="1"/>
          </p:cNvSpPr>
          <p:nvPr/>
        </p:nvSpPr>
        <p:spPr bwMode="auto">
          <a:xfrm>
            <a:off x="5638800" y="4267200"/>
            <a:ext cx="762000" cy="1371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5" name="Line 9"/>
          <p:cNvSpPr>
            <a:spLocks noChangeShapeType="1"/>
          </p:cNvSpPr>
          <p:nvPr/>
        </p:nvSpPr>
        <p:spPr bwMode="auto">
          <a:xfrm>
            <a:off x="6324600" y="4038600"/>
            <a:ext cx="12954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86" name="Text Box 10"/>
          <p:cNvSpPr txBox="1">
            <a:spLocks noChangeArrowheads="1"/>
          </p:cNvSpPr>
          <p:nvPr/>
        </p:nvSpPr>
        <p:spPr bwMode="auto">
          <a:xfrm>
            <a:off x="1981200" y="4800600"/>
            <a:ext cx="260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zh-CN" sz="1800">
                <a:ea typeface="SimSun" charset="-122"/>
              </a:rPr>
              <a:t>The Lord of Ring.torrent</a:t>
            </a:r>
          </a:p>
        </p:txBody>
      </p:sp>
      <p:sp>
        <p:nvSpPr>
          <p:cNvPr id="75787" name="Text Box 11"/>
          <p:cNvSpPr txBox="1">
            <a:spLocks noChangeArrowheads="1"/>
          </p:cNvSpPr>
          <p:nvPr/>
        </p:nvSpPr>
        <p:spPr bwMode="auto">
          <a:xfrm>
            <a:off x="4800600" y="5638800"/>
            <a:ext cx="1365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zh-CN" sz="1800">
                <a:ea typeface="SimSun" charset="-122"/>
              </a:rPr>
              <a:t>Troy.torrent</a:t>
            </a:r>
          </a:p>
        </p:txBody>
      </p:sp>
    </p:spTree>
    <p:extLst>
      <p:ext uri="{BB962C8B-B14F-4D97-AF65-F5344CB8AC3E}">
        <p14:creationId xmlns:p14="http://schemas.microsoft.com/office/powerpoint/2010/main" val="56293627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dirty="0">
                <a:ea typeface="SimSun" charset="-122"/>
              </a:rPr>
              <a:t>Critical Elements</a:t>
            </a:r>
          </a:p>
        </p:txBody>
      </p:sp>
      <p:sp>
        <p:nvSpPr>
          <p:cNvPr id="77827" name="Rectangle 3"/>
          <p:cNvSpPr>
            <a:spLocks noGrp="1" noChangeArrowheads="1"/>
          </p:cNvSpPr>
          <p:nvPr>
            <p:ph type="body" idx="1"/>
          </p:nvPr>
        </p:nvSpPr>
        <p:spPr/>
        <p:txBody>
          <a:bodyPr/>
          <a:lstStyle/>
          <a:p>
            <a:pPr eaLnBrk="1" hangingPunct="1"/>
            <a:r>
              <a:rPr lang="en-US" altLang="zh-CN" dirty="0">
                <a:ea typeface="SimSun" charset="-122"/>
              </a:rPr>
              <a:t>2) The .torrent file</a:t>
            </a:r>
          </a:p>
          <a:p>
            <a:pPr lvl="1" eaLnBrk="1" hangingPunct="1"/>
            <a:r>
              <a:rPr lang="en-US" altLang="zh-CN" dirty="0">
                <a:ea typeface="SimSun" charset="-122"/>
              </a:rPr>
              <a:t>Static ‘</a:t>
            </a:r>
            <a:r>
              <a:rPr lang="en-US" altLang="zh-CN" dirty="0" err="1">
                <a:ea typeface="SimSun" charset="-122"/>
              </a:rPr>
              <a:t>metainfo</a:t>
            </a:r>
            <a:r>
              <a:rPr lang="en-US" altLang="zh-CN" dirty="0">
                <a:ea typeface="SimSun" charset="-122"/>
              </a:rPr>
              <a:t>’ file to contain necessary information :</a:t>
            </a:r>
          </a:p>
          <a:p>
            <a:pPr lvl="2" eaLnBrk="1" hangingPunct="1"/>
            <a:r>
              <a:rPr lang="en-US" altLang="zh-CN" dirty="0">
                <a:ea typeface="SimSun" charset="-122"/>
              </a:rPr>
              <a:t>Name</a:t>
            </a:r>
          </a:p>
          <a:p>
            <a:pPr lvl="2" eaLnBrk="1" hangingPunct="1"/>
            <a:r>
              <a:rPr lang="en-US" altLang="zh-CN" dirty="0">
                <a:ea typeface="SimSun" charset="-122"/>
              </a:rPr>
              <a:t>Size</a:t>
            </a:r>
          </a:p>
          <a:p>
            <a:pPr lvl="2" eaLnBrk="1" hangingPunct="1"/>
            <a:r>
              <a:rPr lang="en-US" altLang="zh-CN" dirty="0">
                <a:ea typeface="SimSun" charset="-122"/>
              </a:rPr>
              <a:t>Checksum</a:t>
            </a:r>
          </a:p>
          <a:p>
            <a:pPr lvl="2" eaLnBrk="1" hangingPunct="1"/>
            <a:r>
              <a:rPr lang="en-US" altLang="zh-CN" dirty="0">
                <a:ea typeface="SimSun" charset="-122"/>
              </a:rPr>
              <a:t>IP address (URL) of the Tracker</a:t>
            </a:r>
          </a:p>
          <a:p>
            <a:pPr lvl="2" eaLnBrk="1" hangingPunct="1"/>
            <a:r>
              <a:rPr lang="en-US" altLang="en-US" dirty="0"/>
              <a:t>Pieces &lt;hash</a:t>
            </a:r>
            <a:r>
              <a:rPr lang="en-US" altLang="en-US" baseline="-25000" dirty="0"/>
              <a:t>1</a:t>
            </a:r>
            <a:r>
              <a:rPr lang="en-US" altLang="en-US" dirty="0"/>
              <a:t>,hash</a:t>
            </a:r>
            <a:r>
              <a:rPr lang="en-US" altLang="en-US" baseline="-25000" dirty="0"/>
              <a:t>2</a:t>
            </a:r>
            <a:r>
              <a:rPr lang="en-US" altLang="en-US" dirty="0"/>
              <a:t>,….</a:t>
            </a:r>
            <a:r>
              <a:rPr lang="en-US" altLang="en-US" dirty="0" err="1"/>
              <a:t>hash</a:t>
            </a:r>
            <a:r>
              <a:rPr lang="en-US" altLang="en-US" baseline="-25000" dirty="0" err="1"/>
              <a:t>n</a:t>
            </a:r>
            <a:r>
              <a:rPr lang="en-US" altLang="en-US" dirty="0"/>
              <a:t>&gt; </a:t>
            </a:r>
          </a:p>
          <a:p>
            <a:pPr lvl="2" eaLnBrk="1" hangingPunct="1"/>
            <a:r>
              <a:rPr lang="en-US" altLang="en-US" dirty="0"/>
              <a:t>Piece length</a:t>
            </a:r>
            <a:endParaRPr lang="en-US" altLang="zh-CN" dirty="0">
              <a:ea typeface="SimSun" charset="-122"/>
            </a:endParaRPr>
          </a:p>
        </p:txBody>
      </p:sp>
      <p:grpSp>
        <p:nvGrpSpPr>
          <p:cNvPr id="77828" name="Group 4"/>
          <p:cNvGrpSpPr>
            <a:grpSpLocks/>
          </p:cNvGrpSpPr>
          <p:nvPr/>
        </p:nvGrpSpPr>
        <p:grpSpPr bwMode="auto">
          <a:xfrm>
            <a:off x="5715000" y="3124200"/>
            <a:ext cx="1530350" cy="1054100"/>
            <a:chOff x="2496" y="1056"/>
            <a:chExt cx="842" cy="516"/>
          </a:xfrm>
        </p:grpSpPr>
        <p:graphicFrame>
          <p:nvGraphicFramePr>
            <p:cNvPr id="77829" name="Object 5"/>
            <p:cNvGraphicFramePr>
              <a:graphicFrameLocks noChangeAspect="1"/>
            </p:cNvGraphicFramePr>
            <p:nvPr/>
          </p:nvGraphicFramePr>
          <p:xfrm>
            <a:off x="2713" y="1056"/>
            <a:ext cx="262" cy="346"/>
          </p:xfrm>
          <a:graphic>
            <a:graphicData uri="http://schemas.openxmlformats.org/presentationml/2006/ole">
              <mc:AlternateContent xmlns:mc="http://schemas.openxmlformats.org/markup-compatibility/2006">
                <mc:Choice xmlns:v="urn:schemas-microsoft-com:vml" Requires="v">
                  <p:oleObj name="Visio" r:id="rId3" imgW="717499" imgH="946099" progId="Visio.Drawing.11">
                    <p:embed/>
                  </p:oleObj>
                </mc:Choice>
                <mc:Fallback>
                  <p:oleObj name="Visio" r:id="rId3" imgW="717499" imgH="946099"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 y="1056"/>
                          <a:ext cx="26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7830" name="Text Box 6"/>
            <p:cNvSpPr txBox="1">
              <a:spLocks noChangeArrowheads="1"/>
            </p:cNvSpPr>
            <p:nvPr/>
          </p:nvSpPr>
          <p:spPr bwMode="auto">
            <a:xfrm>
              <a:off x="2496" y="1392"/>
              <a:ext cx="84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zh-CN" sz="1800">
                  <a:ea typeface="SimSun" charset="-122"/>
                </a:rPr>
                <a:t>Matrix.torrent</a:t>
              </a:r>
            </a:p>
          </p:txBody>
        </p:sp>
      </p:grpSp>
    </p:spTree>
    <p:extLst>
      <p:ext uri="{BB962C8B-B14F-4D97-AF65-F5344CB8AC3E}">
        <p14:creationId xmlns:p14="http://schemas.microsoft.com/office/powerpoint/2010/main" val="1117620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altLang="zh-CN" dirty="0">
                <a:ea typeface="SimSun" charset="-122"/>
              </a:rPr>
              <a:t>Critical Elements</a:t>
            </a:r>
          </a:p>
        </p:txBody>
      </p:sp>
      <p:sp>
        <p:nvSpPr>
          <p:cNvPr id="79875" name="Rectangle 3"/>
          <p:cNvSpPr>
            <a:spLocks noGrp="1" noChangeArrowheads="1"/>
          </p:cNvSpPr>
          <p:nvPr>
            <p:ph type="body" idx="1"/>
          </p:nvPr>
        </p:nvSpPr>
        <p:spPr/>
        <p:txBody>
          <a:bodyPr>
            <a:normAutofit/>
          </a:bodyPr>
          <a:lstStyle/>
          <a:p>
            <a:pPr eaLnBrk="1" hangingPunct="1">
              <a:lnSpc>
                <a:spcPct val="80000"/>
              </a:lnSpc>
            </a:pPr>
            <a:r>
              <a:rPr lang="en-US" altLang="zh-CN" sz="2800" dirty="0">
                <a:ea typeface="SimSun" charset="-122"/>
              </a:rPr>
              <a:t>3) A </a:t>
            </a:r>
            <a:r>
              <a:rPr lang="en-US" altLang="zh-CN" sz="2800" dirty="0" err="1">
                <a:ea typeface="SimSun" charset="-122"/>
              </a:rPr>
              <a:t>BitTorrent</a:t>
            </a:r>
            <a:r>
              <a:rPr lang="en-US" altLang="zh-CN" sz="2800" dirty="0">
                <a:ea typeface="SimSun" charset="-122"/>
              </a:rPr>
              <a:t> tracker</a:t>
            </a:r>
          </a:p>
          <a:p>
            <a:pPr lvl="1" eaLnBrk="1" hangingPunct="1">
              <a:lnSpc>
                <a:spcPct val="80000"/>
              </a:lnSpc>
            </a:pPr>
            <a:r>
              <a:rPr lang="en-US" altLang="zh-CN" sz="2400" dirty="0">
                <a:ea typeface="SimSun" charset="-122"/>
              </a:rPr>
              <a:t>Non-content-sharing node</a:t>
            </a:r>
          </a:p>
          <a:p>
            <a:pPr lvl="1" eaLnBrk="1" hangingPunct="1">
              <a:lnSpc>
                <a:spcPct val="80000"/>
              </a:lnSpc>
            </a:pPr>
            <a:r>
              <a:rPr lang="en-US" altLang="zh-CN" sz="2400" dirty="0">
                <a:ea typeface="SimSun" charset="-122"/>
              </a:rPr>
              <a:t>Track peers</a:t>
            </a:r>
          </a:p>
          <a:p>
            <a:pPr eaLnBrk="1" hangingPunct="1">
              <a:lnSpc>
                <a:spcPct val="80000"/>
              </a:lnSpc>
            </a:pPr>
            <a:r>
              <a:rPr lang="en-US" altLang="en-US" sz="2800" dirty="0"/>
              <a:t>Peer cache</a:t>
            </a:r>
          </a:p>
          <a:p>
            <a:pPr lvl="1" eaLnBrk="1" hangingPunct="1">
              <a:lnSpc>
                <a:spcPct val="80000"/>
              </a:lnSpc>
            </a:pPr>
            <a:r>
              <a:rPr lang="en-US" altLang="en-US" sz="2400" dirty="0"/>
              <a:t>IP, port, peer id</a:t>
            </a:r>
          </a:p>
          <a:p>
            <a:pPr eaLnBrk="1" hangingPunct="1">
              <a:lnSpc>
                <a:spcPct val="80000"/>
              </a:lnSpc>
            </a:pPr>
            <a:r>
              <a:rPr lang="en-US" altLang="en-US" sz="2800" dirty="0"/>
              <a:t>State information</a:t>
            </a:r>
          </a:p>
          <a:p>
            <a:pPr lvl="1" eaLnBrk="1" hangingPunct="1">
              <a:lnSpc>
                <a:spcPct val="80000"/>
              </a:lnSpc>
            </a:pPr>
            <a:r>
              <a:rPr lang="en-US" altLang="en-US" sz="2400" dirty="0"/>
              <a:t>Completed</a:t>
            </a:r>
          </a:p>
          <a:p>
            <a:pPr lvl="1" eaLnBrk="1" hangingPunct="1">
              <a:lnSpc>
                <a:spcPct val="80000"/>
              </a:lnSpc>
            </a:pPr>
            <a:r>
              <a:rPr lang="en-US" altLang="en-US" sz="2400" dirty="0"/>
              <a:t>Downloading</a:t>
            </a:r>
          </a:p>
          <a:p>
            <a:pPr eaLnBrk="1" hangingPunct="1">
              <a:lnSpc>
                <a:spcPct val="80000"/>
              </a:lnSpc>
            </a:pPr>
            <a:r>
              <a:rPr lang="en-US" altLang="en-US" sz="2800" dirty="0"/>
              <a:t>Returns random list</a:t>
            </a:r>
            <a:endParaRPr lang="en-US" altLang="zh-CN" sz="2800" dirty="0">
              <a:ea typeface="SimSun" charset="-122"/>
            </a:endParaRPr>
          </a:p>
          <a:p>
            <a:pPr lvl="2" eaLnBrk="1" hangingPunct="1">
              <a:lnSpc>
                <a:spcPct val="80000"/>
              </a:lnSpc>
              <a:buFontTx/>
              <a:buNone/>
            </a:pPr>
            <a:endParaRPr lang="en-US" altLang="zh-CN" sz="2000" dirty="0">
              <a:ea typeface="SimSun" charset="-122"/>
            </a:endParaRPr>
          </a:p>
        </p:txBody>
      </p:sp>
    </p:spTree>
    <p:extLst>
      <p:ext uri="{BB962C8B-B14F-4D97-AF65-F5344CB8AC3E}">
        <p14:creationId xmlns:p14="http://schemas.microsoft.com/office/powerpoint/2010/main" val="134828827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altLang="zh-CN" dirty="0">
                <a:ea typeface="SimSun" charset="-122"/>
              </a:rPr>
              <a:t>Critical Elements</a:t>
            </a:r>
          </a:p>
        </p:txBody>
      </p:sp>
      <p:sp>
        <p:nvSpPr>
          <p:cNvPr id="81923" name="Rectangle 3"/>
          <p:cNvSpPr>
            <a:spLocks noGrp="1" noChangeArrowheads="1"/>
          </p:cNvSpPr>
          <p:nvPr>
            <p:ph type="body" idx="1"/>
          </p:nvPr>
        </p:nvSpPr>
        <p:spPr/>
        <p:txBody>
          <a:bodyPr/>
          <a:lstStyle/>
          <a:p>
            <a:pPr eaLnBrk="1" hangingPunct="1"/>
            <a:r>
              <a:rPr lang="en-US" altLang="zh-CN" dirty="0">
                <a:ea typeface="SimSun" charset="-122"/>
              </a:rPr>
              <a:t>4) An end user (peer)</a:t>
            </a:r>
          </a:p>
          <a:p>
            <a:pPr lvl="1" eaLnBrk="1" hangingPunct="1"/>
            <a:r>
              <a:rPr lang="en-US" altLang="zh-CN" dirty="0">
                <a:ea typeface="SimSun" charset="-122"/>
              </a:rPr>
              <a:t>Users who want to use BitTorrent must install corresponding software or plug-in for web browsers.</a:t>
            </a:r>
          </a:p>
          <a:p>
            <a:pPr lvl="1" eaLnBrk="1" hangingPunct="1"/>
            <a:r>
              <a:rPr lang="en-US" altLang="zh-CN" i="1" dirty="0">
                <a:ea typeface="SimSun" charset="-122"/>
              </a:rPr>
              <a:t>Downloader</a:t>
            </a:r>
            <a:r>
              <a:rPr lang="en-US" altLang="zh-CN" dirty="0">
                <a:ea typeface="SimSun" charset="-122"/>
              </a:rPr>
              <a:t> (</a:t>
            </a:r>
            <a:r>
              <a:rPr lang="en-US" altLang="zh-CN" i="1" dirty="0" err="1">
                <a:ea typeface="SimSun" charset="-122"/>
              </a:rPr>
              <a:t>leecher</a:t>
            </a:r>
            <a:r>
              <a:rPr lang="en-US" altLang="zh-CN" dirty="0">
                <a:ea typeface="SimSun" charset="-122"/>
              </a:rPr>
              <a:t>) : Peer has only </a:t>
            </a:r>
            <a:r>
              <a:rPr lang="en-US" altLang="zh-CN" b="1" i="1" dirty="0">
                <a:solidFill>
                  <a:srgbClr val="CC3300"/>
                </a:solidFill>
                <a:ea typeface="SimSun" charset="-122"/>
              </a:rPr>
              <a:t>a part (or none</a:t>
            </a:r>
            <a:r>
              <a:rPr lang="en-US" altLang="zh-CN" dirty="0">
                <a:solidFill>
                  <a:srgbClr val="CC3300"/>
                </a:solidFill>
                <a:ea typeface="SimSun" charset="-122"/>
              </a:rPr>
              <a:t>)</a:t>
            </a:r>
            <a:r>
              <a:rPr lang="en-US" altLang="zh-CN" dirty="0">
                <a:ea typeface="SimSun" charset="-122"/>
              </a:rPr>
              <a:t> of the file.</a:t>
            </a:r>
          </a:p>
          <a:p>
            <a:pPr lvl="1" eaLnBrk="1" hangingPunct="1"/>
            <a:r>
              <a:rPr lang="en-US" altLang="zh-CN" i="1" dirty="0">
                <a:ea typeface="SimSun" charset="-122"/>
              </a:rPr>
              <a:t>Seeder</a:t>
            </a:r>
            <a:r>
              <a:rPr lang="en-US" altLang="zh-CN" dirty="0">
                <a:ea typeface="SimSun" charset="-122"/>
              </a:rPr>
              <a:t>: Peer has the </a:t>
            </a:r>
            <a:r>
              <a:rPr lang="en-US" altLang="zh-CN" b="1" i="1" dirty="0">
                <a:solidFill>
                  <a:srgbClr val="CC3300"/>
                </a:solidFill>
                <a:ea typeface="SimSun" charset="-122"/>
              </a:rPr>
              <a:t>complete</a:t>
            </a:r>
            <a:r>
              <a:rPr lang="en-US" altLang="zh-CN" dirty="0">
                <a:ea typeface="SimSun" charset="-122"/>
              </a:rPr>
              <a:t> file, and chooses to stay in the system to allow other peers to download</a:t>
            </a:r>
          </a:p>
        </p:txBody>
      </p:sp>
    </p:spTree>
    <p:extLst>
      <p:ext uri="{BB962C8B-B14F-4D97-AF65-F5344CB8AC3E}">
        <p14:creationId xmlns:p14="http://schemas.microsoft.com/office/powerpoint/2010/main" val="129794524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ltLang="en-US" dirty="0"/>
              <a:t>Messages</a:t>
            </a:r>
          </a:p>
        </p:txBody>
      </p:sp>
      <p:sp>
        <p:nvSpPr>
          <p:cNvPr id="83971" name="Rectangle 3"/>
          <p:cNvSpPr>
            <a:spLocks noGrp="1" noChangeArrowheads="1"/>
          </p:cNvSpPr>
          <p:nvPr>
            <p:ph type="body" idx="1"/>
          </p:nvPr>
        </p:nvSpPr>
        <p:spPr/>
        <p:txBody>
          <a:bodyPr/>
          <a:lstStyle/>
          <a:p>
            <a:pPr eaLnBrk="1" hangingPunct="1"/>
            <a:r>
              <a:rPr lang="en-US" altLang="en-US" dirty="0"/>
              <a:t>Peer – Peer messages</a:t>
            </a:r>
          </a:p>
          <a:p>
            <a:pPr lvl="1" eaLnBrk="1" hangingPunct="1"/>
            <a:r>
              <a:rPr lang="en-US" altLang="en-US" dirty="0"/>
              <a:t>TCP Sockets</a:t>
            </a:r>
          </a:p>
          <a:p>
            <a:pPr eaLnBrk="1" hangingPunct="1"/>
            <a:r>
              <a:rPr lang="en-US" altLang="en-US" dirty="0"/>
              <a:t>Peer – Tracker messages </a:t>
            </a:r>
          </a:p>
          <a:p>
            <a:pPr lvl="1" eaLnBrk="1" hangingPunct="1"/>
            <a:r>
              <a:rPr lang="en-US" altLang="en-US" dirty="0"/>
              <a:t>HTTP Request/Response</a:t>
            </a:r>
          </a:p>
        </p:txBody>
      </p:sp>
    </p:spTree>
    <p:extLst>
      <p:ext uri="{BB962C8B-B14F-4D97-AF65-F5344CB8AC3E}">
        <p14:creationId xmlns:p14="http://schemas.microsoft.com/office/powerpoint/2010/main" val="14135596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928813" y="1770063"/>
            <a:ext cx="2185987" cy="668337"/>
            <a:chOff x="2700" y="2340"/>
            <a:chExt cx="1620" cy="720"/>
          </a:xfrm>
        </p:grpSpPr>
        <p:sp>
          <p:nvSpPr>
            <p:cNvPr id="86056" name="AutoShape 3"/>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57" name="Text Box 4"/>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new leecher</a:t>
              </a:r>
            </a:p>
          </p:txBody>
        </p:sp>
      </p:grpSp>
      <p:sp>
        <p:nvSpPr>
          <p:cNvPr id="86019" name="Rectangle 5"/>
          <p:cNvSpPr>
            <a:spLocks noGrp="1" noChangeArrowheads="1"/>
          </p:cNvSpPr>
          <p:nvPr>
            <p:ph type="title"/>
          </p:nvPr>
        </p:nvSpPr>
        <p:spPr/>
        <p:txBody>
          <a:bodyPr/>
          <a:lstStyle/>
          <a:p>
            <a:pPr eaLnBrk="1" hangingPunct="1"/>
            <a:r>
              <a:rPr lang="en-US" altLang="en-US" dirty="0" err="1"/>
              <a:t>BitTorrent</a:t>
            </a:r>
            <a:r>
              <a:rPr lang="en-US" altLang="en-US" dirty="0"/>
              <a:t> – joining a torrent</a:t>
            </a:r>
          </a:p>
        </p:txBody>
      </p:sp>
      <p:sp>
        <p:nvSpPr>
          <p:cNvPr id="86020" name="Rectangle 6"/>
          <p:cNvSpPr>
            <a:spLocks noGrp="1" noChangeArrowheads="1"/>
          </p:cNvSpPr>
          <p:nvPr>
            <p:ph type="body" idx="1"/>
          </p:nvPr>
        </p:nvSpPr>
        <p:spPr>
          <a:xfrm>
            <a:off x="644525" y="3975100"/>
            <a:ext cx="4727575" cy="1112838"/>
          </a:xfrm>
        </p:spPr>
        <p:txBody>
          <a:bodyPr>
            <a:normAutofit lnSpcReduction="10000"/>
          </a:bodyPr>
          <a:lstStyle/>
          <a:p>
            <a:pPr marL="609600" indent="-609600" eaLnBrk="1" hangingPunct="1">
              <a:lnSpc>
                <a:spcPct val="80000"/>
              </a:lnSpc>
              <a:buFontTx/>
              <a:buNone/>
            </a:pPr>
            <a:r>
              <a:rPr lang="en-US" altLang="en-US" sz="2200"/>
              <a:t>Peers divided into: </a:t>
            </a:r>
          </a:p>
          <a:p>
            <a:pPr marL="609600" indent="-609600" eaLnBrk="1" hangingPunct="1">
              <a:lnSpc>
                <a:spcPct val="80000"/>
              </a:lnSpc>
            </a:pPr>
            <a:r>
              <a:rPr lang="en-US" altLang="en-US" sz="2200" i="1"/>
              <a:t>seeds</a:t>
            </a:r>
            <a:r>
              <a:rPr lang="en-US" altLang="en-US" sz="2200"/>
              <a:t>:</a:t>
            </a:r>
            <a:r>
              <a:rPr lang="en-US" altLang="en-US" sz="2200" i="1"/>
              <a:t> </a:t>
            </a:r>
            <a:r>
              <a:rPr lang="en-US" altLang="en-US" sz="2200"/>
              <a:t>have the entire file</a:t>
            </a:r>
          </a:p>
          <a:p>
            <a:pPr marL="609600" indent="-609600" eaLnBrk="1" hangingPunct="1">
              <a:lnSpc>
                <a:spcPct val="80000"/>
              </a:lnSpc>
            </a:pPr>
            <a:r>
              <a:rPr lang="en-US" altLang="en-US" sz="2200" i="1"/>
              <a:t>leechers</a:t>
            </a:r>
            <a:r>
              <a:rPr lang="en-US" altLang="en-US" sz="2200"/>
              <a:t>: still downloading</a:t>
            </a:r>
          </a:p>
        </p:txBody>
      </p:sp>
      <p:sp>
        <p:nvSpPr>
          <p:cNvPr id="30727" name="Text Box 7"/>
          <p:cNvSpPr txBox="1">
            <a:spLocks noChangeArrowheads="1"/>
          </p:cNvSpPr>
          <p:nvPr/>
        </p:nvSpPr>
        <p:spPr bwMode="auto">
          <a:xfrm>
            <a:off x="4800600" y="2743200"/>
            <a:ext cx="1276350" cy="6683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data</a:t>
            </a:r>
            <a:br>
              <a:rPr lang="en-US" altLang="en-US" sz="2000">
                <a:solidFill>
                  <a:schemeClr val="tx2"/>
                </a:solidFill>
                <a:latin typeface="+mn-lt"/>
              </a:rPr>
            </a:br>
            <a:r>
              <a:rPr lang="en-US" altLang="en-US" sz="2000">
                <a:solidFill>
                  <a:schemeClr val="tx2"/>
                </a:solidFill>
                <a:latin typeface="+mn-lt"/>
              </a:rPr>
              <a:t>request</a:t>
            </a:r>
          </a:p>
        </p:txBody>
      </p:sp>
      <p:sp>
        <p:nvSpPr>
          <p:cNvPr id="30728" name="Text Box 8"/>
          <p:cNvSpPr txBox="1">
            <a:spLocks noChangeArrowheads="1"/>
          </p:cNvSpPr>
          <p:nvPr/>
        </p:nvSpPr>
        <p:spPr bwMode="auto">
          <a:xfrm>
            <a:off x="3173413" y="2698750"/>
            <a:ext cx="1093787" cy="5016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peer list</a:t>
            </a:r>
          </a:p>
        </p:txBody>
      </p:sp>
      <p:sp>
        <p:nvSpPr>
          <p:cNvPr id="30729" name="Text Box 9"/>
          <p:cNvSpPr txBox="1">
            <a:spLocks noChangeArrowheads="1"/>
          </p:cNvSpPr>
          <p:nvPr/>
        </p:nvSpPr>
        <p:spPr bwMode="auto">
          <a:xfrm>
            <a:off x="4133850" y="1600200"/>
            <a:ext cx="1638300" cy="522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metadata file</a:t>
            </a:r>
          </a:p>
          <a:p>
            <a:pPr algn="ctr" eaLnBrk="1" hangingPunct="1">
              <a:lnSpc>
                <a:spcPct val="85000"/>
              </a:lnSpc>
              <a:spcBef>
                <a:spcPct val="0"/>
              </a:spcBef>
              <a:buFontTx/>
              <a:buNone/>
            </a:pPr>
            <a:r>
              <a:rPr lang="en-US" altLang="en-US" sz="2000">
                <a:solidFill>
                  <a:schemeClr val="tx2"/>
                </a:solidFill>
                <a:latin typeface="+mn-lt"/>
              </a:rPr>
              <a:t>.torrent</a:t>
            </a:r>
          </a:p>
        </p:txBody>
      </p:sp>
      <p:sp>
        <p:nvSpPr>
          <p:cNvPr id="30730" name="Text Box 10"/>
          <p:cNvSpPr txBox="1">
            <a:spLocks noChangeArrowheads="1"/>
          </p:cNvSpPr>
          <p:nvPr/>
        </p:nvSpPr>
        <p:spPr bwMode="auto">
          <a:xfrm>
            <a:off x="2033588" y="2698750"/>
            <a:ext cx="728662" cy="5016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join</a:t>
            </a:r>
          </a:p>
        </p:txBody>
      </p:sp>
      <p:sp>
        <p:nvSpPr>
          <p:cNvPr id="30731" name="Line 11"/>
          <p:cNvSpPr>
            <a:spLocks noChangeShapeType="1"/>
          </p:cNvSpPr>
          <p:nvPr/>
        </p:nvSpPr>
        <p:spPr bwMode="auto">
          <a:xfrm flipH="1" flipV="1">
            <a:off x="4114800" y="2124075"/>
            <a:ext cx="1600200" cy="9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 name="Group 12"/>
          <p:cNvGrpSpPr>
            <a:grpSpLocks/>
          </p:cNvGrpSpPr>
          <p:nvPr/>
        </p:nvGrpSpPr>
        <p:grpSpPr bwMode="auto">
          <a:xfrm>
            <a:off x="5054600" y="2163763"/>
            <a:ext cx="508000" cy="356384"/>
            <a:chOff x="4752" y="384"/>
            <a:chExt cx="336" cy="257"/>
          </a:xfrm>
        </p:grpSpPr>
        <p:sp>
          <p:nvSpPr>
            <p:cNvPr id="86054" name="Oval 13"/>
            <p:cNvSpPr>
              <a:spLocks noChangeArrowheads="1"/>
            </p:cNvSpPr>
            <p:nvPr/>
          </p:nvSpPr>
          <p:spPr bwMode="auto">
            <a:xfrm>
              <a:off x="4752" y="384"/>
              <a:ext cx="336" cy="24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55" name="Text Box 14"/>
            <p:cNvSpPr txBox="1">
              <a:spLocks noChangeArrowheads="1"/>
            </p:cNvSpPr>
            <p:nvPr/>
          </p:nvSpPr>
          <p:spPr bwMode="auto">
            <a:xfrm>
              <a:off x="4752" y="384"/>
              <a:ext cx="33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50000"/>
                </a:spcBef>
                <a:buFontTx/>
                <a:buNone/>
              </a:pPr>
              <a:r>
                <a:rPr lang="en-US" altLang="en-US" sz="2000">
                  <a:solidFill>
                    <a:schemeClr val="tx2"/>
                  </a:solidFill>
                  <a:latin typeface="+mn-lt"/>
                </a:rPr>
                <a:t>1</a:t>
              </a:r>
            </a:p>
          </p:txBody>
        </p:sp>
      </p:grpSp>
      <p:grpSp>
        <p:nvGrpSpPr>
          <p:cNvPr id="4" name="Group 15"/>
          <p:cNvGrpSpPr>
            <a:grpSpLocks/>
          </p:cNvGrpSpPr>
          <p:nvPr/>
        </p:nvGrpSpPr>
        <p:grpSpPr bwMode="auto">
          <a:xfrm>
            <a:off x="1624013" y="2697163"/>
            <a:ext cx="509587" cy="356384"/>
            <a:chOff x="4752" y="384"/>
            <a:chExt cx="336" cy="257"/>
          </a:xfrm>
        </p:grpSpPr>
        <p:sp>
          <p:nvSpPr>
            <p:cNvPr id="86052" name="Oval 16"/>
            <p:cNvSpPr>
              <a:spLocks noChangeArrowheads="1"/>
            </p:cNvSpPr>
            <p:nvPr/>
          </p:nvSpPr>
          <p:spPr bwMode="auto">
            <a:xfrm>
              <a:off x="4752" y="384"/>
              <a:ext cx="336" cy="24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53" name="Text Box 17"/>
            <p:cNvSpPr txBox="1">
              <a:spLocks noChangeArrowheads="1"/>
            </p:cNvSpPr>
            <p:nvPr/>
          </p:nvSpPr>
          <p:spPr bwMode="auto">
            <a:xfrm>
              <a:off x="4752" y="384"/>
              <a:ext cx="33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50000"/>
                </a:spcBef>
                <a:buFontTx/>
                <a:buNone/>
              </a:pPr>
              <a:r>
                <a:rPr lang="en-US" altLang="en-US" sz="2000">
                  <a:solidFill>
                    <a:schemeClr val="tx2"/>
                  </a:solidFill>
                  <a:latin typeface="+mn-lt"/>
                </a:rPr>
                <a:t>2</a:t>
              </a:r>
            </a:p>
          </p:txBody>
        </p:sp>
      </p:grpSp>
      <p:grpSp>
        <p:nvGrpSpPr>
          <p:cNvPr id="5" name="Group 18"/>
          <p:cNvGrpSpPr>
            <a:grpSpLocks/>
          </p:cNvGrpSpPr>
          <p:nvPr/>
        </p:nvGrpSpPr>
        <p:grpSpPr bwMode="auto">
          <a:xfrm>
            <a:off x="4191000" y="2697163"/>
            <a:ext cx="509588" cy="356384"/>
            <a:chOff x="4752" y="384"/>
            <a:chExt cx="336" cy="257"/>
          </a:xfrm>
        </p:grpSpPr>
        <p:sp>
          <p:nvSpPr>
            <p:cNvPr id="86050" name="Oval 19"/>
            <p:cNvSpPr>
              <a:spLocks noChangeArrowheads="1"/>
            </p:cNvSpPr>
            <p:nvPr/>
          </p:nvSpPr>
          <p:spPr bwMode="auto">
            <a:xfrm>
              <a:off x="4752" y="384"/>
              <a:ext cx="336" cy="24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51" name="Text Box 20"/>
            <p:cNvSpPr txBox="1">
              <a:spLocks noChangeArrowheads="1"/>
            </p:cNvSpPr>
            <p:nvPr/>
          </p:nvSpPr>
          <p:spPr bwMode="auto">
            <a:xfrm>
              <a:off x="4752" y="384"/>
              <a:ext cx="33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50000"/>
                </a:spcBef>
                <a:buFontTx/>
                <a:buNone/>
              </a:pPr>
              <a:r>
                <a:rPr lang="en-US" altLang="en-US" sz="2000">
                  <a:solidFill>
                    <a:schemeClr val="tx2"/>
                  </a:solidFill>
                  <a:latin typeface="+mn-lt"/>
                </a:rPr>
                <a:t>3</a:t>
              </a:r>
            </a:p>
          </p:txBody>
        </p:sp>
      </p:grpSp>
      <p:sp>
        <p:nvSpPr>
          <p:cNvPr id="30741" name="Line 21"/>
          <p:cNvSpPr>
            <a:spLocks noChangeShapeType="1"/>
          </p:cNvSpPr>
          <p:nvPr/>
        </p:nvSpPr>
        <p:spPr bwMode="auto">
          <a:xfrm>
            <a:off x="4127500" y="2447925"/>
            <a:ext cx="1816100" cy="4476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nvGrpSpPr>
          <p:cNvPr id="6" name="Group 22"/>
          <p:cNvGrpSpPr>
            <a:grpSpLocks/>
          </p:cNvGrpSpPr>
          <p:nvPr/>
        </p:nvGrpSpPr>
        <p:grpSpPr bwMode="auto">
          <a:xfrm>
            <a:off x="5281613" y="3306763"/>
            <a:ext cx="509587" cy="356384"/>
            <a:chOff x="4752" y="384"/>
            <a:chExt cx="336" cy="257"/>
          </a:xfrm>
        </p:grpSpPr>
        <p:sp>
          <p:nvSpPr>
            <p:cNvPr id="86048" name="Oval 23"/>
            <p:cNvSpPr>
              <a:spLocks noChangeArrowheads="1"/>
            </p:cNvSpPr>
            <p:nvPr/>
          </p:nvSpPr>
          <p:spPr bwMode="auto">
            <a:xfrm>
              <a:off x="4752" y="384"/>
              <a:ext cx="336" cy="24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49" name="Text Box 24"/>
            <p:cNvSpPr txBox="1">
              <a:spLocks noChangeArrowheads="1"/>
            </p:cNvSpPr>
            <p:nvPr/>
          </p:nvSpPr>
          <p:spPr bwMode="auto">
            <a:xfrm>
              <a:off x="4752" y="384"/>
              <a:ext cx="33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50000"/>
                </a:spcBef>
                <a:buFontTx/>
                <a:buNone/>
              </a:pPr>
              <a:r>
                <a:rPr lang="en-US" altLang="en-US" sz="2000">
                  <a:solidFill>
                    <a:schemeClr val="tx2"/>
                  </a:solidFill>
                  <a:latin typeface="+mn-lt"/>
                </a:rPr>
                <a:t>4</a:t>
              </a:r>
            </a:p>
          </p:txBody>
        </p:sp>
      </p:grpSp>
      <p:sp>
        <p:nvSpPr>
          <p:cNvPr id="30745" name="Line 25"/>
          <p:cNvSpPr>
            <a:spLocks noChangeShapeType="1"/>
          </p:cNvSpPr>
          <p:nvPr/>
        </p:nvSpPr>
        <p:spPr bwMode="auto">
          <a:xfrm flipH="1">
            <a:off x="2667000" y="2438400"/>
            <a:ext cx="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46" name="Line 26"/>
          <p:cNvSpPr>
            <a:spLocks noChangeShapeType="1"/>
          </p:cNvSpPr>
          <p:nvPr/>
        </p:nvSpPr>
        <p:spPr bwMode="auto">
          <a:xfrm flipV="1">
            <a:off x="3200400" y="2438400"/>
            <a:ext cx="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nvGrpSpPr>
          <p:cNvPr id="7" name="Group 27"/>
          <p:cNvGrpSpPr>
            <a:grpSpLocks/>
          </p:cNvGrpSpPr>
          <p:nvPr/>
        </p:nvGrpSpPr>
        <p:grpSpPr bwMode="auto">
          <a:xfrm>
            <a:off x="5943600" y="2895600"/>
            <a:ext cx="2185988" cy="668338"/>
            <a:chOff x="2700" y="2340"/>
            <a:chExt cx="1620" cy="720"/>
          </a:xfrm>
        </p:grpSpPr>
        <p:sp>
          <p:nvSpPr>
            <p:cNvPr id="86046" name="AutoShape 28"/>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47" name="Text Box 29"/>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seed/leecher</a:t>
              </a:r>
            </a:p>
          </p:txBody>
        </p:sp>
      </p:grpSp>
      <p:grpSp>
        <p:nvGrpSpPr>
          <p:cNvPr id="8" name="Group 30"/>
          <p:cNvGrpSpPr>
            <a:grpSpLocks/>
          </p:cNvGrpSpPr>
          <p:nvPr/>
        </p:nvGrpSpPr>
        <p:grpSpPr bwMode="auto">
          <a:xfrm>
            <a:off x="5715000" y="1752600"/>
            <a:ext cx="2185988" cy="668338"/>
            <a:chOff x="2700" y="2340"/>
            <a:chExt cx="1620" cy="720"/>
          </a:xfrm>
        </p:grpSpPr>
        <p:sp>
          <p:nvSpPr>
            <p:cNvPr id="86044" name="AutoShape 31"/>
            <p:cNvSpPr>
              <a:spLocks noChangeArrowheads="1"/>
            </p:cNvSpPr>
            <p:nvPr/>
          </p:nvSpPr>
          <p:spPr bwMode="auto">
            <a:xfrm>
              <a:off x="2700" y="2340"/>
              <a:ext cx="1620" cy="720"/>
            </a:xfrm>
            <a:prstGeom prst="flowChartProcess">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45" name="Text Box 32"/>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website</a:t>
              </a:r>
            </a:p>
          </p:txBody>
        </p:sp>
      </p:grpSp>
      <p:grpSp>
        <p:nvGrpSpPr>
          <p:cNvPr id="9" name="Group 33"/>
          <p:cNvGrpSpPr>
            <a:grpSpLocks/>
          </p:cNvGrpSpPr>
          <p:nvPr/>
        </p:nvGrpSpPr>
        <p:grpSpPr bwMode="auto">
          <a:xfrm>
            <a:off x="1905000" y="3124200"/>
            <a:ext cx="2185988" cy="668338"/>
            <a:chOff x="2700" y="2340"/>
            <a:chExt cx="1620" cy="720"/>
          </a:xfrm>
        </p:grpSpPr>
        <p:sp>
          <p:nvSpPr>
            <p:cNvPr id="86042" name="AutoShape 34"/>
            <p:cNvSpPr>
              <a:spLocks noChangeArrowheads="1"/>
            </p:cNvSpPr>
            <p:nvPr/>
          </p:nvSpPr>
          <p:spPr bwMode="auto">
            <a:xfrm>
              <a:off x="2700" y="2340"/>
              <a:ext cx="1620" cy="720"/>
            </a:xfrm>
            <a:prstGeom prst="flowChartProcess">
              <a:avLst/>
            </a:prstGeom>
            <a:solidFill>
              <a:srgbClr val="99CC00"/>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6043" name="Text Box 35"/>
            <p:cNvSpPr txBox="1">
              <a:spLocks noChangeArrowheads="1"/>
            </p:cNvSpPr>
            <p:nvPr/>
          </p:nvSpPr>
          <p:spPr bwMode="auto">
            <a:xfrm>
              <a:off x="2880" y="2520"/>
              <a:ext cx="1260" cy="360"/>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tracker</a:t>
              </a:r>
            </a:p>
          </p:txBody>
        </p:sp>
      </p:grpSp>
      <p:sp>
        <p:nvSpPr>
          <p:cNvPr id="30756" name="Text Box 36"/>
          <p:cNvSpPr txBox="1">
            <a:spLocks noChangeArrowheads="1"/>
          </p:cNvSpPr>
          <p:nvPr/>
        </p:nvSpPr>
        <p:spPr bwMode="auto">
          <a:xfrm>
            <a:off x="990600" y="5026025"/>
            <a:ext cx="8077200" cy="395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0000"/>
              </a:lnSpc>
              <a:buClr>
                <a:schemeClr val="accent2"/>
              </a:buClr>
              <a:buFont typeface="Wingdings" charset="2"/>
              <a:buNone/>
            </a:pPr>
            <a:r>
              <a:rPr lang="en-US" altLang="en-US" sz="2400">
                <a:latin typeface="+mn-lt"/>
              </a:rPr>
              <a:t>1. obtain the </a:t>
            </a:r>
            <a:r>
              <a:rPr lang="en-US" altLang="en-US" sz="2400" i="1">
                <a:latin typeface="+mn-lt"/>
              </a:rPr>
              <a:t>metadata file</a:t>
            </a:r>
          </a:p>
        </p:txBody>
      </p:sp>
      <p:sp>
        <p:nvSpPr>
          <p:cNvPr id="30757" name="Text Box 37"/>
          <p:cNvSpPr txBox="1">
            <a:spLocks noChangeArrowheads="1"/>
          </p:cNvSpPr>
          <p:nvPr/>
        </p:nvSpPr>
        <p:spPr bwMode="auto">
          <a:xfrm>
            <a:off x="990600" y="5226050"/>
            <a:ext cx="80772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Clr>
                <a:schemeClr val="accent2"/>
              </a:buClr>
              <a:buFont typeface="Wingdings" charset="2"/>
              <a:buNone/>
            </a:pPr>
            <a:r>
              <a:rPr lang="en-US" altLang="en-US" sz="2400">
                <a:latin typeface="+mn-lt"/>
              </a:rPr>
              <a:t>2. contact the </a:t>
            </a:r>
            <a:r>
              <a:rPr lang="en-US" altLang="en-US" sz="2400" i="1">
                <a:latin typeface="+mn-lt"/>
              </a:rPr>
              <a:t>tracker</a:t>
            </a:r>
            <a:r>
              <a:rPr lang="en-US" altLang="en-US" sz="3100">
                <a:solidFill>
                  <a:schemeClr val="tx2"/>
                </a:solidFill>
                <a:latin typeface="+mn-lt"/>
              </a:rPr>
              <a:t> </a:t>
            </a:r>
          </a:p>
        </p:txBody>
      </p:sp>
      <p:sp>
        <p:nvSpPr>
          <p:cNvPr id="30758" name="Text Box 38"/>
          <p:cNvSpPr txBox="1">
            <a:spLocks noChangeArrowheads="1"/>
          </p:cNvSpPr>
          <p:nvPr/>
        </p:nvSpPr>
        <p:spPr bwMode="auto">
          <a:xfrm>
            <a:off x="990600" y="563880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Clr>
                <a:schemeClr val="accent2"/>
              </a:buClr>
              <a:buFont typeface="Wingdings" charset="2"/>
              <a:buNone/>
            </a:pPr>
            <a:r>
              <a:rPr lang="en-US" altLang="en-US" sz="2400">
                <a:latin typeface="+mn-lt"/>
              </a:rPr>
              <a:t>3. obtain a </a:t>
            </a:r>
            <a:r>
              <a:rPr lang="en-US" altLang="en-US" sz="2400" i="1">
                <a:latin typeface="+mn-lt"/>
              </a:rPr>
              <a:t>peer</a:t>
            </a:r>
            <a:r>
              <a:rPr lang="en-US" altLang="en-US" sz="2400">
                <a:latin typeface="+mn-lt"/>
              </a:rPr>
              <a:t> </a:t>
            </a:r>
            <a:r>
              <a:rPr lang="en-US" altLang="en-US" sz="2400" i="1">
                <a:latin typeface="+mn-lt"/>
              </a:rPr>
              <a:t>list</a:t>
            </a:r>
            <a:r>
              <a:rPr lang="en-US" altLang="en-US" sz="2400">
                <a:latin typeface="+mn-lt"/>
              </a:rPr>
              <a:t> (contains seeds &amp; leechers)</a:t>
            </a:r>
            <a:endParaRPr lang="en-US" altLang="en-US" sz="2400">
              <a:solidFill>
                <a:schemeClr val="tx2"/>
              </a:solidFill>
              <a:latin typeface="+mn-lt"/>
            </a:endParaRPr>
          </a:p>
        </p:txBody>
      </p:sp>
      <p:sp>
        <p:nvSpPr>
          <p:cNvPr id="30759" name="Text Box 39"/>
          <p:cNvSpPr txBox="1">
            <a:spLocks noChangeArrowheads="1"/>
          </p:cNvSpPr>
          <p:nvPr/>
        </p:nvSpPr>
        <p:spPr bwMode="auto">
          <a:xfrm>
            <a:off x="990600" y="594360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Clr>
                <a:schemeClr val="accent2"/>
              </a:buClr>
              <a:buFont typeface="Wingdings" charset="2"/>
              <a:buNone/>
            </a:pPr>
            <a:r>
              <a:rPr lang="en-US" altLang="en-US" sz="2400">
                <a:latin typeface="+mn-lt"/>
              </a:rPr>
              <a:t>4. contact peers from that list for data</a:t>
            </a:r>
            <a:endParaRPr lang="en-US" altLang="en-US" sz="2400">
              <a:solidFill>
                <a:schemeClr val="tx2"/>
              </a:solidFill>
              <a:latin typeface="+mn-lt"/>
            </a:endParaRPr>
          </a:p>
        </p:txBody>
      </p:sp>
      <p:pic>
        <p:nvPicPr>
          <p:cNvPr id="86040" name="Picture 40" descr="se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2672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41" name="Picture 41" descr="lee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572000"/>
            <a:ext cx="2714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491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731"/>
                                        </p:tgtEl>
                                        <p:attrNameLst>
                                          <p:attrName>style.visibility</p:attrName>
                                        </p:attrNameLst>
                                      </p:cBhvr>
                                      <p:to>
                                        <p:strVal val="visible"/>
                                      </p:to>
                                    </p:set>
                                    <p:animEffect transition="in" filter="blinds(horizontal)">
                                      <p:cBhvr>
                                        <p:cTn id="10" dur="500"/>
                                        <p:tgtEl>
                                          <p:spTgt spid="3073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0729"/>
                                        </p:tgtEl>
                                        <p:attrNameLst>
                                          <p:attrName>style.visibility</p:attrName>
                                        </p:attrNameLst>
                                      </p:cBhvr>
                                      <p:to>
                                        <p:strVal val="visible"/>
                                      </p:to>
                                    </p:set>
                                    <p:animEffect transition="in" filter="blinds(horizontal)">
                                      <p:cBhvr>
                                        <p:cTn id="13" dur="500"/>
                                        <p:tgtEl>
                                          <p:spTgt spid="30729"/>
                                        </p:tgtEl>
                                      </p:cBhvr>
                                    </p:animEffect>
                                  </p:childTnLst>
                                </p:cTn>
                              </p:par>
                              <p:par>
                                <p:cTn id="14" presetID="3"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par>
                                <p:cTn id="17" presetID="3"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0756"/>
                                        </p:tgtEl>
                                        <p:attrNameLst>
                                          <p:attrName>style.visibility</p:attrName>
                                        </p:attrNameLst>
                                      </p:cBhvr>
                                      <p:to>
                                        <p:strVal val="visible"/>
                                      </p:to>
                                    </p:set>
                                    <p:animEffect transition="in" filter="blinds(horizontal)">
                                      <p:cBhvr>
                                        <p:cTn id="22" dur="500"/>
                                        <p:tgtEl>
                                          <p:spTgt spid="307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745"/>
                                        </p:tgtEl>
                                        <p:attrNameLst>
                                          <p:attrName>style.visibility</p:attrName>
                                        </p:attrNameLst>
                                      </p:cBhvr>
                                      <p:to>
                                        <p:strVal val="visible"/>
                                      </p:to>
                                    </p:set>
                                    <p:animEffect transition="in" filter="blinds(horizontal)">
                                      <p:cBhvr>
                                        <p:cTn id="27" dur="500"/>
                                        <p:tgtEl>
                                          <p:spTgt spid="3074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0730"/>
                                        </p:tgtEl>
                                        <p:attrNameLst>
                                          <p:attrName>style.visibility</p:attrName>
                                        </p:attrNameLst>
                                      </p:cBhvr>
                                      <p:to>
                                        <p:strVal val="visible"/>
                                      </p:to>
                                    </p:set>
                                    <p:animEffect transition="in" filter="blinds(horizontal)">
                                      <p:cBhvr>
                                        <p:cTn id="30" dur="500"/>
                                        <p:tgtEl>
                                          <p:spTgt spid="30730"/>
                                        </p:tgtEl>
                                      </p:cBhvr>
                                    </p:animEffect>
                                  </p:childTnLst>
                                </p:cTn>
                              </p:par>
                              <p:par>
                                <p:cTn id="31" presetID="3" presetClass="entr" presetSubtype="1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par>
                                <p:cTn id="34" presetID="3"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0757"/>
                                        </p:tgtEl>
                                        <p:attrNameLst>
                                          <p:attrName>style.visibility</p:attrName>
                                        </p:attrNameLst>
                                      </p:cBhvr>
                                      <p:to>
                                        <p:strVal val="visible"/>
                                      </p:to>
                                    </p:set>
                                    <p:animEffect transition="in" filter="blinds(horizontal)">
                                      <p:cBhvr>
                                        <p:cTn id="39" dur="500"/>
                                        <p:tgtEl>
                                          <p:spTgt spid="3075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blinds(horizontal)">
                                      <p:cBhvr>
                                        <p:cTn id="44" dur="500"/>
                                        <p:tgtEl>
                                          <p:spTgt spid="5"/>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30728"/>
                                        </p:tgtEl>
                                        <p:attrNameLst>
                                          <p:attrName>style.visibility</p:attrName>
                                        </p:attrNameLst>
                                      </p:cBhvr>
                                      <p:to>
                                        <p:strVal val="visible"/>
                                      </p:to>
                                    </p:set>
                                    <p:animEffect transition="in" filter="blinds(horizontal)">
                                      <p:cBhvr>
                                        <p:cTn id="47" dur="500"/>
                                        <p:tgtEl>
                                          <p:spTgt spid="30728"/>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30746"/>
                                        </p:tgtEl>
                                        <p:attrNameLst>
                                          <p:attrName>style.visibility</p:attrName>
                                        </p:attrNameLst>
                                      </p:cBhvr>
                                      <p:to>
                                        <p:strVal val="visible"/>
                                      </p:to>
                                    </p:set>
                                    <p:animEffect transition="in" filter="blinds(horizontal)">
                                      <p:cBhvr>
                                        <p:cTn id="50" dur="500"/>
                                        <p:tgtEl>
                                          <p:spTgt spid="30746"/>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30758"/>
                                        </p:tgtEl>
                                        <p:attrNameLst>
                                          <p:attrName>style.visibility</p:attrName>
                                        </p:attrNameLst>
                                      </p:cBhvr>
                                      <p:to>
                                        <p:strVal val="visible"/>
                                      </p:to>
                                    </p:set>
                                    <p:animEffect transition="in" filter="blinds(horizontal)">
                                      <p:cBhvr>
                                        <p:cTn id="53" dur="500"/>
                                        <p:tgtEl>
                                          <p:spTgt spid="3075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0759"/>
                                        </p:tgtEl>
                                        <p:attrNameLst>
                                          <p:attrName>style.visibility</p:attrName>
                                        </p:attrNameLst>
                                      </p:cBhvr>
                                      <p:to>
                                        <p:strVal val="visible"/>
                                      </p:to>
                                    </p:set>
                                    <p:animEffect transition="in" filter="blinds(horizontal)">
                                      <p:cBhvr>
                                        <p:cTn id="58" dur="500"/>
                                        <p:tgtEl>
                                          <p:spTgt spid="30759"/>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0727"/>
                                        </p:tgtEl>
                                        <p:attrNameLst>
                                          <p:attrName>style.visibility</p:attrName>
                                        </p:attrNameLst>
                                      </p:cBhvr>
                                      <p:to>
                                        <p:strVal val="visible"/>
                                      </p:to>
                                    </p:set>
                                    <p:animEffect transition="in" filter="blinds(horizontal)">
                                      <p:cBhvr>
                                        <p:cTn id="61" dur="500"/>
                                        <p:tgtEl>
                                          <p:spTgt spid="3072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30741"/>
                                        </p:tgtEl>
                                        <p:attrNameLst>
                                          <p:attrName>style.visibility</p:attrName>
                                        </p:attrNameLst>
                                      </p:cBhvr>
                                      <p:to>
                                        <p:strVal val="visible"/>
                                      </p:to>
                                    </p:set>
                                    <p:animEffect transition="in" filter="blinds(horizontal)">
                                      <p:cBhvr>
                                        <p:cTn id="64" dur="500"/>
                                        <p:tgtEl>
                                          <p:spTgt spid="30741"/>
                                        </p:tgtEl>
                                      </p:cBhvr>
                                    </p:animEffect>
                                  </p:childTnLst>
                                </p:cTn>
                              </p:par>
                              <p:par>
                                <p:cTn id="65" presetID="3" presetClass="entr" presetSubtype="10" fill="hold" nodeType="with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blinds(horizontal)">
                                      <p:cBhvr>
                                        <p:cTn id="67" dur="500"/>
                                        <p:tgtEl>
                                          <p:spTgt spid="6"/>
                                        </p:tgtEl>
                                      </p:cBhvr>
                                    </p:animEffect>
                                  </p:childTnLst>
                                </p:cTn>
                              </p:par>
                              <p:par>
                                <p:cTn id="68" presetID="3" presetClass="entr" presetSubtype="10" fill="hold" nodeType="with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blinds(horizontal)">
                                      <p:cBhvr>
                                        <p:cTn id="7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animBg="1"/>
      <p:bldP spid="30728" grpId="0" animBg="1"/>
      <p:bldP spid="30729" grpId="0" animBg="1"/>
      <p:bldP spid="30730" grpId="0" animBg="1"/>
      <p:bldP spid="30731" grpId="0" animBg="1"/>
      <p:bldP spid="30741" grpId="0" animBg="1"/>
      <p:bldP spid="30745" grpId="0" animBg="1"/>
      <p:bldP spid="30746" grpId="0" animBg="1"/>
      <p:bldP spid="30756" grpId="0"/>
      <p:bldP spid="30757" grpId="0"/>
      <p:bldP spid="30758" grpId="0"/>
      <p:bldP spid="3075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92" name="Text Box 24"/>
          <p:cNvSpPr txBox="1">
            <a:spLocks noChangeArrowheads="1"/>
          </p:cNvSpPr>
          <p:nvPr/>
        </p:nvSpPr>
        <p:spPr bwMode="auto">
          <a:xfrm>
            <a:off x="838200" y="4876800"/>
            <a:ext cx="8229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dirty="0">
                <a:solidFill>
                  <a:schemeClr val="tx2"/>
                </a:solidFill>
                <a:latin typeface="+mn-lt"/>
                <a:ea typeface="Times New Roman" charset="0"/>
                <a:cs typeface="Times New Roman" charset="0"/>
              </a:rPr>
              <a:t>●</a:t>
            </a:r>
            <a:r>
              <a:rPr lang="en-US" altLang="en-US" sz="1700" dirty="0">
                <a:solidFill>
                  <a:schemeClr val="tx2"/>
                </a:solidFill>
                <a:latin typeface="+mn-lt"/>
                <a:ea typeface="Times New Roman" charset="0"/>
                <a:cs typeface="Times New Roman" charset="0"/>
              </a:rPr>
              <a:t> </a:t>
            </a:r>
            <a:r>
              <a:rPr lang="en-US" altLang="en-US" sz="2800" dirty="0">
                <a:solidFill>
                  <a:schemeClr val="tx2"/>
                </a:solidFill>
                <a:latin typeface="+mn-lt"/>
                <a:ea typeface="Times New Roman" charset="0"/>
                <a:cs typeface="Times New Roman" charset="0"/>
              </a:rPr>
              <a:t>Download sub-pieces          </a:t>
            </a:r>
            <a:r>
              <a:rPr lang="en-US" altLang="en-US" sz="2800" i="1" dirty="0">
                <a:solidFill>
                  <a:schemeClr val="tx2"/>
                </a:solidFill>
                <a:latin typeface="+mn-lt"/>
                <a:ea typeface="Times New Roman" charset="0"/>
                <a:cs typeface="Times New Roman" charset="0"/>
              </a:rPr>
              <a:t>in parallel</a:t>
            </a:r>
            <a:endParaRPr lang="en-US" altLang="en-US" sz="2800" dirty="0">
              <a:solidFill>
                <a:schemeClr val="tx2"/>
              </a:solidFill>
              <a:latin typeface="+mn-lt"/>
            </a:endParaRPr>
          </a:p>
        </p:txBody>
      </p:sp>
      <p:sp>
        <p:nvSpPr>
          <p:cNvPr id="32770" name="Text Box 2"/>
          <p:cNvSpPr txBox="1">
            <a:spLocks noChangeArrowheads="1"/>
          </p:cNvSpPr>
          <p:nvPr/>
        </p:nvSpPr>
        <p:spPr bwMode="auto">
          <a:xfrm>
            <a:off x="8610600" y="2359025"/>
            <a:ext cx="457200" cy="384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 </a:t>
            </a:r>
          </a:p>
        </p:txBody>
      </p:sp>
      <p:sp>
        <p:nvSpPr>
          <p:cNvPr id="88068" name="Rectangle 3"/>
          <p:cNvSpPr>
            <a:spLocks noGrp="1" noChangeArrowheads="1"/>
          </p:cNvSpPr>
          <p:nvPr>
            <p:ph type="title"/>
          </p:nvPr>
        </p:nvSpPr>
        <p:spPr>
          <a:xfrm>
            <a:off x="675481" y="222515"/>
            <a:ext cx="7793037" cy="1462087"/>
          </a:xfrm>
        </p:spPr>
        <p:txBody>
          <a:bodyPr/>
          <a:lstStyle/>
          <a:p>
            <a:pPr eaLnBrk="1" hangingPunct="1"/>
            <a:r>
              <a:rPr lang="en-US" altLang="en-US" dirty="0" err="1"/>
              <a:t>BitTorrent</a:t>
            </a:r>
            <a:r>
              <a:rPr lang="en-US" altLang="en-US" dirty="0"/>
              <a:t> – exchanging data</a:t>
            </a:r>
          </a:p>
        </p:txBody>
      </p:sp>
      <p:sp>
        <p:nvSpPr>
          <p:cNvPr id="32772" name="Text Box 4"/>
          <p:cNvSpPr txBox="1">
            <a:spLocks noChangeArrowheads="1"/>
          </p:cNvSpPr>
          <p:nvPr/>
        </p:nvSpPr>
        <p:spPr bwMode="auto">
          <a:xfrm>
            <a:off x="7543800" y="2359025"/>
            <a:ext cx="838200" cy="384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I have </a:t>
            </a:r>
          </a:p>
        </p:txBody>
      </p:sp>
      <p:grpSp>
        <p:nvGrpSpPr>
          <p:cNvPr id="2" name="Group 5"/>
          <p:cNvGrpSpPr>
            <a:grpSpLocks/>
          </p:cNvGrpSpPr>
          <p:nvPr/>
        </p:nvGrpSpPr>
        <p:grpSpPr bwMode="auto">
          <a:xfrm>
            <a:off x="7086600" y="2286000"/>
            <a:ext cx="458788" cy="457200"/>
            <a:chOff x="4320" y="1379"/>
            <a:chExt cx="289" cy="288"/>
          </a:xfrm>
        </p:grpSpPr>
        <p:sp>
          <p:nvSpPr>
            <p:cNvPr id="88109" name="Line 6"/>
            <p:cNvSpPr>
              <a:spLocks noChangeShapeType="1"/>
            </p:cNvSpPr>
            <p:nvPr/>
          </p:nvSpPr>
          <p:spPr bwMode="auto">
            <a:xfrm flipV="1">
              <a:off x="4320" y="1379"/>
              <a:ext cx="288" cy="14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8110" name="Line 7"/>
            <p:cNvSpPr>
              <a:spLocks noChangeShapeType="1"/>
            </p:cNvSpPr>
            <p:nvPr/>
          </p:nvSpPr>
          <p:spPr bwMode="auto">
            <a:xfrm>
              <a:off x="4320" y="1523"/>
              <a:ext cx="28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8111" name="Line 8"/>
            <p:cNvSpPr>
              <a:spLocks noChangeShapeType="1"/>
            </p:cNvSpPr>
            <p:nvPr/>
          </p:nvSpPr>
          <p:spPr bwMode="auto">
            <a:xfrm>
              <a:off x="4336" y="1523"/>
              <a:ext cx="272" cy="14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8071" name="Group 9"/>
          <p:cNvGrpSpPr>
            <a:grpSpLocks/>
          </p:cNvGrpSpPr>
          <p:nvPr/>
        </p:nvGrpSpPr>
        <p:grpSpPr bwMode="auto">
          <a:xfrm>
            <a:off x="4876800" y="2151063"/>
            <a:ext cx="2209800" cy="671512"/>
            <a:chOff x="2943" y="1152"/>
            <a:chExt cx="1377" cy="423"/>
          </a:xfrm>
        </p:grpSpPr>
        <p:grpSp>
          <p:nvGrpSpPr>
            <p:cNvPr id="88105" name="Group 10"/>
            <p:cNvGrpSpPr>
              <a:grpSpLocks/>
            </p:cNvGrpSpPr>
            <p:nvPr/>
          </p:nvGrpSpPr>
          <p:grpSpPr bwMode="auto">
            <a:xfrm>
              <a:off x="2943" y="1152"/>
              <a:ext cx="1377" cy="421"/>
              <a:chOff x="2700" y="2340"/>
              <a:chExt cx="1620" cy="720"/>
            </a:xfrm>
          </p:grpSpPr>
          <p:sp>
            <p:nvSpPr>
              <p:cNvPr id="88107" name="AutoShape 11"/>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8108" name="Text Box 12"/>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A</a:t>
                </a:r>
              </a:p>
            </p:txBody>
          </p:sp>
        </p:grpSp>
        <p:pic>
          <p:nvPicPr>
            <p:cNvPr id="88106" name="Picture 13" descr="le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 y="1283"/>
              <a:ext cx="27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82" name="Rectangle 14"/>
          <p:cNvSpPr>
            <a:spLocks noChangeArrowheads="1"/>
          </p:cNvSpPr>
          <p:nvPr/>
        </p:nvSpPr>
        <p:spPr bwMode="auto">
          <a:xfrm>
            <a:off x="8305800" y="2286000"/>
            <a:ext cx="457200" cy="381000"/>
          </a:xfrm>
          <a:prstGeom prst="rect">
            <a:avLst/>
          </a:prstGeom>
          <a:solidFill>
            <a:srgbClr val="00008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8073" name="Rectangle 15"/>
          <p:cNvSpPr>
            <a:spLocks noChangeArrowheads="1"/>
          </p:cNvSpPr>
          <p:nvPr/>
        </p:nvSpPr>
        <p:spPr bwMode="auto">
          <a:xfrm>
            <a:off x="6477000" y="1676400"/>
            <a:ext cx="457200" cy="381000"/>
          </a:xfrm>
          <a:prstGeom prst="rect">
            <a:avLst/>
          </a:prstGeom>
          <a:solidFill>
            <a:srgbClr val="00008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4" name="Rectangle 16"/>
          <p:cNvSpPr>
            <a:spLocks noChangeArrowheads="1"/>
          </p:cNvSpPr>
          <p:nvPr/>
        </p:nvSpPr>
        <p:spPr bwMode="auto">
          <a:xfrm>
            <a:off x="5029200" y="16764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5" name="Rectangle 17"/>
          <p:cNvSpPr>
            <a:spLocks noChangeArrowheads="1"/>
          </p:cNvSpPr>
          <p:nvPr/>
        </p:nvSpPr>
        <p:spPr bwMode="auto">
          <a:xfrm>
            <a:off x="5257800" y="16764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6" name="Rectangle 18"/>
          <p:cNvSpPr>
            <a:spLocks noChangeArrowheads="1"/>
          </p:cNvSpPr>
          <p:nvPr/>
        </p:nvSpPr>
        <p:spPr bwMode="auto">
          <a:xfrm>
            <a:off x="5486400" y="16764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7" name="Rectangle 19"/>
          <p:cNvSpPr>
            <a:spLocks noChangeArrowheads="1"/>
          </p:cNvSpPr>
          <p:nvPr/>
        </p:nvSpPr>
        <p:spPr bwMode="auto">
          <a:xfrm>
            <a:off x="5715000" y="16764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8" name="AutoShape 20"/>
          <p:cNvSpPr>
            <a:spLocks noChangeArrowheads="1"/>
          </p:cNvSpPr>
          <p:nvPr/>
        </p:nvSpPr>
        <p:spPr bwMode="auto">
          <a:xfrm>
            <a:off x="5943600" y="1752600"/>
            <a:ext cx="381000" cy="228600"/>
          </a:xfrm>
          <a:prstGeom prst="rightArrow">
            <a:avLst>
              <a:gd name="adj1" fmla="val 50000"/>
              <a:gd name="adj2" fmla="val 4166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89" name="Rectangle 21"/>
          <p:cNvSpPr>
            <a:spLocks noChangeArrowheads="1"/>
          </p:cNvSpPr>
          <p:nvPr/>
        </p:nvSpPr>
        <p:spPr bwMode="auto">
          <a:xfrm>
            <a:off x="3276600" y="4344988"/>
            <a:ext cx="457200" cy="381000"/>
          </a:xfrm>
          <a:prstGeom prst="rect">
            <a:avLst/>
          </a:prstGeom>
          <a:solidFill>
            <a:srgbClr val="00008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90" name="Rectangle 22"/>
          <p:cNvSpPr>
            <a:spLocks noChangeArrowheads="1"/>
          </p:cNvSpPr>
          <p:nvPr/>
        </p:nvSpPr>
        <p:spPr bwMode="auto">
          <a:xfrm>
            <a:off x="4724400" y="48768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791" name="Text Box 23"/>
          <p:cNvSpPr txBox="1">
            <a:spLocks noChangeArrowheads="1"/>
          </p:cNvSpPr>
          <p:nvPr/>
        </p:nvSpPr>
        <p:spPr bwMode="auto">
          <a:xfrm>
            <a:off x="838200" y="4344988"/>
            <a:ext cx="8229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dirty="0">
                <a:solidFill>
                  <a:schemeClr val="tx2"/>
                </a:solidFill>
                <a:latin typeface="+mn-lt"/>
                <a:ea typeface="Times New Roman" charset="0"/>
                <a:cs typeface="Times New Roman" charset="0"/>
              </a:rPr>
              <a:t>●</a:t>
            </a:r>
            <a:r>
              <a:rPr lang="en-US" altLang="en-US" sz="1700" dirty="0">
                <a:solidFill>
                  <a:schemeClr val="tx2"/>
                </a:solidFill>
                <a:latin typeface="+mn-lt"/>
                <a:ea typeface="Times New Roman" charset="0"/>
                <a:cs typeface="Times New Roman" charset="0"/>
              </a:rPr>
              <a:t> </a:t>
            </a:r>
            <a:r>
              <a:rPr lang="en-US" altLang="en-US" sz="2800" dirty="0">
                <a:solidFill>
                  <a:schemeClr val="tx2"/>
                </a:solidFill>
                <a:latin typeface="+mn-lt"/>
              </a:rPr>
              <a:t>Verify </a:t>
            </a:r>
            <a:r>
              <a:rPr lang="en-US" altLang="en-US" sz="2800" i="1" dirty="0">
                <a:solidFill>
                  <a:schemeClr val="tx2"/>
                </a:solidFill>
                <a:latin typeface="+mn-lt"/>
              </a:rPr>
              <a:t>pieces</a:t>
            </a:r>
            <a:r>
              <a:rPr lang="en-US" altLang="en-US" sz="2800" dirty="0">
                <a:solidFill>
                  <a:schemeClr val="tx2"/>
                </a:solidFill>
                <a:latin typeface="+mn-lt"/>
              </a:rPr>
              <a:t>             using hashes</a:t>
            </a:r>
          </a:p>
        </p:txBody>
      </p:sp>
      <p:sp>
        <p:nvSpPr>
          <p:cNvPr id="32793" name="Text Box 25"/>
          <p:cNvSpPr txBox="1">
            <a:spLocks noChangeArrowheads="1"/>
          </p:cNvSpPr>
          <p:nvPr/>
        </p:nvSpPr>
        <p:spPr bwMode="auto">
          <a:xfrm>
            <a:off x="838200" y="5410200"/>
            <a:ext cx="8229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a:solidFill>
                  <a:schemeClr val="tx2"/>
                </a:solidFill>
                <a:latin typeface="+mn-lt"/>
                <a:ea typeface="Times New Roman" charset="0"/>
                <a:cs typeface="Times New Roman" charset="0"/>
              </a:rPr>
              <a:t>● </a:t>
            </a:r>
            <a:r>
              <a:rPr lang="en-US" altLang="en-US" sz="2800" i="1">
                <a:solidFill>
                  <a:schemeClr val="tx2"/>
                </a:solidFill>
                <a:latin typeface="+mn-lt"/>
                <a:ea typeface="Times New Roman" charset="0"/>
                <a:cs typeface="Times New Roman" charset="0"/>
              </a:rPr>
              <a:t>Advertise</a:t>
            </a:r>
            <a:r>
              <a:rPr lang="en-US" altLang="en-US" sz="2800">
                <a:solidFill>
                  <a:schemeClr val="tx2"/>
                </a:solidFill>
                <a:latin typeface="+mn-lt"/>
                <a:ea typeface="Times New Roman" charset="0"/>
                <a:cs typeface="Times New Roman" charset="0"/>
              </a:rPr>
              <a:t> received pieces to the entire peer list</a:t>
            </a:r>
            <a:endParaRPr lang="en-US" altLang="en-US" sz="2800">
              <a:solidFill>
                <a:schemeClr val="tx2"/>
              </a:solidFill>
              <a:latin typeface="+mn-lt"/>
            </a:endParaRPr>
          </a:p>
        </p:txBody>
      </p:sp>
      <p:sp>
        <p:nvSpPr>
          <p:cNvPr id="32794" name="Text Box 26"/>
          <p:cNvSpPr txBox="1">
            <a:spLocks noChangeArrowheads="1"/>
          </p:cNvSpPr>
          <p:nvPr/>
        </p:nvSpPr>
        <p:spPr bwMode="auto">
          <a:xfrm>
            <a:off x="838200" y="5943600"/>
            <a:ext cx="82296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a:solidFill>
                  <a:schemeClr val="tx2"/>
                </a:solidFill>
                <a:latin typeface="+mn-lt"/>
                <a:ea typeface="Times New Roman" charset="0"/>
                <a:cs typeface="Times New Roman" charset="0"/>
              </a:rPr>
              <a:t>● Look for the </a:t>
            </a:r>
            <a:r>
              <a:rPr lang="en-US" altLang="en-US" sz="2800" i="1">
                <a:solidFill>
                  <a:schemeClr val="tx2"/>
                </a:solidFill>
                <a:latin typeface="+mn-lt"/>
                <a:ea typeface="Times New Roman" charset="0"/>
                <a:cs typeface="Times New Roman" charset="0"/>
              </a:rPr>
              <a:t>rarest</a:t>
            </a:r>
            <a:r>
              <a:rPr lang="en-US" altLang="en-US" sz="2800">
                <a:solidFill>
                  <a:schemeClr val="tx2"/>
                </a:solidFill>
                <a:latin typeface="+mn-lt"/>
                <a:ea typeface="Times New Roman" charset="0"/>
                <a:cs typeface="Times New Roman" charset="0"/>
              </a:rPr>
              <a:t> pieces</a:t>
            </a:r>
            <a:endParaRPr lang="en-US" altLang="en-US" sz="2800">
              <a:solidFill>
                <a:schemeClr val="tx2"/>
              </a:solidFill>
              <a:latin typeface="+mn-lt"/>
            </a:endParaRPr>
          </a:p>
        </p:txBody>
      </p:sp>
      <p:grpSp>
        <p:nvGrpSpPr>
          <p:cNvPr id="5" name="Group 27"/>
          <p:cNvGrpSpPr>
            <a:grpSpLocks/>
          </p:cNvGrpSpPr>
          <p:nvPr/>
        </p:nvGrpSpPr>
        <p:grpSpPr bwMode="auto">
          <a:xfrm>
            <a:off x="1852613" y="2895600"/>
            <a:ext cx="1804987" cy="668338"/>
            <a:chOff x="3744" y="1968"/>
            <a:chExt cx="1377" cy="421"/>
          </a:xfrm>
        </p:grpSpPr>
        <p:grpSp>
          <p:nvGrpSpPr>
            <p:cNvPr id="88101" name="Group 28"/>
            <p:cNvGrpSpPr>
              <a:grpSpLocks/>
            </p:cNvGrpSpPr>
            <p:nvPr/>
          </p:nvGrpSpPr>
          <p:grpSpPr bwMode="auto">
            <a:xfrm>
              <a:off x="3744" y="1968"/>
              <a:ext cx="1377" cy="421"/>
              <a:chOff x="2700" y="2340"/>
              <a:chExt cx="1620" cy="720"/>
            </a:xfrm>
          </p:grpSpPr>
          <p:sp>
            <p:nvSpPr>
              <p:cNvPr id="88103" name="AutoShape 29"/>
              <p:cNvSpPr>
                <a:spLocks noChangeArrowheads="1"/>
              </p:cNvSpPr>
              <p:nvPr/>
            </p:nvSpPr>
            <p:spPr bwMode="auto">
              <a:xfrm>
                <a:off x="2700" y="2340"/>
                <a:ext cx="1620" cy="720"/>
              </a:xfrm>
              <a:prstGeom prst="flowChartProcess">
                <a:avLst/>
              </a:prstGeom>
              <a:solidFill>
                <a:srgbClr val="FF9900"/>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8104" name="Text Box 30"/>
              <p:cNvSpPr txBox="1">
                <a:spLocks noChangeArrowheads="1"/>
              </p:cNvSpPr>
              <p:nvPr/>
            </p:nvSpPr>
            <p:spPr bwMode="auto">
              <a:xfrm>
                <a:off x="2880" y="2520"/>
                <a:ext cx="1260" cy="36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seed</a:t>
                </a:r>
              </a:p>
            </p:txBody>
          </p:sp>
        </p:grpSp>
        <p:pic>
          <p:nvPicPr>
            <p:cNvPr id="88102" name="Picture 31" descr="se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 y="2016"/>
              <a:ext cx="432" cy="32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7" name="Group 37"/>
          <p:cNvGrpSpPr>
            <a:grpSpLocks/>
          </p:cNvGrpSpPr>
          <p:nvPr/>
        </p:nvGrpSpPr>
        <p:grpSpPr bwMode="auto">
          <a:xfrm>
            <a:off x="4876800" y="3522663"/>
            <a:ext cx="2209800" cy="668337"/>
            <a:chOff x="2943" y="1152"/>
            <a:chExt cx="1377" cy="421"/>
          </a:xfrm>
        </p:grpSpPr>
        <p:grpSp>
          <p:nvGrpSpPr>
            <p:cNvPr id="88097" name="Group 38"/>
            <p:cNvGrpSpPr>
              <a:grpSpLocks/>
            </p:cNvGrpSpPr>
            <p:nvPr/>
          </p:nvGrpSpPr>
          <p:grpSpPr bwMode="auto">
            <a:xfrm>
              <a:off x="2943" y="1152"/>
              <a:ext cx="1377" cy="421"/>
              <a:chOff x="2700" y="2340"/>
              <a:chExt cx="1620" cy="720"/>
            </a:xfrm>
          </p:grpSpPr>
          <p:sp>
            <p:nvSpPr>
              <p:cNvPr id="88099" name="AutoShape 39"/>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8100" name="Text Box 40"/>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C</a:t>
                </a:r>
              </a:p>
            </p:txBody>
          </p:sp>
        </p:grpSp>
        <p:pic>
          <p:nvPicPr>
            <p:cNvPr id="88098" name="Picture 41" descr="le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 y="1260"/>
              <a:ext cx="27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810" name="Line 42"/>
          <p:cNvSpPr>
            <a:spLocks noChangeShapeType="1"/>
          </p:cNvSpPr>
          <p:nvPr/>
        </p:nvSpPr>
        <p:spPr bwMode="auto">
          <a:xfrm>
            <a:off x="3657600" y="2362200"/>
            <a:ext cx="1219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2811" name="Rectangle 43"/>
          <p:cNvSpPr>
            <a:spLocks noChangeArrowheads="1"/>
          </p:cNvSpPr>
          <p:nvPr/>
        </p:nvSpPr>
        <p:spPr bwMode="auto">
          <a:xfrm>
            <a:off x="4191000" y="19050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812" name="Line 44"/>
          <p:cNvSpPr>
            <a:spLocks noChangeShapeType="1"/>
          </p:cNvSpPr>
          <p:nvPr/>
        </p:nvSpPr>
        <p:spPr bwMode="auto">
          <a:xfrm flipV="1">
            <a:off x="3657600" y="2667000"/>
            <a:ext cx="121920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2813" name="Rectangle 45"/>
          <p:cNvSpPr>
            <a:spLocks noChangeArrowheads="1"/>
          </p:cNvSpPr>
          <p:nvPr/>
        </p:nvSpPr>
        <p:spPr bwMode="auto">
          <a:xfrm>
            <a:off x="3886200" y="26670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2814" name="Line 46"/>
          <p:cNvSpPr>
            <a:spLocks noChangeShapeType="1"/>
          </p:cNvSpPr>
          <p:nvPr/>
        </p:nvSpPr>
        <p:spPr bwMode="auto">
          <a:xfrm flipV="1">
            <a:off x="6477000" y="2819400"/>
            <a:ext cx="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2815" name="Rectangle 47"/>
          <p:cNvSpPr>
            <a:spLocks noChangeArrowheads="1"/>
          </p:cNvSpPr>
          <p:nvPr/>
        </p:nvSpPr>
        <p:spPr bwMode="auto">
          <a:xfrm>
            <a:off x="6629400" y="29718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grpSp>
        <p:nvGrpSpPr>
          <p:cNvPr id="9" name="Group 32"/>
          <p:cNvGrpSpPr>
            <a:grpSpLocks/>
          </p:cNvGrpSpPr>
          <p:nvPr/>
        </p:nvGrpSpPr>
        <p:grpSpPr bwMode="auto">
          <a:xfrm>
            <a:off x="1371600" y="2074864"/>
            <a:ext cx="2286000" cy="668338"/>
            <a:chOff x="2943" y="1152"/>
            <a:chExt cx="1377" cy="421"/>
          </a:xfrm>
        </p:grpSpPr>
        <p:grpSp>
          <p:nvGrpSpPr>
            <p:cNvPr id="88093" name="Group 33"/>
            <p:cNvGrpSpPr>
              <a:grpSpLocks/>
            </p:cNvGrpSpPr>
            <p:nvPr/>
          </p:nvGrpSpPr>
          <p:grpSpPr bwMode="auto">
            <a:xfrm>
              <a:off x="2943" y="1152"/>
              <a:ext cx="1377" cy="421"/>
              <a:chOff x="2700" y="2340"/>
              <a:chExt cx="1620" cy="720"/>
            </a:xfrm>
          </p:grpSpPr>
          <p:sp>
            <p:nvSpPr>
              <p:cNvPr id="88095" name="AutoShape 34"/>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88096" name="Text Box 35"/>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B</a:t>
                </a:r>
              </a:p>
            </p:txBody>
          </p:sp>
        </p:grpSp>
        <p:pic>
          <p:nvPicPr>
            <p:cNvPr id="88094" name="Picture 36" descr="leec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2" y="1267"/>
              <a:ext cx="27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5968986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91"/>
                                        </p:tgtEl>
                                        <p:attrNameLst>
                                          <p:attrName>style.visibility</p:attrName>
                                        </p:attrNameLst>
                                      </p:cBhvr>
                                      <p:to>
                                        <p:strVal val="visible"/>
                                      </p:to>
                                    </p:set>
                                    <p:animEffect transition="in" filter="blinds(horizontal)">
                                      <p:cBhvr>
                                        <p:cTn id="7" dur="500"/>
                                        <p:tgtEl>
                                          <p:spTgt spid="3279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2789"/>
                                        </p:tgtEl>
                                        <p:attrNameLst>
                                          <p:attrName>style.visibility</p:attrName>
                                        </p:attrNameLst>
                                      </p:cBhvr>
                                      <p:to>
                                        <p:strVal val="visible"/>
                                      </p:to>
                                    </p:set>
                                    <p:animEffect transition="in" filter="blinds(horizontal)">
                                      <p:cBhvr>
                                        <p:cTn id="10" dur="500"/>
                                        <p:tgtEl>
                                          <p:spTgt spid="327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2792"/>
                                        </p:tgtEl>
                                        <p:attrNameLst>
                                          <p:attrName>style.visibility</p:attrName>
                                        </p:attrNameLst>
                                      </p:cBhvr>
                                      <p:to>
                                        <p:strVal val="visible"/>
                                      </p:to>
                                    </p:set>
                                    <p:animEffect transition="in" filter="blinds(horizontal)">
                                      <p:cBhvr>
                                        <p:cTn id="15" dur="500"/>
                                        <p:tgtEl>
                                          <p:spTgt spid="3279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2790"/>
                                        </p:tgtEl>
                                        <p:attrNameLst>
                                          <p:attrName>style.visibility</p:attrName>
                                        </p:attrNameLst>
                                      </p:cBhvr>
                                      <p:to>
                                        <p:strVal val="visible"/>
                                      </p:to>
                                    </p:set>
                                    <p:animEffect transition="in" filter="blinds(horizontal)">
                                      <p:cBhvr>
                                        <p:cTn id="18" dur="500"/>
                                        <p:tgtEl>
                                          <p:spTgt spid="3279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2784"/>
                                        </p:tgtEl>
                                        <p:attrNameLst>
                                          <p:attrName>style.visibility</p:attrName>
                                        </p:attrNameLst>
                                      </p:cBhvr>
                                      <p:to>
                                        <p:strVal val="visible"/>
                                      </p:to>
                                    </p:set>
                                    <p:animEffect transition="in" filter="blinds(horizontal)">
                                      <p:cBhvr>
                                        <p:cTn id="21" dur="500"/>
                                        <p:tgtEl>
                                          <p:spTgt spid="32784"/>
                                        </p:tgtEl>
                                      </p:cBhvr>
                                    </p:animEffect>
                                  </p:childTnLst>
                                  <p:subTnLst>
                                    <p:set>
                                      <p:cBhvr override="childStyle">
                                        <p:cTn dur="1" fill="hold" display="0" masterRel="nextClick" afterEffect="1"/>
                                        <p:tgtEl>
                                          <p:spTgt spid="32784"/>
                                        </p:tgtEl>
                                        <p:attrNameLst>
                                          <p:attrName>style.visibility</p:attrName>
                                        </p:attrNameLst>
                                      </p:cBhvr>
                                      <p:to>
                                        <p:strVal val="hidden"/>
                                      </p:to>
                                    </p:set>
                                  </p:subTnLst>
                                </p:cTn>
                              </p:par>
                              <p:par>
                                <p:cTn id="22" presetID="3" presetClass="entr" presetSubtype="10" fill="hold" grpId="0" nodeType="withEffect">
                                  <p:stCondLst>
                                    <p:cond delay="0"/>
                                  </p:stCondLst>
                                  <p:childTnLst>
                                    <p:set>
                                      <p:cBhvr>
                                        <p:cTn id="23" dur="1" fill="hold">
                                          <p:stCondLst>
                                            <p:cond delay="0"/>
                                          </p:stCondLst>
                                        </p:cTn>
                                        <p:tgtEl>
                                          <p:spTgt spid="32785"/>
                                        </p:tgtEl>
                                        <p:attrNameLst>
                                          <p:attrName>style.visibility</p:attrName>
                                        </p:attrNameLst>
                                      </p:cBhvr>
                                      <p:to>
                                        <p:strVal val="visible"/>
                                      </p:to>
                                    </p:set>
                                    <p:animEffect transition="in" filter="blinds(horizontal)">
                                      <p:cBhvr>
                                        <p:cTn id="24" dur="500"/>
                                        <p:tgtEl>
                                          <p:spTgt spid="32785"/>
                                        </p:tgtEl>
                                      </p:cBhvr>
                                    </p:animEffect>
                                  </p:childTnLst>
                                  <p:subTnLst>
                                    <p:set>
                                      <p:cBhvr override="childStyle">
                                        <p:cTn dur="1" fill="hold" display="0" masterRel="nextClick" afterEffect="1"/>
                                        <p:tgtEl>
                                          <p:spTgt spid="32785"/>
                                        </p:tgtEl>
                                        <p:attrNameLst>
                                          <p:attrName>style.visibility</p:attrName>
                                        </p:attrNameLst>
                                      </p:cBhvr>
                                      <p:to>
                                        <p:strVal val="hidden"/>
                                      </p:to>
                                    </p:set>
                                  </p:subTnLst>
                                </p:cTn>
                              </p:par>
                              <p:par>
                                <p:cTn id="25" presetID="3" presetClass="entr" presetSubtype="10" fill="hold" grpId="0" nodeType="withEffect">
                                  <p:stCondLst>
                                    <p:cond delay="0"/>
                                  </p:stCondLst>
                                  <p:childTnLst>
                                    <p:set>
                                      <p:cBhvr>
                                        <p:cTn id="26" dur="1" fill="hold">
                                          <p:stCondLst>
                                            <p:cond delay="0"/>
                                          </p:stCondLst>
                                        </p:cTn>
                                        <p:tgtEl>
                                          <p:spTgt spid="32786"/>
                                        </p:tgtEl>
                                        <p:attrNameLst>
                                          <p:attrName>style.visibility</p:attrName>
                                        </p:attrNameLst>
                                      </p:cBhvr>
                                      <p:to>
                                        <p:strVal val="visible"/>
                                      </p:to>
                                    </p:set>
                                    <p:animEffect transition="in" filter="blinds(horizontal)">
                                      <p:cBhvr>
                                        <p:cTn id="27" dur="500"/>
                                        <p:tgtEl>
                                          <p:spTgt spid="32786"/>
                                        </p:tgtEl>
                                      </p:cBhvr>
                                    </p:animEffect>
                                  </p:childTnLst>
                                  <p:subTnLst>
                                    <p:set>
                                      <p:cBhvr override="childStyle">
                                        <p:cTn dur="1" fill="hold" display="0" masterRel="nextClick" afterEffect="1"/>
                                        <p:tgtEl>
                                          <p:spTgt spid="32786"/>
                                        </p:tgtEl>
                                        <p:attrNameLst>
                                          <p:attrName>style.visibility</p:attrName>
                                        </p:attrNameLst>
                                      </p:cBhvr>
                                      <p:to>
                                        <p:strVal val="hidden"/>
                                      </p:to>
                                    </p:set>
                                  </p:subTnLst>
                                </p:cTn>
                              </p:par>
                              <p:par>
                                <p:cTn id="28" presetID="3" presetClass="entr" presetSubtype="10" fill="hold" grpId="0" nodeType="withEffect">
                                  <p:stCondLst>
                                    <p:cond delay="0"/>
                                  </p:stCondLst>
                                  <p:childTnLst>
                                    <p:set>
                                      <p:cBhvr>
                                        <p:cTn id="29" dur="1" fill="hold">
                                          <p:stCondLst>
                                            <p:cond delay="0"/>
                                          </p:stCondLst>
                                        </p:cTn>
                                        <p:tgtEl>
                                          <p:spTgt spid="32787"/>
                                        </p:tgtEl>
                                        <p:attrNameLst>
                                          <p:attrName>style.visibility</p:attrName>
                                        </p:attrNameLst>
                                      </p:cBhvr>
                                      <p:to>
                                        <p:strVal val="visible"/>
                                      </p:to>
                                    </p:set>
                                    <p:animEffect transition="in" filter="blinds(horizontal)">
                                      <p:cBhvr>
                                        <p:cTn id="30" dur="500"/>
                                        <p:tgtEl>
                                          <p:spTgt spid="32787"/>
                                        </p:tgtEl>
                                      </p:cBhvr>
                                    </p:animEffect>
                                  </p:childTnLst>
                                  <p:subTnLst>
                                    <p:set>
                                      <p:cBhvr override="childStyle">
                                        <p:cTn dur="1" fill="hold" display="0" masterRel="nextClick" afterEffect="1"/>
                                        <p:tgtEl>
                                          <p:spTgt spid="32787"/>
                                        </p:tgtEl>
                                        <p:attrNameLst>
                                          <p:attrName>style.visibility</p:attrName>
                                        </p:attrNameLst>
                                      </p:cBhvr>
                                      <p:to>
                                        <p:strVal val="hidden"/>
                                      </p:to>
                                    </p:set>
                                  </p:subTnLst>
                                </p:cTn>
                              </p:par>
                              <p:par>
                                <p:cTn id="31" presetID="3" presetClass="entr" presetSubtype="10" fill="hold" grpId="0" nodeType="withEffect">
                                  <p:stCondLst>
                                    <p:cond delay="0"/>
                                  </p:stCondLst>
                                  <p:childTnLst>
                                    <p:set>
                                      <p:cBhvr>
                                        <p:cTn id="32" dur="1" fill="hold">
                                          <p:stCondLst>
                                            <p:cond delay="0"/>
                                          </p:stCondLst>
                                        </p:cTn>
                                        <p:tgtEl>
                                          <p:spTgt spid="32788"/>
                                        </p:tgtEl>
                                        <p:attrNameLst>
                                          <p:attrName>style.visibility</p:attrName>
                                        </p:attrNameLst>
                                      </p:cBhvr>
                                      <p:to>
                                        <p:strVal val="visible"/>
                                      </p:to>
                                    </p:set>
                                    <p:animEffect transition="in" filter="blinds(horizontal)">
                                      <p:cBhvr>
                                        <p:cTn id="33" dur="500"/>
                                        <p:tgtEl>
                                          <p:spTgt spid="32788"/>
                                        </p:tgtEl>
                                      </p:cBhvr>
                                    </p:animEffect>
                                  </p:childTnLst>
                                  <p:subTnLst>
                                    <p:set>
                                      <p:cBhvr override="childStyle">
                                        <p:cTn dur="1" fill="hold" display="0" masterRel="nextClick" afterEffect="1"/>
                                        <p:tgtEl>
                                          <p:spTgt spid="32788"/>
                                        </p:tgtEl>
                                        <p:attrNameLst>
                                          <p:attrName>style.visibility</p:attrName>
                                        </p:attrNameLst>
                                      </p:cBhvr>
                                      <p:to>
                                        <p:strVal val="hidden"/>
                                      </p:to>
                                    </p:set>
                                  </p:subTnLst>
                                </p:cTn>
                              </p:par>
                              <p:par>
                                <p:cTn id="34" presetID="3" presetClass="entr" presetSubtype="10" fill="hold" grpId="0" nodeType="withEffect">
                                  <p:stCondLst>
                                    <p:cond delay="0"/>
                                  </p:stCondLst>
                                  <p:childTnLst>
                                    <p:set>
                                      <p:cBhvr>
                                        <p:cTn id="35" dur="1" fill="hold">
                                          <p:stCondLst>
                                            <p:cond delay="0"/>
                                          </p:stCondLst>
                                        </p:cTn>
                                        <p:tgtEl>
                                          <p:spTgt spid="32814"/>
                                        </p:tgtEl>
                                        <p:attrNameLst>
                                          <p:attrName>style.visibility</p:attrName>
                                        </p:attrNameLst>
                                      </p:cBhvr>
                                      <p:to>
                                        <p:strVal val="visible"/>
                                      </p:to>
                                    </p:set>
                                    <p:animEffect transition="in" filter="blinds(horizontal)">
                                      <p:cBhvr>
                                        <p:cTn id="36" dur="500"/>
                                        <p:tgtEl>
                                          <p:spTgt spid="3281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2815"/>
                                        </p:tgtEl>
                                        <p:attrNameLst>
                                          <p:attrName>style.visibility</p:attrName>
                                        </p:attrNameLst>
                                      </p:cBhvr>
                                      <p:to>
                                        <p:strVal val="visible"/>
                                      </p:to>
                                    </p:set>
                                    <p:animEffect transition="in" filter="blinds(horizontal)">
                                      <p:cBhvr>
                                        <p:cTn id="39" dur="500"/>
                                        <p:tgtEl>
                                          <p:spTgt spid="32815"/>
                                        </p:tgtEl>
                                      </p:cBhvr>
                                    </p:animEffect>
                                  </p:childTnLst>
                                  <p:subTnLst>
                                    <p:set>
                                      <p:cBhvr override="childStyle">
                                        <p:cTn dur="1" fill="hold" display="0" masterRel="nextClick" afterEffect="1"/>
                                        <p:tgtEl>
                                          <p:spTgt spid="32815"/>
                                        </p:tgtEl>
                                        <p:attrNameLst>
                                          <p:attrName>style.visibility</p:attrName>
                                        </p:attrNameLst>
                                      </p:cBhvr>
                                      <p:to>
                                        <p:strVal val="hidden"/>
                                      </p:to>
                                    </p:set>
                                  </p:subTnLst>
                                </p:cTn>
                              </p:par>
                              <p:par>
                                <p:cTn id="40" presetID="3" presetClass="entr" presetSubtype="10" fill="hold" grpId="0" nodeType="withEffect">
                                  <p:stCondLst>
                                    <p:cond delay="0"/>
                                  </p:stCondLst>
                                  <p:childTnLst>
                                    <p:set>
                                      <p:cBhvr>
                                        <p:cTn id="41" dur="1" fill="hold">
                                          <p:stCondLst>
                                            <p:cond delay="0"/>
                                          </p:stCondLst>
                                        </p:cTn>
                                        <p:tgtEl>
                                          <p:spTgt spid="32813"/>
                                        </p:tgtEl>
                                        <p:attrNameLst>
                                          <p:attrName>style.visibility</p:attrName>
                                        </p:attrNameLst>
                                      </p:cBhvr>
                                      <p:to>
                                        <p:strVal val="visible"/>
                                      </p:to>
                                    </p:set>
                                    <p:animEffect transition="in" filter="blinds(horizontal)">
                                      <p:cBhvr>
                                        <p:cTn id="42" dur="500"/>
                                        <p:tgtEl>
                                          <p:spTgt spid="32813"/>
                                        </p:tgtEl>
                                      </p:cBhvr>
                                    </p:animEffect>
                                  </p:childTnLst>
                                  <p:subTnLst>
                                    <p:set>
                                      <p:cBhvr override="childStyle">
                                        <p:cTn dur="1" fill="hold" display="0" masterRel="nextClick" afterEffect="1"/>
                                        <p:tgtEl>
                                          <p:spTgt spid="32813"/>
                                        </p:tgtEl>
                                        <p:attrNameLst>
                                          <p:attrName>style.visibility</p:attrName>
                                        </p:attrNameLst>
                                      </p:cBhvr>
                                      <p:to>
                                        <p:strVal val="hidden"/>
                                      </p:to>
                                    </p:set>
                                  </p:subTnLst>
                                </p:cTn>
                              </p:par>
                              <p:par>
                                <p:cTn id="43" presetID="3" presetClass="entr" presetSubtype="10" fill="hold" grpId="0" nodeType="withEffect">
                                  <p:stCondLst>
                                    <p:cond delay="0"/>
                                  </p:stCondLst>
                                  <p:childTnLst>
                                    <p:set>
                                      <p:cBhvr>
                                        <p:cTn id="44" dur="1" fill="hold">
                                          <p:stCondLst>
                                            <p:cond delay="0"/>
                                          </p:stCondLst>
                                        </p:cTn>
                                        <p:tgtEl>
                                          <p:spTgt spid="32812"/>
                                        </p:tgtEl>
                                        <p:attrNameLst>
                                          <p:attrName>style.visibility</p:attrName>
                                        </p:attrNameLst>
                                      </p:cBhvr>
                                      <p:to>
                                        <p:strVal val="visible"/>
                                      </p:to>
                                    </p:set>
                                    <p:animEffect transition="in" filter="blinds(horizontal)">
                                      <p:cBhvr>
                                        <p:cTn id="45" dur="500"/>
                                        <p:tgtEl>
                                          <p:spTgt spid="32812"/>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2810"/>
                                        </p:tgtEl>
                                        <p:attrNameLst>
                                          <p:attrName>style.visibility</p:attrName>
                                        </p:attrNameLst>
                                      </p:cBhvr>
                                      <p:to>
                                        <p:strVal val="visible"/>
                                      </p:to>
                                    </p:set>
                                    <p:animEffect transition="in" filter="blinds(horizontal)">
                                      <p:cBhvr>
                                        <p:cTn id="48" dur="500"/>
                                        <p:tgtEl>
                                          <p:spTgt spid="32810"/>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2811"/>
                                        </p:tgtEl>
                                        <p:attrNameLst>
                                          <p:attrName>style.visibility</p:attrName>
                                        </p:attrNameLst>
                                      </p:cBhvr>
                                      <p:to>
                                        <p:strVal val="visible"/>
                                      </p:to>
                                    </p:set>
                                    <p:animEffect transition="in" filter="blinds(horizontal)">
                                      <p:cBhvr>
                                        <p:cTn id="51" dur="500"/>
                                        <p:tgtEl>
                                          <p:spTgt spid="32811"/>
                                        </p:tgtEl>
                                      </p:cBhvr>
                                    </p:animEffect>
                                  </p:childTnLst>
                                  <p:subTnLst>
                                    <p:set>
                                      <p:cBhvr override="childStyle">
                                        <p:cTn dur="1" fill="hold" display="0" masterRel="nextClick" afterEffect="1"/>
                                        <p:tgtEl>
                                          <p:spTgt spid="32811"/>
                                        </p:tgtEl>
                                        <p:attrNameLst>
                                          <p:attrName>style.visibility</p:attrName>
                                        </p:attrNameLst>
                                      </p:cBhvr>
                                      <p:to>
                                        <p:strVal val="hidden"/>
                                      </p:to>
                                    </p:set>
                                  </p:subTnLst>
                                </p:cTn>
                              </p:par>
                              <p:par>
                                <p:cTn id="52" presetID="3" presetClass="entr" presetSubtype="10" fill="hold"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blinds(horizontal)">
                                      <p:cBhvr>
                                        <p:cTn id="54" dur="500"/>
                                        <p:tgtEl>
                                          <p:spTgt spid="9"/>
                                        </p:tgtEl>
                                      </p:cBhvr>
                                    </p:animEffect>
                                  </p:childTnLst>
                                </p:cTn>
                              </p:par>
                              <p:par>
                                <p:cTn id="55" presetID="3" presetClass="entr" presetSubtype="10" fill="hold"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par>
                                <p:cTn id="58" presetID="3" presetClass="entr" presetSubtype="10" fill="hold" nodeType="with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blinds(horizontal)">
                                      <p:cBhvr>
                                        <p:cTn id="60" dur="500"/>
                                        <p:tgtEl>
                                          <p:spTgt spid="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2793"/>
                                        </p:tgtEl>
                                        <p:attrNameLst>
                                          <p:attrName>style.visibility</p:attrName>
                                        </p:attrNameLst>
                                      </p:cBhvr>
                                      <p:to>
                                        <p:strVal val="visible"/>
                                      </p:to>
                                    </p:set>
                                    <p:animEffect transition="in" filter="blinds(horizontal)">
                                      <p:cBhvr>
                                        <p:cTn id="65" dur="500"/>
                                        <p:tgtEl>
                                          <p:spTgt spid="32793"/>
                                        </p:tgtEl>
                                      </p:cBhvr>
                                    </p:animEffect>
                                  </p:childTnLst>
                                </p:cTn>
                              </p:par>
                              <p:par>
                                <p:cTn id="66" presetID="3" presetClass="entr" presetSubtype="10" fill="hold" nodeType="with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linds(horizontal)">
                                      <p:cBhvr>
                                        <p:cTn id="68"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par>
                                <p:cTn id="69" presetID="3" presetClass="entr" presetSubtype="10" fill="hold" grpId="0" nodeType="withEffect">
                                  <p:stCondLst>
                                    <p:cond delay="0"/>
                                  </p:stCondLst>
                                  <p:childTnLst>
                                    <p:set>
                                      <p:cBhvr>
                                        <p:cTn id="70" dur="1" fill="hold">
                                          <p:stCondLst>
                                            <p:cond delay="0"/>
                                          </p:stCondLst>
                                        </p:cTn>
                                        <p:tgtEl>
                                          <p:spTgt spid="32772"/>
                                        </p:tgtEl>
                                        <p:attrNameLst>
                                          <p:attrName>style.visibility</p:attrName>
                                        </p:attrNameLst>
                                      </p:cBhvr>
                                      <p:to>
                                        <p:strVal val="visible"/>
                                      </p:to>
                                    </p:set>
                                    <p:animEffect transition="in" filter="blinds(horizontal)">
                                      <p:cBhvr>
                                        <p:cTn id="71" dur="500"/>
                                        <p:tgtEl>
                                          <p:spTgt spid="32772"/>
                                        </p:tgtEl>
                                      </p:cBhvr>
                                    </p:animEffect>
                                  </p:childTnLst>
                                  <p:subTnLst>
                                    <p:set>
                                      <p:cBhvr override="childStyle">
                                        <p:cTn dur="1" fill="hold" display="0" masterRel="nextClick" afterEffect="1"/>
                                        <p:tgtEl>
                                          <p:spTgt spid="32772"/>
                                        </p:tgtEl>
                                        <p:attrNameLst>
                                          <p:attrName>style.visibility</p:attrName>
                                        </p:attrNameLst>
                                      </p:cBhvr>
                                      <p:to>
                                        <p:strVal val="hidden"/>
                                      </p:to>
                                    </p:set>
                                  </p:subTnLst>
                                </p:cTn>
                              </p:par>
                              <p:par>
                                <p:cTn id="72" presetID="3" presetClass="entr" presetSubtype="10" fill="hold" grpId="0" nodeType="withEffect">
                                  <p:stCondLst>
                                    <p:cond delay="0"/>
                                  </p:stCondLst>
                                  <p:childTnLst>
                                    <p:set>
                                      <p:cBhvr>
                                        <p:cTn id="73" dur="1" fill="hold">
                                          <p:stCondLst>
                                            <p:cond delay="0"/>
                                          </p:stCondLst>
                                        </p:cTn>
                                        <p:tgtEl>
                                          <p:spTgt spid="32782"/>
                                        </p:tgtEl>
                                        <p:attrNameLst>
                                          <p:attrName>style.visibility</p:attrName>
                                        </p:attrNameLst>
                                      </p:cBhvr>
                                      <p:to>
                                        <p:strVal val="visible"/>
                                      </p:to>
                                    </p:set>
                                    <p:animEffect transition="in" filter="blinds(horizontal)">
                                      <p:cBhvr>
                                        <p:cTn id="74" dur="500"/>
                                        <p:tgtEl>
                                          <p:spTgt spid="32782"/>
                                        </p:tgtEl>
                                      </p:cBhvr>
                                    </p:animEffect>
                                  </p:childTnLst>
                                  <p:subTnLst>
                                    <p:set>
                                      <p:cBhvr override="childStyle">
                                        <p:cTn dur="1" fill="hold" display="0" masterRel="nextClick" afterEffect="1"/>
                                        <p:tgtEl>
                                          <p:spTgt spid="32782"/>
                                        </p:tgtEl>
                                        <p:attrNameLst>
                                          <p:attrName>style.visibility</p:attrName>
                                        </p:attrNameLst>
                                      </p:cBhvr>
                                      <p:to>
                                        <p:strVal val="hidden"/>
                                      </p:to>
                                    </p:set>
                                  </p:subTnLst>
                                </p:cTn>
                              </p:par>
                              <p:par>
                                <p:cTn id="75" presetID="3" presetClass="entr" presetSubtype="10" fill="hold" grpId="0" nodeType="withEffect">
                                  <p:stCondLst>
                                    <p:cond delay="0"/>
                                  </p:stCondLst>
                                  <p:childTnLst>
                                    <p:set>
                                      <p:cBhvr>
                                        <p:cTn id="76" dur="1" fill="hold">
                                          <p:stCondLst>
                                            <p:cond delay="0"/>
                                          </p:stCondLst>
                                        </p:cTn>
                                        <p:tgtEl>
                                          <p:spTgt spid="32770"/>
                                        </p:tgtEl>
                                        <p:attrNameLst>
                                          <p:attrName>style.visibility</p:attrName>
                                        </p:attrNameLst>
                                      </p:cBhvr>
                                      <p:to>
                                        <p:strVal val="visible"/>
                                      </p:to>
                                    </p:set>
                                    <p:animEffect transition="in" filter="blinds(horizontal)">
                                      <p:cBhvr>
                                        <p:cTn id="77" dur="500"/>
                                        <p:tgtEl>
                                          <p:spTgt spid="32770"/>
                                        </p:tgtEl>
                                      </p:cBhvr>
                                    </p:animEffect>
                                  </p:childTnLst>
                                  <p:subTnLst>
                                    <p:set>
                                      <p:cBhvr override="childStyle">
                                        <p:cTn dur="1" fill="hold" display="0" masterRel="nextClick" afterEffect="1"/>
                                        <p:tgtEl>
                                          <p:spTgt spid="32770"/>
                                        </p:tgtEl>
                                        <p:attrNameLst>
                                          <p:attrName>style.visibility</p:attrName>
                                        </p:attrNameLst>
                                      </p:cBhvr>
                                      <p:to>
                                        <p:strVal val="hidden"/>
                                      </p:to>
                                    </p:set>
                                  </p:sub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2794"/>
                                        </p:tgtEl>
                                        <p:attrNameLst>
                                          <p:attrName>style.visibility</p:attrName>
                                        </p:attrNameLst>
                                      </p:cBhvr>
                                      <p:to>
                                        <p:strVal val="visible"/>
                                      </p:to>
                                    </p:set>
                                    <p:animEffect transition="in" filter="blinds(horizontal)">
                                      <p:cBhvr>
                                        <p:cTn id="82" dur="500"/>
                                        <p:tgtEl>
                                          <p:spTgt spid="32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2" grpId="0"/>
      <p:bldP spid="32770" grpId="0" animBg="1"/>
      <p:bldP spid="32772" grpId="0" animBg="1"/>
      <p:bldP spid="32782" grpId="0" animBg="1"/>
      <p:bldP spid="32784" grpId="0" animBg="1"/>
      <p:bldP spid="32785" grpId="0" animBg="1"/>
      <p:bldP spid="32786" grpId="0" animBg="1"/>
      <p:bldP spid="32787" grpId="0" animBg="1"/>
      <p:bldP spid="32788" grpId="0" animBg="1"/>
      <p:bldP spid="32789" grpId="0" animBg="1"/>
      <p:bldP spid="32790" grpId="0" animBg="1"/>
      <p:bldP spid="32791" grpId="0"/>
      <p:bldP spid="32793" grpId="0"/>
      <p:bldP spid="32794" grpId="0"/>
      <p:bldP spid="32810" grpId="0" animBg="1"/>
      <p:bldP spid="32811" grpId="0" animBg="1"/>
      <p:bldP spid="32812" grpId="0" animBg="1"/>
      <p:bldP spid="32813" grpId="0" animBg="1"/>
      <p:bldP spid="32814" grpId="0" animBg="1"/>
      <p:bldP spid="328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ltLang="en-US" dirty="0"/>
              <a:t>BitTorrent - unchoking</a:t>
            </a:r>
          </a:p>
        </p:txBody>
      </p:sp>
      <p:grpSp>
        <p:nvGrpSpPr>
          <p:cNvPr id="2" name="Group 3"/>
          <p:cNvGrpSpPr>
            <a:grpSpLocks/>
          </p:cNvGrpSpPr>
          <p:nvPr/>
        </p:nvGrpSpPr>
        <p:grpSpPr bwMode="auto">
          <a:xfrm>
            <a:off x="5638800" y="1939925"/>
            <a:ext cx="2209800" cy="677863"/>
            <a:chOff x="2943" y="1152"/>
            <a:chExt cx="1377" cy="427"/>
          </a:xfrm>
        </p:grpSpPr>
        <p:grpSp>
          <p:nvGrpSpPr>
            <p:cNvPr id="90149" name="Group 4"/>
            <p:cNvGrpSpPr>
              <a:grpSpLocks/>
            </p:cNvGrpSpPr>
            <p:nvPr/>
          </p:nvGrpSpPr>
          <p:grpSpPr bwMode="auto">
            <a:xfrm>
              <a:off x="2943" y="1152"/>
              <a:ext cx="1377" cy="421"/>
              <a:chOff x="2700" y="2340"/>
              <a:chExt cx="1620" cy="720"/>
            </a:xfrm>
          </p:grpSpPr>
          <p:sp>
            <p:nvSpPr>
              <p:cNvPr id="90151" name="AutoShape 5"/>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52" name="Text Box 6"/>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A</a:t>
                </a:r>
              </a:p>
            </p:txBody>
          </p:sp>
        </p:grpSp>
        <p:pic>
          <p:nvPicPr>
            <p:cNvPr id="90150" name="Picture 7" descr="le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3" y="1287"/>
              <a:ext cx="27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8"/>
          <p:cNvGrpSpPr>
            <a:grpSpLocks/>
          </p:cNvGrpSpPr>
          <p:nvPr/>
        </p:nvGrpSpPr>
        <p:grpSpPr bwMode="auto">
          <a:xfrm>
            <a:off x="2614613" y="2684463"/>
            <a:ext cx="1804987" cy="668337"/>
            <a:chOff x="3744" y="1968"/>
            <a:chExt cx="1377" cy="421"/>
          </a:xfrm>
        </p:grpSpPr>
        <p:grpSp>
          <p:nvGrpSpPr>
            <p:cNvPr id="90145" name="Group 9"/>
            <p:cNvGrpSpPr>
              <a:grpSpLocks/>
            </p:cNvGrpSpPr>
            <p:nvPr/>
          </p:nvGrpSpPr>
          <p:grpSpPr bwMode="auto">
            <a:xfrm>
              <a:off x="3744" y="1968"/>
              <a:ext cx="1377" cy="421"/>
              <a:chOff x="2700" y="2340"/>
              <a:chExt cx="1620" cy="720"/>
            </a:xfrm>
          </p:grpSpPr>
          <p:sp>
            <p:nvSpPr>
              <p:cNvPr id="90147" name="AutoShape 10"/>
              <p:cNvSpPr>
                <a:spLocks noChangeArrowheads="1"/>
              </p:cNvSpPr>
              <p:nvPr/>
            </p:nvSpPr>
            <p:spPr bwMode="auto">
              <a:xfrm>
                <a:off x="2700" y="2340"/>
                <a:ext cx="1620" cy="720"/>
              </a:xfrm>
              <a:prstGeom prst="flowChartProcess">
                <a:avLst/>
              </a:prstGeom>
              <a:solidFill>
                <a:srgbClr val="FF9900"/>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48" name="Text Box 11"/>
              <p:cNvSpPr txBox="1">
                <a:spLocks noChangeArrowheads="1"/>
              </p:cNvSpPr>
              <p:nvPr/>
            </p:nvSpPr>
            <p:spPr bwMode="auto">
              <a:xfrm>
                <a:off x="2880" y="2520"/>
                <a:ext cx="1260" cy="36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seed</a:t>
                </a:r>
              </a:p>
            </p:txBody>
          </p:sp>
        </p:grpSp>
        <p:pic>
          <p:nvPicPr>
            <p:cNvPr id="90146" name="Picture 12" descr="se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 y="2016"/>
              <a:ext cx="432" cy="32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6" name="Group 13"/>
          <p:cNvGrpSpPr>
            <a:grpSpLocks/>
          </p:cNvGrpSpPr>
          <p:nvPr/>
        </p:nvGrpSpPr>
        <p:grpSpPr bwMode="auto">
          <a:xfrm>
            <a:off x="2133600" y="1863725"/>
            <a:ext cx="2286000" cy="679450"/>
            <a:chOff x="2943" y="1152"/>
            <a:chExt cx="1377" cy="428"/>
          </a:xfrm>
        </p:grpSpPr>
        <p:grpSp>
          <p:nvGrpSpPr>
            <p:cNvPr id="90141" name="Group 14"/>
            <p:cNvGrpSpPr>
              <a:grpSpLocks/>
            </p:cNvGrpSpPr>
            <p:nvPr/>
          </p:nvGrpSpPr>
          <p:grpSpPr bwMode="auto">
            <a:xfrm>
              <a:off x="2943" y="1152"/>
              <a:ext cx="1377" cy="421"/>
              <a:chOff x="2700" y="2340"/>
              <a:chExt cx="1620" cy="720"/>
            </a:xfrm>
          </p:grpSpPr>
          <p:sp>
            <p:nvSpPr>
              <p:cNvPr id="90143" name="AutoShape 15"/>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44" name="Text Box 16"/>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B</a:t>
                </a:r>
              </a:p>
            </p:txBody>
          </p:sp>
        </p:grpSp>
        <p:pic>
          <p:nvPicPr>
            <p:cNvPr id="90142" name="Picture 17" descr="lee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5" y="1288"/>
              <a:ext cx="27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18"/>
          <p:cNvGrpSpPr>
            <a:grpSpLocks/>
          </p:cNvGrpSpPr>
          <p:nvPr/>
        </p:nvGrpSpPr>
        <p:grpSpPr bwMode="auto">
          <a:xfrm>
            <a:off x="5638800" y="3311525"/>
            <a:ext cx="2209800" cy="668338"/>
            <a:chOff x="2943" y="1152"/>
            <a:chExt cx="1377" cy="421"/>
          </a:xfrm>
        </p:grpSpPr>
        <p:grpSp>
          <p:nvGrpSpPr>
            <p:cNvPr id="90137" name="Group 19"/>
            <p:cNvGrpSpPr>
              <a:grpSpLocks/>
            </p:cNvGrpSpPr>
            <p:nvPr/>
          </p:nvGrpSpPr>
          <p:grpSpPr bwMode="auto">
            <a:xfrm>
              <a:off x="2943" y="1152"/>
              <a:ext cx="1377" cy="421"/>
              <a:chOff x="2700" y="2340"/>
              <a:chExt cx="1620" cy="720"/>
            </a:xfrm>
          </p:grpSpPr>
          <p:sp>
            <p:nvSpPr>
              <p:cNvPr id="90139" name="AutoShape 20"/>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40" name="Text Box 21"/>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C</a:t>
                </a:r>
              </a:p>
            </p:txBody>
          </p:sp>
        </p:grpSp>
        <p:pic>
          <p:nvPicPr>
            <p:cNvPr id="90138" name="Picture 22" descr="le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3" y="1264"/>
              <a:ext cx="27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839" name="Line 23"/>
          <p:cNvSpPr>
            <a:spLocks noChangeShapeType="1"/>
          </p:cNvSpPr>
          <p:nvPr/>
        </p:nvSpPr>
        <p:spPr bwMode="auto">
          <a:xfrm>
            <a:off x="4419600" y="2151063"/>
            <a:ext cx="1219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40" name="Rectangle 24"/>
          <p:cNvSpPr>
            <a:spLocks noChangeArrowheads="1"/>
          </p:cNvSpPr>
          <p:nvPr/>
        </p:nvSpPr>
        <p:spPr bwMode="auto">
          <a:xfrm>
            <a:off x="4953000" y="1693863"/>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4841" name="Line 25"/>
          <p:cNvSpPr>
            <a:spLocks noChangeShapeType="1"/>
          </p:cNvSpPr>
          <p:nvPr/>
        </p:nvSpPr>
        <p:spPr bwMode="auto">
          <a:xfrm flipV="1">
            <a:off x="7239000" y="2608263"/>
            <a:ext cx="0" cy="68580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42" name="Line 26"/>
          <p:cNvSpPr>
            <a:spLocks noChangeShapeType="1"/>
          </p:cNvSpPr>
          <p:nvPr/>
        </p:nvSpPr>
        <p:spPr bwMode="auto">
          <a:xfrm>
            <a:off x="5867400" y="2608263"/>
            <a:ext cx="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43" name="Line 27"/>
          <p:cNvSpPr>
            <a:spLocks noChangeShapeType="1"/>
          </p:cNvSpPr>
          <p:nvPr/>
        </p:nvSpPr>
        <p:spPr bwMode="auto">
          <a:xfrm flipV="1">
            <a:off x="4419600" y="2455863"/>
            <a:ext cx="121920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pSp>
        <p:nvGrpSpPr>
          <p:cNvPr id="10" name="Group 28"/>
          <p:cNvGrpSpPr>
            <a:grpSpLocks/>
          </p:cNvGrpSpPr>
          <p:nvPr/>
        </p:nvGrpSpPr>
        <p:grpSpPr bwMode="auto">
          <a:xfrm>
            <a:off x="2209800" y="3522663"/>
            <a:ext cx="2209800" cy="668337"/>
            <a:chOff x="2943" y="1152"/>
            <a:chExt cx="1377" cy="421"/>
          </a:xfrm>
        </p:grpSpPr>
        <p:grpSp>
          <p:nvGrpSpPr>
            <p:cNvPr id="90133" name="Group 29"/>
            <p:cNvGrpSpPr>
              <a:grpSpLocks/>
            </p:cNvGrpSpPr>
            <p:nvPr/>
          </p:nvGrpSpPr>
          <p:grpSpPr bwMode="auto">
            <a:xfrm>
              <a:off x="2943" y="1152"/>
              <a:ext cx="1377" cy="421"/>
              <a:chOff x="2700" y="2340"/>
              <a:chExt cx="1620" cy="720"/>
            </a:xfrm>
          </p:grpSpPr>
          <p:sp>
            <p:nvSpPr>
              <p:cNvPr id="90135" name="AutoShape 30"/>
              <p:cNvSpPr>
                <a:spLocks noChangeArrowheads="1"/>
              </p:cNvSpPr>
              <p:nvPr/>
            </p:nvSpPr>
            <p:spPr bwMode="auto">
              <a:xfrm>
                <a:off x="2700" y="2340"/>
                <a:ext cx="1620" cy="720"/>
              </a:xfrm>
              <a:prstGeom prst="flowChartProcess">
                <a:avLst/>
              </a:prstGeom>
              <a:solidFill>
                <a:srgbClr val="99CCFF"/>
              </a:solidFill>
              <a:ln w="9525">
                <a:solidFill>
                  <a:srgbClr val="000000"/>
                </a:solidFill>
                <a:miter lim="800000"/>
                <a:headEnd/>
                <a:tailEnd/>
              </a:ln>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36" name="Text Box 31"/>
              <p:cNvSpPr txBox="1">
                <a:spLocks noChangeArrowheads="1"/>
              </p:cNvSpPr>
              <p:nvPr/>
            </p:nvSpPr>
            <p:spPr bwMode="auto">
              <a:xfrm>
                <a:off x="2880" y="2520"/>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85000"/>
                  </a:lnSpc>
                  <a:spcBef>
                    <a:spcPct val="0"/>
                  </a:spcBef>
                  <a:buFontTx/>
                  <a:buNone/>
                </a:pPr>
                <a:r>
                  <a:rPr lang="en-US" altLang="en-US" sz="2000">
                    <a:solidFill>
                      <a:schemeClr val="tx2"/>
                    </a:solidFill>
                    <a:latin typeface="+mn-lt"/>
                  </a:rPr>
                  <a:t>leecher D</a:t>
                </a:r>
              </a:p>
            </p:txBody>
          </p:sp>
        </p:grpSp>
        <p:pic>
          <p:nvPicPr>
            <p:cNvPr id="90134" name="Picture 32" descr="le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 y="1260"/>
              <a:ext cx="27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849" name="Line 33"/>
          <p:cNvSpPr>
            <a:spLocks noChangeShapeType="1"/>
          </p:cNvSpPr>
          <p:nvPr/>
        </p:nvSpPr>
        <p:spPr bwMode="auto">
          <a:xfrm flipH="1">
            <a:off x="4419600" y="2608263"/>
            <a:ext cx="1219200" cy="1143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50" name="Rectangle 34"/>
          <p:cNvSpPr>
            <a:spLocks noChangeArrowheads="1"/>
          </p:cNvSpPr>
          <p:nvPr/>
        </p:nvSpPr>
        <p:spPr bwMode="auto">
          <a:xfrm>
            <a:off x="4648200" y="2455863"/>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4851" name="Rectangle 35"/>
          <p:cNvSpPr>
            <a:spLocks noChangeArrowheads="1"/>
          </p:cNvSpPr>
          <p:nvPr/>
        </p:nvSpPr>
        <p:spPr bwMode="auto">
          <a:xfrm>
            <a:off x="5105400" y="3217863"/>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90128" name="Text Box 36"/>
          <p:cNvSpPr txBox="1">
            <a:spLocks noChangeArrowheads="1"/>
          </p:cNvSpPr>
          <p:nvPr/>
        </p:nvSpPr>
        <p:spPr bwMode="auto">
          <a:xfrm>
            <a:off x="838200" y="4344988"/>
            <a:ext cx="8229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a:solidFill>
                  <a:schemeClr val="tx2"/>
                </a:solidFill>
                <a:latin typeface="+mn-lt"/>
                <a:ea typeface="Times New Roman" charset="0"/>
                <a:cs typeface="Times New Roman" charset="0"/>
              </a:rPr>
              <a:t>● </a:t>
            </a:r>
            <a:r>
              <a:rPr lang="en-US" altLang="en-US" sz="2400">
                <a:solidFill>
                  <a:schemeClr val="tx2"/>
                </a:solidFill>
                <a:latin typeface="+mn-lt"/>
                <a:ea typeface="Times New Roman" charset="0"/>
                <a:cs typeface="Times New Roman" charset="0"/>
              </a:rPr>
              <a:t>Periodically calculate data-receiving rates</a:t>
            </a:r>
            <a:endParaRPr lang="en-US" altLang="en-US" sz="2400">
              <a:solidFill>
                <a:schemeClr val="tx2"/>
              </a:solidFill>
              <a:latin typeface="+mn-lt"/>
            </a:endParaRPr>
          </a:p>
        </p:txBody>
      </p:sp>
      <p:sp>
        <p:nvSpPr>
          <p:cNvPr id="90129" name="Text Box 37"/>
          <p:cNvSpPr txBox="1">
            <a:spLocks noChangeArrowheads="1"/>
          </p:cNvSpPr>
          <p:nvPr/>
        </p:nvSpPr>
        <p:spPr bwMode="auto">
          <a:xfrm>
            <a:off x="838200" y="4878388"/>
            <a:ext cx="82296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dirty="0">
                <a:solidFill>
                  <a:schemeClr val="tx2"/>
                </a:solidFill>
                <a:latin typeface="+mn-lt"/>
                <a:ea typeface="Times New Roman" charset="0"/>
                <a:cs typeface="Times New Roman" charset="0"/>
              </a:rPr>
              <a:t>● </a:t>
            </a:r>
            <a:r>
              <a:rPr lang="en-US" altLang="en-US" sz="2400" dirty="0">
                <a:solidFill>
                  <a:schemeClr val="tx2"/>
                </a:solidFill>
                <a:latin typeface="+mn-lt"/>
                <a:ea typeface="Times New Roman" charset="0"/>
                <a:cs typeface="Times New Roman" charset="0"/>
              </a:rPr>
              <a:t>Upload to (</a:t>
            </a:r>
            <a:r>
              <a:rPr lang="en-US" altLang="en-US" sz="2400" i="1" dirty="0">
                <a:solidFill>
                  <a:schemeClr val="tx2"/>
                </a:solidFill>
                <a:latin typeface="+mn-lt"/>
                <a:ea typeface="Times New Roman" charset="0"/>
                <a:cs typeface="Times New Roman" charset="0"/>
              </a:rPr>
              <a:t>unchoke</a:t>
            </a:r>
            <a:r>
              <a:rPr lang="en-US" altLang="en-US" sz="2400" dirty="0">
                <a:solidFill>
                  <a:schemeClr val="tx2"/>
                </a:solidFill>
                <a:latin typeface="+mn-lt"/>
                <a:ea typeface="Times New Roman" charset="0"/>
                <a:cs typeface="Times New Roman" charset="0"/>
              </a:rPr>
              <a:t>) the fastest downloaders/uploaders</a:t>
            </a:r>
            <a:endParaRPr lang="en-US" altLang="en-US" sz="2400" dirty="0">
              <a:solidFill>
                <a:schemeClr val="tx2"/>
              </a:solidFill>
              <a:latin typeface="+mn-lt"/>
            </a:endParaRPr>
          </a:p>
        </p:txBody>
      </p:sp>
      <p:sp>
        <p:nvSpPr>
          <p:cNvPr id="34854" name="Rectangle 38"/>
          <p:cNvSpPr>
            <a:spLocks noChangeArrowheads="1"/>
          </p:cNvSpPr>
          <p:nvPr/>
        </p:nvSpPr>
        <p:spPr bwMode="auto">
          <a:xfrm>
            <a:off x="6019800" y="27432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4855" name="Rectangle 39"/>
          <p:cNvSpPr>
            <a:spLocks noChangeArrowheads="1"/>
          </p:cNvSpPr>
          <p:nvPr/>
        </p:nvSpPr>
        <p:spPr bwMode="auto">
          <a:xfrm>
            <a:off x="7467600" y="2743200"/>
            <a:ext cx="76200" cy="381000"/>
          </a:xfrm>
          <a:prstGeom prst="rect">
            <a:avLst/>
          </a:prstGeom>
          <a:solidFill>
            <a:srgbClr val="FF0000"/>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latin typeface="+mn-lt"/>
            </a:endParaRPr>
          </a:p>
        </p:txBody>
      </p:sp>
      <p:sp>
        <p:nvSpPr>
          <p:cNvPr id="34856" name="Text Box 40"/>
          <p:cNvSpPr txBox="1">
            <a:spLocks noChangeArrowheads="1"/>
          </p:cNvSpPr>
          <p:nvPr/>
        </p:nvSpPr>
        <p:spPr bwMode="auto">
          <a:xfrm>
            <a:off x="838200" y="5429250"/>
            <a:ext cx="8229600" cy="129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lnSpc>
                <a:spcPct val="85000"/>
              </a:lnSpc>
              <a:spcBef>
                <a:spcPct val="50000"/>
              </a:spcBef>
              <a:buFontTx/>
              <a:buNone/>
            </a:pPr>
            <a:r>
              <a:rPr lang="en-US" altLang="en-US" sz="2800" dirty="0">
                <a:solidFill>
                  <a:schemeClr val="tx2"/>
                </a:solidFill>
                <a:latin typeface="+mn-lt"/>
                <a:ea typeface="Times New Roman" charset="0"/>
                <a:cs typeface="Times New Roman" charset="0"/>
              </a:rPr>
              <a:t>● </a:t>
            </a:r>
            <a:r>
              <a:rPr lang="en-US" altLang="en-US" sz="2400" i="1" dirty="0">
                <a:solidFill>
                  <a:schemeClr val="tx2"/>
                </a:solidFill>
                <a:latin typeface="+mn-lt"/>
                <a:ea typeface="Times New Roman" charset="0"/>
                <a:cs typeface="Times New Roman" charset="0"/>
              </a:rPr>
              <a:t>Optimistic </a:t>
            </a:r>
            <a:r>
              <a:rPr lang="en-US" altLang="en-US" sz="2400" i="1" dirty="0" err="1">
                <a:solidFill>
                  <a:schemeClr val="tx2"/>
                </a:solidFill>
                <a:latin typeface="+mn-lt"/>
                <a:ea typeface="Times New Roman" charset="0"/>
                <a:cs typeface="Times New Roman" charset="0"/>
              </a:rPr>
              <a:t>unchoking</a:t>
            </a:r>
            <a:endParaRPr lang="en-US" altLang="en-US" sz="2400" i="1" dirty="0">
              <a:solidFill>
                <a:schemeClr val="tx2"/>
              </a:solidFill>
              <a:latin typeface="+mn-lt"/>
              <a:ea typeface="Times New Roman" charset="0"/>
              <a:cs typeface="Times New Roman" charset="0"/>
            </a:endParaRPr>
          </a:p>
          <a:p>
            <a:pPr lvl="1" eaLnBrk="1" hangingPunct="1">
              <a:lnSpc>
                <a:spcPct val="85000"/>
              </a:lnSpc>
              <a:spcBef>
                <a:spcPct val="50000"/>
              </a:spcBef>
              <a:buFontTx/>
              <a:buChar char="•"/>
            </a:pPr>
            <a:r>
              <a:rPr lang="en-US" altLang="en-US" sz="2000" dirty="0">
                <a:solidFill>
                  <a:schemeClr val="tx2"/>
                </a:solidFill>
                <a:latin typeface="+mn-lt"/>
                <a:ea typeface="Times New Roman" charset="0"/>
                <a:cs typeface="Times New Roman" charset="0"/>
              </a:rPr>
              <a:t>periodically select a peer at random and upload to it</a:t>
            </a:r>
          </a:p>
          <a:p>
            <a:pPr lvl="1" eaLnBrk="1" hangingPunct="1">
              <a:lnSpc>
                <a:spcPct val="85000"/>
              </a:lnSpc>
              <a:spcBef>
                <a:spcPct val="50000"/>
              </a:spcBef>
              <a:buFontTx/>
              <a:buChar char="•"/>
            </a:pPr>
            <a:r>
              <a:rPr lang="en-US" altLang="en-US" sz="2000" dirty="0">
                <a:solidFill>
                  <a:schemeClr val="tx2"/>
                </a:solidFill>
                <a:latin typeface="+mn-lt"/>
              </a:rPr>
              <a:t>continuously look for the fastest partners</a:t>
            </a:r>
          </a:p>
        </p:txBody>
      </p:sp>
    </p:spTree>
    <p:extLst>
      <p:ext uri="{BB962C8B-B14F-4D97-AF65-F5344CB8AC3E}">
        <p14:creationId xmlns:p14="http://schemas.microsoft.com/office/powerpoint/2010/main" val="552989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4840"/>
                                        </p:tgtEl>
                                        <p:attrNameLst>
                                          <p:attrName>style.visibility</p:attrName>
                                        </p:attrNameLst>
                                      </p:cBhvr>
                                      <p:to>
                                        <p:strVal val="visible"/>
                                      </p:to>
                                    </p:set>
                                    <p:animEffect transition="in" filter="blinds(horizontal)">
                                      <p:cBhvr>
                                        <p:cTn id="10" dur="500"/>
                                        <p:tgtEl>
                                          <p:spTgt spid="3484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4839"/>
                                        </p:tgtEl>
                                        <p:attrNameLst>
                                          <p:attrName>style.visibility</p:attrName>
                                        </p:attrNameLst>
                                      </p:cBhvr>
                                      <p:to>
                                        <p:strVal val="visible"/>
                                      </p:to>
                                    </p:set>
                                    <p:animEffect transition="in" filter="blinds(horizontal)">
                                      <p:cBhvr>
                                        <p:cTn id="13" dur="500"/>
                                        <p:tgtEl>
                                          <p:spTgt spid="34839"/>
                                        </p:tgtEl>
                                      </p:cBhvr>
                                    </p:animEffect>
                                  </p:childTnLst>
                                </p:cTn>
                              </p:par>
                              <p:par>
                                <p:cTn id="14" presetID="3" presetClass="entr" presetSubtype="1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4841"/>
                                        </p:tgtEl>
                                        <p:attrNameLst>
                                          <p:attrName>style.visibility</p:attrName>
                                        </p:attrNameLst>
                                      </p:cBhvr>
                                      <p:to>
                                        <p:strVal val="visible"/>
                                      </p:to>
                                    </p:set>
                                    <p:animEffect transition="in" filter="blinds(horizontal)">
                                      <p:cBhvr>
                                        <p:cTn id="19" dur="500"/>
                                        <p:tgtEl>
                                          <p:spTgt spid="3484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4855"/>
                                        </p:tgtEl>
                                        <p:attrNameLst>
                                          <p:attrName>style.visibility</p:attrName>
                                        </p:attrNameLst>
                                      </p:cBhvr>
                                      <p:to>
                                        <p:strVal val="visible"/>
                                      </p:to>
                                    </p:set>
                                    <p:animEffect transition="in" filter="blinds(horizontal)">
                                      <p:cBhvr>
                                        <p:cTn id="22" dur="500"/>
                                        <p:tgtEl>
                                          <p:spTgt spid="34855"/>
                                        </p:tgtEl>
                                      </p:cBhvr>
                                    </p:animEffect>
                                  </p:childTnLst>
                                </p:cTn>
                              </p:par>
                              <p:par>
                                <p:cTn id="23" presetID="3" presetClass="entr" presetSubtype="1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par>
                                <p:cTn id="26" presetID="3" presetClass="entr" presetSubtype="1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4850"/>
                                        </p:tgtEl>
                                        <p:attrNameLst>
                                          <p:attrName>style.visibility</p:attrName>
                                        </p:attrNameLst>
                                      </p:cBhvr>
                                      <p:to>
                                        <p:strVal val="visible"/>
                                      </p:to>
                                    </p:set>
                                    <p:animEffect transition="in" filter="blinds(horizontal)">
                                      <p:cBhvr>
                                        <p:cTn id="31" dur="500"/>
                                        <p:tgtEl>
                                          <p:spTgt spid="34850"/>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4843"/>
                                        </p:tgtEl>
                                        <p:attrNameLst>
                                          <p:attrName>style.visibility</p:attrName>
                                        </p:attrNameLst>
                                      </p:cBhvr>
                                      <p:to>
                                        <p:strVal val="visible"/>
                                      </p:to>
                                    </p:set>
                                    <p:animEffect transition="in" filter="blinds(horizontal)">
                                      <p:cBhvr>
                                        <p:cTn id="34" dur="500"/>
                                        <p:tgtEl>
                                          <p:spTgt spid="348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4842"/>
                                        </p:tgtEl>
                                        <p:attrNameLst>
                                          <p:attrName>style.visibility</p:attrName>
                                        </p:attrNameLst>
                                      </p:cBhvr>
                                      <p:to>
                                        <p:strVal val="visible"/>
                                      </p:to>
                                    </p:set>
                                    <p:animEffect transition="in" filter="blinds(horizontal)">
                                      <p:cBhvr>
                                        <p:cTn id="39" dur="500"/>
                                        <p:tgtEl>
                                          <p:spTgt spid="34842"/>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4854"/>
                                        </p:tgtEl>
                                        <p:attrNameLst>
                                          <p:attrName>style.visibility</p:attrName>
                                        </p:attrNameLst>
                                      </p:cBhvr>
                                      <p:to>
                                        <p:strVal val="visible"/>
                                      </p:to>
                                    </p:set>
                                    <p:animEffect transition="in" filter="blinds(horizontal)">
                                      <p:cBhvr>
                                        <p:cTn id="42" dur="500"/>
                                        <p:tgtEl>
                                          <p:spTgt spid="3485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51"/>
                                        </p:tgtEl>
                                        <p:attrNameLst>
                                          <p:attrName>style.visibility</p:attrName>
                                        </p:attrNameLst>
                                      </p:cBhvr>
                                      <p:to>
                                        <p:strVal val="visible"/>
                                      </p:to>
                                    </p:set>
                                    <p:animEffect transition="in" filter="blinds(horizontal)">
                                      <p:cBhvr>
                                        <p:cTn id="47" dur="500"/>
                                        <p:tgtEl>
                                          <p:spTgt spid="3485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34849"/>
                                        </p:tgtEl>
                                        <p:attrNameLst>
                                          <p:attrName>style.visibility</p:attrName>
                                        </p:attrNameLst>
                                      </p:cBhvr>
                                      <p:to>
                                        <p:strVal val="visible"/>
                                      </p:to>
                                    </p:set>
                                    <p:animEffect transition="in" filter="blinds(horizontal)">
                                      <p:cBhvr>
                                        <p:cTn id="50" dur="500"/>
                                        <p:tgtEl>
                                          <p:spTgt spid="34849"/>
                                        </p:tgtEl>
                                      </p:cBhvr>
                                    </p:animEffect>
                                  </p:childTnLst>
                                </p:cTn>
                              </p:par>
                              <p:par>
                                <p:cTn id="51" presetID="3" presetClass="entr" presetSubtype="1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blinds(horizontal)">
                                      <p:cBhvr>
                                        <p:cTn id="53" dur="500"/>
                                        <p:tgtEl>
                                          <p:spTgt spid="10"/>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34856"/>
                                        </p:tgtEl>
                                        <p:attrNameLst>
                                          <p:attrName>style.visibility</p:attrName>
                                        </p:attrNameLst>
                                      </p:cBhvr>
                                      <p:to>
                                        <p:strVal val="visible"/>
                                      </p:to>
                                    </p:set>
                                    <p:animEffect transition="in" filter="blinds(horizontal)">
                                      <p:cBhvr>
                                        <p:cTn id="56" dur="500"/>
                                        <p:tgtEl>
                                          <p:spTgt spid="34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9" grpId="0" animBg="1"/>
      <p:bldP spid="34840" grpId="0" animBg="1"/>
      <p:bldP spid="34841" grpId="0" animBg="1"/>
      <p:bldP spid="34842" grpId="0" animBg="1"/>
      <p:bldP spid="34843" grpId="0" animBg="1"/>
      <p:bldP spid="34849" grpId="0" animBg="1"/>
      <p:bldP spid="34850" grpId="0" animBg="1"/>
      <p:bldP spid="34851" grpId="0" animBg="1"/>
      <p:bldP spid="34854" grpId="0" animBg="1"/>
      <p:bldP spid="34855" grpId="0" animBg="1"/>
      <p:bldP spid="348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a:t>Example</a:t>
            </a:r>
            <a:endParaRPr lang="en-US" altLang="en-US" dirty="0"/>
          </a:p>
        </p:txBody>
      </p:sp>
      <p:pic>
        <p:nvPicPr>
          <p:cNvPr id="91139" name="Picture 3" descr="j019538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7086600" y="1905000"/>
            <a:ext cx="1343025" cy="1371600"/>
          </a:xfrm>
          <a:noFill/>
        </p:spPr>
      </p:pic>
      <p:pic>
        <p:nvPicPr>
          <p:cNvPr id="91140" name="Picture 4" descr="MCj0397240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5675" y="1447800"/>
            <a:ext cx="1803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a:grpSpLocks/>
          </p:cNvGrpSpPr>
          <p:nvPr/>
        </p:nvGrpSpPr>
        <p:grpSpPr bwMode="auto">
          <a:xfrm>
            <a:off x="1981200" y="4267200"/>
            <a:ext cx="1295400" cy="1069975"/>
            <a:chOff x="1248" y="2688"/>
            <a:chExt cx="816" cy="674"/>
          </a:xfrm>
        </p:grpSpPr>
        <p:pic>
          <p:nvPicPr>
            <p:cNvPr id="91171" name="Picture 6" descr="j02857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8" y="2688"/>
              <a:ext cx="816"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72" name="Text Box 7"/>
            <p:cNvSpPr txBox="1">
              <a:spLocks noChangeArrowheads="1"/>
            </p:cNvSpPr>
            <p:nvPr/>
          </p:nvSpPr>
          <p:spPr bwMode="auto">
            <a:xfrm>
              <a:off x="1372" y="3129"/>
              <a:ext cx="5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tracker</a:t>
              </a:r>
            </a:p>
          </p:txBody>
        </p:sp>
      </p:grpSp>
      <p:sp>
        <p:nvSpPr>
          <p:cNvPr id="91142" name="Text Box 8"/>
          <p:cNvSpPr txBox="1">
            <a:spLocks noChangeArrowheads="1"/>
          </p:cNvSpPr>
          <p:nvPr/>
        </p:nvSpPr>
        <p:spPr bwMode="auto">
          <a:xfrm>
            <a:off x="1219200" y="2909888"/>
            <a:ext cx="11870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webserver</a:t>
            </a:r>
          </a:p>
        </p:txBody>
      </p:sp>
      <p:sp>
        <p:nvSpPr>
          <p:cNvPr id="91143" name="Text Box 9"/>
          <p:cNvSpPr txBox="1">
            <a:spLocks noChangeArrowheads="1"/>
          </p:cNvSpPr>
          <p:nvPr/>
        </p:nvSpPr>
        <p:spPr bwMode="auto">
          <a:xfrm>
            <a:off x="7467600" y="3200400"/>
            <a:ext cx="5966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user</a:t>
            </a:r>
          </a:p>
        </p:txBody>
      </p:sp>
      <p:grpSp>
        <p:nvGrpSpPr>
          <p:cNvPr id="3" name="Group 10"/>
          <p:cNvGrpSpPr>
            <a:grpSpLocks/>
          </p:cNvGrpSpPr>
          <p:nvPr/>
        </p:nvGrpSpPr>
        <p:grpSpPr bwMode="auto">
          <a:xfrm>
            <a:off x="2819400" y="1905000"/>
            <a:ext cx="4038600" cy="533400"/>
            <a:chOff x="1776" y="1200"/>
            <a:chExt cx="2544" cy="336"/>
          </a:xfrm>
        </p:grpSpPr>
        <p:sp>
          <p:nvSpPr>
            <p:cNvPr id="91169" name="Line 11"/>
            <p:cNvSpPr>
              <a:spLocks noChangeShapeType="1"/>
            </p:cNvSpPr>
            <p:nvPr/>
          </p:nvSpPr>
          <p:spPr bwMode="auto">
            <a:xfrm flipH="1" flipV="1">
              <a:off x="1776" y="1392"/>
              <a:ext cx="2544" cy="144"/>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91170" name="Text Box 12"/>
            <p:cNvSpPr txBox="1">
              <a:spLocks noChangeArrowheads="1"/>
            </p:cNvSpPr>
            <p:nvPr/>
          </p:nvSpPr>
          <p:spPr bwMode="auto">
            <a:xfrm>
              <a:off x="2400" y="1200"/>
              <a:ext cx="170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HTTP GET   MYFILE.torrent</a:t>
              </a:r>
            </a:p>
          </p:txBody>
        </p:sp>
      </p:grpSp>
      <p:grpSp>
        <p:nvGrpSpPr>
          <p:cNvPr id="4" name="Group 13"/>
          <p:cNvGrpSpPr>
            <a:grpSpLocks/>
          </p:cNvGrpSpPr>
          <p:nvPr/>
        </p:nvGrpSpPr>
        <p:grpSpPr bwMode="auto">
          <a:xfrm>
            <a:off x="2819400" y="2438400"/>
            <a:ext cx="4038600" cy="1858963"/>
            <a:chOff x="1776" y="1536"/>
            <a:chExt cx="2544" cy="1171"/>
          </a:xfrm>
        </p:grpSpPr>
        <p:sp>
          <p:nvSpPr>
            <p:cNvPr id="91166" name="Line 14"/>
            <p:cNvSpPr>
              <a:spLocks noChangeShapeType="1"/>
            </p:cNvSpPr>
            <p:nvPr/>
          </p:nvSpPr>
          <p:spPr bwMode="auto">
            <a:xfrm flipH="1" flipV="1">
              <a:off x="1776" y="1536"/>
              <a:ext cx="2544" cy="144"/>
            </a:xfrm>
            <a:prstGeom prst="line">
              <a:avLst/>
            </a:prstGeom>
            <a:noFill/>
            <a:ln w="381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91167" name="Text Box 15"/>
            <p:cNvSpPr txBox="1">
              <a:spLocks noChangeArrowheads="1"/>
            </p:cNvSpPr>
            <p:nvPr/>
          </p:nvSpPr>
          <p:spPr bwMode="auto">
            <a:xfrm>
              <a:off x="2160" y="1776"/>
              <a:ext cx="1821" cy="9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http://mytracker.com:6969/</a:t>
              </a:r>
            </a:p>
            <a:p>
              <a:pPr eaLnBrk="1" hangingPunct="1">
                <a:spcBef>
                  <a:spcPct val="0"/>
                </a:spcBef>
                <a:buFontTx/>
                <a:buNone/>
              </a:pPr>
              <a:r>
                <a:rPr lang="en-US" altLang="en-US" sz="1800" b="1">
                  <a:solidFill>
                    <a:srgbClr val="C00000"/>
                  </a:solidFill>
                  <a:latin typeface="+mn-lt"/>
                  <a:ea typeface="Arial" charset="0"/>
                  <a:cs typeface="Arial" charset="0"/>
                </a:rPr>
                <a:t>S3F5YHG6FEB</a:t>
              </a:r>
            </a:p>
            <a:p>
              <a:pPr eaLnBrk="1" hangingPunct="1">
                <a:spcBef>
                  <a:spcPct val="0"/>
                </a:spcBef>
                <a:buFontTx/>
                <a:buNone/>
              </a:pPr>
              <a:r>
                <a:rPr lang="en-US" altLang="en-US" sz="1800" b="1">
                  <a:solidFill>
                    <a:srgbClr val="C00000"/>
                  </a:solidFill>
                  <a:latin typeface="+mn-lt"/>
                  <a:ea typeface="Arial" charset="0"/>
                  <a:cs typeface="Arial" charset="0"/>
                </a:rPr>
                <a:t>FG5467HGF367</a:t>
              </a:r>
            </a:p>
            <a:p>
              <a:pPr eaLnBrk="1" hangingPunct="1">
                <a:spcBef>
                  <a:spcPct val="0"/>
                </a:spcBef>
                <a:buFontTx/>
                <a:buNone/>
              </a:pPr>
              <a:r>
                <a:rPr lang="en-US" altLang="en-US" sz="1800" b="1">
                  <a:solidFill>
                    <a:srgbClr val="C00000"/>
                  </a:solidFill>
                  <a:latin typeface="+mn-lt"/>
                  <a:ea typeface="Arial" charset="0"/>
                  <a:cs typeface="Arial" charset="0"/>
                </a:rPr>
                <a:t>F456JI9N5FF4E</a:t>
              </a:r>
            </a:p>
            <a:p>
              <a:pPr eaLnBrk="1" hangingPunct="1">
                <a:spcBef>
                  <a:spcPct val="0"/>
                </a:spcBef>
                <a:buFontTx/>
                <a:buNone/>
              </a:pPr>
              <a:r>
                <a:rPr lang="en-US" altLang="en-US" sz="1800" b="1">
                  <a:solidFill>
                    <a:srgbClr val="C00000"/>
                  </a:solidFill>
                  <a:latin typeface="+mn-lt"/>
                  <a:ea typeface="Arial" charset="0"/>
                  <a:cs typeface="Arial" charset="0"/>
                </a:rPr>
                <a:t>…</a:t>
              </a:r>
            </a:p>
          </p:txBody>
        </p:sp>
        <p:sp>
          <p:nvSpPr>
            <p:cNvPr id="91168" name="Text Box 16"/>
            <p:cNvSpPr txBox="1">
              <a:spLocks noChangeArrowheads="1"/>
            </p:cNvSpPr>
            <p:nvPr/>
          </p:nvSpPr>
          <p:spPr bwMode="auto">
            <a:xfrm>
              <a:off x="2112" y="1584"/>
              <a:ext cx="10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MYFILE.torrent</a:t>
              </a:r>
            </a:p>
          </p:txBody>
        </p:sp>
      </p:grpSp>
      <p:grpSp>
        <p:nvGrpSpPr>
          <p:cNvPr id="5" name="Group 17"/>
          <p:cNvGrpSpPr>
            <a:grpSpLocks/>
          </p:cNvGrpSpPr>
          <p:nvPr/>
        </p:nvGrpSpPr>
        <p:grpSpPr bwMode="auto">
          <a:xfrm>
            <a:off x="3200400" y="3048000"/>
            <a:ext cx="3733800" cy="1371600"/>
            <a:chOff x="2016" y="1920"/>
            <a:chExt cx="2352" cy="864"/>
          </a:xfrm>
        </p:grpSpPr>
        <p:sp>
          <p:nvSpPr>
            <p:cNvPr id="91164" name="Line 18"/>
            <p:cNvSpPr>
              <a:spLocks noChangeShapeType="1"/>
            </p:cNvSpPr>
            <p:nvPr/>
          </p:nvSpPr>
          <p:spPr bwMode="auto">
            <a:xfrm flipH="1">
              <a:off x="2016" y="1920"/>
              <a:ext cx="2352" cy="864"/>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91165" name="Rectangle 19"/>
            <p:cNvSpPr>
              <a:spLocks noChangeArrowheads="1"/>
            </p:cNvSpPr>
            <p:nvPr/>
          </p:nvSpPr>
          <p:spPr bwMode="auto">
            <a:xfrm>
              <a:off x="3119" y="2023"/>
              <a:ext cx="7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dirty="0">
                  <a:solidFill>
                    <a:srgbClr val="002060"/>
                  </a:solidFill>
                  <a:latin typeface="+mn-lt"/>
                  <a:ea typeface="Arial" charset="0"/>
                  <a:cs typeface="Arial" charset="0"/>
                </a:rPr>
                <a:t>“register”</a:t>
              </a:r>
            </a:p>
          </p:txBody>
        </p:sp>
      </p:grpSp>
      <p:grpSp>
        <p:nvGrpSpPr>
          <p:cNvPr id="6" name="Group 20"/>
          <p:cNvGrpSpPr>
            <a:grpSpLocks/>
          </p:cNvGrpSpPr>
          <p:nvPr/>
        </p:nvGrpSpPr>
        <p:grpSpPr bwMode="auto">
          <a:xfrm>
            <a:off x="3352800" y="3200400"/>
            <a:ext cx="3733800" cy="2593975"/>
            <a:chOff x="2112" y="2016"/>
            <a:chExt cx="2352" cy="1634"/>
          </a:xfrm>
        </p:grpSpPr>
        <p:sp>
          <p:nvSpPr>
            <p:cNvPr id="91161" name="Line 21"/>
            <p:cNvSpPr>
              <a:spLocks noChangeShapeType="1"/>
            </p:cNvSpPr>
            <p:nvPr/>
          </p:nvSpPr>
          <p:spPr bwMode="auto">
            <a:xfrm flipH="1">
              <a:off x="2112" y="2016"/>
              <a:ext cx="2352" cy="864"/>
            </a:xfrm>
            <a:prstGeom prst="line">
              <a:avLst/>
            </a:prstGeom>
            <a:noFill/>
            <a:ln w="381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91162" name="Text Box 22"/>
            <p:cNvSpPr txBox="1">
              <a:spLocks noChangeArrowheads="1"/>
            </p:cNvSpPr>
            <p:nvPr/>
          </p:nvSpPr>
          <p:spPr bwMode="auto">
            <a:xfrm>
              <a:off x="2640" y="2719"/>
              <a:ext cx="1615" cy="93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ID1   169.237.234.1:6881</a:t>
              </a:r>
            </a:p>
            <a:p>
              <a:pPr eaLnBrk="1" hangingPunct="1">
                <a:spcBef>
                  <a:spcPct val="0"/>
                </a:spcBef>
                <a:buFontTx/>
                <a:buNone/>
              </a:pPr>
              <a:r>
                <a:rPr lang="en-US" altLang="en-US" sz="1800" b="1">
                  <a:solidFill>
                    <a:srgbClr val="C00000"/>
                  </a:solidFill>
                  <a:latin typeface="+mn-lt"/>
                  <a:ea typeface="Arial" charset="0"/>
                  <a:cs typeface="Arial" charset="0"/>
                </a:rPr>
                <a:t>ID2   190.50.34.6:5692</a:t>
              </a:r>
            </a:p>
            <a:p>
              <a:pPr eaLnBrk="1" hangingPunct="1">
                <a:spcBef>
                  <a:spcPct val="0"/>
                </a:spcBef>
                <a:buFontTx/>
                <a:buNone/>
              </a:pPr>
              <a:r>
                <a:rPr lang="en-US" altLang="en-US" sz="1800" b="1">
                  <a:solidFill>
                    <a:srgbClr val="C00000"/>
                  </a:solidFill>
                  <a:latin typeface="+mn-lt"/>
                  <a:ea typeface="Arial" charset="0"/>
                  <a:cs typeface="Arial" charset="0"/>
                </a:rPr>
                <a:t>ID3   34.275.89.143:4545</a:t>
              </a:r>
            </a:p>
            <a:p>
              <a:pPr eaLnBrk="1" hangingPunct="1">
                <a:spcBef>
                  <a:spcPct val="0"/>
                </a:spcBef>
                <a:buFontTx/>
                <a:buNone/>
              </a:pPr>
              <a:r>
                <a:rPr lang="en-US" altLang="en-US" sz="1800" b="1">
                  <a:solidFill>
                    <a:srgbClr val="C00000"/>
                  </a:solidFill>
                  <a:latin typeface="+mn-lt"/>
                  <a:ea typeface="Arial" charset="0"/>
                  <a:cs typeface="Arial" charset="0"/>
                </a:rPr>
                <a:t>…</a:t>
              </a:r>
            </a:p>
            <a:p>
              <a:pPr eaLnBrk="1" hangingPunct="1">
                <a:spcBef>
                  <a:spcPct val="0"/>
                </a:spcBef>
                <a:buFontTx/>
                <a:buNone/>
              </a:pPr>
              <a:r>
                <a:rPr lang="en-US" altLang="en-US" sz="1800" b="1">
                  <a:solidFill>
                    <a:srgbClr val="C00000"/>
                  </a:solidFill>
                  <a:latin typeface="+mn-lt"/>
                  <a:ea typeface="Arial" charset="0"/>
                  <a:cs typeface="Arial" charset="0"/>
                </a:rPr>
                <a:t>ID50 231.456.31.95:6882</a:t>
              </a:r>
            </a:p>
          </p:txBody>
        </p:sp>
        <p:sp>
          <p:nvSpPr>
            <p:cNvPr id="91163" name="Text Box 23"/>
            <p:cNvSpPr txBox="1">
              <a:spLocks noChangeArrowheads="1"/>
            </p:cNvSpPr>
            <p:nvPr/>
          </p:nvSpPr>
          <p:spPr bwMode="auto">
            <a:xfrm>
              <a:off x="2976" y="2496"/>
              <a:ext cx="8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dirty="0">
                  <a:solidFill>
                    <a:srgbClr val="00B050"/>
                  </a:solidFill>
                  <a:latin typeface="+mn-lt"/>
                  <a:ea typeface="Arial" charset="0"/>
                  <a:cs typeface="Arial" charset="0"/>
                </a:rPr>
                <a:t>list of peers</a:t>
              </a:r>
            </a:p>
          </p:txBody>
        </p:sp>
      </p:grpSp>
      <p:sp>
        <p:nvSpPr>
          <p:cNvPr id="80920" name="Line 24"/>
          <p:cNvSpPr>
            <a:spLocks noChangeShapeType="1"/>
          </p:cNvSpPr>
          <p:nvPr/>
        </p:nvSpPr>
        <p:spPr bwMode="auto">
          <a:xfrm flipH="1">
            <a:off x="7620000" y="3657600"/>
            <a:ext cx="228600" cy="15240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80921" name="Line 25"/>
          <p:cNvSpPr>
            <a:spLocks noChangeShapeType="1"/>
          </p:cNvSpPr>
          <p:nvPr/>
        </p:nvSpPr>
        <p:spPr bwMode="auto">
          <a:xfrm>
            <a:off x="8001000" y="3657600"/>
            <a:ext cx="381000" cy="13716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sp>
        <p:nvSpPr>
          <p:cNvPr id="80922" name="Line 26"/>
          <p:cNvSpPr>
            <a:spLocks noChangeShapeType="1"/>
          </p:cNvSpPr>
          <p:nvPr/>
        </p:nvSpPr>
        <p:spPr bwMode="auto">
          <a:xfrm flipH="1">
            <a:off x="6400800" y="3657600"/>
            <a:ext cx="1295400" cy="144780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solidFill>
                <a:srgbClr val="C00000"/>
              </a:solidFill>
            </a:endParaRPr>
          </a:p>
        </p:txBody>
      </p:sp>
      <p:grpSp>
        <p:nvGrpSpPr>
          <p:cNvPr id="7" name="Group 27"/>
          <p:cNvGrpSpPr>
            <a:grpSpLocks/>
          </p:cNvGrpSpPr>
          <p:nvPr/>
        </p:nvGrpSpPr>
        <p:grpSpPr bwMode="auto">
          <a:xfrm>
            <a:off x="5257007" y="5448301"/>
            <a:ext cx="1166812" cy="1360488"/>
            <a:chOff x="3297" y="3168"/>
            <a:chExt cx="735" cy="857"/>
          </a:xfrm>
        </p:grpSpPr>
        <p:pic>
          <p:nvPicPr>
            <p:cNvPr id="91159" name="Picture 28" descr="MPj040214700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7" y="3168"/>
              <a:ext cx="735"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60" name="Text Box 29"/>
            <p:cNvSpPr txBox="1">
              <a:spLocks noChangeArrowheads="1"/>
            </p:cNvSpPr>
            <p:nvPr/>
          </p:nvSpPr>
          <p:spPr bwMode="auto">
            <a:xfrm>
              <a:off x="3360" y="3792"/>
              <a:ext cx="5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Peer 40</a:t>
              </a:r>
            </a:p>
          </p:txBody>
        </p:sp>
      </p:grpSp>
      <p:grpSp>
        <p:nvGrpSpPr>
          <p:cNvPr id="8" name="Group 30"/>
          <p:cNvGrpSpPr>
            <a:grpSpLocks/>
          </p:cNvGrpSpPr>
          <p:nvPr/>
        </p:nvGrpSpPr>
        <p:grpSpPr bwMode="auto">
          <a:xfrm>
            <a:off x="6705600" y="5187950"/>
            <a:ext cx="1166813" cy="1354138"/>
            <a:chOff x="4224" y="3268"/>
            <a:chExt cx="735" cy="853"/>
          </a:xfrm>
        </p:grpSpPr>
        <p:pic>
          <p:nvPicPr>
            <p:cNvPr id="91157" name="Picture 31" descr="MPj040214700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 y="3268"/>
              <a:ext cx="735"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8" name="Text Box 32"/>
            <p:cNvSpPr txBox="1">
              <a:spLocks noChangeArrowheads="1"/>
            </p:cNvSpPr>
            <p:nvPr/>
          </p:nvSpPr>
          <p:spPr bwMode="auto">
            <a:xfrm>
              <a:off x="4272" y="3888"/>
              <a:ext cx="4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Peer 2</a:t>
              </a:r>
            </a:p>
          </p:txBody>
        </p:sp>
      </p:grpSp>
      <p:grpSp>
        <p:nvGrpSpPr>
          <p:cNvPr id="9" name="Group 33"/>
          <p:cNvGrpSpPr>
            <a:grpSpLocks/>
          </p:cNvGrpSpPr>
          <p:nvPr/>
        </p:nvGrpSpPr>
        <p:grpSpPr bwMode="auto">
          <a:xfrm>
            <a:off x="7900988" y="5035550"/>
            <a:ext cx="1166812" cy="1368425"/>
            <a:chOff x="4977" y="3172"/>
            <a:chExt cx="735" cy="862"/>
          </a:xfrm>
        </p:grpSpPr>
        <p:pic>
          <p:nvPicPr>
            <p:cNvPr id="91155" name="Picture 34" descr="MPj0402147000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7" y="3172"/>
              <a:ext cx="735"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6" name="Text Box 35"/>
            <p:cNvSpPr txBox="1">
              <a:spLocks noChangeArrowheads="1"/>
            </p:cNvSpPr>
            <p:nvPr/>
          </p:nvSpPr>
          <p:spPr bwMode="auto">
            <a:xfrm>
              <a:off x="5068" y="3801"/>
              <a:ext cx="4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b="1">
                  <a:solidFill>
                    <a:srgbClr val="C00000"/>
                  </a:solidFill>
                  <a:latin typeface="+mn-lt"/>
                  <a:ea typeface="Arial" charset="0"/>
                  <a:cs typeface="Arial" charset="0"/>
                </a:rPr>
                <a:t>Peer 1</a:t>
              </a:r>
            </a:p>
          </p:txBody>
        </p:sp>
      </p:grpSp>
      <p:sp>
        <p:nvSpPr>
          <p:cNvPr id="80932" name="Text Box 36"/>
          <p:cNvSpPr txBox="1">
            <a:spLocks noChangeArrowheads="1"/>
          </p:cNvSpPr>
          <p:nvPr/>
        </p:nvSpPr>
        <p:spPr bwMode="auto">
          <a:xfrm>
            <a:off x="6324600" y="5029200"/>
            <a:ext cx="58541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4400" b="1" dirty="0">
                <a:solidFill>
                  <a:srgbClr val="C00000"/>
                </a:solidFill>
                <a:latin typeface="+mn-lt"/>
                <a:ea typeface="Arial" charset="0"/>
                <a:cs typeface="Arial" charset="0"/>
              </a:rPr>
              <a:t>…</a:t>
            </a:r>
          </a:p>
        </p:txBody>
      </p:sp>
    </p:spTree>
    <p:extLst>
      <p:ext uri="{BB962C8B-B14F-4D97-AF65-F5344CB8AC3E}">
        <p14:creationId xmlns:p14="http://schemas.microsoft.com/office/powerpoint/2010/main" val="1935357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3"/>
                                        </p:tgtEl>
                                        <p:attrNameLst>
                                          <p:attrName>style.visibility</p:attrName>
                                        </p:attrNameLst>
                                      </p:cBhvr>
                                      <p:to>
                                        <p:strVal val="hidden"/>
                                      </p:to>
                                    </p:set>
                                  </p:childTnLst>
                                </p:cTn>
                              </p:par>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par>
                          <p:cTn id="15" fill="hold" nodeType="afterGroup">
                            <p:stCondLst>
                              <p:cond delay="500"/>
                            </p:stCondLst>
                            <p:childTnLst>
                              <p:par>
                                <p:cTn id="16" presetID="10"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2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righ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xit" presetSubtype="0" fill="hold" nodeType="clickEffect">
                                  <p:stCondLst>
                                    <p:cond delay="0"/>
                                  </p:stCondLst>
                                  <p:childTnLst>
                                    <p:set>
                                      <p:cBhvr>
                                        <p:cTn id="31" dur="1" fill="hold">
                                          <p:stCondLst>
                                            <p:cond delay="0"/>
                                          </p:stCondLst>
                                        </p:cTn>
                                        <p:tgtEl>
                                          <p:spTgt spid="5"/>
                                        </p:tgtEl>
                                        <p:attrNameLst>
                                          <p:attrName>style.visibility</p:attrName>
                                        </p:attrNameLst>
                                      </p:cBhvr>
                                      <p:to>
                                        <p:strVal val="hidden"/>
                                      </p:to>
                                    </p:set>
                                  </p:childTnLst>
                                </p:cTn>
                              </p:par>
                              <p:par>
                                <p:cTn id="32" presetID="22" presetClass="entr" presetSubtype="8"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xit" presetSubtype="0" fill="hold"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0"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2000"/>
                                        <p:tgtEl>
                                          <p:spTgt spid="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0932"/>
                                        </p:tgtEl>
                                        <p:attrNameLst>
                                          <p:attrName>style.visibility</p:attrName>
                                        </p:attrNameLst>
                                      </p:cBhvr>
                                      <p:to>
                                        <p:strVal val="visible"/>
                                      </p:to>
                                    </p:set>
                                    <p:animEffect transition="in" filter="fade">
                                      <p:cBhvr>
                                        <p:cTn id="44" dur="2000"/>
                                        <p:tgtEl>
                                          <p:spTgt spid="80932"/>
                                        </p:tgtEl>
                                      </p:cBhvr>
                                    </p:animEffect>
                                  </p:childTnLst>
                                </p:cTn>
                              </p:par>
                              <p:par>
                                <p:cTn id="45" presetID="10"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2000"/>
                                        <p:tgtEl>
                                          <p:spTgt spid="8"/>
                                        </p:tgtEl>
                                      </p:cBhvr>
                                    </p:animEffect>
                                  </p:childTnLst>
                                </p:cTn>
                              </p:par>
                              <p:par>
                                <p:cTn id="48" presetID="10" presetClass="entr" presetSubtype="0" fill="hold"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2000"/>
                                        <p:tgtEl>
                                          <p:spTgt spid="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80922"/>
                                        </p:tgtEl>
                                        <p:attrNameLst>
                                          <p:attrName>style.visibility</p:attrName>
                                        </p:attrNameLst>
                                      </p:cBhvr>
                                      <p:to>
                                        <p:strVal val="visible"/>
                                      </p:to>
                                    </p:set>
                                    <p:animEffect transition="in" filter="wipe(up)">
                                      <p:cBhvr>
                                        <p:cTn id="55" dur="2000"/>
                                        <p:tgtEl>
                                          <p:spTgt spid="80922"/>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80920"/>
                                        </p:tgtEl>
                                        <p:attrNameLst>
                                          <p:attrName>style.visibility</p:attrName>
                                        </p:attrNameLst>
                                      </p:cBhvr>
                                      <p:to>
                                        <p:strVal val="visible"/>
                                      </p:to>
                                    </p:set>
                                    <p:animEffect transition="in" filter="wipe(up)">
                                      <p:cBhvr>
                                        <p:cTn id="58" dur="2000"/>
                                        <p:tgtEl>
                                          <p:spTgt spid="80920"/>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80921"/>
                                        </p:tgtEl>
                                        <p:attrNameLst>
                                          <p:attrName>style.visibility</p:attrName>
                                        </p:attrNameLst>
                                      </p:cBhvr>
                                      <p:to>
                                        <p:strVal val="visible"/>
                                      </p:to>
                                    </p:set>
                                    <p:animEffect transition="in" filter="wipe(up)">
                                      <p:cBhvr>
                                        <p:cTn id="61" dur="2000"/>
                                        <p:tgtEl>
                                          <p:spTgt spid="80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20" grpId="0" animBg="1"/>
      <p:bldP spid="80921" grpId="0" animBg="1"/>
      <p:bldP spid="80922" grpId="0" animBg="1"/>
      <p:bldP spid="809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685800" y="304800"/>
            <a:ext cx="7772400" cy="1143000"/>
          </a:xfrm>
        </p:spPr>
        <p:txBody>
          <a:bodyPr/>
          <a:lstStyle/>
          <a:p>
            <a:pPr eaLnBrk="1" hangingPunct="1"/>
            <a:r>
              <a:rPr lang="en-US" altLang="en-US" sz="4000" dirty="0"/>
              <a:t>Pieces and Sub-pieces</a:t>
            </a:r>
          </a:p>
        </p:txBody>
      </p:sp>
      <p:sp>
        <p:nvSpPr>
          <p:cNvPr id="93187" name="Rectangle 3"/>
          <p:cNvSpPr>
            <a:spLocks noGrp="1" noChangeArrowheads="1"/>
          </p:cNvSpPr>
          <p:nvPr>
            <p:ph type="body" idx="1"/>
          </p:nvPr>
        </p:nvSpPr>
        <p:spPr>
          <a:xfrm>
            <a:off x="685800" y="1447800"/>
            <a:ext cx="7772400" cy="4114800"/>
          </a:xfrm>
        </p:spPr>
        <p:txBody>
          <a:bodyPr>
            <a:normAutofit/>
          </a:bodyPr>
          <a:lstStyle/>
          <a:p>
            <a:pPr eaLnBrk="1" hangingPunct="1">
              <a:lnSpc>
                <a:spcPct val="90000"/>
              </a:lnSpc>
            </a:pPr>
            <a:r>
              <a:rPr lang="en-US" altLang="en-US" sz="2400" dirty="0"/>
              <a:t>A piece, typically 256KB is broken into 16KB sub-pieces.</a:t>
            </a:r>
          </a:p>
          <a:p>
            <a:pPr eaLnBrk="1" hangingPunct="1">
              <a:lnSpc>
                <a:spcPct val="90000"/>
              </a:lnSpc>
            </a:pPr>
            <a:r>
              <a:rPr lang="en-US" altLang="en-US" sz="2400" dirty="0"/>
              <a:t>Until a piece is assembled, only sub-pieces for that piece is downloaded.</a:t>
            </a:r>
          </a:p>
          <a:p>
            <a:pPr eaLnBrk="1" hangingPunct="1">
              <a:lnSpc>
                <a:spcPct val="90000"/>
              </a:lnSpc>
            </a:pPr>
            <a:r>
              <a:rPr lang="en-US" altLang="en-US" sz="2400" dirty="0"/>
              <a:t>This ensures that complete pieces assemble quickly.</a:t>
            </a:r>
          </a:p>
          <a:p>
            <a:pPr eaLnBrk="1" hangingPunct="1">
              <a:lnSpc>
                <a:spcPct val="90000"/>
              </a:lnSpc>
            </a:pPr>
            <a:r>
              <a:rPr lang="en-US" altLang="en-US" sz="2400" dirty="0"/>
              <a:t>At any point in time, some number, typically 5, are requested simultaneously.</a:t>
            </a:r>
          </a:p>
          <a:p>
            <a:pPr eaLnBrk="1" hangingPunct="1">
              <a:lnSpc>
                <a:spcPct val="90000"/>
              </a:lnSpc>
            </a:pPr>
            <a:r>
              <a:rPr lang="en-US" altLang="en-US" sz="2400" dirty="0"/>
              <a:t>On piece completion, notify all (neighbor) peers.</a:t>
            </a:r>
          </a:p>
        </p:txBody>
      </p:sp>
    </p:spTree>
    <p:extLst>
      <p:ext uri="{BB962C8B-B14F-4D97-AF65-F5344CB8AC3E}">
        <p14:creationId xmlns:p14="http://schemas.microsoft.com/office/powerpoint/2010/main" val="19876778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685800" y="228600"/>
            <a:ext cx="7772400" cy="1143000"/>
          </a:xfrm>
        </p:spPr>
        <p:txBody>
          <a:bodyPr/>
          <a:lstStyle/>
          <a:p>
            <a:pPr eaLnBrk="1" hangingPunct="1"/>
            <a:r>
              <a:rPr lang="en-US" altLang="en-US" dirty="0"/>
              <a:t>Piece Selection</a:t>
            </a:r>
          </a:p>
        </p:txBody>
      </p:sp>
      <p:sp>
        <p:nvSpPr>
          <p:cNvPr id="95235" name="Rectangle 3"/>
          <p:cNvSpPr>
            <a:spLocks noGrp="1" noChangeArrowheads="1"/>
          </p:cNvSpPr>
          <p:nvPr>
            <p:ph type="body" idx="1"/>
          </p:nvPr>
        </p:nvSpPr>
        <p:spPr>
          <a:xfrm>
            <a:off x="685800" y="1371600"/>
            <a:ext cx="7772400" cy="5105400"/>
          </a:xfrm>
        </p:spPr>
        <p:txBody>
          <a:bodyPr>
            <a:normAutofit/>
          </a:bodyPr>
          <a:lstStyle/>
          <a:p>
            <a:pPr eaLnBrk="1" hangingPunct="1">
              <a:lnSpc>
                <a:spcPct val="90000"/>
              </a:lnSpc>
            </a:pPr>
            <a:r>
              <a:rPr lang="en-US" altLang="en-US" sz="2800" dirty="0"/>
              <a:t>The order of pieces is very important for good performance. </a:t>
            </a:r>
          </a:p>
          <a:p>
            <a:pPr eaLnBrk="1" hangingPunct="1">
              <a:lnSpc>
                <a:spcPct val="90000"/>
              </a:lnSpc>
            </a:pPr>
            <a:r>
              <a:rPr lang="en-US" altLang="en-US" sz="2800" dirty="0"/>
              <a:t>A bad algorithm could result in all peers waiting for the same missing piece.</a:t>
            </a:r>
          </a:p>
          <a:p>
            <a:pPr eaLnBrk="1" hangingPunct="1">
              <a:lnSpc>
                <a:spcPct val="90000"/>
              </a:lnSpc>
            </a:pPr>
            <a:r>
              <a:rPr lang="en-US" altLang="en-US" sz="2800" dirty="0"/>
              <a:t>Random Piece First policy</a:t>
            </a:r>
          </a:p>
          <a:p>
            <a:pPr lvl="1" eaLnBrk="1" hangingPunct="1">
              <a:lnSpc>
                <a:spcPct val="90000"/>
              </a:lnSpc>
            </a:pPr>
            <a:r>
              <a:rPr lang="en-US" altLang="en-US" sz="2400" dirty="0"/>
              <a:t>Initially a peer had no pieces to trade, thus important to get a piece ASAP.</a:t>
            </a:r>
          </a:p>
          <a:p>
            <a:pPr lvl="1" eaLnBrk="1" hangingPunct="1">
              <a:lnSpc>
                <a:spcPct val="90000"/>
              </a:lnSpc>
            </a:pPr>
            <a:r>
              <a:rPr lang="en-US" altLang="en-US" sz="2400" dirty="0"/>
              <a:t>Policy: Peer starts with a random piece to download.</a:t>
            </a:r>
          </a:p>
          <a:p>
            <a:pPr eaLnBrk="1" hangingPunct="1">
              <a:lnSpc>
                <a:spcPct val="90000"/>
              </a:lnSpc>
            </a:pPr>
            <a:r>
              <a:rPr lang="en-US" altLang="en-US" sz="2800" dirty="0"/>
              <a:t>Rarest Piece First policy</a:t>
            </a:r>
          </a:p>
          <a:p>
            <a:pPr lvl="1" eaLnBrk="1" hangingPunct="1">
              <a:lnSpc>
                <a:spcPct val="90000"/>
              </a:lnSpc>
            </a:pPr>
            <a:r>
              <a:rPr lang="en-US" altLang="en-US" sz="2400" dirty="0"/>
              <a:t>Policy: Download the pieces which are rarest among your peers.</a:t>
            </a:r>
          </a:p>
          <a:p>
            <a:pPr lvl="1" eaLnBrk="1" hangingPunct="1">
              <a:lnSpc>
                <a:spcPct val="90000"/>
              </a:lnSpc>
            </a:pPr>
            <a:r>
              <a:rPr lang="en-US" altLang="en-US" sz="2400" dirty="0"/>
              <a:t>Ensures most common pieces are left for last.</a:t>
            </a:r>
          </a:p>
          <a:p>
            <a:pPr eaLnBrk="1" hangingPunct="1">
              <a:lnSpc>
                <a:spcPct val="90000"/>
              </a:lnSpc>
            </a:pPr>
            <a:endParaRPr lang="en-US" altLang="en-US" sz="2800" dirty="0"/>
          </a:p>
        </p:txBody>
      </p:sp>
    </p:spTree>
    <p:extLst>
      <p:ext uri="{BB962C8B-B14F-4D97-AF65-F5344CB8AC3E}">
        <p14:creationId xmlns:p14="http://schemas.microsoft.com/office/powerpoint/2010/main" val="1602718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312DC-7329-4C1A-8FA5-E9F9A2364733}"/>
              </a:ext>
            </a:extLst>
          </p:cNvPr>
          <p:cNvSpPr>
            <a:spLocks noGrp="1"/>
          </p:cNvSpPr>
          <p:nvPr>
            <p:ph idx="1"/>
          </p:nvPr>
        </p:nvSpPr>
        <p:spPr/>
        <p:txBody>
          <a:bodyPr>
            <a:normAutofit/>
          </a:bodyPr>
          <a:lstStyle/>
          <a:p>
            <a:pPr marL="0" indent="0" algn="ctr">
              <a:buNone/>
            </a:pPr>
            <a:r>
              <a:rPr lang="en-US" sz="4400" b="1" dirty="0">
                <a:solidFill>
                  <a:srgbClr val="FF0000"/>
                </a:solidFill>
              </a:rPr>
              <a:t>Distributed Hash Table (DHT)</a:t>
            </a:r>
          </a:p>
          <a:p>
            <a:pPr marL="0" indent="0" algn="ctr">
              <a:buNone/>
            </a:pPr>
            <a:r>
              <a:rPr lang="en-US" sz="4400" b="1" dirty="0">
                <a:solidFill>
                  <a:srgbClr val="FF0000"/>
                </a:solidFill>
              </a:rPr>
              <a:t>and</a:t>
            </a:r>
          </a:p>
          <a:p>
            <a:pPr marL="0" indent="0" algn="ctr">
              <a:buNone/>
            </a:pPr>
            <a:r>
              <a:rPr lang="en-US" sz="4400" b="1" dirty="0">
                <a:solidFill>
                  <a:srgbClr val="FF0000"/>
                </a:solidFill>
              </a:rPr>
              <a:t>Structured P2P </a:t>
            </a:r>
          </a:p>
        </p:txBody>
      </p:sp>
    </p:spTree>
    <p:extLst>
      <p:ext uri="{BB962C8B-B14F-4D97-AF65-F5344CB8AC3E}">
        <p14:creationId xmlns:p14="http://schemas.microsoft.com/office/powerpoint/2010/main" val="3219917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0309C1A-5B84-4936-B82D-F351518C58A2}"/>
              </a:ext>
            </a:extLst>
          </p:cNvPr>
          <p:cNvSpPr>
            <a:spLocks noChangeArrowheads="1"/>
          </p:cNvSpPr>
          <p:nvPr/>
        </p:nvSpPr>
        <p:spPr bwMode="auto">
          <a:xfrm>
            <a:off x="457200" y="342900"/>
            <a:ext cx="7620000" cy="990600"/>
          </a:xfrm>
          <a:prstGeom prst="rect">
            <a:avLst/>
          </a:prstGeom>
          <a:solidFill>
            <a:schemeClr val="bg1"/>
          </a:solid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ea typeface="Calibri" charset="0"/>
                <a:cs typeface="Calibri Light" panose="020F0302020204030204" pitchFamily="34" charset="0"/>
              </a:rPr>
              <a:t>Motivation</a:t>
            </a:r>
          </a:p>
        </p:txBody>
      </p:sp>
      <p:sp>
        <p:nvSpPr>
          <p:cNvPr id="7171" name="Text Box 3">
            <a:extLst>
              <a:ext uri="{FF2B5EF4-FFF2-40B4-BE49-F238E27FC236}">
                <a16:creationId xmlns:a16="http://schemas.microsoft.com/office/drawing/2014/main" id="{31AFC5B5-B2B7-4F97-A1CA-3290B10E79EB}"/>
              </a:ext>
            </a:extLst>
          </p:cNvPr>
          <p:cNvSpPr txBox="1">
            <a:spLocks noChangeArrowheads="1"/>
          </p:cNvSpPr>
          <p:nvPr/>
        </p:nvSpPr>
        <p:spPr bwMode="auto">
          <a:xfrm>
            <a:off x="381000" y="1600200"/>
            <a:ext cx="84582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None/>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How to find data in a distributed file sharing system?</a:t>
            </a:r>
            <a:endParaRPr kumimoji="0" lang="en-US" altLang="en-US" sz="28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endParaRPr>
          </a:p>
        </p:txBody>
      </p:sp>
      <p:sp>
        <p:nvSpPr>
          <p:cNvPr id="7172" name="Text Box 4">
            <a:extLst>
              <a:ext uri="{FF2B5EF4-FFF2-40B4-BE49-F238E27FC236}">
                <a16:creationId xmlns:a16="http://schemas.microsoft.com/office/drawing/2014/main" id="{898C65F5-3C3F-448A-836E-60FAC3F1EA5B}"/>
              </a:ext>
            </a:extLst>
          </p:cNvPr>
          <p:cNvSpPr txBox="1">
            <a:spLocks noChangeArrowheads="1"/>
          </p:cNvSpPr>
          <p:nvPr/>
        </p:nvSpPr>
        <p:spPr bwMode="auto">
          <a:xfrm>
            <a:off x="381000" y="5913438"/>
            <a:ext cx="83058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2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a:t>
            </a: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Lookup is the key problem</a:t>
            </a:r>
          </a:p>
        </p:txBody>
      </p:sp>
      <p:sp>
        <p:nvSpPr>
          <p:cNvPr id="7201" name="Rectangle 33">
            <a:extLst>
              <a:ext uri="{FF2B5EF4-FFF2-40B4-BE49-F238E27FC236}">
                <a16:creationId xmlns:a16="http://schemas.microsoft.com/office/drawing/2014/main" id="{0B7A976E-068E-4788-A5D7-F8004E16BDA1}"/>
              </a:ext>
            </a:extLst>
          </p:cNvPr>
          <p:cNvSpPr>
            <a:spLocks noChangeArrowheads="1"/>
          </p:cNvSpPr>
          <p:nvPr/>
        </p:nvSpPr>
        <p:spPr bwMode="auto">
          <a:xfrm>
            <a:off x="1981200" y="434622"/>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har char="•"/>
              <a:defRPr sz="3200">
                <a:solidFill>
                  <a:schemeClr val="tx1"/>
                </a:solidFill>
                <a:latin typeface="Times New Roman" panose="02020603050405020304" pitchFamily="18" charset="0"/>
              </a:defRPr>
            </a:lvl1pPr>
            <a:lvl2pPr marL="742950" indent="-285750" algn="l">
              <a:spcBef>
                <a:spcPct val="20000"/>
              </a:spcBef>
              <a:buChar char="–"/>
              <a:defRPr sz="2800">
                <a:solidFill>
                  <a:schemeClr val="tx1"/>
                </a:solidFill>
                <a:latin typeface="Times New Roman" panose="02020603050405020304" pitchFamily="18" charset="0"/>
              </a:defRPr>
            </a:lvl2pPr>
            <a:lvl3pPr marL="1143000" indent="-228600" algn="l">
              <a:spcBef>
                <a:spcPct val="20000"/>
              </a:spcBef>
              <a:buChar char="•"/>
              <a:defRPr sz="2400">
                <a:solidFill>
                  <a:schemeClr val="tx1"/>
                </a:solidFill>
                <a:latin typeface="Times New Roman" panose="02020603050405020304" pitchFamily="18" charset="0"/>
              </a:defRPr>
            </a:lvl3pPr>
            <a:lvl4pPr marL="1600200" indent="-228600" algn="l">
              <a:spcBef>
                <a:spcPct val="20000"/>
              </a:spcBef>
              <a:buChar char="–"/>
              <a:defRPr sz="2000">
                <a:solidFill>
                  <a:schemeClr val="tx1"/>
                </a:solidFill>
                <a:latin typeface="Times New Roman" panose="02020603050405020304" pitchFamily="18" charset="0"/>
              </a:defRPr>
            </a:lvl4pPr>
            <a:lvl5pPr marL="2057400" indent="-228600" algn="l">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17" name="Oval 49">
            <a:extLst>
              <a:ext uri="{FF2B5EF4-FFF2-40B4-BE49-F238E27FC236}">
                <a16:creationId xmlns:a16="http://schemas.microsoft.com/office/drawing/2014/main" id="{95D5BBC4-02AA-4872-B11A-9DBC3FF5D7E9}"/>
              </a:ext>
            </a:extLst>
          </p:cNvPr>
          <p:cNvSpPr>
            <a:spLocks noChangeArrowheads="1"/>
          </p:cNvSpPr>
          <p:nvPr/>
        </p:nvSpPr>
        <p:spPr bwMode="auto">
          <a:xfrm>
            <a:off x="3209925" y="3429000"/>
            <a:ext cx="3048000" cy="1143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18" name="Text Box 50">
            <a:extLst>
              <a:ext uri="{FF2B5EF4-FFF2-40B4-BE49-F238E27FC236}">
                <a16:creationId xmlns:a16="http://schemas.microsoft.com/office/drawing/2014/main" id="{5A5AF83C-9130-4DE4-B563-6D674CE31AF8}"/>
              </a:ext>
            </a:extLst>
          </p:cNvPr>
          <p:cNvSpPr txBox="1">
            <a:spLocks noChangeArrowheads="1"/>
          </p:cNvSpPr>
          <p:nvPr/>
        </p:nvSpPr>
        <p:spPr bwMode="auto">
          <a:xfrm>
            <a:off x="4103688" y="3686175"/>
            <a:ext cx="1217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Internet</a:t>
            </a:r>
          </a:p>
        </p:txBody>
      </p:sp>
      <p:sp>
        <p:nvSpPr>
          <p:cNvPr id="7225" name="Text Box 57">
            <a:extLst>
              <a:ext uri="{FF2B5EF4-FFF2-40B4-BE49-F238E27FC236}">
                <a16:creationId xmlns:a16="http://schemas.microsoft.com/office/drawing/2014/main" id="{3BFD6CC9-540F-4248-8B03-24EAE3CE080D}"/>
              </a:ext>
            </a:extLst>
          </p:cNvPr>
          <p:cNvSpPr txBox="1">
            <a:spLocks noChangeArrowheads="1"/>
          </p:cNvSpPr>
          <p:nvPr/>
        </p:nvSpPr>
        <p:spPr bwMode="auto">
          <a:xfrm>
            <a:off x="1143000" y="2895600"/>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Publisher</a:t>
            </a:r>
          </a:p>
        </p:txBody>
      </p:sp>
      <p:sp>
        <p:nvSpPr>
          <p:cNvPr id="7226" name="Text Box 58">
            <a:extLst>
              <a:ext uri="{FF2B5EF4-FFF2-40B4-BE49-F238E27FC236}">
                <a16:creationId xmlns:a16="http://schemas.microsoft.com/office/drawing/2014/main" id="{1259A458-9A3D-4B97-8E1F-AF0AEC57C41F}"/>
              </a:ext>
            </a:extLst>
          </p:cNvPr>
          <p:cNvSpPr txBox="1">
            <a:spLocks noChangeArrowheads="1"/>
          </p:cNvSpPr>
          <p:nvPr/>
        </p:nvSpPr>
        <p:spPr bwMode="auto">
          <a:xfrm>
            <a:off x="331788" y="3184525"/>
            <a:ext cx="2030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Key=“LetItBe”</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Value=MP3 data</a:t>
            </a:r>
          </a:p>
        </p:txBody>
      </p:sp>
      <p:sp>
        <p:nvSpPr>
          <p:cNvPr id="7228" name="Text Box 60">
            <a:extLst>
              <a:ext uri="{FF2B5EF4-FFF2-40B4-BE49-F238E27FC236}">
                <a16:creationId xmlns:a16="http://schemas.microsoft.com/office/drawing/2014/main" id="{70E5F774-378F-4876-B0E1-E88299B4F904}"/>
              </a:ext>
            </a:extLst>
          </p:cNvPr>
          <p:cNvSpPr txBox="1">
            <a:spLocks noChangeArrowheads="1"/>
          </p:cNvSpPr>
          <p:nvPr/>
        </p:nvSpPr>
        <p:spPr bwMode="auto">
          <a:xfrm>
            <a:off x="6629400" y="5257800"/>
            <a:ext cx="2201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Lookup(“LetItBe”)</a:t>
            </a:r>
          </a:p>
        </p:txBody>
      </p:sp>
      <p:grpSp>
        <p:nvGrpSpPr>
          <p:cNvPr id="7233" name="Group 65">
            <a:extLst>
              <a:ext uri="{FF2B5EF4-FFF2-40B4-BE49-F238E27FC236}">
                <a16:creationId xmlns:a16="http://schemas.microsoft.com/office/drawing/2014/main" id="{30FAA0D0-D7FC-480D-9472-655BA2466B3A}"/>
              </a:ext>
            </a:extLst>
          </p:cNvPr>
          <p:cNvGrpSpPr>
            <a:grpSpLocks/>
          </p:cNvGrpSpPr>
          <p:nvPr/>
        </p:nvGrpSpPr>
        <p:grpSpPr bwMode="auto">
          <a:xfrm>
            <a:off x="2362200" y="2819400"/>
            <a:ext cx="609600" cy="533400"/>
            <a:chOff x="1248" y="1968"/>
            <a:chExt cx="384" cy="336"/>
          </a:xfrm>
        </p:grpSpPr>
        <p:sp>
          <p:nvSpPr>
            <p:cNvPr id="7232" name="Oval 64">
              <a:extLst>
                <a:ext uri="{FF2B5EF4-FFF2-40B4-BE49-F238E27FC236}">
                  <a16:creationId xmlns:a16="http://schemas.microsoft.com/office/drawing/2014/main" id="{0B69AA0E-A17D-4495-AF7E-5A8C47E4462D}"/>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19" name="Text Box 51">
              <a:extLst>
                <a:ext uri="{FF2B5EF4-FFF2-40B4-BE49-F238E27FC236}">
                  <a16:creationId xmlns:a16="http://schemas.microsoft.com/office/drawing/2014/main" id="{3894CB9C-069C-4F3D-B364-C700EDD2948B}"/>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1</a:t>
              </a:r>
            </a:p>
          </p:txBody>
        </p:sp>
      </p:grpSp>
      <p:grpSp>
        <p:nvGrpSpPr>
          <p:cNvPr id="7234" name="Group 66">
            <a:extLst>
              <a:ext uri="{FF2B5EF4-FFF2-40B4-BE49-F238E27FC236}">
                <a16:creationId xmlns:a16="http://schemas.microsoft.com/office/drawing/2014/main" id="{DC676E37-5DA7-4E9E-B3C2-892A72425207}"/>
              </a:ext>
            </a:extLst>
          </p:cNvPr>
          <p:cNvGrpSpPr>
            <a:grpSpLocks/>
          </p:cNvGrpSpPr>
          <p:nvPr/>
        </p:nvGrpSpPr>
        <p:grpSpPr bwMode="auto">
          <a:xfrm>
            <a:off x="4191000" y="2438400"/>
            <a:ext cx="609600" cy="533400"/>
            <a:chOff x="1248" y="1968"/>
            <a:chExt cx="384" cy="336"/>
          </a:xfrm>
        </p:grpSpPr>
        <p:sp>
          <p:nvSpPr>
            <p:cNvPr id="7235" name="Oval 67">
              <a:extLst>
                <a:ext uri="{FF2B5EF4-FFF2-40B4-BE49-F238E27FC236}">
                  <a16:creationId xmlns:a16="http://schemas.microsoft.com/office/drawing/2014/main" id="{CFEBA27C-9DC6-471B-BF74-7729805C1203}"/>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36" name="Text Box 68">
              <a:extLst>
                <a:ext uri="{FF2B5EF4-FFF2-40B4-BE49-F238E27FC236}">
                  <a16:creationId xmlns:a16="http://schemas.microsoft.com/office/drawing/2014/main" id="{8E26D924-C108-4524-BA14-5D3E745D75A0}"/>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2</a:t>
              </a:r>
            </a:p>
          </p:txBody>
        </p:sp>
      </p:grpSp>
      <p:grpSp>
        <p:nvGrpSpPr>
          <p:cNvPr id="7237" name="Group 69">
            <a:extLst>
              <a:ext uri="{FF2B5EF4-FFF2-40B4-BE49-F238E27FC236}">
                <a16:creationId xmlns:a16="http://schemas.microsoft.com/office/drawing/2014/main" id="{E55BFFA2-25CF-467D-8810-8F521B9C76AD}"/>
              </a:ext>
            </a:extLst>
          </p:cNvPr>
          <p:cNvGrpSpPr>
            <a:grpSpLocks/>
          </p:cNvGrpSpPr>
          <p:nvPr/>
        </p:nvGrpSpPr>
        <p:grpSpPr bwMode="auto">
          <a:xfrm>
            <a:off x="5943600" y="2590800"/>
            <a:ext cx="609600" cy="533400"/>
            <a:chOff x="1248" y="1968"/>
            <a:chExt cx="384" cy="336"/>
          </a:xfrm>
        </p:grpSpPr>
        <p:sp>
          <p:nvSpPr>
            <p:cNvPr id="7238" name="Oval 70">
              <a:extLst>
                <a:ext uri="{FF2B5EF4-FFF2-40B4-BE49-F238E27FC236}">
                  <a16:creationId xmlns:a16="http://schemas.microsoft.com/office/drawing/2014/main" id="{F851CC97-8625-4775-AFC1-9DE34A911F4E}"/>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39" name="Text Box 71">
              <a:extLst>
                <a:ext uri="{FF2B5EF4-FFF2-40B4-BE49-F238E27FC236}">
                  <a16:creationId xmlns:a16="http://schemas.microsoft.com/office/drawing/2014/main" id="{ABAD3C59-47E7-465A-8FE4-B22D6D3FEEEE}"/>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3</a:t>
              </a:r>
            </a:p>
          </p:txBody>
        </p:sp>
      </p:grpSp>
      <p:grpSp>
        <p:nvGrpSpPr>
          <p:cNvPr id="7240" name="Group 72">
            <a:extLst>
              <a:ext uri="{FF2B5EF4-FFF2-40B4-BE49-F238E27FC236}">
                <a16:creationId xmlns:a16="http://schemas.microsoft.com/office/drawing/2014/main" id="{709F4DD0-2E3B-46A8-841F-EFA8DCDFCD29}"/>
              </a:ext>
            </a:extLst>
          </p:cNvPr>
          <p:cNvGrpSpPr>
            <a:grpSpLocks/>
          </p:cNvGrpSpPr>
          <p:nvPr/>
        </p:nvGrpSpPr>
        <p:grpSpPr bwMode="auto">
          <a:xfrm>
            <a:off x="5943600" y="4800600"/>
            <a:ext cx="609600" cy="533400"/>
            <a:chOff x="1248" y="1968"/>
            <a:chExt cx="384" cy="336"/>
          </a:xfrm>
        </p:grpSpPr>
        <p:sp>
          <p:nvSpPr>
            <p:cNvPr id="7241" name="Oval 73">
              <a:extLst>
                <a:ext uri="{FF2B5EF4-FFF2-40B4-BE49-F238E27FC236}">
                  <a16:creationId xmlns:a16="http://schemas.microsoft.com/office/drawing/2014/main" id="{F09C05D5-650D-4FE6-A818-9FB96695F7BB}"/>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42" name="Text Box 74">
              <a:extLst>
                <a:ext uri="{FF2B5EF4-FFF2-40B4-BE49-F238E27FC236}">
                  <a16:creationId xmlns:a16="http://schemas.microsoft.com/office/drawing/2014/main" id="{5EA039B3-F2E7-4F8C-8A8D-1B0A18F2809C}"/>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5</a:t>
              </a:r>
            </a:p>
          </p:txBody>
        </p:sp>
      </p:grpSp>
      <p:grpSp>
        <p:nvGrpSpPr>
          <p:cNvPr id="7243" name="Group 75">
            <a:extLst>
              <a:ext uri="{FF2B5EF4-FFF2-40B4-BE49-F238E27FC236}">
                <a16:creationId xmlns:a16="http://schemas.microsoft.com/office/drawing/2014/main" id="{21A3C8EB-C5D1-4361-8C9D-6007CE98D17B}"/>
              </a:ext>
            </a:extLst>
          </p:cNvPr>
          <p:cNvGrpSpPr>
            <a:grpSpLocks/>
          </p:cNvGrpSpPr>
          <p:nvPr/>
        </p:nvGrpSpPr>
        <p:grpSpPr bwMode="auto">
          <a:xfrm>
            <a:off x="3657600" y="4953000"/>
            <a:ext cx="609600" cy="533400"/>
            <a:chOff x="1248" y="1968"/>
            <a:chExt cx="384" cy="336"/>
          </a:xfrm>
        </p:grpSpPr>
        <p:sp>
          <p:nvSpPr>
            <p:cNvPr id="7244" name="Oval 76">
              <a:extLst>
                <a:ext uri="{FF2B5EF4-FFF2-40B4-BE49-F238E27FC236}">
                  <a16:creationId xmlns:a16="http://schemas.microsoft.com/office/drawing/2014/main" id="{67879E73-3261-4AD9-8693-C8887A1DA85F}"/>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45" name="Text Box 77">
              <a:extLst>
                <a:ext uri="{FF2B5EF4-FFF2-40B4-BE49-F238E27FC236}">
                  <a16:creationId xmlns:a16="http://schemas.microsoft.com/office/drawing/2014/main" id="{4464B729-5B1A-4F49-AC25-84C406C60DD5}"/>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4</a:t>
              </a:r>
            </a:p>
          </p:txBody>
        </p:sp>
      </p:grpSp>
      <p:sp>
        <p:nvSpPr>
          <p:cNvPr id="7247" name="Line 79">
            <a:extLst>
              <a:ext uri="{FF2B5EF4-FFF2-40B4-BE49-F238E27FC236}">
                <a16:creationId xmlns:a16="http://schemas.microsoft.com/office/drawing/2014/main" id="{9A9A3412-B09F-42AB-AB43-54FE6958BAC0}"/>
              </a:ext>
            </a:extLst>
          </p:cNvPr>
          <p:cNvSpPr>
            <a:spLocks noChangeShapeType="1"/>
          </p:cNvSpPr>
          <p:nvPr/>
        </p:nvSpPr>
        <p:spPr bwMode="auto">
          <a:xfrm>
            <a:off x="2895600" y="320040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48" name="Line 80">
            <a:extLst>
              <a:ext uri="{FF2B5EF4-FFF2-40B4-BE49-F238E27FC236}">
                <a16:creationId xmlns:a16="http://schemas.microsoft.com/office/drawing/2014/main" id="{2F90F0A0-7B71-43A2-B743-798165FD70A1}"/>
              </a:ext>
            </a:extLst>
          </p:cNvPr>
          <p:cNvSpPr>
            <a:spLocks noChangeShapeType="1"/>
          </p:cNvSpPr>
          <p:nvPr/>
        </p:nvSpPr>
        <p:spPr bwMode="auto">
          <a:xfrm>
            <a:off x="4495800" y="2971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49" name="Line 81">
            <a:extLst>
              <a:ext uri="{FF2B5EF4-FFF2-40B4-BE49-F238E27FC236}">
                <a16:creationId xmlns:a16="http://schemas.microsoft.com/office/drawing/2014/main" id="{05FAE1C2-CF7A-45F1-9B68-F203B3B3EC9C}"/>
              </a:ext>
            </a:extLst>
          </p:cNvPr>
          <p:cNvSpPr>
            <a:spLocks noChangeShapeType="1"/>
          </p:cNvSpPr>
          <p:nvPr/>
        </p:nvSpPr>
        <p:spPr bwMode="auto">
          <a:xfrm flipH="1">
            <a:off x="5638800" y="312420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50" name="Line 82">
            <a:extLst>
              <a:ext uri="{FF2B5EF4-FFF2-40B4-BE49-F238E27FC236}">
                <a16:creationId xmlns:a16="http://schemas.microsoft.com/office/drawing/2014/main" id="{C50C40FD-6B01-4473-AD73-5C7E3626DAEC}"/>
              </a:ext>
            </a:extLst>
          </p:cNvPr>
          <p:cNvSpPr>
            <a:spLocks noChangeShapeType="1"/>
          </p:cNvSpPr>
          <p:nvPr/>
        </p:nvSpPr>
        <p:spPr bwMode="auto">
          <a:xfrm flipV="1">
            <a:off x="4038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51" name="Line 83">
            <a:extLst>
              <a:ext uri="{FF2B5EF4-FFF2-40B4-BE49-F238E27FC236}">
                <a16:creationId xmlns:a16="http://schemas.microsoft.com/office/drawing/2014/main" id="{4793D505-84EA-4C9E-A171-FCFE8CFE650E}"/>
              </a:ext>
            </a:extLst>
          </p:cNvPr>
          <p:cNvSpPr>
            <a:spLocks noChangeShapeType="1"/>
          </p:cNvSpPr>
          <p:nvPr/>
        </p:nvSpPr>
        <p:spPr bwMode="auto">
          <a:xfrm flipH="1" flipV="1">
            <a:off x="5791200" y="44196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52" name="Text Box 84">
            <a:extLst>
              <a:ext uri="{FF2B5EF4-FFF2-40B4-BE49-F238E27FC236}">
                <a16:creationId xmlns:a16="http://schemas.microsoft.com/office/drawing/2014/main" id="{B385609F-2BE4-4343-83E9-3634C6BD0610}"/>
              </a:ext>
            </a:extLst>
          </p:cNvPr>
          <p:cNvSpPr txBox="1">
            <a:spLocks noChangeArrowheads="1"/>
          </p:cNvSpPr>
          <p:nvPr/>
        </p:nvSpPr>
        <p:spPr bwMode="auto">
          <a:xfrm>
            <a:off x="6629400" y="4953000"/>
            <a:ext cx="81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Client</a:t>
            </a:r>
          </a:p>
        </p:txBody>
      </p:sp>
      <p:sp>
        <p:nvSpPr>
          <p:cNvPr id="7253" name="Text Box 85">
            <a:extLst>
              <a:ext uri="{FF2B5EF4-FFF2-40B4-BE49-F238E27FC236}">
                <a16:creationId xmlns:a16="http://schemas.microsoft.com/office/drawing/2014/main" id="{1EA755CF-307B-4214-9711-F440E37DBDA8}"/>
              </a:ext>
            </a:extLst>
          </p:cNvPr>
          <p:cNvSpPr txBox="1">
            <a:spLocks noChangeArrowheads="1"/>
          </p:cNvSpPr>
          <p:nvPr/>
        </p:nvSpPr>
        <p:spPr bwMode="auto">
          <a:xfrm>
            <a:off x="7391400" y="4876800"/>
            <a:ext cx="3698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B1DA717-B8EA-4C00-A127-7394BADC7482}"/>
              </a:ext>
            </a:extLst>
          </p:cNvPr>
          <p:cNvSpPr>
            <a:spLocks noChangeArrowheads="1"/>
          </p:cNvSpPr>
          <p:nvPr/>
        </p:nvSpPr>
        <p:spPr bwMode="auto">
          <a:xfrm>
            <a:off x="571500" y="327025"/>
            <a:ext cx="7620000" cy="990600"/>
          </a:xfrm>
          <a:prstGeom prst="rect">
            <a:avLst/>
          </a:prstGeom>
          <a:noFill/>
          <a:ln w="9525">
            <a:noFill/>
            <a:miter lim="800000"/>
            <a:headEnd/>
            <a:tailEnd/>
          </a:ln>
          <a:effectLst>
            <a:outerShdw dist="107763" dir="2700000" algn="ctr" rotWithShape="0">
              <a:schemeClr val="bg1"/>
            </a:outerShdw>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Centralized Solution</a:t>
            </a:r>
          </a:p>
        </p:txBody>
      </p:sp>
      <p:sp>
        <p:nvSpPr>
          <p:cNvPr id="8196" name="Text Box 4">
            <a:extLst>
              <a:ext uri="{FF2B5EF4-FFF2-40B4-BE49-F238E27FC236}">
                <a16:creationId xmlns:a16="http://schemas.microsoft.com/office/drawing/2014/main" id="{BD096629-1F9C-4A88-B7D3-DDED1EA3009B}"/>
              </a:ext>
            </a:extLst>
          </p:cNvPr>
          <p:cNvSpPr txBox="1">
            <a:spLocks noChangeArrowheads="1"/>
          </p:cNvSpPr>
          <p:nvPr/>
        </p:nvSpPr>
        <p:spPr bwMode="auto">
          <a:xfrm>
            <a:off x="228600" y="5638800"/>
            <a:ext cx="8305800" cy="806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7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Requires O(N) state</a:t>
            </a:r>
          </a:p>
          <a:p>
            <a:pPr marL="0" marR="0" lvl="0" indent="0" algn="l" defTabSz="914400" rtl="0" eaLnBrk="0" fontAlgn="base" latinLnBrk="0" hangingPunct="0">
              <a:lnSpc>
                <a:spcPct val="7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Single point of failure</a:t>
            </a:r>
          </a:p>
        </p:txBody>
      </p:sp>
      <p:sp>
        <p:nvSpPr>
          <p:cNvPr id="8197" name="Oval 5">
            <a:extLst>
              <a:ext uri="{FF2B5EF4-FFF2-40B4-BE49-F238E27FC236}">
                <a16:creationId xmlns:a16="http://schemas.microsoft.com/office/drawing/2014/main" id="{3AA9F07C-6B3D-47C2-AE0E-E1448C9E6E8E}"/>
              </a:ext>
            </a:extLst>
          </p:cNvPr>
          <p:cNvSpPr>
            <a:spLocks noChangeArrowheads="1"/>
          </p:cNvSpPr>
          <p:nvPr/>
        </p:nvSpPr>
        <p:spPr bwMode="auto">
          <a:xfrm>
            <a:off x="3209925" y="3260725"/>
            <a:ext cx="3048000" cy="12954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198" name="Text Box 6">
            <a:extLst>
              <a:ext uri="{FF2B5EF4-FFF2-40B4-BE49-F238E27FC236}">
                <a16:creationId xmlns:a16="http://schemas.microsoft.com/office/drawing/2014/main" id="{216FAF75-0264-4219-BF46-9105E3E44B03}"/>
              </a:ext>
            </a:extLst>
          </p:cNvPr>
          <p:cNvSpPr txBox="1">
            <a:spLocks noChangeArrowheads="1"/>
          </p:cNvSpPr>
          <p:nvPr/>
        </p:nvSpPr>
        <p:spPr bwMode="auto">
          <a:xfrm>
            <a:off x="4103688" y="3517900"/>
            <a:ext cx="1217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Internet</a:t>
            </a:r>
          </a:p>
        </p:txBody>
      </p:sp>
      <p:sp>
        <p:nvSpPr>
          <p:cNvPr id="8199" name="Text Box 7">
            <a:extLst>
              <a:ext uri="{FF2B5EF4-FFF2-40B4-BE49-F238E27FC236}">
                <a16:creationId xmlns:a16="http://schemas.microsoft.com/office/drawing/2014/main" id="{EF148A3A-647B-4181-92E4-08B8500DC7D2}"/>
              </a:ext>
            </a:extLst>
          </p:cNvPr>
          <p:cNvSpPr txBox="1">
            <a:spLocks noChangeArrowheads="1"/>
          </p:cNvSpPr>
          <p:nvPr/>
        </p:nvSpPr>
        <p:spPr bwMode="auto">
          <a:xfrm>
            <a:off x="1143000" y="2727325"/>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Publisher</a:t>
            </a:r>
          </a:p>
        </p:txBody>
      </p:sp>
      <p:sp>
        <p:nvSpPr>
          <p:cNvPr id="8200" name="Text Box 8">
            <a:extLst>
              <a:ext uri="{FF2B5EF4-FFF2-40B4-BE49-F238E27FC236}">
                <a16:creationId xmlns:a16="http://schemas.microsoft.com/office/drawing/2014/main" id="{513C0AB9-76F5-4FDB-BF05-257945B8A1D1}"/>
              </a:ext>
            </a:extLst>
          </p:cNvPr>
          <p:cNvSpPr txBox="1">
            <a:spLocks noChangeArrowheads="1"/>
          </p:cNvSpPr>
          <p:nvPr/>
        </p:nvSpPr>
        <p:spPr bwMode="auto">
          <a:xfrm>
            <a:off x="331788" y="3016250"/>
            <a:ext cx="2030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Key=“LetItBe”</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Value=MP3 data</a:t>
            </a:r>
          </a:p>
        </p:txBody>
      </p:sp>
      <p:sp>
        <p:nvSpPr>
          <p:cNvPr id="8201" name="Text Box 9">
            <a:extLst>
              <a:ext uri="{FF2B5EF4-FFF2-40B4-BE49-F238E27FC236}">
                <a16:creationId xmlns:a16="http://schemas.microsoft.com/office/drawing/2014/main" id="{A8A056C4-500B-4FC2-83E8-FEDB156F98F8}"/>
              </a:ext>
            </a:extLst>
          </p:cNvPr>
          <p:cNvSpPr txBox="1">
            <a:spLocks noChangeArrowheads="1"/>
          </p:cNvSpPr>
          <p:nvPr/>
        </p:nvSpPr>
        <p:spPr bwMode="auto">
          <a:xfrm>
            <a:off x="6629400" y="5089525"/>
            <a:ext cx="2201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Lookup(“LetItBe”)</a:t>
            </a:r>
          </a:p>
        </p:txBody>
      </p:sp>
      <p:grpSp>
        <p:nvGrpSpPr>
          <p:cNvPr id="8202" name="Group 10">
            <a:extLst>
              <a:ext uri="{FF2B5EF4-FFF2-40B4-BE49-F238E27FC236}">
                <a16:creationId xmlns:a16="http://schemas.microsoft.com/office/drawing/2014/main" id="{10425E10-034D-4363-B1BF-98900A9468D7}"/>
              </a:ext>
            </a:extLst>
          </p:cNvPr>
          <p:cNvGrpSpPr>
            <a:grpSpLocks/>
          </p:cNvGrpSpPr>
          <p:nvPr/>
        </p:nvGrpSpPr>
        <p:grpSpPr bwMode="auto">
          <a:xfrm>
            <a:off x="2362200" y="2651125"/>
            <a:ext cx="609600" cy="533400"/>
            <a:chOff x="1248" y="1968"/>
            <a:chExt cx="384" cy="336"/>
          </a:xfrm>
        </p:grpSpPr>
        <p:sp>
          <p:nvSpPr>
            <p:cNvPr id="8203" name="Oval 11">
              <a:extLst>
                <a:ext uri="{FF2B5EF4-FFF2-40B4-BE49-F238E27FC236}">
                  <a16:creationId xmlns:a16="http://schemas.microsoft.com/office/drawing/2014/main" id="{2FABA38E-0149-49B1-8C49-808F3C28B312}"/>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04" name="Text Box 12">
              <a:extLst>
                <a:ext uri="{FF2B5EF4-FFF2-40B4-BE49-F238E27FC236}">
                  <a16:creationId xmlns:a16="http://schemas.microsoft.com/office/drawing/2014/main" id="{0E9C3827-EEFB-42A2-8316-2730DB45FC44}"/>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1</a:t>
              </a:r>
            </a:p>
          </p:txBody>
        </p:sp>
      </p:grpSp>
      <p:grpSp>
        <p:nvGrpSpPr>
          <p:cNvPr id="8205" name="Group 13">
            <a:extLst>
              <a:ext uri="{FF2B5EF4-FFF2-40B4-BE49-F238E27FC236}">
                <a16:creationId xmlns:a16="http://schemas.microsoft.com/office/drawing/2014/main" id="{632BDB8D-C747-4930-8FCF-14E2BE707D14}"/>
              </a:ext>
            </a:extLst>
          </p:cNvPr>
          <p:cNvGrpSpPr>
            <a:grpSpLocks/>
          </p:cNvGrpSpPr>
          <p:nvPr/>
        </p:nvGrpSpPr>
        <p:grpSpPr bwMode="auto">
          <a:xfrm>
            <a:off x="4191000" y="2270125"/>
            <a:ext cx="609600" cy="533400"/>
            <a:chOff x="1248" y="1968"/>
            <a:chExt cx="384" cy="336"/>
          </a:xfrm>
        </p:grpSpPr>
        <p:sp>
          <p:nvSpPr>
            <p:cNvPr id="8206" name="Oval 14">
              <a:extLst>
                <a:ext uri="{FF2B5EF4-FFF2-40B4-BE49-F238E27FC236}">
                  <a16:creationId xmlns:a16="http://schemas.microsoft.com/office/drawing/2014/main" id="{014860E4-8404-473D-8023-794DB383688C}"/>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07" name="Text Box 15">
              <a:extLst>
                <a:ext uri="{FF2B5EF4-FFF2-40B4-BE49-F238E27FC236}">
                  <a16:creationId xmlns:a16="http://schemas.microsoft.com/office/drawing/2014/main" id="{EE8723F0-7E0B-45D8-B0A3-A1333ACE8F1E}"/>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2</a:t>
              </a:r>
            </a:p>
          </p:txBody>
        </p:sp>
      </p:grpSp>
      <p:grpSp>
        <p:nvGrpSpPr>
          <p:cNvPr id="8208" name="Group 16">
            <a:extLst>
              <a:ext uri="{FF2B5EF4-FFF2-40B4-BE49-F238E27FC236}">
                <a16:creationId xmlns:a16="http://schemas.microsoft.com/office/drawing/2014/main" id="{0FBA7094-0D42-45ED-8AA0-056DB9995CF9}"/>
              </a:ext>
            </a:extLst>
          </p:cNvPr>
          <p:cNvGrpSpPr>
            <a:grpSpLocks/>
          </p:cNvGrpSpPr>
          <p:nvPr/>
        </p:nvGrpSpPr>
        <p:grpSpPr bwMode="auto">
          <a:xfrm>
            <a:off x="5943600" y="2422525"/>
            <a:ext cx="609600" cy="533400"/>
            <a:chOff x="1248" y="1968"/>
            <a:chExt cx="384" cy="336"/>
          </a:xfrm>
        </p:grpSpPr>
        <p:sp>
          <p:nvSpPr>
            <p:cNvPr id="8209" name="Oval 17">
              <a:extLst>
                <a:ext uri="{FF2B5EF4-FFF2-40B4-BE49-F238E27FC236}">
                  <a16:creationId xmlns:a16="http://schemas.microsoft.com/office/drawing/2014/main" id="{E2688F0E-39EB-400C-9B6D-5883FA88A0EB}"/>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10" name="Text Box 18">
              <a:extLst>
                <a:ext uri="{FF2B5EF4-FFF2-40B4-BE49-F238E27FC236}">
                  <a16:creationId xmlns:a16="http://schemas.microsoft.com/office/drawing/2014/main" id="{89AFE2AC-6318-4652-A3F6-55E6D32271DB}"/>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3</a:t>
              </a:r>
            </a:p>
          </p:txBody>
        </p:sp>
      </p:grpSp>
      <p:grpSp>
        <p:nvGrpSpPr>
          <p:cNvPr id="8211" name="Group 19">
            <a:extLst>
              <a:ext uri="{FF2B5EF4-FFF2-40B4-BE49-F238E27FC236}">
                <a16:creationId xmlns:a16="http://schemas.microsoft.com/office/drawing/2014/main" id="{9B7693F1-BBF2-4AD5-822E-2D52182AB523}"/>
              </a:ext>
            </a:extLst>
          </p:cNvPr>
          <p:cNvGrpSpPr>
            <a:grpSpLocks/>
          </p:cNvGrpSpPr>
          <p:nvPr/>
        </p:nvGrpSpPr>
        <p:grpSpPr bwMode="auto">
          <a:xfrm>
            <a:off x="5943600" y="4632325"/>
            <a:ext cx="609600" cy="533400"/>
            <a:chOff x="1248" y="1968"/>
            <a:chExt cx="384" cy="336"/>
          </a:xfrm>
        </p:grpSpPr>
        <p:sp>
          <p:nvSpPr>
            <p:cNvPr id="8212" name="Oval 20">
              <a:extLst>
                <a:ext uri="{FF2B5EF4-FFF2-40B4-BE49-F238E27FC236}">
                  <a16:creationId xmlns:a16="http://schemas.microsoft.com/office/drawing/2014/main" id="{A22AA86C-1EE9-411E-B825-5991D592E5D1}"/>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13" name="Text Box 21">
              <a:extLst>
                <a:ext uri="{FF2B5EF4-FFF2-40B4-BE49-F238E27FC236}">
                  <a16:creationId xmlns:a16="http://schemas.microsoft.com/office/drawing/2014/main" id="{24E0774B-5BB8-4F24-9181-EEFBC2045251}"/>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5</a:t>
              </a:r>
            </a:p>
          </p:txBody>
        </p:sp>
      </p:grpSp>
      <p:grpSp>
        <p:nvGrpSpPr>
          <p:cNvPr id="8214" name="Group 22">
            <a:extLst>
              <a:ext uri="{FF2B5EF4-FFF2-40B4-BE49-F238E27FC236}">
                <a16:creationId xmlns:a16="http://schemas.microsoft.com/office/drawing/2014/main" id="{58E02B32-F20C-4AA3-8276-406FED7C1014}"/>
              </a:ext>
            </a:extLst>
          </p:cNvPr>
          <p:cNvGrpSpPr>
            <a:grpSpLocks/>
          </p:cNvGrpSpPr>
          <p:nvPr/>
        </p:nvGrpSpPr>
        <p:grpSpPr bwMode="auto">
          <a:xfrm>
            <a:off x="3657600" y="4784725"/>
            <a:ext cx="609600" cy="533400"/>
            <a:chOff x="1248" y="1968"/>
            <a:chExt cx="384" cy="336"/>
          </a:xfrm>
        </p:grpSpPr>
        <p:sp>
          <p:nvSpPr>
            <p:cNvPr id="8215" name="Oval 23">
              <a:extLst>
                <a:ext uri="{FF2B5EF4-FFF2-40B4-BE49-F238E27FC236}">
                  <a16:creationId xmlns:a16="http://schemas.microsoft.com/office/drawing/2014/main" id="{E2328830-65BC-4A1E-82E7-7662CBE7BC0B}"/>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16" name="Text Box 24">
              <a:extLst>
                <a:ext uri="{FF2B5EF4-FFF2-40B4-BE49-F238E27FC236}">
                  <a16:creationId xmlns:a16="http://schemas.microsoft.com/office/drawing/2014/main" id="{27189D7A-1A90-49CF-9E11-64C939F0F283}"/>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4</a:t>
              </a:r>
            </a:p>
          </p:txBody>
        </p:sp>
      </p:grpSp>
      <p:sp>
        <p:nvSpPr>
          <p:cNvPr id="8217" name="Line 25">
            <a:extLst>
              <a:ext uri="{FF2B5EF4-FFF2-40B4-BE49-F238E27FC236}">
                <a16:creationId xmlns:a16="http://schemas.microsoft.com/office/drawing/2014/main" id="{DD55F85D-51B4-46D9-ACB1-8938EA46A942}"/>
              </a:ext>
            </a:extLst>
          </p:cNvPr>
          <p:cNvSpPr>
            <a:spLocks noChangeShapeType="1"/>
          </p:cNvSpPr>
          <p:nvPr/>
        </p:nvSpPr>
        <p:spPr bwMode="auto">
          <a:xfrm>
            <a:off x="2895600" y="3032125"/>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18" name="Line 26">
            <a:extLst>
              <a:ext uri="{FF2B5EF4-FFF2-40B4-BE49-F238E27FC236}">
                <a16:creationId xmlns:a16="http://schemas.microsoft.com/office/drawing/2014/main" id="{CBAF4383-ECDB-40E4-AF12-FE9859E6FFD3}"/>
              </a:ext>
            </a:extLst>
          </p:cNvPr>
          <p:cNvSpPr>
            <a:spLocks noChangeShapeType="1"/>
          </p:cNvSpPr>
          <p:nvPr/>
        </p:nvSpPr>
        <p:spPr bwMode="auto">
          <a:xfrm>
            <a:off x="4495800" y="280352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19" name="Line 27">
            <a:extLst>
              <a:ext uri="{FF2B5EF4-FFF2-40B4-BE49-F238E27FC236}">
                <a16:creationId xmlns:a16="http://schemas.microsoft.com/office/drawing/2014/main" id="{B44BB820-A593-4C16-AFB9-74FF0FC1BD0A}"/>
              </a:ext>
            </a:extLst>
          </p:cNvPr>
          <p:cNvSpPr>
            <a:spLocks noChangeShapeType="1"/>
          </p:cNvSpPr>
          <p:nvPr/>
        </p:nvSpPr>
        <p:spPr bwMode="auto">
          <a:xfrm flipH="1">
            <a:off x="5638800" y="2955925"/>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0" name="Line 28">
            <a:extLst>
              <a:ext uri="{FF2B5EF4-FFF2-40B4-BE49-F238E27FC236}">
                <a16:creationId xmlns:a16="http://schemas.microsoft.com/office/drawing/2014/main" id="{B2A2A770-A5EB-44F0-91E9-ECDE98FC1848}"/>
              </a:ext>
            </a:extLst>
          </p:cNvPr>
          <p:cNvSpPr>
            <a:spLocks noChangeShapeType="1"/>
          </p:cNvSpPr>
          <p:nvPr/>
        </p:nvSpPr>
        <p:spPr bwMode="auto">
          <a:xfrm flipV="1">
            <a:off x="4038600" y="4479925"/>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1" name="Line 29">
            <a:extLst>
              <a:ext uri="{FF2B5EF4-FFF2-40B4-BE49-F238E27FC236}">
                <a16:creationId xmlns:a16="http://schemas.microsoft.com/office/drawing/2014/main" id="{279907FD-2D6C-45DB-AEAD-6341735BDC11}"/>
              </a:ext>
            </a:extLst>
          </p:cNvPr>
          <p:cNvSpPr>
            <a:spLocks noChangeShapeType="1"/>
          </p:cNvSpPr>
          <p:nvPr/>
        </p:nvSpPr>
        <p:spPr bwMode="auto">
          <a:xfrm flipH="1" flipV="1">
            <a:off x="5791200" y="4403725"/>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2" name="Text Box 30">
            <a:extLst>
              <a:ext uri="{FF2B5EF4-FFF2-40B4-BE49-F238E27FC236}">
                <a16:creationId xmlns:a16="http://schemas.microsoft.com/office/drawing/2014/main" id="{05B1A90E-5BC4-409A-8752-23AAD4019530}"/>
              </a:ext>
            </a:extLst>
          </p:cNvPr>
          <p:cNvSpPr txBox="1">
            <a:spLocks noChangeArrowheads="1"/>
          </p:cNvSpPr>
          <p:nvPr/>
        </p:nvSpPr>
        <p:spPr bwMode="auto">
          <a:xfrm>
            <a:off x="6629400" y="4784725"/>
            <a:ext cx="81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Client</a:t>
            </a:r>
          </a:p>
        </p:txBody>
      </p:sp>
      <p:grpSp>
        <p:nvGrpSpPr>
          <p:cNvPr id="8226" name="Group 34">
            <a:extLst>
              <a:ext uri="{FF2B5EF4-FFF2-40B4-BE49-F238E27FC236}">
                <a16:creationId xmlns:a16="http://schemas.microsoft.com/office/drawing/2014/main" id="{5CF1A6E9-2194-4AF5-BB1C-39BBC1C51638}"/>
              </a:ext>
            </a:extLst>
          </p:cNvPr>
          <p:cNvGrpSpPr>
            <a:grpSpLocks/>
          </p:cNvGrpSpPr>
          <p:nvPr/>
        </p:nvGrpSpPr>
        <p:grpSpPr bwMode="auto">
          <a:xfrm>
            <a:off x="2438400" y="4175125"/>
            <a:ext cx="635000" cy="533400"/>
            <a:chOff x="4368" y="2064"/>
            <a:chExt cx="400" cy="336"/>
          </a:xfrm>
        </p:grpSpPr>
        <p:sp>
          <p:nvSpPr>
            <p:cNvPr id="8224" name="Oval 32">
              <a:extLst>
                <a:ext uri="{FF2B5EF4-FFF2-40B4-BE49-F238E27FC236}">
                  <a16:creationId xmlns:a16="http://schemas.microsoft.com/office/drawing/2014/main" id="{7AA1F2BB-E91F-4162-9096-DF46CCB561A1}"/>
                </a:ext>
              </a:extLst>
            </p:cNvPr>
            <p:cNvSpPr>
              <a:spLocks noChangeArrowheads="1"/>
            </p:cNvSpPr>
            <p:nvPr/>
          </p:nvSpPr>
          <p:spPr bwMode="auto">
            <a:xfrm>
              <a:off x="4368" y="2064"/>
              <a:ext cx="384" cy="33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5" name="Text Box 33">
              <a:extLst>
                <a:ext uri="{FF2B5EF4-FFF2-40B4-BE49-F238E27FC236}">
                  <a16:creationId xmlns:a16="http://schemas.microsoft.com/office/drawing/2014/main" id="{EC7CFA4D-9D91-41D0-ABDE-1268697413C1}"/>
                </a:ext>
              </a:extLst>
            </p:cNvPr>
            <p:cNvSpPr txBox="1">
              <a:spLocks noChangeArrowheads="1"/>
            </p:cNvSpPr>
            <p:nvPr/>
          </p:nvSpPr>
          <p:spPr bwMode="auto">
            <a:xfrm>
              <a:off x="4368" y="2064"/>
              <a:ext cx="4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DB</a:t>
              </a:r>
              <a:endPar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endParaRPr>
            </a:p>
          </p:txBody>
        </p:sp>
      </p:grpSp>
      <p:sp>
        <p:nvSpPr>
          <p:cNvPr id="8227" name="Line 35">
            <a:extLst>
              <a:ext uri="{FF2B5EF4-FFF2-40B4-BE49-F238E27FC236}">
                <a16:creationId xmlns:a16="http://schemas.microsoft.com/office/drawing/2014/main" id="{E3012F9E-8451-4161-BC7E-1D089EC97653}"/>
              </a:ext>
            </a:extLst>
          </p:cNvPr>
          <p:cNvSpPr>
            <a:spLocks noChangeShapeType="1"/>
          </p:cNvSpPr>
          <p:nvPr/>
        </p:nvSpPr>
        <p:spPr bwMode="auto">
          <a:xfrm flipV="1">
            <a:off x="2971800" y="4175125"/>
            <a:ext cx="381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8" name="Freeform 36">
            <a:extLst>
              <a:ext uri="{FF2B5EF4-FFF2-40B4-BE49-F238E27FC236}">
                <a16:creationId xmlns:a16="http://schemas.microsoft.com/office/drawing/2014/main" id="{CA9B2F07-9066-4A70-8BA8-67CC19C40CEF}"/>
              </a:ext>
            </a:extLst>
          </p:cNvPr>
          <p:cNvSpPr>
            <a:spLocks/>
          </p:cNvSpPr>
          <p:nvPr/>
        </p:nvSpPr>
        <p:spPr bwMode="auto">
          <a:xfrm rot="5298170">
            <a:off x="2817813" y="3101975"/>
            <a:ext cx="1223962" cy="915988"/>
          </a:xfrm>
          <a:custGeom>
            <a:avLst/>
            <a:gdLst>
              <a:gd name="T0" fmla="*/ 0 w 1344"/>
              <a:gd name="T1" fmla="*/ 296 h 296"/>
              <a:gd name="T2" fmla="*/ 576 w 1344"/>
              <a:gd name="T3" fmla="*/ 8 h 296"/>
              <a:gd name="T4" fmla="*/ 1344 w 1344"/>
              <a:gd name="T5" fmla="*/ 248 h 296"/>
            </a:gdLst>
            <a:ahLst/>
            <a:cxnLst>
              <a:cxn ang="0">
                <a:pos x="T0" y="T1"/>
              </a:cxn>
              <a:cxn ang="0">
                <a:pos x="T2" y="T3"/>
              </a:cxn>
              <a:cxn ang="0">
                <a:pos x="T4" y="T5"/>
              </a:cxn>
            </a:cxnLst>
            <a:rect l="0" t="0" r="r" b="b"/>
            <a:pathLst>
              <a:path w="1344" h="296">
                <a:moveTo>
                  <a:pt x="0" y="296"/>
                </a:moveTo>
                <a:cubicBezTo>
                  <a:pt x="176" y="156"/>
                  <a:pt x="352" y="16"/>
                  <a:pt x="576" y="8"/>
                </a:cubicBezTo>
                <a:cubicBezTo>
                  <a:pt x="800" y="0"/>
                  <a:pt x="1072" y="124"/>
                  <a:pt x="1344" y="248"/>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29" name="Freeform 37">
            <a:extLst>
              <a:ext uri="{FF2B5EF4-FFF2-40B4-BE49-F238E27FC236}">
                <a16:creationId xmlns:a16="http://schemas.microsoft.com/office/drawing/2014/main" id="{DEBBF394-5C94-49F1-B7E6-B63E9B8FE244}"/>
              </a:ext>
            </a:extLst>
          </p:cNvPr>
          <p:cNvSpPr>
            <a:spLocks/>
          </p:cNvSpPr>
          <p:nvPr/>
        </p:nvSpPr>
        <p:spPr bwMode="auto">
          <a:xfrm flipV="1">
            <a:off x="3200400" y="4327525"/>
            <a:ext cx="2819400" cy="457200"/>
          </a:xfrm>
          <a:custGeom>
            <a:avLst/>
            <a:gdLst>
              <a:gd name="T0" fmla="*/ 624 w 624"/>
              <a:gd name="T1" fmla="*/ 0 h 240"/>
              <a:gd name="T2" fmla="*/ 432 w 624"/>
              <a:gd name="T3" fmla="*/ 192 h 240"/>
              <a:gd name="T4" fmla="*/ 0 w 624"/>
              <a:gd name="T5" fmla="*/ 240 h 240"/>
            </a:gdLst>
            <a:ahLst/>
            <a:cxnLst>
              <a:cxn ang="0">
                <a:pos x="T0" y="T1"/>
              </a:cxn>
              <a:cxn ang="0">
                <a:pos x="T2" y="T3"/>
              </a:cxn>
              <a:cxn ang="0">
                <a:pos x="T4" y="T5"/>
              </a:cxn>
            </a:cxnLst>
            <a:rect l="0" t="0" r="r" b="b"/>
            <a:pathLst>
              <a:path w="624" h="240">
                <a:moveTo>
                  <a:pt x="624" y="0"/>
                </a:moveTo>
                <a:cubicBezTo>
                  <a:pt x="580" y="76"/>
                  <a:pt x="536" y="152"/>
                  <a:pt x="432" y="192"/>
                </a:cubicBezTo>
                <a:cubicBezTo>
                  <a:pt x="328" y="232"/>
                  <a:pt x="164" y="236"/>
                  <a:pt x="0" y="240"/>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230" name="Text Box 38">
            <a:extLst>
              <a:ext uri="{FF2B5EF4-FFF2-40B4-BE49-F238E27FC236}">
                <a16:creationId xmlns:a16="http://schemas.microsoft.com/office/drawing/2014/main" id="{5F5764B0-8DBE-4A55-98A4-A2FECC263306}"/>
              </a:ext>
            </a:extLst>
          </p:cNvPr>
          <p:cNvSpPr txBox="1">
            <a:spLocks noChangeArrowheads="1"/>
          </p:cNvSpPr>
          <p:nvPr/>
        </p:nvSpPr>
        <p:spPr bwMode="auto">
          <a:xfrm>
            <a:off x="685800" y="1447800"/>
            <a:ext cx="54864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Central server (Napster)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F7E3F40-B6C6-40A1-A4F0-A3DA77A5864D}"/>
              </a:ext>
            </a:extLst>
          </p:cNvPr>
          <p:cNvSpPr>
            <a:spLocks noChangeArrowheads="1"/>
          </p:cNvSpPr>
          <p:nvPr/>
        </p:nvSpPr>
        <p:spPr bwMode="auto">
          <a:xfrm>
            <a:off x="658019" y="27305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Distributed Solution (1)</a:t>
            </a:r>
          </a:p>
        </p:txBody>
      </p:sp>
      <p:sp>
        <p:nvSpPr>
          <p:cNvPr id="9220" name="Text Box 4">
            <a:extLst>
              <a:ext uri="{FF2B5EF4-FFF2-40B4-BE49-F238E27FC236}">
                <a16:creationId xmlns:a16="http://schemas.microsoft.com/office/drawing/2014/main" id="{9AE64612-B497-44CF-A1F3-BC62EA06583F}"/>
              </a:ext>
            </a:extLst>
          </p:cNvPr>
          <p:cNvSpPr txBox="1">
            <a:spLocks noChangeArrowheads="1"/>
          </p:cNvSpPr>
          <p:nvPr/>
        </p:nvSpPr>
        <p:spPr bwMode="auto">
          <a:xfrm>
            <a:off x="304800" y="6019800"/>
            <a:ext cx="83820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Worst case O(N) messages per lookup</a:t>
            </a:r>
          </a:p>
        </p:txBody>
      </p:sp>
      <p:sp>
        <p:nvSpPr>
          <p:cNvPr id="9221" name="Oval 5">
            <a:extLst>
              <a:ext uri="{FF2B5EF4-FFF2-40B4-BE49-F238E27FC236}">
                <a16:creationId xmlns:a16="http://schemas.microsoft.com/office/drawing/2014/main" id="{9D0B59F8-105C-4AC3-8263-30C66323F11F}"/>
              </a:ext>
            </a:extLst>
          </p:cNvPr>
          <p:cNvSpPr>
            <a:spLocks noChangeArrowheads="1"/>
          </p:cNvSpPr>
          <p:nvPr/>
        </p:nvSpPr>
        <p:spPr bwMode="auto">
          <a:xfrm>
            <a:off x="3209925" y="3184525"/>
            <a:ext cx="3048000" cy="12954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22" name="Text Box 6">
            <a:extLst>
              <a:ext uri="{FF2B5EF4-FFF2-40B4-BE49-F238E27FC236}">
                <a16:creationId xmlns:a16="http://schemas.microsoft.com/office/drawing/2014/main" id="{0FE1C11D-A7F6-4A8C-AB4B-B6E89F0D472F}"/>
              </a:ext>
            </a:extLst>
          </p:cNvPr>
          <p:cNvSpPr txBox="1">
            <a:spLocks noChangeArrowheads="1"/>
          </p:cNvSpPr>
          <p:nvPr/>
        </p:nvSpPr>
        <p:spPr bwMode="auto">
          <a:xfrm>
            <a:off x="3886200" y="3413125"/>
            <a:ext cx="1217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Internet</a:t>
            </a:r>
          </a:p>
        </p:txBody>
      </p:sp>
      <p:sp>
        <p:nvSpPr>
          <p:cNvPr id="9223" name="Text Box 7">
            <a:extLst>
              <a:ext uri="{FF2B5EF4-FFF2-40B4-BE49-F238E27FC236}">
                <a16:creationId xmlns:a16="http://schemas.microsoft.com/office/drawing/2014/main" id="{D0833429-F58C-4FEF-87BB-542A2CA96642}"/>
              </a:ext>
            </a:extLst>
          </p:cNvPr>
          <p:cNvSpPr txBox="1">
            <a:spLocks noChangeArrowheads="1"/>
          </p:cNvSpPr>
          <p:nvPr/>
        </p:nvSpPr>
        <p:spPr bwMode="auto">
          <a:xfrm>
            <a:off x="1143000" y="2651125"/>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Publisher</a:t>
            </a:r>
          </a:p>
        </p:txBody>
      </p:sp>
      <p:sp>
        <p:nvSpPr>
          <p:cNvPr id="9224" name="Text Box 8">
            <a:extLst>
              <a:ext uri="{FF2B5EF4-FFF2-40B4-BE49-F238E27FC236}">
                <a16:creationId xmlns:a16="http://schemas.microsoft.com/office/drawing/2014/main" id="{D393D5B4-6451-48B0-AA6C-284038C0A06E}"/>
              </a:ext>
            </a:extLst>
          </p:cNvPr>
          <p:cNvSpPr txBox="1">
            <a:spLocks noChangeArrowheads="1"/>
          </p:cNvSpPr>
          <p:nvPr/>
        </p:nvSpPr>
        <p:spPr bwMode="auto">
          <a:xfrm>
            <a:off x="331788" y="2940050"/>
            <a:ext cx="2030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Key=“LetItBe”</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Value=MP3 data</a:t>
            </a:r>
          </a:p>
        </p:txBody>
      </p:sp>
      <p:sp>
        <p:nvSpPr>
          <p:cNvPr id="9225" name="Text Box 9">
            <a:extLst>
              <a:ext uri="{FF2B5EF4-FFF2-40B4-BE49-F238E27FC236}">
                <a16:creationId xmlns:a16="http://schemas.microsoft.com/office/drawing/2014/main" id="{3C3D478C-9E0F-4351-93B3-C752AD4BFCDC}"/>
              </a:ext>
            </a:extLst>
          </p:cNvPr>
          <p:cNvSpPr txBox="1">
            <a:spLocks noChangeArrowheads="1"/>
          </p:cNvSpPr>
          <p:nvPr/>
        </p:nvSpPr>
        <p:spPr bwMode="auto">
          <a:xfrm>
            <a:off x="6629400" y="5013325"/>
            <a:ext cx="2201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Lookup(“LetItBe”)</a:t>
            </a:r>
          </a:p>
        </p:txBody>
      </p:sp>
      <p:grpSp>
        <p:nvGrpSpPr>
          <p:cNvPr id="9226" name="Group 10">
            <a:extLst>
              <a:ext uri="{FF2B5EF4-FFF2-40B4-BE49-F238E27FC236}">
                <a16:creationId xmlns:a16="http://schemas.microsoft.com/office/drawing/2014/main" id="{5731D666-AA6E-46A7-8F0E-915B2D35C709}"/>
              </a:ext>
            </a:extLst>
          </p:cNvPr>
          <p:cNvGrpSpPr>
            <a:grpSpLocks/>
          </p:cNvGrpSpPr>
          <p:nvPr/>
        </p:nvGrpSpPr>
        <p:grpSpPr bwMode="auto">
          <a:xfrm>
            <a:off x="2362200" y="2574925"/>
            <a:ext cx="609600" cy="533400"/>
            <a:chOff x="1248" y="1968"/>
            <a:chExt cx="384" cy="336"/>
          </a:xfrm>
        </p:grpSpPr>
        <p:sp>
          <p:nvSpPr>
            <p:cNvPr id="9227" name="Oval 11">
              <a:extLst>
                <a:ext uri="{FF2B5EF4-FFF2-40B4-BE49-F238E27FC236}">
                  <a16:creationId xmlns:a16="http://schemas.microsoft.com/office/drawing/2014/main" id="{8F12088A-1B9B-403D-9A67-D7982BE4D6F7}"/>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28" name="Text Box 12">
              <a:extLst>
                <a:ext uri="{FF2B5EF4-FFF2-40B4-BE49-F238E27FC236}">
                  <a16:creationId xmlns:a16="http://schemas.microsoft.com/office/drawing/2014/main" id="{167CA31A-7F93-45A1-A3D6-1C845E61FFC9}"/>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1</a:t>
              </a:r>
            </a:p>
          </p:txBody>
        </p:sp>
      </p:grpSp>
      <p:grpSp>
        <p:nvGrpSpPr>
          <p:cNvPr id="9229" name="Group 13">
            <a:extLst>
              <a:ext uri="{FF2B5EF4-FFF2-40B4-BE49-F238E27FC236}">
                <a16:creationId xmlns:a16="http://schemas.microsoft.com/office/drawing/2014/main" id="{DB3756A4-6C27-497B-9C88-FC648CE9A4F5}"/>
              </a:ext>
            </a:extLst>
          </p:cNvPr>
          <p:cNvGrpSpPr>
            <a:grpSpLocks/>
          </p:cNvGrpSpPr>
          <p:nvPr/>
        </p:nvGrpSpPr>
        <p:grpSpPr bwMode="auto">
          <a:xfrm>
            <a:off x="4191000" y="2193925"/>
            <a:ext cx="609600" cy="533400"/>
            <a:chOff x="1248" y="1968"/>
            <a:chExt cx="384" cy="336"/>
          </a:xfrm>
        </p:grpSpPr>
        <p:sp>
          <p:nvSpPr>
            <p:cNvPr id="9230" name="Oval 14">
              <a:extLst>
                <a:ext uri="{FF2B5EF4-FFF2-40B4-BE49-F238E27FC236}">
                  <a16:creationId xmlns:a16="http://schemas.microsoft.com/office/drawing/2014/main" id="{6152BE85-E2E0-4243-8D06-BCA50F4868B6}"/>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31" name="Text Box 15">
              <a:extLst>
                <a:ext uri="{FF2B5EF4-FFF2-40B4-BE49-F238E27FC236}">
                  <a16:creationId xmlns:a16="http://schemas.microsoft.com/office/drawing/2014/main" id="{DD4B027D-6365-417E-9673-75CB82B90ABC}"/>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2</a:t>
              </a:r>
            </a:p>
          </p:txBody>
        </p:sp>
      </p:grpSp>
      <p:grpSp>
        <p:nvGrpSpPr>
          <p:cNvPr id="9232" name="Group 16">
            <a:extLst>
              <a:ext uri="{FF2B5EF4-FFF2-40B4-BE49-F238E27FC236}">
                <a16:creationId xmlns:a16="http://schemas.microsoft.com/office/drawing/2014/main" id="{F5A9F316-0F40-40B2-A9C7-7EE793A67788}"/>
              </a:ext>
            </a:extLst>
          </p:cNvPr>
          <p:cNvGrpSpPr>
            <a:grpSpLocks/>
          </p:cNvGrpSpPr>
          <p:nvPr/>
        </p:nvGrpSpPr>
        <p:grpSpPr bwMode="auto">
          <a:xfrm>
            <a:off x="5943600" y="2346325"/>
            <a:ext cx="609600" cy="533400"/>
            <a:chOff x="1248" y="1968"/>
            <a:chExt cx="384" cy="336"/>
          </a:xfrm>
        </p:grpSpPr>
        <p:sp>
          <p:nvSpPr>
            <p:cNvPr id="9233" name="Oval 17">
              <a:extLst>
                <a:ext uri="{FF2B5EF4-FFF2-40B4-BE49-F238E27FC236}">
                  <a16:creationId xmlns:a16="http://schemas.microsoft.com/office/drawing/2014/main" id="{15FA82DC-4C79-45DB-9C3A-BE961E29E67D}"/>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34" name="Text Box 18">
              <a:extLst>
                <a:ext uri="{FF2B5EF4-FFF2-40B4-BE49-F238E27FC236}">
                  <a16:creationId xmlns:a16="http://schemas.microsoft.com/office/drawing/2014/main" id="{195E42D8-1F8E-4445-9BE1-4B8C498C7B51}"/>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3</a:t>
              </a:r>
            </a:p>
          </p:txBody>
        </p:sp>
      </p:grpSp>
      <p:grpSp>
        <p:nvGrpSpPr>
          <p:cNvPr id="9235" name="Group 19">
            <a:extLst>
              <a:ext uri="{FF2B5EF4-FFF2-40B4-BE49-F238E27FC236}">
                <a16:creationId xmlns:a16="http://schemas.microsoft.com/office/drawing/2014/main" id="{4DF9121E-113A-4959-847A-D6B597776296}"/>
              </a:ext>
            </a:extLst>
          </p:cNvPr>
          <p:cNvGrpSpPr>
            <a:grpSpLocks/>
          </p:cNvGrpSpPr>
          <p:nvPr/>
        </p:nvGrpSpPr>
        <p:grpSpPr bwMode="auto">
          <a:xfrm>
            <a:off x="5943600" y="4556125"/>
            <a:ext cx="609600" cy="533400"/>
            <a:chOff x="1248" y="1968"/>
            <a:chExt cx="384" cy="336"/>
          </a:xfrm>
        </p:grpSpPr>
        <p:sp>
          <p:nvSpPr>
            <p:cNvPr id="9236" name="Oval 20">
              <a:extLst>
                <a:ext uri="{FF2B5EF4-FFF2-40B4-BE49-F238E27FC236}">
                  <a16:creationId xmlns:a16="http://schemas.microsoft.com/office/drawing/2014/main" id="{909409D6-6354-4856-A3AE-22FBD4C6BBF3}"/>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37" name="Text Box 21">
              <a:extLst>
                <a:ext uri="{FF2B5EF4-FFF2-40B4-BE49-F238E27FC236}">
                  <a16:creationId xmlns:a16="http://schemas.microsoft.com/office/drawing/2014/main" id="{6636A7C7-F23A-4D63-90C4-8E9210FBD5B5}"/>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5</a:t>
              </a:r>
            </a:p>
          </p:txBody>
        </p:sp>
      </p:grpSp>
      <p:grpSp>
        <p:nvGrpSpPr>
          <p:cNvPr id="9238" name="Group 22">
            <a:extLst>
              <a:ext uri="{FF2B5EF4-FFF2-40B4-BE49-F238E27FC236}">
                <a16:creationId xmlns:a16="http://schemas.microsoft.com/office/drawing/2014/main" id="{A9868B18-E0F5-4311-B2CD-0CA40EADCA0D}"/>
              </a:ext>
            </a:extLst>
          </p:cNvPr>
          <p:cNvGrpSpPr>
            <a:grpSpLocks/>
          </p:cNvGrpSpPr>
          <p:nvPr/>
        </p:nvGrpSpPr>
        <p:grpSpPr bwMode="auto">
          <a:xfrm>
            <a:off x="3657600" y="4708525"/>
            <a:ext cx="609600" cy="533400"/>
            <a:chOff x="1248" y="1968"/>
            <a:chExt cx="384" cy="336"/>
          </a:xfrm>
        </p:grpSpPr>
        <p:sp>
          <p:nvSpPr>
            <p:cNvPr id="9239" name="Oval 23">
              <a:extLst>
                <a:ext uri="{FF2B5EF4-FFF2-40B4-BE49-F238E27FC236}">
                  <a16:creationId xmlns:a16="http://schemas.microsoft.com/office/drawing/2014/main" id="{5BA043F9-A9FF-4D3E-8288-9A1A2E411A31}"/>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0" name="Text Box 24">
              <a:extLst>
                <a:ext uri="{FF2B5EF4-FFF2-40B4-BE49-F238E27FC236}">
                  <a16:creationId xmlns:a16="http://schemas.microsoft.com/office/drawing/2014/main" id="{F8D564BE-FA73-4376-AAEE-1BA811AEDE36}"/>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4</a:t>
              </a:r>
            </a:p>
          </p:txBody>
        </p:sp>
      </p:grpSp>
      <p:sp>
        <p:nvSpPr>
          <p:cNvPr id="9241" name="Line 25">
            <a:extLst>
              <a:ext uri="{FF2B5EF4-FFF2-40B4-BE49-F238E27FC236}">
                <a16:creationId xmlns:a16="http://schemas.microsoft.com/office/drawing/2014/main" id="{3B9F248E-B45F-4B94-8456-1D3BAF37AFB0}"/>
              </a:ext>
            </a:extLst>
          </p:cNvPr>
          <p:cNvSpPr>
            <a:spLocks noChangeShapeType="1"/>
          </p:cNvSpPr>
          <p:nvPr/>
        </p:nvSpPr>
        <p:spPr bwMode="auto">
          <a:xfrm>
            <a:off x="2895600" y="2955925"/>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2" name="Line 26">
            <a:extLst>
              <a:ext uri="{FF2B5EF4-FFF2-40B4-BE49-F238E27FC236}">
                <a16:creationId xmlns:a16="http://schemas.microsoft.com/office/drawing/2014/main" id="{980A0092-A697-4A47-A2C0-02822D1B6EB1}"/>
              </a:ext>
            </a:extLst>
          </p:cNvPr>
          <p:cNvSpPr>
            <a:spLocks noChangeShapeType="1"/>
          </p:cNvSpPr>
          <p:nvPr/>
        </p:nvSpPr>
        <p:spPr bwMode="auto">
          <a:xfrm>
            <a:off x="4495800" y="272732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3" name="Line 27">
            <a:extLst>
              <a:ext uri="{FF2B5EF4-FFF2-40B4-BE49-F238E27FC236}">
                <a16:creationId xmlns:a16="http://schemas.microsoft.com/office/drawing/2014/main" id="{2EFE8D37-D766-425E-AB0A-037C4A90C806}"/>
              </a:ext>
            </a:extLst>
          </p:cNvPr>
          <p:cNvSpPr>
            <a:spLocks noChangeShapeType="1"/>
          </p:cNvSpPr>
          <p:nvPr/>
        </p:nvSpPr>
        <p:spPr bwMode="auto">
          <a:xfrm flipH="1">
            <a:off x="5791200" y="287972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4" name="Line 28">
            <a:extLst>
              <a:ext uri="{FF2B5EF4-FFF2-40B4-BE49-F238E27FC236}">
                <a16:creationId xmlns:a16="http://schemas.microsoft.com/office/drawing/2014/main" id="{A452D568-03F5-4719-9DC7-548A8B4607C9}"/>
              </a:ext>
            </a:extLst>
          </p:cNvPr>
          <p:cNvSpPr>
            <a:spLocks noChangeShapeType="1"/>
          </p:cNvSpPr>
          <p:nvPr/>
        </p:nvSpPr>
        <p:spPr bwMode="auto">
          <a:xfrm flipV="1">
            <a:off x="4038600" y="4403725"/>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5" name="Line 29">
            <a:extLst>
              <a:ext uri="{FF2B5EF4-FFF2-40B4-BE49-F238E27FC236}">
                <a16:creationId xmlns:a16="http://schemas.microsoft.com/office/drawing/2014/main" id="{C2779D94-FD53-4F6E-8F7B-AB04B799D792}"/>
              </a:ext>
            </a:extLst>
          </p:cNvPr>
          <p:cNvSpPr>
            <a:spLocks noChangeShapeType="1"/>
          </p:cNvSpPr>
          <p:nvPr/>
        </p:nvSpPr>
        <p:spPr bwMode="auto">
          <a:xfrm flipH="1" flipV="1">
            <a:off x="5791200" y="4327525"/>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46" name="Text Box 30">
            <a:extLst>
              <a:ext uri="{FF2B5EF4-FFF2-40B4-BE49-F238E27FC236}">
                <a16:creationId xmlns:a16="http://schemas.microsoft.com/office/drawing/2014/main" id="{B5DE5142-3E9F-4960-943D-74C9ED611388}"/>
              </a:ext>
            </a:extLst>
          </p:cNvPr>
          <p:cNvSpPr txBox="1">
            <a:spLocks noChangeArrowheads="1"/>
          </p:cNvSpPr>
          <p:nvPr/>
        </p:nvSpPr>
        <p:spPr bwMode="auto">
          <a:xfrm>
            <a:off x="6629400" y="4708525"/>
            <a:ext cx="81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Client</a:t>
            </a:r>
          </a:p>
        </p:txBody>
      </p:sp>
      <p:sp>
        <p:nvSpPr>
          <p:cNvPr id="9256" name="Freeform 40">
            <a:extLst>
              <a:ext uri="{FF2B5EF4-FFF2-40B4-BE49-F238E27FC236}">
                <a16:creationId xmlns:a16="http://schemas.microsoft.com/office/drawing/2014/main" id="{4A80C7A6-03E1-4EE2-AC33-4ABE4935B295}"/>
              </a:ext>
            </a:extLst>
          </p:cNvPr>
          <p:cNvSpPr>
            <a:spLocks/>
          </p:cNvSpPr>
          <p:nvPr/>
        </p:nvSpPr>
        <p:spPr bwMode="auto">
          <a:xfrm>
            <a:off x="5715000" y="2955925"/>
            <a:ext cx="457200" cy="1600200"/>
          </a:xfrm>
          <a:custGeom>
            <a:avLst/>
            <a:gdLst>
              <a:gd name="T0" fmla="*/ 288 w 288"/>
              <a:gd name="T1" fmla="*/ 1008 h 1008"/>
              <a:gd name="T2" fmla="*/ 0 w 288"/>
              <a:gd name="T3" fmla="*/ 624 h 1008"/>
              <a:gd name="T4" fmla="*/ 288 w 288"/>
              <a:gd name="T5" fmla="*/ 0 h 1008"/>
            </a:gdLst>
            <a:ahLst/>
            <a:cxnLst>
              <a:cxn ang="0">
                <a:pos x="T0" y="T1"/>
              </a:cxn>
              <a:cxn ang="0">
                <a:pos x="T2" y="T3"/>
              </a:cxn>
              <a:cxn ang="0">
                <a:pos x="T4" y="T5"/>
              </a:cxn>
            </a:cxnLst>
            <a:rect l="0" t="0" r="r" b="b"/>
            <a:pathLst>
              <a:path w="288" h="1008">
                <a:moveTo>
                  <a:pt x="288" y="1008"/>
                </a:moveTo>
                <a:cubicBezTo>
                  <a:pt x="144" y="900"/>
                  <a:pt x="0" y="792"/>
                  <a:pt x="0" y="624"/>
                </a:cubicBezTo>
                <a:cubicBezTo>
                  <a:pt x="0" y="456"/>
                  <a:pt x="144" y="228"/>
                  <a:pt x="288"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57" name="Freeform 41">
            <a:extLst>
              <a:ext uri="{FF2B5EF4-FFF2-40B4-BE49-F238E27FC236}">
                <a16:creationId xmlns:a16="http://schemas.microsoft.com/office/drawing/2014/main" id="{49DAD14D-B202-409A-9878-C6D92F0FEC17}"/>
              </a:ext>
            </a:extLst>
          </p:cNvPr>
          <p:cNvSpPr>
            <a:spLocks/>
          </p:cNvSpPr>
          <p:nvPr/>
        </p:nvSpPr>
        <p:spPr bwMode="auto">
          <a:xfrm>
            <a:off x="4572000" y="2803525"/>
            <a:ext cx="1447800" cy="685800"/>
          </a:xfrm>
          <a:custGeom>
            <a:avLst/>
            <a:gdLst>
              <a:gd name="T0" fmla="*/ 912 w 912"/>
              <a:gd name="T1" fmla="*/ 0 h 432"/>
              <a:gd name="T2" fmla="*/ 432 w 912"/>
              <a:gd name="T3" fmla="*/ 432 h 432"/>
              <a:gd name="T4" fmla="*/ 0 w 912"/>
              <a:gd name="T5" fmla="*/ 0 h 432"/>
            </a:gdLst>
            <a:ahLst/>
            <a:cxnLst>
              <a:cxn ang="0">
                <a:pos x="T0" y="T1"/>
              </a:cxn>
              <a:cxn ang="0">
                <a:pos x="T2" y="T3"/>
              </a:cxn>
              <a:cxn ang="0">
                <a:pos x="T4" y="T5"/>
              </a:cxn>
            </a:cxnLst>
            <a:rect l="0" t="0" r="r" b="b"/>
            <a:pathLst>
              <a:path w="912" h="432">
                <a:moveTo>
                  <a:pt x="912" y="0"/>
                </a:moveTo>
                <a:cubicBezTo>
                  <a:pt x="748" y="216"/>
                  <a:pt x="584" y="432"/>
                  <a:pt x="432" y="432"/>
                </a:cubicBezTo>
                <a:cubicBezTo>
                  <a:pt x="280" y="432"/>
                  <a:pt x="140" y="216"/>
                  <a:pt x="0"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58" name="Freeform 42">
            <a:extLst>
              <a:ext uri="{FF2B5EF4-FFF2-40B4-BE49-F238E27FC236}">
                <a16:creationId xmlns:a16="http://schemas.microsoft.com/office/drawing/2014/main" id="{A391E1BE-AE1D-4726-A0BF-8CA7E059A478}"/>
              </a:ext>
            </a:extLst>
          </p:cNvPr>
          <p:cNvSpPr>
            <a:spLocks/>
          </p:cNvSpPr>
          <p:nvPr/>
        </p:nvSpPr>
        <p:spPr bwMode="auto">
          <a:xfrm>
            <a:off x="4191000" y="2803525"/>
            <a:ext cx="1828800" cy="1905000"/>
          </a:xfrm>
          <a:custGeom>
            <a:avLst/>
            <a:gdLst>
              <a:gd name="T0" fmla="*/ 1200 w 1200"/>
              <a:gd name="T1" fmla="*/ 0 h 1200"/>
              <a:gd name="T2" fmla="*/ 816 w 1200"/>
              <a:gd name="T3" fmla="*/ 480 h 1200"/>
              <a:gd name="T4" fmla="*/ 192 w 1200"/>
              <a:gd name="T5" fmla="*/ 864 h 1200"/>
              <a:gd name="T6" fmla="*/ 0 w 1200"/>
              <a:gd name="T7" fmla="*/ 1200 h 1200"/>
            </a:gdLst>
            <a:ahLst/>
            <a:cxnLst>
              <a:cxn ang="0">
                <a:pos x="T0" y="T1"/>
              </a:cxn>
              <a:cxn ang="0">
                <a:pos x="T2" y="T3"/>
              </a:cxn>
              <a:cxn ang="0">
                <a:pos x="T4" y="T5"/>
              </a:cxn>
              <a:cxn ang="0">
                <a:pos x="T6" y="T7"/>
              </a:cxn>
            </a:cxnLst>
            <a:rect l="0" t="0" r="r" b="b"/>
            <a:pathLst>
              <a:path w="1200" h="1200">
                <a:moveTo>
                  <a:pt x="1200" y="0"/>
                </a:moveTo>
                <a:cubicBezTo>
                  <a:pt x="1092" y="168"/>
                  <a:pt x="984" y="336"/>
                  <a:pt x="816" y="480"/>
                </a:cubicBezTo>
                <a:cubicBezTo>
                  <a:pt x="648" y="624"/>
                  <a:pt x="328" y="744"/>
                  <a:pt x="192" y="864"/>
                </a:cubicBezTo>
                <a:cubicBezTo>
                  <a:pt x="56" y="984"/>
                  <a:pt x="28" y="1092"/>
                  <a:pt x="0" y="120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59" name="Freeform 43">
            <a:extLst>
              <a:ext uri="{FF2B5EF4-FFF2-40B4-BE49-F238E27FC236}">
                <a16:creationId xmlns:a16="http://schemas.microsoft.com/office/drawing/2014/main" id="{BAB881CA-B173-442E-BB33-34CAA5ECDCD5}"/>
              </a:ext>
            </a:extLst>
          </p:cNvPr>
          <p:cNvSpPr>
            <a:spLocks/>
          </p:cNvSpPr>
          <p:nvPr/>
        </p:nvSpPr>
        <p:spPr bwMode="auto">
          <a:xfrm>
            <a:off x="2819400" y="3108325"/>
            <a:ext cx="1371600" cy="1600200"/>
          </a:xfrm>
          <a:custGeom>
            <a:avLst/>
            <a:gdLst>
              <a:gd name="T0" fmla="*/ 720 w 888"/>
              <a:gd name="T1" fmla="*/ 1008 h 1008"/>
              <a:gd name="T2" fmla="*/ 768 w 888"/>
              <a:gd name="T3" fmla="*/ 624 h 1008"/>
              <a:gd name="T4" fmla="*/ 0 w 888"/>
              <a:gd name="T5" fmla="*/ 0 h 1008"/>
            </a:gdLst>
            <a:ahLst/>
            <a:cxnLst>
              <a:cxn ang="0">
                <a:pos x="T0" y="T1"/>
              </a:cxn>
              <a:cxn ang="0">
                <a:pos x="T2" y="T3"/>
              </a:cxn>
              <a:cxn ang="0">
                <a:pos x="T4" y="T5"/>
              </a:cxn>
            </a:cxnLst>
            <a:rect l="0" t="0" r="r" b="b"/>
            <a:pathLst>
              <a:path w="888" h="1008">
                <a:moveTo>
                  <a:pt x="720" y="1008"/>
                </a:moveTo>
                <a:cubicBezTo>
                  <a:pt x="804" y="900"/>
                  <a:pt x="888" y="792"/>
                  <a:pt x="768" y="624"/>
                </a:cubicBezTo>
                <a:cubicBezTo>
                  <a:pt x="648" y="456"/>
                  <a:pt x="128" y="104"/>
                  <a:pt x="0"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60" name="Freeform 44">
            <a:extLst>
              <a:ext uri="{FF2B5EF4-FFF2-40B4-BE49-F238E27FC236}">
                <a16:creationId xmlns:a16="http://schemas.microsoft.com/office/drawing/2014/main" id="{FD13B4D1-885A-4600-8A46-72E2055949EE}"/>
              </a:ext>
            </a:extLst>
          </p:cNvPr>
          <p:cNvSpPr>
            <a:spLocks/>
          </p:cNvSpPr>
          <p:nvPr/>
        </p:nvSpPr>
        <p:spPr bwMode="auto">
          <a:xfrm>
            <a:off x="2971800" y="2727325"/>
            <a:ext cx="1447800" cy="723900"/>
          </a:xfrm>
          <a:custGeom>
            <a:avLst/>
            <a:gdLst>
              <a:gd name="T0" fmla="*/ 912 w 912"/>
              <a:gd name="T1" fmla="*/ 0 h 456"/>
              <a:gd name="T2" fmla="*/ 720 w 912"/>
              <a:gd name="T3" fmla="*/ 432 h 456"/>
              <a:gd name="T4" fmla="*/ 0 w 912"/>
              <a:gd name="T5" fmla="*/ 144 h 456"/>
            </a:gdLst>
            <a:ahLst/>
            <a:cxnLst>
              <a:cxn ang="0">
                <a:pos x="T0" y="T1"/>
              </a:cxn>
              <a:cxn ang="0">
                <a:pos x="T2" y="T3"/>
              </a:cxn>
              <a:cxn ang="0">
                <a:pos x="T4" y="T5"/>
              </a:cxn>
            </a:cxnLst>
            <a:rect l="0" t="0" r="r" b="b"/>
            <a:pathLst>
              <a:path w="912" h="456">
                <a:moveTo>
                  <a:pt x="912" y="0"/>
                </a:moveTo>
                <a:cubicBezTo>
                  <a:pt x="892" y="204"/>
                  <a:pt x="872" y="408"/>
                  <a:pt x="720" y="432"/>
                </a:cubicBezTo>
                <a:cubicBezTo>
                  <a:pt x="568" y="456"/>
                  <a:pt x="284" y="300"/>
                  <a:pt x="0" y="144"/>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61" name="Text Box 45">
            <a:extLst>
              <a:ext uri="{FF2B5EF4-FFF2-40B4-BE49-F238E27FC236}">
                <a16:creationId xmlns:a16="http://schemas.microsoft.com/office/drawing/2014/main" id="{C94E6157-02B0-4CF9-8C14-B57270D15C51}"/>
              </a:ext>
            </a:extLst>
          </p:cNvPr>
          <p:cNvSpPr txBox="1">
            <a:spLocks noChangeArrowheads="1"/>
          </p:cNvSpPr>
          <p:nvPr/>
        </p:nvSpPr>
        <p:spPr bwMode="auto">
          <a:xfrm>
            <a:off x="685800" y="1447800"/>
            <a:ext cx="548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Flooding (Gnutella, etc.)</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A7F7358-7F3B-4287-8C4F-D823E1742E74}"/>
              </a:ext>
            </a:extLst>
          </p:cNvPr>
          <p:cNvSpPr>
            <a:spLocks noChangeArrowheads="1"/>
          </p:cNvSpPr>
          <p:nvPr/>
        </p:nvSpPr>
        <p:spPr bwMode="auto">
          <a:xfrm>
            <a:off x="658019" y="1905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Distributed Solution (2)</a:t>
            </a:r>
          </a:p>
        </p:txBody>
      </p:sp>
      <p:sp>
        <p:nvSpPr>
          <p:cNvPr id="10277" name="Text Box 37">
            <a:extLst>
              <a:ext uri="{FF2B5EF4-FFF2-40B4-BE49-F238E27FC236}">
                <a16:creationId xmlns:a16="http://schemas.microsoft.com/office/drawing/2014/main" id="{EDA5C6D2-D486-4737-BC1E-3A4FDCB2D410}"/>
              </a:ext>
            </a:extLst>
          </p:cNvPr>
          <p:cNvSpPr txBox="1">
            <a:spLocks noChangeArrowheads="1"/>
          </p:cNvSpPr>
          <p:nvPr/>
        </p:nvSpPr>
        <p:spPr bwMode="auto">
          <a:xfrm>
            <a:off x="457200" y="1447800"/>
            <a:ext cx="853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Routed messages (Chord, etc.)</a:t>
            </a:r>
          </a:p>
        </p:txBody>
      </p:sp>
      <p:sp>
        <p:nvSpPr>
          <p:cNvPr id="10279" name="Oval 39">
            <a:extLst>
              <a:ext uri="{FF2B5EF4-FFF2-40B4-BE49-F238E27FC236}">
                <a16:creationId xmlns:a16="http://schemas.microsoft.com/office/drawing/2014/main" id="{22A93CDD-5A90-464D-8EEC-23DE28E5A8DD}"/>
              </a:ext>
            </a:extLst>
          </p:cNvPr>
          <p:cNvSpPr>
            <a:spLocks noChangeArrowheads="1"/>
          </p:cNvSpPr>
          <p:nvPr/>
        </p:nvSpPr>
        <p:spPr bwMode="auto">
          <a:xfrm>
            <a:off x="3209925" y="3260725"/>
            <a:ext cx="3048000" cy="12954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80" name="Text Box 40">
            <a:extLst>
              <a:ext uri="{FF2B5EF4-FFF2-40B4-BE49-F238E27FC236}">
                <a16:creationId xmlns:a16="http://schemas.microsoft.com/office/drawing/2014/main" id="{6404707B-EBF7-47A1-BE6C-AFAD55E5E4B8}"/>
              </a:ext>
            </a:extLst>
          </p:cNvPr>
          <p:cNvSpPr txBox="1">
            <a:spLocks noChangeArrowheads="1"/>
          </p:cNvSpPr>
          <p:nvPr/>
        </p:nvSpPr>
        <p:spPr bwMode="auto">
          <a:xfrm>
            <a:off x="3886200" y="3489325"/>
            <a:ext cx="1217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Internet</a:t>
            </a:r>
          </a:p>
        </p:txBody>
      </p:sp>
      <p:sp>
        <p:nvSpPr>
          <p:cNvPr id="10281" name="Text Box 41">
            <a:extLst>
              <a:ext uri="{FF2B5EF4-FFF2-40B4-BE49-F238E27FC236}">
                <a16:creationId xmlns:a16="http://schemas.microsoft.com/office/drawing/2014/main" id="{44F75BBC-4A24-45CE-B01B-D75871208C1F}"/>
              </a:ext>
            </a:extLst>
          </p:cNvPr>
          <p:cNvSpPr txBox="1">
            <a:spLocks noChangeArrowheads="1"/>
          </p:cNvSpPr>
          <p:nvPr/>
        </p:nvSpPr>
        <p:spPr bwMode="auto">
          <a:xfrm>
            <a:off x="1143000" y="2727325"/>
            <a:ext cx="1201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Publisher</a:t>
            </a:r>
          </a:p>
        </p:txBody>
      </p:sp>
      <p:sp>
        <p:nvSpPr>
          <p:cNvPr id="10282" name="Text Box 42">
            <a:extLst>
              <a:ext uri="{FF2B5EF4-FFF2-40B4-BE49-F238E27FC236}">
                <a16:creationId xmlns:a16="http://schemas.microsoft.com/office/drawing/2014/main" id="{C76EF608-5F69-4791-9BF1-7115A17F7F95}"/>
              </a:ext>
            </a:extLst>
          </p:cNvPr>
          <p:cNvSpPr txBox="1">
            <a:spLocks noChangeArrowheads="1"/>
          </p:cNvSpPr>
          <p:nvPr/>
        </p:nvSpPr>
        <p:spPr bwMode="auto">
          <a:xfrm>
            <a:off x="331788" y="3016250"/>
            <a:ext cx="2030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Key=“LetItBe”</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Value=MP3 data</a:t>
            </a:r>
          </a:p>
        </p:txBody>
      </p:sp>
      <p:sp>
        <p:nvSpPr>
          <p:cNvPr id="10283" name="Text Box 43">
            <a:extLst>
              <a:ext uri="{FF2B5EF4-FFF2-40B4-BE49-F238E27FC236}">
                <a16:creationId xmlns:a16="http://schemas.microsoft.com/office/drawing/2014/main" id="{B8736550-2070-48E8-8CA0-813CCC70DBD3}"/>
              </a:ext>
            </a:extLst>
          </p:cNvPr>
          <p:cNvSpPr txBox="1">
            <a:spLocks noChangeArrowheads="1"/>
          </p:cNvSpPr>
          <p:nvPr/>
        </p:nvSpPr>
        <p:spPr bwMode="auto">
          <a:xfrm>
            <a:off x="6629400" y="5089525"/>
            <a:ext cx="2201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Lookup(“LetItBe”)</a:t>
            </a:r>
          </a:p>
        </p:txBody>
      </p:sp>
      <p:grpSp>
        <p:nvGrpSpPr>
          <p:cNvPr id="10284" name="Group 44">
            <a:extLst>
              <a:ext uri="{FF2B5EF4-FFF2-40B4-BE49-F238E27FC236}">
                <a16:creationId xmlns:a16="http://schemas.microsoft.com/office/drawing/2014/main" id="{43ADFE02-9409-4AC2-ABDA-50C072A19283}"/>
              </a:ext>
            </a:extLst>
          </p:cNvPr>
          <p:cNvGrpSpPr>
            <a:grpSpLocks/>
          </p:cNvGrpSpPr>
          <p:nvPr/>
        </p:nvGrpSpPr>
        <p:grpSpPr bwMode="auto">
          <a:xfrm>
            <a:off x="2362200" y="2651125"/>
            <a:ext cx="609600" cy="533400"/>
            <a:chOff x="1248" y="1968"/>
            <a:chExt cx="384" cy="336"/>
          </a:xfrm>
        </p:grpSpPr>
        <p:sp>
          <p:nvSpPr>
            <p:cNvPr id="10285" name="Oval 45">
              <a:extLst>
                <a:ext uri="{FF2B5EF4-FFF2-40B4-BE49-F238E27FC236}">
                  <a16:creationId xmlns:a16="http://schemas.microsoft.com/office/drawing/2014/main" id="{FDB4889A-9013-4F78-9B2B-CF74BDFC557B}"/>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86" name="Text Box 46">
              <a:extLst>
                <a:ext uri="{FF2B5EF4-FFF2-40B4-BE49-F238E27FC236}">
                  <a16:creationId xmlns:a16="http://schemas.microsoft.com/office/drawing/2014/main" id="{4EE70D49-6CB0-4515-BD0D-1036A2E592E6}"/>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1</a:t>
              </a:r>
            </a:p>
          </p:txBody>
        </p:sp>
      </p:grpSp>
      <p:grpSp>
        <p:nvGrpSpPr>
          <p:cNvPr id="10287" name="Group 47">
            <a:extLst>
              <a:ext uri="{FF2B5EF4-FFF2-40B4-BE49-F238E27FC236}">
                <a16:creationId xmlns:a16="http://schemas.microsoft.com/office/drawing/2014/main" id="{5AB73433-C0ED-4F97-A834-1E8CE869A9C0}"/>
              </a:ext>
            </a:extLst>
          </p:cNvPr>
          <p:cNvGrpSpPr>
            <a:grpSpLocks/>
          </p:cNvGrpSpPr>
          <p:nvPr/>
        </p:nvGrpSpPr>
        <p:grpSpPr bwMode="auto">
          <a:xfrm>
            <a:off x="4191000" y="2270125"/>
            <a:ext cx="609600" cy="533400"/>
            <a:chOff x="1248" y="1968"/>
            <a:chExt cx="384" cy="336"/>
          </a:xfrm>
        </p:grpSpPr>
        <p:sp>
          <p:nvSpPr>
            <p:cNvPr id="10288" name="Oval 48">
              <a:extLst>
                <a:ext uri="{FF2B5EF4-FFF2-40B4-BE49-F238E27FC236}">
                  <a16:creationId xmlns:a16="http://schemas.microsoft.com/office/drawing/2014/main" id="{3084B75F-8596-4EC3-9D5D-9D3FCB986159}"/>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89" name="Text Box 49">
              <a:extLst>
                <a:ext uri="{FF2B5EF4-FFF2-40B4-BE49-F238E27FC236}">
                  <a16:creationId xmlns:a16="http://schemas.microsoft.com/office/drawing/2014/main" id="{10A5987A-5F16-4F2C-A706-EE490E98F0AB}"/>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2</a:t>
              </a:r>
            </a:p>
          </p:txBody>
        </p:sp>
      </p:grpSp>
      <p:grpSp>
        <p:nvGrpSpPr>
          <p:cNvPr id="10290" name="Group 50">
            <a:extLst>
              <a:ext uri="{FF2B5EF4-FFF2-40B4-BE49-F238E27FC236}">
                <a16:creationId xmlns:a16="http://schemas.microsoft.com/office/drawing/2014/main" id="{4CD0C8EF-9CAC-49D6-B69D-0211D7A939CA}"/>
              </a:ext>
            </a:extLst>
          </p:cNvPr>
          <p:cNvGrpSpPr>
            <a:grpSpLocks/>
          </p:cNvGrpSpPr>
          <p:nvPr/>
        </p:nvGrpSpPr>
        <p:grpSpPr bwMode="auto">
          <a:xfrm>
            <a:off x="5943600" y="2422525"/>
            <a:ext cx="609600" cy="533400"/>
            <a:chOff x="1248" y="1968"/>
            <a:chExt cx="384" cy="336"/>
          </a:xfrm>
        </p:grpSpPr>
        <p:sp>
          <p:nvSpPr>
            <p:cNvPr id="10291" name="Oval 51">
              <a:extLst>
                <a:ext uri="{FF2B5EF4-FFF2-40B4-BE49-F238E27FC236}">
                  <a16:creationId xmlns:a16="http://schemas.microsoft.com/office/drawing/2014/main" id="{FE6520C4-937C-48A5-8C73-26183831D505}"/>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92" name="Text Box 52">
              <a:extLst>
                <a:ext uri="{FF2B5EF4-FFF2-40B4-BE49-F238E27FC236}">
                  <a16:creationId xmlns:a16="http://schemas.microsoft.com/office/drawing/2014/main" id="{EBE572F7-0544-4650-8608-1EB4892688DE}"/>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3</a:t>
              </a:r>
            </a:p>
          </p:txBody>
        </p:sp>
      </p:grpSp>
      <p:grpSp>
        <p:nvGrpSpPr>
          <p:cNvPr id="10293" name="Group 53">
            <a:extLst>
              <a:ext uri="{FF2B5EF4-FFF2-40B4-BE49-F238E27FC236}">
                <a16:creationId xmlns:a16="http://schemas.microsoft.com/office/drawing/2014/main" id="{7EC9CD5D-94DF-426C-821A-B2F73BBB9AE0}"/>
              </a:ext>
            </a:extLst>
          </p:cNvPr>
          <p:cNvGrpSpPr>
            <a:grpSpLocks/>
          </p:cNvGrpSpPr>
          <p:nvPr/>
        </p:nvGrpSpPr>
        <p:grpSpPr bwMode="auto">
          <a:xfrm>
            <a:off x="5943600" y="4632325"/>
            <a:ext cx="609600" cy="533400"/>
            <a:chOff x="1248" y="1968"/>
            <a:chExt cx="384" cy="336"/>
          </a:xfrm>
        </p:grpSpPr>
        <p:sp>
          <p:nvSpPr>
            <p:cNvPr id="10294" name="Oval 54">
              <a:extLst>
                <a:ext uri="{FF2B5EF4-FFF2-40B4-BE49-F238E27FC236}">
                  <a16:creationId xmlns:a16="http://schemas.microsoft.com/office/drawing/2014/main" id="{E7E7C3B2-6150-4C09-AEF1-45C8CCF9BA1D}"/>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95" name="Text Box 55">
              <a:extLst>
                <a:ext uri="{FF2B5EF4-FFF2-40B4-BE49-F238E27FC236}">
                  <a16:creationId xmlns:a16="http://schemas.microsoft.com/office/drawing/2014/main" id="{EA62BF56-B687-44AA-ABAD-8F20AF5B51DB}"/>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5</a:t>
              </a:r>
            </a:p>
          </p:txBody>
        </p:sp>
      </p:grpSp>
      <p:grpSp>
        <p:nvGrpSpPr>
          <p:cNvPr id="10296" name="Group 56">
            <a:extLst>
              <a:ext uri="{FF2B5EF4-FFF2-40B4-BE49-F238E27FC236}">
                <a16:creationId xmlns:a16="http://schemas.microsoft.com/office/drawing/2014/main" id="{3C23DCD9-66F2-432C-84B0-E61662101FE6}"/>
              </a:ext>
            </a:extLst>
          </p:cNvPr>
          <p:cNvGrpSpPr>
            <a:grpSpLocks/>
          </p:cNvGrpSpPr>
          <p:nvPr/>
        </p:nvGrpSpPr>
        <p:grpSpPr bwMode="auto">
          <a:xfrm>
            <a:off x="3657600" y="4784725"/>
            <a:ext cx="609600" cy="533400"/>
            <a:chOff x="1248" y="1968"/>
            <a:chExt cx="384" cy="336"/>
          </a:xfrm>
        </p:grpSpPr>
        <p:sp>
          <p:nvSpPr>
            <p:cNvPr id="10297" name="Oval 57">
              <a:extLst>
                <a:ext uri="{FF2B5EF4-FFF2-40B4-BE49-F238E27FC236}">
                  <a16:creationId xmlns:a16="http://schemas.microsoft.com/office/drawing/2014/main" id="{8129F5D8-F160-4F79-BB55-48BF20F14BDA}"/>
                </a:ext>
              </a:extLst>
            </p:cNvPr>
            <p:cNvSpPr>
              <a:spLocks noChangeArrowheads="1"/>
            </p:cNvSpPr>
            <p:nvPr/>
          </p:nvSpPr>
          <p:spPr bwMode="auto">
            <a:xfrm>
              <a:off x="1248" y="1968"/>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298" name="Text Box 58">
              <a:extLst>
                <a:ext uri="{FF2B5EF4-FFF2-40B4-BE49-F238E27FC236}">
                  <a16:creationId xmlns:a16="http://schemas.microsoft.com/office/drawing/2014/main" id="{B514EB12-0CB2-4698-A147-8947029A27B0}"/>
                </a:ext>
              </a:extLst>
            </p:cNvPr>
            <p:cNvSpPr txBox="1">
              <a:spLocks noChangeArrowheads="1"/>
            </p:cNvSpPr>
            <p:nvPr/>
          </p:nvSpPr>
          <p:spPr bwMode="auto">
            <a:xfrm>
              <a:off x="1248" y="1968"/>
              <a:ext cx="3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3333CC"/>
                  </a:solidFill>
                  <a:effectLst/>
                  <a:uLnTx/>
                  <a:uFillTx/>
                  <a:latin typeface="Tahoma" panose="020B0604030504040204" pitchFamily="34" charset="0"/>
                  <a:ea typeface="+mn-ea"/>
                  <a:cs typeface="+mn-cs"/>
                </a:rPr>
                <a:t>N</a:t>
              </a:r>
              <a:r>
                <a:rPr kumimoji="0" lang="en-US" altLang="en-US" sz="2800" b="0" i="0" u="none" strike="noStrike" kern="1200" cap="none" spc="0" normalizeH="0" baseline="-25000" noProof="0">
                  <a:ln>
                    <a:noFill/>
                  </a:ln>
                  <a:solidFill>
                    <a:srgbClr val="3333CC"/>
                  </a:solidFill>
                  <a:effectLst/>
                  <a:uLnTx/>
                  <a:uFillTx/>
                  <a:latin typeface="Tahoma" panose="020B0604030504040204" pitchFamily="34" charset="0"/>
                  <a:ea typeface="+mn-ea"/>
                  <a:cs typeface="+mn-cs"/>
                </a:rPr>
                <a:t>4</a:t>
              </a:r>
            </a:p>
          </p:txBody>
        </p:sp>
      </p:grpSp>
      <p:sp>
        <p:nvSpPr>
          <p:cNvPr id="10299" name="Line 59">
            <a:extLst>
              <a:ext uri="{FF2B5EF4-FFF2-40B4-BE49-F238E27FC236}">
                <a16:creationId xmlns:a16="http://schemas.microsoft.com/office/drawing/2014/main" id="{82AC2464-9989-4E1B-8B2C-5DF00F1B0A6A}"/>
              </a:ext>
            </a:extLst>
          </p:cNvPr>
          <p:cNvSpPr>
            <a:spLocks noChangeShapeType="1"/>
          </p:cNvSpPr>
          <p:nvPr/>
        </p:nvSpPr>
        <p:spPr bwMode="auto">
          <a:xfrm>
            <a:off x="2895600" y="3032125"/>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0" name="Line 60">
            <a:extLst>
              <a:ext uri="{FF2B5EF4-FFF2-40B4-BE49-F238E27FC236}">
                <a16:creationId xmlns:a16="http://schemas.microsoft.com/office/drawing/2014/main" id="{11F36E33-133A-4E85-9B9A-10FB44EC51C1}"/>
              </a:ext>
            </a:extLst>
          </p:cNvPr>
          <p:cNvSpPr>
            <a:spLocks noChangeShapeType="1"/>
          </p:cNvSpPr>
          <p:nvPr/>
        </p:nvSpPr>
        <p:spPr bwMode="auto">
          <a:xfrm>
            <a:off x="4495800" y="280352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1" name="Line 61">
            <a:extLst>
              <a:ext uri="{FF2B5EF4-FFF2-40B4-BE49-F238E27FC236}">
                <a16:creationId xmlns:a16="http://schemas.microsoft.com/office/drawing/2014/main" id="{B6481C37-7EB8-476C-8E79-A86E6263433D}"/>
              </a:ext>
            </a:extLst>
          </p:cNvPr>
          <p:cNvSpPr>
            <a:spLocks noChangeShapeType="1"/>
          </p:cNvSpPr>
          <p:nvPr/>
        </p:nvSpPr>
        <p:spPr bwMode="auto">
          <a:xfrm flipH="1">
            <a:off x="5791200" y="2955925"/>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2" name="Line 62">
            <a:extLst>
              <a:ext uri="{FF2B5EF4-FFF2-40B4-BE49-F238E27FC236}">
                <a16:creationId xmlns:a16="http://schemas.microsoft.com/office/drawing/2014/main" id="{AE1BCFB5-822F-4B68-B14A-8C08967CA075}"/>
              </a:ext>
            </a:extLst>
          </p:cNvPr>
          <p:cNvSpPr>
            <a:spLocks noChangeShapeType="1"/>
          </p:cNvSpPr>
          <p:nvPr/>
        </p:nvSpPr>
        <p:spPr bwMode="auto">
          <a:xfrm flipV="1">
            <a:off x="4038600" y="4479925"/>
            <a:ext cx="152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3" name="Line 63">
            <a:extLst>
              <a:ext uri="{FF2B5EF4-FFF2-40B4-BE49-F238E27FC236}">
                <a16:creationId xmlns:a16="http://schemas.microsoft.com/office/drawing/2014/main" id="{B8E32DC7-54BD-48DA-A020-70A2B4B7F81A}"/>
              </a:ext>
            </a:extLst>
          </p:cNvPr>
          <p:cNvSpPr>
            <a:spLocks noChangeShapeType="1"/>
          </p:cNvSpPr>
          <p:nvPr/>
        </p:nvSpPr>
        <p:spPr bwMode="auto">
          <a:xfrm flipH="1" flipV="1">
            <a:off x="5791200" y="4403725"/>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4" name="Text Box 64">
            <a:extLst>
              <a:ext uri="{FF2B5EF4-FFF2-40B4-BE49-F238E27FC236}">
                <a16:creationId xmlns:a16="http://schemas.microsoft.com/office/drawing/2014/main" id="{B9341C29-F911-4493-91C4-6177B8DD09B8}"/>
              </a:ext>
            </a:extLst>
          </p:cNvPr>
          <p:cNvSpPr txBox="1">
            <a:spLocks noChangeArrowheads="1"/>
          </p:cNvSpPr>
          <p:nvPr/>
        </p:nvSpPr>
        <p:spPr bwMode="auto">
          <a:xfrm>
            <a:off x="6629400" y="4784725"/>
            <a:ext cx="81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Client</a:t>
            </a:r>
          </a:p>
        </p:txBody>
      </p:sp>
      <p:sp>
        <p:nvSpPr>
          <p:cNvPr id="10305" name="Freeform 65">
            <a:extLst>
              <a:ext uri="{FF2B5EF4-FFF2-40B4-BE49-F238E27FC236}">
                <a16:creationId xmlns:a16="http://schemas.microsoft.com/office/drawing/2014/main" id="{077E322D-0112-4CCE-AC51-CB5843E2DE8C}"/>
              </a:ext>
            </a:extLst>
          </p:cNvPr>
          <p:cNvSpPr>
            <a:spLocks/>
          </p:cNvSpPr>
          <p:nvPr/>
        </p:nvSpPr>
        <p:spPr bwMode="auto">
          <a:xfrm>
            <a:off x="5715000" y="3032125"/>
            <a:ext cx="457200" cy="1600200"/>
          </a:xfrm>
          <a:custGeom>
            <a:avLst/>
            <a:gdLst>
              <a:gd name="T0" fmla="*/ 288 w 288"/>
              <a:gd name="T1" fmla="*/ 1008 h 1008"/>
              <a:gd name="T2" fmla="*/ 0 w 288"/>
              <a:gd name="T3" fmla="*/ 624 h 1008"/>
              <a:gd name="T4" fmla="*/ 288 w 288"/>
              <a:gd name="T5" fmla="*/ 0 h 1008"/>
            </a:gdLst>
            <a:ahLst/>
            <a:cxnLst>
              <a:cxn ang="0">
                <a:pos x="T0" y="T1"/>
              </a:cxn>
              <a:cxn ang="0">
                <a:pos x="T2" y="T3"/>
              </a:cxn>
              <a:cxn ang="0">
                <a:pos x="T4" y="T5"/>
              </a:cxn>
            </a:cxnLst>
            <a:rect l="0" t="0" r="r" b="b"/>
            <a:pathLst>
              <a:path w="288" h="1008">
                <a:moveTo>
                  <a:pt x="288" y="1008"/>
                </a:moveTo>
                <a:cubicBezTo>
                  <a:pt x="144" y="900"/>
                  <a:pt x="0" y="792"/>
                  <a:pt x="0" y="624"/>
                </a:cubicBezTo>
                <a:cubicBezTo>
                  <a:pt x="0" y="456"/>
                  <a:pt x="144" y="228"/>
                  <a:pt x="288"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7" name="Freeform 67">
            <a:extLst>
              <a:ext uri="{FF2B5EF4-FFF2-40B4-BE49-F238E27FC236}">
                <a16:creationId xmlns:a16="http://schemas.microsoft.com/office/drawing/2014/main" id="{DFFE2A84-891C-4264-8560-8E079ECE9935}"/>
              </a:ext>
            </a:extLst>
          </p:cNvPr>
          <p:cNvSpPr>
            <a:spLocks/>
          </p:cNvSpPr>
          <p:nvPr/>
        </p:nvSpPr>
        <p:spPr bwMode="auto">
          <a:xfrm>
            <a:off x="4191000" y="2879725"/>
            <a:ext cx="1828800" cy="1905000"/>
          </a:xfrm>
          <a:custGeom>
            <a:avLst/>
            <a:gdLst>
              <a:gd name="T0" fmla="*/ 1200 w 1200"/>
              <a:gd name="T1" fmla="*/ 0 h 1200"/>
              <a:gd name="T2" fmla="*/ 816 w 1200"/>
              <a:gd name="T3" fmla="*/ 480 h 1200"/>
              <a:gd name="T4" fmla="*/ 192 w 1200"/>
              <a:gd name="T5" fmla="*/ 864 h 1200"/>
              <a:gd name="T6" fmla="*/ 0 w 1200"/>
              <a:gd name="T7" fmla="*/ 1200 h 1200"/>
            </a:gdLst>
            <a:ahLst/>
            <a:cxnLst>
              <a:cxn ang="0">
                <a:pos x="T0" y="T1"/>
              </a:cxn>
              <a:cxn ang="0">
                <a:pos x="T2" y="T3"/>
              </a:cxn>
              <a:cxn ang="0">
                <a:pos x="T4" y="T5"/>
              </a:cxn>
              <a:cxn ang="0">
                <a:pos x="T6" y="T7"/>
              </a:cxn>
            </a:cxnLst>
            <a:rect l="0" t="0" r="r" b="b"/>
            <a:pathLst>
              <a:path w="1200" h="1200">
                <a:moveTo>
                  <a:pt x="1200" y="0"/>
                </a:moveTo>
                <a:cubicBezTo>
                  <a:pt x="1092" y="168"/>
                  <a:pt x="984" y="336"/>
                  <a:pt x="816" y="480"/>
                </a:cubicBezTo>
                <a:cubicBezTo>
                  <a:pt x="648" y="624"/>
                  <a:pt x="328" y="744"/>
                  <a:pt x="192" y="864"/>
                </a:cubicBezTo>
                <a:cubicBezTo>
                  <a:pt x="56" y="984"/>
                  <a:pt x="28" y="1092"/>
                  <a:pt x="0" y="120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08" name="Freeform 68">
            <a:extLst>
              <a:ext uri="{FF2B5EF4-FFF2-40B4-BE49-F238E27FC236}">
                <a16:creationId xmlns:a16="http://schemas.microsoft.com/office/drawing/2014/main" id="{2285E79C-AC38-4D91-9F90-071E23FBC509}"/>
              </a:ext>
            </a:extLst>
          </p:cNvPr>
          <p:cNvSpPr>
            <a:spLocks/>
          </p:cNvSpPr>
          <p:nvPr/>
        </p:nvSpPr>
        <p:spPr bwMode="auto">
          <a:xfrm>
            <a:off x="2819400" y="3184525"/>
            <a:ext cx="1371600" cy="1600200"/>
          </a:xfrm>
          <a:custGeom>
            <a:avLst/>
            <a:gdLst>
              <a:gd name="T0" fmla="*/ 720 w 888"/>
              <a:gd name="T1" fmla="*/ 1008 h 1008"/>
              <a:gd name="T2" fmla="*/ 768 w 888"/>
              <a:gd name="T3" fmla="*/ 624 h 1008"/>
              <a:gd name="T4" fmla="*/ 0 w 888"/>
              <a:gd name="T5" fmla="*/ 0 h 1008"/>
            </a:gdLst>
            <a:ahLst/>
            <a:cxnLst>
              <a:cxn ang="0">
                <a:pos x="T0" y="T1"/>
              </a:cxn>
              <a:cxn ang="0">
                <a:pos x="T2" y="T3"/>
              </a:cxn>
              <a:cxn ang="0">
                <a:pos x="T4" y="T5"/>
              </a:cxn>
            </a:cxnLst>
            <a:rect l="0" t="0" r="r" b="b"/>
            <a:pathLst>
              <a:path w="888" h="1008">
                <a:moveTo>
                  <a:pt x="720" y="1008"/>
                </a:moveTo>
                <a:cubicBezTo>
                  <a:pt x="804" y="900"/>
                  <a:pt x="888" y="792"/>
                  <a:pt x="768" y="624"/>
                </a:cubicBezTo>
                <a:cubicBezTo>
                  <a:pt x="648" y="456"/>
                  <a:pt x="128" y="104"/>
                  <a:pt x="0" y="0"/>
                </a:cubicBez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0310" name="Text Box 70">
            <a:extLst>
              <a:ext uri="{FF2B5EF4-FFF2-40B4-BE49-F238E27FC236}">
                <a16:creationId xmlns:a16="http://schemas.microsoft.com/office/drawing/2014/main" id="{80A596CD-C5B5-4196-8569-B0949FB80CF0}"/>
              </a:ext>
            </a:extLst>
          </p:cNvPr>
          <p:cNvSpPr txBox="1">
            <a:spLocks noChangeArrowheads="1"/>
          </p:cNvSpPr>
          <p:nvPr/>
        </p:nvSpPr>
        <p:spPr bwMode="auto">
          <a:xfrm>
            <a:off x="304800" y="6019800"/>
            <a:ext cx="83820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Only exact matches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C9A0AAE-ADBF-4348-A850-32F8149B53F9}"/>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Routing Challenges</a:t>
            </a:r>
          </a:p>
        </p:txBody>
      </p:sp>
      <p:sp>
        <p:nvSpPr>
          <p:cNvPr id="12291" name="Text Box 3">
            <a:extLst>
              <a:ext uri="{FF2B5EF4-FFF2-40B4-BE49-F238E27FC236}">
                <a16:creationId xmlns:a16="http://schemas.microsoft.com/office/drawing/2014/main" id="{5BC769D6-16F7-4A3D-B66A-72103E67FC34}"/>
              </a:ext>
            </a:extLst>
          </p:cNvPr>
          <p:cNvSpPr txBox="1">
            <a:spLocks noChangeArrowheads="1"/>
          </p:cNvSpPr>
          <p:nvPr/>
        </p:nvSpPr>
        <p:spPr bwMode="auto">
          <a:xfrm>
            <a:off x="609600" y="1755775"/>
            <a:ext cx="8077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Define a useful key nearness metric</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Keep the hop count small</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Keep the routing tables “right size”</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Stay robust despite rapid changes in membership</a:t>
            </a:r>
          </a:p>
        </p:txBody>
      </p:sp>
      <p:sp>
        <p:nvSpPr>
          <p:cNvPr id="12324" name="Rectangle 36">
            <a:extLst>
              <a:ext uri="{FF2B5EF4-FFF2-40B4-BE49-F238E27FC236}">
                <a16:creationId xmlns:a16="http://schemas.microsoft.com/office/drawing/2014/main" id="{14D3FDDF-400D-4BBD-B4C0-E9CEC992988F}"/>
              </a:ext>
            </a:extLst>
          </p:cNvPr>
          <p:cNvSpPr>
            <a:spLocks noChangeArrowheads="1"/>
          </p:cNvSpPr>
          <p:nvPr/>
        </p:nvSpPr>
        <p:spPr bwMode="auto">
          <a:xfrm>
            <a:off x="609600" y="5244455"/>
            <a:ext cx="66595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None/>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Chord: emphasizes efficiency and simplicity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81327CF-AAEF-47BA-877B-31197BF86B7E}"/>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Chord IDs</a:t>
            </a:r>
          </a:p>
        </p:txBody>
      </p:sp>
      <p:sp>
        <p:nvSpPr>
          <p:cNvPr id="27651" name="Text Box 3">
            <a:extLst>
              <a:ext uri="{FF2B5EF4-FFF2-40B4-BE49-F238E27FC236}">
                <a16:creationId xmlns:a16="http://schemas.microsoft.com/office/drawing/2014/main" id="{01B6F3FA-853F-40A4-8F7F-A73675AD00C0}"/>
              </a:ext>
            </a:extLst>
          </p:cNvPr>
          <p:cNvSpPr txBox="1">
            <a:spLocks noChangeArrowheads="1"/>
          </p:cNvSpPr>
          <p:nvPr/>
        </p:nvSpPr>
        <p:spPr bwMode="auto">
          <a:xfrm>
            <a:off x="533400" y="1600200"/>
            <a:ext cx="8077200"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4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a:t>
            </a:r>
            <a:r>
              <a:rPr kumimoji="0" lang="en-US" altLang="en-US" sz="2400" b="0" i="1"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m</a:t>
            </a: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bit identifier space for both keys and nodes</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Key identifier = SHA-1(key)</a:t>
            </a:r>
          </a:p>
        </p:txBody>
      </p:sp>
      <p:grpSp>
        <p:nvGrpSpPr>
          <p:cNvPr id="27663" name="Group 15">
            <a:extLst>
              <a:ext uri="{FF2B5EF4-FFF2-40B4-BE49-F238E27FC236}">
                <a16:creationId xmlns:a16="http://schemas.microsoft.com/office/drawing/2014/main" id="{5B8EC313-EDDF-49E2-84E9-E72A608ECAFE}"/>
              </a:ext>
            </a:extLst>
          </p:cNvPr>
          <p:cNvGrpSpPr>
            <a:grpSpLocks/>
          </p:cNvGrpSpPr>
          <p:nvPr/>
        </p:nvGrpSpPr>
        <p:grpSpPr bwMode="auto">
          <a:xfrm>
            <a:off x="1265238" y="2801938"/>
            <a:ext cx="4076700" cy="474662"/>
            <a:chOff x="1987" y="3407"/>
            <a:chExt cx="2568" cy="299"/>
          </a:xfrm>
        </p:grpSpPr>
        <p:sp>
          <p:nvSpPr>
            <p:cNvPr id="27654" name="Text Box 6">
              <a:extLst>
                <a:ext uri="{FF2B5EF4-FFF2-40B4-BE49-F238E27FC236}">
                  <a16:creationId xmlns:a16="http://schemas.microsoft.com/office/drawing/2014/main" id="{8C61C776-F232-4782-AC54-E0B149D42FDF}"/>
                </a:ext>
              </a:extLst>
            </p:cNvPr>
            <p:cNvSpPr txBox="1">
              <a:spLocks noChangeArrowheads="1"/>
            </p:cNvSpPr>
            <p:nvPr/>
          </p:nvSpPr>
          <p:spPr bwMode="auto">
            <a:xfrm>
              <a:off x="1987" y="3456"/>
              <a:ext cx="11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Key=“LetItBe”</a:t>
              </a:r>
            </a:p>
          </p:txBody>
        </p:sp>
        <p:sp>
          <p:nvSpPr>
            <p:cNvPr id="27656" name="Line 8">
              <a:extLst>
                <a:ext uri="{FF2B5EF4-FFF2-40B4-BE49-F238E27FC236}">
                  <a16:creationId xmlns:a16="http://schemas.microsoft.com/office/drawing/2014/main" id="{9D5A0E03-93EF-4744-98D9-93106A7C99F4}"/>
                </a:ext>
              </a:extLst>
            </p:cNvPr>
            <p:cNvSpPr>
              <a:spLocks noChangeShapeType="1"/>
            </p:cNvSpPr>
            <p:nvPr/>
          </p:nvSpPr>
          <p:spPr bwMode="auto">
            <a:xfrm>
              <a:off x="3168" y="360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7657" name="Rectangle 9">
              <a:extLst>
                <a:ext uri="{FF2B5EF4-FFF2-40B4-BE49-F238E27FC236}">
                  <a16:creationId xmlns:a16="http://schemas.microsoft.com/office/drawing/2014/main" id="{93564B38-935B-459B-98BF-F4AF0293A7B4}"/>
                </a:ext>
              </a:extLst>
            </p:cNvPr>
            <p:cNvSpPr>
              <a:spLocks noChangeArrowheads="1"/>
            </p:cNvSpPr>
            <p:nvPr/>
          </p:nvSpPr>
          <p:spPr bwMode="auto">
            <a:xfrm>
              <a:off x="3980" y="3456"/>
              <a:ext cx="5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D60093"/>
                  </a:solidFill>
                  <a:effectLst/>
                  <a:uLnTx/>
                  <a:uFillTx/>
                  <a:latin typeface="Tahoma" panose="020B0604030504040204" pitchFamily="34" charset="0"/>
                  <a:ea typeface="+mn-ea"/>
                  <a:cs typeface="+mn-cs"/>
                </a:rPr>
                <a:t>ID=60</a:t>
              </a:r>
            </a:p>
          </p:txBody>
        </p:sp>
        <p:sp>
          <p:nvSpPr>
            <p:cNvPr id="27658" name="Rectangle 10">
              <a:extLst>
                <a:ext uri="{FF2B5EF4-FFF2-40B4-BE49-F238E27FC236}">
                  <a16:creationId xmlns:a16="http://schemas.microsoft.com/office/drawing/2014/main" id="{858F7F8B-16CB-4D1B-82C9-8EE3E0FB240E}"/>
                </a:ext>
              </a:extLst>
            </p:cNvPr>
            <p:cNvSpPr>
              <a:spLocks noChangeArrowheads="1"/>
            </p:cNvSpPr>
            <p:nvPr/>
          </p:nvSpPr>
          <p:spPr bwMode="auto">
            <a:xfrm>
              <a:off x="3252" y="3407"/>
              <a:ext cx="492"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50000"/>
                </a:spcAft>
                <a:buClr>
                  <a:srgbClr val="FF0000"/>
                </a:buClr>
                <a:buSzPct val="80000"/>
                <a:buFont typeface="Monotype Sorts" charset="2"/>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SHA-1</a:t>
              </a:r>
            </a:p>
          </p:txBody>
        </p:sp>
      </p:grpSp>
      <p:grpSp>
        <p:nvGrpSpPr>
          <p:cNvPr id="27665" name="Group 17">
            <a:extLst>
              <a:ext uri="{FF2B5EF4-FFF2-40B4-BE49-F238E27FC236}">
                <a16:creationId xmlns:a16="http://schemas.microsoft.com/office/drawing/2014/main" id="{64E14789-7F4F-4C2A-92B0-802D3788B78F}"/>
              </a:ext>
            </a:extLst>
          </p:cNvPr>
          <p:cNvGrpSpPr>
            <a:grpSpLocks/>
          </p:cNvGrpSpPr>
          <p:nvPr/>
        </p:nvGrpSpPr>
        <p:grpSpPr bwMode="auto">
          <a:xfrm>
            <a:off x="1219200" y="4021138"/>
            <a:ext cx="4483100" cy="474662"/>
            <a:chOff x="1776" y="3696"/>
            <a:chExt cx="2824" cy="299"/>
          </a:xfrm>
        </p:grpSpPr>
        <p:sp>
          <p:nvSpPr>
            <p:cNvPr id="27655" name="Text Box 7">
              <a:extLst>
                <a:ext uri="{FF2B5EF4-FFF2-40B4-BE49-F238E27FC236}">
                  <a16:creationId xmlns:a16="http://schemas.microsoft.com/office/drawing/2014/main" id="{1F2388BF-F335-4906-B8C7-9484B4AF7272}"/>
                </a:ext>
              </a:extLst>
            </p:cNvPr>
            <p:cNvSpPr txBox="1">
              <a:spLocks noChangeArrowheads="1"/>
            </p:cNvSpPr>
            <p:nvPr/>
          </p:nvSpPr>
          <p:spPr bwMode="auto">
            <a:xfrm>
              <a:off x="1776" y="3744"/>
              <a:ext cx="13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IP=“198.10.10.1”</a:t>
              </a:r>
            </a:p>
          </p:txBody>
        </p:sp>
        <p:sp>
          <p:nvSpPr>
            <p:cNvPr id="27659" name="Line 11">
              <a:extLst>
                <a:ext uri="{FF2B5EF4-FFF2-40B4-BE49-F238E27FC236}">
                  <a16:creationId xmlns:a16="http://schemas.microsoft.com/office/drawing/2014/main" id="{A68C01B6-2D7A-4440-87C0-AC53EDBE0B1E}"/>
                </a:ext>
              </a:extLst>
            </p:cNvPr>
            <p:cNvSpPr>
              <a:spLocks noChangeShapeType="1"/>
            </p:cNvSpPr>
            <p:nvPr/>
          </p:nvSpPr>
          <p:spPr bwMode="auto">
            <a:xfrm>
              <a:off x="3168" y="3889"/>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7660" name="Rectangle 12">
              <a:extLst>
                <a:ext uri="{FF2B5EF4-FFF2-40B4-BE49-F238E27FC236}">
                  <a16:creationId xmlns:a16="http://schemas.microsoft.com/office/drawing/2014/main" id="{AA4EA1DC-84F2-4131-A096-599EFC7DF2A8}"/>
                </a:ext>
              </a:extLst>
            </p:cNvPr>
            <p:cNvSpPr>
              <a:spLocks noChangeArrowheads="1"/>
            </p:cNvSpPr>
            <p:nvPr/>
          </p:nvSpPr>
          <p:spPr bwMode="auto">
            <a:xfrm>
              <a:off x="3938" y="3745"/>
              <a:ext cx="66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D60093"/>
                  </a:solidFill>
                  <a:effectLst/>
                  <a:uLnTx/>
                  <a:uFillTx/>
                  <a:latin typeface="Tahoma" panose="020B0604030504040204" pitchFamily="34" charset="0"/>
                  <a:ea typeface="+mn-ea"/>
                  <a:cs typeface="+mn-cs"/>
                </a:rPr>
                <a:t>ID=123</a:t>
              </a:r>
            </a:p>
          </p:txBody>
        </p:sp>
        <p:sp>
          <p:nvSpPr>
            <p:cNvPr id="27661" name="Rectangle 13">
              <a:extLst>
                <a:ext uri="{FF2B5EF4-FFF2-40B4-BE49-F238E27FC236}">
                  <a16:creationId xmlns:a16="http://schemas.microsoft.com/office/drawing/2014/main" id="{6CF7DBF6-0C20-48EE-B9C0-88A6DEFE64FB}"/>
                </a:ext>
              </a:extLst>
            </p:cNvPr>
            <p:cNvSpPr>
              <a:spLocks noChangeArrowheads="1"/>
            </p:cNvSpPr>
            <p:nvPr/>
          </p:nvSpPr>
          <p:spPr bwMode="auto">
            <a:xfrm>
              <a:off x="3252" y="3696"/>
              <a:ext cx="492"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50000"/>
                </a:spcAft>
                <a:buClr>
                  <a:srgbClr val="FF0000"/>
                </a:buClr>
                <a:buSzPct val="80000"/>
                <a:buFont typeface="Monotype Sorts" charset="2"/>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SHA-1</a:t>
              </a:r>
            </a:p>
          </p:txBody>
        </p:sp>
      </p:grpSp>
      <p:sp>
        <p:nvSpPr>
          <p:cNvPr id="27662" name="Rectangle 14">
            <a:extLst>
              <a:ext uri="{FF2B5EF4-FFF2-40B4-BE49-F238E27FC236}">
                <a16:creationId xmlns:a16="http://schemas.microsoft.com/office/drawing/2014/main" id="{FBF4F22A-7095-4CF0-8F99-796A03E7734F}"/>
              </a:ext>
            </a:extLst>
          </p:cNvPr>
          <p:cNvSpPr>
            <a:spLocks noChangeArrowheads="1"/>
          </p:cNvSpPr>
          <p:nvPr/>
        </p:nvSpPr>
        <p:spPr bwMode="auto">
          <a:xfrm>
            <a:off x="533400" y="3640138"/>
            <a:ext cx="5700713"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Node identifier = SHA-1(IP address)</a:t>
            </a:r>
          </a:p>
        </p:txBody>
      </p:sp>
      <p:sp>
        <p:nvSpPr>
          <p:cNvPr id="27664" name="Rectangle 16">
            <a:extLst>
              <a:ext uri="{FF2B5EF4-FFF2-40B4-BE49-F238E27FC236}">
                <a16:creationId xmlns:a16="http://schemas.microsoft.com/office/drawing/2014/main" id="{0F106D04-F67B-480C-932B-943014B10CF5}"/>
              </a:ext>
            </a:extLst>
          </p:cNvPr>
          <p:cNvSpPr>
            <a:spLocks noChangeArrowheads="1"/>
          </p:cNvSpPr>
          <p:nvPr/>
        </p:nvSpPr>
        <p:spPr bwMode="auto">
          <a:xfrm>
            <a:off x="533400" y="4984750"/>
            <a:ext cx="5334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Both are uniformly distributed</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How to map key IDs to node IDs?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B7A1CF1-5C74-4C1A-8047-089425647DB9}"/>
              </a:ext>
            </a:extLst>
          </p:cNvPr>
          <p:cNvSpPr>
            <a:spLocks noChangeArrowheads="1"/>
          </p:cNvSpPr>
          <p:nvPr/>
        </p:nvSpPr>
        <p:spPr bwMode="auto">
          <a:xfrm>
            <a:off x="304800" y="259644"/>
            <a:ext cx="7620000" cy="990600"/>
          </a:xfrm>
          <a:prstGeom prst="rect">
            <a:avLst/>
          </a:prstGeom>
          <a:noFill/>
          <a:ln w="9525">
            <a:noFill/>
            <a:miter lim="800000"/>
            <a:headEnd/>
            <a:tailEnd/>
          </a:ln>
          <a:effectLst/>
        </p:spPr>
        <p:txBody>
          <a:bodyPr wrap="none" anchor="ctr"/>
          <a:lstStyle/>
          <a:p>
            <a:r>
              <a:rPr lang="en-US" altLang="en-US" sz="4000" dirty="0">
                <a:latin typeface="Calibri Light" panose="020F0302020204030204" pitchFamily="34" charset="0"/>
                <a:cs typeface="Calibri Light" panose="020F0302020204030204" pitchFamily="34" charset="0"/>
              </a:rPr>
              <a:t>Consistent Hashing [Karger 97]</a:t>
            </a:r>
          </a:p>
        </p:txBody>
      </p:sp>
      <p:sp>
        <p:nvSpPr>
          <p:cNvPr id="28675" name="Text Box 3">
            <a:extLst>
              <a:ext uri="{FF2B5EF4-FFF2-40B4-BE49-F238E27FC236}">
                <a16:creationId xmlns:a16="http://schemas.microsoft.com/office/drawing/2014/main" id="{F9A0E13E-F436-4757-B0AC-FBD3E8B06432}"/>
              </a:ext>
            </a:extLst>
          </p:cNvPr>
          <p:cNvSpPr txBox="1">
            <a:spLocks noChangeArrowheads="1"/>
          </p:cNvSpPr>
          <p:nvPr/>
        </p:nvSpPr>
        <p:spPr bwMode="auto">
          <a:xfrm>
            <a:off x="304800" y="6156325"/>
            <a:ext cx="83820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Aft>
                <a:spcPct val="50000"/>
              </a:spcAft>
              <a:buClr>
                <a:srgbClr val="FF0000"/>
              </a:buClr>
              <a:buSzPct val="80000"/>
              <a:buFont typeface="Monotype Sorts" charset="2"/>
              <a:buChar char="o"/>
            </a:pPr>
            <a:r>
              <a:rPr lang="en-US" altLang="en-US" sz="2000">
                <a:latin typeface="Comic Sans MS" panose="030F0702030302020204" pitchFamily="66" charset="0"/>
              </a:rPr>
              <a:t> A key is stored at its </a:t>
            </a:r>
            <a:r>
              <a:rPr lang="en-US" altLang="en-US" sz="2000">
                <a:solidFill>
                  <a:srgbClr val="FF0000"/>
                </a:solidFill>
                <a:latin typeface="Comic Sans MS" panose="030F0702030302020204" pitchFamily="66" charset="0"/>
              </a:rPr>
              <a:t>successor</a:t>
            </a:r>
            <a:r>
              <a:rPr lang="en-US" altLang="en-US" sz="2000">
                <a:latin typeface="Comic Sans MS" panose="030F0702030302020204" pitchFamily="66" charset="0"/>
              </a:rPr>
              <a:t>: node with next higher ID</a:t>
            </a:r>
          </a:p>
        </p:txBody>
      </p:sp>
      <p:sp>
        <p:nvSpPr>
          <p:cNvPr id="28677" name="Oval 5">
            <a:extLst>
              <a:ext uri="{FF2B5EF4-FFF2-40B4-BE49-F238E27FC236}">
                <a16:creationId xmlns:a16="http://schemas.microsoft.com/office/drawing/2014/main" id="{FB1604D8-FEEE-471A-A82C-E0C9F526C375}"/>
              </a:ext>
            </a:extLst>
          </p:cNvPr>
          <p:cNvSpPr>
            <a:spLocks noChangeArrowheads="1"/>
          </p:cNvSpPr>
          <p:nvPr/>
        </p:nvSpPr>
        <p:spPr bwMode="auto">
          <a:xfrm>
            <a:off x="2667000" y="2209800"/>
            <a:ext cx="3505200" cy="33528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8" name="Text Box 6">
            <a:extLst>
              <a:ext uri="{FF2B5EF4-FFF2-40B4-BE49-F238E27FC236}">
                <a16:creationId xmlns:a16="http://schemas.microsoft.com/office/drawing/2014/main" id="{D77FC2CC-F36B-44A0-855C-EF946E43DCD2}"/>
              </a:ext>
            </a:extLst>
          </p:cNvPr>
          <p:cNvSpPr txBox="1">
            <a:spLocks noChangeArrowheads="1"/>
          </p:cNvSpPr>
          <p:nvPr/>
        </p:nvSpPr>
        <p:spPr bwMode="auto">
          <a:xfrm>
            <a:off x="6324600" y="3733800"/>
            <a:ext cx="754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latin typeface="Helvetica" panose="020B0604020202020204" pitchFamily="34" charset="0"/>
              </a:rPr>
              <a:t>N32</a:t>
            </a:r>
          </a:p>
        </p:txBody>
      </p:sp>
      <p:sp>
        <p:nvSpPr>
          <p:cNvPr id="28679" name="Text Box 7">
            <a:extLst>
              <a:ext uri="{FF2B5EF4-FFF2-40B4-BE49-F238E27FC236}">
                <a16:creationId xmlns:a16="http://schemas.microsoft.com/office/drawing/2014/main" id="{30F57CFD-C7CF-4C0D-B204-B8D876280241}"/>
              </a:ext>
            </a:extLst>
          </p:cNvPr>
          <p:cNvSpPr txBox="1">
            <a:spLocks noChangeArrowheads="1"/>
          </p:cNvSpPr>
          <p:nvPr/>
        </p:nvSpPr>
        <p:spPr bwMode="auto">
          <a:xfrm>
            <a:off x="2362200" y="5181600"/>
            <a:ext cx="754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latin typeface="Helvetica" panose="020B0604020202020204" pitchFamily="34" charset="0"/>
              </a:rPr>
              <a:t>N90</a:t>
            </a:r>
          </a:p>
        </p:txBody>
      </p:sp>
      <p:sp>
        <p:nvSpPr>
          <p:cNvPr id="28680" name="Text Box 8">
            <a:extLst>
              <a:ext uri="{FF2B5EF4-FFF2-40B4-BE49-F238E27FC236}">
                <a16:creationId xmlns:a16="http://schemas.microsoft.com/office/drawing/2014/main" id="{DF9C17C2-DBAD-48AB-AE04-1A05D051609C}"/>
              </a:ext>
            </a:extLst>
          </p:cNvPr>
          <p:cNvSpPr txBox="1">
            <a:spLocks noChangeArrowheads="1"/>
          </p:cNvSpPr>
          <p:nvPr/>
        </p:nvSpPr>
        <p:spPr bwMode="auto">
          <a:xfrm>
            <a:off x="1905000" y="2514600"/>
            <a:ext cx="9239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latin typeface="Helvetica" panose="020B0604020202020204" pitchFamily="34" charset="0"/>
              </a:rPr>
              <a:t>N123</a:t>
            </a:r>
          </a:p>
        </p:txBody>
      </p:sp>
      <p:sp>
        <p:nvSpPr>
          <p:cNvPr id="28682" name="Text Box 10">
            <a:extLst>
              <a:ext uri="{FF2B5EF4-FFF2-40B4-BE49-F238E27FC236}">
                <a16:creationId xmlns:a16="http://schemas.microsoft.com/office/drawing/2014/main" id="{D4E36211-A272-49AF-AD89-6C0CC18A47DF}"/>
              </a:ext>
            </a:extLst>
          </p:cNvPr>
          <p:cNvSpPr txBox="1">
            <a:spLocks noChangeArrowheads="1"/>
          </p:cNvSpPr>
          <p:nvPr/>
        </p:nvSpPr>
        <p:spPr bwMode="auto">
          <a:xfrm>
            <a:off x="5791200" y="2514600"/>
            <a:ext cx="72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00BE00"/>
                </a:solidFill>
                <a:latin typeface="Helvetica" panose="020B0604020202020204" pitchFamily="34" charset="0"/>
              </a:rPr>
              <a:t>K20</a:t>
            </a:r>
          </a:p>
        </p:txBody>
      </p:sp>
      <p:sp>
        <p:nvSpPr>
          <p:cNvPr id="28683" name="Text Box 11">
            <a:extLst>
              <a:ext uri="{FF2B5EF4-FFF2-40B4-BE49-F238E27FC236}">
                <a16:creationId xmlns:a16="http://schemas.microsoft.com/office/drawing/2014/main" id="{CA2D5DB0-8E11-42C7-AF33-110B860C7B1B}"/>
              </a:ext>
            </a:extLst>
          </p:cNvPr>
          <p:cNvSpPr txBox="1">
            <a:spLocks noChangeArrowheads="1"/>
          </p:cNvSpPr>
          <p:nvPr/>
        </p:nvSpPr>
        <p:spPr bwMode="auto">
          <a:xfrm>
            <a:off x="4572000" y="1752600"/>
            <a:ext cx="55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00BE00"/>
                </a:solidFill>
                <a:latin typeface="Helvetica" panose="020B0604020202020204" pitchFamily="34" charset="0"/>
              </a:rPr>
              <a:t>K5</a:t>
            </a:r>
          </a:p>
        </p:txBody>
      </p:sp>
      <p:sp>
        <p:nvSpPr>
          <p:cNvPr id="28684" name="Text Box 12">
            <a:extLst>
              <a:ext uri="{FF2B5EF4-FFF2-40B4-BE49-F238E27FC236}">
                <a16:creationId xmlns:a16="http://schemas.microsoft.com/office/drawing/2014/main" id="{3205AA98-C8BD-4BC4-8982-F58ED069CA01}"/>
              </a:ext>
            </a:extLst>
          </p:cNvPr>
          <p:cNvSpPr txBox="1">
            <a:spLocks noChangeArrowheads="1"/>
          </p:cNvSpPr>
          <p:nvPr/>
        </p:nvSpPr>
        <p:spPr bwMode="auto">
          <a:xfrm>
            <a:off x="3429000" y="3429000"/>
            <a:ext cx="19097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ahoma" panose="020B0604030504040204" pitchFamily="34" charset="0"/>
              </a:rPr>
              <a:t>Circular 7-bit</a:t>
            </a:r>
          </a:p>
          <a:p>
            <a:r>
              <a:rPr lang="en-US" altLang="en-US">
                <a:latin typeface="Tahoma" panose="020B0604030504040204" pitchFamily="34" charset="0"/>
              </a:rPr>
              <a:t>ID space</a:t>
            </a:r>
          </a:p>
        </p:txBody>
      </p:sp>
      <p:sp>
        <p:nvSpPr>
          <p:cNvPr id="28685" name="Line 13">
            <a:extLst>
              <a:ext uri="{FF2B5EF4-FFF2-40B4-BE49-F238E27FC236}">
                <a16:creationId xmlns:a16="http://schemas.microsoft.com/office/drawing/2014/main" id="{F8A95FBA-E904-4C69-B5C2-5BCD6563D18B}"/>
              </a:ext>
            </a:extLst>
          </p:cNvPr>
          <p:cNvSpPr>
            <a:spLocks noChangeShapeType="1"/>
          </p:cNvSpPr>
          <p:nvPr/>
        </p:nvSpPr>
        <p:spPr bwMode="auto">
          <a:xfrm flipV="1">
            <a:off x="2362200" y="3048000"/>
            <a:ext cx="2286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689" name="Line 17">
            <a:extLst>
              <a:ext uri="{FF2B5EF4-FFF2-40B4-BE49-F238E27FC236}">
                <a16:creationId xmlns:a16="http://schemas.microsoft.com/office/drawing/2014/main" id="{5856BD7C-020C-436E-93BF-397CDB5A34B5}"/>
              </a:ext>
            </a:extLst>
          </p:cNvPr>
          <p:cNvSpPr>
            <a:spLocks noChangeShapeType="1"/>
          </p:cNvSpPr>
          <p:nvPr/>
        </p:nvSpPr>
        <p:spPr bwMode="auto">
          <a:xfrm>
            <a:off x="1447800" y="2286000"/>
            <a:ext cx="5334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28691" name="Arc 19">
            <a:extLst>
              <a:ext uri="{FF2B5EF4-FFF2-40B4-BE49-F238E27FC236}">
                <a16:creationId xmlns:a16="http://schemas.microsoft.com/office/drawing/2014/main" id="{FCD451F5-5EA8-4638-9E57-3D8CDF85D0FD}"/>
              </a:ext>
            </a:extLst>
          </p:cNvPr>
          <p:cNvSpPr>
            <a:spLocks/>
          </p:cNvSpPr>
          <p:nvPr/>
        </p:nvSpPr>
        <p:spPr bwMode="auto">
          <a:xfrm>
            <a:off x="5105400" y="1984375"/>
            <a:ext cx="1885950" cy="1981200"/>
          </a:xfrm>
          <a:custGeom>
            <a:avLst/>
            <a:gdLst>
              <a:gd name="G0" fmla="+- 0 0 0"/>
              <a:gd name="G1" fmla="+- 21600 0 0"/>
              <a:gd name="G2" fmla="+- 21600 0 0"/>
              <a:gd name="T0" fmla="*/ 0 w 21418"/>
              <a:gd name="T1" fmla="*/ 0 h 21600"/>
              <a:gd name="T2" fmla="*/ 21418 w 21418"/>
              <a:gd name="T3" fmla="*/ 18802 h 21600"/>
              <a:gd name="T4" fmla="*/ 0 w 21418"/>
              <a:gd name="T5" fmla="*/ 21600 h 21600"/>
            </a:gdLst>
            <a:ahLst/>
            <a:cxnLst>
              <a:cxn ang="0">
                <a:pos x="T0" y="T1"/>
              </a:cxn>
              <a:cxn ang="0">
                <a:pos x="T2" y="T3"/>
              </a:cxn>
              <a:cxn ang="0">
                <a:pos x="T4" y="T5"/>
              </a:cxn>
            </a:cxnLst>
            <a:rect l="0" t="0" r="r" b="b"/>
            <a:pathLst>
              <a:path w="21418" h="21600" fill="none" extrusionOk="0">
                <a:moveTo>
                  <a:pt x="0" y="0"/>
                </a:moveTo>
                <a:cubicBezTo>
                  <a:pt x="10847" y="0"/>
                  <a:pt x="20012" y="8045"/>
                  <a:pt x="21418" y="18801"/>
                </a:cubicBezTo>
              </a:path>
              <a:path w="21418" h="21600" stroke="0" extrusionOk="0">
                <a:moveTo>
                  <a:pt x="0" y="0"/>
                </a:moveTo>
                <a:cubicBezTo>
                  <a:pt x="10847" y="0"/>
                  <a:pt x="20012" y="8045"/>
                  <a:pt x="21418" y="18801"/>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8692" name="Arc 20">
            <a:extLst>
              <a:ext uri="{FF2B5EF4-FFF2-40B4-BE49-F238E27FC236}">
                <a16:creationId xmlns:a16="http://schemas.microsoft.com/office/drawing/2014/main" id="{6CB17864-13F3-4408-B7A9-889DC2B0F4DA}"/>
              </a:ext>
            </a:extLst>
          </p:cNvPr>
          <p:cNvSpPr>
            <a:spLocks/>
          </p:cNvSpPr>
          <p:nvPr/>
        </p:nvSpPr>
        <p:spPr bwMode="auto">
          <a:xfrm>
            <a:off x="6324600" y="2900363"/>
            <a:ext cx="466725" cy="914400"/>
          </a:xfrm>
          <a:custGeom>
            <a:avLst/>
            <a:gdLst>
              <a:gd name="G0" fmla="+- 0 0 0"/>
              <a:gd name="G1" fmla="+- 21600 0 0"/>
              <a:gd name="G2" fmla="+- 21600 0 0"/>
              <a:gd name="T0" fmla="*/ 0 w 21425"/>
              <a:gd name="T1" fmla="*/ 0 h 21600"/>
              <a:gd name="T2" fmla="*/ 21425 w 21425"/>
              <a:gd name="T3" fmla="*/ 18852 h 21600"/>
              <a:gd name="T4" fmla="*/ 0 w 21425"/>
              <a:gd name="T5" fmla="*/ 21600 h 21600"/>
            </a:gdLst>
            <a:ahLst/>
            <a:cxnLst>
              <a:cxn ang="0">
                <a:pos x="T0" y="T1"/>
              </a:cxn>
              <a:cxn ang="0">
                <a:pos x="T2" y="T3"/>
              </a:cxn>
              <a:cxn ang="0">
                <a:pos x="T4" y="T5"/>
              </a:cxn>
            </a:cxnLst>
            <a:rect l="0" t="0" r="r" b="b"/>
            <a:pathLst>
              <a:path w="21425" h="21600" fill="none" extrusionOk="0">
                <a:moveTo>
                  <a:pt x="0" y="0"/>
                </a:moveTo>
                <a:cubicBezTo>
                  <a:pt x="10866" y="0"/>
                  <a:pt x="20042" y="8073"/>
                  <a:pt x="21424" y="18852"/>
                </a:cubicBezTo>
              </a:path>
              <a:path w="21425" h="21600" stroke="0" extrusionOk="0">
                <a:moveTo>
                  <a:pt x="0" y="0"/>
                </a:moveTo>
                <a:cubicBezTo>
                  <a:pt x="10866" y="0"/>
                  <a:pt x="20042" y="8073"/>
                  <a:pt x="21424" y="18852"/>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8693" name="Line 21">
            <a:extLst>
              <a:ext uri="{FF2B5EF4-FFF2-40B4-BE49-F238E27FC236}">
                <a16:creationId xmlns:a16="http://schemas.microsoft.com/office/drawing/2014/main" id="{A75FFDD9-3A7C-448C-BACE-3ED18FC5AFD8}"/>
              </a:ext>
            </a:extLst>
          </p:cNvPr>
          <p:cNvSpPr>
            <a:spLocks noChangeShapeType="1"/>
          </p:cNvSpPr>
          <p:nvPr/>
        </p:nvSpPr>
        <p:spPr bwMode="auto">
          <a:xfrm>
            <a:off x="4419600" y="21336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94" name="Text Box 22">
            <a:extLst>
              <a:ext uri="{FF2B5EF4-FFF2-40B4-BE49-F238E27FC236}">
                <a16:creationId xmlns:a16="http://schemas.microsoft.com/office/drawing/2014/main" id="{1F681EB5-7914-4A6F-9CD8-3153B3561C73}"/>
              </a:ext>
            </a:extLst>
          </p:cNvPr>
          <p:cNvSpPr txBox="1">
            <a:spLocks noChangeArrowheads="1"/>
          </p:cNvSpPr>
          <p:nvPr/>
        </p:nvSpPr>
        <p:spPr bwMode="auto">
          <a:xfrm>
            <a:off x="4267200" y="17526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a:t>0</a:t>
            </a:r>
          </a:p>
        </p:txBody>
      </p:sp>
      <p:sp>
        <p:nvSpPr>
          <p:cNvPr id="28695" name="Rectangle 23">
            <a:extLst>
              <a:ext uri="{FF2B5EF4-FFF2-40B4-BE49-F238E27FC236}">
                <a16:creationId xmlns:a16="http://schemas.microsoft.com/office/drawing/2014/main" id="{AA00974D-A0BF-40B6-8BA0-16F6FF6A17F0}"/>
              </a:ext>
            </a:extLst>
          </p:cNvPr>
          <p:cNvSpPr>
            <a:spLocks noChangeArrowheads="1"/>
          </p:cNvSpPr>
          <p:nvPr/>
        </p:nvSpPr>
        <p:spPr bwMode="auto">
          <a:xfrm>
            <a:off x="152400" y="1905000"/>
            <a:ext cx="2139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2000">
                <a:solidFill>
                  <a:schemeClr val="accent2"/>
                </a:solidFill>
                <a:latin typeface="Tahoma" panose="020B0604030504040204" pitchFamily="34" charset="0"/>
              </a:rPr>
              <a:t>IP=“198.10.10.1”</a:t>
            </a:r>
          </a:p>
        </p:txBody>
      </p:sp>
      <p:sp>
        <p:nvSpPr>
          <p:cNvPr id="28696" name="Text Box 24">
            <a:extLst>
              <a:ext uri="{FF2B5EF4-FFF2-40B4-BE49-F238E27FC236}">
                <a16:creationId xmlns:a16="http://schemas.microsoft.com/office/drawing/2014/main" id="{63C07D87-93A1-424D-9C8C-5FE1846FF11B}"/>
              </a:ext>
            </a:extLst>
          </p:cNvPr>
          <p:cNvSpPr txBox="1">
            <a:spLocks noChangeArrowheads="1"/>
          </p:cNvSpPr>
          <p:nvPr/>
        </p:nvSpPr>
        <p:spPr bwMode="auto">
          <a:xfrm>
            <a:off x="1770063" y="3733800"/>
            <a:ext cx="896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00BE00"/>
                </a:solidFill>
                <a:latin typeface="Helvetica" panose="020B0604020202020204" pitchFamily="34" charset="0"/>
              </a:rPr>
              <a:t>K101</a:t>
            </a:r>
          </a:p>
        </p:txBody>
      </p:sp>
      <p:sp>
        <p:nvSpPr>
          <p:cNvPr id="28697" name="Text Box 25">
            <a:extLst>
              <a:ext uri="{FF2B5EF4-FFF2-40B4-BE49-F238E27FC236}">
                <a16:creationId xmlns:a16="http://schemas.microsoft.com/office/drawing/2014/main" id="{B2D559B8-F50F-43DF-8653-8FB4854CEB9F}"/>
              </a:ext>
            </a:extLst>
          </p:cNvPr>
          <p:cNvSpPr txBox="1">
            <a:spLocks noChangeArrowheads="1"/>
          </p:cNvSpPr>
          <p:nvPr/>
        </p:nvSpPr>
        <p:spPr bwMode="auto">
          <a:xfrm>
            <a:off x="5105400" y="5334000"/>
            <a:ext cx="72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00BE00"/>
                </a:solidFill>
                <a:latin typeface="Helvetica" panose="020B0604020202020204" pitchFamily="34" charset="0"/>
              </a:rPr>
              <a:t>K60</a:t>
            </a:r>
          </a:p>
        </p:txBody>
      </p:sp>
      <p:sp>
        <p:nvSpPr>
          <p:cNvPr id="28698" name="Rectangle 26">
            <a:extLst>
              <a:ext uri="{FF2B5EF4-FFF2-40B4-BE49-F238E27FC236}">
                <a16:creationId xmlns:a16="http://schemas.microsoft.com/office/drawing/2014/main" id="{83D05855-1456-46DD-AB03-690F0B41FFA0}"/>
              </a:ext>
            </a:extLst>
          </p:cNvPr>
          <p:cNvSpPr>
            <a:spLocks noChangeArrowheads="1"/>
          </p:cNvSpPr>
          <p:nvPr/>
        </p:nvSpPr>
        <p:spPr bwMode="auto">
          <a:xfrm>
            <a:off x="6362700" y="5105400"/>
            <a:ext cx="1790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2000">
                <a:solidFill>
                  <a:srgbClr val="00CC00"/>
                </a:solidFill>
                <a:latin typeface="Tahoma" panose="020B0604030504040204" pitchFamily="34" charset="0"/>
              </a:rPr>
              <a:t>Key=“LetItBe”</a:t>
            </a:r>
          </a:p>
        </p:txBody>
      </p:sp>
      <p:sp>
        <p:nvSpPr>
          <p:cNvPr id="28701" name="Line 29">
            <a:extLst>
              <a:ext uri="{FF2B5EF4-FFF2-40B4-BE49-F238E27FC236}">
                <a16:creationId xmlns:a16="http://schemas.microsoft.com/office/drawing/2014/main" id="{69730CFD-651E-4840-939E-701632C20398}"/>
              </a:ext>
            </a:extLst>
          </p:cNvPr>
          <p:cNvSpPr>
            <a:spLocks noChangeShapeType="1"/>
          </p:cNvSpPr>
          <p:nvPr/>
        </p:nvSpPr>
        <p:spPr bwMode="auto">
          <a:xfrm flipH="1">
            <a:off x="5791200" y="5334000"/>
            <a:ext cx="609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02" name="Freeform 30">
            <a:extLst>
              <a:ext uri="{FF2B5EF4-FFF2-40B4-BE49-F238E27FC236}">
                <a16:creationId xmlns:a16="http://schemas.microsoft.com/office/drawing/2014/main" id="{EA7CA41D-23AE-444F-BE5C-3349AC51FBCF}"/>
              </a:ext>
            </a:extLst>
          </p:cNvPr>
          <p:cNvSpPr>
            <a:spLocks/>
          </p:cNvSpPr>
          <p:nvPr/>
        </p:nvSpPr>
        <p:spPr bwMode="auto">
          <a:xfrm>
            <a:off x="3200400" y="5486400"/>
            <a:ext cx="1828800" cy="330200"/>
          </a:xfrm>
          <a:custGeom>
            <a:avLst/>
            <a:gdLst>
              <a:gd name="T0" fmla="*/ 1152 w 1152"/>
              <a:gd name="T1" fmla="*/ 96 h 208"/>
              <a:gd name="T2" fmla="*/ 624 w 1152"/>
              <a:gd name="T3" fmla="*/ 192 h 208"/>
              <a:gd name="T4" fmla="*/ 0 w 1152"/>
              <a:gd name="T5" fmla="*/ 0 h 208"/>
            </a:gdLst>
            <a:ahLst/>
            <a:cxnLst>
              <a:cxn ang="0">
                <a:pos x="T0" y="T1"/>
              </a:cxn>
              <a:cxn ang="0">
                <a:pos x="T2" y="T3"/>
              </a:cxn>
              <a:cxn ang="0">
                <a:pos x="T4" y="T5"/>
              </a:cxn>
            </a:cxnLst>
            <a:rect l="0" t="0" r="r" b="b"/>
            <a:pathLst>
              <a:path w="1152" h="208">
                <a:moveTo>
                  <a:pt x="1152" y="96"/>
                </a:moveTo>
                <a:cubicBezTo>
                  <a:pt x="984" y="152"/>
                  <a:pt x="816" y="208"/>
                  <a:pt x="624" y="192"/>
                </a:cubicBezTo>
                <a:cubicBezTo>
                  <a:pt x="432" y="176"/>
                  <a:pt x="104" y="32"/>
                  <a:pt x="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60524D1-C006-47A3-90B8-EDF34E466904}"/>
              </a:ext>
            </a:extLst>
          </p:cNvPr>
          <p:cNvSpPr>
            <a:spLocks noGrp="1" noChangeArrowheads="1"/>
          </p:cNvSpPr>
          <p:nvPr>
            <p:ph type="title"/>
          </p:nvPr>
        </p:nvSpPr>
        <p:spPr>
          <a:xfrm>
            <a:off x="413545" y="0"/>
            <a:ext cx="7772400" cy="1143000"/>
          </a:xfrm>
        </p:spPr>
        <p:txBody>
          <a:bodyPr/>
          <a:lstStyle/>
          <a:p>
            <a:r>
              <a:rPr lang="en-GB" altLang="en-US" dirty="0">
                <a:latin typeface="Calibri Light" panose="020F0302020204030204" pitchFamily="34" charset="0"/>
                <a:cs typeface="Calibri Light" panose="020F0302020204030204" pitchFamily="34" charset="0"/>
              </a:rPr>
              <a:t>Consistent Hashing</a:t>
            </a:r>
            <a:r>
              <a:rPr lang="en-US" altLang="en-US" dirty="0">
                <a:latin typeface="Calibri Light" panose="020F0302020204030204" pitchFamily="34" charset="0"/>
                <a:cs typeface="Calibri Light" panose="020F0302020204030204" pitchFamily="34" charset="0"/>
              </a:rPr>
              <a:t>: An Example</a:t>
            </a:r>
          </a:p>
        </p:txBody>
      </p:sp>
      <p:sp>
        <p:nvSpPr>
          <p:cNvPr id="17414" name="Rectangle 6">
            <a:extLst>
              <a:ext uri="{FF2B5EF4-FFF2-40B4-BE49-F238E27FC236}">
                <a16:creationId xmlns:a16="http://schemas.microsoft.com/office/drawing/2014/main" id="{3BE36975-003B-4491-987B-A3028E846403}"/>
              </a:ext>
            </a:extLst>
          </p:cNvPr>
          <p:cNvSpPr>
            <a:spLocks noGrp="1" noChangeArrowheads="1"/>
          </p:cNvSpPr>
          <p:nvPr>
            <p:ph type="body" idx="1"/>
          </p:nvPr>
        </p:nvSpPr>
        <p:spPr>
          <a:xfrm>
            <a:off x="685800" y="1021645"/>
            <a:ext cx="7772400" cy="4114800"/>
          </a:xfrm>
        </p:spPr>
        <p:txBody>
          <a:bodyPr/>
          <a:lstStyle/>
          <a:p>
            <a:r>
              <a:rPr lang="tr-TR" altLang="en-US" dirty="0">
                <a:latin typeface="Calibri" panose="020F0502020204030204" pitchFamily="34" charset="0"/>
                <a:cs typeface="Calibri" panose="020F0502020204030204" pitchFamily="34" charset="0"/>
              </a:rPr>
              <a:t>For m = 6, # of identifiers is 64.</a:t>
            </a:r>
          </a:p>
          <a:p>
            <a:r>
              <a:rPr lang="tr-TR" altLang="en-US" dirty="0">
                <a:latin typeface="Calibri" panose="020F0502020204030204" pitchFamily="34" charset="0"/>
                <a:cs typeface="Calibri" panose="020F0502020204030204" pitchFamily="34" charset="0"/>
              </a:rPr>
              <a:t>The following Chord ring has 10 nodes and stores 5 keys.</a:t>
            </a:r>
          </a:p>
          <a:p>
            <a:r>
              <a:rPr lang="tr-TR" altLang="en-US" dirty="0">
                <a:latin typeface="Calibri" panose="020F0502020204030204" pitchFamily="34" charset="0"/>
                <a:cs typeface="Calibri" panose="020F0502020204030204" pitchFamily="34" charset="0"/>
              </a:rPr>
              <a:t>The successor of key 10 is node 14.</a:t>
            </a:r>
            <a:endParaRPr lang="en-US" altLang="en-US" dirty="0">
              <a:latin typeface="Calibri" panose="020F0502020204030204" pitchFamily="34" charset="0"/>
              <a:cs typeface="Calibri" panose="020F0502020204030204" pitchFamily="34" charset="0"/>
            </a:endParaRPr>
          </a:p>
        </p:txBody>
      </p:sp>
      <p:pic>
        <p:nvPicPr>
          <p:cNvPr id="17412" name="Picture 4">
            <a:extLst>
              <a:ext uri="{FF2B5EF4-FFF2-40B4-BE49-F238E27FC236}">
                <a16:creationId xmlns:a16="http://schemas.microsoft.com/office/drawing/2014/main" id="{F4B66CEB-2AFA-4A3D-8C77-D299550E96E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643189" y="3548945"/>
            <a:ext cx="3313112" cy="3175000"/>
          </a:xfrm>
          <a:noFill/>
          <a:ln/>
        </p:spPr>
      </p:pic>
      <p:cxnSp>
        <p:nvCxnSpPr>
          <p:cNvPr id="3" name="Straight Arrow Connector 2">
            <a:extLst>
              <a:ext uri="{FF2B5EF4-FFF2-40B4-BE49-F238E27FC236}">
                <a16:creationId xmlns:a16="http://schemas.microsoft.com/office/drawing/2014/main" id="{1C789C15-F4B8-9A2E-EA91-8501E80C85D9}"/>
              </a:ext>
            </a:extLst>
          </p:cNvPr>
          <p:cNvCxnSpPr/>
          <p:nvPr/>
        </p:nvCxnSpPr>
        <p:spPr bwMode="auto">
          <a:xfrm flipV="1">
            <a:off x="3398293" y="5868537"/>
            <a:ext cx="0" cy="28955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3043095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49D3DFC-C2F2-4E80-AB76-AD732AEA0436}"/>
              </a:ext>
            </a:extLst>
          </p:cNvPr>
          <p:cNvSpPr>
            <a:spLocks noChangeArrowheads="1"/>
          </p:cNvSpPr>
          <p:nvPr/>
        </p:nvSpPr>
        <p:spPr bwMode="auto">
          <a:xfrm>
            <a:off x="690880" y="338667"/>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Lookup</a:t>
            </a:r>
            <a:r>
              <a:rPr lang="en-US" altLang="en-US" sz="4000" noProof="0" dirty="0">
                <a:latin typeface="Calibri Light" panose="020F0302020204030204" pitchFamily="34" charset="0"/>
                <a:cs typeface="Calibri Light" panose="020F0302020204030204" pitchFamily="34" charset="0"/>
              </a:rPr>
              <a:t> Approaches</a:t>
            </a:r>
            <a:endPar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endParaRPr>
          </a:p>
        </p:txBody>
      </p:sp>
      <p:sp>
        <p:nvSpPr>
          <p:cNvPr id="3" name="TextBox 2"/>
          <p:cNvSpPr txBox="1"/>
          <p:nvPr/>
        </p:nvSpPr>
        <p:spPr>
          <a:xfrm>
            <a:off x="690880" y="2286000"/>
            <a:ext cx="7823200" cy="2862322"/>
          </a:xfrm>
          <a:prstGeom prst="rect">
            <a:avLst/>
          </a:prstGeom>
          <a:noFill/>
        </p:spPr>
        <p:txBody>
          <a:bodyPr wrap="square" rtlCol="0">
            <a:spAutoFit/>
          </a:bodyPr>
          <a:lstStyle/>
          <a:p>
            <a:pPr marL="285750" indent="-285750">
              <a:buFont typeface="Arial" charset="0"/>
              <a:buChar char="•"/>
            </a:pPr>
            <a:r>
              <a:rPr lang="en-US" sz="3600" dirty="0">
                <a:latin typeface="Calibri" charset="0"/>
                <a:ea typeface="Calibri" charset="0"/>
                <a:cs typeface="Calibri" charset="0"/>
              </a:rPr>
              <a:t>Naïve</a:t>
            </a:r>
          </a:p>
          <a:p>
            <a:pPr marL="285750" indent="-285750">
              <a:buFont typeface="Arial" charset="0"/>
              <a:buChar char="•"/>
            </a:pPr>
            <a:endParaRPr lang="en-US" sz="3600" dirty="0">
              <a:latin typeface="Calibri" charset="0"/>
              <a:ea typeface="Calibri" charset="0"/>
              <a:cs typeface="Calibri" charset="0"/>
            </a:endParaRPr>
          </a:p>
          <a:p>
            <a:pPr marL="285750" indent="-285750">
              <a:buFont typeface="Arial" charset="0"/>
              <a:buChar char="•"/>
            </a:pPr>
            <a:r>
              <a:rPr lang="en-US" sz="3600" dirty="0">
                <a:latin typeface="Calibri" charset="0"/>
                <a:ea typeface="Calibri" charset="0"/>
                <a:cs typeface="Calibri" charset="0"/>
              </a:rPr>
              <a:t>Successor one by one</a:t>
            </a:r>
          </a:p>
          <a:p>
            <a:pPr marL="285750" indent="-285750">
              <a:buFont typeface="Arial" charset="0"/>
              <a:buChar char="•"/>
            </a:pPr>
            <a:endParaRPr lang="en-US" sz="3600" dirty="0">
              <a:latin typeface="Calibri" charset="0"/>
              <a:ea typeface="Calibri" charset="0"/>
              <a:cs typeface="Calibri" charset="0"/>
            </a:endParaRPr>
          </a:p>
          <a:p>
            <a:pPr marL="285750" indent="-285750">
              <a:buFont typeface="Arial" charset="0"/>
              <a:buChar char="•"/>
            </a:pPr>
            <a:r>
              <a:rPr lang="en-US" sz="3600" dirty="0">
                <a:latin typeface="Calibri" charset="0"/>
                <a:ea typeface="Calibri" charset="0"/>
                <a:cs typeface="Calibri" charset="0"/>
              </a:rPr>
              <a:t>Chord (“Finger Table”)</a:t>
            </a:r>
          </a:p>
        </p:txBody>
      </p:sp>
    </p:spTree>
    <p:extLst>
      <p:ext uri="{BB962C8B-B14F-4D97-AF65-F5344CB8AC3E}">
        <p14:creationId xmlns:p14="http://schemas.microsoft.com/office/powerpoint/2010/main" val="9823052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49D3DFC-C2F2-4E80-AB76-AD732AEA0436}"/>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Lookup</a:t>
            </a:r>
            <a:r>
              <a:rPr lang="en-US" altLang="en-US" sz="4000" dirty="0">
                <a:latin typeface="Calibri Light" panose="020F0302020204030204" pitchFamily="34" charset="0"/>
                <a:cs typeface="Calibri Light" panose="020F0302020204030204" pitchFamily="34" charset="0"/>
              </a:rPr>
              <a:t>: Naïve Approach</a:t>
            </a:r>
            <a:endPar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endParaRPr>
          </a:p>
        </p:txBody>
      </p:sp>
      <p:sp>
        <p:nvSpPr>
          <p:cNvPr id="52227" name="Text Box 3">
            <a:extLst>
              <a:ext uri="{FF2B5EF4-FFF2-40B4-BE49-F238E27FC236}">
                <a16:creationId xmlns:a16="http://schemas.microsoft.com/office/drawing/2014/main" id="{FC2C0CED-A1B4-41E8-8A47-1BA2D4DC1CD8}"/>
              </a:ext>
            </a:extLst>
          </p:cNvPr>
          <p:cNvSpPr txBox="1">
            <a:spLocks noChangeArrowheads="1"/>
          </p:cNvSpPr>
          <p:nvPr/>
        </p:nvSpPr>
        <p:spPr bwMode="auto">
          <a:xfrm>
            <a:off x="533400" y="1524000"/>
            <a:ext cx="8077200"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8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Every node knows of every other node</a:t>
            </a:r>
          </a:p>
          <a:p>
            <a:pPr marL="457200" marR="0" lvl="1" indent="0" algn="l" defTabSz="914400" rtl="0" eaLnBrk="0" fontAlgn="base" latinLnBrk="0" hangingPunct="0">
              <a:lnSpc>
                <a:spcPct val="8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requires global information</a:t>
            </a:r>
            <a:endPar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a:p>
            <a:pPr marL="0" marR="0" lvl="0" indent="0" algn="l" defTabSz="914400" rtl="0" eaLnBrk="0" fontAlgn="base" latinLnBrk="0" hangingPunct="0">
              <a:lnSpc>
                <a:spcPct val="8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Routing tables are large O(N)</a:t>
            </a:r>
          </a:p>
          <a:p>
            <a:pPr marL="0" marR="0" lvl="0" indent="0" algn="l" defTabSz="914400" rtl="0" eaLnBrk="0" fontAlgn="base" latinLnBrk="0" hangingPunct="0">
              <a:lnSpc>
                <a:spcPct val="8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Lookups are fast O(1): Hash(key)</a:t>
            </a:r>
            <a:r>
              <a:rPr kumimoji="0" lang="en-US" altLang="en-US" sz="2000" b="0" i="0" u="none" strike="noStrike" kern="1200" cap="none" spc="0" normalizeH="0" noProof="0" dirty="0">
                <a:ln>
                  <a:noFill/>
                </a:ln>
                <a:solidFill>
                  <a:srgbClr val="000000"/>
                </a:solidFill>
                <a:effectLst/>
                <a:uLnTx/>
                <a:uFillTx/>
                <a:latin typeface="Comic Sans MS" panose="030F0702030302020204" pitchFamily="66" charset="0"/>
                <a:ea typeface="+mn-ea"/>
                <a:cs typeface="+mn-cs"/>
              </a:rPr>
              <a:t> -&gt; </a:t>
            </a:r>
            <a:r>
              <a:rPr lang="en-US" altLang="en-US" sz="2000" dirty="0">
                <a:solidFill>
                  <a:srgbClr val="000000"/>
                </a:solidFill>
                <a:latin typeface="Comic Sans MS" panose="030F0702030302020204" pitchFamily="66" charset="0"/>
              </a:rPr>
              <a:t>index of the table</a:t>
            </a:r>
            <a:endPar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p:txBody>
      </p:sp>
      <p:sp>
        <p:nvSpPr>
          <p:cNvPr id="52228" name="Oval 4">
            <a:extLst>
              <a:ext uri="{FF2B5EF4-FFF2-40B4-BE49-F238E27FC236}">
                <a16:creationId xmlns:a16="http://schemas.microsoft.com/office/drawing/2014/main" id="{78FD67BB-25B0-4B06-ABE8-9F7AD96D2742}"/>
              </a:ext>
            </a:extLst>
          </p:cNvPr>
          <p:cNvSpPr>
            <a:spLocks noChangeArrowheads="1"/>
          </p:cNvSpPr>
          <p:nvPr/>
        </p:nvSpPr>
        <p:spPr bwMode="auto">
          <a:xfrm>
            <a:off x="2225675" y="3359150"/>
            <a:ext cx="3109913" cy="2970213"/>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229" name="Text Box 5">
            <a:extLst>
              <a:ext uri="{FF2B5EF4-FFF2-40B4-BE49-F238E27FC236}">
                <a16:creationId xmlns:a16="http://schemas.microsoft.com/office/drawing/2014/main" id="{561A87CA-E94B-4CD4-9C6F-BC7DA52455B6}"/>
              </a:ext>
            </a:extLst>
          </p:cNvPr>
          <p:cNvSpPr txBox="1">
            <a:spLocks noChangeArrowheads="1"/>
          </p:cNvSpPr>
          <p:nvPr/>
        </p:nvSpPr>
        <p:spPr bwMode="auto">
          <a:xfrm>
            <a:off x="5468938" y="4881563"/>
            <a:ext cx="519112"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N32</a:t>
            </a:r>
          </a:p>
        </p:txBody>
      </p:sp>
      <p:sp>
        <p:nvSpPr>
          <p:cNvPr id="52230" name="Text Box 6">
            <a:extLst>
              <a:ext uri="{FF2B5EF4-FFF2-40B4-BE49-F238E27FC236}">
                <a16:creationId xmlns:a16="http://schemas.microsoft.com/office/drawing/2014/main" id="{9EF0682C-F2DE-4CE4-BCDA-64EF606CECE2}"/>
              </a:ext>
            </a:extLst>
          </p:cNvPr>
          <p:cNvSpPr txBox="1">
            <a:spLocks noChangeArrowheads="1"/>
          </p:cNvSpPr>
          <p:nvPr/>
        </p:nvSpPr>
        <p:spPr bwMode="auto">
          <a:xfrm>
            <a:off x="2147888" y="6019800"/>
            <a:ext cx="519112"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N90</a:t>
            </a:r>
          </a:p>
        </p:txBody>
      </p:sp>
      <p:sp>
        <p:nvSpPr>
          <p:cNvPr id="52231" name="Text Box 7">
            <a:extLst>
              <a:ext uri="{FF2B5EF4-FFF2-40B4-BE49-F238E27FC236}">
                <a16:creationId xmlns:a16="http://schemas.microsoft.com/office/drawing/2014/main" id="{C3188B6F-25DD-442B-8D21-DACA9BBEA8B1}"/>
              </a:ext>
            </a:extLst>
          </p:cNvPr>
          <p:cNvSpPr txBox="1">
            <a:spLocks noChangeArrowheads="1"/>
          </p:cNvSpPr>
          <p:nvPr/>
        </p:nvSpPr>
        <p:spPr bwMode="auto">
          <a:xfrm>
            <a:off x="1668463" y="3802063"/>
            <a:ext cx="617537"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N123</a:t>
            </a:r>
          </a:p>
        </p:txBody>
      </p:sp>
      <p:sp>
        <p:nvSpPr>
          <p:cNvPr id="52232" name="Line 8">
            <a:extLst>
              <a:ext uri="{FF2B5EF4-FFF2-40B4-BE49-F238E27FC236}">
                <a16:creationId xmlns:a16="http://schemas.microsoft.com/office/drawing/2014/main" id="{FC95E12A-DD39-493C-BA2E-CCB2B826204C}"/>
              </a:ext>
            </a:extLst>
          </p:cNvPr>
          <p:cNvSpPr>
            <a:spLocks noChangeShapeType="1"/>
          </p:cNvSpPr>
          <p:nvPr/>
        </p:nvSpPr>
        <p:spPr bwMode="auto">
          <a:xfrm>
            <a:off x="3781425" y="3292475"/>
            <a:ext cx="0" cy="20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233" name="Text Box 9">
            <a:extLst>
              <a:ext uri="{FF2B5EF4-FFF2-40B4-BE49-F238E27FC236}">
                <a16:creationId xmlns:a16="http://schemas.microsoft.com/office/drawing/2014/main" id="{1EB2DC38-AD1E-4DF9-B142-12AC82D07533}"/>
              </a:ext>
            </a:extLst>
          </p:cNvPr>
          <p:cNvSpPr txBox="1">
            <a:spLocks noChangeArrowheads="1"/>
          </p:cNvSpPr>
          <p:nvPr/>
        </p:nvSpPr>
        <p:spPr bwMode="auto">
          <a:xfrm>
            <a:off x="3659188" y="2998788"/>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0</a:t>
            </a:r>
          </a:p>
        </p:txBody>
      </p:sp>
      <p:sp>
        <p:nvSpPr>
          <p:cNvPr id="52234" name="Rectangle 10">
            <a:extLst>
              <a:ext uri="{FF2B5EF4-FFF2-40B4-BE49-F238E27FC236}">
                <a16:creationId xmlns:a16="http://schemas.microsoft.com/office/drawing/2014/main" id="{00E53FE9-4E17-43A5-AE4B-1364903AB6CF}"/>
              </a:ext>
            </a:extLst>
          </p:cNvPr>
          <p:cNvSpPr>
            <a:spLocks noChangeArrowheads="1"/>
          </p:cNvSpPr>
          <p:nvPr/>
        </p:nvSpPr>
        <p:spPr bwMode="auto">
          <a:xfrm>
            <a:off x="5410200" y="3657600"/>
            <a:ext cx="17097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Hash(“LetItBe”) = K60</a:t>
            </a:r>
          </a:p>
        </p:txBody>
      </p:sp>
      <p:sp>
        <p:nvSpPr>
          <p:cNvPr id="52235" name="Text Box 11">
            <a:extLst>
              <a:ext uri="{FF2B5EF4-FFF2-40B4-BE49-F238E27FC236}">
                <a16:creationId xmlns:a16="http://schemas.microsoft.com/office/drawing/2014/main" id="{E15244E2-8E93-4A9B-B454-F3107DFC9538}"/>
              </a:ext>
            </a:extLst>
          </p:cNvPr>
          <p:cNvSpPr txBox="1">
            <a:spLocks noChangeArrowheads="1"/>
          </p:cNvSpPr>
          <p:nvPr/>
        </p:nvSpPr>
        <p:spPr bwMode="auto">
          <a:xfrm>
            <a:off x="4814888" y="3352800"/>
            <a:ext cx="519112"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N10</a:t>
            </a:r>
          </a:p>
        </p:txBody>
      </p:sp>
      <p:sp>
        <p:nvSpPr>
          <p:cNvPr id="52236" name="Text Box 12">
            <a:extLst>
              <a:ext uri="{FF2B5EF4-FFF2-40B4-BE49-F238E27FC236}">
                <a16:creationId xmlns:a16="http://schemas.microsoft.com/office/drawing/2014/main" id="{0254A61E-1CCC-4238-BE46-20FB0A6E064D}"/>
              </a:ext>
            </a:extLst>
          </p:cNvPr>
          <p:cNvSpPr txBox="1">
            <a:spLocks noChangeArrowheads="1"/>
          </p:cNvSpPr>
          <p:nvPr/>
        </p:nvSpPr>
        <p:spPr bwMode="auto">
          <a:xfrm>
            <a:off x="4945063" y="6088063"/>
            <a:ext cx="519112"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N55</a:t>
            </a:r>
          </a:p>
        </p:txBody>
      </p:sp>
      <p:sp>
        <p:nvSpPr>
          <p:cNvPr id="52237" name="Text Box 13">
            <a:extLst>
              <a:ext uri="{FF2B5EF4-FFF2-40B4-BE49-F238E27FC236}">
                <a16:creationId xmlns:a16="http://schemas.microsoft.com/office/drawing/2014/main" id="{A1890827-1878-46FE-AB95-A3FEFF5AFE8C}"/>
              </a:ext>
            </a:extLst>
          </p:cNvPr>
          <p:cNvSpPr txBox="1">
            <a:spLocks noChangeArrowheads="1"/>
          </p:cNvSpPr>
          <p:nvPr/>
        </p:nvSpPr>
        <p:spPr bwMode="auto">
          <a:xfrm>
            <a:off x="4953000" y="3357563"/>
            <a:ext cx="2565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Where is “LetItBe”? </a:t>
            </a:r>
          </a:p>
        </p:txBody>
      </p:sp>
      <p:sp>
        <p:nvSpPr>
          <p:cNvPr id="52238" name="Text Box 14">
            <a:extLst>
              <a:ext uri="{FF2B5EF4-FFF2-40B4-BE49-F238E27FC236}">
                <a16:creationId xmlns:a16="http://schemas.microsoft.com/office/drawing/2014/main" id="{31E8F6EA-FDB5-4D8D-8B59-A30AA311ADF5}"/>
              </a:ext>
            </a:extLst>
          </p:cNvPr>
          <p:cNvSpPr txBox="1">
            <a:spLocks noChangeArrowheads="1"/>
          </p:cNvSpPr>
          <p:nvPr/>
        </p:nvSpPr>
        <p:spPr bwMode="auto">
          <a:xfrm>
            <a:off x="3276600" y="5181600"/>
            <a:ext cx="11572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“N90 has K60”</a:t>
            </a:r>
          </a:p>
        </p:txBody>
      </p:sp>
      <p:sp>
        <p:nvSpPr>
          <p:cNvPr id="52239" name="Text Box 15">
            <a:extLst>
              <a:ext uri="{FF2B5EF4-FFF2-40B4-BE49-F238E27FC236}">
                <a16:creationId xmlns:a16="http://schemas.microsoft.com/office/drawing/2014/main" id="{F955512D-142C-4893-A995-F3E246F168F5}"/>
              </a:ext>
            </a:extLst>
          </p:cNvPr>
          <p:cNvSpPr txBox="1">
            <a:spLocks noChangeArrowheads="1"/>
          </p:cNvSpPr>
          <p:nvPr/>
        </p:nvSpPr>
        <p:spPr bwMode="auto">
          <a:xfrm>
            <a:off x="1633538" y="6019800"/>
            <a:ext cx="5000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BE00"/>
                </a:solidFill>
                <a:effectLst/>
                <a:uLnTx/>
                <a:uFillTx/>
                <a:latin typeface="Helvetica" panose="020B0604020202020204" pitchFamily="34" charset="0"/>
                <a:ea typeface="+mn-ea"/>
                <a:cs typeface="+mn-cs"/>
              </a:rPr>
              <a:t>K60</a:t>
            </a:r>
          </a:p>
        </p:txBody>
      </p:sp>
      <p:sp>
        <p:nvSpPr>
          <p:cNvPr id="52242" name="Line 18">
            <a:extLst>
              <a:ext uri="{FF2B5EF4-FFF2-40B4-BE49-F238E27FC236}">
                <a16:creationId xmlns:a16="http://schemas.microsoft.com/office/drawing/2014/main" id="{32EF6A6E-457C-422D-9E9A-294B3E192746}"/>
              </a:ext>
            </a:extLst>
          </p:cNvPr>
          <p:cNvSpPr>
            <a:spLocks noChangeShapeType="1"/>
          </p:cNvSpPr>
          <p:nvPr/>
        </p:nvSpPr>
        <p:spPr bwMode="auto">
          <a:xfrm flipV="1">
            <a:off x="2782888" y="3763963"/>
            <a:ext cx="1892300" cy="209391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248" name="Freeform 24">
            <a:extLst>
              <a:ext uri="{FF2B5EF4-FFF2-40B4-BE49-F238E27FC236}">
                <a16:creationId xmlns:a16="http://schemas.microsoft.com/office/drawing/2014/main" id="{C08A09CC-73CF-4256-82AE-52A06C88EE33}"/>
              </a:ext>
            </a:extLst>
          </p:cNvPr>
          <p:cNvSpPr>
            <a:spLocks/>
          </p:cNvSpPr>
          <p:nvPr/>
        </p:nvSpPr>
        <p:spPr bwMode="auto">
          <a:xfrm>
            <a:off x="2895600" y="3886200"/>
            <a:ext cx="1905000" cy="2133600"/>
          </a:xfrm>
          <a:custGeom>
            <a:avLst/>
            <a:gdLst>
              <a:gd name="T0" fmla="*/ 1200 w 1200"/>
              <a:gd name="T1" fmla="*/ 0 h 1344"/>
              <a:gd name="T2" fmla="*/ 960 w 1200"/>
              <a:gd name="T3" fmla="*/ 1008 h 1344"/>
              <a:gd name="T4" fmla="*/ 0 w 1200"/>
              <a:gd name="T5" fmla="*/ 1344 h 1344"/>
            </a:gdLst>
            <a:ahLst/>
            <a:cxnLst>
              <a:cxn ang="0">
                <a:pos x="T0" y="T1"/>
              </a:cxn>
              <a:cxn ang="0">
                <a:pos x="T2" y="T3"/>
              </a:cxn>
              <a:cxn ang="0">
                <a:pos x="T4" y="T5"/>
              </a:cxn>
            </a:cxnLst>
            <a:rect l="0" t="0" r="r" b="b"/>
            <a:pathLst>
              <a:path w="1200" h="1344">
                <a:moveTo>
                  <a:pt x="1200" y="0"/>
                </a:moveTo>
                <a:cubicBezTo>
                  <a:pt x="1180" y="392"/>
                  <a:pt x="1160" y="784"/>
                  <a:pt x="960" y="1008"/>
                </a:cubicBezTo>
                <a:cubicBezTo>
                  <a:pt x="760" y="1232"/>
                  <a:pt x="380" y="1288"/>
                  <a:pt x="0" y="134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D57D397-2D48-4077-9756-F1D4E855838A}"/>
              </a:ext>
            </a:extLst>
          </p:cNvPr>
          <p:cNvSpPr>
            <a:spLocks noChangeArrowheads="1"/>
          </p:cNvSpPr>
          <p:nvPr/>
        </p:nvSpPr>
        <p:spPr bwMode="auto">
          <a:xfrm>
            <a:off x="6096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Lookup: Successor one by one</a:t>
            </a:r>
          </a:p>
        </p:txBody>
      </p:sp>
      <p:sp>
        <p:nvSpPr>
          <p:cNvPr id="29718" name="Oval 22">
            <a:extLst>
              <a:ext uri="{FF2B5EF4-FFF2-40B4-BE49-F238E27FC236}">
                <a16:creationId xmlns:a16="http://schemas.microsoft.com/office/drawing/2014/main" id="{E27DE72B-8788-4D6A-81DA-1222CA19652F}"/>
              </a:ext>
            </a:extLst>
          </p:cNvPr>
          <p:cNvSpPr>
            <a:spLocks noChangeArrowheads="1"/>
          </p:cNvSpPr>
          <p:nvPr/>
        </p:nvSpPr>
        <p:spPr bwMode="auto">
          <a:xfrm>
            <a:off x="2344738" y="2514600"/>
            <a:ext cx="3505200" cy="33528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19" name="Text Box 23">
            <a:extLst>
              <a:ext uri="{FF2B5EF4-FFF2-40B4-BE49-F238E27FC236}">
                <a16:creationId xmlns:a16="http://schemas.microsoft.com/office/drawing/2014/main" id="{92EE9637-07D4-4A19-A25C-25B23B43E519}"/>
              </a:ext>
            </a:extLst>
          </p:cNvPr>
          <p:cNvSpPr txBox="1">
            <a:spLocks noChangeArrowheads="1"/>
          </p:cNvSpPr>
          <p:nvPr/>
        </p:nvSpPr>
        <p:spPr bwMode="auto">
          <a:xfrm>
            <a:off x="6002338" y="4038600"/>
            <a:ext cx="7540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N32</a:t>
            </a:r>
          </a:p>
        </p:txBody>
      </p:sp>
      <p:sp>
        <p:nvSpPr>
          <p:cNvPr id="29720" name="Text Box 24">
            <a:extLst>
              <a:ext uri="{FF2B5EF4-FFF2-40B4-BE49-F238E27FC236}">
                <a16:creationId xmlns:a16="http://schemas.microsoft.com/office/drawing/2014/main" id="{98E13FCB-2C57-4559-9BBB-FE347E9B7D9B}"/>
              </a:ext>
            </a:extLst>
          </p:cNvPr>
          <p:cNvSpPr txBox="1">
            <a:spLocks noChangeArrowheads="1"/>
          </p:cNvSpPr>
          <p:nvPr/>
        </p:nvSpPr>
        <p:spPr bwMode="auto">
          <a:xfrm>
            <a:off x="2039938" y="5486400"/>
            <a:ext cx="7540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N90</a:t>
            </a:r>
          </a:p>
        </p:txBody>
      </p:sp>
      <p:sp>
        <p:nvSpPr>
          <p:cNvPr id="29721" name="Text Box 25">
            <a:extLst>
              <a:ext uri="{FF2B5EF4-FFF2-40B4-BE49-F238E27FC236}">
                <a16:creationId xmlns:a16="http://schemas.microsoft.com/office/drawing/2014/main" id="{DC06E216-98B1-43B4-BD02-13D1966B64BA}"/>
              </a:ext>
            </a:extLst>
          </p:cNvPr>
          <p:cNvSpPr txBox="1">
            <a:spLocks noChangeArrowheads="1"/>
          </p:cNvSpPr>
          <p:nvPr/>
        </p:nvSpPr>
        <p:spPr bwMode="auto">
          <a:xfrm>
            <a:off x="1582738" y="2819400"/>
            <a:ext cx="923925"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N123</a:t>
            </a:r>
          </a:p>
        </p:txBody>
      </p:sp>
      <p:sp>
        <p:nvSpPr>
          <p:cNvPr id="29729" name="Line 33">
            <a:extLst>
              <a:ext uri="{FF2B5EF4-FFF2-40B4-BE49-F238E27FC236}">
                <a16:creationId xmlns:a16="http://schemas.microsoft.com/office/drawing/2014/main" id="{1881A88D-6F57-4A28-8722-1D4E36B325C0}"/>
              </a:ext>
            </a:extLst>
          </p:cNvPr>
          <p:cNvSpPr>
            <a:spLocks noChangeShapeType="1"/>
          </p:cNvSpPr>
          <p:nvPr/>
        </p:nvSpPr>
        <p:spPr bwMode="auto">
          <a:xfrm>
            <a:off x="4097338" y="24384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30" name="Text Box 34">
            <a:extLst>
              <a:ext uri="{FF2B5EF4-FFF2-40B4-BE49-F238E27FC236}">
                <a16:creationId xmlns:a16="http://schemas.microsoft.com/office/drawing/2014/main" id="{20A28A54-B7F7-4F49-8D13-5764123C6EDB}"/>
              </a:ext>
            </a:extLst>
          </p:cNvPr>
          <p:cNvSpPr txBox="1">
            <a:spLocks noChangeArrowheads="1"/>
          </p:cNvSpPr>
          <p:nvPr/>
        </p:nvSpPr>
        <p:spPr bwMode="auto">
          <a:xfrm>
            <a:off x="3944938" y="2057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0</a:t>
            </a:r>
          </a:p>
        </p:txBody>
      </p:sp>
      <p:sp>
        <p:nvSpPr>
          <p:cNvPr id="29734" name="Rectangle 38">
            <a:extLst>
              <a:ext uri="{FF2B5EF4-FFF2-40B4-BE49-F238E27FC236}">
                <a16:creationId xmlns:a16="http://schemas.microsoft.com/office/drawing/2014/main" id="{553CBE90-55E2-4F9D-BCF6-65EFD402D545}"/>
              </a:ext>
            </a:extLst>
          </p:cNvPr>
          <p:cNvSpPr>
            <a:spLocks noChangeArrowheads="1"/>
          </p:cNvSpPr>
          <p:nvPr/>
        </p:nvSpPr>
        <p:spPr bwMode="auto">
          <a:xfrm>
            <a:off x="5969000" y="2955925"/>
            <a:ext cx="271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Hash(“LetItBe”) = K60</a:t>
            </a:r>
          </a:p>
        </p:txBody>
      </p:sp>
      <p:sp>
        <p:nvSpPr>
          <p:cNvPr id="29737" name="Text Box 41">
            <a:extLst>
              <a:ext uri="{FF2B5EF4-FFF2-40B4-BE49-F238E27FC236}">
                <a16:creationId xmlns:a16="http://schemas.microsoft.com/office/drawing/2014/main" id="{4A7ED6DD-FA11-4832-AED8-288C701E16CD}"/>
              </a:ext>
            </a:extLst>
          </p:cNvPr>
          <p:cNvSpPr txBox="1">
            <a:spLocks noChangeArrowheads="1"/>
          </p:cNvSpPr>
          <p:nvPr/>
        </p:nvSpPr>
        <p:spPr bwMode="auto">
          <a:xfrm>
            <a:off x="5189538" y="2362200"/>
            <a:ext cx="754062"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N10</a:t>
            </a:r>
          </a:p>
        </p:txBody>
      </p:sp>
      <p:sp>
        <p:nvSpPr>
          <p:cNvPr id="29738" name="Text Box 42">
            <a:extLst>
              <a:ext uri="{FF2B5EF4-FFF2-40B4-BE49-F238E27FC236}">
                <a16:creationId xmlns:a16="http://schemas.microsoft.com/office/drawing/2014/main" id="{526091A5-EF42-4DF4-AB7C-A84754D8D1FA}"/>
              </a:ext>
            </a:extLst>
          </p:cNvPr>
          <p:cNvSpPr txBox="1">
            <a:spLocks noChangeArrowheads="1"/>
          </p:cNvSpPr>
          <p:nvPr/>
        </p:nvSpPr>
        <p:spPr bwMode="auto">
          <a:xfrm>
            <a:off x="5410200" y="5400675"/>
            <a:ext cx="754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N55</a:t>
            </a:r>
          </a:p>
        </p:txBody>
      </p:sp>
      <p:sp>
        <p:nvSpPr>
          <p:cNvPr id="29739" name="Text Box 43">
            <a:extLst>
              <a:ext uri="{FF2B5EF4-FFF2-40B4-BE49-F238E27FC236}">
                <a16:creationId xmlns:a16="http://schemas.microsoft.com/office/drawing/2014/main" id="{760722AF-093F-4182-9DAD-3E57A89507E5}"/>
              </a:ext>
            </a:extLst>
          </p:cNvPr>
          <p:cNvSpPr txBox="1">
            <a:spLocks noChangeArrowheads="1"/>
          </p:cNvSpPr>
          <p:nvPr/>
        </p:nvSpPr>
        <p:spPr bwMode="auto">
          <a:xfrm>
            <a:off x="5876925" y="2565400"/>
            <a:ext cx="289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Where is “LetItBe”? </a:t>
            </a:r>
          </a:p>
        </p:txBody>
      </p:sp>
      <p:sp>
        <p:nvSpPr>
          <p:cNvPr id="29740" name="Text Box 44">
            <a:extLst>
              <a:ext uri="{FF2B5EF4-FFF2-40B4-BE49-F238E27FC236}">
                <a16:creationId xmlns:a16="http://schemas.microsoft.com/office/drawing/2014/main" id="{C6F056BA-8B6C-4F9C-978C-7AEE0DD54E13}"/>
              </a:ext>
            </a:extLst>
          </p:cNvPr>
          <p:cNvSpPr txBox="1">
            <a:spLocks noChangeArrowheads="1"/>
          </p:cNvSpPr>
          <p:nvPr/>
        </p:nvSpPr>
        <p:spPr bwMode="auto">
          <a:xfrm>
            <a:off x="3224213" y="5013325"/>
            <a:ext cx="18049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“N90 has K60”</a:t>
            </a:r>
          </a:p>
        </p:txBody>
      </p:sp>
      <p:sp>
        <p:nvSpPr>
          <p:cNvPr id="29741" name="Text Box 45">
            <a:extLst>
              <a:ext uri="{FF2B5EF4-FFF2-40B4-BE49-F238E27FC236}">
                <a16:creationId xmlns:a16="http://schemas.microsoft.com/office/drawing/2014/main" id="{E383CB30-5E77-498C-8A2B-BC69B83B7124}"/>
              </a:ext>
            </a:extLst>
          </p:cNvPr>
          <p:cNvSpPr txBox="1">
            <a:spLocks noChangeArrowheads="1"/>
          </p:cNvSpPr>
          <p:nvPr/>
        </p:nvSpPr>
        <p:spPr bwMode="auto">
          <a:xfrm>
            <a:off x="1295400" y="5486400"/>
            <a:ext cx="72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BE00"/>
                </a:solidFill>
                <a:effectLst/>
                <a:uLnTx/>
                <a:uFillTx/>
                <a:latin typeface="Helvetica" panose="020B0604020202020204" pitchFamily="34" charset="0"/>
                <a:ea typeface="+mn-ea"/>
                <a:cs typeface="+mn-cs"/>
              </a:rPr>
              <a:t>K60</a:t>
            </a:r>
          </a:p>
        </p:txBody>
      </p:sp>
      <p:sp>
        <p:nvSpPr>
          <p:cNvPr id="29742" name="Freeform 46">
            <a:extLst>
              <a:ext uri="{FF2B5EF4-FFF2-40B4-BE49-F238E27FC236}">
                <a16:creationId xmlns:a16="http://schemas.microsoft.com/office/drawing/2014/main" id="{7825D0FC-7201-4DD1-B558-963085B9473D}"/>
              </a:ext>
            </a:extLst>
          </p:cNvPr>
          <p:cNvSpPr>
            <a:spLocks/>
          </p:cNvSpPr>
          <p:nvPr/>
        </p:nvSpPr>
        <p:spPr bwMode="auto">
          <a:xfrm>
            <a:off x="5715000" y="2895600"/>
            <a:ext cx="457200" cy="1066800"/>
          </a:xfrm>
          <a:custGeom>
            <a:avLst/>
            <a:gdLst>
              <a:gd name="T0" fmla="*/ 0 w 432"/>
              <a:gd name="T1" fmla="*/ 0 h 768"/>
              <a:gd name="T2" fmla="*/ 288 w 432"/>
              <a:gd name="T3" fmla="*/ 336 h 768"/>
              <a:gd name="T4" fmla="*/ 432 w 432"/>
              <a:gd name="T5" fmla="*/ 768 h 768"/>
            </a:gdLst>
            <a:ahLst/>
            <a:cxnLst>
              <a:cxn ang="0">
                <a:pos x="T0" y="T1"/>
              </a:cxn>
              <a:cxn ang="0">
                <a:pos x="T2" y="T3"/>
              </a:cxn>
              <a:cxn ang="0">
                <a:pos x="T4" y="T5"/>
              </a:cxn>
            </a:cxnLst>
            <a:rect l="0" t="0" r="r" b="b"/>
            <a:pathLst>
              <a:path w="432" h="768">
                <a:moveTo>
                  <a:pt x="0" y="0"/>
                </a:moveTo>
                <a:cubicBezTo>
                  <a:pt x="108" y="104"/>
                  <a:pt x="216" y="208"/>
                  <a:pt x="288" y="336"/>
                </a:cubicBezTo>
                <a:cubicBezTo>
                  <a:pt x="360" y="464"/>
                  <a:pt x="396" y="616"/>
                  <a:pt x="432" y="768"/>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43" name="Freeform 47">
            <a:extLst>
              <a:ext uri="{FF2B5EF4-FFF2-40B4-BE49-F238E27FC236}">
                <a16:creationId xmlns:a16="http://schemas.microsoft.com/office/drawing/2014/main" id="{2A4040C5-0A86-42CB-8D45-E4D36EFC9285}"/>
              </a:ext>
            </a:extLst>
          </p:cNvPr>
          <p:cNvSpPr>
            <a:spLocks/>
          </p:cNvSpPr>
          <p:nvPr/>
        </p:nvSpPr>
        <p:spPr bwMode="auto">
          <a:xfrm>
            <a:off x="5791200" y="4572000"/>
            <a:ext cx="457200" cy="762000"/>
          </a:xfrm>
          <a:custGeom>
            <a:avLst/>
            <a:gdLst>
              <a:gd name="T0" fmla="*/ 624 w 624"/>
              <a:gd name="T1" fmla="*/ 0 h 1056"/>
              <a:gd name="T2" fmla="*/ 432 w 624"/>
              <a:gd name="T3" fmla="*/ 576 h 1056"/>
              <a:gd name="T4" fmla="*/ 0 w 624"/>
              <a:gd name="T5" fmla="*/ 1056 h 1056"/>
            </a:gdLst>
            <a:ahLst/>
            <a:cxnLst>
              <a:cxn ang="0">
                <a:pos x="T0" y="T1"/>
              </a:cxn>
              <a:cxn ang="0">
                <a:pos x="T2" y="T3"/>
              </a:cxn>
              <a:cxn ang="0">
                <a:pos x="T4" y="T5"/>
              </a:cxn>
            </a:cxnLst>
            <a:rect l="0" t="0" r="r" b="b"/>
            <a:pathLst>
              <a:path w="624" h="1056">
                <a:moveTo>
                  <a:pt x="624" y="0"/>
                </a:moveTo>
                <a:cubicBezTo>
                  <a:pt x="580" y="200"/>
                  <a:pt x="536" y="400"/>
                  <a:pt x="432" y="576"/>
                </a:cubicBezTo>
                <a:cubicBezTo>
                  <a:pt x="328" y="752"/>
                  <a:pt x="164" y="904"/>
                  <a:pt x="0" y="1056"/>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45" name="Line 49">
            <a:extLst>
              <a:ext uri="{FF2B5EF4-FFF2-40B4-BE49-F238E27FC236}">
                <a16:creationId xmlns:a16="http://schemas.microsoft.com/office/drawing/2014/main" id="{8BA9ED1E-9B8A-49BF-8F9A-2977BEE4EA52}"/>
              </a:ext>
            </a:extLst>
          </p:cNvPr>
          <p:cNvSpPr>
            <a:spLocks noChangeShapeType="1"/>
          </p:cNvSpPr>
          <p:nvPr/>
        </p:nvSpPr>
        <p:spPr bwMode="auto">
          <a:xfrm flipV="1">
            <a:off x="2971800" y="2971800"/>
            <a:ext cx="2133600" cy="2362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47" name="Freeform 51">
            <a:extLst>
              <a:ext uri="{FF2B5EF4-FFF2-40B4-BE49-F238E27FC236}">
                <a16:creationId xmlns:a16="http://schemas.microsoft.com/office/drawing/2014/main" id="{1E6BE2DA-D3CE-4DA8-A0AD-59D3928F3A36}"/>
              </a:ext>
            </a:extLst>
          </p:cNvPr>
          <p:cNvSpPr>
            <a:spLocks/>
          </p:cNvSpPr>
          <p:nvPr/>
        </p:nvSpPr>
        <p:spPr bwMode="auto">
          <a:xfrm>
            <a:off x="2971800" y="5715000"/>
            <a:ext cx="2286000" cy="482600"/>
          </a:xfrm>
          <a:custGeom>
            <a:avLst/>
            <a:gdLst>
              <a:gd name="T0" fmla="*/ 1440 w 1440"/>
              <a:gd name="T1" fmla="*/ 0 h 304"/>
              <a:gd name="T2" fmla="*/ 768 w 1440"/>
              <a:gd name="T3" fmla="*/ 288 h 304"/>
              <a:gd name="T4" fmla="*/ 0 w 1440"/>
              <a:gd name="T5" fmla="*/ 96 h 304"/>
            </a:gdLst>
            <a:ahLst/>
            <a:cxnLst>
              <a:cxn ang="0">
                <a:pos x="T0" y="T1"/>
              </a:cxn>
              <a:cxn ang="0">
                <a:pos x="T2" y="T3"/>
              </a:cxn>
              <a:cxn ang="0">
                <a:pos x="T4" y="T5"/>
              </a:cxn>
            </a:cxnLst>
            <a:rect l="0" t="0" r="r" b="b"/>
            <a:pathLst>
              <a:path w="1440" h="304">
                <a:moveTo>
                  <a:pt x="1440" y="0"/>
                </a:moveTo>
                <a:cubicBezTo>
                  <a:pt x="1224" y="136"/>
                  <a:pt x="1008" y="272"/>
                  <a:pt x="768" y="288"/>
                </a:cubicBezTo>
                <a:cubicBezTo>
                  <a:pt x="528" y="304"/>
                  <a:pt x="264" y="200"/>
                  <a:pt x="0" y="96"/>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48" name="Freeform 52">
            <a:extLst>
              <a:ext uri="{FF2B5EF4-FFF2-40B4-BE49-F238E27FC236}">
                <a16:creationId xmlns:a16="http://schemas.microsoft.com/office/drawing/2014/main" id="{798A5CF1-1B9F-4942-8E49-8CF3F7892B1B}"/>
              </a:ext>
            </a:extLst>
          </p:cNvPr>
          <p:cNvSpPr>
            <a:spLocks/>
          </p:cNvSpPr>
          <p:nvPr/>
        </p:nvSpPr>
        <p:spPr bwMode="auto">
          <a:xfrm>
            <a:off x="1790700" y="3429000"/>
            <a:ext cx="495300" cy="1905000"/>
          </a:xfrm>
          <a:custGeom>
            <a:avLst/>
            <a:gdLst>
              <a:gd name="T0" fmla="*/ 312 w 312"/>
              <a:gd name="T1" fmla="*/ 1200 h 1200"/>
              <a:gd name="T2" fmla="*/ 24 w 312"/>
              <a:gd name="T3" fmla="*/ 624 h 1200"/>
              <a:gd name="T4" fmla="*/ 168 w 312"/>
              <a:gd name="T5" fmla="*/ 0 h 1200"/>
            </a:gdLst>
            <a:ahLst/>
            <a:cxnLst>
              <a:cxn ang="0">
                <a:pos x="T0" y="T1"/>
              </a:cxn>
              <a:cxn ang="0">
                <a:pos x="T2" y="T3"/>
              </a:cxn>
              <a:cxn ang="0">
                <a:pos x="T4" y="T5"/>
              </a:cxn>
            </a:cxnLst>
            <a:rect l="0" t="0" r="r" b="b"/>
            <a:pathLst>
              <a:path w="312" h="1200">
                <a:moveTo>
                  <a:pt x="312" y="1200"/>
                </a:moveTo>
                <a:cubicBezTo>
                  <a:pt x="180" y="1012"/>
                  <a:pt x="48" y="824"/>
                  <a:pt x="24" y="624"/>
                </a:cubicBezTo>
                <a:cubicBezTo>
                  <a:pt x="0" y="424"/>
                  <a:pt x="84" y="212"/>
                  <a:pt x="168" y="0"/>
                </a:cubicBezTo>
              </a:path>
            </a:pathLst>
          </a:custGeom>
          <a:noFill/>
          <a:ln w="63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49" name="Freeform 53">
            <a:extLst>
              <a:ext uri="{FF2B5EF4-FFF2-40B4-BE49-F238E27FC236}">
                <a16:creationId xmlns:a16="http://schemas.microsoft.com/office/drawing/2014/main" id="{8CC2E1FC-9101-44B1-9CBC-E4E83846D603}"/>
              </a:ext>
            </a:extLst>
          </p:cNvPr>
          <p:cNvSpPr>
            <a:spLocks/>
          </p:cNvSpPr>
          <p:nvPr/>
        </p:nvSpPr>
        <p:spPr bwMode="auto">
          <a:xfrm>
            <a:off x="2590800" y="2057400"/>
            <a:ext cx="2514600" cy="762000"/>
          </a:xfrm>
          <a:custGeom>
            <a:avLst/>
            <a:gdLst>
              <a:gd name="T0" fmla="*/ 0 w 1584"/>
              <a:gd name="T1" fmla="*/ 448 h 448"/>
              <a:gd name="T2" fmla="*/ 528 w 1584"/>
              <a:gd name="T3" fmla="*/ 112 h 448"/>
              <a:gd name="T4" fmla="*/ 1200 w 1584"/>
              <a:gd name="T5" fmla="*/ 16 h 448"/>
              <a:gd name="T6" fmla="*/ 1584 w 1584"/>
              <a:gd name="T7" fmla="*/ 208 h 448"/>
            </a:gdLst>
            <a:ahLst/>
            <a:cxnLst>
              <a:cxn ang="0">
                <a:pos x="T0" y="T1"/>
              </a:cxn>
              <a:cxn ang="0">
                <a:pos x="T2" y="T3"/>
              </a:cxn>
              <a:cxn ang="0">
                <a:pos x="T4" y="T5"/>
              </a:cxn>
              <a:cxn ang="0">
                <a:pos x="T6" y="T7"/>
              </a:cxn>
            </a:cxnLst>
            <a:rect l="0" t="0" r="r" b="b"/>
            <a:pathLst>
              <a:path w="1584" h="448">
                <a:moveTo>
                  <a:pt x="0" y="448"/>
                </a:moveTo>
                <a:cubicBezTo>
                  <a:pt x="164" y="316"/>
                  <a:pt x="328" y="184"/>
                  <a:pt x="528" y="112"/>
                </a:cubicBezTo>
                <a:cubicBezTo>
                  <a:pt x="728" y="40"/>
                  <a:pt x="1024" y="0"/>
                  <a:pt x="1200" y="16"/>
                </a:cubicBezTo>
                <a:cubicBezTo>
                  <a:pt x="1376" y="32"/>
                  <a:pt x="1480" y="120"/>
                  <a:pt x="1584" y="208"/>
                </a:cubicBezTo>
              </a:path>
            </a:pathLst>
          </a:custGeom>
          <a:noFill/>
          <a:ln w="63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9750" name="Text Box 54">
            <a:extLst>
              <a:ext uri="{FF2B5EF4-FFF2-40B4-BE49-F238E27FC236}">
                <a16:creationId xmlns:a16="http://schemas.microsoft.com/office/drawing/2014/main" id="{91D5BDF7-5EA7-4967-BE9F-DFB72A274B8D}"/>
              </a:ext>
            </a:extLst>
          </p:cNvPr>
          <p:cNvSpPr txBox="1">
            <a:spLocks noChangeArrowheads="1"/>
          </p:cNvSpPr>
          <p:nvPr/>
        </p:nvSpPr>
        <p:spPr bwMode="auto">
          <a:xfrm>
            <a:off x="609600" y="1524000"/>
            <a:ext cx="67818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Every node knows its successor in the ring</a:t>
            </a:r>
          </a:p>
        </p:txBody>
      </p:sp>
      <p:sp>
        <p:nvSpPr>
          <p:cNvPr id="29751" name="Text Box 55">
            <a:extLst>
              <a:ext uri="{FF2B5EF4-FFF2-40B4-BE49-F238E27FC236}">
                <a16:creationId xmlns:a16="http://schemas.microsoft.com/office/drawing/2014/main" id="{CADF8ED8-DCEA-4685-A0E6-976A2FBF40B7}"/>
              </a:ext>
            </a:extLst>
          </p:cNvPr>
          <p:cNvSpPr txBox="1">
            <a:spLocks noChangeArrowheads="1"/>
          </p:cNvSpPr>
          <p:nvPr/>
        </p:nvSpPr>
        <p:spPr bwMode="auto">
          <a:xfrm>
            <a:off x="381000" y="6294438"/>
            <a:ext cx="67818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requires O(N)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5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E633213-3124-499C-BA44-72D469340000}"/>
              </a:ext>
            </a:extLst>
          </p:cNvPr>
          <p:cNvSpPr>
            <a:spLocks noGrp="1" noChangeArrowheads="1"/>
          </p:cNvSpPr>
          <p:nvPr>
            <p:ph type="title"/>
          </p:nvPr>
        </p:nvSpPr>
        <p:spPr>
          <a:xfrm>
            <a:off x="516466" y="479425"/>
            <a:ext cx="7772400" cy="1143000"/>
          </a:xfrm>
        </p:spPr>
        <p:txBody>
          <a:bodyPr/>
          <a:lstStyle/>
          <a:p>
            <a:pPr algn="l"/>
            <a:r>
              <a:rPr lang="en-US" altLang="en-US" dirty="0">
                <a:solidFill>
                  <a:schemeClr val="tx1"/>
                </a:solidFill>
                <a:latin typeface="Calibri Light" panose="020F0302020204030204" pitchFamily="34" charset="0"/>
                <a:cs typeface="Calibri Light" panose="020F0302020204030204" pitchFamily="34" charset="0"/>
              </a:rPr>
              <a:t>An example: </a:t>
            </a:r>
            <a:r>
              <a:rPr lang="tr-TR" altLang="en-US" dirty="0">
                <a:solidFill>
                  <a:schemeClr val="tx1"/>
                </a:solidFill>
                <a:latin typeface="Calibri Light" panose="020F0302020204030204" pitchFamily="34" charset="0"/>
                <a:cs typeface="Calibri Light" panose="020F0302020204030204" pitchFamily="34" charset="0"/>
              </a:rPr>
              <a:t>A Simple Key Lookup</a:t>
            </a:r>
            <a:r>
              <a:rPr lang="en-US" altLang="en-US" dirty="0">
                <a:solidFill>
                  <a:schemeClr val="tx1"/>
                </a:solidFill>
                <a:latin typeface="Calibri Light" panose="020F0302020204030204" pitchFamily="34" charset="0"/>
                <a:cs typeface="Calibri Light" panose="020F0302020204030204" pitchFamily="34" charset="0"/>
              </a:rPr>
              <a:t> (successor one by one)</a:t>
            </a:r>
          </a:p>
        </p:txBody>
      </p:sp>
      <p:sp>
        <p:nvSpPr>
          <p:cNvPr id="28678" name="Rectangle 6">
            <a:extLst>
              <a:ext uri="{FF2B5EF4-FFF2-40B4-BE49-F238E27FC236}">
                <a16:creationId xmlns:a16="http://schemas.microsoft.com/office/drawing/2014/main" id="{8C2E59AE-6CB4-4A87-975E-7E4137E737B9}"/>
              </a:ext>
            </a:extLst>
          </p:cNvPr>
          <p:cNvSpPr>
            <a:spLocks noGrp="1" noChangeArrowheads="1"/>
          </p:cNvSpPr>
          <p:nvPr>
            <p:ph type="body" idx="1"/>
          </p:nvPr>
        </p:nvSpPr>
        <p:spPr/>
        <p:txBody>
          <a:bodyPr/>
          <a:lstStyle/>
          <a:p>
            <a:r>
              <a:rPr lang="tr-TR" altLang="en-US"/>
              <a:t>The path taken by a query from node 8 for key 54:</a:t>
            </a:r>
            <a:endParaRPr lang="en-US" altLang="en-US"/>
          </a:p>
        </p:txBody>
      </p:sp>
      <p:pic>
        <p:nvPicPr>
          <p:cNvPr id="28676" name="Picture 4">
            <a:extLst>
              <a:ext uri="{FF2B5EF4-FFF2-40B4-BE49-F238E27FC236}">
                <a16:creationId xmlns:a16="http://schemas.microsoft.com/office/drawing/2014/main" id="{35926F3D-9D37-4328-A943-E5759FA17F1C}"/>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700338" y="2708275"/>
            <a:ext cx="4394200" cy="3746500"/>
          </a:xfrm>
          <a:noFill/>
          <a:ln/>
        </p:spPr>
      </p:pic>
    </p:spTree>
    <p:extLst>
      <p:ext uri="{BB962C8B-B14F-4D97-AF65-F5344CB8AC3E}">
        <p14:creationId xmlns:p14="http://schemas.microsoft.com/office/powerpoint/2010/main" val="11331565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66ABCA2-BD4E-4923-8AEC-E884D1F080EF}"/>
              </a:ext>
            </a:extLst>
          </p:cNvPr>
          <p:cNvSpPr>
            <a:spLocks noChangeArrowheads="1"/>
          </p:cNvSpPr>
          <p:nvPr/>
        </p:nvSpPr>
        <p:spPr bwMode="auto">
          <a:xfrm>
            <a:off x="546100" y="32013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Lookup: Chord</a:t>
            </a:r>
            <a:r>
              <a:rPr kumimoji="0" lang="en-US" altLang="en-US" sz="4000" b="0" i="0" u="none" strike="noStrike" kern="1200" cap="none" spc="0" normalizeH="0" noProof="0" dirty="0">
                <a:ln>
                  <a:noFill/>
                </a:ln>
                <a:effectLst/>
                <a:uLnTx/>
                <a:uFillTx/>
                <a:latin typeface="Calibri Light" panose="020F0302020204030204" pitchFamily="34" charset="0"/>
                <a:cs typeface="Calibri Light" panose="020F0302020204030204" pitchFamily="34" charset="0"/>
              </a:rPr>
              <a:t> (</a:t>
            </a: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“Finger Tables”)</a:t>
            </a:r>
          </a:p>
        </p:txBody>
      </p:sp>
      <p:sp>
        <p:nvSpPr>
          <p:cNvPr id="30723" name="Text Box 3">
            <a:extLst>
              <a:ext uri="{FF2B5EF4-FFF2-40B4-BE49-F238E27FC236}">
                <a16:creationId xmlns:a16="http://schemas.microsoft.com/office/drawing/2014/main" id="{D0D88DA9-E0F2-4E20-83ED-0F01C1CC2DAD}"/>
              </a:ext>
            </a:extLst>
          </p:cNvPr>
          <p:cNvSpPr txBox="1">
            <a:spLocks noChangeArrowheads="1"/>
          </p:cNvSpPr>
          <p:nvPr/>
        </p:nvSpPr>
        <p:spPr bwMode="auto">
          <a:xfrm>
            <a:off x="546100" y="1500436"/>
            <a:ext cx="8077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Every node knows </a:t>
            </a:r>
            <a:r>
              <a:rPr kumimoji="0" lang="en-US" altLang="en-US" sz="2400" b="0" i="1"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m</a:t>
            </a: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other nodes in the ring</a:t>
            </a:r>
          </a:p>
          <a:p>
            <a:pPr lvl="1" defTabSz="914400" eaLnBrk="0" fontAlgn="base" hangingPunct="0">
              <a:spcBef>
                <a:spcPct val="0"/>
              </a:spcBef>
              <a:spcAft>
                <a:spcPct val="50000"/>
              </a:spcAft>
              <a:buClr>
                <a:srgbClr val="FF0000"/>
              </a:buClr>
              <a:buSzPct val="80000"/>
              <a:buFont typeface="Monotype Sorts" charset="2"/>
              <a:buChar char="o"/>
              <a:defRPr/>
            </a:pPr>
            <a:r>
              <a:rPr lang="en-US" altLang="en-US" sz="2400" dirty="0">
                <a:solidFill>
                  <a:srgbClr val="000000"/>
                </a:solidFill>
                <a:latin typeface="Comic Sans MS" panose="030F0702030302020204" pitchFamily="66" charset="0"/>
              </a:rPr>
              <a:t> m: log(N)</a:t>
            </a:r>
            <a:endPar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Increase distance exponentially</a:t>
            </a:r>
            <a:endPar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p:txBody>
      </p:sp>
      <p:sp>
        <p:nvSpPr>
          <p:cNvPr id="30725" name="Oval 5">
            <a:extLst>
              <a:ext uri="{FF2B5EF4-FFF2-40B4-BE49-F238E27FC236}">
                <a16:creationId xmlns:a16="http://schemas.microsoft.com/office/drawing/2014/main" id="{657890DE-15DE-426E-8DFC-CEBCBFDA42E3}"/>
              </a:ext>
            </a:extLst>
          </p:cNvPr>
          <p:cNvSpPr>
            <a:spLocks noChangeArrowheads="1"/>
          </p:cNvSpPr>
          <p:nvPr/>
        </p:nvSpPr>
        <p:spPr bwMode="auto">
          <a:xfrm>
            <a:off x="2050523" y="3125788"/>
            <a:ext cx="3427412" cy="3427412"/>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26" name="Text Box 6">
            <a:extLst>
              <a:ext uri="{FF2B5EF4-FFF2-40B4-BE49-F238E27FC236}">
                <a16:creationId xmlns:a16="http://schemas.microsoft.com/office/drawing/2014/main" id="{C16E9FDA-9D01-4EB4-BE4E-CF8BBA2C1A2B}"/>
              </a:ext>
            </a:extLst>
          </p:cNvPr>
          <p:cNvSpPr txBox="1">
            <a:spLocks noChangeArrowheads="1"/>
          </p:cNvSpPr>
          <p:nvPr/>
        </p:nvSpPr>
        <p:spPr bwMode="auto">
          <a:xfrm>
            <a:off x="1744135" y="6021388"/>
            <a:ext cx="754063"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N80</a:t>
            </a:r>
          </a:p>
        </p:txBody>
      </p:sp>
      <p:sp>
        <p:nvSpPr>
          <p:cNvPr id="30731" name="Text Box 11">
            <a:extLst>
              <a:ext uri="{FF2B5EF4-FFF2-40B4-BE49-F238E27FC236}">
                <a16:creationId xmlns:a16="http://schemas.microsoft.com/office/drawing/2014/main" id="{9EE1136D-CBA1-4929-9541-6D8F499F270D}"/>
              </a:ext>
            </a:extLst>
          </p:cNvPr>
          <p:cNvSpPr txBox="1">
            <a:spLocks noChangeArrowheads="1"/>
          </p:cNvSpPr>
          <p:nvPr/>
        </p:nvSpPr>
        <p:spPr bwMode="auto">
          <a:xfrm>
            <a:off x="1744135" y="57912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0</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34" name="Freeform 14">
            <a:extLst>
              <a:ext uri="{FF2B5EF4-FFF2-40B4-BE49-F238E27FC236}">
                <a16:creationId xmlns:a16="http://schemas.microsoft.com/office/drawing/2014/main" id="{E409BEB7-04A3-41D7-B218-87AA358164DA}"/>
              </a:ext>
            </a:extLst>
          </p:cNvPr>
          <p:cNvSpPr>
            <a:spLocks/>
          </p:cNvSpPr>
          <p:nvPr/>
        </p:nvSpPr>
        <p:spPr bwMode="auto">
          <a:xfrm>
            <a:off x="2353735" y="5665788"/>
            <a:ext cx="177800" cy="355600"/>
          </a:xfrm>
          <a:custGeom>
            <a:avLst/>
            <a:gdLst>
              <a:gd name="T0" fmla="*/ 96 w 112"/>
              <a:gd name="T1" fmla="*/ 224 h 224"/>
              <a:gd name="T2" fmla="*/ 96 w 112"/>
              <a:gd name="T3" fmla="*/ 32 h 224"/>
              <a:gd name="T4" fmla="*/ 0 w 112"/>
              <a:gd name="T5" fmla="*/ 32 h 224"/>
            </a:gdLst>
            <a:ahLst/>
            <a:cxnLst>
              <a:cxn ang="0">
                <a:pos x="T0" y="T1"/>
              </a:cxn>
              <a:cxn ang="0">
                <a:pos x="T2" y="T3"/>
              </a:cxn>
              <a:cxn ang="0">
                <a:pos x="T4" y="T5"/>
              </a:cxn>
            </a:cxnLst>
            <a:rect l="0" t="0" r="r" b="b"/>
            <a:pathLst>
              <a:path w="112" h="224">
                <a:moveTo>
                  <a:pt x="96" y="224"/>
                </a:moveTo>
                <a:cubicBezTo>
                  <a:pt x="104" y="144"/>
                  <a:pt x="112" y="64"/>
                  <a:pt x="96" y="32"/>
                </a:cubicBezTo>
                <a:cubicBezTo>
                  <a:pt x="80" y="0"/>
                  <a:pt x="40" y="16"/>
                  <a:pt x="0" y="3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35" name="Freeform 15">
            <a:extLst>
              <a:ext uri="{FF2B5EF4-FFF2-40B4-BE49-F238E27FC236}">
                <a16:creationId xmlns:a16="http://schemas.microsoft.com/office/drawing/2014/main" id="{26ACCE40-1DD2-4DFA-9912-3A12FC616CFB}"/>
              </a:ext>
            </a:extLst>
          </p:cNvPr>
          <p:cNvSpPr>
            <a:spLocks/>
          </p:cNvSpPr>
          <p:nvPr/>
        </p:nvSpPr>
        <p:spPr bwMode="auto">
          <a:xfrm>
            <a:off x="2277535" y="5486400"/>
            <a:ext cx="419100" cy="458788"/>
          </a:xfrm>
          <a:custGeom>
            <a:avLst/>
            <a:gdLst>
              <a:gd name="T0" fmla="*/ 144 w 264"/>
              <a:gd name="T1" fmla="*/ 280 h 280"/>
              <a:gd name="T2" fmla="*/ 240 w 264"/>
              <a:gd name="T3" fmla="*/ 40 h 280"/>
              <a:gd name="T4" fmla="*/ 0 w 264"/>
              <a:gd name="T5" fmla="*/ 40 h 280"/>
            </a:gdLst>
            <a:ahLst/>
            <a:cxnLst>
              <a:cxn ang="0">
                <a:pos x="T0" y="T1"/>
              </a:cxn>
              <a:cxn ang="0">
                <a:pos x="T2" y="T3"/>
              </a:cxn>
              <a:cxn ang="0">
                <a:pos x="T4" y="T5"/>
              </a:cxn>
            </a:cxnLst>
            <a:rect l="0" t="0" r="r" b="b"/>
            <a:pathLst>
              <a:path w="264" h="280">
                <a:moveTo>
                  <a:pt x="144" y="280"/>
                </a:moveTo>
                <a:cubicBezTo>
                  <a:pt x="204" y="180"/>
                  <a:pt x="264" y="80"/>
                  <a:pt x="240" y="40"/>
                </a:cubicBezTo>
                <a:cubicBezTo>
                  <a:pt x="216" y="0"/>
                  <a:pt x="108" y="20"/>
                  <a:pt x="0" y="4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36" name="Freeform 16">
            <a:extLst>
              <a:ext uri="{FF2B5EF4-FFF2-40B4-BE49-F238E27FC236}">
                <a16:creationId xmlns:a16="http://schemas.microsoft.com/office/drawing/2014/main" id="{EA529B6D-203F-4CFD-BB64-BE8F366A37C1}"/>
              </a:ext>
            </a:extLst>
          </p:cNvPr>
          <p:cNvSpPr>
            <a:spLocks/>
          </p:cNvSpPr>
          <p:nvPr/>
        </p:nvSpPr>
        <p:spPr bwMode="auto">
          <a:xfrm>
            <a:off x="2125135" y="5181600"/>
            <a:ext cx="812800" cy="763588"/>
          </a:xfrm>
          <a:custGeom>
            <a:avLst/>
            <a:gdLst>
              <a:gd name="T0" fmla="*/ 192 w 464"/>
              <a:gd name="T1" fmla="*/ 392 h 392"/>
              <a:gd name="T2" fmla="*/ 432 w 464"/>
              <a:gd name="T3" fmla="*/ 56 h 392"/>
              <a:gd name="T4" fmla="*/ 0 w 464"/>
              <a:gd name="T5" fmla="*/ 56 h 392"/>
            </a:gdLst>
            <a:ahLst/>
            <a:cxnLst>
              <a:cxn ang="0">
                <a:pos x="T0" y="T1"/>
              </a:cxn>
              <a:cxn ang="0">
                <a:pos x="T2" y="T3"/>
              </a:cxn>
              <a:cxn ang="0">
                <a:pos x="T4" y="T5"/>
              </a:cxn>
            </a:cxnLst>
            <a:rect l="0" t="0" r="r" b="b"/>
            <a:pathLst>
              <a:path w="464" h="392">
                <a:moveTo>
                  <a:pt x="192" y="392"/>
                </a:moveTo>
                <a:cubicBezTo>
                  <a:pt x="328" y="252"/>
                  <a:pt x="464" y="112"/>
                  <a:pt x="432" y="56"/>
                </a:cubicBezTo>
                <a:cubicBezTo>
                  <a:pt x="400" y="0"/>
                  <a:pt x="200" y="28"/>
                  <a:pt x="0" y="56"/>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37" name="Freeform 17">
            <a:extLst>
              <a:ext uri="{FF2B5EF4-FFF2-40B4-BE49-F238E27FC236}">
                <a16:creationId xmlns:a16="http://schemas.microsoft.com/office/drawing/2014/main" id="{265EF9CA-E5CD-4018-896F-4B4B2FE4A137}"/>
              </a:ext>
            </a:extLst>
          </p:cNvPr>
          <p:cNvSpPr>
            <a:spLocks/>
          </p:cNvSpPr>
          <p:nvPr/>
        </p:nvSpPr>
        <p:spPr bwMode="auto">
          <a:xfrm>
            <a:off x="2048935" y="4802188"/>
            <a:ext cx="1447800" cy="1143000"/>
          </a:xfrm>
          <a:custGeom>
            <a:avLst/>
            <a:gdLst>
              <a:gd name="T0" fmla="*/ 288 w 912"/>
              <a:gd name="T1" fmla="*/ 720 h 720"/>
              <a:gd name="T2" fmla="*/ 864 w 912"/>
              <a:gd name="T3" fmla="*/ 144 h 720"/>
              <a:gd name="T4" fmla="*/ 0 w 912"/>
              <a:gd name="T5" fmla="*/ 0 h 720"/>
            </a:gdLst>
            <a:ahLst/>
            <a:cxnLst>
              <a:cxn ang="0">
                <a:pos x="T0" y="T1"/>
              </a:cxn>
              <a:cxn ang="0">
                <a:pos x="T2" y="T3"/>
              </a:cxn>
              <a:cxn ang="0">
                <a:pos x="T4" y="T5"/>
              </a:cxn>
            </a:cxnLst>
            <a:rect l="0" t="0" r="r" b="b"/>
            <a:pathLst>
              <a:path w="912" h="720">
                <a:moveTo>
                  <a:pt x="288" y="720"/>
                </a:moveTo>
                <a:cubicBezTo>
                  <a:pt x="600" y="492"/>
                  <a:pt x="912" y="264"/>
                  <a:pt x="864" y="144"/>
                </a:cubicBezTo>
                <a:cubicBezTo>
                  <a:pt x="816" y="24"/>
                  <a:pt x="408" y="12"/>
                  <a:pt x="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38" name="Freeform 18">
            <a:extLst>
              <a:ext uri="{FF2B5EF4-FFF2-40B4-BE49-F238E27FC236}">
                <a16:creationId xmlns:a16="http://schemas.microsoft.com/office/drawing/2014/main" id="{8A7921EE-A667-4889-99FB-15B4E3897AE6}"/>
              </a:ext>
            </a:extLst>
          </p:cNvPr>
          <p:cNvSpPr>
            <a:spLocks/>
          </p:cNvSpPr>
          <p:nvPr/>
        </p:nvSpPr>
        <p:spPr bwMode="auto">
          <a:xfrm>
            <a:off x="2506135" y="3659188"/>
            <a:ext cx="1231900" cy="2286000"/>
          </a:xfrm>
          <a:custGeom>
            <a:avLst/>
            <a:gdLst>
              <a:gd name="T0" fmla="*/ 0 w 776"/>
              <a:gd name="T1" fmla="*/ 1440 h 1440"/>
              <a:gd name="T2" fmla="*/ 768 w 776"/>
              <a:gd name="T3" fmla="*/ 864 h 1440"/>
              <a:gd name="T4" fmla="*/ 48 w 776"/>
              <a:gd name="T5" fmla="*/ 0 h 1440"/>
            </a:gdLst>
            <a:ahLst/>
            <a:cxnLst>
              <a:cxn ang="0">
                <a:pos x="T0" y="T1"/>
              </a:cxn>
              <a:cxn ang="0">
                <a:pos x="T2" y="T3"/>
              </a:cxn>
              <a:cxn ang="0">
                <a:pos x="T4" y="T5"/>
              </a:cxn>
            </a:cxnLst>
            <a:rect l="0" t="0" r="r" b="b"/>
            <a:pathLst>
              <a:path w="776" h="1440">
                <a:moveTo>
                  <a:pt x="0" y="1440"/>
                </a:moveTo>
                <a:cubicBezTo>
                  <a:pt x="380" y="1272"/>
                  <a:pt x="760" y="1104"/>
                  <a:pt x="768" y="864"/>
                </a:cubicBezTo>
                <a:cubicBezTo>
                  <a:pt x="776" y="624"/>
                  <a:pt x="412" y="312"/>
                  <a:pt x="48"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39" name="Freeform 19">
            <a:extLst>
              <a:ext uri="{FF2B5EF4-FFF2-40B4-BE49-F238E27FC236}">
                <a16:creationId xmlns:a16="http://schemas.microsoft.com/office/drawing/2014/main" id="{FA67E7E3-1956-4DF9-B550-56ACE4DB62F3}"/>
              </a:ext>
            </a:extLst>
          </p:cNvPr>
          <p:cNvSpPr>
            <a:spLocks/>
          </p:cNvSpPr>
          <p:nvPr/>
        </p:nvSpPr>
        <p:spPr bwMode="auto">
          <a:xfrm>
            <a:off x="2506135" y="3735388"/>
            <a:ext cx="2514600" cy="2209800"/>
          </a:xfrm>
          <a:custGeom>
            <a:avLst/>
            <a:gdLst>
              <a:gd name="T0" fmla="*/ 0 w 1584"/>
              <a:gd name="T1" fmla="*/ 1392 h 1392"/>
              <a:gd name="T2" fmla="*/ 864 w 1584"/>
              <a:gd name="T3" fmla="*/ 960 h 1392"/>
              <a:gd name="T4" fmla="*/ 1584 w 1584"/>
              <a:gd name="T5" fmla="*/ 0 h 1392"/>
            </a:gdLst>
            <a:ahLst/>
            <a:cxnLst>
              <a:cxn ang="0">
                <a:pos x="T0" y="T1"/>
              </a:cxn>
              <a:cxn ang="0">
                <a:pos x="T2" y="T3"/>
              </a:cxn>
              <a:cxn ang="0">
                <a:pos x="T4" y="T5"/>
              </a:cxn>
            </a:cxnLst>
            <a:rect l="0" t="0" r="r" b="b"/>
            <a:pathLst>
              <a:path w="1584" h="1392">
                <a:moveTo>
                  <a:pt x="0" y="1392"/>
                </a:moveTo>
                <a:cubicBezTo>
                  <a:pt x="300" y="1292"/>
                  <a:pt x="600" y="1192"/>
                  <a:pt x="864" y="960"/>
                </a:cubicBezTo>
                <a:cubicBezTo>
                  <a:pt x="1128" y="728"/>
                  <a:pt x="1356" y="364"/>
                  <a:pt x="1584"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0741" name="Text Box 21">
            <a:extLst>
              <a:ext uri="{FF2B5EF4-FFF2-40B4-BE49-F238E27FC236}">
                <a16:creationId xmlns:a16="http://schemas.microsoft.com/office/drawing/2014/main" id="{E6A23E6F-4AB0-46E4-A5F2-7F8C7540E464}"/>
              </a:ext>
            </a:extLst>
          </p:cNvPr>
          <p:cNvSpPr txBox="1">
            <a:spLocks noChangeArrowheads="1"/>
          </p:cNvSpPr>
          <p:nvPr/>
        </p:nvSpPr>
        <p:spPr bwMode="auto">
          <a:xfrm>
            <a:off x="1515535" y="3048000"/>
            <a:ext cx="927100" cy="469900"/>
          </a:xfrm>
          <a:prstGeom prst="rect">
            <a:avLst/>
          </a:prstGeom>
          <a:noFill/>
          <a:ln w="12700">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N112</a:t>
            </a:r>
          </a:p>
        </p:txBody>
      </p:sp>
      <p:sp>
        <p:nvSpPr>
          <p:cNvPr id="30742" name="Text Box 22">
            <a:extLst>
              <a:ext uri="{FF2B5EF4-FFF2-40B4-BE49-F238E27FC236}">
                <a16:creationId xmlns:a16="http://schemas.microsoft.com/office/drawing/2014/main" id="{220ACB55-6AC3-40FF-A522-51177754174E}"/>
              </a:ext>
            </a:extLst>
          </p:cNvPr>
          <p:cNvSpPr txBox="1">
            <a:spLocks noChangeArrowheads="1"/>
          </p:cNvSpPr>
          <p:nvPr/>
        </p:nvSpPr>
        <p:spPr bwMode="auto">
          <a:xfrm>
            <a:off x="1134535" y="4178300"/>
            <a:ext cx="757238" cy="469900"/>
          </a:xfrm>
          <a:prstGeom prst="rect">
            <a:avLst/>
          </a:prstGeom>
          <a:noFill/>
          <a:ln w="12700">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N96</a:t>
            </a:r>
          </a:p>
        </p:txBody>
      </p:sp>
      <p:sp>
        <p:nvSpPr>
          <p:cNvPr id="30743" name="Text Box 23">
            <a:extLst>
              <a:ext uri="{FF2B5EF4-FFF2-40B4-BE49-F238E27FC236}">
                <a16:creationId xmlns:a16="http://schemas.microsoft.com/office/drawing/2014/main" id="{76F6480C-6DE0-4A63-B16D-3ACCA90028AB}"/>
              </a:ext>
            </a:extLst>
          </p:cNvPr>
          <p:cNvSpPr txBox="1">
            <a:spLocks noChangeArrowheads="1"/>
          </p:cNvSpPr>
          <p:nvPr/>
        </p:nvSpPr>
        <p:spPr bwMode="auto">
          <a:xfrm>
            <a:off x="5096935" y="3035300"/>
            <a:ext cx="757238" cy="469900"/>
          </a:xfrm>
          <a:prstGeom prst="rect">
            <a:avLst/>
          </a:prstGeom>
          <a:noFill/>
          <a:ln w="12700">
            <a:solidFill>
              <a:schemeClr val="tx1"/>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N16</a:t>
            </a:r>
          </a:p>
        </p:txBody>
      </p:sp>
      <p:sp>
        <p:nvSpPr>
          <p:cNvPr id="30744" name="Text Box 24">
            <a:extLst>
              <a:ext uri="{FF2B5EF4-FFF2-40B4-BE49-F238E27FC236}">
                <a16:creationId xmlns:a16="http://schemas.microsoft.com/office/drawing/2014/main" id="{5CF40CE7-2589-43BF-B745-DDD0CF8360DE}"/>
              </a:ext>
            </a:extLst>
          </p:cNvPr>
          <p:cNvSpPr txBox="1">
            <a:spLocks noChangeArrowheads="1"/>
          </p:cNvSpPr>
          <p:nvPr/>
        </p:nvSpPr>
        <p:spPr bwMode="auto">
          <a:xfrm>
            <a:off x="1594910" y="56388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1</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45" name="Text Box 25">
            <a:extLst>
              <a:ext uri="{FF2B5EF4-FFF2-40B4-BE49-F238E27FC236}">
                <a16:creationId xmlns:a16="http://schemas.microsoft.com/office/drawing/2014/main" id="{45B7C856-5CF8-4FAD-B892-D9E66FD9732E}"/>
              </a:ext>
            </a:extLst>
          </p:cNvPr>
          <p:cNvSpPr txBox="1">
            <a:spLocks noChangeArrowheads="1"/>
          </p:cNvSpPr>
          <p:nvPr/>
        </p:nvSpPr>
        <p:spPr bwMode="auto">
          <a:xfrm>
            <a:off x="1515535" y="54102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2</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46" name="Text Box 26">
            <a:extLst>
              <a:ext uri="{FF2B5EF4-FFF2-40B4-BE49-F238E27FC236}">
                <a16:creationId xmlns:a16="http://schemas.microsoft.com/office/drawing/2014/main" id="{E162326A-95FF-4786-A460-099FADF750FC}"/>
              </a:ext>
            </a:extLst>
          </p:cNvPr>
          <p:cNvSpPr txBox="1">
            <a:spLocks noChangeArrowheads="1"/>
          </p:cNvSpPr>
          <p:nvPr/>
        </p:nvSpPr>
        <p:spPr bwMode="auto">
          <a:xfrm>
            <a:off x="1363135" y="51816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3</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47" name="Text Box 27">
            <a:extLst>
              <a:ext uri="{FF2B5EF4-FFF2-40B4-BE49-F238E27FC236}">
                <a16:creationId xmlns:a16="http://schemas.microsoft.com/office/drawing/2014/main" id="{A837E07F-B9A8-4F89-8255-3F0C0501778F}"/>
              </a:ext>
            </a:extLst>
          </p:cNvPr>
          <p:cNvSpPr txBox="1">
            <a:spLocks noChangeArrowheads="1"/>
          </p:cNvSpPr>
          <p:nvPr/>
        </p:nvSpPr>
        <p:spPr bwMode="auto">
          <a:xfrm>
            <a:off x="1290110" y="46482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4</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48" name="Text Box 28">
            <a:extLst>
              <a:ext uri="{FF2B5EF4-FFF2-40B4-BE49-F238E27FC236}">
                <a16:creationId xmlns:a16="http://schemas.microsoft.com/office/drawing/2014/main" id="{F7B75C3A-D5E5-447A-9A7A-42D063975433}"/>
              </a:ext>
            </a:extLst>
          </p:cNvPr>
          <p:cNvSpPr txBox="1">
            <a:spLocks noChangeArrowheads="1"/>
          </p:cNvSpPr>
          <p:nvPr/>
        </p:nvSpPr>
        <p:spPr bwMode="auto">
          <a:xfrm>
            <a:off x="1823510" y="35052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5</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30749" name="Text Box 29">
            <a:extLst>
              <a:ext uri="{FF2B5EF4-FFF2-40B4-BE49-F238E27FC236}">
                <a16:creationId xmlns:a16="http://schemas.microsoft.com/office/drawing/2014/main" id="{431F3E96-3E87-43D7-96BB-F64F676869BB}"/>
              </a:ext>
            </a:extLst>
          </p:cNvPr>
          <p:cNvSpPr txBox="1">
            <a:spLocks noChangeArrowheads="1"/>
          </p:cNvSpPr>
          <p:nvPr/>
        </p:nvSpPr>
        <p:spPr bwMode="auto">
          <a:xfrm>
            <a:off x="5020735" y="3505200"/>
            <a:ext cx="758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Times New Roman" panose="02020603050405020304" pitchFamily="18" charset="0"/>
              </a:rPr>
              <a:t>80 + 2</a:t>
            </a:r>
            <a:r>
              <a:rPr kumimoji="0" lang="en-US" altLang="en-US" sz="1600" b="1" i="0" u="none" strike="noStrike" kern="1200" cap="none" spc="0" normalizeH="0" baseline="20000" noProof="0">
                <a:ln>
                  <a:noFill/>
                </a:ln>
                <a:solidFill>
                  <a:srgbClr val="000000"/>
                </a:solidFill>
                <a:effectLst/>
                <a:uLnTx/>
                <a:uFillTx/>
                <a:latin typeface="Helvetica" panose="020B0604020202020204" pitchFamily="34" charset="0"/>
                <a:ea typeface="+mn-ea"/>
                <a:cs typeface="Times New Roman" panose="02020603050405020304" pitchFamily="18" charset="0"/>
              </a:rPr>
              <a:t>6</a:t>
            </a:r>
            <a:endParaRPr kumimoji="0" lang="en-US" altLang="en-US" sz="1400" b="1" i="0" u="none" strike="noStrike" kern="1200" cap="none" spc="0" normalizeH="0" baseline="0" noProof="0">
              <a:ln>
                <a:noFill/>
              </a:ln>
              <a:solidFill>
                <a:srgbClr val="000000"/>
              </a:solidFill>
              <a:effectLst/>
              <a:uLnTx/>
              <a:uFillTx/>
              <a:latin typeface="Helvetica" panose="020B0604020202020204" pitchFamily="34" charset="0"/>
              <a:ea typeface="+mn-ea"/>
              <a:cs typeface="+mn-cs"/>
            </a:endParaRPr>
          </a:p>
        </p:txBody>
      </p:sp>
      <p:sp>
        <p:nvSpPr>
          <p:cNvPr id="2" name="Rectangle 1">
            <a:extLst>
              <a:ext uri="{FF2B5EF4-FFF2-40B4-BE49-F238E27FC236}">
                <a16:creationId xmlns:a16="http://schemas.microsoft.com/office/drawing/2014/main" id="{7FB3B6CE-CD9C-4E17-8534-B2B7274A55B8}"/>
              </a:ext>
            </a:extLst>
          </p:cNvPr>
          <p:cNvSpPr/>
          <p:nvPr/>
        </p:nvSpPr>
        <p:spPr>
          <a:xfrm>
            <a:off x="6050138" y="3577094"/>
            <a:ext cx="2997903" cy="2677656"/>
          </a:xfrm>
          <a:prstGeom prst="rect">
            <a:avLst/>
          </a:prstGeom>
        </p:spPr>
        <p:txBody>
          <a:bodyPr wrap="square">
            <a:spAutoFit/>
          </a:bodyPr>
          <a:lstStyle/>
          <a:p>
            <a:r>
              <a:rPr lang="en-US" altLang="en-US" sz="2400" dirty="0">
                <a:solidFill>
                  <a:srgbClr val="000000"/>
                </a:solidFill>
                <a:latin typeface="Comic Sans MS" panose="030F0702030302020204" pitchFamily="66" charset="0"/>
              </a:rPr>
              <a:t>Finger </a:t>
            </a:r>
            <a:r>
              <a:rPr lang="en-US" altLang="en-US" sz="2400" i="1" dirty="0" err="1">
                <a:solidFill>
                  <a:srgbClr val="000000"/>
                </a:solidFill>
                <a:latin typeface="Comic Sans MS" panose="030F0702030302020204" pitchFamily="66" charset="0"/>
              </a:rPr>
              <a:t>i</a:t>
            </a:r>
            <a:r>
              <a:rPr lang="en-US" altLang="en-US" sz="2400" dirty="0">
                <a:solidFill>
                  <a:srgbClr val="000000"/>
                </a:solidFill>
                <a:latin typeface="Comic Sans MS" panose="030F0702030302020204" pitchFamily="66" charset="0"/>
              </a:rPr>
              <a:t>  points to </a:t>
            </a:r>
            <a:r>
              <a:rPr lang="en-US" altLang="en-US" sz="2400" dirty="0">
                <a:solidFill>
                  <a:srgbClr val="FF0000"/>
                </a:solidFill>
                <a:latin typeface="Comic Sans MS" panose="030F0702030302020204" pitchFamily="66" charset="0"/>
              </a:rPr>
              <a:t>successor </a:t>
            </a:r>
            <a:r>
              <a:rPr lang="en-US" altLang="zh-CN" sz="2400" dirty="0">
                <a:latin typeface="Comic Sans MS" panose="030F0702030302020204" pitchFamily="66" charset="0"/>
              </a:rPr>
              <a:t>of</a:t>
            </a:r>
            <a:r>
              <a:rPr lang="en-US" altLang="zh-CN" sz="2400" dirty="0">
                <a:solidFill>
                  <a:srgbClr val="FF0000"/>
                </a:solidFill>
                <a:latin typeface="Comic Sans MS" panose="030F0702030302020204" pitchFamily="66" charset="0"/>
              </a:rPr>
              <a:t> </a:t>
            </a:r>
            <a:r>
              <a:rPr lang="en-US" altLang="en-US" sz="2400" i="1" dirty="0">
                <a:solidFill>
                  <a:srgbClr val="000000"/>
                </a:solidFill>
                <a:latin typeface="Comic Sans MS" panose="030F0702030302020204" pitchFamily="66" charset="0"/>
              </a:rPr>
              <a:t>n+2</a:t>
            </a:r>
            <a:r>
              <a:rPr lang="en-US" altLang="en-US" sz="2400" i="1" baseline="30000" dirty="0">
                <a:solidFill>
                  <a:srgbClr val="000000"/>
                </a:solidFill>
                <a:latin typeface="Comic Sans MS" panose="030F0702030302020204" pitchFamily="66" charset="0"/>
              </a:rPr>
              <a:t>i-1</a:t>
            </a:r>
            <a:r>
              <a:rPr lang="en-US" altLang="en-US" sz="2400" dirty="0">
                <a:solidFill>
                  <a:srgbClr val="FF0000"/>
                </a:solidFill>
                <a:latin typeface="Comic Sans MS" panose="030F0702030302020204" pitchFamily="66" charset="0"/>
              </a:rPr>
              <a:t> </a:t>
            </a:r>
            <a:r>
              <a:rPr lang="en-US" altLang="en-US" sz="2400" dirty="0">
                <a:latin typeface="Comic Sans MS" panose="030F0702030302020204" pitchFamily="66" charset="0"/>
              </a:rPr>
              <a:t>,</a:t>
            </a:r>
            <a:r>
              <a:rPr lang="en-US" altLang="en-US" sz="2400" dirty="0">
                <a:solidFill>
                  <a:srgbClr val="FF0000"/>
                </a:solidFill>
                <a:latin typeface="Comic Sans MS" panose="030F0702030302020204" pitchFamily="66" charset="0"/>
              </a:rPr>
              <a:t> </a:t>
            </a:r>
            <a:r>
              <a:rPr lang="en-US" altLang="en-US" sz="2400" dirty="0">
                <a:latin typeface="Comic Sans MS" panose="030F0702030302020204" pitchFamily="66" charset="0"/>
              </a:rPr>
              <a:t> </a:t>
            </a:r>
            <a:r>
              <a:rPr lang="en-US" altLang="en-US" sz="2400" dirty="0" err="1">
                <a:latin typeface="Comic Sans MS" panose="030F0702030302020204" pitchFamily="66" charset="0"/>
              </a:rPr>
              <a:t>i</a:t>
            </a:r>
            <a:r>
              <a:rPr lang="en-US" altLang="en-US" sz="2400" dirty="0">
                <a:latin typeface="Comic Sans MS" panose="030F0702030302020204" pitchFamily="66" charset="0"/>
              </a:rPr>
              <a:t> = 1, 2 ,…, m. (m=7 in this figure)</a:t>
            </a:r>
          </a:p>
          <a:p>
            <a:endParaRPr lang="en-US" sz="2400" dirty="0">
              <a:latin typeface="Comic Sans MS" panose="030F0702030302020204" pitchFamily="66" charset="0"/>
            </a:endParaRPr>
          </a:p>
          <a:p>
            <a:r>
              <a:rPr lang="en-US" sz="2400" dirty="0">
                <a:latin typeface="Comic Sans MS" panose="030F0702030302020204" pitchFamily="66" charset="0"/>
              </a:rPr>
              <a:t>m entries in the finger table</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9" name="Google Shape;579;p21"/>
          <p:cNvSpPr txBox="1">
            <a:spLocks noGrp="1"/>
          </p:cNvSpPr>
          <p:nvPr>
            <p:ph type="title"/>
          </p:nvPr>
        </p:nvSpPr>
        <p:spPr>
          <a:xfrm>
            <a:off x="4195" y="255697"/>
            <a:ext cx="9131836" cy="637983"/>
          </a:xfrm>
          <a:prstGeom prst="rect">
            <a:avLst/>
          </a:prstGeom>
          <a:noFill/>
          <a:ln>
            <a:noFill/>
          </a:ln>
        </p:spPr>
        <p:txBody>
          <a:bodyPr spcFirstLastPara="1" vert="horz" wrap="square" lIns="0" tIns="123308" rIns="0" bIns="0" numCol="1" anchor="t" anchorCtr="0" compatLnSpc="1">
            <a:prstTxWarp prst="textNoShape">
              <a:avLst/>
            </a:prstTxWarp>
            <a:noAutofit/>
          </a:bodyPr>
          <a:lstStyle/>
          <a:p>
            <a:pPr marL="213925"/>
            <a:r>
              <a:rPr lang="en-US" sz="4000" dirty="0">
                <a:solidFill>
                  <a:schemeClr val="tx1"/>
                </a:solidFill>
                <a:latin typeface="Calibri Light" panose="020F0302020204030204" pitchFamily="34" charset="0"/>
                <a:cs typeface="Calibri Light" panose="020F0302020204030204" pitchFamily="34" charset="0"/>
              </a:rPr>
              <a:t>Chord finger tables</a:t>
            </a:r>
            <a:endParaRPr sz="4000" dirty="0">
              <a:solidFill>
                <a:schemeClr val="tx1"/>
              </a:solidFill>
              <a:latin typeface="Calibri Light" panose="020F0302020204030204" pitchFamily="34" charset="0"/>
              <a:cs typeface="Calibri Light" panose="020F0302020204030204" pitchFamily="34" charset="0"/>
            </a:endParaRPr>
          </a:p>
        </p:txBody>
      </p:sp>
      <p:sp>
        <p:nvSpPr>
          <p:cNvPr id="587" name="Google Shape;587;p21"/>
          <p:cNvSpPr/>
          <p:nvPr/>
        </p:nvSpPr>
        <p:spPr>
          <a:xfrm>
            <a:off x="8961873" y="1933709"/>
            <a:ext cx="0" cy="25167"/>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588" name="Google Shape;588;p21"/>
          <p:cNvSpPr/>
          <p:nvPr/>
        </p:nvSpPr>
        <p:spPr>
          <a:xfrm>
            <a:off x="8961873" y="1908542"/>
            <a:ext cx="0" cy="25167"/>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589" name="Google Shape;589;p21"/>
          <p:cNvSpPr/>
          <p:nvPr/>
        </p:nvSpPr>
        <p:spPr>
          <a:xfrm>
            <a:off x="8961873" y="1883375"/>
            <a:ext cx="0" cy="25167"/>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593" name="Google Shape;593;p21"/>
          <p:cNvSpPr txBox="1"/>
          <p:nvPr/>
        </p:nvSpPr>
        <p:spPr>
          <a:xfrm>
            <a:off x="123795" y="1958876"/>
            <a:ext cx="8602071" cy="3576227"/>
          </a:xfrm>
          <a:prstGeom prst="rect">
            <a:avLst/>
          </a:prstGeom>
          <a:noFill/>
          <a:ln>
            <a:noFill/>
          </a:ln>
        </p:spPr>
        <p:txBody>
          <a:bodyPr spcFirstLastPara="1" wrap="square" lIns="0" tIns="23879" rIns="0" bIns="0" anchor="t" anchorCtr="0">
            <a:noAutofit/>
          </a:bodyPr>
          <a:lstStyle/>
          <a:p>
            <a:pPr marL="25168"/>
            <a:r>
              <a:rPr lang="en-US" sz="1982" dirty="0">
                <a:solidFill>
                  <a:srgbClr val="04064C"/>
                </a:solidFill>
                <a:latin typeface="Arial"/>
                <a:ea typeface="Arial"/>
                <a:cs typeface="Arial"/>
                <a:sym typeface="Arial"/>
              </a:rPr>
              <a:t>Principle</a:t>
            </a:r>
            <a:endParaRPr sz="1982" dirty="0">
              <a:solidFill>
                <a:schemeClr val="dk1"/>
              </a:solidFill>
              <a:latin typeface="Arial"/>
              <a:ea typeface="Arial"/>
              <a:cs typeface="Arial"/>
              <a:sym typeface="Arial"/>
            </a:endParaRPr>
          </a:p>
          <a:p>
            <a:pPr marL="573821">
              <a:spcBef>
                <a:spcPts val="1387"/>
              </a:spcBef>
            </a:pPr>
            <a:r>
              <a:rPr lang="en-US" sz="1982" dirty="0">
                <a:solidFill>
                  <a:schemeClr val="dk1"/>
                </a:solidFill>
                <a:latin typeface="Arial"/>
                <a:ea typeface="Arial"/>
                <a:cs typeface="Arial"/>
                <a:sym typeface="Arial"/>
              </a:rPr>
              <a:t>Each node </a:t>
            </a:r>
            <a:r>
              <a:rPr lang="en-US" sz="1982" i="1" dirty="0">
                <a:solidFill>
                  <a:schemeClr val="dk1"/>
                </a:solidFill>
                <a:latin typeface="Arial"/>
                <a:ea typeface="Arial"/>
                <a:cs typeface="Arial"/>
                <a:sym typeface="Arial"/>
              </a:rPr>
              <a:t>p </a:t>
            </a:r>
            <a:r>
              <a:rPr lang="en-US" sz="1982" dirty="0">
                <a:solidFill>
                  <a:schemeClr val="dk1"/>
                </a:solidFill>
                <a:latin typeface="Arial"/>
                <a:ea typeface="Arial"/>
                <a:cs typeface="Arial"/>
                <a:sym typeface="Arial"/>
              </a:rPr>
              <a:t>maintains a </a:t>
            </a:r>
            <a:r>
              <a:rPr lang="en-US" sz="1982" dirty="0">
                <a:solidFill>
                  <a:srgbClr val="FA0000"/>
                </a:solidFill>
                <a:latin typeface="Arial"/>
                <a:ea typeface="Arial"/>
                <a:cs typeface="Arial"/>
                <a:sym typeface="Arial"/>
              </a:rPr>
              <a:t>finger table </a:t>
            </a: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 with at most </a:t>
            </a:r>
            <a:r>
              <a:rPr lang="en-US" sz="1982" i="1" dirty="0">
                <a:solidFill>
                  <a:schemeClr val="dk1"/>
                </a:solidFill>
                <a:latin typeface="Arial"/>
                <a:ea typeface="Arial"/>
                <a:cs typeface="Arial"/>
                <a:sym typeface="Arial"/>
              </a:rPr>
              <a:t>m </a:t>
            </a:r>
            <a:r>
              <a:rPr lang="en-US" sz="1982" dirty="0">
                <a:solidFill>
                  <a:schemeClr val="dk1"/>
                </a:solidFill>
                <a:latin typeface="Arial"/>
                <a:ea typeface="Arial"/>
                <a:cs typeface="Arial"/>
                <a:sym typeface="Arial"/>
              </a:rPr>
              <a:t>entries:</a:t>
            </a:r>
            <a:endParaRPr sz="1982" dirty="0">
              <a:solidFill>
                <a:schemeClr val="dk1"/>
              </a:solidFill>
              <a:latin typeface="Arial"/>
              <a:ea typeface="Arial"/>
              <a:cs typeface="Arial"/>
              <a:sym typeface="Arial"/>
            </a:endParaRPr>
          </a:p>
          <a:p>
            <a:pPr marL="3323380">
              <a:spcBef>
                <a:spcPts val="2269"/>
              </a:spcBef>
            </a:pP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a:t>
            </a:r>
            <a:r>
              <a:rPr lang="en-US" sz="1982" i="1" dirty="0" err="1">
                <a:solidFill>
                  <a:schemeClr val="dk1"/>
                </a:solidFill>
                <a:latin typeface="Arial"/>
                <a:ea typeface="Arial"/>
                <a:cs typeface="Arial"/>
                <a:sym typeface="Arial"/>
              </a:rPr>
              <a:t>i</a:t>
            </a:r>
            <a:r>
              <a:rPr lang="en-US" sz="1982" i="1"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 = </a:t>
            </a:r>
            <a:r>
              <a:rPr lang="en-US" sz="1982" i="1" dirty="0" err="1">
                <a:solidFill>
                  <a:schemeClr val="dk1"/>
                </a:solidFill>
                <a:latin typeface="Arial"/>
                <a:ea typeface="Arial"/>
                <a:cs typeface="Arial"/>
                <a:sym typeface="Arial"/>
              </a:rPr>
              <a:t>succ</a:t>
            </a:r>
            <a:r>
              <a:rPr lang="en-US" sz="1982" dirty="0">
                <a:solidFill>
                  <a:schemeClr val="dk1"/>
                </a:solidFill>
                <a:latin typeface="Arial"/>
                <a:ea typeface="Arial"/>
                <a:cs typeface="Arial"/>
                <a:sym typeface="Arial"/>
              </a:rPr>
              <a:t>(</a:t>
            </a:r>
            <a:r>
              <a:rPr lang="en-US" sz="1982" i="1" dirty="0">
                <a:solidFill>
                  <a:schemeClr val="dk1"/>
                </a:solidFill>
                <a:latin typeface="Arial"/>
                <a:ea typeface="Arial"/>
                <a:cs typeface="Arial"/>
                <a:sym typeface="Arial"/>
              </a:rPr>
              <a:t>p </a:t>
            </a:r>
            <a:r>
              <a:rPr lang="en-US" sz="1982" dirty="0">
                <a:solidFill>
                  <a:schemeClr val="dk1"/>
                </a:solidFill>
                <a:latin typeface="Arial"/>
                <a:ea typeface="Arial"/>
                <a:cs typeface="Arial"/>
                <a:sym typeface="Arial"/>
              </a:rPr>
              <a:t>+ 2</a:t>
            </a:r>
            <a:r>
              <a:rPr lang="en-US" sz="2081" i="1" baseline="30000" dirty="0">
                <a:solidFill>
                  <a:schemeClr val="dk1"/>
                </a:solidFill>
                <a:latin typeface="Arial"/>
                <a:ea typeface="Arial"/>
                <a:cs typeface="Arial"/>
                <a:sym typeface="Arial"/>
              </a:rPr>
              <a:t>i−</a:t>
            </a:r>
            <a:r>
              <a:rPr lang="en-US" sz="2081" baseline="30000" dirty="0">
                <a:solidFill>
                  <a:schemeClr val="dk1"/>
                </a:solidFill>
                <a:latin typeface="Arial"/>
                <a:ea typeface="Arial"/>
                <a:cs typeface="Arial"/>
                <a:sym typeface="Arial"/>
              </a:rPr>
              <a:t>1</a:t>
            </a:r>
            <a:r>
              <a:rPr lang="en-US" sz="1982" dirty="0">
                <a:solidFill>
                  <a:schemeClr val="dk1"/>
                </a:solidFill>
                <a:latin typeface="Arial"/>
                <a:ea typeface="Arial"/>
                <a:cs typeface="Arial"/>
                <a:sym typeface="Arial"/>
              </a:rPr>
              <a:t>)</a:t>
            </a:r>
            <a:endParaRPr sz="1982" dirty="0">
              <a:solidFill>
                <a:schemeClr val="dk1"/>
              </a:solidFill>
              <a:latin typeface="Arial"/>
              <a:ea typeface="Arial"/>
              <a:cs typeface="Arial"/>
              <a:sym typeface="Arial"/>
            </a:endParaRPr>
          </a:p>
          <a:p>
            <a:pPr marL="573821" marR="10067">
              <a:lnSpc>
                <a:spcPct val="149400"/>
              </a:lnSpc>
              <a:spcBef>
                <a:spcPts val="991"/>
              </a:spcBef>
            </a:pPr>
            <a:r>
              <a:rPr lang="en-US" sz="1982" dirty="0">
                <a:solidFill>
                  <a:srgbClr val="FA0000"/>
                </a:solidFill>
                <a:latin typeface="Arial"/>
                <a:ea typeface="Arial"/>
                <a:cs typeface="Arial"/>
                <a:sym typeface="Arial"/>
              </a:rPr>
              <a:t>Note</a:t>
            </a:r>
            <a:r>
              <a:rPr lang="en-US" sz="1982" dirty="0">
                <a:solidFill>
                  <a:schemeClr val="dk1"/>
                </a:solidFill>
                <a:latin typeface="Arial"/>
                <a:ea typeface="Arial"/>
                <a:cs typeface="Arial"/>
                <a:sym typeface="Arial"/>
              </a:rPr>
              <a:t>: the </a:t>
            </a:r>
            <a:r>
              <a:rPr lang="en-US" sz="1982" i="1" dirty="0" err="1">
                <a:solidFill>
                  <a:schemeClr val="dk1"/>
                </a:solidFill>
                <a:latin typeface="Arial"/>
                <a:ea typeface="Arial"/>
                <a:cs typeface="Arial"/>
                <a:sym typeface="Arial"/>
              </a:rPr>
              <a:t>i</a:t>
            </a:r>
            <a:r>
              <a:rPr lang="en-US" sz="1982" i="1"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a:t>
            </a:r>
            <a:r>
              <a:rPr lang="en-US" sz="1982" dirty="0" err="1">
                <a:solidFill>
                  <a:schemeClr val="dk1"/>
                </a:solidFill>
                <a:latin typeface="Arial"/>
                <a:ea typeface="Arial"/>
                <a:cs typeface="Arial"/>
                <a:sym typeface="Arial"/>
              </a:rPr>
              <a:t>th</a:t>
            </a:r>
            <a:r>
              <a:rPr lang="en-US" sz="1982" dirty="0">
                <a:solidFill>
                  <a:schemeClr val="dk1"/>
                </a:solidFill>
                <a:latin typeface="Arial"/>
                <a:ea typeface="Arial"/>
                <a:cs typeface="Arial"/>
                <a:sym typeface="Arial"/>
              </a:rPr>
              <a:t> entry points to the first node succeeding </a:t>
            </a:r>
            <a:r>
              <a:rPr lang="en-US" sz="1982" i="1" dirty="0">
                <a:solidFill>
                  <a:schemeClr val="dk1"/>
                </a:solidFill>
                <a:latin typeface="Arial"/>
                <a:ea typeface="Arial"/>
                <a:cs typeface="Arial"/>
                <a:sym typeface="Arial"/>
              </a:rPr>
              <a:t>p </a:t>
            </a:r>
            <a:r>
              <a:rPr lang="en-US" sz="1982" dirty="0">
                <a:solidFill>
                  <a:schemeClr val="dk1"/>
                </a:solidFill>
                <a:latin typeface="Arial"/>
                <a:ea typeface="Arial"/>
                <a:cs typeface="Arial"/>
                <a:sym typeface="Arial"/>
              </a:rPr>
              <a:t>by at least 2</a:t>
            </a:r>
            <a:r>
              <a:rPr lang="en-US" sz="2081" i="1" baseline="30000" dirty="0">
                <a:solidFill>
                  <a:schemeClr val="dk1"/>
                </a:solidFill>
                <a:latin typeface="Arial"/>
                <a:ea typeface="Arial"/>
                <a:cs typeface="Arial"/>
                <a:sym typeface="Arial"/>
              </a:rPr>
              <a:t>i−</a:t>
            </a:r>
            <a:r>
              <a:rPr lang="en-US" sz="2081" baseline="30000" dirty="0">
                <a:solidFill>
                  <a:schemeClr val="dk1"/>
                </a:solidFill>
                <a:latin typeface="Arial"/>
                <a:ea typeface="Arial"/>
                <a:cs typeface="Arial"/>
                <a:sym typeface="Arial"/>
              </a:rPr>
              <a:t>1</a:t>
            </a:r>
            <a:r>
              <a:rPr lang="en-US" sz="1982" dirty="0">
                <a:solidFill>
                  <a:schemeClr val="dk1"/>
                </a:solidFill>
                <a:latin typeface="Arial"/>
                <a:ea typeface="Arial"/>
                <a:cs typeface="Arial"/>
                <a:sym typeface="Arial"/>
              </a:rPr>
              <a:t>.  To look up a key </a:t>
            </a:r>
            <a:r>
              <a:rPr lang="en-US" sz="1982" i="1" dirty="0">
                <a:solidFill>
                  <a:schemeClr val="dk1"/>
                </a:solidFill>
                <a:latin typeface="Arial"/>
                <a:ea typeface="Arial"/>
                <a:cs typeface="Arial"/>
                <a:sym typeface="Arial"/>
              </a:rPr>
              <a:t>k </a:t>
            </a:r>
            <a:r>
              <a:rPr lang="en-US" sz="1982" dirty="0">
                <a:solidFill>
                  <a:schemeClr val="dk1"/>
                </a:solidFill>
                <a:latin typeface="Arial"/>
                <a:ea typeface="Arial"/>
                <a:cs typeface="Arial"/>
                <a:sym typeface="Arial"/>
              </a:rPr>
              <a:t>, node </a:t>
            </a:r>
            <a:r>
              <a:rPr lang="en-US" sz="1982" i="1" dirty="0">
                <a:solidFill>
                  <a:schemeClr val="dk1"/>
                </a:solidFill>
                <a:latin typeface="Arial"/>
                <a:ea typeface="Arial"/>
                <a:cs typeface="Arial"/>
                <a:sym typeface="Arial"/>
              </a:rPr>
              <a:t>p </a:t>
            </a:r>
            <a:r>
              <a:rPr lang="en-US" sz="1982" dirty="0">
                <a:solidFill>
                  <a:schemeClr val="dk1"/>
                </a:solidFill>
                <a:latin typeface="Arial"/>
                <a:ea typeface="Arial"/>
                <a:cs typeface="Arial"/>
                <a:sym typeface="Arial"/>
              </a:rPr>
              <a:t>forwards the request to node with index </a:t>
            </a:r>
            <a:r>
              <a:rPr lang="en-US" sz="1982" i="1" dirty="0">
                <a:solidFill>
                  <a:schemeClr val="dk1"/>
                </a:solidFill>
                <a:latin typeface="Arial"/>
                <a:ea typeface="Arial"/>
                <a:cs typeface="Arial"/>
                <a:sym typeface="Arial"/>
              </a:rPr>
              <a:t>j</a:t>
            </a:r>
            <a:endParaRPr sz="1982" dirty="0">
              <a:solidFill>
                <a:schemeClr val="dk1"/>
              </a:solidFill>
              <a:latin typeface="Arial"/>
              <a:ea typeface="Arial"/>
              <a:cs typeface="Arial"/>
              <a:sym typeface="Arial"/>
            </a:endParaRPr>
          </a:p>
          <a:p>
            <a:pPr marL="573821">
              <a:lnSpc>
                <a:spcPct val="119500"/>
              </a:lnSpc>
            </a:pPr>
            <a:r>
              <a:rPr lang="en-US" sz="1982" dirty="0">
                <a:solidFill>
                  <a:schemeClr val="dk1"/>
                </a:solidFill>
                <a:latin typeface="Arial"/>
                <a:ea typeface="Arial"/>
                <a:cs typeface="Arial"/>
                <a:sym typeface="Arial"/>
              </a:rPr>
              <a:t>satisfying</a:t>
            </a:r>
            <a:endParaRPr sz="1982" dirty="0">
              <a:solidFill>
                <a:schemeClr val="dk1"/>
              </a:solidFill>
              <a:latin typeface="Arial"/>
              <a:ea typeface="Arial"/>
              <a:cs typeface="Arial"/>
              <a:sym typeface="Arial"/>
            </a:endParaRPr>
          </a:p>
          <a:p>
            <a:pPr marL="580113" algn="ctr">
              <a:lnSpc>
                <a:spcPct val="114285"/>
              </a:lnSpc>
            </a:pPr>
            <a:r>
              <a:rPr lang="en-US" sz="1982" i="1" dirty="0">
                <a:solidFill>
                  <a:schemeClr val="dk1"/>
                </a:solidFill>
                <a:latin typeface="Arial"/>
                <a:ea typeface="Arial"/>
                <a:cs typeface="Arial"/>
                <a:sym typeface="Arial"/>
              </a:rPr>
              <a:t>q </a:t>
            </a:r>
            <a:r>
              <a:rPr lang="en-US" sz="1982" dirty="0">
                <a:solidFill>
                  <a:schemeClr val="dk1"/>
                </a:solidFill>
                <a:latin typeface="Arial"/>
                <a:ea typeface="Arial"/>
                <a:cs typeface="Arial"/>
                <a:sym typeface="Arial"/>
              </a:rPr>
              <a:t>= </a:t>
            </a: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a:t>
            </a:r>
            <a:r>
              <a:rPr lang="en-US" sz="1982" i="1" dirty="0">
                <a:solidFill>
                  <a:schemeClr val="dk1"/>
                </a:solidFill>
                <a:latin typeface="Arial"/>
                <a:ea typeface="Arial"/>
                <a:cs typeface="Arial"/>
                <a:sym typeface="Arial"/>
              </a:rPr>
              <a:t>j </a:t>
            </a:r>
            <a:r>
              <a:rPr lang="en-US" sz="1982" dirty="0">
                <a:solidFill>
                  <a:schemeClr val="dk1"/>
                </a:solidFill>
                <a:latin typeface="Arial"/>
                <a:ea typeface="Arial"/>
                <a:cs typeface="Arial"/>
                <a:sym typeface="Arial"/>
              </a:rPr>
              <a:t>] </a:t>
            </a:r>
            <a:r>
              <a:rPr lang="en-US" sz="1982" i="1" dirty="0">
                <a:solidFill>
                  <a:schemeClr val="dk1"/>
                </a:solidFill>
                <a:latin typeface="Arial"/>
                <a:ea typeface="Arial"/>
                <a:cs typeface="Arial"/>
                <a:sym typeface="Arial"/>
              </a:rPr>
              <a:t>≤ k &lt; </a:t>
            </a: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a:t>
            </a:r>
            <a:r>
              <a:rPr lang="en-US" sz="1982" i="1" dirty="0">
                <a:solidFill>
                  <a:schemeClr val="dk1"/>
                </a:solidFill>
                <a:latin typeface="Arial"/>
                <a:ea typeface="Arial"/>
                <a:cs typeface="Arial"/>
                <a:sym typeface="Arial"/>
              </a:rPr>
              <a:t>j </a:t>
            </a:r>
            <a:r>
              <a:rPr lang="en-US" sz="1982" dirty="0">
                <a:solidFill>
                  <a:schemeClr val="dk1"/>
                </a:solidFill>
                <a:latin typeface="Arial"/>
                <a:ea typeface="Arial"/>
                <a:cs typeface="Arial"/>
                <a:sym typeface="Arial"/>
              </a:rPr>
              <a:t>+ 1]</a:t>
            </a:r>
            <a:endParaRPr sz="1982" dirty="0">
              <a:solidFill>
                <a:schemeClr val="dk1"/>
              </a:solidFill>
              <a:latin typeface="Arial"/>
              <a:ea typeface="Arial"/>
              <a:cs typeface="Arial"/>
              <a:sym typeface="Arial"/>
            </a:endParaRPr>
          </a:p>
          <a:p>
            <a:pPr marL="573821">
              <a:spcBef>
                <a:spcPts val="1764"/>
              </a:spcBef>
            </a:pPr>
            <a:r>
              <a:rPr lang="en-US" sz="1982" dirty="0">
                <a:solidFill>
                  <a:schemeClr val="dk1"/>
                </a:solidFill>
                <a:latin typeface="Arial"/>
                <a:ea typeface="Arial"/>
                <a:cs typeface="Arial"/>
                <a:sym typeface="Arial"/>
              </a:rPr>
              <a:t>If </a:t>
            </a:r>
            <a:r>
              <a:rPr lang="en-US" sz="1982" i="1" dirty="0">
                <a:solidFill>
                  <a:schemeClr val="dk1"/>
                </a:solidFill>
                <a:latin typeface="Arial"/>
                <a:ea typeface="Arial"/>
                <a:cs typeface="Arial"/>
                <a:sym typeface="Arial"/>
              </a:rPr>
              <a:t>p &lt; k &lt; </a:t>
            </a: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[1], the request is also forwarded to </a:t>
            </a:r>
            <a:r>
              <a:rPr lang="en-US" sz="1982" i="1" dirty="0" err="1">
                <a:solidFill>
                  <a:schemeClr val="dk1"/>
                </a:solidFill>
                <a:latin typeface="Arial"/>
                <a:ea typeface="Arial"/>
                <a:cs typeface="Arial"/>
                <a:sym typeface="Arial"/>
              </a:rPr>
              <a:t>FT</a:t>
            </a:r>
            <a:r>
              <a:rPr lang="en-US" sz="2081" i="1" baseline="-25000" dirty="0" err="1">
                <a:solidFill>
                  <a:schemeClr val="dk1"/>
                </a:solidFill>
                <a:latin typeface="Arial"/>
                <a:ea typeface="Arial"/>
                <a:cs typeface="Arial"/>
                <a:sym typeface="Arial"/>
              </a:rPr>
              <a:t>p</a:t>
            </a:r>
            <a:r>
              <a:rPr lang="en-US" sz="2081" i="1" baseline="-25000" dirty="0">
                <a:solidFill>
                  <a:schemeClr val="dk1"/>
                </a:solidFill>
                <a:latin typeface="Arial"/>
                <a:ea typeface="Arial"/>
                <a:cs typeface="Arial"/>
                <a:sym typeface="Arial"/>
              </a:rPr>
              <a:t> </a:t>
            </a:r>
            <a:r>
              <a:rPr lang="en-US" sz="1982" dirty="0">
                <a:solidFill>
                  <a:schemeClr val="dk1"/>
                </a:solidFill>
                <a:latin typeface="Arial"/>
                <a:ea typeface="Arial"/>
                <a:cs typeface="Arial"/>
                <a:sym typeface="Arial"/>
              </a:rPr>
              <a:t>[1]</a:t>
            </a:r>
            <a:endParaRPr sz="1982"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2597415"/>
      </p:ext>
    </p:extLst>
  </p:cSld>
  <p:clrMapOvr>
    <a:masterClrMapping/>
  </p:clrMapOvr>
  <p:transition>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Rectangle 7">
            <a:extLst>
              <a:ext uri="{FF2B5EF4-FFF2-40B4-BE49-F238E27FC236}">
                <a16:creationId xmlns:a16="http://schemas.microsoft.com/office/drawing/2014/main" id="{FDFDD1A2-E874-4AE2-96D1-82AFC6A6BE49}"/>
              </a:ext>
            </a:extLst>
          </p:cNvPr>
          <p:cNvSpPr>
            <a:spLocks noGrp="1" noChangeArrowheads="1"/>
          </p:cNvSpPr>
          <p:nvPr>
            <p:ph type="title"/>
          </p:nvPr>
        </p:nvSpPr>
        <p:spPr>
          <a:xfrm>
            <a:off x="304800" y="231775"/>
            <a:ext cx="7772400" cy="1143000"/>
          </a:xfrm>
        </p:spPr>
        <p:txBody>
          <a:bodyPr/>
          <a:lstStyle/>
          <a:p>
            <a:pPr algn="l"/>
            <a:r>
              <a:rPr lang="en-US" altLang="en-US" sz="3500" dirty="0">
                <a:latin typeface="Calibri Light" panose="020F0302020204030204" pitchFamily="34" charset="0"/>
                <a:cs typeface="Calibri Light" panose="020F0302020204030204" pitchFamily="34" charset="0"/>
              </a:rPr>
              <a:t>Chord</a:t>
            </a:r>
            <a:r>
              <a:rPr lang="tr-TR" altLang="en-US" sz="3500" dirty="0">
                <a:latin typeface="Calibri Light" panose="020F0302020204030204" pitchFamily="34" charset="0"/>
                <a:cs typeface="Calibri Light" panose="020F0302020204030204" pitchFamily="34" charset="0"/>
              </a:rPr>
              <a:t> Key Location – Example query</a:t>
            </a:r>
            <a:endParaRPr lang="en-US" altLang="en-US" sz="3500" dirty="0">
              <a:latin typeface="Calibri Light" panose="020F0302020204030204" pitchFamily="34" charset="0"/>
              <a:cs typeface="Calibri Light" panose="020F0302020204030204" pitchFamily="34" charset="0"/>
            </a:endParaRPr>
          </a:p>
        </p:txBody>
      </p:sp>
      <p:sp>
        <p:nvSpPr>
          <p:cNvPr id="37896" name="Rectangle 8">
            <a:extLst>
              <a:ext uri="{FF2B5EF4-FFF2-40B4-BE49-F238E27FC236}">
                <a16:creationId xmlns:a16="http://schemas.microsoft.com/office/drawing/2014/main" id="{337DABAF-178A-454C-A186-EF83D46C9B40}"/>
              </a:ext>
            </a:extLst>
          </p:cNvPr>
          <p:cNvSpPr>
            <a:spLocks noGrp="1" noChangeArrowheads="1"/>
          </p:cNvSpPr>
          <p:nvPr>
            <p:ph type="body" sz="half" idx="1"/>
          </p:nvPr>
        </p:nvSpPr>
        <p:spPr>
          <a:xfrm>
            <a:off x="691356" y="1270407"/>
            <a:ext cx="7761288" cy="1468438"/>
          </a:xfrm>
        </p:spPr>
        <p:txBody>
          <a:bodyPr/>
          <a:lstStyle/>
          <a:p>
            <a:r>
              <a:rPr lang="en-US" altLang="en-US" sz="2400" dirty="0"/>
              <a:t>The path a query for key 54 starting at node 8</a:t>
            </a:r>
            <a:r>
              <a:rPr lang="tr-TR" altLang="en-US" sz="2400" dirty="0"/>
              <a:t>:</a:t>
            </a:r>
            <a:endParaRPr lang="en-US" altLang="en-US" sz="2400" dirty="0"/>
          </a:p>
          <a:p>
            <a:r>
              <a:rPr lang="en-US" altLang="en-US" sz="2400" dirty="0"/>
              <a:t>m=6, N=64</a:t>
            </a:r>
          </a:p>
          <a:p>
            <a:endParaRPr lang="en-US" altLang="en-US" sz="2400" dirty="0"/>
          </a:p>
        </p:txBody>
      </p:sp>
      <p:graphicFrame>
        <p:nvGraphicFramePr>
          <p:cNvPr id="37897" name="Object 9">
            <a:extLst>
              <a:ext uri="{FF2B5EF4-FFF2-40B4-BE49-F238E27FC236}">
                <a16:creationId xmlns:a16="http://schemas.microsoft.com/office/drawing/2014/main" id="{B5D8417B-60F4-4A71-A91D-4B003F1FE5BF}"/>
              </a:ext>
            </a:extLst>
          </p:cNvPr>
          <p:cNvGraphicFramePr>
            <a:graphicFrameLocks noGrp="1" noChangeAspect="1"/>
          </p:cNvGraphicFramePr>
          <p:nvPr>
            <p:ph sz="half" idx="2"/>
          </p:nvPr>
        </p:nvGraphicFramePr>
        <p:xfrm>
          <a:off x="1908175" y="2276475"/>
          <a:ext cx="5616575" cy="3778250"/>
        </p:xfrm>
        <a:graphic>
          <a:graphicData uri="http://schemas.openxmlformats.org/presentationml/2006/ole">
            <mc:AlternateContent xmlns:mc="http://schemas.openxmlformats.org/markup-compatibility/2006">
              <mc:Choice xmlns:v="urn:schemas-microsoft-com:vml" Requires="v">
                <p:oleObj name="Bitmap Image" r:id="rId3" imgW="3696216" imgH="2486372" progId="Paint.Picture">
                  <p:embed/>
                </p:oleObj>
              </mc:Choice>
              <mc:Fallback>
                <p:oleObj name="Bitmap Image" r:id="rId3" imgW="3696216" imgH="2486372" progId="Paint.Picture">
                  <p:embed/>
                  <p:pic>
                    <p:nvPicPr>
                      <p:cNvPr id="37897" name="Object 9">
                        <a:extLst>
                          <a:ext uri="{FF2B5EF4-FFF2-40B4-BE49-F238E27FC236}">
                            <a16:creationId xmlns:a16="http://schemas.microsoft.com/office/drawing/2014/main" id="{B5D8417B-60F4-4A71-A91D-4B003F1FE5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276475"/>
                        <a:ext cx="5616575"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a:extLst>
              <a:ext uri="{FF2B5EF4-FFF2-40B4-BE49-F238E27FC236}">
                <a16:creationId xmlns:a16="http://schemas.microsoft.com/office/drawing/2014/main" id="{807C8C4F-D261-4901-B8E2-8E406A60BC94}"/>
              </a:ext>
            </a:extLst>
          </p:cNvPr>
          <p:cNvSpPr txBox="1"/>
          <p:nvPr/>
        </p:nvSpPr>
        <p:spPr>
          <a:xfrm>
            <a:off x="125501" y="5010536"/>
            <a:ext cx="1493749" cy="1754326"/>
          </a:xfrm>
          <a:prstGeom prst="rect">
            <a:avLst/>
          </a:prstGeom>
          <a:noFill/>
          <a:ln>
            <a:solidFill>
              <a:schemeClr val="tx1"/>
            </a:solidFill>
          </a:ln>
        </p:spPr>
        <p:txBody>
          <a:bodyPr wrap="square" rtlCol="0">
            <a:spAutoFit/>
          </a:bodyPr>
          <a:lstStyle/>
          <a:p>
            <a:r>
              <a:rPr lang="pt-BR" dirty="0">
                <a:solidFill>
                  <a:srgbClr val="FF0000"/>
                </a:solidFill>
              </a:rPr>
              <a:t>N42+1: N48</a:t>
            </a:r>
          </a:p>
          <a:p>
            <a:r>
              <a:rPr lang="pt-BR" dirty="0">
                <a:solidFill>
                  <a:srgbClr val="FF0000"/>
                </a:solidFill>
              </a:rPr>
              <a:t>N42+2: N48</a:t>
            </a:r>
          </a:p>
          <a:p>
            <a:r>
              <a:rPr lang="pt-BR" dirty="0">
                <a:solidFill>
                  <a:srgbClr val="FF0000"/>
                </a:solidFill>
              </a:rPr>
              <a:t>N42+4: N48</a:t>
            </a:r>
          </a:p>
          <a:p>
            <a:r>
              <a:rPr lang="pt-BR" dirty="0">
                <a:solidFill>
                  <a:srgbClr val="FF0000"/>
                </a:solidFill>
              </a:rPr>
              <a:t>N42+8: N51</a:t>
            </a:r>
          </a:p>
          <a:p>
            <a:r>
              <a:rPr lang="pt-BR" dirty="0">
                <a:solidFill>
                  <a:srgbClr val="FF0000"/>
                </a:solidFill>
              </a:rPr>
              <a:t>N42+16: N1</a:t>
            </a:r>
          </a:p>
          <a:p>
            <a:r>
              <a:rPr lang="pt-BR" dirty="0">
                <a:solidFill>
                  <a:srgbClr val="FF0000"/>
                </a:solidFill>
              </a:rPr>
              <a:t>N42+32: N14</a:t>
            </a:r>
          </a:p>
        </p:txBody>
      </p:sp>
      <p:cxnSp>
        <p:nvCxnSpPr>
          <p:cNvPr id="3" name="Straight Arrow Connector 2">
            <a:extLst>
              <a:ext uri="{FF2B5EF4-FFF2-40B4-BE49-F238E27FC236}">
                <a16:creationId xmlns:a16="http://schemas.microsoft.com/office/drawing/2014/main" id="{0F2F9926-1E95-462B-85FF-DC573D5E69C5}"/>
              </a:ext>
            </a:extLst>
          </p:cNvPr>
          <p:cNvCxnSpPr/>
          <p:nvPr/>
        </p:nvCxnSpPr>
        <p:spPr bwMode="auto">
          <a:xfrm flipV="1">
            <a:off x="1733797" y="5320145"/>
            <a:ext cx="676894" cy="51063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a:extLst>
              <a:ext uri="{FF2B5EF4-FFF2-40B4-BE49-F238E27FC236}">
                <a16:creationId xmlns:a16="http://schemas.microsoft.com/office/drawing/2014/main" id="{42336EAA-E684-4151-80F5-2F74DABC4E3C}"/>
              </a:ext>
            </a:extLst>
          </p:cNvPr>
          <p:cNvSpPr txBox="1"/>
          <p:nvPr/>
        </p:nvSpPr>
        <p:spPr>
          <a:xfrm>
            <a:off x="125500" y="2577148"/>
            <a:ext cx="1493749" cy="1200329"/>
          </a:xfrm>
          <a:prstGeom prst="rect">
            <a:avLst/>
          </a:prstGeom>
          <a:noFill/>
          <a:ln>
            <a:solidFill>
              <a:schemeClr val="tx1"/>
            </a:solidFill>
          </a:ln>
        </p:spPr>
        <p:txBody>
          <a:bodyPr wrap="square" rtlCol="0">
            <a:spAutoFit/>
          </a:bodyPr>
          <a:lstStyle/>
          <a:p>
            <a:r>
              <a:rPr lang="pt-BR" dirty="0">
                <a:solidFill>
                  <a:srgbClr val="FF0000"/>
                </a:solidFill>
              </a:rPr>
              <a:t>N51+1: N56</a:t>
            </a:r>
          </a:p>
          <a:p>
            <a:r>
              <a:rPr lang="pt-BR" dirty="0">
                <a:solidFill>
                  <a:srgbClr val="FF0000"/>
                </a:solidFill>
              </a:rPr>
              <a:t>N51+2: N56</a:t>
            </a:r>
          </a:p>
          <a:p>
            <a:r>
              <a:rPr lang="pt-BR" dirty="0">
                <a:solidFill>
                  <a:srgbClr val="FF0000"/>
                </a:solidFill>
              </a:rPr>
              <a:t>N51+4: N56</a:t>
            </a:r>
          </a:p>
          <a:p>
            <a:r>
              <a:rPr lang="pt-BR" dirty="0">
                <a:solidFill>
                  <a:srgbClr val="FF0000"/>
                </a:solidFill>
              </a:rPr>
              <a:t>...</a:t>
            </a:r>
          </a:p>
        </p:txBody>
      </p:sp>
      <p:cxnSp>
        <p:nvCxnSpPr>
          <p:cNvPr id="6" name="Straight Arrow Connector 5">
            <a:extLst>
              <a:ext uri="{FF2B5EF4-FFF2-40B4-BE49-F238E27FC236}">
                <a16:creationId xmlns:a16="http://schemas.microsoft.com/office/drawing/2014/main" id="{62FD1B69-91D2-4B7C-8E68-9F4490C37F45}"/>
              </a:ext>
            </a:extLst>
          </p:cNvPr>
          <p:cNvCxnSpPr/>
          <p:nvPr/>
        </p:nvCxnSpPr>
        <p:spPr bwMode="auto">
          <a:xfrm>
            <a:off x="1619250" y="3429000"/>
            <a:ext cx="613311" cy="36762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820263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CBE8E76-7EB4-42B5-B0E8-3789B2D48622}"/>
              </a:ext>
            </a:extLst>
          </p:cNvPr>
          <p:cNvSpPr>
            <a:spLocks noChangeArrowheads="1"/>
          </p:cNvSpPr>
          <p:nvPr/>
        </p:nvSpPr>
        <p:spPr bwMode="auto">
          <a:xfrm>
            <a:off x="533400" y="3429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Lookups are Faster</a:t>
            </a:r>
          </a:p>
        </p:txBody>
      </p:sp>
      <p:sp>
        <p:nvSpPr>
          <p:cNvPr id="32771" name="Text Box 3">
            <a:extLst>
              <a:ext uri="{FF2B5EF4-FFF2-40B4-BE49-F238E27FC236}">
                <a16:creationId xmlns:a16="http://schemas.microsoft.com/office/drawing/2014/main" id="{FCD8B728-B668-4EC6-9E03-27C15EFA7FF1}"/>
              </a:ext>
            </a:extLst>
          </p:cNvPr>
          <p:cNvSpPr txBox="1">
            <a:spLocks noChangeArrowheads="1"/>
          </p:cNvSpPr>
          <p:nvPr/>
        </p:nvSpPr>
        <p:spPr bwMode="auto">
          <a:xfrm>
            <a:off x="533400" y="1755775"/>
            <a:ext cx="8077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Lookups take O(Log N) hops</a:t>
            </a:r>
          </a:p>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lang="en-US" altLang="en-US" sz="2400" noProof="0" dirty="0">
                <a:solidFill>
                  <a:srgbClr val="000000"/>
                </a:solidFill>
                <a:latin typeface="Comic Sans MS" panose="030F0702030302020204" pitchFamily="66" charset="0"/>
              </a:rPr>
              <a:t>m=7, N=128</a:t>
            </a:r>
            <a:endPar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p:txBody>
      </p:sp>
      <p:sp>
        <p:nvSpPr>
          <p:cNvPr id="32773" name="Oval 5">
            <a:extLst>
              <a:ext uri="{FF2B5EF4-FFF2-40B4-BE49-F238E27FC236}">
                <a16:creationId xmlns:a16="http://schemas.microsoft.com/office/drawing/2014/main" id="{D2719B45-EBA5-457D-BCEB-1A9D0B183C91}"/>
              </a:ext>
            </a:extLst>
          </p:cNvPr>
          <p:cNvSpPr>
            <a:spLocks noChangeArrowheads="1"/>
          </p:cNvSpPr>
          <p:nvPr/>
        </p:nvSpPr>
        <p:spPr bwMode="auto">
          <a:xfrm>
            <a:off x="2670175" y="2719388"/>
            <a:ext cx="3427413" cy="3427412"/>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74" name="Text Box 6">
            <a:extLst>
              <a:ext uri="{FF2B5EF4-FFF2-40B4-BE49-F238E27FC236}">
                <a16:creationId xmlns:a16="http://schemas.microsoft.com/office/drawing/2014/main" id="{3A248FE4-083E-447D-A31F-550E3F85C728}"/>
              </a:ext>
            </a:extLst>
          </p:cNvPr>
          <p:cNvSpPr txBox="1">
            <a:spLocks noChangeArrowheads="1"/>
          </p:cNvSpPr>
          <p:nvPr/>
        </p:nvSpPr>
        <p:spPr bwMode="auto">
          <a:xfrm>
            <a:off x="6173788" y="4241800"/>
            <a:ext cx="660400"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N32</a:t>
            </a:r>
          </a:p>
        </p:txBody>
      </p:sp>
      <p:sp>
        <p:nvSpPr>
          <p:cNvPr id="32776" name="Text Box 8">
            <a:extLst>
              <a:ext uri="{FF2B5EF4-FFF2-40B4-BE49-F238E27FC236}">
                <a16:creationId xmlns:a16="http://schemas.microsoft.com/office/drawing/2014/main" id="{9B5A5B00-BDBB-412F-98A0-5A01831C1543}"/>
              </a:ext>
            </a:extLst>
          </p:cNvPr>
          <p:cNvSpPr txBox="1">
            <a:spLocks noChangeArrowheads="1"/>
          </p:cNvSpPr>
          <p:nvPr/>
        </p:nvSpPr>
        <p:spPr bwMode="auto">
          <a:xfrm>
            <a:off x="4497388" y="2260600"/>
            <a:ext cx="519112"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a:t>
            </a:r>
          </a:p>
        </p:txBody>
      </p:sp>
      <p:sp>
        <p:nvSpPr>
          <p:cNvPr id="32777" name="Text Box 9">
            <a:extLst>
              <a:ext uri="{FF2B5EF4-FFF2-40B4-BE49-F238E27FC236}">
                <a16:creationId xmlns:a16="http://schemas.microsoft.com/office/drawing/2014/main" id="{140D6AA0-D450-4FA0-BE85-32B483B925BE}"/>
              </a:ext>
            </a:extLst>
          </p:cNvPr>
          <p:cNvSpPr txBox="1">
            <a:spLocks noChangeArrowheads="1"/>
          </p:cNvSpPr>
          <p:nvPr/>
        </p:nvSpPr>
        <p:spPr bwMode="auto">
          <a:xfrm>
            <a:off x="6021388" y="3327400"/>
            <a:ext cx="65594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3333CC"/>
                </a:solidFill>
                <a:effectLst/>
                <a:uLnTx/>
                <a:uFillTx/>
                <a:latin typeface="Helvetica" panose="020B0604020202020204" pitchFamily="34" charset="0"/>
                <a:ea typeface="+mn-ea"/>
                <a:cs typeface="+mn-cs"/>
              </a:rPr>
              <a:t>N20</a:t>
            </a:r>
          </a:p>
        </p:txBody>
      </p:sp>
      <p:sp>
        <p:nvSpPr>
          <p:cNvPr id="32778" name="Text Box 10">
            <a:extLst>
              <a:ext uri="{FF2B5EF4-FFF2-40B4-BE49-F238E27FC236}">
                <a16:creationId xmlns:a16="http://schemas.microsoft.com/office/drawing/2014/main" id="{409C7A38-D48D-4B9F-8339-DEB3D0651C34}"/>
              </a:ext>
            </a:extLst>
          </p:cNvPr>
          <p:cNvSpPr txBox="1">
            <a:spLocks noChangeArrowheads="1"/>
          </p:cNvSpPr>
          <p:nvPr/>
        </p:nvSpPr>
        <p:spPr bwMode="auto">
          <a:xfrm>
            <a:off x="2211388" y="2946400"/>
            <a:ext cx="801687"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N110</a:t>
            </a:r>
          </a:p>
        </p:txBody>
      </p:sp>
      <p:sp>
        <p:nvSpPr>
          <p:cNvPr id="32779" name="Text Box 11">
            <a:extLst>
              <a:ext uri="{FF2B5EF4-FFF2-40B4-BE49-F238E27FC236}">
                <a16:creationId xmlns:a16="http://schemas.microsoft.com/office/drawing/2014/main" id="{0DA3A1B2-C6E4-4F17-9029-B26A4FD22F49}"/>
              </a:ext>
            </a:extLst>
          </p:cNvPr>
          <p:cNvSpPr txBox="1">
            <a:spLocks noChangeArrowheads="1"/>
          </p:cNvSpPr>
          <p:nvPr/>
        </p:nvSpPr>
        <p:spPr bwMode="auto">
          <a:xfrm>
            <a:off x="1982788" y="3784600"/>
            <a:ext cx="660400"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N99</a:t>
            </a:r>
          </a:p>
        </p:txBody>
      </p:sp>
      <p:sp>
        <p:nvSpPr>
          <p:cNvPr id="32780" name="Text Box 12">
            <a:extLst>
              <a:ext uri="{FF2B5EF4-FFF2-40B4-BE49-F238E27FC236}">
                <a16:creationId xmlns:a16="http://schemas.microsoft.com/office/drawing/2014/main" id="{B677A3B9-EBD5-4FA6-9857-DEA0A25CDB50}"/>
              </a:ext>
            </a:extLst>
          </p:cNvPr>
          <p:cNvSpPr txBox="1">
            <a:spLocks noChangeArrowheads="1"/>
          </p:cNvSpPr>
          <p:nvPr/>
        </p:nvSpPr>
        <p:spPr bwMode="auto">
          <a:xfrm>
            <a:off x="2287588" y="5461000"/>
            <a:ext cx="660400"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N80</a:t>
            </a:r>
          </a:p>
        </p:txBody>
      </p:sp>
      <p:sp>
        <p:nvSpPr>
          <p:cNvPr id="32781" name="Text Box 13">
            <a:extLst>
              <a:ext uri="{FF2B5EF4-FFF2-40B4-BE49-F238E27FC236}">
                <a16:creationId xmlns:a16="http://schemas.microsoft.com/office/drawing/2014/main" id="{7923CC35-80DD-46A8-8960-B56EAF7E6840}"/>
              </a:ext>
            </a:extLst>
          </p:cNvPr>
          <p:cNvSpPr txBox="1">
            <a:spLocks noChangeArrowheads="1"/>
          </p:cNvSpPr>
          <p:nvPr/>
        </p:nvSpPr>
        <p:spPr bwMode="auto">
          <a:xfrm>
            <a:off x="4573588" y="6223000"/>
            <a:ext cx="660400"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N60</a:t>
            </a:r>
          </a:p>
        </p:txBody>
      </p:sp>
      <p:sp>
        <p:nvSpPr>
          <p:cNvPr id="32782" name="Freeform 14">
            <a:extLst>
              <a:ext uri="{FF2B5EF4-FFF2-40B4-BE49-F238E27FC236}">
                <a16:creationId xmlns:a16="http://schemas.microsoft.com/office/drawing/2014/main" id="{682615E6-C507-4AE2-BA22-DEDD5C0FCFBF}"/>
              </a:ext>
            </a:extLst>
          </p:cNvPr>
          <p:cNvSpPr>
            <a:spLocks/>
          </p:cNvSpPr>
          <p:nvPr/>
        </p:nvSpPr>
        <p:spPr bwMode="auto">
          <a:xfrm>
            <a:off x="2744788" y="4089400"/>
            <a:ext cx="3276600" cy="381000"/>
          </a:xfrm>
          <a:custGeom>
            <a:avLst/>
            <a:gdLst>
              <a:gd name="T0" fmla="*/ 2064 w 2064"/>
              <a:gd name="T1" fmla="*/ 240 h 240"/>
              <a:gd name="T2" fmla="*/ 960 w 2064"/>
              <a:gd name="T3" fmla="*/ 192 h 240"/>
              <a:gd name="T4" fmla="*/ 0 w 2064"/>
              <a:gd name="T5" fmla="*/ 0 h 240"/>
            </a:gdLst>
            <a:ahLst/>
            <a:cxnLst>
              <a:cxn ang="0">
                <a:pos x="T0" y="T1"/>
              </a:cxn>
              <a:cxn ang="0">
                <a:pos x="T2" y="T3"/>
              </a:cxn>
              <a:cxn ang="0">
                <a:pos x="T4" y="T5"/>
              </a:cxn>
            </a:cxnLst>
            <a:rect l="0" t="0" r="r" b="b"/>
            <a:pathLst>
              <a:path w="2064" h="240">
                <a:moveTo>
                  <a:pt x="2064" y="240"/>
                </a:moveTo>
                <a:cubicBezTo>
                  <a:pt x="1684" y="236"/>
                  <a:pt x="1304" y="232"/>
                  <a:pt x="960" y="192"/>
                </a:cubicBezTo>
                <a:cubicBezTo>
                  <a:pt x="616" y="152"/>
                  <a:pt x="308" y="76"/>
                  <a:pt x="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83" name="Freeform 15">
            <a:extLst>
              <a:ext uri="{FF2B5EF4-FFF2-40B4-BE49-F238E27FC236}">
                <a16:creationId xmlns:a16="http://schemas.microsoft.com/office/drawing/2014/main" id="{703F942C-1BC9-44CB-B831-25976052567F}"/>
              </a:ext>
            </a:extLst>
          </p:cNvPr>
          <p:cNvSpPr>
            <a:spLocks/>
          </p:cNvSpPr>
          <p:nvPr/>
        </p:nvSpPr>
        <p:spPr bwMode="auto">
          <a:xfrm>
            <a:off x="2744788" y="2870200"/>
            <a:ext cx="1905000" cy="1219200"/>
          </a:xfrm>
          <a:custGeom>
            <a:avLst/>
            <a:gdLst>
              <a:gd name="T0" fmla="*/ 0 w 1200"/>
              <a:gd name="T1" fmla="*/ 768 h 768"/>
              <a:gd name="T2" fmla="*/ 864 w 1200"/>
              <a:gd name="T3" fmla="*/ 432 h 768"/>
              <a:gd name="T4" fmla="*/ 1200 w 1200"/>
              <a:gd name="T5" fmla="*/ 0 h 768"/>
            </a:gdLst>
            <a:ahLst/>
            <a:cxnLst>
              <a:cxn ang="0">
                <a:pos x="T0" y="T1"/>
              </a:cxn>
              <a:cxn ang="0">
                <a:pos x="T2" y="T3"/>
              </a:cxn>
              <a:cxn ang="0">
                <a:pos x="T4" y="T5"/>
              </a:cxn>
            </a:cxnLst>
            <a:rect l="0" t="0" r="r" b="b"/>
            <a:pathLst>
              <a:path w="1200" h="768">
                <a:moveTo>
                  <a:pt x="0" y="768"/>
                </a:moveTo>
                <a:cubicBezTo>
                  <a:pt x="332" y="664"/>
                  <a:pt x="664" y="560"/>
                  <a:pt x="864" y="432"/>
                </a:cubicBezTo>
                <a:cubicBezTo>
                  <a:pt x="1064" y="304"/>
                  <a:pt x="1132" y="152"/>
                  <a:pt x="120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84" name="Freeform 16">
            <a:extLst>
              <a:ext uri="{FF2B5EF4-FFF2-40B4-BE49-F238E27FC236}">
                <a16:creationId xmlns:a16="http://schemas.microsoft.com/office/drawing/2014/main" id="{1E2EB04E-654B-4709-9323-2DD26012AD6E}"/>
              </a:ext>
            </a:extLst>
          </p:cNvPr>
          <p:cNvSpPr>
            <a:spLocks/>
          </p:cNvSpPr>
          <p:nvPr/>
        </p:nvSpPr>
        <p:spPr bwMode="auto">
          <a:xfrm>
            <a:off x="4649787" y="2870199"/>
            <a:ext cx="1200855" cy="852311"/>
          </a:xfrm>
          <a:custGeom>
            <a:avLst/>
            <a:gdLst>
              <a:gd name="T0" fmla="*/ 0 w 528"/>
              <a:gd name="T1" fmla="*/ 0 h 224"/>
              <a:gd name="T2" fmla="*/ 192 w 528"/>
              <a:gd name="T3" fmla="*/ 192 h 224"/>
              <a:gd name="T4" fmla="*/ 528 w 528"/>
              <a:gd name="T5" fmla="*/ 192 h 224"/>
            </a:gdLst>
            <a:ahLst/>
            <a:cxnLst>
              <a:cxn ang="0">
                <a:pos x="T0" y="T1"/>
              </a:cxn>
              <a:cxn ang="0">
                <a:pos x="T2" y="T3"/>
              </a:cxn>
              <a:cxn ang="0">
                <a:pos x="T4" y="T5"/>
              </a:cxn>
            </a:cxnLst>
            <a:rect l="0" t="0" r="r" b="b"/>
            <a:pathLst>
              <a:path w="528" h="224">
                <a:moveTo>
                  <a:pt x="0" y="0"/>
                </a:moveTo>
                <a:cubicBezTo>
                  <a:pt x="52" y="80"/>
                  <a:pt x="104" y="160"/>
                  <a:pt x="192" y="192"/>
                </a:cubicBezTo>
                <a:cubicBezTo>
                  <a:pt x="280" y="224"/>
                  <a:pt x="404" y="208"/>
                  <a:pt x="528" y="19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86" name="Text Box 18">
            <a:extLst>
              <a:ext uri="{FF2B5EF4-FFF2-40B4-BE49-F238E27FC236}">
                <a16:creationId xmlns:a16="http://schemas.microsoft.com/office/drawing/2014/main" id="{2175112B-07E1-4FC3-A1DC-89E88707DB9C}"/>
              </a:ext>
            </a:extLst>
          </p:cNvPr>
          <p:cNvSpPr txBox="1">
            <a:spLocks noChangeArrowheads="1"/>
          </p:cNvSpPr>
          <p:nvPr/>
        </p:nvSpPr>
        <p:spPr bwMode="auto">
          <a:xfrm>
            <a:off x="6843713" y="4248150"/>
            <a:ext cx="1614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Lookup(K19)</a:t>
            </a:r>
          </a:p>
        </p:txBody>
      </p:sp>
      <p:sp>
        <p:nvSpPr>
          <p:cNvPr id="32787" name="Text Box 19">
            <a:extLst>
              <a:ext uri="{FF2B5EF4-FFF2-40B4-BE49-F238E27FC236}">
                <a16:creationId xmlns:a16="http://schemas.microsoft.com/office/drawing/2014/main" id="{B00D06EE-3973-4341-A4BC-7DF8F39CA63D}"/>
              </a:ext>
            </a:extLst>
          </p:cNvPr>
          <p:cNvSpPr txBox="1">
            <a:spLocks noChangeArrowheads="1"/>
          </p:cNvSpPr>
          <p:nvPr/>
        </p:nvSpPr>
        <p:spPr bwMode="auto">
          <a:xfrm>
            <a:off x="6705600" y="32766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K19</a:t>
            </a:r>
          </a:p>
        </p:txBody>
      </p:sp>
      <p:sp>
        <p:nvSpPr>
          <p:cNvPr id="2" name="TextBox 1">
            <a:extLst>
              <a:ext uri="{FF2B5EF4-FFF2-40B4-BE49-F238E27FC236}">
                <a16:creationId xmlns:a16="http://schemas.microsoft.com/office/drawing/2014/main" id="{02115618-2FA0-4E40-BF63-F2485CB1029B}"/>
              </a:ext>
            </a:extLst>
          </p:cNvPr>
          <p:cNvSpPr txBox="1"/>
          <p:nvPr/>
        </p:nvSpPr>
        <p:spPr>
          <a:xfrm>
            <a:off x="6910388" y="4645025"/>
            <a:ext cx="1782674" cy="2031325"/>
          </a:xfrm>
          <a:prstGeom prst="rect">
            <a:avLst/>
          </a:prstGeom>
          <a:noFill/>
          <a:ln>
            <a:solidFill>
              <a:schemeClr val="tx1"/>
            </a:solidFill>
          </a:ln>
        </p:spPr>
        <p:txBody>
          <a:bodyPr wrap="square" rtlCol="0">
            <a:spAutoFit/>
          </a:bodyPr>
          <a:lstStyle/>
          <a:p>
            <a:r>
              <a:rPr lang="en-US" dirty="0">
                <a:solidFill>
                  <a:srgbClr val="FF0000"/>
                </a:solidFill>
              </a:rPr>
              <a:t>N32</a:t>
            </a:r>
            <a:r>
              <a:rPr lang="en-US" altLang="zh-CN" dirty="0">
                <a:solidFill>
                  <a:srgbClr val="FF0000"/>
                </a:solidFill>
              </a:rPr>
              <a:t>+1	N60</a:t>
            </a:r>
          </a:p>
          <a:p>
            <a:r>
              <a:rPr lang="en-US" dirty="0">
                <a:solidFill>
                  <a:srgbClr val="FF0000"/>
                </a:solidFill>
              </a:rPr>
              <a:t>N32</a:t>
            </a:r>
            <a:r>
              <a:rPr lang="en-US" altLang="zh-CN" dirty="0">
                <a:solidFill>
                  <a:srgbClr val="FF0000"/>
                </a:solidFill>
              </a:rPr>
              <a:t>+2	N60</a:t>
            </a:r>
          </a:p>
          <a:p>
            <a:r>
              <a:rPr lang="en-US" dirty="0">
                <a:solidFill>
                  <a:srgbClr val="FF0000"/>
                </a:solidFill>
              </a:rPr>
              <a:t>N32</a:t>
            </a:r>
            <a:r>
              <a:rPr lang="en-US" altLang="zh-CN" dirty="0">
                <a:solidFill>
                  <a:srgbClr val="FF0000"/>
                </a:solidFill>
              </a:rPr>
              <a:t>+4	N60</a:t>
            </a:r>
          </a:p>
          <a:p>
            <a:r>
              <a:rPr lang="en-US" dirty="0">
                <a:solidFill>
                  <a:srgbClr val="FF0000"/>
                </a:solidFill>
              </a:rPr>
              <a:t>N32</a:t>
            </a:r>
            <a:r>
              <a:rPr lang="en-US" altLang="zh-CN" dirty="0">
                <a:solidFill>
                  <a:srgbClr val="FF0000"/>
                </a:solidFill>
              </a:rPr>
              <a:t>+8	N60</a:t>
            </a:r>
          </a:p>
          <a:p>
            <a:r>
              <a:rPr lang="en-US" dirty="0">
                <a:solidFill>
                  <a:srgbClr val="FF0000"/>
                </a:solidFill>
              </a:rPr>
              <a:t>N32+16	N60</a:t>
            </a:r>
          </a:p>
          <a:p>
            <a:r>
              <a:rPr lang="en-US" dirty="0">
                <a:solidFill>
                  <a:srgbClr val="FF0000"/>
                </a:solidFill>
              </a:rPr>
              <a:t>N32+32	N80</a:t>
            </a:r>
          </a:p>
          <a:p>
            <a:r>
              <a:rPr lang="en-US" dirty="0">
                <a:solidFill>
                  <a:srgbClr val="FF0000"/>
                </a:solidFill>
              </a:rPr>
              <a:t>N32+64	N99</a:t>
            </a:r>
          </a:p>
        </p:txBody>
      </p:sp>
      <p:sp>
        <p:nvSpPr>
          <p:cNvPr id="20" name="TextBox 19">
            <a:extLst>
              <a:ext uri="{FF2B5EF4-FFF2-40B4-BE49-F238E27FC236}">
                <a16:creationId xmlns:a16="http://schemas.microsoft.com/office/drawing/2014/main" id="{245FC631-6FAC-45BD-ABBB-6EB16552F03E}"/>
              </a:ext>
            </a:extLst>
          </p:cNvPr>
          <p:cNvSpPr txBox="1"/>
          <p:nvPr/>
        </p:nvSpPr>
        <p:spPr>
          <a:xfrm>
            <a:off x="350926" y="3226137"/>
            <a:ext cx="1603599" cy="2031325"/>
          </a:xfrm>
          <a:prstGeom prst="rect">
            <a:avLst/>
          </a:prstGeom>
          <a:noFill/>
          <a:ln>
            <a:solidFill>
              <a:schemeClr val="tx1"/>
            </a:solidFill>
          </a:ln>
        </p:spPr>
        <p:txBody>
          <a:bodyPr wrap="square" rtlCol="0">
            <a:spAutoFit/>
          </a:bodyPr>
          <a:lstStyle/>
          <a:p>
            <a:r>
              <a:rPr lang="en-US" dirty="0">
                <a:solidFill>
                  <a:srgbClr val="FF0000"/>
                </a:solidFill>
              </a:rPr>
              <a:t>N99</a:t>
            </a:r>
            <a:r>
              <a:rPr lang="en-US" altLang="zh-CN" dirty="0">
                <a:solidFill>
                  <a:srgbClr val="FF0000"/>
                </a:solidFill>
              </a:rPr>
              <a:t>+1	N110</a:t>
            </a:r>
          </a:p>
          <a:p>
            <a:r>
              <a:rPr lang="en-US" dirty="0">
                <a:solidFill>
                  <a:srgbClr val="FF0000"/>
                </a:solidFill>
              </a:rPr>
              <a:t>N99</a:t>
            </a:r>
            <a:r>
              <a:rPr lang="en-US" altLang="zh-CN" dirty="0">
                <a:solidFill>
                  <a:srgbClr val="FF0000"/>
                </a:solidFill>
              </a:rPr>
              <a:t>+2	N110</a:t>
            </a:r>
          </a:p>
          <a:p>
            <a:r>
              <a:rPr lang="en-US" dirty="0">
                <a:solidFill>
                  <a:srgbClr val="FF0000"/>
                </a:solidFill>
              </a:rPr>
              <a:t>N99</a:t>
            </a:r>
            <a:r>
              <a:rPr lang="en-US" altLang="zh-CN" dirty="0">
                <a:solidFill>
                  <a:srgbClr val="FF0000"/>
                </a:solidFill>
              </a:rPr>
              <a:t>+4	N110</a:t>
            </a:r>
          </a:p>
          <a:p>
            <a:r>
              <a:rPr lang="en-US" dirty="0">
                <a:solidFill>
                  <a:srgbClr val="FF0000"/>
                </a:solidFill>
              </a:rPr>
              <a:t>N99</a:t>
            </a:r>
            <a:r>
              <a:rPr lang="en-US" altLang="zh-CN" dirty="0">
                <a:solidFill>
                  <a:srgbClr val="FF0000"/>
                </a:solidFill>
              </a:rPr>
              <a:t>+8	N110</a:t>
            </a:r>
          </a:p>
          <a:p>
            <a:r>
              <a:rPr lang="en-US" dirty="0">
                <a:solidFill>
                  <a:srgbClr val="FF0000"/>
                </a:solidFill>
              </a:rPr>
              <a:t>N99+16	N5</a:t>
            </a:r>
          </a:p>
          <a:p>
            <a:r>
              <a:rPr lang="en-US" dirty="0">
                <a:solidFill>
                  <a:srgbClr val="FF0000"/>
                </a:solidFill>
              </a:rPr>
              <a:t>N99+32	N5</a:t>
            </a:r>
          </a:p>
          <a:p>
            <a:r>
              <a:rPr lang="en-US" dirty="0">
                <a:solidFill>
                  <a:srgbClr val="FF0000"/>
                </a:solidFill>
              </a:rPr>
              <a:t>N99+64	N60</a:t>
            </a:r>
          </a:p>
        </p:txBody>
      </p:sp>
      <p:sp>
        <p:nvSpPr>
          <p:cNvPr id="22" name="TextBox 21">
            <a:extLst>
              <a:ext uri="{FF2B5EF4-FFF2-40B4-BE49-F238E27FC236}">
                <a16:creationId xmlns:a16="http://schemas.microsoft.com/office/drawing/2014/main" id="{4C7DB060-A622-4C82-874D-EFF14D2FB04E}"/>
              </a:ext>
            </a:extLst>
          </p:cNvPr>
          <p:cNvSpPr txBox="1"/>
          <p:nvPr/>
        </p:nvSpPr>
        <p:spPr>
          <a:xfrm>
            <a:off x="5244351" y="873799"/>
            <a:ext cx="1782674" cy="2031325"/>
          </a:xfrm>
          <a:prstGeom prst="rect">
            <a:avLst/>
          </a:prstGeom>
          <a:noFill/>
          <a:ln>
            <a:solidFill>
              <a:schemeClr val="tx1"/>
            </a:solidFill>
          </a:ln>
        </p:spPr>
        <p:txBody>
          <a:bodyPr wrap="square" rtlCol="0">
            <a:spAutoFit/>
          </a:bodyPr>
          <a:lstStyle/>
          <a:p>
            <a:r>
              <a:rPr lang="en-US" dirty="0">
                <a:solidFill>
                  <a:srgbClr val="FF0000"/>
                </a:solidFill>
              </a:rPr>
              <a:t>N5</a:t>
            </a:r>
            <a:r>
              <a:rPr lang="en-US" altLang="zh-CN" dirty="0">
                <a:solidFill>
                  <a:srgbClr val="FF0000"/>
                </a:solidFill>
              </a:rPr>
              <a:t>+1	N20</a:t>
            </a:r>
          </a:p>
          <a:p>
            <a:r>
              <a:rPr lang="en-US" dirty="0">
                <a:solidFill>
                  <a:srgbClr val="FF0000"/>
                </a:solidFill>
              </a:rPr>
              <a:t>N5</a:t>
            </a:r>
            <a:r>
              <a:rPr lang="en-US" altLang="zh-CN" dirty="0">
                <a:solidFill>
                  <a:srgbClr val="FF0000"/>
                </a:solidFill>
              </a:rPr>
              <a:t>+2	N20</a:t>
            </a:r>
          </a:p>
          <a:p>
            <a:r>
              <a:rPr lang="en-US" dirty="0">
                <a:solidFill>
                  <a:srgbClr val="FF0000"/>
                </a:solidFill>
              </a:rPr>
              <a:t>N5</a:t>
            </a:r>
            <a:r>
              <a:rPr lang="en-US" altLang="zh-CN" dirty="0">
                <a:solidFill>
                  <a:srgbClr val="FF0000"/>
                </a:solidFill>
              </a:rPr>
              <a:t>+4	N20</a:t>
            </a:r>
          </a:p>
          <a:p>
            <a:r>
              <a:rPr lang="en-US" dirty="0">
                <a:solidFill>
                  <a:srgbClr val="FF0000"/>
                </a:solidFill>
              </a:rPr>
              <a:t>N5</a:t>
            </a:r>
            <a:r>
              <a:rPr lang="en-US" altLang="zh-CN" dirty="0">
                <a:solidFill>
                  <a:srgbClr val="FF0000"/>
                </a:solidFill>
              </a:rPr>
              <a:t>+8	N20</a:t>
            </a:r>
          </a:p>
          <a:p>
            <a:r>
              <a:rPr lang="en-US" dirty="0">
                <a:solidFill>
                  <a:srgbClr val="FF0000"/>
                </a:solidFill>
              </a:rPr>
              <a:t>N5+16	N32</a:t>
            </a:r>
          </a:p>
          <a:p>
            <a:r>
              <a:rPr lang="en-US" dirty="0">
                <a:solidFill>
                  <a:srgbClr val="FF0000"/>
                </a:solidFill>
              </a:rPr>
              <a:t>N5+32	N60</a:t>
            </a:r>
          </a:p>
          <a:p>
            <a:r>
              <a:rPr lang="en-US" dirty="0">
                <a:solidFill>
                  <a:srgbClr val="FF0000"/>
                </a:solidFill>
              </a:rPr>
              <a:t>N5+64	N80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1BA3EB-0A12-47DD-8721-AA865132F486}"/>
              </a:ext>
            </a:extLst>
          </p:cNvPr>
          <p:cNvSpPr txBox="1"/>
          <p:nvPr/>
        </p:nvSpPr>
        <p:spPr>
          <a:xfrm>
            <a:off x="609600" y="451556"/>
            <a:ext cx="7540978" cy="646331"/>
          </a:xfrm>
          <a:prstGeom prst="rect">
            <a:avLst/>
          </a:prstGeom>
          <a:noFill/>
        </p:spPr>
        <p:txBody>
          <a:bodyPr wrap="square" rtlCol="0">
            <a:spAutoFit/>
          </a:bodyPr>
          <a:lstStyle/>
          <a:p>
            <a:r>
              <a:rPr lang="en-US" sz="3600" dirty="0"/>
              <a:t>Exercise</a:t>
            </a:r>
          </a:p>
        </p:txBody>
      </p:sp>
      <p:sp>
        <p:nvSpPr>
          <p:cNvPr id="6" name="TextBox 5">
            <a:extLst>
              <a:ext uri="{FF2B5EF4-FFF2-40B4-BE49-F238E27FC236}">
                <a16:creationId xmlns:a16="http://schemas.microsoft.com/office/drawing/2014/main" id="{EED9724D-5892-43D6-AF4E-B1B3B7944884}"/>
              </a:ext>
            </a:extLst>
          </p:cNvPr>
          <p:cNvSpPr txBox="1"/>
          <p:nvPr/>
        </p:nvSpPr>
        <p:spPr>
          <a:xfrm>
            <a:off x="609600" y="1305342"/>
            <a:ext cx="7665156" cy="1815882"/>
          </a:xfrm>
          <a:prstGeom prst="rect">
            <a:avLst/>
          </a:prstGeom>
          <a:noFill/>
        </p:spPr>
        <p:txBody>
          <a:bodyPr wrap="square">
            <a:spAutoFit/>
          </a:bodyPr>
          <a:lstStyle/>
          <a:p>
            <a:r>
              <a:rPr lang="en-US" sz="2800" b="0" i="0" u="none" strike="noStrike" baseline="0" dirty="0">
                <a:solidFill>
                  <a:srgbClr val="000000"/>
                </a:solidFill>
                <a:latin typeface="Calibri" panose="020F0502020204030204" pitchFamily="34" charset="0"/>
              </a:rPr>
              <a:t>We assume there are 32 possible nodes (m=5, N=32, node 0 to node 31) in the Chord system. Currently, the nodes 1, 4, 9, 11, 14, 18, 20, 21, 28 exist in the network.</a:t>
            </a:r>
          </a:p>
        </p:txBody>
      </p:sp>
      <p:sp>
        <p:nvSpPr>
          <p:cNvPr id="8" name="TextBox 7">
            <a:extLst>
              <a:ext uri="{FF2B5EF4-FFF2-40B4-BE49-F238E27FC236}">
                <a16:creationId xmlns:a16="http://schemas.microsoft.com/office/drawing/2014/main" id="{8B859933-0ED4-433A-872C-29A15F0F3036}"/>
              </a:ext>
            </a:extLst>
          </p:cNvPr>
          <p:cNvSpPr txBox="1"/>
          <p:nvPr/>
        </p:nvSpPr>
        <p:spPr>
          <a:xfrm>
            <a:off x="609600" y="3328679"/>
            <a:ext cx="7337778" cy="1815882"/>
          </a:xfrm>
          <a:prstGeom prst="rect">
            <a:avLst/>
          </a:prstGeom>
          <a:noFill/>
        </p:spPr>
        <p:txBody>
          <a:bodyPr wrap="square">
            <a:spAutoFit/>
          </a:bodyPr>
          <a:lstStyle/>
          <a:p>
            <a:r>
              <a:rPr lang="en-US" sz="2800" b="0" i="0" u="none" strike="noStrike" baseline="0" dirty="0">
                <a:solidFill>
                  <a:srgbClr val="000000"/>
                </a:solidFill>
                <a:latin typeface="Calibri" panose="020F0502020204030204" pitchFamily="34" charset="0"/>
              </a:rPr>
              <a:t>From node 1, we want to search key 26. What are the intermediate nodes the system has to go through to find key 26? (We need to build the finger tables of the current live nodes first.)</a:t>
            </a:r>
          </a:p>
        </p:txBody>
      </p:sp>
      <p:sp>
        <p:nvSpPr>
          <p:cNvPr id="9" name="TextBox 8">
            <a:extLst>
              <a:ext uri="{FF2B5EF4-FFF2-40B4-BE49-F238E27FC236}">
                <a16:creationId xmlns:a16="http://schemas.microsoft.com/office/drawing/2014/main" id="{5C87628B-97A3-43F8-AB98-193C14498C69}"/>
              </a:ext>
            </a:extLst>
          </p:cNvPr>
          <p:cNvSpPr txBox="1"/>
          <p:nvPr/>
        </p:nvSpPr>
        <p:spPr>
          <a:xfrm>
            <a:off x="609600" y="5552658"/>
            <a:ext cx="7988710" cy="923330"/>
          </a:xfrm>
          <a:prstGeom prst="rect">
            <a:avLst/>
          </a:prstGeom>
          <a:noFill/>
        </p:spPr>
        <p:txBody>
          <a:bodyPr wrap="square" rtlCol="0">
            <a:spAutoFit/>
          </a:bodyPr>
          <a:lstStyle/>
          <a:p>
            <a:r>
              <a:rPr lang="en-US" dirty="0"/>
              <a:t>Please go to </a:t>
            </a:r>
          </a:p>
          <a:p>
            <a:pPr algn="ctr"/>
            <a:r>
              <a:rPr lang="en-US" sz="3600" dirty="0">
                <a:solidFill>
                  <a:srgbClr val="0070C0"/>
                </a:solidFill>
              </a:rPr>
              <a:t>PollEv.com/cisgvsu429</a:t>
            </a:r>
            <a:endParaRPr lang="en-US" sz="3600" dirty="0"/>
          </a:p>
        </p:txBody>
      </p:sp>
    </p:spTree>
    <p:extLst>
      <p:ext uri="{BB962C8B-B14F-4D97-AF65-F5344CB8AC3E}">
        <p14:creationId xmlns:p14="http://schemas.microsoft.com/office/powerpoint/2010/main" val="199680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pic>
        <p:nvPicPr>
          <p:cNvPr id="5" name="Picture 4" descr="A diagram of a diagram&#10;&#10;Description automatically generated">
            <a:extLst>
              <a:ext uri="{FF2B5EF4-FFF2-40B4-BE49-F238E27FC236}">
                <a16:creationId xmlns:a16="http://schemas.microsoft.com/office/drawing/2014/main" id="{8B73755A-C5D8-6031-012C-326CAB9098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7718" y="1595491"/>
            <a:ext cx="4747433" cy="4861061"/>
          </a:xfrm>
          <a:prstGeom prst="rect">
            <a:avLst/>
          </a:prstGeom>
        </p:spPr>
      </p:pic>
      <p:sp>
        <p:nvSpPr>
          <p:cNvPr id="604" name="Google Shape;604;p22"/>
          <p:cNvSpPr txBox="1">
            <a:spLocks noGrp="1"/>
          </p:cNvSpPr>
          <p:nvPr>
            <p:ph type="title"/>
          </p:nvPr>
        </p:nvSpPr>
        <p:spPr>
          <a:xfrm>
            <a:off x="4195" y="255697"/>
            <a:ext cx="9131836" cy="637983"/>
          </a:xfrm>
          <a:prstGeom prst="rect">
            <a:avLst/>
          </a:prstGeom>
          <a:noFill/>
          <a:ln>
            <a:noFill/>
          </a:ln>
        </p:spPr>
        <p:txBody>
          <a:bodyPr spcFirstLastPara="1" vert="horz" wrap="square" lIns="0" tIns="123308" rIns="0" bIns="0" numCol="1" anchor="t" anchorCtr="0" compatLnSpc="1">
            <a:prstTxWarp prst="textNoShape">
              <a:avLst/>
            </a:prstTxWarp>
            <a:noAutofit/>
          </a:bodyPr>
          <a:lstStyle/>
          <a:p>
            <a:pPr marL="213925"/>
            <a:r>
              <a:rPr lang="en-US" sz="3600" dirty="0">
                <a:solidFill>
                  <a:schemeClr val="tx1"/>
                </a:solidFill>
                <a:latin typeface="Calibri Light" panose="020F0302020204030204" pitchFamily="34" charset="0"/>
                <a:cs typeface="Calibri Light" panose="020F0302020204030204" pitchFamily="34" charset="0"/>
              </a:rPr>
              <a:t>Chord lookup example</a:t>
            </a:r>
            <a:endParaRPr sz="3600" dirty="0">
              <a:solidFill>
                <a:schemeClr val="tx1"/>
              </a:solidFill>
              <a:latin typeface="Calibri Light" panose="020F0302020204030204" pitchFamily="34" charset="0"/>
              <a:cs typeface="Calibri Light" panose="020F0302020204030204" pitchFamily="34" charset="0"/>
            </a:endParaRPr>
          </a:p>
        </p:txBody>
      </p:sp>
      <p:sp>
        <p:nvSpPr>
          <p:cNvPr id="606" name="Google Shape;606;p22"/>
          <p:cNvSpPr txBox="1"/>
          <p:nvPr/>
        </p:nvSpPr>
        <p:spPr>
          <a:xfrm>
            <a:off x="253574" y="1094720"/>
            <a:ext cx="6206175" cy="752189"/>
          </a:xfrm>
          <a:prstGeom prst="rect">
            <a:avLst/>
          </a:prstGeom>
          <a:noFill/>
          <a:ln>
            <a:noFill/>
          </a:ln>
        </p:spPr>
        <p:txBody>
          <a:bodyPr spcFirstLastPara="1" wrap="square" lIns="0" tIns="23879" rIns="0" bIns="0" anchor="t" anchorCtr="0">
            <a:noAutofit/>
          </a:bodyPr>
          <a:lstStyle/>
          <a:p>
            <a:pPr marL="25168"/>
            <a:r>
              <a:rPr lang="en-US" sz="1982" dirty="0">
                <a:solidFill>
                  <a:srgbClr val="04064C"/>
                </a:solidFill>
                <a:latin typeface="Arial"/>
                <a:ea typeface="Arial"/>
                <a:cs typeface="Arial"/>
                <a:sym typeface="Arial"/>
              </a:rPr>
              <a:t>Resolving key 26 from node </a:t>
            </a:r>
            <a:r>
              <a:rPr lang="en-US" sz="1982" i="1" dirty="0">
                <a:solidFill>
                  <a:srgbClr val="04064C"/>
                </a:solidFill>
                <a:latin typeface="Arial"/>
                <a:ea typeface="Arial"/>
                <a:cs typeface="Arial"/>
                <a:sym typeface="Arial"/>
              </a:rPr>
              <a:t>1, </a:t>
            </a:r>
            <a:r>
              <a:rPr lang="en-US" sz="1982" dirty="0">
                <a:solidFill>
                  <a:schemeClr val="dk1"/>
                </a:solidFill>
                <a:latin typeface="Arial"/>
                <a:ea typeface="Arial"/>
                <a:cs typeface="Arial"/>
                <a:sym typeface="Arial"/>
              </a:rPr>
              <a:t>m=5, N=32</a:t>
            </a:r>
            <a:endParaRPr sz="1982" dirty="0">
              <a:solidFill>
                <a:schemeClr val="dk1"/>
              </a:solidFill>
              <a:latin typeface="Arial"/>
              <a:ea typeface="Arial"/>
              <a:cs typeface="Arial"/>
              <a:sym typeface="Arial"/>
            </a:endParaRPr>
          </a:p>
        </p:txBody>
      </p:sp>
      <p:sp>
        <p:nvSpPr>
          <p:cNvPr id="613" name="Google Shape;613;p22"/>
          <p:cNvSpPr/>
          <p:nvPr/>
        </p:nvSpPr>
        <p:spPr>
          <a:xfrm>
            <a:off x="8961873" y="1249901"/>
            <a:ext cx="0" cy="25167"/>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614" name="Google Shape;614;p22"/>
          <p:cNvSpPr/>
          <p:nvPr/>
        </p:nvSpPr>
        <p:spPr>
          <a:xfrm>
            <a:off x="8961873" y="1224734"/>
            <a:ext cx="0" cy="25167"/>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615" name="Google Shape;615;p22"/>
          <p:cNvSpPr/>
          <p:nvPr/>
        </p:nvSpPr>
        <p:spPr>
          <a:xfrm>
            <a:off x="8961873" y="1199567"/>
            <a:ext cx="0" cy="25167"/>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endParaRPr sz="3567">
              <a:solidFill>
                <a:schemeClr val="dk1"/>
              </a:solidFill>
              <a:latin typeface="Calibri"/>
              <a:ea typeface="Calibri"/>
              <a:cs typeface="Calibri"/>
              <a:sym typeface="Calibri"/>
            </a:endParaRPr>
          </a:p>
        </p:txBody>
      </p:sp>
      <p:sp>
        <p:nvSpPr>
          <p:cNvPr id="617" name="Google Shape;617;p22"/>
          <p:cNvSpPr txBox="1"/>
          <p:nvPr/>
        </p:nvSpPr>
        <p:spPr>
          <a:xfrm>
            <a:off x="4414350" y="2179816"/>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0</a:t>
            </a:r>
            <a:endParaRPr sz="991">
              <a:solidFill>
                <a:schemeClr val="dk1"/>
              </a:solidFill>
              <a:latin typeface="Helvetica Neue"/>
              <a:ea typeface="Helvetica Neue"/>
              <a:cs typeface="Helvetica Neue"/>
              <a:sym typeface="Helvetica Neue"/>
            </a:endParaRPr>
          </a:p>
        </p:txBody>
      </p:sp>
      <p:sp>
        <p:nvSpPr>
          <p:cNvPr id="618" name="Google Shape;618;p22"/>
          <p:cNvSpPr txBox="1"/>
          <p:nvPr/>
        </p:nvSpPr>
        <p:spPr>
          <a:xfrm>
            <a:off x="4746516" y="2216694"/>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a:t>
            </a:r>
            <a:endParaRPr sz="991">
              <a:solidFill>
                <a:schemeClr val="dk1"/>
              </a:solidFill>
              <a:latin typeface="Helvetica Neue"/>
              <a:ea typeface="Helvetica Neue"/>
              <a:cs typeface="Helvetica Neue"/>
              <a:sym typeface="Helvetica Neue"/>
            </a:endParaRPr>
          </a:p>
        </p:txBody>
      </p:sp>
      <p:sp>
        <p:nvSpPr>
          <p:cNvPr id="619" name="Google Shape;619;p22"/>
          <p:cNvSpPr txBox="1"/>
          <p:nvPr/>
        </p:nvSpPr>
        <p:spPr>
          <a:xfrm>
            <a:off x="5070748" y="2310234"/>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a:t>
            </a:r>
            <a:endParaRPr sz="991">
              <a:solidFill>
                <a:schemeClr val="dk1"/>
              </a:solidFill>
              <a:latin typeface="Helvetica Neue"/>
              <a:ea typeface="Helvetica Neue"/>
              <a:cs typeface="Helvetica Neue"/>
              <a:sym typeface="Helvetica Neue"/>
            </a:endParaRPr>
          </a:p>
        </p:txBody>
      </p:sp>
      <p:sp>
        <p:nvSpPr>
          <p:cNvPr id="620" name="Google Shape;620;p22"/>
          <p:cNvSpPr txBox="1"/>
          <p:nvPr/>
        </p:nvSpPr>
        <p:spPr>
          <a:xfrm>
            <a:off x="5365661" y="2467999"/>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3</a:t>
            </a:r>
            <a:endParaRPr sz="991">
              <a:solidFill>
                <a:schemeClr val="dk1"/>
              </a:solidFill>
              <a:latin typeface="Helvetica Neue"/>
              <a:ea typeface="Helvetica Neue"/>
              <a:cs typeface="Helvetica Neue"/>
              <a:sym typeface="Helvetica Neue"/>
            </a:endParaRPr>
          </a:p>
        </p:txBody>
      </p:sp>
      <p:sp>
        <p:nvSpPr>
          <p:cNvPr id="621" name="Google Shape;621;p22"/>
          <p:cNvSpPr txBox="1"/>
          <p:nvPr/>
        </p:nvSpPr>
        <p:spPr>
          <a:xfrm>
            <a:off x="5617753" y="2686009"/>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4</a:t>
            </a:r>
            <a:endParaRPr sz="991">
              <a:solidFill>
                <a:schemeClr val="dk1"/>
              </a:solidFill>
              <a:latin typeface="Helvetica Neue"/>
              <a:ea typeface="Helvetica Neue"/>
              <a:cs typeface="Helvetica Neue"/>
              <a:sym typeface="Helvetica Neue"/>
            </a:endParaRPr>
          </a:p>
        </p:txBody>
      </p:sp>
      <p:sp>
        <p:nvSpPr>
          <p:cNvPr id="622" name="Google Shape;622;p22"/>
          <p:cNvSpPr txBox="1"/>
          <p:nvPr/>
        </p:nvSpPr>
        <p:spPr>
          <a:xfrm>
            <a:off x="5837354" y="2939692"/>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5</a:t>
            </a:r>
            <a:endParaRPr sz="991">
              <a:solidFill>
                <a:schemeClr val="dk1"/>
              </a:solidFill>
              <a:latin typeface="Helvetica Neue"/>
              <a:ea typeface="Helvetica Neue"/>
              <a:cs typeface="Helvetica Neue"/>
              <a:sym typeface="Helvetica Neue"/>
            </a:endParaRPr>
          </a:p>
        </p:txBody>
      </p:sp>
      <p:sp>
        <p:nvSpPr>
          <p:cNvPr id="623" name="Google Shape;623;p22"/>
          <p:cNvSpPr txBox="1"/>
          <p:nvPr/>
        </p:nvSpPr>
        <p:spPr>
          <a:xfrm>
            <a:off x="5996692" y="3235390"/>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6</a:t>
            </a:r>
            <a:endParaRPr sz="991">
              <a:solidFill>
                <a:schemeClr val="dk1"/>
              </a:solidFill>
              <a:latin typeface="Helvetica Neue"/>
              <a:ea typeface="Helvetica Neue"/>
              <a:cs typeface="Helvetica Neue"/>
              <a:sym typeface="Helvetica Neue"/>
            </a:endParaRPr>
          </a:p>
        </p:txBody>
      </p:sp>
      <p:sp>
        <p:nvSpPr>
          <p:cNvPr id="624" name="Google Shape;624;p22"/>
          <p:cNvSpPr txBox="1"/>
          <p:nvPr/>
        </p:nvSpPr>
        <p:spPr>
          <a:xfrm>
            <a:off x="6089061" y="3561704"/>
            <a:ext cx="122058"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7</a:t>
            </a:r>
            <a:endParaRPr sz="991">
              <a:solidFill>
                <a:schemeClr val="dk1"/>
              </a:solidFill>
              <a:latin typeface="Helvetica Neue"/>
              <a:ea typeface="Helvetica Neue"/>
              <a:cs typeface="Helvetica Neue"/>
              <a:sym typeface="Helvetica Neue"/>
            </a:endParaRPr>
          </a:p>
        </p:txBody>
      </p:sp>
      <p:sp>
        <p:nvSpPr>
          <p:cNvPr id="625" name="Google Shape;625;p22"/>
          <p:cNvSpPr txBox="1"/>
          <p:nvPr/>
        </p:nvSpPr>
        <p:spPr>
          <a:xfrm>
            <a:off x="6127497" y="3888625"/>
            <a:ext cx="122058"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8</a:t>
            </a:r>
            <a:endParaRPr sz="991">
              <a:solidFill>
                <a:schemeClr val="dk1"/>
              </a:solidFill>
              <a:latin typeface="Helvetica Neue"/>
              <a:ea typeface="Helvetica Neue"/>
              <a:cs typeface="Helvetica Neue"/>
              <a:sym typeface="Helvetica Neue"/>
            </a:endParaRPr>
          </a:p>
        </p:txBody>
      </p:sp>
      <p:sp>
        <p:nvSpPr>
          <p:cNvPr id="626" name="Google Shape;626;p22"/>
          <p:cNvSpPr txBox="1"/>
          <p:nvPr/>
        </p:nvSpPr>
        <p:spPr>
          <a:xfrm>
            <a:off x="6100091" y="4227418"/>
            <a:ext cx="122058"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9</a:t>
            </a:r>
            <a:endParaRPr sz="991">
              <a:solidFill>
                <a:schemeClr val="dk1"/>
              </a:solidFill>
              <a:latin typeface="Helvetica Neue"/>
              <a:ea typeface="Helvetica Neue"/>
              <a:cs typeface="Helvetica Neue"/>
              <a:sym typeface="Helvetica Neue"/>
            </a:endParaRPr>
          </a:p>
        </p:txBody>
      </p:sp>
      <p:sp>
        <p:nvSpPr>
          <p:cNvPr id="627" name="Google Shape;627;p22"/>
          <p:cNvSpPr txBox="1"/>
          <p:nvPr/>
        </p:nvSpPr>
        <p:spPr>
          <a:xfrm>
            <a:off x="5959055" y="4548993"/>
            <a:ext cx="166102"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10</a:t>
            </a:r>
            <a:endParaRPr sz="991">
              <a:solidFill>
                <a:schemeClr val="dk1"/>
              </a:solidFill>
              <a:latin typeface="Helvetica Neue"/>
              <a:ea typeface="Helvetica Neue"/>
              <a:cs typeface="Helvetica Neue"/>
              <a:sym typeface="Helvetica Neue"/>
            </a:endParaRPr>
          </a:p>
        </p:txBody>
      </p:sp>
      <p:sp>
        <p:nvSpPr>
          <p:cNvPr id="628" name="Google Shape;628;p22"/>
          <p:cNvSpPr txBox="1"/>
          <p:nvPr/>
        </p:nvSpPr>
        <p:spPr>
          <a:xfrm>
            <a:off x="5812395" y="4842315"/>
            <a:ext cx="166102"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11</a:t>
            </a:r>
            <a:endParaRPr sz="991">
              <a:solidFill>
                <a:schemeClr val="dk1"/>
              </a:solidFill>
              <a:latin typeface="Helvetica Neue"/>
              <a:ea typeface="Helvetica Neue"/>
              <a:cs typeface="Helvetica Neue"/>
              <a:sym typeface="Helvetica Neue"/>
            </a:endParaRPr>
          </a:p>
        </p:txBody>
      </p:sp>
      <p:sp>
        <p:nvSpPr>
          <p:cNvPr id="629" name="Google Shape;629;p22"/>
          <p:cNvSpPr txBox="1"/>
          <p:nvPr/>
        </p:nvSpPr>
        <p:spPr>
          <a:xfrm>
            <a:off x="5582494" y="5103925"/>
            <a:ext cx="166102"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12</a:t>
            </a:r>
            <a:endParaRPr sz="991">
              <a:solidFill>
                <a:schemeClr val="dk1"/>
              </a:solidFill>
              <a:latin typeface="Helvetica Neue"/>
              <a:ea typeface="Helvetica Neue"/>
              <a:cs typeface="Helvetica Neue"/>
              <a:sym typeface="Helvetica Neue"/>
            </a:endParaRPr>
          </a:p>
        </p:txBody>
      </p:sp>
      <p:sp>
        <p:nvSpPr>
          <p:cNvPr id="630" name="Google Shape;630;p22"/>
          <p:cNvSpPr txBox="1"/>
          <p:nvPr/>
        </p:nvSpPr>
        <p:spPr>
          <a:xfrm>
            <a:off x="5324847" y="5310042"/>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13</a:t>
            </a:r>
            <a:endParaRPr sz="991">
              <a:solidFill>
                <a:schemeClr val="dk1"/>
              </a:solidFill>
              <a:latin typeface="Helvetica Neue"/>
              <a:ea typeface="Helvetica Neue"/>
              <a:cs typeface="Helvetica Neue"/>
              <a:sym typeface="Helvetica Neue"/>
            </a:endParaRPr>
          </a:p>
        </p:txBody>
      </p:sp>
      <p:sp>
        <p:nvSpPr>
          <p:cNvPr id="631" name="Google Shape;631;p22"/>
          <p:cNvSpPr txBox="1"/>
          <p:nvPr/>
        </p:nvSpPr>
        <p:spPr>
          <a:xfrm>
            <a:off x="5031525" y="5476523"/>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14</a:t>
            </a:r>
            <a:endParaRPr sz="991">
              <a:solidFill>
                <a:schemeClr val="dk1"/>
              </a:solidFill>
              <a:latin typeface="Helvetica Neue"/>
              <a:ea typeface="Helvetica Neue"/>
              <a:cs typeface="Helvetica Neue"/>
              <a:sym typeface="Helvetica Neue"/>
            </a:endParaRPr>
          </a:p>
        </p:txBody>
      </p:sp>
      <p:sp>
        <p:nvSpPr>
          <p:cNvPr id="632" name="Google Shape;632;p22"/>
          <p:cNvSpPr txBox="1"/>
          <p:nvPr/>
        </p:nvSpPr>
        <p:spPr>
          <a:xfrm>
            <a:off x="4702319" y="5570056"/>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15</a:t>
            </a:r>
            <a:endParaRPr sz="991">
              <a:solidFill>
                <a:schemeClr val="dk1"/>
              </a:solidFill>
              <a:latin typeface="Helvetica Neue"/>
              <a:ea typeface="Helvetica Neue"/>
              <a:cs typeface="Helvetica Neue"/>
              <a:sym typeface="Helvetica Neue"/>
            </a:endParaRPr>
          </a:p>
        </p:txBody>
      </p:sp>
      <p:sp>
        <p:nvSpPr>
          <p:cNvPr id="633" name="Google Shape;633;p22"/>
          <p:cNvSpPr txBox="1"/>
          <p:nvPr/>
        </p:nvSpPr>
        <p:spPr>
          <a:xfrm>
            <a:off x="4373536" y="5599401"/>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16</a:t>
            </a:r>
            <a:endParaRPr sz="991">
              <a:solidFill>
                <a:schemeClr val="dk1"/>
              </a:solidFill>
              <a:latin typeface="Helvetica Neue"/>
              <a:ea typeface="Helvetica Neue"/>
              <a:cs typeface="Helvetica Neue"/>
              <a:sym typeface="Helvetica Neue"/>
            </a:endParaRPr>
          </a:p>
        </p:txBody>
      </p:sp>
      <p:sp>
        <p:nvSpPr>
          <p:cNvPr id="634" name="Google Shape;634;p22"/>
          <p:cNvSpPr txBox="1"/>
          <p:nvPr/>
        </p:nvSpPr>
        <p:spPr>
          <a:xfrm>
            <a:off x="4034836" y="5583135"/>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17</a:t>
            </a:r>
            <a:endParaRPr sz="991">
              <a:solidFill>
                <a:schemeClr val="dk1"/>
              </a:solidFill>
              <a:latin typeface="Helvetica Neue"/>
              <a:ea typeface="Helvetica Neue"/>
              <a:cs typeface="Helvetica Neue"/>
              <a:sym typeface="Helvetica Neue"/>
            </a:endParaRPr>
          </a:p>
        </p:txBody>
      </p:sp>
      <p:sp>
        <p:nvSpPr>
          <p:cNvPr id="635" name="Google Shape;635;p22"/>
          <p:cNvSpPr txBox="1"/>
          <p:nvPr/>
        </p:nvSpPr>
        <p:spPr>
          <a:xfrm>
            <a:off x="3715544" y="5476523"/>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18</a:t>
            </a:r>
            <a:endParaRPr sz="991">
              <a:solidFill>
                <a:schemeClr val="dk1"/>
              </a:solidFill>
              <a:latin typeface="Helvetica Neue"/>
              <a:ea typeface="Helvetica Neue"/>
              <a:cs typeface="Helvetica Neue"/>
              <a:sym typeface="Helvetica Neue"/>
            </a:endParaRPr>
          </a:p>
        </p:txBody>
      </p:sp>
      <p:sp>
        <p:nvSpPr>
          <p:cNvPr id="636" name="Google Shape;636;p22"/>
          <p:cNvSpPr txBox="1"/>
          <p:nvPr/>
        </p:nvSpPr>
        <p:spPr>
          <a:xfrm>
            <a:off x="3422224" y="5317971"/>
            <a:ext cx="166102"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19</a:t>
            </a:r>
            <a:endParaRPr sz="991">
              <a:solidFill>
                <a:schemeClr val="dk1"/>
              </a:solidFill>
              <a:latin typeface="Helvetica Neue"/>
              <a:ea typeface="Helvetica Neue"/>
              <a:cs typeface="Helvetica Neue"/>
              <a:sym typeface="Helvetica Neue"/>
            </a:endParaRPr>
          </a:p>
        </p:txBody>
      </p:sp>
      <p:sp>
        <p:nvSpPr>
          <p:cNvPr id="637" name="Google Shape;637;p22"/>
          <p:cNvSpPr txBox="1"/>
          <p:nvPr/>
        </p:nvSpPr>
        <p:spPr>
          <a:xfrm>
            <a:off x="3169333" y="5099961"/>
            <a:ext cx="178686"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20</a:t>
            </a:r>
            <a:endParaRPr sz="991">
              <a:solidFill>
                <a:schemeClr val="dk1"/>
              </a:solidFill>
              <a:latin typeface="Helvetica Neue"/>
              <a:ea typeface="Helvetica Neue"/>
              <a:cs typeface="Helvetica Neue"/>
              <a:sym typeface="Helvetica Neue"/>
            </a:endParaRPr>
          </a:p>
        </p:txBody>
      </p:sp>
      <p:sp>
        <p:nvSpPr>
          <p:cNvPr id="638" name="Google Shape;638;p22"/>
          <p:cNvSpPr txBox="1"/>
          <p:nvPr/>
        </p:nvSpPr>
        <p:spPr>
          <a:xfrm>
            <a:off x="2966387" y="4838352"/>
            <a:ext cx="166102"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21</a:t>
            </a:r>
            <a:endParaRPr sz="991">
              <a:solidFill>
                <a:schemeClr val="dk1"/>
              </a:solidFill>
              <a:latin typeface="Helvetica Neue"/>
              <a:ea typeface="Helvetica Neue"/>
              <a:cs typeface="Helvetica Neue"/>
              <a:sym typeface="Helvetica Neue"/>
            </a:endParaRPr>
          </a:p>
        </p:txBody>
      </p:sp>
      <p:sp>
        <p:nvSpPr>
          <p:cNvPr id="639" name="Google Shape;639;p22"/>
          <p:cNvSpPr txBox="1"/>
          <p:nvPr/>
        </p:nvSpPr>
        <p:spPr>
          <a:xfrm>
            <a:off x="2796735" y="4541066"/>
            <a:ext cx="178686"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22</a:t>
            </a:r>
            <a:endParaRPr sz="991">
              <a:solidFill>
                <a:schemeClr val="dk1"/>
              </a:solidFill>
              <a:latin typeface="Helvetica Neue"/>
              <a:ea typeface="Helvetica Neue"/>
              <a:cs typeface="Helvetica Neue"/>
              <a:sym typeface="Helvetica Neue"/>
            </a:endParaRPr>
          </a:p>
        </p:txBody>
      </p:sp>
      <p:sp>
        <p:nvSpPr>
          <p:cNvPr id="640" name="Google Shape;640;p22"/>
          <p:cNvSpPr txBox="1"/>
          <p:nvPr/>
        </p:nvSpPr>
        <p:spPr>
          <a:xfrm>
            <a:off x="2701604" y="4219999"/>
            <a:ext cx="178686"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23</a:t>
            </a:r>
            <a:endParaRPr sz="991">
              <a:solidFill>
                <a:schemeClr val="dk1"/>
              </a:solidFill>
              <a:latin typeface="Helvetica Neue"/>
              <a:ea typeface="Helvetica Neue"/>
              <a:cs typeface="Helvetica Neue"/>
              <a:sym typeface="Helvetica Neue"/>
            </a:endParaRPr>
          </a:p>
        </p:txBody>
      </p:sp>
      <p:sp>
        <p:nvSpPr>
          <p:cNvPr id="641" name="Google Shape;641;p22"/>
          <p:cNvSpPr txBox="1"/>
          <p:nvPr/>
        </p:nvSpPr>
        <p:spPr>
          <a:xfrm>
            <a:off x="2669894" y="3891003"/>
            <a:ext cx="178686" cy="202594"/>
          </a:xfrm>
          <a:prstGeom prst="rect">
            <a:avLst/>
          </a:prstGeom>
          <a:noFill/>
          <a:ln>
            <a:noFill/>
          </a:ln>
        </p:spPr>
        <p:txBody>
          <a:bodyPr spcFirstLastPara="1" wrap="square" lIns="0" tIns="26406" rIns="0" bIns="0" anchor="t" anchorCtr="0">
            <a:noAutofit/>
          </a:bodyPr>
          <a:lstStyle/>
          <a:p>
            <a:pPr marL="25168"/>
            <a:r>
              <a:rPr lang="en-US" sz="991">
                <a:solidFill>
                  <a:srgbClr val="231F20"/>
                </a:solidFill>
                <a:latin typeface="Helvetica Neue"/>
                <a:ea typeface="Helvetica Neue"/>
                <a:cs typeface="Helvetica Neue"/>
                <a:sym typeface="Helvetica Neue"/>
              </a:rPr>
              <a:t>24</a:t>
            </a:r>
            <a:endParaRPr sz="991">
              <a:solidFill>
                <a:schemeClr val="dk1"/>
              </a:solidFill>
              <a:latin typeface="Helvetica Neue"/>
              <a:ea typeface="Helvetica Neue"/>
              <a:cs typeface="Helvetica Neue"/>
              <a:sym typeface="Helvetica Neue"/>
            </a:endParaRPr>
          </a:p>
        </p:txBody>
      </p:sp>
      <p:sp>
        <p:nvSpPr>
          <p:cNvPr id="642" name="Google Shape;642;p22"/>
          <p:cNvSpPr txBox="1"/>
          <p:nvPr/>
        </p:nvSpPr>
        <p:spPr>
          <a:xfrm>
            <a:off x="2701604" y="3554081"/>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25</a:t>
            </a:r>
            <a:endParaRPr sz="991">
              <a:solidFill>
                <a:schemeClr val="dk1"/>
              </a:solidFill>
              <a:latin typeface="Helvetica Neue"/>
              <a:ea typeface="Helvetica Neue"/>
              <a:cs typeface="Helvetica Neue"/>
              <a:sym typeface="Helvetica Neue"/>
            </a:endParaRPr>
          </a:p>
        </p:txBody>
      </p:sp>
      <p:sp>
        <p:nvSpPr>
          <p:cNvPr id="643" name="Google Shape;643;p22"/>
          <p:cNvSpPr txBox="1"/>
          <p:nvPr/>
        </p:nvSpPr>
        <p:spPr>
          <a:xfrm>
            <a:off x="2800701" y="3233012"/>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26</a:t>
            </a:r>
            <a:endParaRPr sz="991">
              <a:solidFill>
                <a:schemeClr val="dk1"/>
              </a:solidFill>
              <a:latin typeface="Helvetica Neue"/>
              <a:ea typeface="Helvetica Neue"/>
              <a:cs typeface="Helvetica Neue"/>
              <a:sym typeface="Helvetica Neue"/>
            </a:endParaRPr>
          </a:p>
        </p:txBody>
      </p:sp>
      <p:sp>
        <p:nvSpPr>
          <p:cNvPr id="644" name="Google Shape;644;p22"/>
          <p:cNvSpPr txBox="1"/>
          <p:nvPr/>
        </p:nvSpPr>
        <p:spPr>
          <a:xfrm>
            <a:off x="2951324" y="2939692"/>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27</a:t>
            </a:r>
            <a:endParaRPr sz="991">
              <a:solidFill>
                <a:schemeClr val="dk1"/>
              </a:solidFill>
              <a:latin typeface="Helvetica Neue"/>
              <a:ea typeface="Helvetica Neue"/>
              <a:cs typeface="Helvetica Neue"/>
              <a:sym typeface="Helvetica Neue"/>
            </a:endParaRPr>
          </a:p>
        </p:txBody>
      </p:sp>
      <p:sp>
        <p:nvSpPr>
          <p:cNvPr id="645" name="Google Shape;645;p22"/>
          <p:cNvSpPr txBox="1"/>
          <p:nvPr/>
        </p:nvSpPr>
        <p:spPr>
          <a:xfrm>
            <a:off x="3167352" y="2675108"/>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28</a:t>
            </a:r>
            <a:endParaRPr sz="991">
              <a:solidFill>
                <a:schemeClr val="dk1"/>
              </a:solidFill>
              <a:latin typeface="Helvetica Neue"/>
              <a:ea typeface="Helvetica Neue"/>
              <a:cs typeface="Helvetica Neue"/>
              <a:sym typeface="Helvetica Neue"/>
            </a:endParaRPr>
          </a:p>
        </p:txBody>
      </p:sp>
      <p:sp>
        <p:nvSpPr>
          <p:cNvPr id="646" name="Google Shape;646;p22"/>
          <p:cNvSpPr txBox="1"/>
          <p:nvPr/>
        </p:nvSpPr>
        <p:spPr>
          <a:xfrm>
            <a:off x="3430943" y="2467999"/>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29</a:t>
            </a:r>
            <a:endParaRPr sz="991">
              <a:solidFill>
                <a:schemeClr val="dk1"/>
              </a:solidFill>
              <a:latin typeface="Helvetica Neue"/>
              <a:ea typeface="Helvetica Neue"/>
              <a:cs typeface="Helvetica Neue"/>
              <a:sym typeface="Helvetica Neue"/>
            </a:endParaRPr>
          </a:p>
        </p:txBody>
      </p:sp>
      <p:sp>
        <p:nvSpPr>
          <p:cNvPr id="647" name="Google Shape;647;p22"/>
          <p:cNvSpPr txBox="1"/>
          <p:nvPr/>
        </p:nvSpPr>
        <p:spPr>
          <a:xfrm>
            <a:off x="3724265" y="2305484"/>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30</a:t>
            </a:r>
            <a:endParaRPr sz="991">
              <a:solidFill>
                <a:schemeClr val="dk1"/>
              </a:solidFill>
              <a:latin typeface="Helvetica Neue"/>
              <a:ea typeface="Helvetica Neue"/>
              <a:cs typeface="Helvetica Neue"/>
              <a:sym typeface="Helvetica Neue"/>
            </a:endParaRPr>
          </a:p>
        </p:txBody>
      </p:sp>
      <p:sp>
        <p:nvSpPr>
          <p:cNvPr id="648" name="Google Shape;648;p22"/>
          <p:cNvSpPr txBox="1"/>
          <p:nvPr/>
        </p:nvSpPr>
        <p:spPr>
          <a:xfrm>
            <a:off x="4049296" y="2210353"/>
            <a:ext cx="178686"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31</a:t>
            </a:r>
            <a:endParaRPr sz="991">
              <a:solidFill>
                <a:schemeClr val="dk1"/>
              </a:solidFill>
              <a:latin typeface="Helvetica Neue"/>
              <a:ea typeface="Helvetica Neue"/>
              <a:cs typeface="Helvetica Neue"/>
              <a:sym typeface="Helvetica Neue"/>
            </a:endParaRPr>
          </a:p>
        </p:txBody>
      </p:sp>
      <p:sp>
        <p:nvSpPr>
          <p:cNvPr id="649" name="Google Shape;649;p22"/>
          <p:cNvSpPr txBox="1"/>
          <p:nvPr/>
        </p:nvSpPr>
        <p:spPr>
          <a:xfrm>
            <a:off x="6042106" y="2363331"/>
            <a:ext cx="760562" cy="640499"/>
          </a:xfrm>
          <a:prstGeom prst="rect">
            <a:avLst/>
          </a:prstGeom>
          <a:noFill/>
          <a:ln>
            <a:noFill/>
          </a:ln>
        </p:spPr>
        <p:txBody>
          <a:bodyPr spcFirstLastPara="1" wrap="square" lIns="0" tIns="22640" rIns="0" bIns="0" anchor="t" anchorCtr="0">
            <a:noAutofit/>
          </a:bodyPr>
          <a:lstStyle/>
          <a:p>
            <a:pPr marL="25168">
              <a:lnSpc>
                <a:spcPct val="110000"/>
              </a:lnSpc>
            </a:pPr>
            <a:r>
              <a:rPr lang="en-US" sz="750" b="1" dirty="0">
                <a:solidFill>
                  <a:srgbClr val="FF0000"/>
                </a:solidFill>
                <a:latin typeface="Helvetica Neue"/>
                <a:ea typeface="Helvetica Neue"/>
                <a:cs typeface="Helvetica Neue"/>
                <a:sym typeface="Helvetica Neue"/>
              </a:rPr>
              <a:t>N4+1          9</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N4+2          9</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N4+4          9</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N4+8         14</a:t>
            </a:r>
            <a:endParaRPr sz="750" b="1" dirty="0">
              <a:solidFill>
                <a:srgbClr val="FF0000"/>
              </a:solidFill>
              <a:latin typeface="Helvetica Neue"/>
              <a:ea typeface="Helvetica Neue"/>
              <a:cs typeface="Helvetica Neue"/>
              <a:sym typeface="Helvetica Neue"/>
            </a:endParaRPr>
          </a:p>
          <a:p>
            <a:pPr marL="25168">
              <a:lnSpc>
                <a:spcPct val="110000"/>
              </a:lnSpc>
            </a:pPr>
            <a:r>
              <a:rPr lang="en-US" sz="750" b="1" dirty="0">
                <a:solidFill>
                  <a:srgbClr val="FF0000"/>
                </a:solidFill>
                <a:latin typeface="Helvetica Neue"/>
                <a:ea typeface="Helvetica Neue"/>
                <a:cs typeface="Helvetica Neue"/>
                <a:sym typeface="Helvetica Neue"/>
              </a:rPr>
              <a:t>N4+16       20</a:t>
            </a:r>
            <a:endParaRPr sz="750" b="1" dirty="0">
              <a:solidFill>
                <a:srgbClr val="FF0000"/>
              </a:solidFill>
              <a:latin typeface="Helvetica Neue"/>
              <a:ea typeface="Helvetica Neue"/>
              <a:cs typeface="Helvetica Neue"/>
              <a:sym typeface="Helvetica Neue"/>
            </a:endParaRPr>
          </a:p>
        </p:txBody>
      </p:sp>
      <p:sp>
        <p:nvSpPr>
          <p:cNvPr id="650" name="Google Shape;650;p22"/>
          <p:cNvSpPr txBox="1"/>
          <p:nvPr/>
        </p:nvSpPr>
        <p:spPr>
          <a:xfrm>
            <a:off x="6461213" y="3971411"/>
            <a:ext cx="889652" cy="64049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N9+</a:t>
            </a:r>
            <a:r>
              <a:rPr lang="en-US" sz="750" b="1" dirty="0">
                <a:solidFill>
                  <a:srgbClr val="FF0000"/>
                </a:solidFill>
                <a:latin typeface="Helvetica Neue"/>
                <a:ea typeface="Helvetica Neue"/>
                <a:cs typeface="Helvetica Neue"/>
                <a:sym typeface="Helvetica Neue"/>
              </a:rPr>
              <a:t>1        11</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N9+2        11</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N9+4        14</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N9</a:t>
            </a:r>
            <a:r>
              <a:rPr lang="en-US" altLang="zh-CN" sz="750" b="1" dirty="0">
                <a:solidFill>
                  <a:srgbClr val="FF0000"/>
                </a:solidFill>
                <a:latin typeface="Helvetica Neue"/>
                <a:ea typeface="Helvetica Neue"/>
                <a:cs typeface="Helvetica Neue"/>
                <a:sym typeface="Helvetica Neue"/>
              </a:rPr>
              <a:t>+8</a:t>
            </a:r>
            <a:r>
              <a:rPr lang="en-US" sz="750" b="1" dirty="0">
                <a:solidFill>
                  <a:srgbClr val="FF0000"/>
                </a:solidFill>
                <a:latin typeface="Helvetica Neue"/>
                <a:ea typeface="Helvetica Neue"/>
                <a:cs typeface="Helvetica Neue"/>
                <a:sym typeface="Helvetica Neue"/>
              </a:rPr>
              <a:t>        18</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N9+16</a:t>
            </a:r>
            <a:r>
              <a:rPr lang="en-US" sz="750" b="1" dirty="0">
                <a:solidFill>
                  <a:srgbClr val="FF0000"/>
                </a:solidFill>
                <a:latin typeface="Helvetica Neue"/>
                <a:ea typeface="Helvetica Neue"/>
                <a:cs typeface="Helvetica Neue"/>
                <a:sym typeface="Helvetica Neue"/>
              </a:rPr>
              <a:t>      28</a:t>
            </a:r>
            <a:endParaRPr sz="750" b="1" dirty="0">
              <a:solidFill>
                <a:srgbClr val="FF0000"/>
              </a:solidFill>
              <a:latin typeface="Helvetica Neue"/>
              <a:ea typeface="Helvetica Neue"/>
              <a:cs typeface="Helvetica Neue"/>
              <a:sym typeface="Helvetica Neue"/>
            </a:endParaRPr>
          </a:p>
        </p:txBody>
      </p:sp>
      <p:sp>
        <p:nvSpPr>
          <p:cNvPr id="651" name="Google Shape;651;p22"/>
          <p:cNvSpPr txBox="1"/>
          <p:nvPr/>
        </p:nvSpPr>
        <p:spPr>
          <a:xfrm>
            <a:off x="6181781" y="4872137"/>
            <a:ext cx="878563" cy="64049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N11+</a:t>
            </a:r>
            <a:r>
              <a:rPr lang="en-US" sz="750" b="1" dirty="0">
                <a:solidFill>
                  <a:srgbClr val="FF0000"/>
                </a:solidFill>
                <a:latin typeface="Helvetica Neue"/>
                <a:ea typeface="Helvetica Neue"/>
                <a:cs typeface="Helvetica Neue"/>
                <a:sym typeface="Helvetica Neue"/>
              </a:rPr>
              <a:t>1      14</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N11+</a:t>
            </a:r>
            <a:r>
              <a:rPr lang="en-US" sz="750" b="1" dirty="0">
                <a:solidFill>
                  <a:srgbClr val="FF0000"/>
                </a:solidFill>
                <a:latin typeface="Helvetica Neue"/>
                <a:ea typeface="Helvetica Neue"/>
                <a:cs typeface="Helvetica Neue"/>
                <a:sym typeface="Helvetica Neue"/>
              </a:rPr>
              <a:t>2      14</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N11+</a:t>
            </a:r>
            <a:r>
              <a:rPr lang="en-US" sz="750" b="1" dirty="0">
                <a:solidFill>
                  <a:srgbClr val="FF0000"/>
                </a:solidFill>
                <a:latin typeface="Helvetica Neue"/>
                <a:ea typeface="Helvetica Neue"/>
                <a:cs typeface="Helvetica Neue"/>
                <a:sym typeface="Helvetica Neue"/>
              </a:rPr>
              <a:t>4      18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N11+</a:t>
            </a:r>
            <a:r>
              <a:rPr lang="en-US" sz="750" b="1" dirty="0">
                <a:solidFill>
                  <a:srgbClr val="FF0000"/>
                </a:solidFill>
                <a:latin typeface="Helvetica Neue"/>
                <a:ea typeface="Helvetica Neue"/>
                <a:cs typeface="Helvetica Neue"/>
                <a:sym typeface="Helvetica Neue"/>
              </a:rPr>
              <a:t>8      20</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N11+</a:t>
            </a:r>
            <a:r>
              <a:rPr lang="en-US" sz="750" b="1" dirty="0">
                <a:solidFill>
                  <a:srgbClr val="FF0000"/>
                </a:solidFill>
                <a:latin typeface="Helvetica Neue"/>
                <a:ea typeface="Helvetica Neue"/>
                <a:cs typeface="Helvetica Neue"/>
                <a:sym typeface="Helvetica Neue"/>
              </a:rPr>
              <a:t>16    28</a:t>
            </a:r>
            <a:endParaRPr sz="750" b="1" dirty="0">
              <a:solidFill>
                <a:srgbClr val="FF0000"/>
              </a:solidFill>
              <a:latin typeface="Helvetica Neue"/>
              <a:ea typeface="Helvetica Neue"/>
              <a:cs typeface="Helvetica Neue"/>
              <a:sym typeface="Helvetica Neue"/>
            </a:endParaRPr>
          </a:p>
        </p:txBody>
      </p:sp>
      <p:sp>
        <p:nvSpPr>
          <p:cNvPr id="652" name="Google Shape;652;p22"/>
          <p:cNvSpPr txBox="1"/>
          <p:nvPr/>
        </p:nvSpPr>
        <p:spPr>
          <a:xfrm>
            <a:off x="5380816" y="5616159"/>
            <a:ext cx="800965" cy="64049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N14+</a:t>
            </a:r>
            <a:r>
              <a:rPr lang="en-US" sz="750" b="1" dirty="0">
                <a:solidFill>
                  <a:srgbClr val="FF0000"/>
                </a:solidFill>
                <a:latin typeface="Helvetica Neue"/>
                <a:ea typeface="Helvetica Neue"/>
                <a:cs typeface="Helvetica Neue"/>
                <a:sym typeface="Helvetica Neue"/>
              </a:rPr>
              <a:t>1      18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N14+</a:t>
            </a:r>
            <a:r>
              <a:rPr lang="en-US" sz="750" b="1" dirty="0">
                <a:solidFill>
                  <a:srgbClr val="FF0000"/>
                </a:solidFill>
                <a:latin typeface="Helvetica Neue"/>
                <a:ea typeface="Helvetica Neue"/>
                <a:cs typeface="Helvetica Neue"/>
                <a:sym typeface="Helvetica Neue"/>
              </a:rPr>
              <a:t>2      18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N14+</a:t>
            </a:r>
            <a:r>
              <a:rPr lang="en-US" sz="750" b="1" dirty="0">
                <a:solidFill>
                  <a:srgbClr val="FF0000"/>
                </a:solidFill>
                <a:latin typeface="Helvetica Neue"/>
                <a:ea typeface="Helvetica Neue"/>
                <a:cs typeface="Helvetica Neue"/>
                <a:sym typeface="Helvetica Neue"/>
              </a:rPr>
              <a:t>4      18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N14+</a:t>
            </a:r>
            <a:r>
              <a:rPr lang="en-US" sz="750" b="1" dirty="0">
                <a:solidFill>
                  <a:srgbClr val="FF0000"/>
                </a:solidFill>
                <a:latin typeface="Helvetica Neue"/>
                <a:ea typeface="Helvetica Neue"/>
                <a:cs typeface="Helvetica Neue"/>
                <a:sym typeface="Helvetica Neue"/>
              </a:rPr>
              <a:t>8      28</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N14+</a:t>
            </a:r>
            <a:r>
              <a:rPr lang="en-US" sz="750" b="1" dirty="0">
                <a:solidFill>
                  <a:srgbClr val="FF0000"/>
                </a:solidFill>
                <a:latin typeface="Helvetica Neue"/>
                <a:ea typeface="Helvetica Neue"/>
                <a:cs typeface="Helvetica Neue"/>
                <a:sym typeface="Helvetica Neue"/>
              </a:rPr>
              <a:t>16     1</a:t>
            </a:r>
            <a:endParaRPr sz="750" b="1" dirty="0">
              <a:solidFill>
                <a:srgbClr val="FF0000"/>
              </a:solidFill>
              <a:latin typeface="Helvetica Neue"/>
              <a:ea typeface="Helvetica Neue"/>
              <a:cs typeface="Helvetica Neue"/>
              <a:sym typeface="Helvetica Neue"/>
            </a:endParaRPr>
          </a:p>
        </p:txBody>
      </p:sp>
      <p:sp>
        <p:nvSpPr>
          <p:cNvPr id="653" name="Google Shape;653;p22"/>
          <p:cNvSpPr txBox="1"/>
          <p:nvPr/>
        </p:nvSpPr>
        <p:spPr>
          <a:xfrm>
            <a:off x="3555110" y="5850189"/>
            <a:ext cx="717011" cy="64049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N18+</a:t>
            </a:r>
            <a:r>
              <a:rPr lang="en-US" sz="750" b="1" dirty="0">
                <a:solidFill>
                  <a:srgbClr val="FF0000"/>
                </a:solidFill>
                <a:latin typeface="Helvetica Neue"/>
                <a:ea typeface="Helvetica Neue"/>
                <a:cs typeface="Helvetica Neue"/>
                <a:sym typeface="Helvetica Neue"/>
              </a:rPr>
              <a:t>1       20</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N18+</a:t>
            </a:r>
            <a:r>
              <a:rPr lang="en-US" sz="750" b="1" dirty="0">
                <a:solidFill>
                  <a:srgbClr val="FF0000"/>
                </a:solidFill>
                <a:latin typeface="Helvetica Neue"/>
                <a:ea typeface="Helvetica Neue"/>
                <a:cs typeface="Helvetica Neue"/>
                <a:sym typeface="Helvetica Neue"/>
              </a:rPr>
              <a:t>2       20</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N18+</a:t>
            </a:r>
            <a:r>
              <a:rPr lang="en-US" sz="750" b="1" dirty="0">
                <a:solidFill>
                  <a:srgbClr val="FF0000"/>
                </a:solidFill>
                <a:latin typeface="Helvetica Neue"/>
                <a:ea typeface="Helvetica Neue"/>
                <a:cs typeface="Helvetica Neue"/>
                <a:sym typeface="Helvetica Neue"/>
              </a:rPr>
              <a:t>4       28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N18+</a:t>
            </a:r>
            <a:r>
              <a:rPr lang="en-US" sz="750" b="1" dirty="0">
                <a:solidFill>
                  <a:srgbClr val="FF0000"/>
                </a:solidFill>
                <a:latin typeface="Helvetica Neue"/>
                <a:ea typeface="Helvetica Neue"/>
                <a:cs typeface="Helvetica Neue"/>
                <a:sym typeface="Helvetica Neue"/>
              </a:rPr>
              <a:t>8       28</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N18+</a:t>
            </a:r>
            <a:r>
              <a:rPr lang="en-US" sz="750" b="1" dirty="0">
                <a:solidFill>
                  <a:srgbClr val="FF0000"/>
                </a:solidFill>
                <a:latin typeface="Helvetica Neue"/>
                <a:ea typeface="Helvetica Neue"/>
                <a:cs typeface="Helvetica Neue"/>
                <a:sym typeface="Helvetica Neue"/>
              </a:rPr>
              <a:t>16      4</a:t>
            </a:r>
            <a:endParaRPr sz="750" b="1" dirty="0">
              <a:solidFill>
                <a:srgbClr val="FF0000"/>
              </a:solidFill>
              <a:latin typeface="Helvetica Neue"/>
              <a:ea typeface="Helvetica Neue"/>
              <a:cs typeface="Helvetica Neue"/>
              <a:sym typeface="Helvetica Neue"/>
            </a:endParaRPr>
          </a:p>
        </p:txBody>
      </p:sp>
      <p:sp>
        <p:nvSpPr>
          <p:cNvPr id="654" name="Google Shape;654;p22"/>
          <p:cNvSpPr txBox="1"/>
          <p:nvPr/>
        </p:nvSpPr>
        <p:spPr>
          <a:xfrm>
            <a:off x="2752415" y="5386092"/>
            <a:ext cx="678528" cy="64049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N20+</a:t>
            </a:r>
            <a:r>
              <a:rPr lang="en-US" sz="750" b="1" dirty="0">
                <a:solidFill>
                  <a:srgbClr val="FF0000"/>
                </a:solidFill>
                <a:latin typeface="Helvetica Neue"/>
                <a:ea typeface="Helvetica Neue"/>
                <a:cs typeface="Helvetica Neue"/>
                <a:sym typeface="Helvetica Neue"/>
              </a:rPr>
              <a:t>1       21</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N20+</a:t>
            </a:r>
            <a:r>
              <a:rPr lang="en-US" sz="750" b="1" dirty="0">
                <a:solidFill>
                  <a:srgbClr val="FF0000"/>
                </a:solidFill>
                <a:latin typeface="Helvetica Neue"/>
                <a:ea typeface="Helvetica Neue"/>
                <a:cs typeface="Helvetica Neue"/>
                <a:sym typeface="Helvetica Neue"/>
              </a:rPr>
              <a:t>2       28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N20+</a:t>
            </a:r>
            <a:r>
              <a:rPr lang="en-US" sz="750" b="1" dirty="0">
                <a:solidFill>
                  <a:srgbClr val="FF0000"/>
                </a:solidFill>
                <a:latin typeface="Helvetica Neue"/>
                <a:ea typeface="Helvetica Neue"/>
                <a:cs typeface="Helvetica Neue"/>
                <a:sym typeface="Helvetica Neue"/>
              </a:rPr>
              <a:t>4       28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N20+</a:t>
            </a:r>
            <a:r>
              <a:rPr lang="en-US" sz="750" b="1" dirty="0">
                <a:solidFill>
                  <a:srgbClr val="FF0000"/>
                </a:solidFill>
                <a:latin typeface="Helvetica Neue"/>
                <a:ea typeface="Helvetica Neue"/>
                <a:cs typeface="Helvetica Neue"/>
                <a:sym typeface="Helvetica Neue"/>
              </a:rPr>
              <a:t>8       28</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N20+</a:t>
            </a:r>
            <a:r>
              <a:rPr lang="en-US" sz="750" b="1" dirty="0">
                <a:solidFill>
                  <a:srgbClr val="FF0000"/>
                </a:solidFill>
                <a:latin typeface="Helvetica Neue"/>
                <a:ea typeface="Helvetica Neue"/>
                <a:cs typeface="Helvetica Neue"/>
                <a:sym typeface="Helvetica Neue"/>
              </a:rPr>
              <a:t>16      4</a:t>
            </a:r>
            <a:endParaRPr sz="750" b="1" dirty="0">
              <a:solidFill>
                <a:srgbClr val="FF0000"/>
              </a:solidFill>
              <a:latin typeface="Helvetica Neue"/>
              <a:ea typeface="Helvetica Neue"/>
              <a:cs typeface="Helvetica Neue"/>
              <a:sym typeface="Helvetica Neue"/>
            </a:endParaRPr>
          </a:p>
        </p:txBody>
      </p:sp>
      <p:sp>
        <p:nvSpPr>
          <p:cNvPr id="655" name="Google Shape;655;p22"/>
          <p:cNvSpPr txBox="1"/>
          <p:nvPr/>
        </p:nvSpPr>
        <p:spPr>
          <a:xfrm>
            <a:off x="2176352" y="4709896"/>
            <a:ext cx="642147" cy="601019"/>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N21+</a:t>
            </a:r>
            <a:r>
              <a:rPr lang="en-US" sz="750" b="1" dirty="0">
                <a:solidFill>
                  <a:srgbClr val="FF0000"/>
                </a:solidFill>
                <a:latin typeface="Helvetica Neue"/>
                <a:ea typeface="Helvetica Neue"/>
                <a:cs typeface="Helvetica Neue"/>
                <a:sym typeface="Helvetica Neue"/>
              </a:rPr>
              <a:t>1       28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N21+</a:t>
            </a:r>
            <a:r>
              <a:rPr lang="en-US" sz="750" b="1" dirty="0">
                <a:solidFill>
                  <a:srgbClr val="FF0000"/>
                </a:solidFill>
                <a:latin typeface="Helvetica Neue"/>
                <a:ea typeface="Helvetica Neue"/>
                <a:cs typeface="Helvetica Neue"/>
                <a:sym typeface="Helvetica Neue"/>
              </a:rPr>
              <a:t>2       28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N21+</a:t>
            </a:r>
            <a:r>
              <a:rPr lang="en-US" sz="750" b="1" dirty="0">
                <a:solidFill>
                  <a:srgbClr val="FF0000"/>
                </a:solidFill>
                <a:latin typeface="Helvetica Neue"/>
                <a:ea typeface="Helvetica Neue"/>
                <a:cs typeface="Helvetica Neue"/>
                <a:sym typeface="Helvetica Neue"/>
              </a:rPr>
              <a:t>4       28</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N21+</a:t>
            </a:r>
            <a:r>
              <a:rPr lang="en-US" sz="750" b="1" dirty="0">
                <a:solidFill>
                  <a:srgbClr val="FF0000"/>
                </a:solidFill>
                <a:latin typeface="Helvetica Neue"/>
                <a:ea typeface="Helvetica Neue"/>
                <a:cs typeface="Helvetica Neue"/>
                <a:sym typeface="Helvetica Neue"/>
              </a:rPr>
              <a:t>8        1</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N21+</a:t>
            </a:r>
            <a:r>
              <a:rPr lang="en-US" sz="750" b="1" dirty="0">
                <a:solidFill>
                  <a:srgbClr val="FF0000"/>
                </a:solidFill>
                <a:latin typeface="Helvetica Neue"/>
                <a:ea typeface="Helvetica Neue"/>
                <a:cs typeface="Helvetica Neue"/>
                <a:sym typeface="Helvetica Neue"/>
              </a:rPr>
              <a:t>16      9</a:t>
            </a:r>
            <a:endParaRPr sz="750" b="1" dirty="0">
              <a:solidFill>
                <a:srgbClr val="FF0000"/>
              </a:solidFill>
              <a:latin typeface="Helvetica Neue"/>
              <a:ea typeface="Helvetica Neue"/>
              <a:cs typeface="Helvetica Neue"/>
              <a:sym typeface="Helvetica Neue"/>
            </a:endParaRPr>
          </a:p>
        </p:txBody>
      </p:sp>
      <p:sp>
        <p:nvSpPr>
          <p:cNvPr id="656" name="Google Shape;656;p22"/>
          <p:cNvSpPr txBox="1"/>
          <p:nvPr/>
        </p:nvSpPr>
        <p:spPr>
          <a:xfrm>
            <a:off x="2178432" y="2539760"/>
            <a:ext cx="642147" cy="859836"/>
          </a:xfrm>
          <a:prstGeom prst="rect">
            <a:avLst/>
          </a:prstGeom>
          <a:noFill/>
          <a:ln>
            <a:noFill/>
          </a:ln>
        </p:spPr>
        <p:txBody>
          <a:bodyPr spcFirstLastPara="1" wrap="square" lIns="0" tIns="22640" rIns="0" bIns="0" anchor="t" anchorCtr="0">
            <a:noAutofit/>
          </a:bodyPr>
          <a:lstStyle/>
          <a:p>
            <a:pPr marL="25168">
              <a:lnSpc>
                <a:spcPct val="110000"/>
              </a:lnSpc>
            </a:pPr>
            <a:r>
              <a:rPr lang="en-US" altLang="zh-CN" sz="750" b="1" dirty="0">
                <a:solidFill>
                  <a:srgbClr val="FF0000"/>
                </a:solidFill>
                <a:latin typeface="Helvetica Neue"/>
                <a:ea typeface="Helvetica Neue"/>
                <a:cs typeface="Helvetica Neue"/>
                <a:sym typeface="Helvetica Neue"/>
              </a:rPr>
              <a:t>N28+</a:t>
            </a:r>
            <a:r>
              <a:rPr lang="en-US" sz="750" b="1" dirty="0">
                <a:solidFill>
                  <a:srgbClr val="FF0000"/>
                </a:solidFill>
                <a:latin typeface="Helvetica Neue"/>
                <a:ea typeface="Helvetica Neue"/>
                <a:cs typeface="Helvetica Neue"/>
                <a:sym typeface="Helvetica Neue"/>
              </a:rPr>
              <a:t>1       1</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N28+</a:t>
            </a:r>
            <a:r>
              <a:rPr lang="en-US" sz="750" b="1" dirty="0">
                <a:solidFill>
                  <a:srgbClr val="FF0000"/>
                </a:solidFill>
                <a:latin typeface="Helvetica Neue"/>
                <a:ea typeface="Helvetica Neue"/>
                <a:cs typeface="Helvetica Neue"/>
                <a:sym typeface="Helvetica Neue"/>
              </a:rPr>
              <a:t>2       1</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N28+</a:t>
            </a:r>
            <a:r>
              <a:rPr lang="en-US" sz="750" b="1" dirty="0">
                <a:solidFill>
                  <a:srgbClr val="FF0000"/>
                </a:solidFill>
                <a:latin typeface="Helvetica Neue"/>
                <a:ea typeface="Helvetica Neue"/>
                <a:cs typeface="Helvetica Neue"/>
                <a:sym typeface="Helvetica Neue"/>
              </a:rPr>
              <a:t>4       1</a:t>
            </a:r>
            <a:endParaRPr sz="750" b="1" dirty="0">
              <a:solidFill>
                <a:srgbClr val="FF0000"/>
              </a:solidFill>
              <a:latin typeface="Helvetica Neue"/>
              <a:ea typeface="Helvetica Neue"/>
              <a:cs typeface="Helvetica Neue"/>
              <a:sym typeface="Helvetica Neue"/>
            </a:endParaRPr>
          </a:p>
          <a:p>
            <a:pPr marL="25168">
              <a:lnSpc>
                <a:spcPct val="101111"/>
              </a:lnSpc>
            </a:pPr>
            <a:r>
              <a:rPr lang="en-US" altLang="zh-CN" sz="750" b="1" dirty="0">
                <a:solidFill>
                  <a:srgbClr val="FF0000"/>
                </a:solidFill>
                <a:latin typeface="Helvetica Neue"/>
                <a:ea typeface="Helvetica Neue"/>
                <a:cs typeface="Helvetica Neue"/>
                <a:sym typeface="Helvetica Neue"/>
              </a:rPr>
              <a:t>N28+</a:t>
            </a:r>
            <a:r>
              <a:rPr lang="en-US" sz="750" b="1" dirty="0">
                <a:solidFill>
                  <a:srgbClr val="FF0000"/>
                </a:solidFill>
                <a:latin typeface="Helvetica Neue"/>
                <a:ea typeface="Helvetica Neue"/>
                <a:cs typeface="Helvetica Neue"/>
                <a:sym typeface="Helvetica Neue"/>
              </a:rPr>
              <a:t>8       4</a:t>
            </a:r>
            <a:endParaRPr sz="750" b="1" dirty="0">
              <a:solidFill>
                <a:srgbClr val="FF0000"/>
              </a:solidFill>
              <a:latin typeface="Helvetica Neue"/>
              <a:ea typeface="Helvetica Neue"/>
              <a:cs typeface="Helvetica Neue"/>
              <a:sym typeface="Helvetica Neue"/>
            </a:endParaRPr>
          </a:p>
          <a:p>
            <a:pPr marL="25168">
              <a:lnSpc>
                <a:spcPct val="110000"/>
              </a:lnSpc>
            </a:pPr>
            <a:r>
              <a:rPr lang="en-US" altLang="zh-CN" sz="750" b="1" dirty="0">
                <a:solidFill>
                  <a:srgbClr val="FF0000"/>
                </a:solidFill>
                <a:latin typeface="Helvetica Neue"/>
                <a:ea typeface="Helvetica Neue"/>
                <a:cs typeface="Helvetica Neue"/>
                <a:sym typeface="Helvetica Neue"/>
              </a:rPr>
              <a:t>N28+</a:t>
            </a:r>
            <a:r>
              <a:rPr lang="en-US" sz="750" b="1" dirty="0">
                <a:solidFill>
                  <a:srgbClr val="FF0000"/>
                </a:solidFill>
                <a:latin typeface="Helvetica Neue"/>
                <a:ea typeface="Helvetica Neue"/>
                <a:cs typeface="Helvetica Neue"/>
                <a:sym typeface="Helvetica Neue"/>
              </a:rPr>
              <a:t>16    14</a:t>
            </a:r>
            <a:endParaRPr sz="750" b="1" dirty="0">
              <a:solidFill>
                <a:srgbClr val="FF0000"/>
              </a:solidFill>
              <a:latin typeface="Helvetica Neue"/>
              <a:ea typeface="Helvetica Neue"/>
              <a:cs typeface="Helvetica Neue"/>
              <a:sym typeface="Helvetica Neue"/>
            </a:endParaRPr>
          </a:p>
        </p:txBody>
      </p:sp>
      <p:sp>
        <p:nvSpPr>
          <p:cNvPr id="657" name="Google Shape;657;p22"/>
          <p:cNvSpPr txBox="1"/>
          <p:nvPr/>
        </p:nvSpPr>
        <p:spPr>
          <a:xfrm>
            <a:off x="3681144" y="4249078"/>
            <a:ext cx="889652" cy="353596"/>
          </a:xfrm>
          <a:prstGeom prst="rect">
            <a:avLst/>
          </a:prstGeom>
          <a:noFill/>
          <a:ln>
            <a:noFill/>
          </a:ln>
        </p:spPr>
        <p:txBody>
          <a:bodyPr spcFirstLastPara="1" wrap="square" lIns="0" tIns="26406" rIns="0" bIns="0" anchor="t" anchorCtr="0">
            <a:noAutofit/>
          </a:bodyPr>
          <a:lstStyle/>
          <a:p>
            <a:pPr marL="105702" marR="10067" indent="-81793"/>
            <a:r>
              <a:rPr lang="en-US" sz="991" dirty="0">
                <a:solidFill>
                  <a:srgbClr val="231F20"/>
                </a:solidFill>
                <a:latin typeface="Helvetica Neue"/>
                <a:ea typeface="Helvetica Neue"/>
                <a:cs typeface="Helvetica Neue"/>
                <a:sym typeface="Helvetica Neue"/>
              </a:rPr>
              <a:t>Resolve k = 26  from node 1</a:t>
            </a:r>
            <a:endParaRPr sz="991" dirty="0">
              <a:solidFill>
                <a:schemeClr val="dk1"/>
              </a:solidFill>
              <a:latin typeface="Helvetica Neue"/>
              <a:ea typeface="Helvetica Neue"/>
              <a:cs typeface="Helvetica Neue"/>
              <a:sym typeface="Helvetica Neue"/>
            </a:endParaRPr>
          </a:p>
        </p:txBody>
      </p:sp>
      <p:sp>
        <p:nvSpPr>
          <p:cNvPr id="659" name="Google Shape;659;p22"/>
          <p:cNvSpPr txBox="1"/>
          <p:nvPr/>
        </p:nvSpPr>
        <p:spPr>
          <a:xfrm rot="-2520000">
            <a:off x="6263143" y="1956524"/>
            <a:ext cx="1039590" cy="107750"/>
          </a:xfrm>
          <a:prstGeom prst="rect">
            <a:avLst/>
          </a:prstGeom>
          <a:noFill/>
          <a:ln>
            <a:noFill/>
          </a:ln>
        </p:spPr>
        <p:txBody>
          <a:bodyPr spcFirstLastPara="1" wrap="square" lIns="0" tIns="0" rIns="0" bIns="0" anchor="t" anchorCtr="0">
            <a:noAutofit/>
          </a:bodyPr>
          <a:lstStyle/>
          <a:p>
            <a:pPr>
              <a:lnSpc>
                <a:spcPct val="83809"/>
              </a:lnSpc>
            </a:pPr>
            <a:r>
              <a:rPr lang="en-US" sz="892" dirty="0" err="1">
                <a:solidFill>
                  <a:srgbClr val="231F20"/>
                </a:solidFill>
                <a:latin typeface="Helvetica Neue"/>
                <a:ea typeface="Helvetica Neue"/>
                <a:cs typeface="Helvetica Neue"/>
                <a:sym typeface="Helvetica Neue"/>
              </a:rPr>
              <a:t>succ</a:t>
            </a:r>
            <a:r>
              <a:rPr lang="en-US" sz="892" dirty="0">
                <a:solidFill>
                  <a:srgbClr val="231F20"/>
                </a:solidFill>
                <a:latin typeface="Helvetica Neue"/>
                <a:ea typeface="Helvetica Neue"/>
                <a:cs typeface="Helvetica Neue"/>
                <a:sym typeface="Helvetica Neue"/>
              </a:rPr>
              <a:t>(p + 2</a:t>
            </a:r>
            <a:r>
              <a:rPr lang="en-US" sz="1040" baseline="30000" dirty="0">
                <a:solidFill>
                  <a:srgbClr val="231F20"/>
                </a:solidFill>
                <a:latin typeface="Helvetica Neue"/>
                <a:ea typeface="Helvetica Neue"/>
                <a:cs typeface="Helvetica Neue"/>
                <a:sym typeface="Helvetica Neue"/>
              </a:rPr>
              <a:t>i-1 </a:t>
            </a:r>
            <a:r>
              <a:rPr lang="en-US" sz="892" dirty="0">
                <a:solidFill>
                  <a:srgbClr val="231F20"/>
                </a:solidFill>
                <a:latin typeface="Helvetica Neue"/>
                <a:ea typeface="Helvetica Neue"/>
                <a:cs typeface="Helvetica Neue"/>
                <a:sym typeface="Helvetica Neue"/>
              </a:rPr>
              <a:t>)</a:t>
            </a:r>
            <a:endParaRPr sz="892" dirty="0">
              <a:solidFill>
                <a:schemeClr val="dk1"/>
              </a:solidFill>
              <a:latin typeface="Helvetica Neue"/>
              <a:ea typeface="Helvetica Neue"/>
              <a:cs typeface="Helvetica Neue"/>
              <a:sym typeface="Helvetica Neue"/>
            </a:endParaRPr>
          </a:p>
        </p:txBody>
      </p:sp>
      <p:sp>
        <p:nvSpPr>
          <p:cNvPr id="660" name="Google Shape;660;p22"/>
          <p:cNvSpPr txBox="1"/>
          <p:nvPr/>
        </p:nvSpPr>
        <p:spPr>
          <a:xfrm>
            <a:off x="5031806" y="1598141"/>
            <a:ext cx="726026" cy="631546"/>
          </a:xfrm>
          <a:prstGeom prst="rect">
            <a:avLst/>
          </a:prstGeom>
          <a:noFill/>
          <a:ln>
            <a:noFill/>
          </a:ln>
        </p:spPr>
        <p:txBody>
          <a:bodyPr spcFirstLastPara="1" wrap="square" lIns="0" tIns="25167" rIns="0" bIns="0" anchor="t" anchorCtr="0">
            <a:noAutofit/>
          </a:bodyPr>
          <a:lstStyle/>
          <a:p>
            <a:pPr marL="25168">
              <a:lnSpc>
                <a:spcPct val="86666"/>
              </a:lnSpc>
            </a:pPr>
            <a:r>
              <a:rPr lang="en-US" sz="750" b="1" dirty="0">
                <a:solidFill>
                  <a:srgbClr val="FF0000"/>
                </a:solidFill>
                <a:latin typeface="Helvetica Neue"/>
                <a:ea typeface="Helvetica Neue"/>
                <a:cs typeface="Helvetica Neue"/>
                <a:sym typeface="Helvetica Neue"/>
              </a:rPr>
              <a:t>N1+1         4</a:t>
            </a:r>
          </a:p>
          <a:p>
            <a:pPr marL="25168">
              <a:lnSpc>
                <a:spcPct val="86666"/>
              </a:lnSpc>
            </a:pPr>
            <a:r>
              <a:rPr lang="en-US" sz="750" b="1" dirty="0">
                <a:solidFill>
                  <a:srgbClr val="FF0000"/>
                </a:solidFill>
                <a:latin typeface="Helvetica Neue"/>
                <a:ea typeface="Helvetica Neue"/>
                <a:cs typeface="Helvetica Neue"/>
                <a:sym typeface="Helvetica Neue"/>
              </a:rPr>
              <a:t>N1+2         4</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N1+4         9</a:t>
            </a:r>
            <a:endParaRPr sz="750" b="1" dirty="0">
              <a:solidFill>
                <a:srgbClr val="FF0000"/>
              </a:solidFill>
              <a:latin typeface="Helvetica Neue"/>
              <a:ea typeface="Helvetica Neue"/>
              <a:cs typeface="Helvetica Neue"/>
              <a:sym typeface="Helvetica Neue"/>
            </a:endParaRPr>
          </a:p>
          <a:p>
            <a:pPr marL="25168">
              <a:lnSpc>
                <a:spcPct val="101111"/>
              </a:lnSpc>
            </a:pPr>
            <a:r>
              <a:rPr lang="en-US" sz="750" b="1" dirty="0">
                <a:solidFill>
                  <a:srgbClr val="FF0000"/>
                </a:solidFill>
                <a:latin typeface="Helvetica Neue"/>
                <a:ea typeface="Helvetica Neue"/>
                <a:cs typeface="Helvetica Neue"/>
                <a:sym typeface="Helvetica Neue"/>
              </a:rPr>
              <a:t>N1+8         9</a:t>
            </a:r>
            <a:endParaRPr sz="750" b="1" dirty="0">
              <a:solidFill>
                <a:srgbClr val="FF0000"/>
              </a:solidFill>
              <a:latin typeface="Helvetica Neue"/>
              <a:ea typeface="Helvetica Neue"/>
              <a:cs typeface="Helvetica Neue"/>
              <a:sym typeface="Helvetica Neue"/>
            </a:endParaRPr>
          </a:p>
          <a:p>
            <a:pPr marL="25168">
              <a:lnSpc>
                <a:spcPct val="110000"/>
              </a:lnSpc>
            </a:pPr>
            <a:r>
              <a:rPr lang="en-US" sz="750" b="1" dirty="0">
                <a:solidFill>
                  <a:srgbClr val="FF0000"/>
                </a:solidFill>
                <a:latin typeface="Helvetica Neue"/>
                <a:ea typeface="Helvetica Neue"/>
                <a:cs typeface="Helvetica Neue"/>
                <a:sym typeface="Helvetica Neue"/>
              </a:rPr>
              <a:t>N1+16       18</a:t>
            </a:r>
            <a:endParaRPr sz="750" b="1" dirty="0">
              <a:solidFill>
                <a:srgbClr val="FF0000"/>
              </a:solidFill>
              <a:latin typeface="Helvetica Neue"/>
              <a:ea typeface="Helvetica Neue"/>
              <a:cs typeface="Helvetica Neue"/>
              <a:sym typeface="Helvetica Neue"/>
            </a:endParaRPr>
          </a:p>
          <a:p>
            <a:pPr marR="21392" algn="r">
              <a:spcBef>
                <a:spcPts val="307"/>
              </a:spcBef>
            </a:pPr>
            <a:endParaRPr sz="892" dirty="0">
              <a:solidFill>
                <a:schemeClr val="dk1"/>
              </a:solidFill>
              <a:latin typeface="Helvetica Neue"/>
              <a:ea typeface="Helvetica Neue"/>
              <a:cs typeface="Helvetica Neue"/>
              <a:sym typeface="Helvetica Neue"/>
            </a:endParaRPr>
          </a:p>
        </p:txBody>
      </p:sp>
      <p:sp>
        <p:nvSpPr>
          <p:cNvPr id="661" name="Google Shape;661;p22"/>
          <p:cNvSpPr txBox="1"/>
          <p:nvPr/>
        </p:nvSpPr>
        <p:spPr>
          <a:xfrm>
            <a:off x="2624299" y="2145616"/>
            <a:ext cx="721034" cy="202594"/>
          </a:xfrm>
          <a:prstGeom prst="rect">
            <a:avLst/>
          </a:prstGeom>
          <a:noFill/>
          <a:ln>
            <a:noFill/>
          </a:ln>
        </p:spPr>
        <p:txBody>
          <a:bodyPr spcFirstLastPara="1" wrap="square" lIns="0" tIns="25167" rIns="0" bIns="0" anchor="t" anchorCtr="0">
            <a:noAutofit/>
          </a:bodyPr>
          <a:lstStyle/>
          <a:p>
            <a:pPr marL="25168"/>
            <a:r>
              <a:rPr lang="en-US" sz="991">
                <a:solidFill>
                  <a:srgbClr val="231F20"/>
                </a:solidFill>
                <a:latin typeface="Helvetica Neue"/>
                <a:ea typeface="Helvetica Neue"/>
                <a:cs typeface="Helvetica Neue"/>
                <a:sym typeface="Helvetica Neue"/>
              </a:rPr>
              <a:t>Actual node</a:t>
            </a:r>
            <a:endParaRPr sz="991">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135013345"/>
      </p:ext>
    </p:extLst>
  </p:cSld>
  <p:clrMapOvr>
    <a:masterClrMapping/>
  </p:clrMapOvr>
  <p:transition>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FC8D7E0-76A5-406C-B9B4-E293E777CBD9}"/>
              </a:ext>
            </a:extLst>
          </p:cNvPr>
          <p:cNvSpPr>
            <a:spLocks noGrp="1" noChangeArrowheads="1"/>
          </p:cNvSpPr>
          <p:nvPr>
            <p:ph type="title"/>
          </p:nvPr>
        </p:nvSpPr>
        <p:spPr>
          <a:xfrm>
            <a:off x="358422" y="316089"/>
            <a:ext cx="7772400" cy="1143000"/>
          </a:xfrm>
        </p:spPr>
        <p:txBody>
          <a:bodyPr/>
          <a:lstStyle/>
          <a:p>
            <a:r>
              <a:rPr lang="en-GB" altLang="en-US" sz="3500" dirty="0">
                <a:latin typeface="Calibri Light" panose="020F0302020204030204" pitchFamily="34" charset="0"/>
                <a:cs typeface="Calibri Light" panose="020F0302020204030204" pitchFamily="34" charset="0"/>
              </a:rPr>
              <a:t>Consistent Hashing</a:t>
            </a:r>
            <a:r>
              <a:rPr lang="tr-TR" altLang="en-US" sz="3500" dirty="0">
                <a:latin typeface="Calibri Light" panose="020F0302020204030204" pitchFamily="34" charset="0"/>
                <a:cs typeface="Calibri Light" panose="020F0302020204030204" pitchFamily="34" charset="0"/>
              </a:rPr>
              <a:t> – Join and Departure</a:t>
            </a:r>
            <a:endParaRPr lang="en-US" altLang="en-US" sz="3500" dirty="0">
              <a:latin typeface="Calibri Light" panose="020F0302020204030204" pitchFamily="34" charset="0"/>
              <a:cs typeface="Calibri Light" panose="020F0302020204030204" pitchFamily="34" charset="0"/>
            </a:endParaRPr>
          </a:p>
        </p:txBody>
      </p:sp>
      <p:sp>
        <p:nvSpPr>
          <p:cNvPr id="20483" name="Rectangle 3">
            <a:extLst>
              <a:ext uri="{FF2B5EF4-FFF2-40B4-BE49-F238E27FC236}">
                <a16:creationId xmlns:a16="http://schemas.microsoft.com/office/drawing/2014/main" id="{37DE18BA-2CF5-4E2E-8D05-FD147EE302ED}"/>
              </a:ext>
            </a:extLst>
          </p:cNvPr>
          <p:cNvSpPr>
            <a:spLocks noGrp="1" noChangeArrowheads="1"/>
          </p:cNvSpPr>
          <p:nvPr>
            <p:ph type="body" idx="1"/>
          </p:nvPr>
        </p:nvSpPr>
        <p:spPr/>
        <p:txBody>
          <a:bodyPr/>
          <a:lstStyle/>
          <a:p>
            <a:r>
              <a:rPr lang="tr-TR" altLang="en-US" dirty="0">
                <a:latin typeface="Calibri" panose="020F0502020204030204" pitchFamily="34" charset="0"/>
                <a:cs typeface="Calibri" panose="020F0502020204030204" pitchFamily="34" charset="0"/>
              </a:rPr>
              <a:t>W</a:t>
            </a:r>
            <a:r>
              <a:rPr lang="en-US" altLang="en-US" dirty="0">
                <a:latin typeface="Calibri" panose="020F0502020204030204" pitchFamily="34" charset="0"/>
                <a:cs typeface="Calibri" panose="020F0502020204030204" pitchFamily="34" charset="0"/>
              </a:rPr>
              <a:t>hen a node n joins the network, certain keys</a:t>
            </a:r>
            <a:r>
              <a:rPr lang="tr-TR" altLang="en-US" dirty="0">
                <a:latin typeface="Calibri" panose="020F0502020204030204" pitchFamily="34" charset="0"/>
                <a:cs typeface="Calibri" panose="020F0502020204030204" pitchFamily="34" charset="0"/>
              </a:rPr>
              <a:t> </a:t>
            </a:r>
            <a:r>
              <a:rPr lang="en-US" altLang="en-US" dirty="0">
                <a:latin typeface="Calibri" panose="020F0502020204030204" pitchFamily="34" charset="0"/>
                <a:cs typeface="Calibri" panose="020F0502020204030204" pitchFamily="34" charset="0"/>
              </a:rPr>
              <a:t>previously assigned to n’s successor now become assigned to</a:t>
            </a:r>
            <a:r>
              <a:rPr lang="tr-TR" altLang="en-US" dirty="0">
                <a:latin typeface="Calibri" panose="020F0502020204030204" pitchFamily="34" charset="0"/>
                <a:cs typeface="Calibri" panose="020F0502020204030204" pitchFamily="34" charset="0"/>
              </a:rPr>
              <a:t> </a:t>
            </a:r>
            <a:r>
              <a:rPr lang="en-US" altLang="en-US" dirty="0">
                <a:latin typeface="Calibri" panose="020F0502020204030204" pitchFamily="34" charset="0"/>
                <a:cs typeface="Calibri" panose="020F0502020204030204" pitchFamily="34" charset="0"/>
              </a:rPr>
              <a:t>n. </a:t>
            </a:r>
            <a:endParaRPr lang="tr-TR" altLang="en-US" dirty="0">
              <a:latin typeface="Calibri" panose="020F0502020204030204" pitchFamily="34" charset="0"/>
              <a:cs typeface="Calibri" panose="020F0502020204030204" pitchFamily="34" charset="0"/>
            </a:endParaRPr>
          </a:p>
          <a:p>
            <a:r>
              <a:rPr lang="en-US" altLang="en-US" dirty="0">
                <a:latin typeface="Calibri" panose="020F0502020204030204" pitchFamily="34" charset="0"/>
                <a:cs typeface="Calibri" panose="020F0502020204030204" pitchFamily="34" charset="0"/>
              </a:rPr>
              <a:t>When node n leaves the network, all of its assigned keys are</a:t>
            </a:r>
            <a:r>
              <a:rPr lang="tr-TR" altLang="en-US" dirty="0">
                <a:latin typeface="Calibri" panose="020F0502020204030204" pitchFamily="34" charset="0"/>
                <a:cs typeface="Calibri" panose="020F0502020204030204" pitchFamily="34" charset="0"/>
              </a:rPr>
              <a:t> </a:t>
            </a:r>
            <a:r>
              <a:rPr lang="en-US" altLang="en-US" dirty="0">
                <a:latin typeface="Calibri" panose="020F0502020204030204" pitchFamily="34" charset="0"/>
                <a:cs typeface="Calibri" panose="020F0502020204030204" pitchFamily="34" charset="0"/>
              </a:rPr>
              <a:t>reassigned to n’s successor.</a:t>
            </a:r>
          </a:p>
        </p:txBody>
      </p:sp>
    </p:spTree>
    <p:extLst>
      <p:ext uri="{BB962C8B-B14F-4D97-AF65-F5344CB8AC3E}">
        <p14:creationId xmlns:p14="http://schemas.microsoft.com/office/powerpoint/2010/main" val="17945134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0DD5573-B776-43C2-B6C0-D70CAA398CAC}"/>
              </a:ext>
            </a:extLst>
          </p:cNvPr>
          <p:cNvSpPr>
            <a:spLocks noChangeArrowheads="1"/>
          </p:cNvSpPr>
          <p:nvPr/>
        </p:nvSpPr>
        <p:spPr bwMode="auto">
          <a:xfrm>
            <a:off x="682978" y="2667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Joining the Ring</a:t>
            </a:r>
          </a:p>
        </p:txBody>
      </p:sp>
      <p:sp>
        <p:nvSpPr>
          <p:cNvPr id="33795" name="Text Box 3">
            <a:extLst>
              <a:ext uri="{FF2B5EF4-FFF2-40B4-BE49-F238E27FC236}">
                <a16:creationId xmlns:a16="http://schemas.microsoft.com/office/drawing/2014/main" id="{BD0450C5-65D0-4588-A945-3B66235D9004}"/>
              </a:ext>
            </a:extLst>
          </p:cNvPr>
          <p:cNvSpPr txBox="1">
            <a:spLocks noChangeArrowheads="1"/>
          </p:cNvSpPr>
          <p:nvPr/>
        </p:nvSpPr>
        <p:spPr bwMode="auto">
          <a:xfrm>
            <a:off x="533400" y="1861687"/>
            <a:ext cx="80772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32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Three step process:</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Initialize all fingers of new node</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Update fingers of existing nodes</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Transfer keys from successor to new node</a:t>
            </a:r>
            <a:endParaRPr kumimoji="0" lang="en-US" alt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5E08A61-E236-41C2-92E8-5BDD6B763FE0}"/>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Joining the Ring - Step 1</a:t>
            </a:r>
          </a:p>
        </p:txBody>
      </p:sp>
      <p:sp>
        <p:nvSpPr>
          <p:cNvPr id="34819" name="Text Box 3">
            <a:extLst>
              <a:ext uri="{FF2B5EF4-FFF2-40B4-BE49-F238E27FC236}">
                <a16:creationId xmlns:a16="http://schemas.microsoft.com/office/drawing/2014/main" id="{B81A1506-2B33-4EDB-B8E8-C61B101B9757}"/>
              </a:ext>
            </a:extLst>
          </p:cNvPr>
          <p:cNvSpPr txBox="1">
            <a:spLocks noChangeArrowheads="1"/>
          </p:cNvSpPr>
          <p:nvPr/>
        </p:nvSpPr>
        <p:spPr bwMode="auto">
          <a:xfrm>
            <a:off x="533400" y="1600200"/>
            <a:ext cx="8077200"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1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Initialize the new node finger table</a:t>
            </a:r>
          </a:p>
          <a:p>
            <a:pPr marL="457200" marR="0" lvl="1" indent="0" algn="l" defTabSz="914400" rtl="0" eaLnBrk="0" fontAlgn="base" latinLnBrk="0" hangingPunct="0">
              <a:lnSpc>
                <a:spcPct val="11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Locate any node </a:t>
            </a:r>
            <a:r>
              <a:rPr kumimoji="0" lang="en-US" altLang="en-US" sz="2000" b="0" i="1"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p</a:t>
            </a: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in the ring</a:t>
            </a:r>
          </a:p>
          <a:p>
            <a:pPr marL="457200" marR="0" lvl="1" indent="0" algn="l" defTabSz="914400" rtl="0" eaLnBrk="0" fontAlgn="base" latinLnBrk="0" hangingPunct="0">
              <a:lnSpc>
                <a:spcPct val="11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Ask node </a:t>
            </a:r>
            <a:r>
              <a:rPr kumimoji="0" lang="en-US" altLang="en-US" sz="2000" b="0" i="1"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p</a:t>
            </a: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to lookup fingers of new node N36</a:t>
            </a:r>
          </a:p>
          <a:p>
            <a:pPr marL="457200" marR="0" lvl="1" indent="0" algn="l" defTabSz="914400" rtl="0" eaLnBrk="0" fontAlgn="base" latinLnBrk="0" hangingPunct="0">
              <a:lnSpc>
                <a:spcPct val="11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Return results to new node</a:t>
            </a:r>
          </a:p>
          <a:p>
            <a:pPr marL="457200" marR="0" lvl="1" indent="0" algn="l" defTabSz="914400" rtl="0" eaLnBrk="0" fontAlgn="base" latinLnBrk="0" hangingPunct="0">
              <a:lnSpc>
                <a:spcPct val="110000"/>
              </a:lnSpc>
              <a:spcBef>
                <a:spcPct val="0"/>
              </a:spcBef>
              <a:spcAft>
                <a:spcPct val="50000"/>
              </a:spcAft>
              <a:buClr>
                <a:srgbClr val="FF0000"/>
              </a:buClr>
              <a:buSzPct val="80000"/>
              <a:buFont typeface="Monotype Sorts" charset="2"/>
              <a:buChar char="o"/>
              <a:tabLst/>
              <a:defRPr/>
            </a:pPr>
            <a:endParaRPr kumimoji="0" lang="en-US" alt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p:txBody>
      </p:sp>
      <p:sp>
        <p:nvSpPr>
          <p:cNvPr id="34821" name="Text Box 5">
            <a:extLst>
              <a:ext uri="{FF2B5EF4-FFF2-40B4-BE49-F238E27FC236}">
                <a16:creationId xmlns:a16="http://schemas.microsoft.com/office/drawing/2014/main" id="{EDD8EFAF-28DC-4BD5-B1F6-557037FD0909}"/>
              </a:ext>
            </a:extLst>
          </p:cNvPr>
          <p:cNvSpPr txBox="1">
            <a:spLocks noChangeArrowheads="1"/>
          </p:cNvSpPr>
          <p:nvPr/>
        </p:nvSpPr>
        <p:spPr bwMode="auto">
          <a:xfrm>
            <a:off x="838200" y="4495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Helvetica" panose="020B0604020202020204" pitchFamily="34" charset="0"/>
                <a:ea typeface="+mn-ea"/>
                <a:cs typeface="+mn-cs"/>
              </a:rPr>
              <a:t>N36</a:t>
            </a:r>
          </a:p>
        </p:txBody>
      </p:sp>
      <p:sp>
        <p:nvSpPr>
          <p:cNvPr id="34825" name="Text Box 9">
            <a:extLst>
              <a:ext uri="{FF2B5EF4-FFF2-40B4-BE49-F238E27FC236}">
                <a16:creationId xmlns:a16="http://schemas.microsoft.com/office/drawing/2014/main" id="{4B96E06C-94F4-4816-A92D-B8863767FFA3}"/>
              </a:ext>
            </a:extLst>
          </p:cNvPr>
          <p:cNvSpPr txBox="1">
            <a:spLocks noChangeArrowheads="1"/>
          </p:cNvSpPr>
          <p:nvPr/>
        </p:nvSpPr>
        <p:spPr bwMode="auto">
          <a:xfrm>
            <a:off x="1219200" y="4953000"/>
            <a:ext cx="339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1. Lookup(37,38,40,…,100,164)</a:t>
            </a:r>
          </a:p>
        </p:txBody>
      </p:sp>
      <p:sp>
        <p:nvSpPr>
          <p:cNvPr id="34831" name="Text Box 15">
            <a:extLst>
              <a:ext uri="{FF2B5EF4-FFF2-40B4-BE49-F238E27FC236}">
                <a16:creationId xmlns:a16="http://schemas.microsoft.com/office/drawing/2014/main" id="{13F7CD79-FD7D-41F7-97BA-8876FD066FD0}"/>
              </a:ext>
            </a:extLst>
          </p:cNvPr>
          <p:cNvSpPr txBox="1">
            <a:spLocks noChangeArrowheads="1"/>
          </p:cNvSpPr>
          <p:nvPr/>
        </p:nvSpPr>
        <p:spPr bwMode="auto">
          <a:xfrm>
            <a:off x="5648325" y="61642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N60</a:t>
            </a:r>
          </a:p>
        </p:txBody>
      </p:sp>
      <p:sp>
        <p:nvSpPr>
          <p:cNvPr id="34832" name="Line 16">
            <a:extLst>
              <a:ext uri="{FF2B5EF4-FFF2-40B4-BE49-F238E27FC236}">
                <a16:creationId xmlns:a16="http://schemas.microsoft.com/office/drawing/2014/main" id="{E9281D09-52F6-446F-B8F1-71AA2456354E}"/>
              </a:ext>
            </a:extLst>
          </p:cNvPr>
          <p:cNvSpPr>
            <a:spLocks noChangeShapeType="1"/>
          </p:cNvSpPr>
          <p:nvPr/>
        </p:nvSpPr>
        <p:spPr bwMode="auto">
          <a:xfrm flipV="1">
            <a:off x="1447800" y="4572000"/>
            <a:ext cx="24384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33" name="Oval 17">
            <a:extLst>
              <a:ext uri="{FF2B5EF4-FFF2-40B4-BE49-F238E27FC236}">
                <a16:creationId xmlns:a16="http://schemas.microsoft.com/office/drawing/2014/main" id="{5E926969-6CF9-4BF4-8ED9-0FEB4F7FC644}"/>
              </a:ext>
            </a:extLst>
          </p:cNvPr>
          <p:cNvSpPr>
            <a:spLocks noChangeArrowheads="1"/>
          </p:cNvSpPr>
          <p:nvPr/>
        </p:nvSpPr>
        <p:spPr bwMode="auto">
          <a:xfrm>
            <a:off x="4608513" y="3806825"/>
            <a:ext cx="2462212" cy="224948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34" name="Text Box 18">
            <a:extLst>
              <a:ext uri="{FF2B5EF4-FFF2-40B4-BE49-F238E27FC236}">
                <a16:creationId xmlns:a16="http://schemas.microsoft.com/office/drawing/2014/main" id="{2595144C-1D2C-4430-BB10-59A3E15ADE50}"/>
              </a:ext>
            </a:extLst>
          </p:cNvPr>
          <p:cNvSpPr txBox="1">
            <a:spLocks noChangeArrowheads="1"/>
          </p:cNvSpPr>
          <p:nvPr/>
        </p:nvSpPr>
        <p:spPr bwMode="auto">
          <a:xfrm>
            <a:off x="7089775" y="5130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N40</a:t>
            </a:r>
          </a:p>
        </p:txBody>
      </p:sp>
      <p:sp>
        <p:nvSpPr>
          <p:cNvPr id="34836" name="Text Box 20">
            <a:extLst>
              <a:ext uri="{FF2B5EF4-FFF2-40B4-BE49-F238E27FC236}">
                <a16:creationId xmlns:a16="http://schemas.microsoft.com/office/drawing/2014/main" id="{124DB114-ADF9-4036-BFD7-4DEEEFB84118}"/>
              </a:ext>
            </a:extLst>
          </p:cNvPr>
          <p:cNvSpPr txBox="1">
            <a:spLocks noChangeArrowheads="1"/>
          </p:cNvSpPr>
          <p:nvPr/>
        </p:nvSpPr>
        <p:spPr bwMode="auto">
          <a:xfrm>
            <a:off x="6067425" y="3429000"/>
            <a:ext cx="485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a:t>
            </a:r>
          </a:p>
        </p:txBody>
      </p:sp>
      <p:sp>
        <p:nvSpPr>
          <p:cNvPr id="34837" name="Text Box 21">
            <a:extLst>
              <a:ext uri="{FF2B5EF4-FFF2-40B4-BE49-F238E27FC236}">
                <a16:creationId xmlns:a16="http://schemas.microsoft.com/office/drawing/2014/main" id="{E65F6E17-57BB-4425-A83D-79384EAE4525}"/>
              </a:ext>
            </a:extLst>
          </p:cNvPr>
          <p:cNvSpPr txBox="1">
            <a:spLocks noChangeArrowheads="1"/>
          </p:cNvSpPr>
          <p:nvPr/>
        </p:nvSpPr>
        <p:spPr bwMode="auto">
          <a:xfrm>
            <a:off x="7010400" y="40640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N20</a:t>
            </a:r>
          </a:p>
        </p:txBody>
      </p:sp>
      <p:sp>
        <p:nvSpPr>
          <p:cNvPr id="34839" name="Text Box 23">
            <a:extLst>
              <a:ext uri="{FF2B5EF4-FFF2-40B4-BE49-F238E27FC236}">
                <a16:creationId xmlns:a16="http://schemas.microsoft.com/office/drawing/2014/main" id="{1E6BAF43-CFC0-4D23-9F40-69AD7A62DAC0}"/>
              </a:ext>
            </a:extLst>
          </p:cNvPr>
          <p:cNvSpPr txBox="1">
            <a:spLocks noChangeArrowheads="1"/>
          </p:cNvSpPr>
          <p:nvPr/>
        </p:nvSpPr>
        <p:spPr bwMode="auto">
          <a:xfrm>
            <a:off x="3962400" y="4368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N99</a:t>
            </a:r>
          </a:p>
        </p:txBody>
      </p:sp>
      <p:sp>
        <p:nvSpPr>
          <p:cNvPr id="34840" name="Text Box 24">
            <a:extLst>
              <a:ext uri="{FF2B5EF4-FFF2-40B4-BE49-F238E27FC236}">
                <a16:creationId xmlns:a16="http://schemas.microsoft.com/office/drawing/2014/main" id="{34B40B77-770A-4FF5-8E25-1C7D64EF8992}"/>
              </a:ext>
            </a:extLst>
          </p:cNvPr>
          <p:cNvSpPr txBox="1">
            <a:spLocks noChangeArrowheads="1"/>
          </p:cNvSpPr>
          <p:nvPr/>
        </p:nvSpPr>
        <p:spPr bwMode="auto">
          <a:xfrm>
            <a:off x="4267200" y="56435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N80</a:t>
            </a:r>
          </a:p>
        </p:txBody>
      </p:sp>
      <p:sp>
        <p:nvSpPr>
          <p:cNvPr id="2" name="TextBox 1">
            <a:extLst>
              <a:ext uri="{FF2B5EF4-FFF2-40B4-BE49-F238E27FC236}">
                <a16:creationId xmlns:a16="http://schemas.microsoft.com/office/drawing/2014/main" id="{57829E32-7EBF-4189-8542-014A513FDCB1}"/>
              </a:ext>
            </a:extLst>
          </p:cNvPr>
          <p:cNvSpPr txBox="1"/>
          <p:nvPr/>
        </p:nvSpPr>
        <p:spPr>
          <a:xfrm>
            <a:off x="1332089" y="5643563"/>
            <a:ext cx="2382661" cy="1200329"/>
          </a:xfrm>
          <a:prstGeom prst="rect">
            <a:avLst/>
          </a:prstGeom>
          <a:noFill/>
        </p:spPr>
        <p:txBody>
          <a:bodyPr wrap="square" rtlCol="0">
            <a:spAutoFit/>
          </a:bodyPr>
          <a:lstStyle/>
          <a:p>
            <a:r>
              <a:rPr lang="en-US" dirty="0"/>
              <a:t>Here, 37=36+2</a:t>
            </a:r>
            <a:r>
              <a:rPr lang="en-US" baseline="30000" dirty="0"/>
              <a:t>0</a:t>
            </a:r>
            <a:r>
              <a:rPr lang="en-US" dirty="0"/>
              <a:t>; 38=36+2</a:t>
            </a:r>
            <a:r>
              <a:rPr lang="en-US" baseline="30000" dirty="0"/>
              <a:t>1</a:t>
            </a:r>
            <a:r>
              <a:rPr lang="en-US" dirty="0"/>
              <a:t>; 40=36+2</a:t>
            </a:r>
            <a:r>
              <a:rPr lang="en-US" baseline="30000" dirty="0"/>
              <a:t>2</a:t>
            </a:r>
            <a:endParaRPr lang="en-US" dirty="0"/>
          </a:p>
          <a:p>
            <a:r>
              <a:rPr lang="en-US" dirty="0"/>
              <a:t>…; 100=36+2</a:t>
            </a:r>
            <a:r>
              <a:rPr lang="en-US" baseline="30000" dirty="0"/>
              <a:t>6</a:t>
            </a:r>
            <a:endParaRPr lang="en-US" dirty="0"/>
          </a:p>
          <a:p>
            <a:r>
              <a:rPr lang="en-US" dirty="0"/>
              <a:t>164=36+2</a:t>
            </a:r>
            <a:r>
              <a:rPr lang="en-US" baseline="30000" dirty="0"/>
              <a:t>7</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DD24178-F241-43F2-B9EF-596E09000558}"/>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Joining the Ring - Step 2</a:t>
            </a:r>
          </a:p>
        </p:txBody>
      </p:sp>
      <p:sp>
        <p:nvSpPr>
          <p:cNvPr id="35843" name="Text Box 3">
            <a:extLst>
              <a:ext uri="{FF2B5EF4-FFF2-40B4-BE49-F238E27FC236}">
                <a16:creationId xmlns:a16="http://schemas.microsoft.com/office/drawing/2014/main" id="{2CD05DA1-15CC-4126-9ACD-B5BF8552EDC4}"/>
              </a:ext>
            </a:extLst>
          </p:cNvPr>
          <p:cNvSpPr txBox="1">
            <a:spLocks noChangeArrowheads="1"/>
          </p:cNvSpPr>
          <p:nvPr/>
        </p:nvSpPr>
        <p:spPr bwMode="auto">
          <a:xfrm>
            <a:off x="533400" y="1755775"/>
            <a:ext cx="80772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Updating fingers of existing nodes</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new node calls update function on existing nodes</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existing nodes can recursively update fingers of other nodes</a:t>
            </a:r>
          </a:p>
        </p:txBody>
      </p:sp>
      <p:sp>
        <p:nvSpPr>
          <p:cNvPr id="35844" name="Text Box 4">
            <a:extLst>
              <a:ext uri="{FF2B5EF4-FFF2-40B4-BE49-F238E27FC236}">
                <a16:creationId xmlns:a16="http://schemas.microsoft.com/office/drawing/2014/main" id="{94C3DEA1-9626-469B-A584-C4179D79FB2D}"/>
              </a:ext>
            </a:extLst>
          </p:cNvPr>
          <p:cNvSpPr txBox="1">
            <a:spLocks noChangeArrowheads="1"/>
          </p:cNvSpPr>
          <p:nvPr/>
        </p:nvSpPr>
        <p:spPr bwMode="auto">
          <a:xfrm>
            <a:off x="4267200" y="46482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Helvetica" panose="020B0604020202020204" pitchFamily="34" charset="0"/>
                <a:ea typeface="+mn-ea"/>
                <a:cs typeface="+mn-cs"/>
              </a:rPr>
              <a:t>N36</a:t>
            </a:r>
          </a:p>
        </p:txBody>
      </p:sp>
      <p:sp>
        <p:nvSpPr>
          <p:cNvPr id="35846" name="Text Box 6">
            <a:extLst>
              <a:ext uri="{FF2B5EF4-FFF2-40B4-BE49-F238E27FC236}">
                <a16:creationId xmlns:a16="http://schemas.microsoft.com/office/drawing/2014/main" id="{642A53EC-277B-41EF-87FE-D5E3CC6BE6A1}"/>
              </a:ext>
            </a:extLst>
          </p:cNvPr>
          <p:cNvSpPr txBox="1">
            <a:spLocks noChangeArrowheads="1"/>
          </p:cNvSpPr>
          <p:nvPr/>
        </p:nvSpPr>
        <p:spPr bwMode="auto">
          <a:xfrm>
            <a:off x="2752725" y="61642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N60</a:t>
            </a:r>
          </a:p>
        </p:txBody>
      </p:sp>
      <p:sp>
        <p:nvSpPr>
          <p:cNvPr id="35848" name="Oval 8">
            <a:extLst>
              <a:ext uri="{FF2B5EF4-FFF2-40B4-BE49-F238E27FC236}">
                <a16:creationId xmlns:a16="http://schemas.microsoft.com/office/drawing/2014/main" id="{DE05CF25-815E-4BDB-B419-CE3BC40AA2C1}"/>
              </a:ext>
            </a:extLst>
          </p:cNvPr>
          <p:cNvSpPr>
            <a:spLocks noChangeArrowheads="1"/>
          </p:cNvSpPr>
          <p:nvPr/>
        </p:nvSpPr>
        <p:spPr bwMode="auto">
          <a:xfrm>
            <a:off x="1712913" y="3806825"/>
            <a:ext cx="2462212" cy="224948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5849" name="Text Box 9">
            <a:extLst>
              <a:ext uri="{FF2B5EF4-FFF2-40B4-BE49-F238E27FC236}">
                <a16:creationId xmlns:a16="http://schemas.microsoft.com/office/drawing/2014/main" id="{A9C48638-946F-4BE3-BCA6-F66B84720D99}"/>
              </a:ext>
            </a:extLst>
          </p:cNvPr>
          <p:cNvSpPr txBox="1">
            <a:spLocks noChangeArrowheads="1"/>
          </p:cNvSpPr>
          <p:nvPr/>
        </p:nvSpPr>
        <p:spPr bwMode="auto">
          <a:xfrm>
            <a:off x="4194175" y="53387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N40</a:t>
            </a:r>
          </a:p>
        </p:txBody>
      </p:sp>
      <p:sp>
        <p:nvSpPr>
          <p:cNvPr id="35850" name="Text Box 10">
            <a:extLst>
              <a:ext uri="{FF2B5EF4-FFF2-40B4-BE49-F238E27FC236}">
                <a16:creationId xmlns:a16="http://schemas.microsoft.com/office/drawing/2014/main" id="{1761AA2D-E02A-4DF2-9C15-6FBA315A062D}"/>
              </a:ext>
            </a:extLst>
          </p:cNvPr>
          <p:cNvSpPr txBox="1">
            <a:spLocks noChangeArrowheads="1"/>
          </p:cNvSpPr>
          <p:nvPr/>
        </p:nvSpPr>
        <p:spPr bwMode="auto">
          <a:xfrm>
            <a:off x="2895600" y="3454400"/>
            <a:ext cx="485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a:t>
            </a:r>
          </a:p>
        </p:txBody>
      </p:sp>
      <p:sp>
        <p:nvSpPr>
          <p:cNvPr id="35851" name="Text Box 11">
            <a:extLst>
              <a:ext uri="{FF2B5EF4-FFF2-40B4-BE49-F238E27FC236}">
                <a16:creationId xmlns:a16="http://schemas.microsoft.com/office/drawing/2014/main" id="{F324133F-C21F-4CF2-8637-EDA59347AC74}"/>
              </a:ext>
            </a:extLst>
          </p:cNvPr>
          <p:cNvSpPr txBox="1">
            <a:spLocks noChangeArrowheads="1"/>
          </p:cNvSpPr>
          <p:nvPr/>
        </p:nvSpPr>
        <p:spPr bwMode="auto">
          <a:xfrm>
            <a:off x="4114800" y="40640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N20</a:t>
            </a:r>
          </a:p>
        </p:txBody>
      </p:sp>
      <p:sp>
        <p:nvSpPr>
          <p:cNvPr id="35852" name="Text Box 12">
            <a:extLst>
              <a:ext uri="{FF2B5EF4-FFF2-40B4-BE49-F238E27FC236}">
                <a16:creationId xmlns:a16="http://schemas.microsoft.com/office/drawing/2014/main" id="{67B7AA72-7BA7-45DA-9812-7C02BEC47254}"/>
              </a:ext>
            </a:extLst>
          </p:cNvPr>
          <p:cNvSpPr txBox="1">
            <a:spLocks noChangeArrowheads="1"/>
          </p:cNvSpPr>
          <p:nvPr/>
        </p:nvSpPr>
        <p:spPr bwMode="auto">
          <a:xfrm>
            <a:off x="1066800" y="4368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N99</a:t>
            </a:r>
          </a:p>
        </p:txBody>
      </p:sp>
      <p:sp>
        <p:nvSpPr>
          <p:cNvPr id="35853" name="Text Box 13">
            <a:extLst>
              <a:ext uri="{FF2B5EF4-FFF2-40B4-BE49-F238E27FC236}">
                <a16:creationId xmlns:a16="http://schemas.microsoft.com/office/drawing/2014/main" id="{B557CCB8-FFC0-47EE-B117-D382F0CEE50A}"/>
              </a:ext>
            </a:extLst>
          </p:cNvPr>
          <p:cNvSpPr txBox="1">
            <a:spLocks noChangeArrowheads="1"/>
          </p:cNvSpPr>
          <p:nvPr/>
        </p:nvSpPr>
        <p:spPr bwMode="auto">
          <a:xfrm>
            <a:off x="1438275" y="56308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N80</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1B683F9-37BC-4EDF-9F7B-953BAFC36465}"/>
              </a:ext>
            </a:extLst>
          </p:cNvPr>
          <p:cNvSpPr>
            <a:spLocks noChangeArrowheads="1"/>
          </p:cNvSpPr>
          <p:nvPr/>
        </p:nvSpPr>
        <p:spPr bwMode="auto">
          <a:xfrm>
            <a:off x="762000" y="304800"/>
            <a:ext cx="7620000" cy="990600"/>
          </a:xfrm>
          <a:prstGeom prst="rect">
            <a:avLst/>
          </a:prstGeom>
          <a:noFill/>
          <a:ln w="9525">
            <a:noFill/>
            <a:miter lim="800000"/>
            <a:headEnd/>
            <a:tailEnd/>
          </a:ln>
          <a:effectLst/>
        </p:spPr>
        <p:txBody>
          <a:bodyPr wrap="none"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dirty="0">
                <a:ln>
                  <a:noFill/>
                </a:ln>
                <a:effectLst/>
                <a:uLnTx/>
                <a:uFillTx/>
                <a:latin typeface="Calibri Light" panose="020F0302020204030204" pitchFamily="34" charset="0"/>
                <a:cs typeface="Calibri Light" panose="020F0302020204030204" pitchFamily="34" charset="0"/>
              </a:rPr>
              <a:t>Joining the Ring - Step 3</a:t>
            </a:r>
          </a:p>
        </p:txBody>
      </p:sp>
      <p:sp>
        <p:nvSpPr>
          <p:cNvPr id="36867" name="Text Box 3">
            <a:extLst>
              <a:ext uri="{FF2B5EF4-FFF2-40B4-BE49-F238E27FC236}">
                <a16:creationId xmlns:a16="http://schemas.microsoft.com/office/drawing/2014/main" id="{807977BD-6CD2-4E6B-BD27-CD01D86F2F90}"/>
              </a:ext>
            </a:extLst>
          </p:cNvPr>
          <p:cNvSpPr txBox="1">
            <a:spLocks noChangeArrowheads="1"/>
          </p:cNvSpPr>
          <p:nvPr/>
        </p:nvSpPr>
        <p:spPr bwMode="auto">
          <a:xfrm>
            <a:off x="533400" y="1755775"/>
            <a:ext cx="80772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4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Transfer keys from successor node to new node</a:t>
            </a:r>
          </a:p>
          <a:p>
            <a:pPr marL="457200" marR="0" lvl="1" indent="0" algn="l" defTabSz="914400" rtl="0" eaLnBrk="0" fontAlgn="base" latinLnBrk="0" hangingPunct="0">
              <a:lnSpc>
                <a:spcPct val="100000"/>
              </a:lnSpc>
              <a:spcBef>
                <a:spcPct val="0"/>
              </a:spcBef>
              <a:spcAft>
                <a:spcPct val="50000"/>
              </a:spcAft>
              <a:buClr>
                <a:srgbClr val="FF0000"/>
              </a:buClr>
              <a:buSzPct val="80000"/>
              <a:buFont typeface="Monotype Sorts" charset="2"/>
              <a:buChar char="o"/>
              <a:tabLst/>
              <a:defRPr/>
            </a:pPr>
            <a:r>
              <a:rPr kumimoji="0" lang="en-US" altLang="en-US" sz="2000" b="0" i="0" u="none" strike="noStrike" kern="1200" cap="none" spc="0" normalizeH="0" baseline="0" noProof="0">
                <a:ln>
                  <a:noFill/>
                </a:ln>
                <a:solidFill>
                  <a:srgbClr val="000000"/>
                </a:solidFill>
                <a:effectLst/>
                <a:uLnTx/>
                <a:uFillTx/>
                <a:latin typeface="Comic Sans MS" panose="030F0702030302020204" pitchFamily="66" charset="0"/>
                <a:ea typeface="+mn-ea"/>
                <a:cs typeface="+mn-cs"/>
              </a:rPr>
              <a:t> only keys in the range are transferred </a:t>
            </a:r>
          </a:p>
        </p:txBody>
      </p:sp>
      <p:sp>
        <p:nvSpPr>
          <p:cNvPr id="36868" name="Text Box 4">
            <a:extLst>
              <a:ext uri="{FF2B5EF4-FFF2-40B4-BE49-F238E27FC236}">
                <a16:creationId xmlns:a16="http://schemas.microsoft.com/office/drawing/2014/main" id="{5F19E65F-E274-4C9B-8DFD-952D09BE6338}"/>
              </a:ext>
            </a:extLst>
          </p:cNvPr>
          <p:cNvSpPr txBox="1">
            <a:spLocks noChangeArrowheads="1"/>
          </p:cNvSpPr>
          <p:nvPr/>
        </p:nvSpPr>
        <p:spPr bwMode="auto">
          <a:xfrm>
            <a:off x="5791200" y="4699000"/>
            <a:ext cx="217764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Copy keys 20…35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from N40 to N36</a:t>
            </a:r>
          </a:p>
        </p:txBody>
      </p:sp>
      <p:sp>
        <p:nvSpPr>
          <p:cNvPr id="36871" name="Text Box 7">
            <a:extLst>
              <a:ext uri="{FF2B5EF4-FFF2-40B4-BE49-F238E27FC236}">
                <a16:creationId xmlns:a16="http://schemas.microsoft.com/office/drawing/2014/main" id="{CC991EDF-641A-4A6F-9F9C-8A08B5C3E73C}"/>
              </a:ext>
            </a:extLst>
          </p:cNvPr>
          <p:cNvSpPr txBox="1">
            <a:spLocks noChangeArrowheads="1"/>
          </p:cNvSpPr>
          <p:nvPr/>
        </p:nvSpPr>
        <p:spPr bwMode="auto">
          <a:xfrm>
            <a:off x="4267200" y="43942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Helvetica" panose="020B0604020202020204" pitchFamily="34" charset="0"/>
                <a:ea typeface="+mn-ea"/>
                <a:cs typeface="+mn-cs"/>
              </a:rPr>
              <a:t>N36</a:t>
            </a:r>
          </a:p>
        </p:txBody>
      </p:sp>
      <p:sp>
        <p:nvSpPr>
          <p:cNvPr id="36872" name="Text Box 8">
            <a:extLst>
              <a:ext uri="{FF2B5EF4-FFF2-40B4-BE49-F238E27FC236}">
                <a16:creationId xmlns:a16="http://schemas.microsoft.com/office/drawing/2014/main" id="{E8189E05-3EF1-4CBF-9BA2-D2A547B78975}"/>
              </a:ext>
            </a:extLst>
          </p:cNvPr>
          <p:cNvSpPr txBox="1">
            <a:spLocks noChangeArrowheads="1"/>
          </p:cNvSpPr>
          <p:nvPr/>
        </p:nvSpPr>
        <p:spPr bwMode="auto">
          <a:xfrm>
            <a:off x="2752725" y="59102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N60</a:t>
            </a:r>
          </a:p>
        </p:txBody>
      </p:sp>
      <p:sp>
        <p:nvSpPr>
          <p:cNvPr id="36873" name="Oval 9">
            <a:extLst>
              <a:ext uri="{FF2B5EF4-FFF2-40B4-BE49-F238E27FC236}">
                <a16:creationId xmlns:a16="http://schemas.microsoft.com/office/drawing/2014/main" id="{4F1076FA-1CD2-4520-BEAF-007A9B92DE4D}"/>
              </a:ext>
            </a:extLst>
          </p:cNvPr>
          <p:cNvSpPr>
            <a:spLocks noChangeArrowheads="1"/>
          </p:cNvSpPr>
          <p:nvPr/>
        </p:nvSpPr>
        <p:spPr bwMode="auto">
          <a:xfrm>
            <a:off x="1712913" y="3552825"/>
            <a:ext cx="2462212" cy="224948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74" name="Text Box 10">
            <a:extLst>
              <a:ext uri="{FF2B5EF4-FFF2-40B4-BE49-F238E27FC236}">
                <a16:creationId xmlns:a16="http://schemas.microsoft.com/office/drawing/2014/main" id="{8AED6950-9F65-4C91-8DBA-83A9FD5BE48E}"/>
              </a:ext>
            </a:extLst>
          </p:cNvPr>
          <p:cNvSpPr txBox="1">
            <a:spLocks noChangeArrowheads="1"/>
          </p:cNvSpPr>
          <p:nvPr/>
        </p:nvSpPr>
        <p:spPr bwMode="auto">
          <a:xfrm>
            <a:off x="4194175" y="50847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N40</a:t>
            </a:r>
          </a:p>
        </p:txBody>
      </p:sp>
      <p:sp>
        <p:nvSpPr>
          <p:cNvPr id="36875" name="Text Box 11">
            <a:extLst>
              <a:ext uri="{FF2B5EF4-FFF2-40B4-BE49-F238E27FC236}">
                <a16:creationId xmlns:a16="http://schemas.microsoft.com/office/drawing/2014/main" id="{0048D7AC-ED38-4FAF-8859-D0F774114519}"/>
              </a:ext>
            </a:extLst>
          </p:cNvPr>
          <p:cNvSpPr txBox="1">
            <a:spLocks noChangeArrowheads="1"/>
          </p:cNvSpPr>
          <p:nvPr/>
        </p:nvSpPr>
        <p:spPr bwMode="auto">
          <a:xfrm>
            <a:off x="2895600" y="3200400"/>
            <a:ext cx="485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N5</a:t>
            </a:r>
          </a:p>
        </p:txBody>
      </p:sp>
      <p:sp>
        <p:nvSpPr>
          <p:cNvPr id="36876" name="Text Box 12">
            <a:extLst>
              <a:ext uri="{FF2B5EF4-FFF2-40B4-BE49-F238E27FC236}">
                <a16:creationId xmlns:a16="http://schemas.microsoft.com/office/drawing/2014/main" id="{1B45ED02-0A2F-4417-A56A-F20746568149}"/>
              </a:ext>
            </a:extLst>
          </p:cNvPr>
          <p:cNvSpPr txBox="1">
            <a:spLocks noChangeArrowheads="1"/>
          </p:cNvSpPr>
          <p:nvPr/>
        </p:nvSpPr>
        <p:spPr bwMode="auto">
          <a:xfrm>
            <a:off x="4114800" y="38100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N20</a:t>
            </a:r>
          </a:p>
        </p:txBody>
      </p:sp>
      <p:sp>
        <p:nvSpPr>
          <p:cNvPr id="36877" name="Text Box 13">
            <a:extLst>
              <a:ext uri="{FF2B5EF4-FFF2-40B4-BE49-F238E27FC236}">
                <a16:creationId xmlns:a16="http://schemas.microsoft.com/office/drawing/2014/main" id="{6C479DA8-2253-4137-8F63-A6677A23D420}"/>
              </a:ext>
            </a:extLst>
          </p:cNvPr>
          <p:cNvSpPr txBox="1">
            <a:spLocks noChangeArrowheads="1"/>
          </p:cNvSpPr>
          <p:nvPr/>
        </p:nvSpPr>
        <p:spPr bwMode="auto">
          <a:xfrm>
            <a:off x="1066800" y="4114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N99</a:t>
            </a:r>
          </a:p>
        </p:txBody>
      </p:sp>
      <p:sp>
        <p:nvSpPr>
          <p:cNvPr id="36878" name="Text Box 14">
            <a:extLst>
              <a:ext uri="{FF2B5EF4-FFF2-40B4-BE49-F238E27FC236}">
                <a16:creationId xmlns:a16="http://schemas.microsoft.com/office/drawing/2014/main" id="{4F624FA3-6A46-4E02-ADAD-A264AC9CF695}"/>
              </a:ext>
            </a:extLst>
          </p:cNvPr>
          <p:cNvSpPr txBox="1">
            <a:spLocks noChangeArrowheads="1"/>
          </p:cNvSpPr>
          <p:nvPr/>
        </p:nvSpPr>
        <p:spPr bwMode="auto">
          <a:xfrm>
            <a:off x="1438275" y="53768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3333CC"/>
                </a:solidFill>
                <a:effectLst/>
                <a:uLnTx/>
                <a:uFillTx/>
                <a:latin typeface="Helvetica" panose="020B0604020202020204" pitchFamily="34" charset="0"/>
                <a:ea typeface="+mn-ea"/>
                <a:cs typeface="+mn-cs"/>
              </a:rPr>
              <a:t>N80</a:t>
            </a:r>
          </a:p>
        </p:txBody>
      </p:sp>
      <p:sp>
        <p:nvSpPr>
          <p:cNvPr id="36880" name="Freeform 16">
            <a:extLst>
              <a:ext uri="{FF2B5EF4-FFF2-40B4-BE49-F238E27FC236}">
                <a16:creationId xmlns:a16="http://schemas.microsoft.com/office/drawing/2014/main" id="{51BC2ADC-F365-4AF6-8063-DE2C4F022B9A}"/>
              </a:ext>
            </a:extLst>
          </p:cNvPr>
          <p:cNvSpPr>
            <a:spLocks/>
          </p:cNvSpPr>
          <p:nvPr/>
        </p:nvSpPr>
        <p:spPr bwMode="auto">
          <a:xfrm>
            <a:off x="4876800" y="4622800"/>
            <a:ext cx="469900" cy="533400"/>
          </a:xfrm>
          <a:custGeom>
            <a:avLst/>
            <a:gdLst>
              <a:gd name="T0" fmla="*/ 48 w 296"/>
              <a:gd name="T1" fmla="*/ 432 h 432"/>
              <a:gd name="T2" fmla="*/ 288 w 296"/>
              <a:gd name="T3" fmla="*/ 144 h 432"/>
              <a:gd name="T4" fmla="*/ 0 w 296"/>
              <a:gd name="T5" fmla="*/ 0 h 432"/>
            </a:gdLst>
            <a:ahLst/>
            <a:cxnLst>
              <a:cxn ang="0">
                <a:pos x="T0" y="T1"/>
              </a:cxn>
              <a:cxn ang="0">
                <a:pos x="T2" y="T3"/>
              </a:cxn>
              <a:cxn ang="0">
                <a:pos x="T4" y="T5"/>
              </a:cxn>
            </a:cxnLst>
            <a:rect l="0" t="0" r="r" b="b"/>
            <a:pathLst>
              <a:path w="296" h="432">
                <a:moveTo>
                  <a:pt x="48" y="432"/>
                </a:moveTo>
                <a:cubicBezTo>
                  <a:pt x="172" y="324"/>
                  <a:pt x="296" y="216"/>
                  <a:pt x="288" y="144"/>
                </a:cubicBezTo>
                <a:cubicBezTo>
                  <a:pt x="280" y="72"/>
                  <a:pt x="48" y="24"/>
                  <a:pt x="0"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grpSp>
        <p:nvGrpSpPr>
          <p:cNvPr id="36882" name="Group 18">
            <a:extLst>
              <a:ext uri="{FF2B5EF4-FFF2-40B4-BE49-F238E27FC236}">
                <a16:creationId xmlns:a16="http://schemas.microsoft.com/office/drawing/2014/main" id="{0EE2E7DD-B54E-453C-9A4D-49F270A70BF2}"/>
              </a:ext>
            </a:extLst>
          </p:cNvPr>
          <p:cNvGrpSpPr>
            <a:grpSpLocks/>
          </p:cNvGrpSpPr>
          <p:nvPr/>
        </p:nvGrpSpPr>
        <p:grpSpPr bwMode="auto">
          <a:xfrm>
            <a:off x="4800600" y="4318000"/>
            <a:ext cx="762000" cy="1235075"/>
            <a:chOff x="3024" y="2880"/>
            <a:chExt cx="480" cy="778"/>
          </a:xfrm>
        </p:grpSpPr>
        <p:sp>
          <p:nvSpPr>
            <p:cNvPr id="36870" name="Text Box 6">
              <a:extLst>
                <a:ext uri="{FF2B5EF4-FFF2-40B4-BE49-F238E27FC236}">
                  <a16:creationId xmlns:a16="http://schemas.microsoft.com/office/drawing/2014/main" id="{1CF74D35-1628-4921-AB90-9C7839D469D9}"/>
                </a:ext>
              </a:extLst>
            </p:cNvPr>
            <p:cNvSpPr txBox="1">
              <a:spLocks noChangeArrowheads="1"/>
            </p:cNvSpPr>
            <p:nvPr/>
          </p:nvSpPr>
          <p:spPr bwMode="auto">
            <a:xfrm>
              <a:off x="3120" y="288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CC00"/>
                  </a:solidFill>
                  <a:effectLst/>
                  <a:uLnTx/>
                  <a:uFillTx/>
                  <a:latin typeface="Tahoma" panose="020B0604030504040204" pitchFamily="34" charset="0"/>
                  <a:ea typeface="+mn-ea"/>
                  <a:cs typeface="+mn-cs"/>
                </a:rPr>
                <a:t>K30</a:t>
              </a:r>
            </a:p>
          </p:txBody>
        </p:sp>
        <p:sp>
          <p:nvSpPr>
            <p:cNvPr id="36881" name="Text Box 17">
              <a:extLst>
                <a:ext uri="{FF2B5EF4-FFF2-40B4-BE49-F238E27FC236}">
                  <a16:creationId xmlns:a16="http://schemas.microsoft.com/office/drawing/2014/main" id="{A18DED54-3BE5-4738-B171-9D908DB35483}"/>
                </a:ext>
              </a:extLst>
            </p:cNvPr>
            <p:cNvSpPr txBox="1">
              <a:spLocks noChangeArrowheads="1"/>
            </p:cNvSpPr>
            <p:nvPr/>
          </p:nvSpPr>
          <p:spPr bwMode="auto">
            <a:xfrm>
              <a:off x="3024" y="340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CC00"/>
                  </a:solidFill>
                  <a:effectLst/>
                  <a:uLnTx/>
                  <a:uFillTx/>
                  <a:latin typeface="Tahoma" panose="020B0604030504040204" pitchFamily="34" charset="0"/>
                  <a:ea typeface="+mn-ea"/>
                  <a:cs typeface="+mn-cs"/>
                </a:rPr>
                <a:t>K38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8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116FC334-AEEE-48D3-AFD2-244180651277}"/>
              </a:ext>
            </a:extLst>
          </p:cNvPr>
          <p:cNvSpPr>
            <a:spLocks noGrp="1" noChangeArrowheads="1"/>
          </p:cNvSpPr>
          <p:nvPr>
            <p:ph type="title"/>
          </p:nvPr>
        </p:nvSpPr>
        <p:spPr>
          <a:xfrm>
            <a:off x="457200" y="381000"/>
            <a:ext cx="8229600" cy="1143000"/>
          </a:xfrm>
        </p:spPr>
        <p:txBody>
          <a:bodyPr/>
          <a:lstStyle/>
          <a:p>
            <a:pPr algn="l"/>
            <a:r>
              <a:rPr lang="en-US" altLang="en-US" dirty="0">
                <a:latin typeface="Calibri Light" panose="020F0302020204030204" pitchFamily="34" charset="0"/>
                <a:cs typeface="Calibri Light" panose="020F0302020204030204" pitchFamily="34" charset="0"/>
              </a:rPr>
              <a:t>Handling failures: redundancy</a:t>
            </a:r>
          </a:p>
        </p:txBody>
      </p:sp>
      <p:sp>
        <p:nvSpPr>
          <p:cNvPr id="416771" name="Oval 3">
            <a:extLst>
              <a:ext uri="{FF2B5EF4-FFF2-40B4-BE49-F238E27FC236}">
                <a16:creationId xmlns:a16="http://schemas.microsoft.com/office/drawing/2014/main" id="{E140697C-305E-404B-A82A-F0E0CAC78F18}"/>
              </a:ext>
            </a:extLst>
          </p:cNvPr>
          <p:cNvSpPr>
            <a:spLocks noChangeArrowheads="1"/>
          </p:cNvSpPr>
          <p:nvPr/>
        </p:nvSpPr>
        <p:spPr bwMode="auto">
          <a:xfrm>
            <a:off x="3048000" y="2133600"/>
            <a:ext cx="3043238" cy="30480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6772" name="Text Box 4">
            <a:extLst>
              <a:ext uri="{FF2B5EF4-FFF2-40B4-BE49-F238E27FC236}">
                <a16:creationId xmlns:a16="http://schemas.microsoft.com/office/drawing/2014/main" id="{57E662CB-A664-4F0B-B8A5-99D01DEAEC34}"/>
              </a:ext>
            </a:extLst>
          </p:cNvPr>
          <p:cNvSpPr txBox="1">
            <a:spLocks noChangeArrowheads="1"/>
          </p:cNvSpPr>
          <p:nvPr/>
        </p:nvSpPr>
        <p:spPr bwMode="auto">
          <a:xfrm>
            <a:off x="6172200" y="3733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N32</a:t>
            </a:r>
          </a:p>
        </p:txBody>
      </p:sp>
      <p:sp>
        <p:nvSpPr>
          <p:cNvPr id="416773" name="Text Box 5">
            <a:extLst>
              <a:ext uri="{FF2B5EF4-FFF2-40B4-BE49-F238E27FC236}">
                <a16:creationId xmlns:a16="http://schemas.microsoft.com/office/drawing/2014/main" id="{3C9970CC-6162-4530-AB9D-8978708A949D}"/>
              </a:ext>
            </a:extLst>
          </p:cNvPr>
          <p:cNvSpPr txBox="1">
            <a:spLocks noChangeArrowheads="1"/>
          </p:cNvSpPr>
          <p:nvPr/>
        </p:nvSpPr>
        <p:spPr bwMode="auto">
          <a:xfrm>
            <a:off x="5715000" y="21336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N10</a:t>
            </a:r>
          </a:p>
        </p:txBody>
      </p:sp>
      <p:sp>
        <p:nvSpPr>
          <p:cNvPr id="416774" name="Text Box 6">
            <a:extLst>
              <a:ext uri="{FF2B5EF4-FFF2-40B4-BE49-F238E27FC236}">
                <a16:creationId xmlns:a16="http://schemas.microsoft.com/office/drawing/2014/main" id="{F32543C8-D2D0-4505-BDA9-436C85DC9A89}"/>
              </a:ext>
            </a:extLst>
          </p:cNvPr>
          <p:cNvSpPr txBox="1">
            <a:spLocks noChangeArrowheads="1"/>
          </p:cNvSpPr>
          <p:nvPr/>
        </p:nvSpPr>
        <p:spPr bwMode="auto">
          <a:xfrm>
            <a:off x="4724400" y="1676400"/>
            <a:ext cx="485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N5</a:t>
            </a:r>
          </a:p>
        </p:txBody>
      </p:sp>
      <p:sp>
        <p:nvSpPr>
          <p:cNvPr id="416775" name="Text Box 7">
            <a:extLst>
              <a:ext uri="{FF2B5EF4-FFF2-40B4-BE49-F238E27FC236}">
                <a16:creationId xmlns:a16="http://schemas.microsoft.com/office/drawing/2014/main" id="{8778933A-C603-4744-BC06-92EC84A3692C}"/>
              </a:ext>
            </a:extLst>
          </p:cNvPr>
          <p:cNvSpPr txBox="1">
            <a:spLocks noChangeArrowheads="1"/>
          </p:cNvSpPr>
          <p:nvPr/>
        </p:nvSpPr>
        <p:spPr bwMode="auto">
          <a:xfrm>
            <a:off x="6096000" y="2900363"/>
            <a:ext cx="612775" cy="376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N20</a:t>
            </a:r>
          </a:p>
        </p:txBody>
      </p:sp>
      <p:sp>
        <p:nvSpPr>
          <p:cNvPr id="416776" name="Text Box 8">
            <a:extLst>
              <a:ext uri="{FF2B5EF4-FFF2-40B4-BE49-F238E27FC236}">
                <a16:creationId xmlns:a16="http://schemas.microsoft.com/office/drawing/2014/main" id="{FA0E5CAC-A353-46A4-9788-FDBE168BEAFF}"/>
              </a:ext>
            </a:extLst>
          </p:cNvPr>
          <p:cNvSpPr txBox="1">
            <a:spLocks noChangeArrowheads="1"/>
          </p:cNvSpPr>
          <p:nvPr/>
        </p:nvSpPr>
        <p:spPr bwMode="auto">
          <a:xfrm>
            <a:off x="2590800" y="2286000"/>
            <a:ext cx="739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N110</a:t>
            </a:r>
          </a:p>
        </p:txBody>
      </p:sp>
      <p:sp>
        <p:nvSpPr>
          <p:cNvPr id="416777" name="Text Box 9">
            <a:extLst>
              <a:ext uri="{FF2B5EF4-FFF2-40B4-BE49-F238E27FC236}">
                <a16:creationId xmlns:a16="http://schemas.microsoft.com/office/drawing/2014/main" id="{8F5AD890-F23B-4B81-9934-D2D1A0D5D44D}"/>
              </a:ext>
            </a:extLst>
          </p:cNvPr>
          <p:cNvSpPr txBox="1">
            <a:spLocks noChangeArrowheads="1"/>
          </p:cNvSpPr>
          <p:nvPr/>
        </p:nvSpPr>
        <p:spPr bwMode="auto">
          <a:xfrm>
            <a:off x="2362200" y="32766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N99</a:t>
            </a:r>
          </a:p>
        </p:txBody>
      </p:sp>
      <p:sp>
        <p:nvSpPr>
          <p:cNvPr id="416778" name="Text Box 10">
            <a:extLst>
              <a:ext uri="{FF2B5EF4-FFF2-40B4-BE49-F238E27FC236}">
                <a16:creationId xmlns:a16="http://schemas.microsoft.com/office/drawing/2014/main" id="{A51E8814-0657-4B8D-89DB-B44D8E970E12}"/>
              </a:ext>
            </a:extLst>
          </p:cNvPr>
          <p:cNvSpPr txBox="1">
            <a:spLocks noChangeArrowheads="1"/>
          </p:cNvSpPr>
          <p:nvPr/>
        </p:nvSpPr>
        <p:spPr bwMode="auto">
          <a:xfrm>
            <a:off x="2743200" y="47244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N80</a:t>
            </a:r>
          </a:p>
        </p:txBody>
      </p:sp>
      <p:sp>
        <p:nvSpPr>
          <p:cNvPr id="416779" name="Text Box 11">
            <a:extLst>
              <a:ext uri="{FF2B5EF4-FFF2-40B4-BE49-F238E27FC236}">
                <a16:creationId xmlns:a16="http://schemas.microsoft.com/office/drawing/2014/main" id="{F66FFF6C-3D54-40B3-858F-D3165D53B680}"/>
              </a:ext>
            </a:extLst>
          </p:cNvPr>
          <p:cNvSpPr txBox="1">
            <a:spLocks noChangeArrowheads="1"/>
          </p:cNvSpPr>
          <p:nvPr/>
        </p:nvSpPr>
        <p:spPr bwMode="auto">
          <a:xfrm>
            <a:off x="4800600" y="52578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N60</a:t>
            </a:r>
          </a:p>
        </p:txBody>
      </p:sp>
      <p:sp>
        <p:nvSpPr>
          <p:cNvPr id="416780" name="Text Box 12">
            <a:extLst>
              <a:ext uri="{FF2B5EF4-FFF2-40B4-BE49-F238E27FC236}">
                <a16:creationId xmlns:a16="http://schemas.microsoft.com/office/drawing/2014/main" id="{A1A40057-D82A-4643-BCBF-F3F9A4643C4B}"/>
              </a:ext>
            </a:extLst>
          </p:cNvPr>
          <p:cNvSpPr txBox="1">
            <a:spLocks noChangeArrowheads="1"/>
          </p:cNvSpPr>
          <p:nvPr/>
        </p:nvSpPr>
        <p:spPr bwMode="auto">
          <a:xfrm>
            <a:off x="365125" y="5791200"/>
            <a:ext cx="713323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Char char="•"/>
            </a:pPr>
            <a:r>
              <a:rPr lang="en-US" altLang="en-US" sz="2800" dirty="0">
                <a:latin typeface="Calibri" panose="020F0502020204030204" pitchFamily="34" charset="0"/>
                <a:cs typeface="Calibri" panose="020F0502020204030204" pitchFamily="34" charset="0"/>
              </a:rPr>
              <a:t> Each node knows IP addresses of next </a:t>
            </a:r>
            <a:r>
              <a:rPr lang="en-US" altLang="en-US" sz="2800" i="1" dirty="0">
                <a:latin typeface="Calibri" panose="020F0502020204030204" pitchFamily="34" charset="0"/>
                <a:cs typeface="Calibri" panose="020F0502020204030204" pitchFamily="34" charset="0"/>
              </a:rPr>
              <a:t>r</a:t>
            </a:r>
            <a:r>
              <a:rPr lang="en-US" altLang="en-US" sz="2800" dirty="0">
                <a:latin typeface="Calibri" panose="020F0502020204030204" pitchFamily="34" charset="0"/>
                <a:cs typeface="Calibri" panose="020F0502020204030204" pitchFamily="34" charset="0"/>
              </a:rPr>
              <a:t> nodes</a:t>
            </a:r>
          </a:p>
          <a:p>
            <a:pPr eaLnBrk="1" hangingPunct="1">
              <a:spcBef>
                <a:spcPct val="0"/>
              </a:spcBef>
              <a:buFontTx/>
              <a:buChar char="•"/>
            </a:pPr>
            <a:r>
              <a:rPr lang="en-US" altLang="en-US" sz="2800" dirty="0">
                <a:latin typeface="Calibri" panose="020F0502020204030204" pitchFamily="34" charset="0"/>
                <a:cs typeface="Calibri" panose="020F0502020204030204" pitchFamily="34" charset="0"/>
              </a:rPr>
              <a:t> Each key is replicated at next </a:t>
            </a:r>
            <a:r>
              <a:rPr lang="en-US" altLang="en-US" sz="2800" i="1" dirty="0">
                <a:latin typeface="Calibri" panose="020F0502020204030204" pitchFamily="34" charset="0"/>
                <a:cs typeface="Calibri" panose="020F0502020204030204" pitchFamily="34" charset="0"/>
              </a:rPr>
              <a:t>r </a:t>
            </a:r>
            <a:r>
              <a:rPr lang="en-US" altLang="en-US" sz="2800" dirty="0">
                <a:latin typeface="Calibri" panose="020F0502020204030204" pitchFamily="34" charset="0"/>
                <a:cs typeface="Calibri" panose="020F0502020204030204" pitchFamily="34" charset="0"/>
              </a:rPr>
              <a:t>nodes</a:t>
            </a:r>
          </a:p>
        </p:txBody>
      </p:sp>
      <p:sp>
        <p:nvSpPr>
          <p:cNvPr id="416781" name="Freeform 13">
            <a:extLst>
              <a:ext uri="{FF2B5EF4-FFF2-40B4-BE49-F238E27FC236}">
                <a16:creationId xmlns:a16="http://schemas.microsoft.com/office/drawing/2014/main" id="{9C7DEACE-D025-429D-8CFE-31C0A4AAE1F9}"/>
              </a:ext>
            </a:extLst>
          </p:cNvPr>
          <p:cNvSpPr>
            <a:spLocks/>
          </p:cNvSpPr>
          <p:nvPr/>
        </p:nvSpPr>
        <p:spPr bwMode="auto">
          <a:xfrm>
            <a:off x="4876800" y="2209800"/>
            <a:ext cx="609600" cy="355600"/>
          </a:xfrm>
          <a:custGeom>
            <a:avLst/>
            <a:gdLst>
              <a:gd name="T0" fmla="*/ 0 w 384"/>
              <a:gd name="T1" fmla="*/ 0 h 224"/>
              <a:gd name="T2" fmla="*/ 144 w 384"/>
              <a:gd name="T3" fmla="*/ 192 h 224"/>
              <a:gd name="T4" fmla="*/ 384 w 384"/>
              <a:gd name="T5" fmla="*/ 192 h 224"/>
            </a:gdLst>
            <a:ahLst/>
            <a:cxnLst>
              <a:cxn ang="0">
                <a:pos x="T0" y="T1"/>
              </a:cxn>
              <a:cxn ang="0">
                <a:pos x="T2" y="T3"/>
              </a:cxn>
              <a:cxn ang="0">
                <a:pos x="T4" y="T5"/>
              </a:cxn>
            </a:cxnLst>
            <a:rect l="0" t="0" r="r" b="b"/>
            <a:pathLst>
              <a:path w="384" h="224">
                <a:moveTo>
                  <a:pt x="0" y="0"/>
                </a:moveTo>
                <a:cubicBezTo>
                  <a:pt x="40" y="80"/>
                  <a:pt x="80" y="160"/>
                  <a:pt x="144" y="192"/>
                </a:cubicBezTo>
                <a:cubicBezTo>
                  <a:pt x="208" y="224"/>
                  <a:pt x="296" y="208"/>
                  <a:pt x="384" y="19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16782" name="Freeform 14">
            <a:extLst>
              <a:ext uri="{FF2B5EF4-FFF2-40B4-BE49-F238E27FC236}">
                <a16:creationId xmlns:a16="http://schemas.microsoft.com/office/drawing/2014/main" id="{F516F223-4DDE-4282-B11C-46EEE9E5B36C}"/>
              </a:ext>
            </a:extLst>
          </p:cNvPr>
          <p:cNvSpPr>
            <a:spLocks/>
          </p:cNvSpPr>
          <p:nvPr/>
        </p:nvSpPr>
        <p:spPr bwMode="auto">
          <a:xfrm>
            <a:off x="4876800" y="2209800"/>
            <a:ext cx="1066800" cy="901700"/>
          </a:xfrm>
          <a:custGeom>
            <a:avLst/>
            <a:gdLst>
              <a:gd name="T0" fmla="*/ 0 w 672"/>
              <a:gd name="T1" fmla="*/ 0 h 568"/>
              <a:gd name="T2" fmla="*/ 144 w 672"/>
              <a:gd name="T3" fmla="*/ 480 h 568"/>
              <a:gd name="T4" fmla="*/ 672 w 672"/>
              <a:gd name="T5" fmla="*/ 528 h 568"/>
            </a:gdLst>
            <a:ahLst/>
            <a:cxnLst>
              <a:cxn ang="0">
                <a:pos x="T0" y="T1"/>
              </a:cxn>
              <a:cxn ang="0">
                <a:pos x="T2" y="T3"/>
              </a:cxn>
              <a:cxn ang="0">
                <a:pos x="T4" y="T5"/>
              </a:cxn>
            </a:cxnLst>
            <a:rect l="0" t="0" r="r" b="b"/>
            <a:pathLst>
              <a:path w="672" h="568">
                <a:moveTo>
                  <a:pt x="0" y="0"/>
                </a:moveTo>
                <a:cubicBezTo>
                  <a:pt x="16" y="196"/>
                  <a:pt x="32" y="392"/>
                  <a:pt x="144" y="480"/>
                </a:cubicBezTo>
                <a:cubicBezTo>
                  <a:pt x="256" y="568"/>
                  <a:pt x="592" y="520"/>
                  <a:pt x="672" y="528"/>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16783" name="Freeform 15">
            <a:extLst>
              <a:ext uri="{FF2B5EF4-FFF2-40B4-BE49-F238E27FC236}">
                <a16:creationId xmlns:a16="http://schemas.microsoft.com/office/drawing/2014/main" id="{55CB91F3-5CE4-4DBE-938B-AA306C94CF99}"/>
              </a:ext>
            </a:extLst>
          </p:cNvPr>
          <p:cNvSpPr>
            <a:spLocks/>
          </p:cNvSpPr>
          <p:nvPr/>
        </p:nvSpPr>
        <p:spPr bwMode="auto">
          <a:xfrm>
            <a:off x="4838700" y="2209800"/>
            <a:ext cx="1181100" cy="1447800"/>
          </a:xfrm>
          <a:custGeom>
            <a:avLst/>
            <a:gdLst>
              <a:gd name="T0" fmla="*/ 24 w 744"/>
              <a:gd name="T1" fmla="*/ 0 h 912"/>
              <a:gd name="T2" fmla="*/ 120 w 744"/>
              <a:gd name="T3" fmla="*/ 576 h 912"/>
              <a:gd name="T4" fmla="*/ 744 w 744"/>
              <a:gd name="T5" fmla="*/ 912 h 912"/>
            </a:gdLst>
            <a:ahLst/>
            <a:cxnLst>
              <a:cxn ang="0">
                <a:pos x="T0" y="T1"/>
              </a:cxn>
              <a:cxn ang="0">
                <a:pos x="T2" y="T3"/>
              </a:cxn>
              <a:cxn ang="0">
                <a:pos x="T4" y="T5"/>
              </a:cxn>
            </a:cxnLst>
            <a:rect l="0" t="0" r="r" b="b"/>
            <a:pathLst>
              <a:path w="744" h="912">
                <a:moveTo>
                  <a:pt x="24" y="0"/>
                </a:moveTo>
                <a:cubicBezTo>
                  <a:pt x="12" y="212"/>
                  <a:pt x="0" y="424"/>
                  <a:pt x="120" y="576"/>
                </a:cubicBezTo>
                <a:cubicBezTo>
                  <a:pt x="240" y="728"/>
                  <a:pt x="492" y="820"/>
                  <a:pt x="744" y="91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16784" name="Text Box 16">
            <a:extLst>
              <a:ext uri="{FF2B5EF4-FFF2-40B4-BE49-F238E27FC236}">
                <a16:creationId xmlns:a16="http://schemas.microsoft.com/office/drawing/2014/main" id="{6654A431-303D-432F-A1FD-29E3C95A238C}"/>
              </a:ext>
            </a:extLst>
          </p:cNvPr>
          <p:cNvSpPr txBox="1">
            <a:spLocks noChangeArrowheads="1"/>
          </p:cNvSpPr>
          <p:nvPr/>
        </p:nvSpPr>
        <p:spPr bwMode="auto">
          <a:xfrm>
            <a:off x="5943600" y="4419600"/>
            <a:ext cx="612775"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1800">
                <a:solidFill>
                  <a:schemeClr val="accent2"/>
                </a:solidFill>
                <a:latin typeface="Helvetica" panose="020B0604020202020204" pitchFamily="34" charset="0"/>
              </a:rPr>
              <a:t>N40</a:t>
            </a:r>
          </a:p>
        </p:txBody>
      </p:sp>
      <p:grpSp>
        <p:nvGrpSpPr>
          <p:cNvPr id="416785" name="Group 17">
            <a:extLst>
              <a:ext uri="{FF2B5EF4-FFF2-40B4-BE49-F238E27FC236}">
                <a16:creationId xmlns:a16="http://schemas.microsoft.com/office/drawing/2014/main" id="{B56198C5-92A9-45A5-8C55-B6806C0DCE86}"/>
              </a:ext>
            </a:extLst>
          </p:cNvPr>
          <p:cNvGrpSpPr>
            <a:grpSpLocks/>
          </p:cNvGrpSpPr>
          <p:nvPr/>
        </p:nvGrpSpPr>
        <p:grpSpPr bwMode="auto">
          <a:xfrm>
            <a:off x="6629400" y="2590800"/>
            <a:ext cx="838200" cy="2149475"/>
            <a:chOff x="4176" y="1632"/>
            <a:chExt cx="528" cy="1354"/>
          </a:xfrm>
        </p:grpSpPr>
        <p:sp>
          <p:nvSpPr>
            <p:cNvPr id="416786" name="Text Box 18">
              <a:extLst>
                <a:ext uri="{FF2B5EF4-FFF2-40B4-BE49-F238E27FC236}">
                  <a16:creationId xmlns:a16="http://schemas.microsoft.com/office/drawing/2014/main" id="{077E096C-42C1-4EFA-A497-6EAE6C289A4C}"/>
                </a:ext>
              </a:extLst>
            </p:cNvPr>
            <p:cNvSpPr txBox="1">
              <a:spLocks noChangeArrowheads="1"/>
            </p:cNvSpPr>
            <p:nvPr/>
          </p:nvSpPr>
          <p:spPr bwMode="auto">
            <a:xfrm>
              <a:off x="4272" y="163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2000">
                  <a:solidFill>
                    <a:srgbClr val="00CC00"/>
                  </a:solidFill>
                  <a:latin typeface="Tahoma" panose="020B0604030504040204" pitchFamily="34" charset="0"/>
                </a:rPr>
                <a:t>K19</a:t>
              </a:r>
            </a:p>
          </p:txBody>
        </p:sp>
        <p:grpSp>
          <p:nvGrpSpPr>
            <p:cNvPr id="416787" name="Group 19">
              <a:extLst>
                <a:ext uri="{FF2B5EF4-FFF2-40B4-BE49-F238E27FC236}">
                  <a16:creationId xmlns:a16="http://schemas.microsoft.com/office/drawing/2014/main" id="{0F8D944A-8402-4B4A-975B-47F85A3E92AF}"/>
                </a:ext>
              </a:extLst>
            </p:cNvPr>
            <p:cNvGrpSpPr>
              <a:grpSpLocks/>
            </p:cNvGrpSpPr>
            <p:nvPr/>
          </p:nvGrpSpPr>
          <p:grpSpPr bwMode="auto">
            <a:xfrm>
              <a:off x="4176" y="2208"/>
              <a:ext cx="528" cy="778"/>
              <a:chOff x="4176" y="2208"/>
              <a:chExt cx="528" cy="778"/>
            </a:xfrm>
          </p:grpSpPr>
          <p:sp>
            <p:nvSpPr>
              <p:cNvPr id="416788" name="Text Box 20">
                <a:extLst>
                  <a:ext uri="{FF2B5EF4-FFF2-40B4-BE49-F238E27FC236}">
                    <a16:creationId xmlns:a16="http://schemas.microsoft.com/office/drawing/2014/main" id="{25FAA431-4AB8-4E81-A47B-F4153EFA9403}"/>
                  </a:ext>
                </a:extLst>
              </p:cNvPr>
              <p:cNvSpPr txBox="1">
                <a:spLocks noChangeArrowheads="1"/>
              </p:cNvSpPr>
              <p:nvPr/>
            </p:nvSpPr>
            <p:spPr bwMode="auto">
              <a:xfrm>
                <a:off x="4320" y="220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2000">
                    <a:solidFill>
                      <a:srgbClr val="00CC00"/>
                    </a:solidFill>
                    <a:latin typeface="Tahoma" panose="020B0604030504040204" pitchFamily="34" charset="0"/>
                  </a:rPr>
                  <a:t>K19</a:t>
                </a:r>
              </a:p>
            </p:txBody>
          </p:sp>
          <p:sp>
            <p:nvSpPr>
              <p:cNvPr id="416789" name="Text Box 21">
                <a:extLst>
                  <a:ext uri="{FF2B5EF4-FFF2-40B4-BE49-F238E27FC236}">
                    <a16:creationId xmlns:a16="http://schemas.microsoft.com/office/drawing/2014/main" id="{580FBE88-2045-4F0A-A3B7-D96D4C2F084F}"/>
                  </a:ext>
                </a:extLst>
              </p:cNvPr>
              <p:cNvSpPr txBox="1">
                <a:spLocks noChangeArrowheads="1"/>
              </p:cNvSpPr>
              <p:nvPr/>
            </p:nvSpPr>
            <p:spPr bwMode="auto">
              <a:xfrm>
                <a:off x="4176" y="2736"/>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pPr>
                <a:r>
                  <a:rPr lang="en-US" altLang="en-US" sz="2000">
                    <a:solidFill>
                      <a:srgbClr val="00CC00"/>
                    </a:solidFill>
                    <a:latin typeface="Tahoma" panose="020B0604030504040204" pitchFamily="34" charset="0"/>
                  </a:rPr>
                  <a:t>K19</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16785"/>
                                        </p:tgtEl>
                                        <p:attrNameLst>
                                          <p:attrName>style.visibility</p:attrName>
                                        </p:attrNameLst>
                                      </p:cBhvr>
                                      <p:to>
                                        <p:strVal val="visible"/>
                                      </p:to>
                                    </p:set>
                                    <p:anim calcmode="lin" valueType="num">
                                      <p:cBhvr additive="base">
                                        <p:cTn id="7" dur="500" fill="hold"/>
                                        <p:tgtEl>
                                          <p:spTgt spid="416785"/>
                                        </p:tgtEl>
                                        <p:attrNameLst>
                                          <p:attrName>ppt_x</p:attrName>
                                        </p:attrNameLst>
                                      </p:cBhvr>
                                      <p:tavLst>
                                        <p:tav tm="0">
                                          <p:val>
                                            <p:strVal val="0-#ppt_w/2"/>
                                          </p:val>
                                        </p:tav>
                                        <p:tav tm="100000">
                                          <p:val>
                                            <p:strVal val="#ppt_x"/>
                                          </p:val>
                                        </p:tav>
                                      </p:tavLst>
                                    </p:anim>
                                    <p:anim calcmode="lin" valueType="num">
                                      <p:cBhvr additive="base">
                                        <p:cTn id="8" dur="500" fill="hold"/>
                                        <p:tgtEl>
                                          <p:spTgt spid="4167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C461-33B1-4641-A3E1-51424A46B71A}"/>
              </a:ext>
            </a:extLst>
          </p:cNvPr>
          <p:cNvSpPr>
            <a:spLocks noGrp="1"/>
          </p:cNvSpPr>
          <p:nvPr>
            <p:ph type="title"/>
          </p:nvPr>
        </p:nvSpPr>
        <p:spPr/>
        <p:txBody>
          <a:bodyPr/>
          <a:lstStyle/>
          <a:p>
            <a:pPr algn="l"/>
            <a:r>
              <a:rPr lang="en-US" dirty="0">
                <a:latin typeface="Calibri Light" panose="020F0302020204030204" pitchFamily="34" charset="0"/>
                <a:cs typeface="Calibri Light" panose="020F0302020204030204" pitchFamily="34" charset="0"/>
              </a:rPr>
              <a:t>Applications</a:t>
            </a:r>
          </a:p>
        </p:txBody>
      </p:sp>
      <p:sp>
        <p:nvSpPr>
          <p:cNvPr id="3" name="TextBox 2">
            <a:extLst>
              <a:ext uri="{FF2B5EF4-FFF2-40B4-BE49-F238E27FC236}">
                <a16:creationId xmlns:a16="http://schemas.microsoft.com/office/drawing/2014/main" id="{CB6D04AB-71C9-4287-9103-B555944A005A}"/>
              </a:ext>
            </a:extLst>
          </p:cNvPr>
          <p:cNvSpPr txBox="1"/>
          <p:nvPr/>
        </p:nvSpPr>
        <p:spPr>
          <a:xfrm>
            <a:off x="824089" y="2280355"/>
            <a:ext cx="7913511" cy="3046988"/>
          </a:xfrm>
          <a:prstGeom prst="rect">
            <a:avLst/>
          </a:prstGeom>
          <a:noFill/>
        </p:spPr>
        <p:txBody>
          <a:bodyPr wrap="square" rtlCol="0">
            <a:spAutoFit/>
          </a:bodyPr>
          <a:lstStyle/>
          <a:p>
            <a:r>
              <a:rPr lang="en-US" sz="3200" dirty="0">
                <a:latin typeface="Calibri" panose="020F0502020204030204" pitchFamily="34" charset="0"/>
                <a:cs typeface="Calibri" panose="020F0502020204030204" pitchFamily="34" charset="0"/>
              </a:rPr>
              <a:t>The idea of Chord has been widely adopted in many decentralized </a:t>
            </a:r>
            <a:r>
              <a:rPr lang="en-US" altLang="zh-CN" sz="3200" dirty="0">
                <a:latin typeface="Calibri" panose="020F0502020204030204" pitchFamily="34" charset="0"/>
                <a:cs typeface="Calibri" panose="020F0502020204030204" pitchFamily="34" charset="0"/>
              </a:rPr>
              <a:t>data storage</a:t>
            </a:r>
            <a:r>
              <a:rPr lang="en-US" sz="3200" dirty="0">
                <a:latin typeface="Calibri" panose="020F0502020204030204" pitchFamily="34" charset="0"/>
                <a:cs typeface="Calibri" panose="020F0502020204030204" pitchFamily="34" charset="0"/>
              </a:rPr>
              <a:t> applications, including:</a:t>
            </a:r>
          </a:p>
          <a:p>
            <a:pPr marL="742950" lvl="1" indent="-285750">
              <a:buFont typeface="Arial" panose="020B0604020202020204" pitchFamily="34" charset="0"/>
              <a:buChar char="•"/>
            </a:pPr>
            <a:r>
              <a:rPr lang="en-US" altLang="zh-CN" sz="3200" dirty="0">
                <a:latin typeface="Calibri" panose="020F0502020204030204" pitchFamily="34" charset="0"/>
                <a:cs typeface="Calibri" panose="020F0502020204030204" pitchFamily="34" charset="0"/>
              </a:rPr>
              <a:t>Amazon Dynamo</a:t>
            </a:r>
          </a:p>
          <a:p>
            <a:pPr marL="742950" lvl="1" indent="-285750">
              <a:buFont typeface="Arial" panose="020B0604020202020204" pitchFamily="34" charset="0"/>
              <a:buChar char="•"/>
            </a:pPr>
            <a:r>
              <a:rPr lang="en-US" sz="3200" dirty="0">
                <a:latin typeface="Calibri" panose="020F0502020204030204" pitchFamily="34" charset="0"/>
                <a:cs typeface="Calibri" panose="020F0502020204030204" pitchFamily="34" charset="0"/>
              </a:rPr>
              <a:t>Facebook Cassandra</a:t>
            </a:r>
          </a:p>
          <a:p>
            <a:pPr marL="742950" lvl="1" indent="-285750">
              <a:buFont typeface="Arial" panose="020B0604020202020204" pitchFamily="34" charset="0"/>
              <a:buChar char="•"/>
            </a:pPr>
            <a:r>
              <a:rPr lang="en-US" sz="3200" dirty="0">
                <a:latin typeface="Calibri" panose="020F0502020204030204" pitchFamily="34" charset="0"/>
                <a:cs typeface="Calibri" panose="020F0502020204030204" pitchFamily="34" charset="0"/>
              </a:rPr>
              <a:t>LinkedIn Voldemort</a:t>
            </a:r>
          </a:p>
        </p:txBody>
      </p:sp>
    </p:spTree>
    <p:extLst>
      <p:ext uri="{BB962C8B-B14F-4D97-AF65-F5344CB8AC3E}">
        <p14:creationId xmlns:p14="http://schemas.microsoft.com/office/powerpoint/2010/main" val="23332618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2138</TotalTime>
  <Words>3123</Words>
  <Application>Microsoft Office PowerPoint</Application>
  <PresentationFormat>On-screen Show (4:3)</PresentationFormat>
  <Paragraphs>833</Paragraphs>
  <Slides>70</Slides>
  <Notes>26</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3</vt:i4>
      </vt:variant>
      <vt:variant>
        <vt:lpstr>Slide Titles</vt:lpstr>
      </vt:variant>
      <vt:variant>
        <vt:i4>70</vt:i4>
      </vt:variant>
    </vt:vector>
  </HeadingPairs>
  <TitlesOfParts>
    <vt:vector size="90" baseType="lpstr">
      <vt:lpstr>굴림</vt:lpstr>
      <vt:lpstr>Helvetica Neue</vt:lpstr>
      <vt:lpstr>Monotype Sorts</vt:lpstr>
      <vt:lpstr>新細明體</vt:lpstr>
      <vt:lpstr>SimSun</vt:lpstr>
      <vt:lpstr>Arial</vt:lpstr>
      <vt:lpstr>Book Antiqua</vt:lpstr>
      <vt:lpstr>Calibri</vt:lpstr>
      <vt:lpstr>Calibri Light</vt:lpstr>
      <vt:lpstr>Comic Sans MS</vt:lpstr>
      <vt:lpstr>Helvetica</vt:lpstr>
      <vt:lpstr>Tahoma</vt:lpstr>
      <vt:lpstr>Times New Roman</vt:lpstr>
      <vt:lpstr>Verdana</vt:lpstr>
      <vt:lpstr>Wingdings</vt:lpstr>
      <vt:lpstr>Office Theme</vt:lpstr>
      <vt:lpstr>1_Office Theme</vt:lpstr>
      <vt:lpstr>Clip</vt:lpstr>
      <vt:lpstr>Visio</vt:lpstr>
      <vt:lpstr>Bitmap Image</vt:lpstr>
      <vt:lpstr> P2P</vt:lpstr>
      <vt:lpstr>Client/Server Architecture</vt:lpstr>
      <vt:lpstr>Client/Server Limitations</vt:lpstr>
      <vt:lpstr>PowerPoint Presentation</vt:lpstr>
      <vt:lpstr>Distinctions</vt:lpstr>
      <vt:lpstr>Peer-to-peer (P2P)</vt:lpstr>
      <vt:lpstr>Peer-to-peer architecture</vt:lpstr>
      <vt:lpstr>Characteristics of P2P Systems</vt:lpstr>
      <vt:lpstr>Overlay Network</vt:lpstr>
      <vt:lpstr>Category of P2P Systems</vt:lpstr>
      <vt:lpstr>PowerPoint Presentation</vt:lpstr>
      <vt:lpstr>Lookup Issue</vt:lpstr>
      <vt:lpstr>Napster</vt:lpstr>
      <vt:lpstr>Napster</vt:lpstr>
      <vt:lpstr>Napster: Publish</vt:lpstr>
      <vt:lpstr>Napster: Search</vt:lpstr>
      <vt:lpstr>PowerPoint Presentation</vt:lpstr>
      <vt:lpstr>Gnutella: Query Flooding</vt:lpstr>
      <vt:lpstr>Gnutella: Query Flooding</vt:lpstr>
      <vt:lpstr>KaZaA (FastTrack Networks)</vt:lpstr>
      <vt:lpstr>KaZaA: Network Design</vt:lpstr>
      <vt:lpstr>KaZaA: File Insert</vt:lpstr>
      <vt:lpstr>KaZaA: File Search</vt:lpstr>
      <vt:lpstr>BitTorrent</vt:lpstr>
      <vt:lpstr>Basic Idea</vt:lpstr>
      <vt:lpstr>File Organization</vt:lpstr>
      <vt:lpstr>Overall Architecture</vt:lpstr>
      <vt:lpstr>Overall Architecture</vt:lpstr>
      <vt:lpstr>Overall Architecture</vt:lpstr>
      <vt:lpstr>Overall Architecture</vt:lpstr>
      <vt:lpstr>Overall Architecture</vt:lpstr>
      <vt:lpstr>Overall Architecture</vt:lpstr>
      <vt:lpstr>Overall Architecture</vt:lpstr>
      <vt:lpstr>Critical Elements</vt:lpstr>
      <vt:lpstr>Critical Elements</vt:lpstr>
      <vt:lpstr>Critical Elements</vt:lpstr>
      <vt:lpstr>Critical Elements</vt:lpstr>
      <vt:lpstr>Messages</vt:lpstr>
      <vt:lpstr>BitTorrent – joining a torrent</vt:lpstr>
      <vt:lpstr>BitTorrent – exchanging data</vt:lpstr>
      <vt:lpstr>BitTorrent - unchoking</vt:lpstr>
      <vt:lpstr>Example</vt:lpstr>
      <vt:lpstr>Pieces and Sub-pieces</vt:lpstr>
      <vt:lpstr>Piece Selection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Consistent Hashing: An Example</vt:lpstr>
      <vt:lpstr>PowerPoint Presentation</vt:lpstr>
      <vt:lpstr>PowerPoint Presentation</vt:lpstr>
      <vt:lpstr>PowerPoint Presentation</vt:lpstr>
      <vt:lpstr>An example: A Simple Key Lookup (successor one by one)</vt:lpstr>
      <vt:lpstr>PowerPoint Presentation</vt:lpstr>
      <vt:lpstr>Chord finger tables</vt:lpstr>
      <vt:lpstr>Chord Key Location – Example query</vt:lpstr>
      <vt:lpstr>PowerPoint Presentation</vt:lpstr>
      <vt:lpstr>PowerPoint Presentation</vt:lpstr>
      <vt:lpstr>Chord lookup example</vt:lpstr>
      <vt:lpstr>Consistent Hashing – Join and Departure</vt:lpstr>
      <vt:lpstr>PowerPoint Presentation</vt:lpstr>
      <vt:lpstr>PowerPoint Presentation</vt:lpstr>
      <vt:lpstr>PowerPoint Presentation</vt:lpstr>
      <vt:lpstr>PowerPoint Presentation</vt:lpstr>
      <vt:lpstr>Handling failures: redundancy</vt:lpstr>
      <vt:lpstr>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Architectures</dc:title>
  <dc:creator>Xiang Cao</dc:creator>
  <cp:lastModifiedBy>Xiang Cao</cp:lastModifiedBy>
  <cp:revision>175</cp:revision>
  <cp:lastPrinted>2021-11-09T03:58:45Z</cp:lastPrinted>
  <dcterms:created xsi:type="dcterms:W3CDTF">2019-01-15T22:52:28Z</dcterms:created>
  <dcterms:modified xsi:type="dcterms:W3CDTF">2024-11-04T04:54:06Z</dcterms:modified>
</cp:coreProperties>
</file>