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6" r:id="rId2"/>
    <p:sldId id="282" r:id="rId3"/>
    <p:sldId id="259" r:id="rId4"/>
    <p:sldId id="260" r:id="rId5"/>
    <p:sldId id="261" r:id="rId6"/>
    <p:sldId id="360" r:id="rId7"/>
    <p:sldId id="357" r:id="rId8"/>
    <p:sldId id="358" r:id="rId9"/>
    <p:sldId id="344" r:id="rId10"/>
    <p:sldId id="320" r:id="rId11"/>
    <p:sldId id="321" r:id="rId12"/>
    <p:sldId id="262" r:id="rId13"/>
    <p:sldId id="361" r:id="rId14"/>
    <p:sldId id="35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96283" autoAdjust="0"/>
  </p:normalViewPr>
  <p:slideViewPr>
    <p:cSldViewPr snapToGrid="0">
      <p:cViewPr varScale="1">
        <p:scale>
          <a:sx n="107" d="100"/>
          <a:sy n="107" d="100"/>
        </p:scale>
        <p:origin x="17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1C07A-E19D-46BE-A44D-785FCC3A217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66DA5-1885-4136-BDC9-76FA4D63B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16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FE6C3984-D089-4D04-8446-9C2AB8957F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9E2D83-89F6-427F-81D5-A841D22B0AFE}" type="slidenum">
              <a:rPr lang="ko-KR" altLang="en-US" sz="1300" smtClean="0"/>
              <a:pPr/>
              <a:t>10</a:t>
            </a:fld>
            <a:endParaRPr lang="en-US" altLang="ko-KR" sz="13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9479B303-9BEB-4532-9D1B-5BDC941D3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ACBF2EE-30CD-493D-A030-957477D0B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You can think of the socket layer as another layer between application and transport layers. Or socket layer as the interface to transport layer services.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95C6-CB61-480C-9A25-4FBAD7F9C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62570-9B40-4018-A92E-F9A18A562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2FFDE-854E-4F13-8D2D-896D640C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0C94B-9DE7-425E-B8FB-832D9D1E5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4442F-7802-4544-8A92-B4B89AF6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B36A-9BAB-4D1A-8B4A-766785FF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00BD-6219-4D3C-9CD6-7BC5E13CD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3184-5865-45EE-8C2C-0CDD9636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5BE92-1A36-43E6-9121-C466DABE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ECC5F-0998-4F35-8506-4434347E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9067-5E0D-4DA2-A3AF-1BD4C242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58860-B92A-42D1-A1CE-2A81AE969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0DC68-9791-4E98-9A66-4B1B3212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90853-E12F-4C73-A259-A42DA1B2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408C2-A595-4DB8-BABD-A8C939CF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6746-FFD7-4889-B12C-DEBCECCE9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3384-D824-4727-AD43-141FE0887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09067-EE38-4D4A-A8D1-9B66760F2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EC4E8-E578-49E2-A449-9CFF7D74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2CA05-61F4-4E00-8330-23363DE83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844B8-D6A4-46F6-B589-8689D49F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9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44D8-761E-49C2-817F-4817038E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7A5E-77DA-47F4-9A56-120A65EDA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94C03-655A-41D5-869F-019120966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E6780-5996-42A4-9E5B-56E093A55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6D379-DB1E-454A-900F-D09B19254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7E241-4EEB-4338-ACCA-9E4630C8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C77DA-2BDA-44AE-8E53-8507DB65F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974E4-96C4-4ECB-9DDD-2F222173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2BF0-4674-40CB-AB31-1B094841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EF0E2-8586-4FBA-95E9-66D37DE8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F5F22-127D-454A-B3B6-25D9BAD3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B18A1-EF10-4D5F-A67F-9BCAB39E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8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989FD-73BD-4874-B57E-246D0E85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98D0F-83CD-4C23-B285-A366451C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19349-A30C-4A06-8D7D-E03C2374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8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6647-4D17-47A3-9B4F-B54725F3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A4C34-AC24-44F1-AD95-24101E3C3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D5791-D8FC-466E-8B65-5B043E519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A6FA3-3F9F-4599-A92C-5A5D80E3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50272-84D6-48EC-982E-E41EBD1E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BCB2B-B71C-4840-ADAA-059F6730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1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6877-9F0D-4F42-8A58-C33775E0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98654A-B9DF-4694-B0C0-E91B862B6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D8B4-7349-456F-9BAC-32B2E8641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595FB-71E7-4556-A0BF-C1646C0D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C2838-A8AA-426E-BBD0-4AF188A0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32F42-27EE-4EDC-9F4A-8033F208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52DE-CF50-4011-8EFB-134E483C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B3B82-7876-4E3F-9F58-639E1670F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5650E-2DEE-4319-870A-BA92B215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601FE-AE42-4BC5-875C-963AA10C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3233-68EF-4A9A-BB37-0453CDB2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1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0901E-A880-41B8-9FDD-AB7465246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8460F-ADA9-4F38-B78A-B4550F7C9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A4BD-FA02-44C3-8CF6-0DDA267C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2332F-C39D-4DF9-9BA6-DA580E2E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2143-0C10-46DE-AEAC-B14FC7E2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1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CF190-A44D-40B7-A5B4-9C35E562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D84AD-29A9-478B-A6DE-BE3EA7C03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0B14-C412-4AB1-AB88-70585C13D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4555A-86EA-4148-A77C-57DC50D2968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F5DD-9ACE-4482-8565-5383D1C8C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0DD-62C8-4D1C-BC86-509282A34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D5E8B-3568-4541-8A8C-D1939E178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1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socket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6075-CB96-47F9-93CB-27BF6FB12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9C01F-AC80-43F4-A987-CEEEA923A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584068"/>
          </a:xfrm>
        </p:spPr>
        <p:txBody>
          <a:bodyPr>
            <a:normAutofit/>
          </a:bodyPr>
          <a:lstStyle/>
          <a:p>
            <a:r>
              <a:rPr lang="en-US" sz="2400" dirty="0"/>
              <a:t>Working with sockets</a:t>
            </a:r>
          </a:p>
        </p:txBody>
      </p:sp>
    </p:spTree>
    <p:extLst>
      <p:ext uri="{BB962C8B-B14F-4D97-AF65-F5344CB8AC3E}">
        <p14:creationId xmlns:p14="http://schemas.microsoft.com/office/powerpoint/2010/main" val="386906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10E8579-3DC9-4C93-881F-B51DF7F4E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Client-Server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C2EB9FC-538D-4E38-8AD3-73D7B68241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56614" y="4705554"/>
            <a:ext cx="6375633" cy="83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400" dirty="0"/>
              <a:t>General interaction between a client and a server.</a:t>
            </a:r>
            <a:endParaRPr lang="en-US" altLang="en-US" dirty="0"/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1E98A0C0-9D1B-4865-92FE-0D703E690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057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1.25</a:t>
            </a:r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1CD50AD1-DF52-420E-996D-CF8B377E9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24" t="46828" r="30144" b="40483"/>
          <a:stretch>
            <a:fillRect/>
          </a:stretch>
        </p:blipFill>
        <p:spPr bwMode="auto">
          <a:xfrm>
            <a:off x="1205611" y="1505154"/>
            <a:ext cx="658177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B868-316B-4085-887C-CDD9D1BE9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69" y="0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Basic networking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1E36D7-670D-4A65-A469-38D3CAFF9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378" y="1510862"/>
            <a:ext cx="6028571" cy="4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51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EE59-93FA-4908-9458-13E6B114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Low-level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5AB82-254D-4436-8348-AF39F7663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Recap</a:t>
            </a:r>
          </a:p>
          <a:p>
            <a:pPr lvl="1"/>
            <a:r>
              <a:rPr lang="en-US" dirty="0"/>
              <a:t>Physical layer: contains the specification and implementation of bits, and their transmission between sender and receiver</a:t>
            </a:r>
          </a:p>
          <a:p>
            <a:pPr lvl="1"/>
            <a:r>
              <a:rPr lang="en-US" dirty="0"/>
              <a:t>Data link layer: prescribes the transmission of a series of bits into a frame to allow for error and flow control</a:t>
            </a:r>
          </a:p>
          <a:p>
            <a:pPr lvl="1"/>
            <a:r>
              <a:rPr lang="en-US" dirty="0"/>
              <a:t>Network layer: describes how packets in a network of computers are to be routed. </a:t>
            </a:r>
            <a:r>
              <a:rPr lang="en-US" altLang="zh-CN" dirty="0"/>
              <a:t>IP: </a:t>
            </a:r>
            <a:r>
              <a:rPr lang="en-US" altLang="ko-KR" dirty="0">
                <a:ea typeface="굴림" panose="020B0600000101010101" pitchFamily="34" charset="-127"/>
              </a:rPr>
              <a:t>Connectionless, no guarantees </a:t>
            </a:r>
          </a:p>
          <a:p>
            <a:pPr lvl="1"/>
            <a:endParaRPr lang="en-US" dirty="0"/>
          </a:p>
          <a:p>
            <a:r>
              <a:rPr lang="en-US" sz="2400" dirty="0"/>
              <a:t>Observation</a:t>
            </a:r>
          </a:p>
          <a:p>
            <a:pPr lvl="1"/>
            <a:r>
              <a:rPr lang="en-US" dirty="0"/>
              <a:t>For many distributed systems, the lowest-level interface is that of the network layer.</a:t>
            </a:r>
          </a:p>
          <a:p>
            <a:pPr marL="3429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613B-5FC3-42AD-997F-C092BA09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1B370-CDE7-4D8B-BCF5-59A42AF99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transport layer provides the actual communication facilities for most distributed systems.</a:t>
            </a:r>
          </a:p>
          <a:p>
            <a:pPr lvl="1"/>
            <a:endParaRPr lang="en-US" dirty="0"/>
          </a:p>
          <a:p>
            <a:r>
              <a:rPr lang="en-US" dirty="0"/>
              <a:t>Standard Internet protocols</a:t>
            </a:r>
          </a:p>
          <a:p>
            <a:pPr lvl="1"/>
            <a:r>
              <a:rPr lang="en-US" dirty="0"/>
              <a:t>TCP: connection-oriented, reliable, stream-oriented communication</a:t>
            </a:r>
          </a:p>
          <a:p>
            <a:pPr lvl="1"/>
            <a:r>
              <a:rPr lang="en-US" dirty="0"/>
              <a:t>UDP: unreliable (best-effort) datagram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141432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AF1D-814F-4EA6-B657-B0ED7E47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27" y="18255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9F744-CEC7-43D7-9253-DACD2F9C0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71" y="1191237"/>
            <a:ext cx="8632270" cy="4985726"/>
          </a:xfrm>
        </p:spPr>
        <p:txBody>
          <a:bodyPr>
            <a:normAutofit/>
          </a:bodyPr>
          <a:lstStyle/>
          <a:p>
            <a:r>
              <a:rPr lang="en-US" sz="2800" dirty="0"/>
              <a:t>Consider the following scenarios</a:t>
            </a:r>
          </a:p>
          <a:p>
            <a:pPr lvl="1"/>
            <a:r>
              <a:rPr lang="en-US" sz="2400" dirty="0"/>
              <a:t>Scenario 1: </a:t>
            </a:r>
          </a:p>
          <a:p>
            <a:pPr lvl="2"/>
            <a:r>
              <a:rPr lang="en-US" sz="1800" dirty="0"/>
              <a:t>Company A wants to transfer data to Amazon Web Service (AWS) for storage. </a:t>
            </a:r>
          </a:p>
          <a:p>
            <a:pPr lvl="2"/>
            <a:endParaRPr lang="en-US" sz="1800" dirty="0"/>
          </a:p>
          <a:p>
            <a:pPr lvl="1"/>
            <a:r>
              <a:rPr lang="en-US" sz="2400" dirty="0"/>
              <a:t>Scenario 2:</a:t>
            </a:r>
          </a:p>
          <a:p>
            <a:pPr lvl="2"/>
            <a:r>
              <a:rPr lang="en-US" sz="1800" dirty="0"/>
              <a:t>Alice is using Zoom to talk to Bob for a video conference.</a:t>
            </a:r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1"/>
            <a:r>
              <a:rPr lang="en-US" sz="2400" dirty="0"/>
              <a:t>For each scenario, should TCP or UDP be used? Why? </a:t>
            </a:r>
          </a:p>
          <a:p>
            <a:pPr lvl="1"/>
            <a:endParaRPr lang="en-US" sz="2400" dirty="0">
              <a:solidFill>
                <a:srgbClr val="0070C0"/>
              </a:solidFill>
            </a:endParaRP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Please go to </a:t>
            </a:r>
            <a:r>
              <a:rPr lang="en-US" sz="6600" dirty="0">
                <a:solidFill>
                  <a:srgbClr val="0070C0"/>
                </a:solidFill>
              </a:rPr>
              <a:t>PollEv.com/cisgvsu429</a:t>
            </a:r>
            <a:endParaRPr lang="en-US" sz="2100" dirty="0">
              <a:solidFill>
                <a:srgbClr val="0070C0"/>
              </a:solidFill>
            </a:endParaRP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430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56B2F6CA-AC23-4465-BF29-A0E2B557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Introduction to Sockets (1)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B45E10FC-D2A3-47A4-AB7B-65A4DC9CF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57" y="1055062"/>
            <a:ext cx="8163886" cy="54102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000000"/>
                </a:solidFill>
              </a:rPr>
              <a:t>What are Sockets? </a:t>
            </a:r>
          </a:p>
          <a:p>
            <a:pPr lvl="1" eaLnBrk="1" hangingPunct="1"/>
            <a:r>
              <a:rPr lang="en-US" altLang="en-US" sz="2400" dirty="0">
                <a:solidFill>
                  <a:srgbClr val="000000"/>
                </a:solidFill>
              </a:rPr>
              <a:t>End-point of inter-process communication. </a:t>
            </a:r>
          </a:p>
          <a:p>
            <a:pPr lvl="1" eaLnBrk="1" hangingPunct="1"/>
            <a:r>
              <a:rPr lang="en-US" altLang="en-US" sz="2400" dirty="0">
                <a:solidFill>
                  <a:srgbClr val="000000"/>
                </a:solidFill>
              </a:rPr>
              <a:t>An interface through which processes can send / receive information </a:t>
            </a:r>
          </a:p>
          <a:p>
            <a:pPr lvl="1" eaLnBrk="1" hangingPunct="1"/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rgbClr val="000000"/>
                </a:solidFill>
              </a:rPr>
              <a:t>The Client-Server model </a:t>
            </a:r>
          </a:p>
          <a:p>
            <a:pPr lvl="1" eaLnBrk="1" hangingPunct="1"/>
            <a:r>
              <a:rPr lang="en-US" altLang="en-US" sz="2400" dirty="0">
                <a:solidFill>
                  <a:srgbClr val="000000"/>
                </a:solidFill>
              </a:rPr>
              <a:t>Most inter-process communication uses client-server model </a:t>
            </a:r>
          </a:p>
          <a:p>
            <a:pPr lvl="1" eaLnBrk="1" hangingPunct="1"/>
            <a:r>
              <a:rPr lang="en-US" altLang="en-US" sz="2400" dirty="0">
                <a:solidFill>
                  <a:srgbClr val="000000"/>
                </a:solidFill>
              </a:rPr>
              <a:t>The Client process connects to the Server process, </a:t>
            </a:r>
          </a:p>
          <a:p>
            <a:pPr lvl="2" eaLnBrk="1" hangingPunct="1"/>
            <a:r>
              <a:rPr lang="en-US" altLang="en-US" sz="2000" dirty="0">
                <a:solidFill>
                  <a:srgbClr val="000000"/>
                </a:solidFill>
              </a:rPr>
              <a:t>To make a request for information/services owned by the Server. </a:t>
            </a:r>
          </a:p>
          <a:p>
            <a:pPr lvl="1" eaLnBrk="1" hangingPunct="1"/>
            <a:r>
              <a:rPr lang="en-US" altLang="en-US" sz="2400" dirty="0">
                <a:solidFill>
                  <a:srgbClr val="000000"/>
                </a:solidFill>
              </a:rPr>
              <a:t>Once the connection is established between them, </a:t>
            </a:r>
          </a:p>
          <a:p>
            <a:pPr lvl="2" eaLnBrk="1" hangingPunct="1"/>
            <a:r>
              <a:rPr lang="en-US" altLang="en-US" sz="2000" dirty="0">
                <a:solidFill>
                  <a:srgbClr val="000000"/>
                </a:solidFill>
              </a:rPr>
              <a:t>They can start sending / receiving information. </a:t>
            </a:r>
            <a:endParaRPr lang="en-US" altLang="en-US" sz="2000" dirty="0"/>
          </a:p>
          <a:p>
            <a:pPr eaLnBrk="1" hangingPunct="1"/>
            <a:endParaRPr lang="en-US" altLang="en-US" dirty="0">
              <a:solidFill>
                <a:srgbClr val="000000"/>
              </a:solidFill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A77005B6-8D73-4F45-A2D2-1633C38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2B30A8-6AF5-438E-AB69-9A2B0AD2F228}" type="slidenum">
              <a:rPr lang="ko-KR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7F52D25A-F4A2-4B80-900C-099588796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Introduction to Sockets (2)  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28FDF250-1CDA-40E2-82B8-2F72DB076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272069" cy="4351338"/>
          </a:xfrm>
        </p:spPr>
        <p:txBody>
          <a:bodyPr/>
          <a:lstStyle/>
          <a:p>
            <a:pPr eaLnBrk="1" hangingPunct="1"/>
            <a:r>
              <a:rPr lang="en-US" altLang="en-US" dirty="0"/>
              <a:t>What exactly creates a Socket? </a:t>
            </a:r>
          </a:p>
          <a:p>
            <a:pPr lvl="1" eaLnBrk="1" hangingPunct="1"/>
            <a:r>
              <a:rPr lang="en-US" altLang="en-US" dirty="0"/>
              <a:t> &lt;IP address, Port #&gt; tuple </a:t>
            </a:r>
          </a:p>
          <a:p>
            <a:pPr eaLnBrk="1" hangingPunct="1"/>
            <a:r>
              <a:rPr lang="en-US" altLang="en-US" dirty="0"/>
              <a:t>What makes a connection? </a:t>
            </a:r>
          </a:p>
          <a:p>
            <a:pPr lvl="1" eaLnBrk="1" hangingPunct="1"/>
            <a:r>
              <a:rPr lang="en-US" altLang="en-US" dirty="0"/>
              <a:t>Source&lt;IP </a:t>
            </a:r>
            <a:r>
              <a:rPr lang="en-US" altLang="en-US" dirty="0" err="1"/>
              <a:t>addr</a:t>
            </a:r>
            <a:r>
              <a:rPr lang="en-US" altLang="en-US" dirty="0"/>
              <a:t>, Port #&gt; </a:t>
            </a:r>
          </a:p>
          <a:p>
            <a:pPr lvl="1" eaLnBrk="1" hangingPunct="1"/>
            <a:r>
              <a:rPr lang="en-US" altLang="en-US" dirty="0"/>
              <a:t>Destination &lt;IP </a:t>
            </a:r>
            <a:r>
              <a:rPr lang="en-US" altLang="en-US" dirty="0" err="1"/>
              <a:t>addr</a:t>
            </a:r>
            <a:r>
              <a:rPr lang="en-US" altLang="en-US" dirty="0"/>
              <a:t>, Port #&gt; </a:t>
            </a:r>
          </a:p>
          <a:p>
            <a:pPr eaLnBrk="1" hangingPunct="1"/>
            <a:r>
              <a:rPr lang="fr-FR" altLang="en-US" dirty="0"/>
              <a:t>Source socket + destination socket pair uniquely identifies a connection.</a:t>
            </a:r>
          </a:p>
          <a:p>
            <a:r>
              <a:rPr lang="en-US" dirty="0"/>
              <a:t>Most services are tied to a specific port</a:t>
            </a:r>
          </a:p>
          <a:p>
            <a:pPr lvl="1"/>
            <a:r>
              <a:rPr lang="en-US" dirty="0"/>
              <a:t>ftp-data 20 File Transfer [Default Data]</a:t>
            </a:r>
          </a:p>
          <a:p>
            <a:pPr lvl="1"/>
            <a:r>
              <a:rPr lang="en-US" dirty="0"/>
              <a:t>ftp 21 File Transfer [Control]</a:t>
            </a:r>
          </a:p>
          <a:p>
            <a:pPr lvl="1"/>
            <a:r>
              <a:rPr lang="en-US" dirty="0"/>
              <a:t>telnet 23 Telnet</a:t>
            </a:r>
          </a:p>
          <a:p>
            <a:pPr lvl="1"/>
            <a:r>
              <a:rPr lang="en-US" dirty="0"/>
              <a:t>smtp 25 Simple Mail Transfer</a:t>
            </a:r>
          </a:p>
          <a:p>
            <a:pPr lvl="1"/>
            <a:r>
              <a:rPr lang="en-US" dirty="0"/>
              <a:t>www 80 Web (HTTP)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477C8AF-3939-4C6B-A1D5-6E09D0E5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A442ED-EDBE-4D4D-A471-714B95AF5C6E}" type="slidenum">
              <a:rPr lang="ko-KR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19380571-57D3-4E5F-B4C4-F3383C53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54E6BF-4A37-4D41-86E3-68278CE872F4}" type="slidenum">
              <a:rPr lang="ko-KR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C0C8EA9-CFB0-46DF-8804-1FB4194A4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4478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FF0000"/>
                </a:solidFill>
                <a:ea typeface="굴림" panose="020B0600000101010101" pitchFamily="34" charset="-127"/>
              </a:rPr>
              <a:t>Socket Addressing</a:t>
            </a:r>
            <a:br>
              <a:rPr lang="en-US" altLang="ko-KR" dirty="0">
                <a:solidFill>
                  <a:srgbClr val="FF0000"/>
                </a:solidFill>
                <a:ea typeface="굴림" panose="020B0600000101010101" pitchFamily="34" charset="-127"/>
              </a:rPr>
            </a:br>
            <a:r>
              <a:rPr lang="en-US" altLang="ko-KR" dirty="0">
                <a:solidFill>
                  <a:srgbClr val="FF0000"/>
                </a:solidFill>
                <a:ea typeface="굴림" panose="020B0600000101010101" pitchFamily="34" charset="-127"/>
              </a:rPr>
              <a:t>(IP Address + Port Number)</a:t>
            </a:r>
          </a:p>
        </p:txBody>
      </p:sp>
      <p:pic>
        <p:nvPicPr>
          <p:cNvPr id="9220" name="Picture 4" descr="j0205462">
            <a:extLst>
              <a:ext uri="{FF2B5EF4-FFF2-40B4-BE49-F238E27FC236}">
                <a16:creationId xmlns:a16="http://schemas.microsoft.com/office/drawing/2014/main" id="{B725D19E-C92E-45AD-A60B-5E34514A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6000"/>
            <a:ext cx="181927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8" descr="MCj03458890000[1]">
            <a:extLst>
              <a:ext uri="{FF2B5EF4-FFF2-40B4-BE49-F238E27FC236}">
                <a16:creationId xmlns:a16="http://schemas.microsoft.com/office/drawing/2014/main" id="{C6F64A4A-352F-4758-BFF2-B51CAAB91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819400"/>
            <a:ext cx="148907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0" descr="MCj03246060000[1]">
            <a:extLst>
              <a:ext uri="{FF2B5EF4-FFF2-40B4-BE49-F238E27FC236}">
                <a16:creationId xmlns:a16="http://schemas.microsoft.com/office/drawing/2014/main" id="{184197E4-7513-419B-8006-82EC5137D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0"/>
            <a:ext cx="1471613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11" descr="MCj03246040000[1]">
            <a:extLst>
              <a:ext uri="{FF2B5EF4-FFF2-40B4-BE49-F238E27FC236}">
                <a16:creationId xmlns:a16="http://schemas.microsoft.com/office/drawing/2014/main" id="{E2A89CD5-EC10-40E4-B219-49202DF66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38" y="1998663"/>
            <a:ext cx="1820862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Text Box 12">
            <a:extLst>
              <a:ext uri="{FF2B5EF4-FFF2-40B4-BE49-F238E27FC236}">
                <a16:creationId xmlns:a16="http://schemas.microsoft.com/office/drawing/2014/main" id="{70E018F1-C602-4D95-A299-0D97690FF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9050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ko-KR" altLang="en-US" sz="2400">
              <a:ea typeface="굴림" panose="020B0600000101010101" pitchFamily="34" charset="-127"/>
            </a:endParaRPr>
          </a:p>
        </p:txBody>
      </p:sp>
      <p:sp>
        <p:nvSpPr>
          <p:cNvPr id="9225" name="Text Box 13">
            <a:extLst>
              <a:ext uri="{FF2B5EF4-FFF2-40B4-BE49-F238E27FC236}">
                <a16:creationId xmlns:a16="http://schemas.microsoft.com/office/drawing/2014/main" id="{1B9D6E1C-9BB1-4C87-87AC-DD8636A0B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572000"/>
            <a:ext cx="1981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400">
                <a:ea typeface="굴림" panose="020B0600000101010101" pitchFamily="34" charset="-127"/>
              </a:rPr>
              <a:t>Company</a:t>
            </a:r>
            <a:br>
              <a:rPr lang="en-US" altLang="ko-KR" sz="2400">
                <a:ea typeface="굴림" panose="020B0600000101010101" pitchFamily="34" charset="-127"/>
              </a:rPr>
            </a:br>
            <a:r>
              <a:rPr lang="en-US" altLang="ko-KR" sz="2400">
                <a:ea typeface="굴림" panose="020B0600000101010101" pitchFamily="34" charset="-127"/>
              </a:rPr>
              <a:t>Phone</a:t>
            </a:r>
            <a:br>
              <a:rPr lang="en-US" altLang="ko-KR" sz="2400">
                <a:ea typeface="굴림" panose="020B0600000101010101" pitchFamily="34" charset="-127"/>
              </a:rPr>
            </a:br>
            <a:r>
              <a:rPr lang="en-US" altLang="ko-KR" sz="2400">
                <a:ea typeface="굴림" panose="020B0600000101010101" pitchFamily="34" charset="-127"/>
              </a:rPr>
              <a:t>Number</a:t>
            </a:r>
            <a:br>
              <a:rPr lang="en-US" altLang="ko-KR" sz="2400">
                <a:ea typeface="굴림" panose="020B0600000101010101" pitchFamily="34" charset="-127"/>
              </a:rPr>
            </a:br>
            <a:r>
              <a:rPr lang="en-US" altLang="ko-KR" sz="2400">
                <a:ea typeface="굴림" panose="020B0600000101010101" pitchFamily="34" charset="-127"/>
              </a:rPr>
              <a:t>(</a:t>
            </a:r>
            <a:r>
              <a:rPr lang="en-US" altLang="ko-KR" sz="2400">
                <a:solidFill>
                  <a:schemeClr val="accent2"/>
                </a:solidFill>
                <a:ea typeface="굴림" panose="020B0600000101010101" pitchFamily="34" charset="-127"/>
              </a:rPr>
              <a:t>IP Address</a:t>
            </a:r>
            <a:r>
              <a:rPr lang="en-US" altLang="ko-KR" sz="2400">
                <a:ea typeface="굴림" panose="020B0600000101010101" pitchFamily="34" charset="-127"/>
              </a:rPr>
              <a:t>)</a:t>
            </a:r>
          </a:p>
        </p:txBody>
      </p:sp>
      <p:sp>
        <p:nvSpPr>
          <p:cNvPr id="9226" name="Text Box 14">
            <a:extLst>
              <a:ext uri="{FF2B5EF4-FFF2-40B4-BE49-F238E27FC236}">
                <a16:creationId xmlns:a16="http://schemas.microsoft.com/office/drawing/2014/main" id="{BCE96B65-BB18-49D5-81F7-6D09F664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581400"/>
            <a:ext cx="2209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400">
                <a:ea typeface="굴림" panose="020B0600000101010101" pitchFamily="34" charset="-127"/>
              </a:rPr>
              <a:t>Extension</a:t>
            </a:r>
            <a:br>
              <a:rPr lang="en-US" altLang="ko-KR" sz="2400">
                <a:ea typeface="굴림" panose="020B0600000101010101" pitchFamily="34" charset="-127"/>
              </a:rPr>
            </a:br>
            <a:r>
              <a:rPr lang="en-US" altLang="ko-KR" sz="2400">
                <a:ea typeface="굴림" panose="020B0600000101010101" pitchFamily="34" charset="-127"/>
              </a:rPr>
              <a:t>Number</a:t>
            </a:r>
            <a:br>
              <a:rPr lang="en-US" altLang="ko-KR" sz="2400">
                <a:ea typeface="굴림" panose="020B0600000101010101" pitchFamily="34" charset="-127"/>
              </a:rPr>
            </a:br>
            <a:r>
              <a:rPr lang="en-US" altLang="ko-KR" sz="2400">
                <a:ea typeface="굴림" panose="020B0600000101010101" pitchFamily="34" charset="-127"/>
              </a:rPr>
              <a:t>(</a:t>
            </a:r>
            <a:r>
              <a:rPr lang="en-US" altLang="ko-KR" sz="2400">
                <a:solidFill>
                  <a:srgbClr val="FF0000"/>
                </a:solidFill>
                <a:ea typeface="굴림" panose="020B0600000101010101" pitchFamily="34" charset="-127"/>
              </a:rPr>
              <a:t>Port Number</a:t>
            </a:r>
            <a:r>
              <a:rPr lang="en-US" altLang="ko-KR" sz="2400">
                <a:ea typeface="굴림" panose="020B0600000101010101" pitchFamily="34" charset="-127"/>
              </a:rPr>
              <a:t>)</a:t>
            </a:r>
          </a:p>
        </p:txBody>
      </p:sp>
      <p:sp>
        <p:nvSpPr>
          <p:cNvPr id="9227" name="Line 16">
            <a:extLst>
              <a:ext uri="{FF2B5EF4-FFF2-40B4-BE49-F238E27FC236}">
                <a16:creationId xmlns:a16="http://schemas.microsoft.com/office/drawing/2014/main" id="{82E9C3A8-2960-4622-9183-6EA65AB0E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343400"/>
            <a:ext cx="3505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7">
            <a:extLst>
              <a:ext uri="{FF2B5EF4-FFF2-40B4-BE49-F238E27FC236}">
                <a16:creationId xmlns:a16="http://schemas.microsoft.com/office/drawing/2014/main" id="{4DE64DF8-0FF3-41D8-9E09-CE6B0A387A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47244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229" name="Picture 19" descr="MCj03428910000[1]">
            <a:extLst>
              <a:ext uri="{FF2B5EF4-FFF2-40B4-BE49-F238E27FC236}">
                <a16:creationId xmlns:a16="http://schemas.microsoft.com/office/drawing/2014/main" id="{5CF888F8-4888-49F9-9791-04B09451E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95600"/>
            <a:ext cx="838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20" descr="MCj03428910000[1]">
            <a:extLst>
              <a:ext uri="{FF2B5EF4-FFF2-40B4-BE49-F238E27FC236}">
                <a16:creationId xmlns:a16="http://schemas.microsoft.com/office/drawing/2014/main" id="{C72A28D8-8D94-4453-BAF7-B26372CB5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209800"/>
            <a:ext cx="838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1" name="Picture 21" descr="MCj03428910000[1]">
            <a:extLst>
              <a:ext uri="{FF2B5EF4-FFF2-40B4-BE49-F238E27FC236}">
                <a16:creationId xmlns:a16="http://schemas.microsoft.com/office/drawing/2014/main" id="{26DF1A5F-E308-4533-B9E5-834425C16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743200"/>
            <a:ext cx="99060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2" name="Text Box 22">
            <a:extLst>
              <a:ext uri="{FF2B5EF4-FFF2-40B4-BE49-F238E27FC236}">
                <a16:creationId xmlns:a16="http://schemas.microsoft.com/office/drawing/2014/main" id="{BE324106-CF02-42E3-BE4D-F2D194A71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514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400">
                <a:ea typeface="굴림" panose="020B0600000101010101" pitchFamily="34" charset="-127"/>
              </a:rPr>
              <a:t>Ext-1</a:t>
            </a:r>
          </a:p>
        </p:txBody>
      </p:sp>
      <p:sp>
        <p:nvSpPr>
          <p:cNvPr id="9233" name="Text Box 23">
            <a:extLst>
              <a:ext uri="{FF2B5EF4-FFF2-40B4-BE49-F238E27FC236}">
                <a16:creationId xmlns:a16="http://schemas.microsoft.com/office/drawing/2014/main" id="{A268CB81-BCD0-43A7-A6CA-F10648976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828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400">
                <a:ea typeface="굴림" panose="020B0600000101010101" pitchFamily="34" charset="-127"/>
              </a:rPr>
              <a:t>Ext-2</a:t>
            </a:r>
          </a:p>
        </p:txBody>
      </p:sp>
      <p:sp>
        <p:nvSpPr>
          <p:cNvPr id="9234" name="Text Box 24">
            <a:extLst>
              <a:ext uri="{FF2B5EF4-FFF2-40B4-BE49-F238E27FC236}">
                <a16:creationId xmlns:a16="http://schemas.microsoft.com/office/drawing/2014/main" id="{5501BE04-4708-4947-82A1-CB5AB7D4B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057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400">
                <a:ea typeface="굴림" panose="020B0600000101010101" pitchFamily="34" charset="-127"/>
              </a:rPr>
              <a:t>Ext-3</a:t>
            </a:r>
          </a:p>
        </p:txBody>
      </p:sp>
      <p:sp>
        <p:nvSpPr>
          <p:cNvPr id="9235" name="Text Box 25">
            <a:extLst>
              <a:ext uri="{FF2B5EF4-FFF2-40B4-BE49-F238E27FC236}">
                <a16:creationId xmlns:a16="http://schemas.microsoft.com/office/drawing/2014/main" id="{1AE0333E-E788-4512-9C8F-9BF17C82F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3581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400">
                <a:ea typeface="굴림" panose="020B0600000101010101" pitchFamily="34" charset="-127"/>
              </a:rPr>
              <a:t>A woman contacts a salesman with </a:t>
            </a:r>
            <a:br>
              <a:rPr lang="en-US" altLang="ko-KR" sz="2400">
                <a:ea typeface="굴림" panose="020B0600000101010101" pitchFamily="34" charset="-127"/>
              </a:rPr>
            </a:br>
            <a:r>
              <a:rPr lang="en-US" altLang="ko-KR" sz="2400" b="1" i="1">
                <a:ea typeface="굴림" panose="020B0600000101010101" pitchFamily="34" charset="-127"/>
              </a:rPr>
              <a:t>Company Phone Number</a:t>
            </a:r>
            <a:r>
              <a:rPr lang="en-US" altLang="ko-KR" sz="2400">
                <a:ea typeface="굴림" panose="020B0600000101010101" pitchFamily="34" charset="-127"/>
              </a:rPr>
              <a:t> + </a:t>
            </a:r>
            <a:r>
              <a:rPr lang="en-US" altLang="ko-KR" sz="2400" b="1" i="1">
                <a:ea typeface="굴림" panose="020B0600000101010101" pitchFamily="34" charset="-127"/>
              </a:rPr>
              <a:t>Extension Number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F939345B-F3E3-4EE2-ABCE-2BBAB4A9E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EDC910-0ED1-4D77-9EF8-8FBD4D04242F}" type="slidenum">
              <a:rPr lang="ko-KR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37ECB38-8A27-40EC-9688-6B60B3F5F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solidFill>
                  <a:srgbClr val="FF0000"/>
                </a:solidFill>
                <a:ea typeface="굴림" panose="020B0600000101010101" pitchFamily="34" charset="-127"/>
              </a:rPr>
              <a:t>Sockets: Conceptual View</a:t>
            </a:r>
          </a:p>
        </p:txBody>
      </p:sp>
      <p:pic>
        <p:nvPicPr>
          <p:cNvPr id="10244" name="Picture 3" descr="socket">
            <a:extLst>
              <a:ext uri="{FF2B5EF4-FFF2-40B4-BE49-F238E27FC236}">
                <a16:creationId xmlns:a16="http://schemas.microsoft.com/office/drawing/2014/main" id="{6D1CF943-B11D-4899-B56D-B10126ED9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71663"/>
            <a:ext cx="6164263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017CB357-A3C7-4E3A-B025-B8386B4D5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7C977F-0ECA-441F-AEB7-00FF0B9F1693}" type="slidenum">
              <a:rPr lang="ko-KR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400" dirty="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62D4420-4918-4F48-9B78-A80B390B7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solidFill>
                  <a:srgbClr val="FF0000"/>
                </a:solidFill>
                <a:ea typeface="굴림" panose="020B0600000101010101" pitchFamily="34" charset="-127"/>
              </a:rPr>
              <a:t>Connection-Oriented Application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178A8C6-B75B-4B52-9A7B-2F36E37FD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ko-KR" sz="2800" dirty="0">
                <a:ea typeface="굴림" panose="020B0600000101010101" pitchFamily="34" charset="-127"/>
              </a:rPr>
              <a:t>Server gets ready to serve clients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accent2"/>
                </a:solidFill>
                <a:ea typeface="굴림" panose="020B0600000101010101" pitchFamily="34" charset="-127"/>
              </a:rPr>
              <a:t>Creates</a:t>
            </a:r>
            <a:r>
              <a:rPr lang="en-US" altLang="ko-KR" sz="2400" dirty="0">
                <a:ea typeface="굴림" panose="020B0600000101010101" pitchFamily="34" charset="-127"/>
              </a:rPr>
              <a:t> a socket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accent2"/>
                </a:solidFill>
                <a:ea typeface="굴림" panose="020B0600000101010101" pitchFamily="34" charset="-127"/>
              </a:rPr>
              <a:t>Binds</a:t>
            </a:r>
            <a:r>
              <a:rPr lang="en-US" altLang="ko-KR" sz="2400" dirty="0">
                <a:ea typeface="굴림" panose="020B0600000101010101" pitchFamily="34" charset="-127"/>
              </a:rPr>
              <a:t> an address to the socket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altLang="ko-KR" sz="2000" dirty="0">
                <a:ea typeface="굴림" panose="020B0600000101010101" pitchFamily="34" charset="-127"/>
              </a:rPr>
              <a:t>Server’s address should be made known to clients</a:t>
            </a:r>
          </a:p>
          <a:p>
            <a:pPr marL="1295400" lvl="2" indent="-381000" eaLnBrk="1" hangingPunct="1">
              <a:lnSpc>
                <a:spcPct val="90000"/>
              </a:lnSpc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ko-KR" sz="2800" dirty="0">
                <a:ea typeface="굴림" panose="020B0600000101010101" pitchFamily="34" charset="-127"/>
              </a:rPr>
              <a:t>Client contacts the server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accent2"/>
                </a:solidFill>
                <a:ea typeface="굴림" panose="020B0600000101010101" pitchFamily="34" charset="-127"/>
              </a:rPr>
              <a:t>Creates</a:t>
            </a:r>
            <a:r>
              <a:rPr lang="en-US" altLang="ko-KR" sz="2400" dirty="0">
                <a:ea typeface="굴림" panose="020B0600000101010101" pitchFamily="34" charset="-127"/>
              </a:rPr>
              <a:t> a socket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accent2"/>
                </a:solidFill>
                <a:ea typeface="굴림" panose="020B0600000101010101" pitchFamily="34" charset="-127"/>
              </a:rPr>
              <a:t>Connects</a:t>
            </a:r>
            <a:r>
              <a:rPr lang="en-US" altLang="ko-KR" sz="2400" dirty="0">
                <a:ea typeface="굴림" panose="020B0600000101010101" pitchFamily="34" charset="-127"/>
              </a:rPr>
              <a:t> to the server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altLang="ko-KR" sz="2000" dirty="0">
                <a:ea typeface="굴림" panose="020B0600000101010101" pitchFamily="34" charset="-127"/>
              </a:rPr>
              <a:t>Client has to </a:t>
            </a:r>
            <a:r>
              <a:rPr lang="en-US" altLang="zh-CN" sz="2000" dirty="0">
                <a:ea typeface="굴림" panose="020B0600000101010101" pitchFamily="34" charset="-127"/>
              </a:rPr>
              <a:t>know</a:t>
            </a:r>
            <a:r>
              <a:rPr lang="en-US" altLang="ko-KR" sz="2000" dirty="0">
                <a:ea typeface="굴림" panose="020B0600000101010101" pitchFamily="34" charset="-127"/>
              </a:rPr>
              <a:t> the address of the server</a:t>
            </a:r>
          </a:p>
          <a:p>
            <a:pPr marL="1295400" lvl="2" indent="-381000" eaLnBrk="1" hangingPunct="1">
              <a:lnSpc>
                <a:spcPct val="90000"/>
              </a:lnSpc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ko-KR" sz="2800" dirty="0">
                <a:ea typeface="굴림" panose="020B0600000101010101" pitchFamily="34" charset="-127"/>
              </a:rPr>
              <a:t>Server </a:t>
            </a:r>
            <a:r>
              <a:rPr lang="en-US" altLang="ko-KR" sz="2800" dirty="0">
                <a:solidFill>
                  <a:schemeClr val="accent2"/>
                </a:solidFill>
                <a:ea typeface="굴림" panose="020B0600000101010101" pitchFamily="34" charset="-127"/>
              </a:rPr>
              <a:t>Accepts</a:t>
            </a:r>
            <a:r>
              <a:rPr lang="en-US" altLang="ko-KR" sz="2800" dirty="0">
                <a:ea typeface="굴림" panose="020B0600000101010101" pitchFamily="34" charset="-127"/>
              </a:rPr>
              <a:t> connection requests from clients</a:t>
            </a:r>
          </a:p>
          <a:p>
            <a:pPr lvl="1"/>
            <a:r>
              <a:rPr lang="en-US" altLang="ko-KR" sz="2200" dirty="0">
                <a:solidFill>
                  <a:srgbClr val="6600CC"/>
                </a:solidFill>
                <a:ea typeface="굴림" panose="020B0600000101010101" pitchFamily="34" charset="-127"/>
              </a:rPr>
              <a:t>Blocks</a:t>
            </a:r>
            <a:r>
              <a:rPr lang="en-US" altLang="ko-KR" sz="2200" dirty="0">
                <a:ea typeface="굴림" panose="020B0600000101010101" pitchFamily="34" charset="-127"/>
              </a:rPr>
              <a:t> until connection requested or error</a:t>
            </a:r>
          </a:p>
          <a:p>
            <a:pPr marL="876300" lvl="1" indent="-533400">
              <a:buFontTx/>
              <a:buAutoNum type="arabicPeriod"/>
            </a:pPr>
            <a:endParaRPr lang="en-US" altLang="ko-KR" sz="2500" dirty="0">
              <a:ea typeface="굴림" panose="020B0600000101010101" pitchFamily="34" charset="-127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ko-KR" sz="2800" dirty="0">
                <a:ea typeface="굴림" panose="020B0600000101010101" pitchFamily="34" charset="-127"/>
              </a:rPr>
              <a:t>Further communication is specific to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9B94-5FDD-4BE1-AB72-32728F12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0446"/>
            <a:ext cx="7886700" cy="1325563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Operations and Diagram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8EC4C2-5DE4-4E10-ADC7-933F8A927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584712"/>
            <a:ext cx="7886700" cy="2616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AB73B2-1474-4E73-9F96-ADAB2222E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10" y="4338193"/>
            <a:ext cx="8752381" cy="2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1AFA-6EA2-AB9B-4625-BF442DE5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85" y="83772"/>
            <a:ext cx="7886700" cy="64305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Python Socket</a:t>
            </a:r>
          </a:p>
        </p:txBody>
      </p:sp>
      <p:pic>
        <p:nvPicPr>
          <p:cNvPr id="4" name="Picture 3" descr="A diagram of a client&#10;&#10;Description automatically generated">
            <a:extLst>
              <a:ext uri="{FF2B5EF4-FFF2-40B4-BE49-F238E27FC236}">
                <a16:creationId xmlns:a16="http://schemas.microsoft.com/office/drawing/2014/main" id="{6F6BA42A-EC62-52D8-0E13-895C1BEA5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79451"/>
            <a:ext cx="5017475" cy="56577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920874-87D1-04EB-2CE3-8B46670973BB}"/>
              </a:ext>
            </a:extLst>
          </p:cNvPr>
          <p:cNvSpPr txBox="1"/>
          <p:nvPr/>
        </p:nvSpPr>
        <p:spPr>
          <a:xfrm>
            <a:off x="4812323" y="632002"/>
            <a:ext cx="439029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</a:t>
            </a:r>
          </a:p>
          <a:p>
            <a:r>
              <a:rPr lang="en-US" dirty="0"/>
              <a:t>   s1 = </a:t>
            </a:r>
            <a:r>
              <a:rPr lang="en-US" dirty="0" err="1"/>
              <a:t>socket.socket</a:t>
            </a:r>
            <a:r>
              <a:rPr lang="en-US" dirty="0"/>
              <a:t>(…)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/>
              <a:t>   s1.bind((‘’, PORT))</a:t>
            </a:r>
            <a:r>
              <a:rPr lang="zh-CN" altLang="en-US" dirty="0"/>
              <a:t> </a:t>
            </a:r>
            <a:r>
              <a:rPr lang="en-US" altLang="zh-CN" dirty="0"/>
              <a:t>#server’s address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s1.listen()</a:t>
            </a:r>
            <a:endParaRPr lang="en-US" dirty="0"/>
          </a:p>
          <a:p>
            <a:r>
              <a:rPr lang="en-US" dirty="0"/>
              <a:t>   </a:t>
            </a:r>
            <a:r>
              <a:rPr lang="en-US" i="1" dirty="0">
                <a:solidFill>
                  <a:srgbClr val="FF0000"/>
                </a:solidFill>
              </a:rPr>
              <a:t>conn</a:t>
            </a:r>
            <a:r>
              <a:rPr lang="en-US" i="1" dirty="0"/>
              <a:t>,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/>
              <a:t>addr</a:t>
            </a:r>
            <a:r>
              <a:rPr lang="zh-CN" alt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=</a:t>
            </a:r>
            <a:r>
              <a:rPr lang="zh-CN" altLang="en-US" dirty="0"/>
              <a:t> </a:t>
            </a:r>
            <a:r>
              <a:rPr lang="en-US" dirty="0"/>
              <a:t>s1.accept()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use </a:t>
            </a:r>
            <a:r>
              <a:rPr lang="en-US" altLang="zh-CN" i="1" dirty="0">
                <a:solidFill>
                  <a:srgbClr val="FF0000"/>
                </a:solidFill>
              </a:rPr>
              <a:t>conn</a:t>
            </a:r>
            <a:r>
              <a:rPr lang="en-US" altLang="zh-CN" dirty="0"/>
              <a:t> to communicate with the</a:t>
            </a:r>
            <a:r>
              <a:rPr lang="zh-CN" altLang="en-US" dirty="0"/>
              <a:t> </a:t>
            </a:r>
            <a:r>
              <a:rPr lang="en-US" altLang="zh-CN" dirty="0"/>
              <a:t>client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</a:t>
            </a:r>
          </a:p>
          <a:p>
            <a:r>
              <a:rPr lang="en-US" dirty="0">
                <a:solidFill>
                  <a:srgbClr val="000000"/>
                </a:solidFill>
              </a:rPr>
              <a:t>   s2 = </a:t>
            </a:r>
            <a:r>
              <a:rPr lang="en-US" dirty="0" err="1">
                <a:solidFill>
                  <a:srgbClr val="000000"/>
                </a:solidFill>
                <a:effectLst/>
              </a:rPr>
              <a:t>socket</a:t>
            </a:r>
            <a:r>
              <a:rPr lang="en-US" b="0" dirty="0" err="1">
                <a:solidFill>
                  <a:srgbClr val="CE5C00"/>
                </a:solidFill>
                <a:effectLst/>
              </a:rPr>
              <a:t>.</a:t>
            </a:r>
            <a:r>
              <a:rPr lang="en-US" dirty="0" err="1">
                <a:solidFill>
                  <a:srgbClr val="000000"/>
                </a:solidFill>
                <a:effectLst/>
              </a:rPr>
              <a:t>socket</a:t>
            </a:r>
            <a:r>
              <a:rPr lang="en-US" b="0" dirty="0">
                <a:solidFill>
                  <a:srgbClr val="000000"/>
                </a:solidFill>
                <a:effectLst/>
              </a:rPr>
              <a:t>(…)</a:t>
            </a:r>
          </a:p>
          <a:p>
            <a:r>
              <a:rPr lang="zh-CN" altLang="en-US" dirty="0">
                <a:solidFill>
                  <a:srgbClr val="000000"/>
                </a:solidFill>
              </a:rPr>
              <a:t>   </a:t>
            </a:r>
            <a:r>
              <a:rPr lang="en-US" altLang="zh-CN" i="1" dirty="0">
                <a:solidFill>
                  <a:srgbClr val="0070C0"/>
                </a:solidFill>
              </a:rPr>
              <a:t>s2</a:t>
            </a:r>
            <a:r>
              <a:rPr lang="en-US" altLang="zh-CN" dirty="0">
                <a:solidFill>
                  <a:srgbClr val="000000"/>
                </a:solidFill>
              </a:rPr>
              <a:t>.connect((HOST, PORT)) #server’s address</a:t>
            </a:r>
          </a:p>
          <a:p>
            <a:r>
              <a:rPr lang="zh-CN" altLang="en-US" dirty="0">
                <a:solidFill>
                  <a:srgbClr val="000000"/>
                </a:solidFill>
              </a:rPr>
              <a:t>   </a:t>
            </a:r>
            <a:r>
              <a:rPr lang="en-US" altLang="zh-CN" dirty="0">
                <a:solidFill>
                  <a:srgbClr val="000000"/>
                </a:solidFill>
              </a:rPr>
              <a:t>use </a:t>
            </a:r>
            <a:r>
              <a:rPr lang="en-US" altLang="zh-CN" i="1" dirty="0">
                <a:solidFill>
                  <a:srgbClr val="0070C0"/>
                </a:solidFill>
              </a:rPr>
              <a:t>s2</a:t>
            </a:r>
            <a:r>
              <a:rPr lang="en-US" altLang="zh-CN" dirty="0">
                <a:solidFill>
                  <a:srgbClr val="000000"/>
                </a:solidFill>
              </a:rPr>
              <a:t> to communicate with the server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633E9-7573-346F-C223-D0C804728675}"/>
              </a:ext>
            </a:extLst>
          </p:cNvPr>
          <p:cNvSpPr txBox="1"/>
          <p:nvPr/>
        </p:nvSpPr>
        <p:spPr>
          <a:xfrm>
            <a:off x="6604662" y="2382793"/>
            <a:ext cx="952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4BFC2-6022-C97C-6AAE-A639BC20DBB6}"/>
              </a:ext>
            </a:extLst>
          </p:cNvPr>
          <p:cNvSpPr txBox="1"/>
          <p:nvPr/>
        </p:nvSpPr>
        <p:spPr>
          <a:xfrm>
            <a:off x="6604662" y="5219720"/>
            <a:ext cx="952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366B6C-EDB3-C5CE-F0F7-58D53F5B3575}"/>
              </a:ext>
            </a:extLst>
          </p:cNvPr>
          <p:cNvCxnSpPr/>
          <p:nvPr/>
        </p:nvCxnSpPr>
        <p:spPr>
          <a:xfrm>
            <a:off x="7095418" y="2777292"/>
            <a:ext cx="0" cy="239064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8984E7E-AEBC-9287-108B-3747CF46CE95}"/>
              </a:ext>
            </a:extLst>
          </p:cNvPr>
          <p:cNvSpPr txBox="1"/>
          <p:nvPr/>
        </p:nvSpPr>
        <p:spPr>
          <a:xfrm>
            <a:off x="562708" y="6448979"/>
            <a:ext cx="4654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https://realpython.com/python-sockets/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755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D556-5213-4E77-8358-0D19711B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85" y="102762"/>
            <a:ext cx="7886700" cy="478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Java Socket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35108-DB7E-40EE-9DDE-07AC1C0F5B52}"/>
              </a:ext>
            </a:extLst>
          </p:cNvPr>
          <p:cNvSpPr txBox="1"/>
          <p:nvPr/>
        </p:nvSpPr>
        <p:spPr>
          <a:xfrm>
            <a:off x="503339" y="506736"/>
            <a:ext cx="682024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Server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ServerSocket</a:t>
            </a:r>
            <a:r>
              <a:rPr lang="en-US" sz="1600" b="1" dirty="0"/>
              <a:t> listener = new </a:t>
            </a:r>
            <a:r>
              <a:rPr lang="en-US" sz="1600" b="1" dirty="0" err="1"/>
              <a:t>ServerSocket</a:t>
            </a:r>
            <a:r>
              <a:rPr lang="en-US" sz="1600" b="1" dirty="0"/>
              <a:t>(</a:t>
            </a:r>
            <a:r>
              <a:rPr lang="en-US" altLang="zh-CN" sz="1600" b="1" dirty="0"/>
              <a:t>Port#</a:t>
            </a:r>
            <a:r>
              <a:rPr lang="en-US" sz="1600" b="1" dirty="0"/>
              <a:t>));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Bind server’s </a:t>
            </a:r>
            <a:r>
              <a:rPr lang="en-US" altLang="zh-CN" sz="1600" dirty="0"/>
              <a:t>own</a:t>
            </a:r>
            <a:r>
              <a:rPr lang="en-US" sz="1600" dirty="0"/>
              <a:t> address with port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Socket socket1 = </a:t>
            </a:r>
            <a:r>
              <a:rPr lang="en-US" sz="1600" b="1" dirty="0" err="1"/>
              <a:t>listener.accept</a:t>
            </a:r>
            <a:r>
              <a:rPr lang="en-US" sz="1600" b="1" dirty="0"/>
              <a:t>();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Listen on the </a:t>
            </a:r>
            <a:r>
              <a:rPr lang="en-US" altLang="zh-CN" sz="1600" dirty="0" err="1"/>
              <a:t>ServerSocket</a:t>
            </a:r>
            <a:r>
              <a:rPr lang="en-US" altLang="zh-CN" sz="1600" dirty="0"/>
              <a:t> for the client’s request</a:t>
            </a:r>
            <a:endParaRPr lang="en-US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socket1 is the socket that communicates with the client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Use socket1 to communicates with the client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3C72E-C207-4A7B-B02E-82BF8CE335DD}"/>
              </a:ext>
            </a:extLst>
          </p:cNvPr>
          <p:cNvSpPr txBox="1"/>
          <p:nvPr/>
        </p:nvSpPr>
        <p:spPr>
          <a:xfrm>
            <a:off x="503339" y="2350619"/>
            <a:ext cx="7097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Client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Socket socket2 = new Socket(</a:t>
            </a:r>
            <a:r>
              <a:rPr lang="en-US" altLang="zh-CN" sz="1600" b="1" dirty="0" err="1"/>
              <a:t>S</a:t>
            </a:r>
            <a:r>
              <a:rPr lang="en-US" sz="1600" b="1" dirty="0" err="1"/>
              <a:t>erverAddress</a:t>
            </a:r>
            <a:r>
              <a:rPr lang="en-US" sz="1600" b="1" dirty="0"/>
              <a:t>, </a:t>
            </a:r>
            <a:r>
              <a:rPr lang="en-US" altLang="zh-CN" sz="1600" b="1" dirty="0"/>
              <a:t>Port#</a:t>
            </a:r>
            <a:r>
              <a:rPr lang="en-US" sz="1600" b="1" dirty="0"/>
              <a:t>);</a:t>
            </a:r>
            <a:endParaRPr lang="en-US" altLang="zh-CN" sz="16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Create a socket using server’s address and port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Client connects to the server if the server is listening on that port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Use socket2 to communicate with the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socket2.close();   </a:t>
            </a:r>
            <a:r>
              <a:rPr lang="en-US" sz="1600" dirty="0"/>
              <a:t>Close the socket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BD780-C179-48B1-81A5-9243195ED719}"/>
              </a:ext>
            </a:extLst>
          </p:cNvPr>
          <p:cNvSpPr txBox="1"/>
          <p:nvPr/>
        </p:nvSpPr>
        <p:spPr>
          <a:xfrm>
            <a:off x="7688510" y="729841"/>
            <a:ext cx="952151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socket1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5081C-7753-48F7-8CB5-AAFFA14521AA}"/>
              </a:ext>
            </a:extLst>
          </p:cNvPr>
          <p:cNvSpPr txBox="1"/>
          <p:nvPr/>
        </p:nvSpPr>
        <p:spPr>
          <a:xfrm>
            <a:off x="7688510" y="3566768"/>
            <a:ext cx="95215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socket2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55116E-6A7E-4F96-B802-CC49B0933728}"/>
              </a:ext>
            </a:extLst>
          </p:cNvPr>
          <p:cNvCxnSpPr/>
          <p:nvPr/>
        </p:nvCxnSpPr>
        <p:spPr>
          <a:xfrm>
            <a:off x="8179266" y="1124340"/>
            <a:ext cx="0" cy="239064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02B3174-3D69-4BC7-93CD-B319FAF74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5" y="3896095"/>
            <a:ext cx="8923809" cy="2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9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680</Words>
  <Application>Microsoft Office PowerPoint</Application>
  <PresentationFormat>On-screen Show (4:3)</PresentationFormat>
  <Paragraphs>129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굴림</vt:lpstr>
      <vt:lpstr>Arial</vt:lpstr>
      <vt:lpstr>Calibri</vt:lpstr>
      <vt:lpstr>Calibri Light</vt:lpstr>
      <vt:lpstr>Office Theme</vt:lpstr>
      <vt:lpstr>Communication</vt:lpstr>
      <vt:lpstr>Client-Server</vt:lpstr>
      <vt:lpstr>Basic networking model</vt:lpstr>
      <vt:lpstr>Low-level layers</vt:lpstr>
      <vt:lpstr>Transport Layer</vt:lpstr>
      <vt:lpstr>Discussion</vt:lpstr>
      <vt:lpstr>Introduction to Sockets (1)</vt:lpstr>
      <vt:lpstr>Introduction to Sockets (2)   </vt:lpstr>
      <vt:lpstr>Socket Addressing (IP Address + Port Number)</vt:lpstr>
      <vt:lpstr>Sockets: Conceptual View</vt:lpstr>
      <vt:lpstr>Connection-Oriented Application</vt:lpstr>
      <vt:lpstr>Operations and Diagram</vt:lpstr>
      <vt:lpstr>Python Socket</vt:lpstr>
      <vt:lpstr>Java Socket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</dc:title>
  <dc:creator>Xiang Cao</dc:creator>
  <cp:lastModifiedBy>Xiang Cao</cp:lastModifiedBy>
  <cp:revision>39</cp:revision>
  <dcterms:created xsi:type="dcterms:W3CDTF">2019-01-09T00:35:56Z</dcterms:created>
  <dcterms:modified xsi:type="dcterms:W3CDTF">2025-09-02T22:13:46Z</dcterms:modified>
</cp:coreProperties>
</file>