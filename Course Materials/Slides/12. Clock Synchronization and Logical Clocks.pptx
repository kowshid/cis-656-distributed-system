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6"/>
  </p:notesMasterIdLst>
  <p:sldIdLst>
    <p:sldId id="256" r:id="rId3"/>
    <p:sldId id="301" r:id="rId4"/>
    <p:sldId id="302" r:id="rId5"/>
    <p:sldId id="303" r:id="rId6"/>
    <p:sldId id="281" r:id="rId7"/>
    <p:sldId id="305" r:id="rId8"/>
    <p:sldId id="293" r:id="rId9"/>
    <p:sldId id="481" r:id="rId10"/>
    <p:sldId id="291" r:id="rId11"/>
    <p:sldId id="283" r:id="rId12"/>
    <p:sldId id="284" r:id="rId13"/>
    <p:sldId id="288" r:id="rId14"/>
    <p:sldId id="292" r:id="rId15"/>
    <p:sldId id="294" r:id="rId16"/>
    <p:sldId id="433" r:id="rId17"/>
    <p:sldId id="379" r:id="rId18"/>
    <p:sldId id="286" r:id="rId19"/>
    <p:sldId id="482" r:id="rId20"/>
    <p:sldId id="486" r:id="rId21"/>
    <p:sldId id="487" r:id="rId22"/>
    <p:sldId id="489" r:id="rId23"/>
    <p:sldId id="490" r:id="rId24"/>
    <p:sldId id="491" r:id="rId25"/>
    <p:sldId id="492" r:id="rId26"/>
    <p:sldId id="493" r:id="rId27"/>
    <p:sldId id="494" r:id="rId28"/>
    <p:sldId id="495" r:id="rId29"/>
    <p:sldId id="496" r:id="rId30"/>
    <p:sldId id="501" r:id="rId31"/>
    <p:sldId id="502" r:id="rId32"/>
    <p:sldId id="503" r:id="rId33"/>
    <p:sldId id="504" r:id="rId34"/>
    <p:sldId id="51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97" autoAdjust="0"/>
    <p:restoredTop sz="86862" autoAdjust="0"/>
  </p:normalViewPr>
  <p:slideViewPr>
    <p:cSldViewPr snapToGrid="0">
      <p:cViewPr varScale="1">
        <p:scale>
          <a:sx n="99" d="100"/>
          <a:sy n="99" d="100"/>
        </p:scale>
        <p:origin x="21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8D31E-06A6-4750-B372-35673243E202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7C188-1435-4063-8A2A-CF1587EE8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C594EFB-F97C-4227-833E-2F1B35D10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F296F6-1495-4ADC-8F84-B3922E536F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67E6344-433C-4862-90F8-F589D35AE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DBF4342-A059-4DEA-BAFE-053D4F2C6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FA3AC3C-EBD5-496A-A350-23F870FE0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B792D4-EB0B-4774-9462-7B105A8B7B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BBAD2A1-0E7B-4F12-AC32-1EB35113FA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4E7C965-9615-48F0-9C0B-18E3EE7CE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211D9358-F0A0-4CE3-8F42-F4A80DBD50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CD669-E1BC-473E-B95A-9E0C21F40F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8E992BBF-AC54-4D2C-A2DA-93B472019A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B182814-9AEF-4C6B-AD6E-C70D60F56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7C188-1435-4063-8A2A-CF1587EE8E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2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8DCF7EB-8169-49CD-AC40-20D8E3DEDC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2A414E9-94BB-42AD-8D5C-24BE414D2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4530725"/>
            <a:ext cx="5384800" cy="43719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38" tIns="47919" rIns="95838" bIns="47919"/>
          <a:lstStyle/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1F6B9C8-103F-4ABB-81D5-F302C2ED9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96562BA-5F66-403A-9747-4896C4D101EE}" type="slidenum">
              <a:rPr lang="zh-CN" altLang="en-US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1E334D4-2292-46F5-BA22-777006906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619CFA6-0395-42D1-8F6D-E7747B315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0279D9D2-9670-4D1A-8DDF-FBCF6E457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747FD4B-A58D-4AB5-A078-B0A2AA7B31D8}" type="slidenum">
              <a:rPr lang="zh-CN" altLang="en-US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64A9130-D4BE-47CC-BD06-D35816428E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4336FF5-E41F-443B-A0C8-0140CA643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A27AADF-CA2C-4E37-B2A9-9FA4263DF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DF17498-73F9-4A10-A06B-9F28BEF66BB1}" type="slidenum">
              <a:rPr lang="zh-CN" altLang="en-US" sz="1200"/>
              <a:pPr eaLnBrk="1" hangingPunct="1"/>
              <a:t>21</a:t>
            </a:fld>
            <a:endParaRPr lang="en-US" altLang="zh-CN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DA4AE503-BFDC-4784-954D-E03BDBD5F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529CEA9-8E64-47C9-93CD-9B1FAC132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E093CC42-D9B8-4851-8CD8-D3C9F0A08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C0D7A1C-EBDC-470F-BC83-4EB549F7ED7B}" type="slidenum">
              <a:rPr lang="zh-CN" altLang="en-US" sz="1200"/>
              <a:pPr eaLnBrk="1" hangingPunct="1"/>
              <a:t>22</a:t>
            </a:fld>
            <a:endParaRPr lang="en-US" altLang="zh-CN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EAC44BC-7D92-4061-8BF2-906CE5EE0E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DC0847A-AF36-49DE-B5F1-B45D4FA31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0089B5C-D931-474F-979D-05D321FCA2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5683C6E-762D-41EF-96F8-F878C1598847}" type="slidenum">
              <a:rPr lang="zh-CN" altLang="en-US" sz="1200"/>
              <a:pPr eaLnBrk="1" hangingPunct="1"/>
              <a:t>23</a:t>
            </a:fld>
            <a:endParaRPr lang="en-US" altLang="zh-CN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318F606-0B2C-4FBD-AD15-6CDAC7AA3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DA136A6-9423-43B6-8240-3B77B7110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AU" altLang="en-US" sz="1400" dirty="0"/>
              <a:t>Note that if two events happen without any message, then we can't say anything about their relative occurrence in time.</a:t>
            </a:r>
          </a:p>
          <a:p>
            <a:pPr>
              <a:spcBef>
                <a:spcPct val="20000"/>
              </a:spcBef>
            </a:pPr>
            <a:r>
              <a:rPr lang="en-AU" altLang="en-US" sz="1400" dirty="0"/>
              <a:t>In this example a </a:t>
            </a:r>
            <a:r>
              <a:rPr lang="en-AU" altLang="en-US" dirty="0">
                <a:latin typeface="Symbol" panose="05050102010706020507" pitchFamily="18" charset="2"/>
              </a:rPr>
              <a:t>&lt;</a:t>
            </a:r>
            <a:r>
              <a:rPr lang="en-AU" altLang="en-US" dirty="0"/>
              <a:t> b </a:t>
            </a:r>
            <a:r>
              <a:rPr lang="en-AU" altLang="en-US" dirty="0">
                <a:latin typeface="Symbol" panose="05050102010706020507" pitchFamily="18" charset="2"/>
              </a:rPr>
              <a:t>&lt;</a:t>
            </a:r>
            <a:r>
              <a:rPr lang="en-AU" altLang="en-US" dirty="0"/>
              <a:t> c </a:t>
            </a:r>
            <a:r>
              <a:rPr lang="en-AU" altLang="en-US" dirty="0">
                <a:latin typeface="Symbol" panose="05050102010706020507" pitchFamily="18" charset="2"/>
              </a:rPr>
              <a:t>&lt; </a:t>
            </a:r>
            <a:r>
              <a:rPr lang="en-AU" altLang="en-US" dirty="0"/>
              <a:t>d </a:t>
            </a:r>
            <a:r>
              <a:rPr lang="en-AU" altLang="en-US" dirty="0">
                <a:latin typeface="Symbol" panose="05050102010706020507" pitchFamily="18" charset="2"/>
              </a:rPr>
              <a:t>&lt;</a:t>
            </a:r>
            <a:r>
              <a:rPr lang="en-AU" altLang="en-US" dirty="0"/>
              <a:t> f, but we can say little about e other than e </a:t>
            </a:r>
            <a:r>
              <a:rPr lang="en-AU" altLang="en-US" dirty="0">
                <a:latin typeface="Symbol" panose="05050102010706020507" pitchFamily="18" charset="2"/>
              </a:rPr>
              <a:t>&lt;</a:t>
            </a:r>
            <a:r>
              <a:rPr lang="en-AU" altLang="en-US" dirty="0"/>
              <a:t> f.  We say that events such as a and e are </a:t>
            </a:r>
            <a:r>
              <a:rPr lang="en-AU" altLang="en-US" i="1" dirty="0"/>
              <a:t>concurrent</a:t>
            </a:r>
            <a:r>
              <a:rPr lang="en-AU" altLang="en-US" dirty="0"/>
              <a:t>.</a:t>
            </a:r>
          </a:p>
          <a:p>
            <a:pPr>
              <a:spcBef>
                <a:spcPct val="20000"/>
              </a:spcBef>
            </a:pPr>
            <a:r>
              <a:rPr lang="en-AU" altLang="en-US" dirty="0"/>
              <a:t>Note also that “happens before” does not demonstrate causality.  There is merely the potential for causality.</a:t>
            </a:r>
            <a:endParaRPr lang="en-AU" altLang="en-US" sz="1400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D2D6617D-E6B1-4CDF-897E-88D8B3EFE9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502D35-93C4-4938-BF5F-00A7417C874E}" type="slidenum">
              <a:rPr lang="zh-CN" altLang="en-US" sz="1200"/>
              <a:pPr eaLnBrk="1" hangingPunct="1"/>
              <a:t>24</a:t>
            </a:fld>
            <a:endParaRPr lang="en-US" altLang="zh-CN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7A31C1E-B780-42B8-8CD9-D0577E624C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76CD181E-601A-4F15-8A55-84037914C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6A016F2-1B9E-4EF7-867E-A2091D9B46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2B8FEB6-4C66-426D-B534-AA96A529C4D8}" type="slidenum">
              <a:rPr lang="zh-CN" altLang="en-US" sz="1200"/>
              <a:pPr eaLnBrk="1" hangingPunct="1"/>
              <a:t>25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827832C-BCAA-47E1-A685-18F953A6B1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920C28B-E090-4BC9-B2B3-5A3306062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A43CE454-AFA5-496F-9461-D7A4443D6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434F389-3C5A-49FF-A673-429443F3EFC1}" type="slidenum">
              <a:rPr lang="zh-CN" altLang="en-US" sz="1200"/>
              <a:pPr eaLnBrk="1" hangingPunct="1"/>
              <a:t>26</a:t>
            </a:fld>
            <a:endParaRPr lang="en-US" altLang="zh-CN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4F143BD7-934D-439B-A89B-2F050BD71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064419D-579C-4288-B24E-86B4256B8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A8D9CAE-1065-43F9-BC68-E820B2FAF0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AF269C6-11E2-421B-BE6F-F643471FB82E}" type="slidenum">
              <a:rPr lang="zh-CN" altLang="en-US" sz="1200"/>
              <a:pPr eaLnBrk="1" hangingPunct="1"/>
              <a:t>27</a:t>
            </a:fld>
            <a:endParaRPr lang="en-US" altLang="zh-CN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6F5410F-E80D-4A25-81FA-3618E0DE8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F640E40-8FD4-41C7-9240-31FBC866C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EC99C808-30AD-4E30-9A56-704F54F60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5547D9D-78A9-46BD-A2C3-40DE620519A8}" type="slidenum">
              <a:rPr lang="zh-CN" altLang="en-US" sz="1200"/>
              <a:pPr eaLnBrk="1" hangingPunct="1"/>
              <a:t>28</a:t>
            </a:fld>
            <a:endParaRPr lang="en-US" altLang="zh-CN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1B8BA72A-CED7-41BC-A5F8-40D83DAE3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7D5DC451-B807-46BF-99CE-6DD180F73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58E86D4-563B-4915-B19D-9E8FF4CFA8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D65D45A-067C-4D29-AF53-5847D576A596}" type="slidenum">
              <a:rPr lang="zh-CN" altLang="en-US" sz="1200"/>
              <a:pPr eaLnBrk="1" hangingPunct="1"/>
              <a:t>29</a:t>
            </a:fld>
            <a:endParaRPr lang="en-US" altLang="zh-CN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973BF22-D4A6-4FDF-B129-7FF51E675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4FFBFE4-1C14-4BF2-9AEE-BFFED637B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D6EBC04B-A955-443D-9390-25930ACDC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FBEEEBF-0946-4FB0-828E-E244F6F4AD3E}" type="slidenum">
              <a:rPr lang="zh-CN" altLang="en-US" sz="1200"/>
              <a:pPr eaLnBrk="1" hangingPunct="1"/>
              <a:t>30</a:t>
            </a:fld>
            <a:endParaRPr lang="en-US" altLang="zh-CN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D9BA453-68D8-43DA-B6CE-4D1517656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855E151-706F-4B85-ACCD-2DB7E66EA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9E20F41F-E97F-4F4B-A7D4-01EBB7ACC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AF897DA-B024-43F7-8D47-0EB31C6AEC6E}" type="slidenum">
              <a:rPr lang="zh-CN" altLang="en-US" sz="1200"/>
              <a:pPr eaLnBrk="1" hangingPunct="1"/>
              <a:t>31</a:t>
            </a:fld>
            <a:endParaRPr lang="en-US" altLang="zh-CN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87F67E8-ED3D-4A4C-89DA-BFDB2C566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260524B-F52A-480C-A9F1-624D56B04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CA9D13A-CDAA-4A07-BB07-1640769AA1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99AC0D4-0F97-4D77-8BB4-AF2DB89241D8}" type="slidenum">
              <a:rPr lang="zh-CN" altLang="en-US" sz="1200"/>
              <a:pPr eaLnBrk="1" hangingPunct="1"/>
              <a:t>32</a:t>
            </a:fld>
            <a:endParaRPr lang="en-US" altLang="zh-CN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860B583-9FB5-4B4D-B5C8-5B6658140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FE48C88-C407-401B-92B2-6E59A1C0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9A65ABB-9BA6-471C-89C0-C00ECC045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8AF1F0-CF6D-47B4-BAAF-EDDB35C532E4}" type="slidenum">
              <a:rPr lang="zh-CN" altLang="en-US" sz="1200"/>
              <a:pPr eaLnBrk="1" hangingPunct="1"/>
              <a:t>33</a:t>
            </a:fld>
            <a:endParaRPr lang="en-US" altLang="zh-CN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CD61C18-0141-44FD-9E30-166FCFCDC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CB9CE82-9AF3-4289-83BA-931CFD1E7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9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3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3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3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2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1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5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2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35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98C6F4-EEF6-4F78-B781-7BBCBBA706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F472F-E9E1-4C80-B5A8-8902CEC333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BD6C38-124C-43F6-9AF1-94936129C2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B7F7A6-C2B9-4F5F-A0EF-3A21EF6398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449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E21A80-B2CB-4F90-8A8E-00B7FD6DF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E21736-3317-45A2-ABF1-07D138C4B2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42332-569C-4C7B-9F8F-5ECB4B05D1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66C86D-2286-4795-AE6F-382628D3B5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66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DDBF44-6E59-480B-89E1-A0FEF0242C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D13D8E-58B6-44AE-824C-22CEE2B4B6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B00904-5F34-40DC-9933-867A40DE6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CFF69-8D0C-43F4-B45E-CBA54B24BA5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27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66824-4897-47AB-8CEE-0E79717781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08EC0-774F-4FDA-A7F4-B5B3BB3689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261C3-2293-48E3-B275-D178D31C93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D3B757-2B7C-4214-AD53-5E04BA0A783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3258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08A155-62DC-4CA7-A1FA-E30BD47552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89FBB26-A31A-4CB4-94E7-D9B68FA72E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8F85AF3-62DD-459A-8A9D-8AB0737DE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672EA-FC62-4C66-9541-8CE1609FA89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5007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19496D9-491F-49FA-8D1F-0CAA4CB4EB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1318AC-4B9F-4A60-89C8-EB726DC2D7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88B327-18DD-4E75-AD8D-26A22AA67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BEA5AF-CD89-48A3-BD33-1E86676649F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850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2E0B8D-2CB9-4CA7-A607-B64D40E31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E92321B-D781-42E9-9041-1D5440EF7C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B5BBCB-7BFD-45F3-8A41-063418E35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044D5D-259A-485E-B4C2-975FFBA621D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7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DBE67-D0F6-4873-9B9F-E665B77D97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A3E9B-F248-4AFD-B973-B2C1AC73AB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9405A-B3BC-4813-A3D1-D96C22BB4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3D9FC-0BAD-4843-826D-B099EEC5507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8782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4EC18-9E79-4970-8508-DAE02DA904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8C7CA-1B8E-4CFD-BBA6-3753E08D38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F6773-2A2F-43A0-A5BC-B0A19CF16D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AA6C27-2B7A-418E-BF12-0490195508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504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059208-1008-44DF-AB93-20724DC6F3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6FBBC7-D98A-4AD5-B562-33B531F2B7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9382F3-5C17-4854-A282-AFB740B4BE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ACE8FF-3917-48E1-928F-3B3C68531DE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225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64EFE0-6449-4FDD-90D8-D4352FA33F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775B3D-0000-4D1A-9401-AD71CCD5B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DC4F24-1427-4042-B046-B75E0A7470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799D39-1884-4731-A4AF-BF8169AF3A6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744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2E17A-FFA7-42B8-B096-FC044AD75ACA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6E209-E9C3-4FEF-B584-4838209E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1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33F358-198D-4837-B255-71BC08553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67A841-E774-4519-B5D1-F2B8D2D45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42DCFA9-5495-4C15-8E6F-AC022938EA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609518D-87E4-4F72-BA21-2259C7F5BF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16EA037-292A-4B35-87DE-0FD0B12010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SimSun" panose="02010600030101010101" pitchFamily="2" charset="-122"/>
              </a:defRPr>
            </a:lvl1pPr>
          </a:lstStyle>
          <a:p>
            <a:fld id="{C9E8611A-6F17-4DD8-B810-371CD6308AC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32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EE5E-5AFA-4BC8-AE08-6B57C2EA2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Clock Synchronization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and Logical Clock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1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593841-5203-4679-B16C-9C1F3963A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152400"/>
            <a:ext cx="8386211" cy="114300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ea typeface="SimSun" panose="02010600030101010101" pitchFamily="2" charset="-122"/>
              </a:rPr>
              <a:t>Lack of Global Time in Distributed Systems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33E078D-85B1-47BD-AB01-93CBA68A1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4130" y="1530751"/>
            <a:ext cx="7632700" cy="4435475"/>
          </a:xfrm>
        </p:spPr>
        <p:txBody>
          <a:bodyPr/>
          <a:lstStyle/>
          <a:p>
            <a:pPr marL="609600" indent="-609600" algn="l" eaLnBrk="1" hangingPunct="1"/>
            <a:r>
              <a:rPr lang="en-US" altLang="zh-CN" dirty="0">
                <a:ea typeface="SimSun" panose="02010600030101010101" pitchFamily="2" charset="-122"/>
              </a:rPr>
              <a:t>It is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impossible</a:t>
            </a:r>
            <a:r>
              <a:rPr lang="en-US" altLang="zh-CN" dirty="0">
                <a:ea typeface="SimSun" panose="02010600030101010101" pitchFamily="2" charset="-122"/>
              </a:rPr>
              <a:t> to guarantee that physical clocks run at the same frequency</a:t>
            </a:r>
          </a:p>
          <a:p>
            <a:pPr marL="609600" indent="-609600" algn="l" eaLnBrk="1" hangingPunct="1"/>
            <a:r>
              <a:rPr lang="en-US" altLang="zh-CN" dirty="0">
                <a:ea typeface="SimSun" panose="02010600030101010101" pitchFamily="2" charset="-122"/>
              </a:rPr>
              <a:t>Lack of global time, can cause problems</a:t>
            </a:r>
          </a:p>
          <a:p>
            <a:pPr marL="609600" indent="-609600" algn="l" eaLnBrk="1" hangingPunct="1"/>
            <a:r>
              <a:rPr lang="en-US" altLang="zh-CN" dirty="0">
                <a:ea typeface="SimSun" panose="02010600030101010101" pitchFamily="2" charset="-122"/>
              </a:rPr>
              <a:t>Example: UNIX 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make</a:t>
            </a:r>
          </a:p>
          <a:p>
            <a:pPr marL="990600" lvl="1" indent="-533400" eaLnBrk="1" hangingPunct="1"/>
            <a:r>
              <a:rPr lang="en-US" altLang="zh-CN" dirty="0">
                <a:ea typeface="SimSun" panose="02010600030101010101" pitchFamily="2" charset="-122"/>
              </a:rPr>
              <a:t>Edit </a:t>
            </a:r>
            <a:r>
              <a:rPr lang="en-US" altLang="zh-CN" dirty="0" err="1">
                <a:latin typeface="Arial" panose="020B0604020202020204" pitchFamily="34" charset="0"/>
                <a:ea typeface="SimSun" panose="02010600030101010101" pitchFamily="2" charset="-122"/>
              </a:rPr>
              <a:t>output.c</a:t>
            </a:r>
            <a:r>
              <a:rPr lang="en-US" altLang="zh-CN" dirty="0">
                <a:ea typeface="SimSun" panose="02010600030101010101" pitchFamily="2" charset="-122"/>
              </a:rPr>
              <a:t> at a client</a:t>
            </a:r>
          </a:p>
          <a:p>
            <a:pPr marL="990600" lvl="1" indent="-533400" eaLnBrk="1" hangingPunct="1"/>
            <a:r>
              <a:rPr lang="en-US" altLang="zh-CN" dirty="0" err="1">
                <a:latin typeface="Arial" panose="020B0604020202020204" pitchFamily="34" charset="0"/>
                <a:ea typeface="SimSun" panose="02010600030101010101" pitchFamily="2" charset="-122"/>
              </a:rPr>
              <a:t>output.o</a:t>
            </a:r>
            <a:r>
              <a:rPr lang="en-US" altLang="zh-CN" dirty="0">
                <a:ea typeface="SimSun" panose="02010600030101010101" pitchFamily="2" charset="-122"/>
              </a:rPr>
              <a:t> is at a server (compile at server)</a:t>
            </a:r>
          </a:p>
          <a:p>
            <a:pPr marL="990600" lvl="1" indent="-533400" eaLnBrk="1" hangingPunct="1"/>
            <a:r>
              <a:rPr lang="en-US" altLang="zh-CN" dirty="0">
                <a:ea typeface="SimSun" panose="02010600030101010101" pitchFamily="2" charset="-122"/>
              </a:rPr>
              <a:t>Client machine clock can be lagging behind the server machine clock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6F31-3347-4170-8ADB-1F9D8936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237" y="355500"/>
            <a:ext cx="7886700" cy="1325563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UNIX Make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5049-C26D-49A5-BCAC-53E35988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7" y="1815115"/>
            <a:ext cx="853653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UNIX make command is used to compile source code </a:t>
            </a:r>
          </a:p>
          <a:p>
            <a:r>
              <a:rPr lang="en-US" dirty="0"/>
              <a:t>Typically, a large UNIX program is split in several files </a:t>
            </a:r>
          </a:p>
          <a:p>
            <a:r>
              <a:rPr lang="en-US" dirty="0"/>
              <a:t>A change to one source file only requires that file to be recompiled </a:t>
            </a:r>
          </a:p>
          <a:p>
            <a:r>
              <a:rPr lang="en-US" dirty="0"/>
              <a:t>Make goes through all the source files to find out which ones need to be recompiled </a:t>
            </a:r>
          </a:p>
          <a:p>
            <a:r>
              <a:rPr lang="en-US" dirty="0"/>
              <a:t>It examines the time in which source and object files      were last modified </a:t>
            </a:r>
          </a:p>
          <a:p>
            <a:r>
              <a:rPr lang="en-US" dirty="0"/>
              <a:t>If the source file was last modified after the object file,  make calls the compiler to recompile it</a:t>
            </a:r>
          </a:p>
        </p:txBody>
      </p:sp>
    </p:spTree>
    <p:extLst>
      <p:ext uri="{BB962C8B-B14F-4D97-AF65-F5344CB8AC3E}">
        <p14:creationId xmlns:p14="http://schemas.microsoft.com/office/powerpoint/2010/main" val="27775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F046E-E12A-4A5E-BB39-A12193B9D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6" y="2826169"/>
            <a:ext cx="8855907" cy="37575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Let's suppose to have editor and compiler running on two different machines, with no global agreement on time </a:t>
            </a:r>
          </a:p>
          <a:p>
            <a:pPr algn="just"/>
            <a:r>
              <a:rPr lang="en-US" dirty="0"/>
              <a:t>Suppose that </a:t>
            </a:r>
            <a:r>
              <a:rPr lang="en-US" dirty="0" err="1"/>
              <a:t>output.o</a:t>
            </a:r>
            <a:r>
              <a:rPr lang="en-US" dirty="0"/>
              <a:t> has time 2144, and shortly later </a:t>
            </a:r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lang="en-US" dirty="0" err="1"/>
              <a:t>output.c</a:t>
            </a:r>
            <a:r>
              <a:rPr lang="en-US" dirty="0"/>
              <a:t> is modified but is assigned time 2143 because the </a:t>
            </a:r>
          </a:p>
          <a:p>
            <a:pPr marL="0" indent="0" algn="just">
              <a:buNone/>
            </a:pPr>
            <a:r>
              <a:rPr lang="en-US" dirty="0"/>
              <a:t>   clock on that machine is slower </a:t>
            </a:r>
          </a:p>
          <a:p>
            <a:r>
              <a:rPr lang="en-US" dirty="0"/>
              <a:t>Make will not call the compiler </a:t>
            </a:r>
          </a:p>
          <a:p>
            <a:r>
              <a:rPr lang="en-US" dirty="0"/>
              <a:t>The executable program will contain a mixture of code that probably will lead to an unpredictable behavior </a:t>
            </a:r>
          </a:p>
          <a:p>
            <a:r>
              <a:rPr lang="en-US" dirty="0"/>
              <a:t>Lack of synchronization is dramatic!</a:t>
            </a:r>
          </a:p>
          <a:p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4A2B5F3-98E1-41C1-AC80-A370E682A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5" t="46375" r="20924" b="41692"/>
          <a:stretch>
            <a:fillRect/>
          </a:stretch>
        </p:blipFill>
        <p:spPr bwMode="auto">
          <a:xfrm>
            <a:off x="220716" y="0"/>
            <a:ext cx="85344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72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063A8080-99B0-4BDB-AC8D-8BF4453A1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09876"/>
            <a:ext cx="7010400" cy="8382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Physical Clocks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4C493933-F08C-4FD2-867B-AF76CB606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895375"/>
            <a:ext cx="8305800" cy="4267200"/>
          </a:xfrm>
        </p:spPr>
        <p:txBody>
          <a:bodyPr/>
          <a:lstStyle/>
          <a:p>
            <a:r>
              <a:rPr lang="en-US" altLang="en-US" b="1" dirty="0">
                <a:solidFill>
                  <a:schemeClr val="hlink"/>
                </a:solidFill>
              </a:rPr>
              <a:t>Universal Coordinated Time (</a:t>
            </a:r>
            <a:r>
              <a:rPr lang="en-US" altLang="en-US" b="1" i="1" dirty="0">
                <a:solidFill>
                  <a:schemeClr val="hlink"/>
                </a:solidFill>
              </a:rPr>
              <a:t>UTC</a:t>
            </a:r>
            <a:r>
              <a:rPr lang="en-US" altLang="en-US" b="1" dirty="0">
                <a:solidFill>
                  <a:schemeClr val="hlink"/>
                </a:solidFill>
              </a:rPr>
              <a:t>)</a:t>
            </a:r>
            <a:r>
              <a:rPr lang="en-US" altLang="en-US" sz="2800" dirty="0"/>
              <a:t> is broadcast by </a:t>
            </a:r>
            <a:r>
              <a:rPr lang="en-US" dirty="0"/>
              <a:t>National Institute of Standards and Technology (</a:t>
            </a:r>
            <a:r>
              <a:rPr lang="en-US" altLang="en-US" sz="2800" dirty="0"/>
              <a:t>NIST) from Fort Collins, Colorado over shortwave radio station. It broadcasts a short pulses at the start of each UTC second. </a:t>
            </a:r>
            <a:r>
              <a:rPr lang="en-US" altLang="en-US" sz="2800" b="1" dirty="0">
                <a:solidFill>
                  <a:schemeClr val="folHlink"/>
                </a:solidFill>
                <a:latin typeface="Comic Sans MS" panose="030F0702030302020204" pitchFamily="66" charset="0"/>
              </a:rPr>
              <a:t>[</a:t>
            </a:r>
            <a:r>
              <a:rPr lang="en-US" altLang="en-US" sz="2800" b="1" i="1" dirty="0">
                <a:solidFill>
                  <a:schemeClr val="folHlink"/>
                </a:solidFill>
                <a:latin typeface="Comic Sans MS" panose="030F0702030302020204" pitchFamily="66" charset="0"/>
              </a:rPr>
              <a:t>accuracy 10 msec.</a:t>
            </a:r>
            <a:r>
              <a:rPr lang="en-US" altLang="en-US" sz="2800" b="1" dirty="0">
                <a:solidFill>
                  <a:schemeClr val="folHlink"/>
                </a:solidFill>
                <a:latin typeface="Comic Sans MS" panose="030F0702030302020204" pitchFamily="66" charset="0"/>
              </a:rPr>
              <a:t>]</a:t>
            </a:r>
          </a:p>
          <a:p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GEOS (Geostationary Environment Operational Satellite) also offer UTC service. </a:t>
            </a:r>
            <a:r>
              <a:rPr lang="en-US" altLang="en-US" sz="2800" b="1" dirty="0">
                <a:solidFill>
                  <a:schemeClr val="folHlink"/>
                </a:solidFill>
                <a:latin typeface="Comic Sans MS" panose="030F0702030302020204" pitchFamily="66" charset="0"/>
              </a:rPr>
              <a:t>[</a:t>
            </a:r>
            <a:r>
              <a:rPr lang="en-US" altLang="en-US" sz="2800" b="1" i="1" dirty="0">
                <a:solidFill>
                  <a:schemeClr val="folHlink"/>
                </a:solidFill>
                <a:latin typeface="Comic Sans MS" panose="030F0702030302020204" pitchFamily="66" charset="0"/>
              </a:rPr>
              <a:t>accuracy 0.5 msec.</a:t>
            </a:r>
            <a:r>
              <a:rPr lang="en-US" altLang="en-US" sz="2800" b="1" dirty="0">
                <a:solidFill>
                  <a:schemeClr val="folHlink"/>
                </a:solidFill>
                <a:latin typeface="Comic Sans MS" panose="030F0702030302020204" pitchFamily="66" charset="0"/>
              </a:rPr>
              <a:t>]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110D77E-6967-4EDB-92BD-C6B0A9E16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725" y="211755"/>
            <a:ext cx="8312150" cy="1143000"/>
          </a:xfrm>
        </p:spPr>
        <p:txBody>
          <a:bodyPr/>
          <a:lstStyle/>
          <a:p>
            <a:pPr algn="l" eaLnBrk="1" hangingPunct="1"/>
            <a:r>
              <a:rPr lang="en-US" altLang="zh-CN" sz="4000" dirty="0">
                <a:ea typeface="SimSun" panose="02010600030101010101" pitchFamily="2" charset="-122"/>
              </a:rPr>
              <a:t>Physical Clock Synchronization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14D485A-6B91-4D17-9B06-097BCF897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1727301"/>
            <a:ext cx="7632700" cy="4173538"/>
          </a:xfrm>
        </p:spPr>
        <p:txBody>
          <a:bodyPr/>
          <a:lstStyle/>
          <a:p>
            <a:pPr marL="609600" indent="-609600" algn="l" eaLnBrk="1" hangingPunct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External: synchronize with an external resource, UTC source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|S(t) – C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(t)| &lt; D</a:t>
            </a:r>
          </a:p>
          <a:p>
            <a:pPr marL="609600" indent="-609600" algn="l" eaLnBrk="1" hangingPunct="1">
              <a:lnSpc>
                <a:spcPct val="90000"/>
              </a:lnSpc>
            </a:pPr>
            <a:endParaRPr lang="en-US" altLang="zh-CN" dirty="0">
              <a:ea typeface="SimSun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Internal: synchronize without access to an external resource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ea typeface="SimSun" panose="02010600030101010101" pitchFamily="2" charset="-122"/>
              </a:rPr>
              <a:t>|C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(t) – </a:t>
            </a:r>
            <a:r>
              <a:rPr lang="en-US" altLang="zh-CN" dirty="0" err="1">
                <a:ea typeface="SimSun" panose="02010600030101010101" pitchFamily="2" charset="-122"/>
              </a:rPr>
              <a:t>C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(t)| &lt; D</a:t>
            </a:r>
          </a:p>
          <a:p>
            <a:pPr marL="609600" indent="-609600" algn="l" eaLnBrk="1" hangingPunct="1">
              <a:lnSpc>
                <a:spcPct val="90000"/>
              </a:lnSpc>
              <a:buFontTx/>
              <a:buNone/>
            </a:pPr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Rectangle 3">
            <a:extLst>
              <a:ext uri="{FF2B5EF4-FFF2-40B4-BE49-F238E27FC236}">
                <a16:creationId xmlns:a16="http://schemas.microsoft.com/office/drawing/2014/main" id="{53E27460-6FE7-4378-B6D1-3AD186B74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8908"/>
            <a:ext cx="7772400" cy="3239602"/>
          </a:xfrm>
        </p:spPr>
        <p:txBody>
          <a:bodyPr>
            <a:normAutofit lnSpcReduction="10000"/>
          </a:bodyPr>
          <a:lstStyle/>
          <a:p>
            <a:r>
              <a:rPr lang="en-US" altLang="en-US" sz="3200" dirty="0"/>
              <a:t>Centralized Algorithms</a:t>
            </a:r>
          </a:p>
          <a:p>
            <a:pPr lvl="1"/>
            <a:r>
              <a:rPr lang="en-US" altLang="en-US" sz="2800" dirty="0"/>
              <a:t>Cristian’s Algorithm</a:t>
            </a:r>
          </a:p>
          <a:p>
            <a:pPr lvl="1"/>
            <a:r>
              <a:rPr lang="en-US" altLang="en-US" sz="2800" dirty="0"/>
              <a:t>Berkeley Algorithm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Decentralized Algorithms</a:t>
            </a:r>
          </a:p>
          <a:p>
            <a:pPr lvl="1"/>
            <a:r>
              <a:rPr lang="en-US" altLang="en-US" sz="2800" dirty="0"/>
              <a:t>Averaging Algorithms (e.g., NTP)</a:t>
            </a:r>
          </a:p>
          <a:p>
            <a:pPr lvl="1"/>
            <a:r>
              <a:rPr lang="en-US" altLang="en-US" sz="2800" dirty="0"/>
              <a:t>Multiple External Time Sources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54C8F4A9-29B8-468C-B0A5-749F1E101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3682" y="390123"/>
            <a:ext cx="7793037" cy="6858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</a:rPr>
              <a:t>Clock Synchronization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F876FE62-7B57-4D50-B3E7-D80495C45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382" y="140101"/>
            <a:ext cx="8547234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Cristian’s Algorithm – External Synch</a:t>
            </a:r>
          </a:p>
        </p:txBody>
      </p:sp>
      <p:sp>
        <p:nvSpPr>
          <p:cNvPr id="137219" name="Rectangle 1027">
            <a:extLst>
              <a:ext uri="{FF2B5EF4-FFF2-40B4-BE49-F238E27FC236}">
                <a16:creationId xmlns:a16="http://schemas.microsoft.com/office/drawing/2014/main" id="{02AB8FC7-69AA-4364-87A2-AF9700F66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05" y="1523733"/>
            <a:ext cx="8013789" cy="4357303"/>
          </a:xfrm>
        </p:spPr>
        <p:txBody>
          <a:bodyPr/>
          <a:lstStyle/>
          <a:p>
            <a:pPr marL="609600" indent="-609600" algn="l"/>
            <a:r>
              <a:rPr lang="en-US" altLang="zh-CN" sz="2800" dirty="0">
                <a:ea typeface="SimSun" panose="02010600030101010101" pitchFamily="2" charset="-122"/>
              </a:rPr>
              <a:t>External source S</a:t>
            </a:r>
          </a:p>
          <a:p>
            <a:pPr marL="609600" indent="-609600" algn="l"/>
            <a:r>
              <a:rPr lang="en-US" altLang="zh-CN" sz="2800" dirty="0">
                <a:ea typeface="SimSun" panose="02010600030101010101" pitchFamily="2" charset="-122"/>
              </a:rPr>
              <a:t>Denote clock value at process X by C(X)</a:t>
            </a:r>
          </a:p>
          <a:p>
            <a:pPr marL="609600" indent="-609600" algn="l"/>
            <a:r>
              <a:rPr lang="en-US" altLang="zh-CN" sz="2800" dirty="0">
                <a:ea typeface="SimSun" panose="02010600030101010101" pitchFamily="2" charset="-122"/>
              </a:rPr>
              <a:t>Periodically, a process P:</a:t>
            </a:r>
          </a:p>
          <a:p>
            <a:pPr marL="990600" lvl="1" indent="-533400">
              <a:buFontTx/>
              <a:buAutoNum type="arabicPeriod"/>
            </a:pPr>
            <a:r>
              <a:rPr lang="en-US" altLang="zh-CN" sz="2400" dirty="0">
                <a:ea typeface="SimSun" panose="02010600030101010101" pitchFamily="2" charset="-122"/>
              </a:rPr>
              <a:t>send message to S, requesting time</a:t>
            </a:r>
          </a:p>
          <a:p>
            <a:pPr marL="990600" lvl="1" indent="-533400">
              <a:buFontTx/>
              <a:buAutoNum type="arabicPeriod"/>
            </a:pPr>
            <a:r>
              <a:rPr lang="en-US" altLang="zh-CN" sz="2400" dirty="0">
                <a:ea typeface="SimSun" panose="02010600030101010101" pitchFamily="2" charset="-122"/>
              </a:rPr>
              <a:t>Receive message from S, containing time C(S)</a:t>
            </a:r>
          </a:p>
          <a:p>
            <a:pPr marL="990600" lvl="1" indent="-533400">
              <a:buFontTx/>
              <a:buAutoNum type="arabicPeriod"/>
            </a:pPr>
            <a:r>
              <a:rPr lang="en-US" altLang="zh-CN" sz="2400" b="1" dirty="0">
                <a:ea typeface="SimSun" panose="02010600030101010101" pitchFamily="2" charset="-122"/>
              </a:rPr>
              <a:t>Adjust C at P, should we set C(P) = C(S)?</a:t>
            </a:r>
          </a:p>
          <a:p>
            <a:pPr marL="609600" indent="-609600" algn="l"/>
            <a:r>
              <a:rPr lang="en-US" altLang="zh-CN" sz="2800" dirty="0">
                <a:ea typeface="SimSun" panose="02010600030101010101" pitchFamily="2" charset="-122"/>
              </a:rPr>
              <a:t>Reply takes time</a:t>
            </a:r>
          </a:p>
          <a:p>
            <a:pPr marL="609600" indent="-609600" algn="l"/>
            <a:r>
              <a:rPr lang="en-US" altLang="zh-CN" sz="2800" dirty="0">
                <a:ea typeface="SimSun" panose="02010600030101010101" pitchFamily="2" charset="-122"/>
              </a:rPr>
              <a:t>When P adjusts C(P) to C(S), </a:t>
            </a:r>
          </a:p>
          <a:p>
            <a:pPr marL="0" indent="0" algn="l">
              <a:buNone/>
            </a:pPr>
            <a:r>
              <a:rPr lang="en-US" altLang="zh-CN" sz="2800" dirty="0">
                <a:ea typeface="SimSun" panose="02010600030101010101" pitchFamily="2" charset="-122"/>
              </a:rPr>
              <a:t>	current actual C(S) &gt; C(P)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746D1546-D137-468C-B536-A4033002F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4409" y="228600"/>
            <a:ext cx="7772400" cy="914400"/>
          </a:xfrm>
        </p:spPr>
        <p:txBody>
          <a:bodyPr/>
          <a:lstStyle/>
          <a:p>
            <a:pPr algn="l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Cristian's Algorithm</a:t>
            </a:r>
          </a:p>
        </p:txBody>
      </p:sp>
      <p:pic>
        <p:nvPicPr>
          <p:cNvPr id="258051" name="Picture 3">
            <a:extLst>
              <a:ext uri="{FF2B5EF4-FFF2-40B4-BE49-F238E27FC236}">
                <a16:creationId xmlns:a16="http://schemas.microsoft.com/office/drawing/2014/main" id="{2A17F1CC-D0E1-42D8-BEB1-9713AA48D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4" t="45619" r="29076" b="40483"/>
          <a:stretch>
            <a:fillRect/>
          </a:stretch>
        </p:blipFill>
        <p:spPr bwMode="auto">
          <a:xfrm>
            <a:off x="809222" y="1485900"/>
            <a:ext cx="696277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8052" name="Rectangle 4">
            <a:extLst>
              <a:ext uri="{FF2B5EF4-FFF2-40B4-BE49-F238E27FC236}">
                <a16:creationId xmlns:a16="http://schemas.microsoft.com/office/drawing/2014/main" id="{2DDA53EA-790D-4918-A908-E8EE5B6FC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0"/>
            <a:ext cx="7772400" cy="685800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/>
              <a:t>Getting the current time from a time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C7FA7A1-14DF-4CCA-8022-FA91C9039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3336" y="167424"/>
            <a:ext cx="7969718" cy="1143000"/>
          </a:xfrm>
        </p:spPr>
        <p:txBody>
          <a:bodyPr/>
          <a:lstStyle/>
          <a:p>
            <a:pPr algn="l" eaLnBrk="1" hangingPunct="1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Cristian’s algorithm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71D22DF-B33A-42BF-97F8-B288E9D12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3336" y="1836252"/>
            <a:ext cx="8236039" cy="2778617"/>
          </a:xfrm>
        </p:spPr>
        <p:txBody>
          <a:bodyPr/>
          <a:lstStyle/>
          <a:p>
            <a:pPr algn="l" eaLnBrk="1" hangingPunct="1">
              <a:buFont typeface="Arial" charset="0"/>
              <a:buChar char="•"/>
            </a:pPr>
            <a:r>
              <a:rPr lang="en-US" altLang="en-US" dirty="0"/>
              <a:t>Measure actual round-trip time </a:t>
            </a:r>
            <a:r>
              <a:rPr lang="en-US" altLang="en-US" i="1" dirty="0"/>
              <a:t>d = T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 </a:t>
            </a:r>
            <a:r>
              <a:rPr lang="mr-IN" altLang="en-US" i="1" dirty="0"/>
              <a:t>–</a:t>
            </a:r>
            <a:r>
              <a:rPr lang="en-US" altLang="en-US" i="1" dirty="0"/>
              <a:t> T</a:t>
            </a:r>
            <a:r>
              <a:rPr lang="en-US" altLang="en-US" i="1" baseline="-25000" dirty="0"/>
              <a:t>0</a:t>
            </a:r>
            <a:endParaRPr lang="en-US" altLang="en-US" dirty="0"/>
          </a:p>
          <a:p>
            <a:pPr algn="l" eaLnBrk="1" hangingPunct="1">
              <a:buFont typeface="Arial" charset="0"/>
              <a:buChar char="•"/>
            </a:pPr>
            <a:r>
              <a:rPr lang="en-US" altLang="en-US" dirty="0"/>
              <a:t>Sender’s time was </a:t>
            </a:r>
            <a:r>
              <a:rPr lang="en-US" altLang="en-US" i="1" dirty="0"/>
              <a:t>T</a:t>
            </a:r>
            <a:r>
              <a:rPr lang="en-US" altLang="en-US" dirty="0"/>
              <a:t> between </a:t>
            </a:r>
            <a:r>
              <a:rPr lang="en-US" altLang="en-US" i="1" dirty="0"/>
              <a:t>T</a:t>
            </a:r>
            <a:r>
              <a:rPr lang="en-US" altLang="en-US" i="1" baseline="-30000" dirty="0"/>
              <a:t>0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30000" dirty="0"/>
              <a:t>1</a:t>
            </a:r>
          </a:p>
          <a:p>
            <a:pPr algn="l" eaLnBrk="1" hangingPunct="1">
              <a:buFont typeface="Arial" charset="0"/>
              <a:buChar char="•"/>
            </a:pPr>
            <a:r>
              <a:rPr lang="en-US" altLang="en-US" dirty="0"/>
              <a:t>Receiver sets time to </a:t>
            </a:r>
            <a:r>
              <a:rPr lang="en-US" altLang="en-US" i="1" dirty="0"/>
              <a:t>T + d/2</a:t>
            </a:r>
          </a:p>
          <a:p>
            <a:pPr algn="l" eaLnBrk="1" hangingPunct="1">
              <a:buFont typeface="Arial" charset="0"/>
              <a:buChar char="•"/>
            </a:pPr>
            <a:r>
              <a:rPr lang="en-US" altLang="en-US" dirty="0"/>
              <a:t>Synchronization error is at most </a:t>
            </a:r>
            <a:r>
              <a:rPr lang="en-US" altLang="en-US" i="1" dirty="0"/>
              <a:t>d/2</a:t>
            </a:r>
          </a:p>
          <a:p>
            <a:pPr algn="l" eaLnBrk="1" hangingPunct="1">
              <a:buFont typeface="Arial" charset="0"/>
              <a:buChar char="•"/>
            </a:pPr>
            <a:r>
              <a:rPr lang="en-US" altLang="en-US" dirty="0"/>
              <a:t>Can retry until we get a relatively small </a:t>
            </a:r>
            <a:r>
              <a:rPr lang="en-US" altLang="en-US" i="1" dirty="0"/>
              <a:t>d</a:t>
            </a:r>
          </a:p>
        </p:txBody>
      </p:sp>
      <p:sp>
        <p:nvSpPr>
          <p:cNvPr id="2" name="Rectangle 1"/>
          <p:cNvSpPr/>
          <p:nvPr/>
        </p:nvSpPr>
        <p:spPr>
          <a:xfrm>
            <a:off x="450761" y="5140697"/>
            <a:ext cx="83455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Arial" panose="020B0604020202020204" pitchFamily="34" charset="0"/>
              </a:rPr>
              <a:t>Only suitable for deterministic LAN environment of Intranet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EA228AE-5068-4221-A2E3-9B2283A00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456" y="305873"/>
            <a:ext cx="7151571" cy="1143000"/>
          </a:xfrm>
        </p:spPr>
        <p:txBody>
          <a:bodyPr/>
          <a:lstStyle/>
          <a:p>
            <a:pPr algn="l" eaLnBrk="1" hangingPunct="1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Berkeley algorithm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D120596-BBA7-4B9D-834A-FCDC52BA4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5800" y="2326637"/>
            <a:ext cx="8132399" cy="3429000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Master uses Cristian’s algorithm to get time from many clients</a:t>
            </a:r>
          </a:p>
          <a:p>
            <a:pPr lvl="1" eaLnBrk="1" hangingPunct="1"/>
            <a:r>
              <a:rPr lang="en-US" altLang="en-US" dirty="0"/>
              <a:t>Computes average time</a:t>
            </a:r>
          </a:p>
          <a:p>
            <a:pPr lvl="1" eaLnBrk="1" hangingPunct="1"/>
            <a:r>
              <a:rPr lang="en-US" altLang="en-US" dirty="0"/>
              <a:t>Can discard outliers</a:t>
            </a:r>
          </a:p>
          <a:p>
            <a:pPr lvl="1" eaLnBrk="1" hangingPunct="1"/>
            <a:endParaRPr lang="en-US" altLang="en-US" dirty="0"/>
          </a:p>
          <a:p>
            <a:pPr algn="l" eaLnBrk="1" hangingPunct="1"/>
            <a:r>
              <a:rPr lang="en-US" altLang="en-US" dirty="0"/>
              <a:t>Sends time adjustments back to all clients</a:t>
            </a:r>
          </a:p>
          <a:p>
            <a:pPr algn="l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978" name="Picture 2">
            <a:extLst>
              <a:ext uri="{FF2B5EF4-FFF2-40B4-BE49-F238E27FC236}">
                <a16:creationId xmlns:a16="http://schemas.microsoft.com/office/drawing/2014/main" id="{2A62DED3-8789-4229-AE81-CA6264DAA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5" t="43806" r="21165" b="38519"/>
          <a:stretch>
            <a:fillRect/>
          </a:stretch>
        </p:blipFill>
        <p:spPr bwMode="auto">
          <a:xfrm>
            <a:off x="381000" y="1284288"/>
            <a:ext cx="8491538" cy="389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4979" name="Rectangle 3">
            <a:extLst>
              <a:ext uri="{FF2B5EF4-FFF2-40B4-BE49-F238E27FC236}">
                <a16:creationId xmlns:a16="http://schemas.microsoft.com/office/drawing/2014/main" id="{C41E10AE-88A8-4FDC-8BC7-42107DED3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772400" cy="838200"/>
          </a:xfrm>
        </p:spPr>
        <p:txBody>
          <a:bodyPr/>
          <a:lstStyle/>
          <a:p>
            <a:pPr algn="l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Berkeley Algorithm</a:t>
            </a:r>
          </a:p>
        </p:txBody>
      </p:sp>
      <p:sp>
        <p:nvSpPr>
          <p:cNvPr id="254980" name="Rectangle 4">
            <a:extLst>
              <a:ext uri="{FF2B5EF4-FFF2-40B4-BE49-F238E27FC236}">
                <a16:creationId xmlns:a16="http://schemas.microsoft.com/office/drawing/2014/main" id="{479BF3CF-0317-49E6-B47C-5BC5C6214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475288"/>
            <a:ext cx="8153400" cy="990600"/>
          </a:xfrm>
        </p:spPr>
        <p:txBody>
          <a:bodyPr/>
          <a:lstStyle/>
          <a:p>
            <a:pPr marL="609600" indent="-609600">
              <a:buSzTx/>
              <a:buFontTx/>
              <a:buAutoNum type="alphaLcParenR"/>
            </a:pPr>
            <a:r>
              <a:rPr lang="en-US" altLang="en-US" sz="2000" dirty="0"/>
              <a:t>The time daemon asks all the other machines for their clock values.</a:t>
            </a:r>
          </a:p>
          <a:p>
            <a:pPr marL="609600" indent="-609600">
              <a:buSzTx/>
              <a:buFontTx/>
              <a:buAutoNum type="alphaLcParenR"/>
            </a:pPr>
            <a:r>
              <a:rPr lang="en-US" altLang="en-US" sz="2000" dirty="0"/>
              <a:t>The machines answer and the time daemon computes the average.</a:t>
            </a:r>
          </a:p>
          <a:p>
            <a:pPr marL="609600" indent="-609600">
              <a:buSzTx/>
              <a:buFontTx/>
              <a:buAutoNum type="alphaLcParenR"/>
            </a:pPr>
            <a:r>
              <a:rPr lang="en-US" altLang="en-US" sz="2000" dirty="0"/>
              <a:t>The time daemon tells everyone how to adjust their clock.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995D8097-CE62-45E9-85CD-EACDFFA65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040" y="219777"/>
            <a:ext cx="7772400" cy="1143000"/>
          </a:xfrm>
        </p:spPr>
        <p:txBody>
          <a:bodyPr/>
          <a:lstStyle/>
          <a:p>
            <a:pPr algn="l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Averaging Algorithms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C80D6481-EAEF-42C1-80A7-8110B2461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140298"/>
            <a:ext cx="7543800" cy="3427927"/>
          </a:xfrm>
        </p:spPr>
        <p:txBody>
          <a:bodyPr/>
          <a:lstStyle/>
          <a:p>
            <a:pPr algn="l"/>
            <a:r>
              <a:rPr lang="en-US" altLang="en-US" sz="2800" dirty="0"/>
              <a:t>Every </a:t>
            </a:r>
            <a:r>
              <a:rPr lang="en-US" altLang="en-US" sz="2800" i="1" dirty="0">
                <a:solidFill>
                  <a:srgbClr val="009900"/>
                </a:solidFill>
                <a:latin typeface="Comic Sans MS" panose="030F0702030302020204" pitchFamily="66" charset="0"/>
              </a:rPr>
              <a:t>R</a:t>
            </a:r>
            <a:r>
              <a:rPr lang="en-US" altLang="en-US" sz="2800" dirty="0"/>
              <a:t> seconds, each machine broadcasts its current time.</a:t>
            </a:r>
          </a:p>
          <a:p>
            <a:pPr algn="l"/>
            <a:r>
              <a:rPr lang="en-US" altLang="en-US" sz="2800" dirty="0"/>
              <a:t>The local machine collects all other broadcast time samples during some time interval, </a:t>
            </a:r>
            <a:r>
              <a:rPr lang="en-US" altLang="en-US" sz="2800" i="1" dirty="0">
                <a:solidFill>
                  <a:srgbClr val="009900"/>
                </a:solidFill>
                <a:latin typeface="Comic Sans MS" panose="030F0702030302020204" pitchFamily="66" charset="0"/>
              </a:rPr>
              <a:t>S</a:t>
            </a:r>
            <a:r>
              <a:rPr lang="en-US" altLang="en-US" sz="2800" i="1" dirty="0">
                <a:latin typeface="Comic Sans MS" panose="030F0702030302020204" pitchFamily="66" charset="0"/>
              </a:rPr>
              <a:t>.</a:t>
            </a:r>
            <a:endParaRPr lang="en-US" altLang="en-US" sz="2800" dirty="0">
              <a:solidFill>
                <a:srgbClr val="009900"/>
              </a:solidFill>
              <a:latin typeface="Comic Sans MS" panose="030F0702030302020204" pitchFamily="66" charset="0"/>
            </a:endParaRPr>
          </a:p>
          <a:p>
            <a:pPr algn="l"/>
            <a:r>
              <a:rPr lang="en-US" altLang="en-US" sz="2800" b="1" dirty="0"/>
              <a:t>The simple algorithm</a:t>
            </a:r>
            <a:r>
              <a:rPr lang="en-US" altLang="en-US" sz="2800" dirty="0"/>
              <a:t>: the new local time is set as the average of the value received from all other machines.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566670" y="1604493"/>
            <a:ext cx="78915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Both Cristian’s and Berkeley’s methods are highly centralized, with the usual disadvantages - single point of failure, congestion around the server, …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7276F62C-6147-48CF-B788-E0707B4C2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90900"/>
            <a:ext cx="7772400" cy="1143000"/>
          </a:xfrm>
        </p:spPr>
        <p:txBody>
          <a:bodyPr/>
          <a:lstStyle/>
          <a:p>
            <a:pPr algn="l"/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Averaging Algorithms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C36E988E-72CB-4F06-80AE-AF97ABBA4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382000" cy="4620928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en-US" sz="2400" b="1" dirty="0">
                <a:solidFill>
                  <a:srgbClr val="0070C0"/>
                </a:solidFill>
              </a:rPr>
              <a:t>A slightly more sophisticated algorithm</a:t>
            </a:r>
            <a:r>
              <a:rPr lang="en-US" altLang="en-US" sz="2400" dirty="0">
                <a:solidFill>
                  <a:srgbClr val="0070C0"/>
                </a:solidFill>
              </a:rPr>
              <a:t>: </a:t>
            </a:r>
            <a:r>
              <a:rPr lang="en-US" altLang="en-US" sz="2400" dirty="0"/>
              <a:t>Discard the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highest and </a:t>
            </a:r>
            <a:r>
              <a:rPr lang="en-US" altLang="en-US" sz="2400" i="1" dirty="0"/>
              <a:t>m</a:t>
            </a:r>
            <a:r>
              <a:rPr lang="en-US" altLang="en-US" sz="2400" dirty="0"/>
              <a:t> lowest to reduce the effect of a set of faulty clocks.</a:t>
            </a:r>
          </a:p>
          <a:p>
            <a:pPr algn="l">
              <a:lnSpc>
                <a:spcPct val="90000"/>
              </a:lnSpc>
            </a:pPr>
            <a:endParaRPr lang="en-US" altLang="en-US" sz="2400" dirty="0"/>
          </a:p>
          <a:p>
            <a:pPr algn="l">
              <a:lnSpc>
                <a:spcPct val="90000"/>
              </a:lnSpc>
            </a:pPr>
            <a:r>
              <a:rPr lang="en-US" altLang="en-US" sz="2400" b="1" dirty="0">
                <a:solidFill>
                  <a:srgbClr val="009900"/>
                </a:solidFill>
              </a:rPr>
              <a:t>Another improved algorithm</a:t>
            </a:r>
            <a:r>
              <a:rPr lang="en-US" altLang="en-US" sz="2400" dirty="0">
                <a:solidFill>
                  <a:srgbClr val="009900"/>
                </a:solidFill>
              </a:rPr>
              <a:t>: </a:t>
            </a:r>
            <a:r>
              <a:rPr lang="en-US" altLang="en-US" sz="2400" dirty="0"/>
              <a:t>Correct each message by adding to the received time an estimate of the propagation time from the </a:t>
            </a:r>
            <a:r>
              <a:rPr lang="en-US" altLang="en-US" sz="2400" dirty="0" err="1"/>
              <a:t>i</a:t>
            </a:r>
            <a:r>
              <a:rPr lang="en-US" altLang="en-US" sz="2400" baseline="30000" dirty="0" err="1"/>
              <a:t>th</a:t>
            </a:r>
            <a:r>
              <a:rPr lang="en-US" altLang="en-US" sz="2400" dirty="0"/>
              <a:t> source.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extra probe messages are needed to use this scheme.</a:t>
            </a:r>
          </a:p>
          <a:p>
            <a:pPr lvl="1">
              <a:lnSpc>
                <a:spcPct val="90000"/>
              </a:lnSpc>
            </a:pPr>
            <a:endParaRPr lang="en-US" altLang="en-US" sz="2400" dirty="0"/>
          </a:p>
          <a:p>
            <a:pPr algn="l">
              <a:lnSpc>
                <a:spcPct val="90000"/>
              </a:lnSpc>
            </a:pPr>
            <a:r>
              <a:rPr lang="en-US" altLang="en-US" sz="2400" dirty="0"/>
              <a:t>One of the most widely used algorithms on the Internet is the </a:t>
            </a:r>
            <a:r>
              <a:rPr lang="en-US" altLang="en-US" sz="2400" b="1" dirty="0">
                <a:solidFill>
                  <a:srgbClr val="FF6600"/>
                </a:solidFill>
              </a:rPr>
              <a:t>Network Time Protocol (NTP).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Achieves worldwide accuracy in the range of 1-50 msec.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>
            <a:extLst>
              <a:ext uri="{FF2B5EF4-FFF2-40B4-BE49-F238E27FC236}">
                <a16:creationId xmlns:a16="http://schemas.microsoft.com/office/drawing/2014/main" id="{07481C4E-45AD-419C-B90B-BB7E2F51A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3524"/>
            <a:ext cx="8348730" cy="980941"/>
          </a:xfrm>
        </p:spPr>
        <p:txBody>
          <a:bodyPr/>
          <a:lstStyle/>
          <a:p>
            <a:pPr algn="l">
              <a:defRPr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Network Time Protocol (NTP)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1172C67-D648-4763-A830-83D9BBC29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4852" y="1133340"/>
            <a:ext cx="7896225" cy="2190901"/>
          </a:xfrm>
        </p:spPr>
        <p:txBody>
          <a:bodyPr/>
          <a:lstStyle/>
          <a:p>
            <a:pPr algn="l"/>
            <a:r>
              <a:rPr lang="en-US" altLang="en-US" sz="2400" dirty="0">
                <a:latin typeface="Arial" panose="020B0604020202020204" pitchFamily="34" charset="0"/>
              </a:rPr>
              <a:t>Cristian’s and Berkeley algorithms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 synch within intranet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l"/>
            <a:endParaRPr lang="en-US" altLang="en-US" sz="2400" dirty="0">
              <a:latin typeface="Arial" panose="020B0604020202020204" pitchFamily="34" charset="0"/>
            </a:endParaRPr>
          </a:p>
          <a:p>
            <a:pPr algn="l"/>
            <a:r>
              <a:rPr lang="en-US" altLang="en-US" sz="2400" dirty="0">
                <a:latin typeface="Arial" panose="020B0604020202020204" pitchFamily="34" charset="0"/>
              </a:rPr>
              <a:t>NTP – defines an architecture for a time service and a protocol to distribute time information over the Internet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DD5D78E-352D-4F94-AE75-537E6F28F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52" y="3534878"/>
            <a:ext cx="8231948" cy="3199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 defTabSz="914400" eaLnBrk="1" hangingPunct="1"/>
            <a:r>
              <a:rPr lang="en-US" alt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Synchronization similar to Cristian’s alg</a:t>
            </a:r>
            <a:r>
              <a:rPr lang="en-US" altLang="zh-CN" sz="2400" kern="0" dirty="0">
                <a:latin typeface="Arial" panose="020B0604020202020204" pitchFamily="34" charset="0"/>
                <a:cs typeface="Arial" panose="020B0604020202020204" pitchFamily="34" charset="0"/>
              </a:rPr>
              <a:t>orithm</a:t>
            </a:r>
            <a:r>
              <a:rPr lang="en-US" alt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defTabSz="914400" eaLnBrk="1" hangingPunct="1"/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Modified to use multiple one-way messages instead of immediate round-trip</a:t>
            </a:r>
          </a:p>
          <a:p>
            <a:pPr lvl="1" defTabSz="914400" eaLnBrk="1" hangingPunct="1"/>
            <a:endParaRPr lang="en-US" altLang="en-US" sz="2000" kern="0" dirty="0"/>
          </a:p>
          <a:p>
            <a:pPr algn="l" defTabSz="914400" eaLnBrk="1" hangingPunct="1"/>
            <a:r>
              <a:rPr lang="en-US" altLang="en-US" sz="2400" kern="0" dirty="0">
                <a:latin typeface="Arial" panose="020B0604020202020204" pitchFamily="34" charset="0"/>
              </a:rPr>
              <a:t>Uses a network of time servers to synchronize all processes on a network. </a:t>
            </a:r>
          </a:p>
          <a:p>
            <a:pPr lvl="1" defTabSz="914400" eaLnBrk="1" hangingPunct="1"/>
            <a:endParaRPr lang="en-US" altLang="en-US" kern="0" dirty="0"/>
          </a:p>
          <a:p>
            <a:pPr algn="l" defTabSz="914400" eaLnBrk="1" hangingPunct="1"/>
            <a:r>
              <a:rPr lang="en-US" alt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Accuracy: Local ~1ms, Global ~10ms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Text Box 4">
            <a:extLst>
              <a:ext uri="{FF2B5EF4-FFF2-40B4-BE49-F238E27FC236}">
                <a16:creationId xmlns:a16="http://schemas.microsoft.com/office/drawing/2014/main" id="{BEBFF54B-C66A-40D3-95EB-4BDFACDB8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191" y="4220631"/>
            <a:ext cx="2222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Secondary servers, synched by the primary server</a:t>
            </a:r>
            <a:r>
              <a:rPr lang="en-US" altLang="zh-CN" sz="1800" dirty="0"/>
              <a:t>s</a:t>
            </a:r>
            <a:endParaRPr lang="en-US" altLang="en-US" sz="1800" dirty="0"/>
          </a:p>
        </p:txBody>
      </p:sp>
      <p:sp>
        <p:nvSpPr>
          <p:cNvPr id="49178" name="Text Box 25">
            <a:extLst>
              <a:ext uri="{FF2B5EF4-FFF2-40B4-BE49-F238E27FC236}">
                <a16:creationId xmlns:a16="http://schemas.microsoft.com/office/drawing/2014/main" id="{2E0FF690-BC63-45D8-BC77-6F1B7A36D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191" y="3003764"/>
            <a:ext cx="28418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schemeClr val="accent2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Primary server</a:t>
            </a:r>
            <a:r>
              <a:rPr lang="en-US" altLang="zh-CN" sz="1800" dirty="0"/>
              <a:t>s</a:t>
            </a:r>
            <a:r>
              <a:rPr lang="en-US" altLang="en-US" sz="1800" dirty="0"/>
              <a:t>, direct synch.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0" y="1384076"/>
            <a:ext cx="5956300" cy="53721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2DB68E2-03BC-424E-B2A6-C58740903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3524"/>
            <a:ext cx="8348730" cy="980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itchFamily="18" charset="0"/>
              </a:defRPr>
            </a:lvl9pPr>
          </a:lstStyle>
          <a:p>
            <a:pPr algn="l" defTabSz="914400">
              <a:defRPr/>
            </a:pPr>
            <a:r>
              <a:rPr lang="en-US" kern="0" dirty="0">
                <a:latin typeface="Calibri Light" panose="020F0302020204030204" pitchFamily="34" charset="0"/>
                <a:cs typeface="Calibri Light" panose="020F0302020204030204" pitchFamily="34" charset="0"/>
              </a:rPr>
              <a:t>The Network Time Protocol (NTP)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13CE2A2-BE70-443D-AE3B-FD764BDE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202130"/>
            <a:ext cx="7199697" cy="1143000"/>
          </a:xfrm>
        </p:spPr>
        <p:txBody>
          <a:bodyPr/>
          <a:lstStyle/>
          <a:p>
            <a:pPr algn="l" eaLnBrk="1" hangingPunct="1"/>
            <a:r>
              <a:rPr lang="en-US" altLang="en-US" sz="4000" dirty="0">
                <a:latin typeface="Calibri Light" panose="020F0302020204030204" pitchFamily="34" charset="0"/>
                <a:cs typeface="Calibri Light" panose="020F0302020204030204" pitchFamily="34" charset="0"/>
              </a:rPr>
              <a:t>Real synchronization is imperfect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EF57EC9-E34A-47BB-9FBB-4DC0BCF83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6753" y="1754304"/>
            <a:ext cx="8202729" cy="3349391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Clocks never exactly synchronized</a:t>
            </a:r>
          </a:p>
          <a:p>
            <a:pPr algn="l" eaLnBrk="1" hangingPunct="1"/>
            <a:endParaRPr lang="en-US" altLang="en-US" dirty="0"/>
          </a:p>
          <a:p>
            <a:pPr algn="l" eaLnBrk="1" hangingPunct="1"/>
            <a:r>
              <a:rPr lang="en-US" altLang="en-US" dirty="0"/>
              <a:t>Often inadequate for distributed systems</a:t>
            </a:r>
          </a:p>
          <a:p>
            <a:pPr lvl="1" eaLnBrk="1" hangingPunct="1"/>
            <a:r>
              <a:rPr lang="en-US" altLang="en-US" dirty="0"/>
              <a:t>might need millionth-of-a-second precision</a:t>
            </a:r>
          </a:p>
          <a:p>
            <a:pPr lvl="1" eaLnBrk="1" hangingPunct="1"/>
            <a:r>
              <a:rPr lang="en-US" altLang="en-US" dirty="0"/>
              <a:t>might need totally-ordered events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626EC8-D747-4EF3-8F1E-E2BA36BEAADF}"/>
              </a:ext>
            </a:extLst>
          </p:cNvPr>
          <p:cNvSpPr txBox="1"/>
          <p:nvPr/>
        </p:nvSpPr>
        <p:spPr>
          <a:xfrm>
            <a:off x="1010652" y="2502568"/>
            <a:ext cx="71226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Logical Clocks</a:t>
            </a:r>
          </a:p>
        </p:txBody>
      </p:sp>
    </p:spTree>
    <p:extLst>
      <p:ext uri="{BB962C8B-B14F-4D97-AF65-F5344CB8AC3E}">
        <p14:creationId xmlns:p14="http://schemas.microsoft.com/office/powerpoint/2010/main" val="3061483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FD1E93B-E246-4981-A7E1-413BDE4B9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5878" y="154005"/>
            <a:ext cx="8027470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Logical Clocks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F013C9F-6197-4C14-B16A-62947B8D8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263" y="1492250"/>
            <a:ext cx="7632700" cy="4435475"/>
          </a:xfrm>
        </p:spPr>
        <p:txBody>
          <a:bodyPr/>
          <a:lstStyle/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For many Distributed System algorithms, associating an event to an absolute real time is not essential, we only need to know an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unambiguous order </a:t>
            </a:r>
            <a:r>
              <a:rPr lang="en-US" altLang="zh-CN" dirty="0">
                <a:ea typeface="SimSun" panose="02010600030101010101" pitchFamily="2" charset="-122"/>
              </a:rPr>
              <a:t>of events</a:t>
            </a:r>
          </a:p>
          <a:p>
            <a:pPr marL="609600" indent="-609600" algn="l"/>
            <a:endParaRPr lang="en-US" altLang="zh-CN" dirty="0">
              <a:ea typeface="SimSun" panose="02010600030101010101" pitchFamily="2" charset="-122"/>
            </a:endParaRPr>
          </a:p>
          <a:p>
            <a:pPr marL="1371600" lvl="2" indent="-457200"/>
            <a:r>
              <a:rPr lang="en-US" altLang="zh-CN" sz="2800" dirty="0" err="1">
                <a:ea typeface="SimSun" panose="02010600030101010101" pitchFamily="2" charset="-122"/>
              </a:rPr>
              <a:t>Lamport's</a:t>
            </a:r>
            <a:r>
              <a:rPr lang="en-US" altLang="zh-CN" sz="2800" dirty="0">
                <a:ea typeface="SimSun" panose="02010600030101010101" pitchFamily="2" charset="-122"/>
              </a:rPr>
              <a:t> timestamps</a:t>
            </a:r>
          </a:p>
          <a:p>
            <a:pPr marL="1371600" lvl="2" indent="-457200"/>
            <a:r>
              <a:rPr lang="en-US" altLang="zh-CN" sz="2800" dirty="0">
                <a:ea typeface="SimSun" panose="02010600030101010101" pitchFamily="2" charset="-122"/>
              </a:rPr>
              <a:t>Vector timestamps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06B5F56-52A2-4B8E-9DD3-4A6BB2D11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6238" y="0"/>
            <a:ext cx="7814861" cy="1143000"/>
          </a:xfrm>
        </p:spPr>
        <p:txBody>
          <a:bodyPr/>
          <a:lstStyle/>
          <a:p>
            <a:pPr algn="l"/>
            <a:r>
              <a:rPr lang="en-IE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Logical Clocks (Cont.)</a:t>
            </a:r>
            <a:endParaRPr lang="en-GB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EBCF1EBB-E3FD-49EA-B4A2-515F03929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6238" y="1579563"/>
            <a:ext cx="8432800" cy="4859337"/>
          </a:xfrm>
        </p:spPr>
        <p:txBody>
          <a:bodyPr/>
          <a:lstStyle/>
          <a:p>
            <a:pPr algn="l"/>
            <a:r>
              <a:rPr lang="en-IE" altLang="en-US" dirty="0"/>
              <a:t>Synchronization based on “relative time”.</a:t>
            </a:r>
          </a:p>
          <a:p>
            <a:pPr marL="800100" lvl="3" indent="-342900"/>
            <a:r>
              <a:rPr lang="en-IE" altLang="en-US" dirty="0"/>
              <a:t>Example: Unix make (Is </a:t>
            </a:r>
            <a:r>
              <a:rPr lang="en-IE" altLang="en-US" dirty="0" err="1"/>
              <a:t>output.c</a:t>
            </a:r>
            <a:r>
              <a:rPr lang="en-IE" altLang="en-US" dirty="0"/>
              <a:t> updated after the generation of </a:t>
            </a:r>
            <a:r>
              <a:rPr lang="en-IE" altLang="en-US" dirty="0" err="1"/>
              <a:t>output.o</a:t>
            </a:r>
            <a:r>
              <a:rPr lang="en-IE" altLang="en-US" dirty="0"/>
              <a:t>?)</a:t>
            </a:r>
          </a:p>
          <a:p>
            <a:pPr algn="l"/>
            <a:r>
              <a:rPr lang="en-IE" altLang="en-US" dirty="0"/>
              <a:t>“relative time” may not relate to the “real (physical) time”.</a:t>
            </a:r>
          </a:p>
          <a:p>
            <a:pPr algn="l"/>
            <a:r>
              <a:rPr lang="en-IE" altLang="en-US" dirty="0"/>
              <a:t>What’s important is that the processes in the Distributed System </a:t>
            </a:r>
            <a:r>
              <a:rPr lang="en-IE" altLang="en-US" i="1" dirty="0"/>
              <a:t>agree on the ordering in which certain events occur</a:t>
            </a:r>
            <a:r>
              <a:rPr lang="en-IE" altLang="en-US" dirty="0"/>
              <a:t>.</a:t>
            </a:r>
          </a:p>
          <a:p>
            <a:pPr algn="l"/>
            <a:r>
              <a:rPr lang="en-IE" altLang="en-US" dirty="0"/>
              <a:t>Such “clocks” are referred to as </a:t>
            </a:r>
            <a:r>
              <a:rPr lang="en-IE" altLang="en-US" i="1" dirty="0"/>
              <a:t>Logical Clocks</a:t>
            </a:r>
            <a:r>
              <a:rPr lang="en-IE" altLang="en-US" dirty="0"/>
              <a:t>.</a:t>
            </a:r>
            <a:endParaRPr lang="en-GB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A5F0C84-3130-4569-9554-72E41C0BE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213" y="182880"/>
            <a:ext cx="7084194" cy="1143000"/>
          </a:xfrm>
        </p:spPr>
        <p:txBody>
          <a:bodyPr/>
          <a:lstStyle/>
          <a:p>
            <a:pPr algn="l"/>
            <a:r>
              <a:rPr lang="en-US" altLang="zh-CN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</a:t>
            </a:r>
            <a:r>
              <a:rPr lang="en-US" altLang="zh-CN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Algorithm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46F44079-3110-43B0-9B53-D63260245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1462088"/>
            <a:ext cx="8537575" cy="5091112"/>
          </a:xfrm>
        </p:spPr>
        <p:txBody>
          <a:bodyPr/>
          <a:lstStyle/>
          <a:p>
            <a:pPr algn="l"/>
            <a:r>
              <a:rPr lang="en-US" altLang="zh-CN" dirty="0">
                <a:ea typeface="SimSun" panose="02010600030101010101" pitchFamily="2" charset="-122"/>
              </a:rPr>
              <a:t>Clock synchronization does not have to be exact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Synchronization not needed if there is no interaction between machines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Synchronization only needed when machines communicate</a:t>
            </a:r>
          </a:p>
          <a:p>
            <a:pPr lvl="2"/>
            <a:r>
              <a:rPr lang="en-US" altLang="zh-CN" dirty="0">
                <a:ea typeface="SimSun" panose="02010600030101010101" pitchFamily="2" charset="-122"/>
              </a:rPr>
              <a:t>i.e., must only agree on ordering of interacting events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78AB3A1-F0CD-45B5-99C7-231B59B6F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Lamport’s</a:t>
            </a:r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“Happens-Before” Partial Order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4D9A7C6C-20D2-46FE-AE38-5F1AD959A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263" y="1492250"/>
            <a:ext cx="7858125" cy="4494213"/>
          </a:xfrm>
        </p:spPr>
        <p:txBody>
          <a:bodyPr/>
          <a:lstStyle/>
          <a:p>
            <a:pPr marL="609600" indent="-609600" algn="l"/>
            <a:r>
              <a:rPr lang="en-US" altLang="zh-CN">
                <a:ea typeface="SimSun" panose="02010600030101010101" pitchFamily="2" charset="-122"/>
              </a:rPr>
              <a:t>Given two events e &amp; e’, e &lt; e’ if:</a:t>
            </a:r>
          </a:p>
          <a:p>
            <a:pPr marL="609600" indent="-609600" algn="l"/>
            <a:endParaRPr lang="en-US" altLang="zh-CN">
              <a:ea typeface="SimSun" panose="02010600030101010101" pitchFamily="2" charset="-122"/>
            </a:endParaRPr>
          </a:p>
          <a:p>
            <a:pPr marL="609600" indent="-609600" algn="l">
              <a:buFontTx/>
              <a:buAutoNum type="arabicPeriod"/>
            </a:pPr>
            <a:r>
              <a:rPr lang="en-US" altLang="zh-CN" b="1">
                <a:ea typeface="SimSun" panose="02010600030101010101" pitchFamily="2" charset="-122"/>
              </a:rPr>
              <a:t>Same process</a:t>
            </a:r>
            <a:r>
              <a:rPr lang="en-US" altLang="zh-CN">
                <a:ea typeface="SimSun" panose="02010600030101010101" pitchFamily="2" charset="-122"/>
              </a:rPr>
              <a:t>: e &lt;</a:t>
            </a:r>
            <a:r>
              <a:rPr lang="en-US" altLang="zh-CN" baseline="-25000">
                <a:ea typeface="SimSun" panose="02010600030101010101" pitchFamily="2" charset="-122"/>
              </a:rPr>
              <a:t>i</a:t>
            </a:r>
            <a:r>
              <a:rPr lang="en-US" altLang="zh-CN">
                <a:ea typeface="SimSun" panose="02010600030101010101" pitchFamily="2" charset="-122"/>
              </a:rPr>
              <a:t> e’, for some process P</a:t>
            </a:r>
            <a:r>
              <a:rPr lang="en-US" altLang="zh-CN" baseline="-25000">
                <a:ea typeface="SimSun" panose="02010600030101010101" pitchFamily="2" charset="-122"/>
              </a:rPr>
              <a:t>i</a:t>
            </a:r>
          </a:p>
          <a:p>
            <a:pPr marL="609600" indent="-609600" algn="l">
              <a:buFontTx/>
              <a:buAutoNum type="arabicPeriod"/>
            </a:pPr>
            <a:r>
              <a:rPr lang="en-US" altLang="zh-CN" b="1">
                <a:ea typeface="SimSun" panose="02010600030101010101" pitchFamily="2" charset="-122"/>
              </a:rPr>
              <a:t>Same message</a:t>
            </a:r>
            <a:r>
              <a:rPr lang="en-US" altLang="zh-CN">
                <a:ea typeface="SimSun" panose="02010600030101010101" pitchFamily="2" charset="-122"/>
              </a:rPr>
              <a:t>: e = send(m) and e’=receive(m) for some message m</a:t>
            </a:r>
          </a:p>
          <a:p>
            <a:pPr marL="609600" indent="-609600" algn="l">
              <a:buFontTx/>
              <a:buAutoNum type="arabicPeriod"/>
            </a:pPr>
            <a:r>
              <a:rPr lang="en-US" altLang="zh-CN" b="1">
                <a:ea typeface="SimSun" panose="02010600030101010101" pitchFamily="2" charset="-122"/>
              </a:rPr>
              <a:t>Transitivity</a:t>
            </a:r>
            <a:r>
              <a:rPr lang="en-US" altLang="zh-CN">
                <a:ea typeface="SimSun" panose="02010600030101010101" pitchFamily="2" charset="-122"/>
              </a:rPr>
              <a:t>: there is an event e* such that e &lt; e* and e* &lt; e’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F0580E8-7B11-49F1-A066-1F456C235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262" y="0"/>
            <a:ext cx="8662737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Concurrent Events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BC3C21D-5E9A-4328-BFE2-0EE94B1B0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7" y="1173162"/>
            <a:ext cx="7858125" cy="1655763"/>
          </a:xfrm>
        </p:spPr>
        <p:txBody>
          <a:bodyPr/>
          <a:lstStyle/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Given two events e &amp; e’:</a:t>
            </a:r>
          </a:p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If neither e &lt; e’ nor e’&lt; e, then e || e’ (we can also say e and e’ are concurrent).</a:t>
            </a:r>
          </a:p>
        </p:txBody>
      </p:sp>
      <p:sp>
        <p:nvSpPr>
          <p:cNvPr id="22532" name="Line 4">
            <a:extLst>
              <a:ext uri="{FF2B5EF4-FFF2-40B4-BE49-F238E27FC236}">
                <a16:creationId xmlns:a16="http://schemas.microsoft.com/office/drawing/2014/main" id="{A1CFC711-322E-4AAB-9FE4-E0BA6C8E9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3954463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99E83B15-94BB-48AE-B38E-1B6405B56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927600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868C98EC-CCAD-454B-8C5E-79318546E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995988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B364B91B-3259-4371-AC56-56E7C8CF7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3649663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A5B1194F-DB1D-4127-9047-282071703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4683125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2E978922-6201-430F-BA31-8553EEB9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5727700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BAB53CC8-3F10-4184-AF6D-A567A8BA2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6813" y="3254375"/>
            <a:ext cx="19589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DD5C735E-034F-4C63-90F5-2CA9781FB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071" y="2863850"/>
            <a:ext cx="8577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Time</a:t>
            </a:r>
          </a:p>
        </p:txBody>
      </p:sp>
      <p:sp>
        <p:nvSpPr>
          <p:cNvPr id="22540" name="Oval 12">
            <a:extLst>
              <a:ext uri="{FF2B5EF4-FFF2-40B4-BE49-F238E27FC236}">
                <a16:creationId xmlns:a16="http://schemas.microsoft.com/office/drawing/2014/main" id="{91B9D79E-2AB8-4600-8D7D-C94676CC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3787775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1" name="Oval 13">
            <a:extLst>
              <a:ext uri="{FF2B5EF4-FFF2-40B4-BE49-F238E27FC236}">
                <a16:creationId xmlns:a16="http://schemas.microsoft.com/office/drawing/2014/main" id="{DAB9B29F-59D9-4304-8D72-DEC527E55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3798888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2" name="Oval 14">
            <a:extLst>
              <a:ext uri="{FF2B5EF4-FFF2-40B4-BE49-F238E27FC236}">
                <a16:creationId xmlns:a16="http://schemas.microsoft.com/office/drawing/2014/main" id="{10D1DD83-56DF-4E71-81C9-41B2D8578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865813"/>
            <a:ext cx="296863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3" name="Oval 15">
            <a:extLst>
              <a:ext uri="{FF2B5EF4-FFF2-40B4-BE49-F238E27FC236}">
                <a16:creationId xmlns:a16="http://schemas.microsoft.com/office/drawing/2014/main" id="{717F7E42-08D0-4DD3-B762-915CCA7E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613" y="4737100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4" name="Oval 16">
            <a:extLst>
              <a:ext uri="{FF2B5EF4-FFF2-40B4-BE49-F238E27FC236}">
                <a16:creationId xmlns:a16="http://schemas.microsoft.com/office/drawing/2014/main" id="{630323C3-62FC-4EF2-9923-645CF7C11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5842000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75AE784E-2F85-4558-9D2C-CCFF8B68A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4097338"/>
            <a:ext cx="927100" cy="6651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257DBC8B-09E6-4C25-A26D-2FD344E92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150" y="5083175"/>
            <a:ext cx="701675" cy="796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Text Box 19">
            <a:extLst>
              <a:ext uri="{FF2B5EF4-FFF2-40B4-BE49-F238E27FC236}">
                <a16:creationId xmlns:a16="http://schemas.microsoft.com/office/drawing/2014/main" id="{605ED0E3-59F6-453E-9C9D-946501B96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33893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a</a:t>
            </a:r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E055175A-3DC6-4EB6-88EF-EAF0CDE8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337661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b</a:t>
            </a:r>
          </a:p>
        </p:txBody>
      </p:sp>
      <p:sp>
        <p:nvSpPr>
          <p:cNvPr id="22549" name="Text Box 21">
            <a:extLst>
              <a:ext uri="{FF2B5EF4-FFF2-40B4-BE49-F238E27FC236}">
                <a16:creationId xmlns:a16="http://schemas.microsoft.com/office/drawing/2014/main" id="{AF73D631-635F-4988-B0FD-A6225E59F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4338638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c</a:t>
            </a:r>
          </a:p>
        </p:txBody>
      </p:sp>
      <p:sp>
        <p:nvSpPr>
          <p:cNvPr id="22550" name="Text Box 22">
            <a:extLst>
              <a:ext uri="{FF2B5EF4-FFF2-40B4-BE49-F238E27FC236}">
                <a16:creationId xmlns:a16="http://schemas.microsoft.com/office/drawing/2014/main" id="{980B11A9-C26B-4FCC-951E-A0E4B8E8A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541972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f</a:t>
            </a:r>
          </a:p>
        </p:txBody>
      </p:sp>
      <p:sp>
        <p:nvSpPr>
          <p:cNvPr id="22551" name="Oval 23">
            <a:extLst>
              <a:ext uri="{FF2B5EF4-FFF2-40B4-BE49-F238E27FC236}">
                <a16:creationId xmlns:a16="http://schemas.microsoft.com/office/drawing/2014/main" id="{E6AB7B06-F9CD-4F7D-A642-F47054860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63" y="4772025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52" name="Text Box 24">
            <a:extLst>
              <a:ext uri="{FF2B5EF4-FFF2-40B4-BE49-F238E27FC236}">
                <a16:creationId xmlns:a16="http://schemas.microsoft.com/office/drawing/2014/main" id="{033EBD84-04D3-45CA-89BB-F359BE6D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4738" y="443388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d</a:t>
            </a:r>
          </a:p>
        </p:txBody>
      </p:sp>
      <p:sp>
        <p:nvSpPr>
          <p:cNvPr id="22553" name="Text Box 25">
            <a:extLst>
              <a:ext uri="{FF2B5EF4-FFF2-40B4-BE49-F238E27FC236}">
                <a16:creationId xmlns:a16="http://schemas.microsoft.com/office/drawing/2014/main" id="{65034B52-AC1D-404C-96D1-EA384AD65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5526088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</a:p>
        </p:txBody>
      </p:sp>
      <p:sp>
        <p:nvSpPr>
          <p:cNvPr id="22554" name="Text Box 26">
            <a:extLst>
              <a:ext uri="{FF2B5EF4-FFF2-40B4-BE49-F238E27FC236}">
                <a16:creationId xmlns:a16="http://schemas.microsoft.com/office/drawing/2014/main" id="{EA98D435-DF3F-4C9B-8591-78EB6357D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400685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2555" name="Text Box 27">
            <a:extLst>
              <a:ext uri="{FF2B5EF4-FFF2-40B4-BE49-F238E27FC236}">
                <a16:creationId xmlns:a16="http://schemas.microsoft.com/office/drawing/2014/main" id="{9698EBEF-6A4A-4534-B48E-4D158A2D3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50625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93124-D678-4CAF-9F39-F612E7316DEF}"/>
              </a:ext>
            </a:extLst>
          </p:cNvPr>
          <p:cNvSpPr txBox="1"/>
          <p:nvPr/>
        </p:nvSpPr>
        <p:spPr>
          <a:xfrm>
            <a:off x="1460500" y="6420051"/>
            <a:ext cx="5962650" cy="371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a&lt;b&lt;c&lt;d&lt;f, but we don’t know whether d&lt;e.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3C7BD09-19D0-46D6-9361-6E6294DAB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138" y="0"/>
            <a:ext cx="8633861" cy="1143000"/>
          </a:xfrm>
        </p:spPr>
        <p:txBody>
          <a:bodyPr/>
          <a:lstStyle/>
          <a:p>
            <a:pPr algn="l"/>
            <a:r>
              <a:rPr lang="en-US" altLang="zh-CN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</a:t>
            </a:r>
            <a:r>
              <a:rPr lang="en-US" altLang="zh-CN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Logical Clocks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C697F581-FC27-4CD7-A82A-4D4D34084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1462088"/>
            <a:ext cx="8537575" cy="5091112"/>
          </a:xfrm>
        </p:spPr>
        <p:txBody>
          <a:bodyPr/>
          <a:lstStyle/>
          <a:p>
            <a:pPr algn="l"/>
            <a:r>
              <a:rPr lang="en-US" altLang="zh-CN" dirty="0">
                <a:ea typeface="SimSun" panose="02010600030101010101" pitchFamily="2" charset="-122"/>
              </a:rPr>
              <a:t>Substitute synchronized clocks with a global ordering of events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&lt; 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  LC(e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) &lt; LC(e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 err="1">
                <a:ea typeface="SimSun" panose="02010600030101010101" pitchFamily="2" charset="-12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is a local clock: contains increasing values</a:t>
            </a:r>
          </a:p>
          <a:p>
            <a:pPr lvl="2"/>
            <a:r>
              <a:rPr lang="en-US" altLang="zh-CN" dirty="0">
                <a:ea typeface="SimSun" panose="02010600030101010101" pitchFamily="2" charset="-122"/>
              </a:rPr>
              <a:t>each process 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has own </a:t>
            </a:r>
            <a:r>
              <a:rPr lang="en-US" altLang="zh-CN" dirty="0" err="1">
                <a:ea typeface="SimSun" panose="02010600030101010101" pitchFamily="2" charset="-12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endParaRPr lang="en-US" altLang="zh-CN" baseline="-25000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Increment </a:t>
            </a:r>
            <a:r>
              <a:rPr lang="en-US" altLang="zh-CN" dirty="0" err="1">
                <a:ea typeface="SimSun" panose="02010600030101010101" pitchFamily="2" charset="-12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on each event occurrence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within same process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, if e</a:t>
            </a:r>
            <a:r>
              <a:rPr lang="en-US" altLang="zh-CN" baseline="-25000" dirty="0"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 occurs before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k</a:t>
            </a:r>
            <a:endParaRPr lang="en-US" altLang="zh-CN" baseline="-25000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 lvl="2"/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(e</a:t>
            </a:r>
            <a:r>
              <a:rPr lang="en-US" altLang="zh-CN" baseline="-25000" dirty="0"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) &lt;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If e</a:t>
            </a:r>
            <a:r>
              <a:rPr lang="en-US" altLang="zh-CN" baseline="-25000" dirty="0">
                <a:ea typeface="SimSun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 is a send event and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 receives that send, then </a:t>
            </a:r>
          </a:p>
          <a:p>
            <a:pPr lvl="2"/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(e</a:t>
            </a:r>
            <a:r>
              <a:rPr lang="en-US" altLang="zh-CN" baseline="-25000" dirty="0">
                <a:ea typeface="SimSun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) &lt;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LC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 err="1">
                <a:ea typeface="SimSun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8271823-639A-427A-8FDA-47A25BFCC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386" y="0"/>
            <a:ext cx="8691613" cy="1143000"/>
          </a:xfrm>
        </p:spPr>
        <p:txBody>
          <a:bodyPr/>
          <a:lstStyle/>
          <a:p>
            <a:pPr algn="l"/>
            <a:r>
              <a:rPr lang="en-US" altLang="zh-CN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</a:t>
            </a:r>
            <a:r>
              <a:rPr lang="en-US" altLang="zh-CN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Algorithm</a:t>
            </a:r>
            <a:endParaRPr lang="zh-CN" altLang="en-US" dirty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0E921324-44D9-4906-A95C-66F888604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1462088"/>
            <a:ext cx="8083550" cy="5091112"/>
          </a:xfrm>
        </p:spPr>
        <p:txBody>
          <a:bodyPr/>
          <a:lstStyle/>
          <a:p>
            <a:pPr algn="l"/>
            <a:r>
              <a:rPr lang="en-US" altLang="zh-CN">
                <a:ea typeface="SimSun" panose="02010600030101010101" pitchFamily="2" charset="-122"/>
              </a:rPr>
              <a:t>Each process increments local clock between any two successive events</a:t>
            </a:r>
          </a:p>
          <a:p>
            <a:pPr algn="l"/>
            <a:r>
              <a:rPr lang="en-US" altLang="zh-CN">
                <a:ea typeface="SimSun" panose="02010600030101010101" pitchFamily="2" charset="-122"/>
              </a:rPr>
              <a:t>Message contains a timestamp</a:t>
            </a:r>
          </a:p>
          <a:p>
            <a:pPr algn="l"/>
            <a:r>
              <a:rPr lang="en-US" altLang="zh-CN">
                <a:ea typeface="SimSun" panose="02010600030101010101" pitchFamily="2" charset="-122"/>
              </a:rPr>
              <a:t>Upon receiving a message, if received timestamp is ahead, receiver fast forward its clock to be one more than sending time</a:t>
            </a:r>
          </a:p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7FEE590-8007-4D60-8A6E-0DC1AD426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512" y="0"/>
            <a:ext cx="8720488" cy="1143000"/>
          </a:xfrm>
        </p:spPr>
        <p:txBody>
          <a:bodyPr/>
          <a:lstStyle/>
          <a:p>
            <a:pPr algn="l"/>
            <a:r>
              <a:rPr lang="en-US" altLang="zh-CN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</a:t>
            </a:r>
            <a:r>
              <a:rPr lang="en-US" altLang="zh-CN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Algorithm (cont.)</a:t>
            </a:r>
            <a:endParaRPr lang="zh-CN" altLang="en-US" dirty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67150CE1-2D37-4B32-A428-AEE5E24FB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1462088"/>
            <a:ext cx="8083550" cy="5091112"/>
          </a:xfrm>
        </p:spPr>
        <p:txBody>
          <a:bodyPr/>
          <a:lstStyle/>
          <a:p>
            <a:pPr algn="l"/>
            <a:r>
              <a:rPr lang="en-US" altLang="zh-CN">
                <a:ea typeface="SimSun" panose="02010600030101010101" pitchFamily="2" charset="-122"/>
              </a:rPr>
              <a:t>Timestamp</a:t>
            </a:r>
          </a:p>
          <a:p>
            <a:pPr lvl="1"/>
            <a:r>
              <a:rPr lang="en-US" altLang="zh-CN">
                <a:ea typeface="SimSun" panose="02010600030101010101" pitchFamily="2" charset="-122"/>
              </a:rPr>
              <a:t>Each event is given a timestamp t</a:t>
            </a:r>
          </a:p>
          <a:p>
            <a:pPr lvl="1"/>
            <a:r>
              <a:rPr lang="en-US" altLang="zh-CN">
                <a:ea typeface="SimSun" panose="02010600030101010101" pitchFamily="2" charset="-122"/>
              </a:rPr>
              <a:t>If e</a:t>
            </a:r>
            <a:r>
              <a:rPr lang="en-US" altLang="zh-CN" baseline="-25000">
                <a:ea typeface="SimSun" panose="02010600030101010101" pitchFamily="2" charset="-122"/>
              </a:rPr>
              <a:t>s</a:t>
            </a:r>
            <a:r>
              <a:rPr lang="en-US" altLang="zh-CN">
                <a:ea typeface="SimSun" panose="02010600030101010101" pitchFamily="2" charset="-122"/>
              </a:rPr>
              <a:t> is a send message m from p</a:t>
            </a:r>
            <a:r>
              <a:rPr lang="en-US" altLang="zh-CN" baseline="-25000">
                <a:ea typeface="SimSun" panose="02010600030101010101" pitchFamily="2" charset="-122"/>
              </a:rPr>
              <a:t>i</a:t>
            </a:r>
            <a:r>
              <a:rPr lang="en-US" altLang="zh-CN">
                <a:ea typeface="SimSun" panose="02010600030101010101" pitchFamily="2" charset="-122"/>
              </a:rPr>
              <a:t>, then t=LC</a:t>
            </a:r>
            <a:r>
              <a:rPr lang="en-US" altLang="zh-CN" baseline="-25000">
                <a:ea typeface="SimSun" panose="02010600030101010101" pitchFamily="2" charset="-122"/>
              </a:rPr>
              <a:t>i</a:t>
            </a:r>
            <a:r>
              <a:rPr lang="en-US" altLang="zh-CN">
                <a:ea typeface="SimSun" panose="02010600030101010101" pitchFamily="2" charset="-122"/>
              </a:rPr>
              <a:t>(e</a:t>
            </a:r>
            <a:r>
              <a:rPr lang="en-US" altLang="zh-CN" baseline="-25000">
                <a:ea typeface="SimSun" panose="02010600030101010101" pitchFamily="2" charset="-122"/>
              </a:rPr>
              <a:t>s</a:t>
            </a:r>
            <a:r>
              <a:rPr lang="en-US" altLang="zh-CN">
                <a:ea typeface="SimSun" panose="02010600030101010101" pitchFamily="2" charset="-122"/>
              </a:rPr>
              <a:t>)</a:t>
            </a:r>
          </a:p>
          <a:p>
            <a:pPr lvl="1"/>
            <a:r>
              <a:rPr lang="en-US" altLang="zh-CN">
                <a:ea typeface="SimSun" panose="02010600030101010101" pitchFamily="2" charset="-122"/>
              </a:rPr>
              <a:t>When p</a:t>
            </a:r>
            <a:r>
              <a:rPr lang="en-US" altLang="zh-CN" baseline="-25000">
                <a:ea typeface="SimSun" panose="02010600030101010101" pitchFamily="2" charset="-122"/>
              </a:rPr>
              <a:t>j</a:t>
            </a:r>
            <a:r>
              <a:rPr lang="en-US" altLang="zh-CN">
                <a:ea typeface="SimSun" panose="02010600030101010101" pitchFamily="2" charset="-122"/>
              </a:rPr>
              <a:t> receives m, set LC</a:t>
            </a:r>
            <a:r>
              <a:rPr lang="en-US" altLang="zh-CN" baseline="-25000">
                <a:ea typeface="SimSun" panose="02010600030101010101" pitchFamily="2" charset="-122"/>
              </a:rPr>
              <a:t>j</a:t>
            </a:r>
            <a:r>
              <a:rPr lang="en-US" altLang="zh-CN">
                <a:ea typeface="SimSun" panose="02010600030101010101" pitchFamily="2" charset="-122"/>
              </a:rPr>
              <a:t> value as follows</a:t>
            </a:r>
          </a:p>
          <a:p>
            <a:pPr lvl="2"/>
            <a:r>
              <a:rPr lang="en-US" altLang="zh-CN">
                <a:ea typeface="SimSun" panose="02010600030101010101" pitchFamily="2" charset="-122"/>
              </a:rPr>
              <a:t>If t &lt; LC</a:t>
            </a:r>
            <a:r>
              <a:rPr lang="en-US" altLang="zh-CN" baseline="-25000">
                <a:ea typeface="SimSun" panose="02010600030101010101" pitchFamily="2" charset="-122"/>
              </a:rPr>
              <a:t>j</a:t>
            </a:r>
            <a:r>
              <a:rPr lang="en-US" altLang="zh-CN">
                <a:ea typeface="SimSun" panose="02010600030101010101" pitchFamily="2" charset="-122"/>
              </a:rPr>
              <a:t>, increment LC</a:t>
            </a:r>
            <a:r>
              <a:rPr lang="en-US" altLang="zh-CN" baseline="-25000">
                <a:ea typeface="SimSun" panose="02010600030101010101" pitchFamily="2" charset="-122"/>
              </a:rPr>
              <a:t>j</a:t>
            </a:r>
            <a:r>
              <a:rPr lang="en-US" altLang="zh-CN">
                <a:ea typeface="SimSun" panose="02010600030101010101" pitchFamily="2" charset="-122"/>
              </a:rPr>
              <a:t> by one</a:t>
            </a:r>
          </a:p>
          <a:p>
            <a:pPr lvl="3"/>
            <a:r>
              <a:rPr lang="en-US" altLang="zh-CN">
                <a:ea typeface="SimSun" panose="02010600030101010101" pitchFamily="2" charset="-122"/>
              </a:rPr>
              <a:t>Message regarded as next event on j</a:t>
            </a:r>
          </a:p>
          <a:p>
            <a:pPr lvl="2"/>
            <a:r>
              <a:rPr lang="en-US" altLang="zh-CN">
                <a:ea typeface="SimSun" panose="02010600030101010101" pitchFamily="2" charset="-122"/>
              </a:rPr>
              <a:t>If t </a:t>
            </a:r>
            <a:r>
              <a:rPr lang="en-US" altLang="zh-CN">
                <a:ea typeface="SimSun" panose="02010600030101010101" pitchFamily="2" charset="-122"/>
                <a:cs typeface="Times New Roman" panose="02020603050405020304" pitchFamily="18" charset="0"/>
              </a:rPr>
              <a:t>≥ LC</a:t>
            </a:r>
            <a:r>
              <a:rPr lang="en-US" altLang="zh-CN" baseline="-25000">
                <a:ea typeface="SimSun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ea typeface="SimSun" panose="02010600030101010101" pitchFamily="2" charset="-122"/>
                <a:cs typeface="Times New Roman" panose="02020603050405020304" pitchFamily="18" charset="0"/>
              </a:rPr>
              <a:t>, set LC</a:t>
            </a:r>
            <a:r>
              <a:rPr lang="en-US" altLang="zh-CN" baseline="-25000">
                <a:ea typeface="SimSun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ea typeface="SimSun" panose="02010600030101010101" pitchFamily="2" charset="-122"/>
                <a:cs typeface="Times New Roman" panose="02020603050405020304" pitchFamily="18" charset="0"/>
              </a:rPr>
              <a:t> to t+1</a:t>
            </a:r>
          </a:p>
          <a:p>
            <a:pPr lvl="3"/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85FE70B-2F25-4573-A947-74A09B48E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638" y="0"/>
            <a:ext cx="8672362" cy="1143000"/>
          </a:xfrm>
        </p:spPr>
        <p:txBody>
          <a:bodyPr/>
          <a:lstStyle/>
          <a:p>
            <a:pPr algn="l"/>
            <a:r>
              <a:rPr lang="en-US" altLang="zh-CN" sz="4000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Lamport’s</a:t>
            </a:r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 Algorithm Analysis (1)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7CE06D6-A74C-4745-8DC6-599097C00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263" y="1492250"/>
            <a:ext cx="7858125" cy="2024063"/>
          </a:xfrm>
        </p:spPr>
        <p:txBody>
          <a:bodyPr/>
          <a:lstStyle/>
          <a:p>
            <a:pPr marL="609600" indent="-609600" algn="l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&lt; 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  LC(e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) &lt; LC(e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6628" name="Line 4">
            <a:extLst>
              <a:ext uri="{FF2B5EF4-FFF2-40B4-BE49-F238E27FC236}">
                <a16:creationId xmlns:a16="http://schemas.microsoft.com/office/drawing/2014/main" id="{19DE3456-F239-48A5-8F49-68698DC31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3998913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0A687C9D-F27F-4167-9F5C-5E767FEFA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972050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0" name="Line 6">
            <a:extLst>
              <a:ext uri="{FF2B5EF4-FFF2-40B4-BE49-F238E27FC236}">
                <a16:creationId xmlns:a16="http://schemas.microsoft.com/office/drawing/2014/main" id="{10CB5444-8F84-4738-B2BB-4CD94E0A9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6040438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18750899-CDE1-4292-A356-5886588C0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3694113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03F6CC9F-1839-4B23-B716-875735309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4727575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CE485C49-F8D0-4200-8CC8-2D43A05A8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5772150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50BE2307-4983-4445-96C9-AFC6FE2EF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0363" y="3738563"/>
            <a:ext cx="19589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15D6408C-0790-46EF-B12A-C2C6A062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619" y="3348038"/>
            <a:ext cx="857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Time</a:t>
            </a:r>
          </a:p>
        </p:txBody>
      </p:sp>
      <p:sp>
        <p:nvSpPr>
          <p:cNvPr id="26636" name="Oval 12">
            <a:extLst>
              <a:ext uri="{FF2B5EF4-FFF2-40B4-BE49-F238E27FC236}">
                <a16:creationId xmlns:a16="http://schemas.microsoft.com/office/drawing/2014/main" id="{0ABC18A6-9D49-4DC4-B558-E8D0BA71A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3832225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7" name="Oval 13">
            <a:extLst>
              <a:ext uri="{FF2B5EF4-FFF2-40B4-BE49-F238E27FC236}">
                <a16:creationId xmlns:a16="http://schemas.microsoft.com/office/drawing/2014/main" id="{08D1524A-C3B9-4384-9FF2-721CB9AF2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3843338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8" name="Oval 14">
            <a:extLst>
              <a:ext uri="{FF2B5EF4-FFF2-40B4-BE49-F238E27FC236}">
                <a16:creationId xmlns:a16="http://schemas.microsoft.com/office/drawing/2014/main" id="{46A1F48D-F928-422E-BBFB-AD2652077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910263"/>
            <a:ext cx="296863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9" name="Oval 15">
            <a:extLst>
              <a:ext uri="{FF2B5EF4-FFF2-40B4-BE49-F238E27FC236}">
                <a16:creationId xmlns:a16="http://schemas.microsoft.com/office/drawing/2014/main" id="{CACC0FC5-8C7E-4252-9B7D-A66445579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613" y="4781550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0" name="Oval 16">
            <a:extLst>
              <a:ext uri="{FF2B5EF4-FFF2-40B4-BE49-F238E27FC236}">
                <a16:creationId xmlns:a16="http://schemas.microsoft.com/office/drawing/2014/main" id="{D72F26AA-379F-4014-A19B-1C629BC5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5886450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1" name="Line 17">
            <a:extLst>
              <a:ext uri="{FF2B5EF4-FFF2-40B4-BE49-F238E27FC236}">
                <a16:creationId xmlns:a16="http://schemas.microsoft.com/office/drawing/2014/main" id="{66114EBD-2779-4441-98E8-EBF920392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4141788"/>
            <a:ext cx="927100" cy="6651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2" name="Line 18">
            <a:extLst>
              <a:ext uri="{FF2B5EF4-FFF2-40B4-BE49-F238E27FC236}">
                <a16:creationId xmlns:a16="http://schemas.microsoft.com/office/drawing/2014/main" id="{B00BB9B3-5F8A-4250-912E-4B6D0B427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150" y="5127625"/>
            <a:ext cx="701675" cy="796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959BBD8C-1D6E-4ED6-AEDC-E1555BC2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34337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a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A0CD96CE-3F07-432B-9DA3-83C69C621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342106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b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7C0A10DD-6A61-4B75-8F1D-06766DAA4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4383088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c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B7D6C24D-905F-46A4-A0AD-CFD45C2E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54641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f</a:t>
            </a:r>
          </a:p>
        </p:txBody>
      </p:sp>
      <p:sp>
        <p:nvSpPr>
          <p:cNvPr id="26647" name="Oval 23">
            <a:extLst>
              <a:ext uri="{FF2B5EF4-FFF2-40B4-BE49-F238E27FC236}">
                <a16:creationId xmlns:a16="http://schemas.microsoft.com/office/drawing/2014/main" id="{CDD8E1E8-0D44-42D9-825D-67637C8B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63" y="4816475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8" name="Text Box 24">
            <a:extLst>
              <a:ext uri="{FF2B5EF4-FFF2-40B4-BE49-F238E27FC236}">
                <a16:creationId xmlns:a16="http://schemas.microsoft.com/office/drawing/2014/main" id="{EF8A5A27-3D8D-4449-833D-027D4CB5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4738" y="447833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d</a:t>
            </a:r>
          </a:p>
        </p:txBody>
      </p:sp>
      <p:sp>
        <p:nvSpPr>
          <p:cNvPr id="26649" name="Text Box 25">
            <a:extLst>
              <a:ext uri="{FF2B5EF4-FFF2-40B4-BE49-F238E27FC236}">
                <a16:creationId xmlns:a16="http://schemas.microsoft.com/office/drawing/2014/main" id="{1E4D0069-3FBC-45C7-A059-EC5AFF11F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5570538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</a:p>
        </p:txBody>
      </p:sp>
      <p:sp>
        <p:nvSpPr>
          <p:cNvPr id="26650" name="Text Box 26">
            <a:extLst>
              <a:ext uri="{FF2B5EF4-FFF2-40B4-BE49-F238E27FC236}">
                <a16:creationId xmlns:a16="http://schemas.microsoft.com/office/drawing/2014/main" id="{68B0B726-5634-445B-85E4-4B483ADF5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40513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6651" name="Text Box 27">
            <a:extLst>
              <a:ext uri="{FF2B5EF4-FFF2-40B4-BE49-F238E27FC236}">
                <a16:creationId xmlns:a16="http://schemas.microsoft.com/office/drawing/2014/main" id="{5466C106-7E23-475A-A4EA-77C509910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510698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40988" name="Text Box 28">
            <a:extLst>
              <a:ext uri="{FF2B5EF4-FFF2-40B4-BE49-F238E27FC236}">
                <a16:creationId xmlns:a16="http://schemas.microsoft.com/office/drawing/2014/main" id="{0E47892E-9507-4A79-98FC-DC6743CD9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40862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40989" name="Text Box 29">
            <a:extLst>
              <a:ext uri="{FF2B5EF4-FFF2-40B4-BE49-F238E27FC236}">
                <a16:creationId xmlns:a16="http://schemas.microsoft.com/office/drawing/2014/main" id="{ADA9CD0F-D118-4B79-A4C7-BFCC6B9A7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062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40990" name="Text Box 30">
            <a:extLst>
              <a:ext uri="{FF2B5EF4-FFF2-40B4-BE49-F238E27FC236}">
                <a16:creationId xmlns:a16="http://schemas.microsoft.com/office/drawing/2014/main" id="{CABCB4AA-3377-4C12-B59E-8F71732B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4929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40991" name="Text Box 31">
            <a:extLst>
              <a:ext uri="{FF2B5EF4-FFF2-40B4-BE49-F238E27FC236}">
                <a16:creationId xmlns:a16="http://schemas.microsoft.com/office/drawing/2014/main" id="{30C2CF2A-9B3D-49A2-A7AF-C13A9B5CE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975" y="60579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40992" name="Text Box 32">
            <a:extLst>
              <a:ext uri="{FF2B5EF4-FFF2-40B4-BE49-F238E27FC236}">
                <a16:creationId xmlns:a16="http://schemas.microsoft.com/office/drawing/2014/main" id="{B05D7588-BBD5-40BC-915A-75451242E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953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40993" name="Text Box 33">
            <a:extLst>
              <a:ext uri="{FF2B5EF4-FFF2-40B4-BE49-F238E27FC236}">
                <a16:creationId xmlns:a16="http://schemas.microsoft.com/office/drawing/2014/main" id="{1F863108-7B5C-476D-A26E-82E07F696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61055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6658" name="Oval 34">
            <a:extLst>
              <a:ext uri="{FF2B5EF4-FFF2-40B4-BE49-F238E27FC236}">
                <a16:creationId xmlns:a16="http://schemas.microsoft.com/office/drawing/2014/main" id="{71B6FBB1-36A8-43FF-B853-BCFA354ED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4829175"/>
            <a:ext cx="296863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59" name="Text Box 35">
            <a:extLst>
              <a:ext uri="{FF2B5EF4-FFF2-40B4-BE49-F238E27FC236}">
                <a16:creationId xmlns:a16="http://schemas.microsoft.com/office/drawing/2014/main" id="{B452D0CE-8B26-444D-A77C-33AAE83A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88" y="44894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g</a:t>
            </a:r>
          </a:p>
        </p:txBody>
      </p:sp>
      <p:sp>
        <p:nvSpPr>
          <p:cNvPr id="40996" name="Text Box 36">
            <a:extLst>
              <a:ext uri="{FF2B5EF4-FFF2-40B4-BE49-F238E27FC236}">
                <a16:creationId xmlns:a16="http://schemas.microsoft.com/office/drawing/2014/main" id="{67712FA0-F2A4-4A46-A66E-407ECB0F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5024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8" grpId="0"/>
      <p:bldP spid="40989" grpId="0"/>
      <p:bldP spid="40990" grpId="0"/>
      <p:bldP spid="40991" grpId="0"/>
      <p:bldP spid="40992" grpId="0"/>
      <p:bldP spid="40993" grpId="0"/>
      <p:bldP spid="4099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CB9F7CA-8968-4749-B710-F9C8753C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130" y="0"/>
            <a:ext cx="8941869" cy="697097"/>
          </a:xfrm>
        </p:spPr>
        <p:txBody>
          <a:bodyPr/>
          <a:lstStyle/>
          <a:p>
            <a:pPr algn="l"/>
            <a:r>
              <a:rPr lang="en-US" altLang="zh-CN" sz="4000" dirty="0" err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Lamport’s</a:t>
            </a:r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 Algorithm Analysis (2)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9EE61CB-2723-4D70-8D9B-3BC08A37F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4793" y="620612"/>
            <a:ext cx="8749364" cy="3149134"/>
          </a:xfrm>
        </p:spPr>
        <p:txBody>
          <a:bodyPr/>
          <a:lstStyle/>
          <a:p>
            <a:pPr marL="609600" indent="-609600" algn="l">
              <a:lnSpc>
                <a:spcPct val="90000"/>
              </a:lnSpc>
            </a:pPr>
            <a:r>
              <a:rPr lang="en-US" altLang="zh-CN" sz="2800" dirty="0">
                <a:ea typeface="SimSun" panose="02010600030101010101" pitchFamily="2" charset="-122"/>
              </a:rPr>
              <a:t>LC(e</a:t>
            </a:r>
            <a:r>
              <a:rPr lang="en-US" altLang="zh-CN" sz="2800" baseline="-25000" dirty="0">
                <a:ea typeface="SimSun" panose="02010600030101010101" pitchFamily="2" charset="-122"/>
              </a:rPr>
              <a:t>i</a:t>
            </a:r>
            <a:r>
              <a:rPr lang="en-US" altLang="zh-CN" sz="2800" dirty="0">
                <a:ea typeface="SimSun" panose="02010600030101010101" pitchFamily="2" charset="-122"/>
              </a:rPr>
              <a:t>) &lt; LC(e</a:t>
            </a:r>
            <a:r>
              <a:rPr lang="en-US" altLang="zh-CN" sz="2800" baseline="-25000" dirty="0">
                <a:ea typeface="SimSun" panose="02010600030101010101" pitchFamily="2" charset="-122"/>
              </a:rPr>
              <a:t>j</a:t>
            </a:r>
            <a:r>
              <a:rPr lang="en-US" altLang="zh-CN" sz="2800" dirty="0">
                <a:ea typeface="SimSun" panose="02010600030101010101" pitchFamily="2" charset="-122"/>
              </a:rPr>
              <a:t>) </a:t>
            </a:r>
            <a:r>
              <a:rPr lang="en-US" altLang="zh-CN" sz="2800" dirty="0">
                <a:ea typeface="SimSun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ea typeface="SimSun" panose="02010600030101010101" pitchFamily="2" charset="-122"/>
              </a:rPr>
              <a:t>e</a:t>
            </a:r>
            <a:r>
              <a:rPr lang="en-US" altLang="zh-CN" sz="2800" baseline="-25000" dirty="0">
                <a:ea typeface="SimSun" panose="02010600030101010101" pitchFamily="2" charset="-122"/>
              </a:rPr>
              <a:t>i</a:t>
            </a:r>
            <a:r>
              <a:rPr lang="en-US" altLang="zh-CN" sz="2800" dirty="0">
                <a:ea typeface="SimSun" panose="02010600030101010101" pitchFamily="2" charset="-122"/>
              </a:rPr>
              <a:t> &lt; e</a:t>
            </a:r>
            <a:r>
              <a:rPr lang="en-US" altLang="zh-CN" sz="2800" baseline="-25000" dirty="0">
                <a:ea typeface="SimSun" panose="02010600030101010101" pitchFamily="2" charset="-122"/>
              </a:rPr>
              <a:t>j </a:t>
            </a:r>
            <a:r>
              <a:rPr lang="en-US" altLang="zh-CN" sz="2800" dirty="0">
                <a:ea typeface="SimSun" panose="02010600030101010101" pitchFamily="2" charset="-122"/>
              </a:rPr>
              <a:t>?</a:t>
            </a:r>
          </a:p>
          <a:p>
            <a:pPr marL="609600" indent="-609600" algn="l">
              <a:lnSpc>
                <a:spcPct val="90000"/>
              </a:lnSpc>
            </a:pPr>
            <a:r>
              <a:rPr lang="en-US" altLang="zh-CN" sz="2800" dirty="0">
                <a:ea typeface="SimSun" panose="02010600030101010101" pitchFamily="2" charset="-122"/>
              </a:rPr>
              <a:t>Limitation:</a:t>
            </a:r>
          </a:p>
          <a:p>
            <a:pPr marL="1009650" lvl="1" indent="-609600">
              <a:lnSpc>
                <a:spcPct val="90000"/>
              </a:lnSpc>
            </a:pPr>
            <a:r>
              <a:rPr lang="en-US" altLang="zh-CN" sz="2400" dirty="0">
                <a:ea typeface="SimSun" panose="02010600030101010101" pitchFamily="2" charset="-122"/>
              </a:rPr>
              <a:t>If LC(e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) &lt; LC(e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</a:t>
            </a:r>
            <a:r>
              <a:rPr lang="en-US" altLang="zh-CN" sz="2400" dirty="0">
                <a:ea typeface="SimSun" panose="02010600030101010101" pitchFamily="2" charset="-122"/>
              </a:rPr>
              <a:t>), then it is </a:t>
            </a:r>
            <a:r>
              <a:rPr lang="en-US" altLang="zh-CN" sz="2400" b="1" dirty="0">
                <a:ea typeface="SimSun" panose="02010600030101010101" pitchFamily="2" charset="-122"/>
              </a:rPr>
              <a:t>not</a:t>
            </a:r>
            <a:r>
              <a:rPr lang="en-US" altLang="zh-CN" sz="2400" dirty="0">
                <a:ea typeface="SimSun" panose="02010600030101010101" pitchFamily="2" charset="-122"/>
              </a:rPr>
              <a:t> necessarily true that 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 &lt; 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 </a:t>
            </a:r>
            <a:r>
              <a:rPr lang="en-US" altLang="zh-CN" sz="2400" dirty="0">
                <a:ea typeface="SimSun" panose="02010600030101010101" pitchFamily="2" charset="-122"/>
              </a:rPr>
              <a:t> (e.g., c and g)</a:t>
            </a:r>
            <a:endParaRPr lang="en-US" altLang="zh-CN" sz="2400" baseline="-25000" dirty="0">
              <a:ea typeface="SimSun" panose="02010600030101010101" pitchFamily="2" charset="-122"/>
            </a:endParaRPr>
          </a:p>
          <a:p>
            <a:pPr marL="1009650" lvl="1" indent="-609600">
              <a:lnSpc>
                <a:spcPct val="90000"/>
              </a:lnSpc>
            </a:pPr>
            <a:r>
              <a:rPr lang="en-US" altLang="en-US" sz="2400" dirty="0"/>
              <a:t>If </a:t>
            </a:r>
            <a:r>
              <a:rPr lang="en-US" altLang="zh-CN" sz="2400" dirty="0">
                <a:ea typeface="SimSun" panose="02010600030101010101" pitchFamily="2" charset="-122"/>
              </a:rPr>
              <a:t>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 and</a:t>
            </a:r>
            <a:r>
              <a:rPr lang="en-US" altLang="en-US" sz="2400" dirty="0"/>
              <a:t> </a:t>
            </a:r>
            <a:r>
              <a:rPr lang="en-US" altLang="zh-CN" sz="2400" dirty="0">
                <a:ea typeface="SimSun" panose="02010600030101010101" pitchFamily="2" charset="-122"/>
              </a:rPr>
              <a:t>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</a:t>
            </a:r>
            <a:r>
              <a:rPr lang="en-US" altLang="en-US" sz="2400" dirty="0"/>
              <a:t> are concurrent, LC(</a:t>
            </a:r>
            <a:r>
              <a:rPr lang="en-US" altLang="zh-CN" sz="2400" dirty="0">
                <a:ea typeface="SimSun" panose="02010600030101010101" pitchFamily="2" charset="-122"/>
              </a:rPr>
              <a:t>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en-US" sz="2400" dirty="0"/>
              <a:t>) and LC(</a:t>
            </a:r>
            <a:r>
              <a:rPr lang="en-US" altLang="zh-CN" sz="2400" dirty="0">
                <a:ea typeface="SimSun" panose="02010600030101010101" pitchFamily="2" charset="-122"/>
              </a:rPr>
              <a:t>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</a:t>
            </a:r>
            <a:r>
              <a:rPr lang="en-US" altLang="en-US" sz="2400" dirty="0"/>
              <a:t>) may have arbitrary values!</a:t>
            </a:r>
          </a:p>
          <a:p>
            <a:pPr marL="1009650" lvl="1" indent="-609600">
              <a:lnSpc>
                <a:spcPct val="90000"/>
              </a:lnSpc>
            </a:pPr>
            <a:r>
              <a:rPr lang="en-US" altLang="en-US" sz="2400" dirty="0"/>
              <a:t>In other words, we really have no idea the order of occurrences of </a:t>
            </a:r>
            <a:r>
              <a:rPr lang="en-US" altLang="zh-CN" sz="2400" dirty="0">
                <a:ea typeface="SimSun" panose="02010600030101010101" pitchFamily="2" charset="-122"/>
              </a:rPr>
              <a:t>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 and 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</a:t>
            </a:r>
            <a:r>
              <a:rPr lang="en-US" altLang="zh-CN" sz="2400" dirty="0">
                <a:ea typeface="SimSun" panose="02010600030101010101" pitchFamily="2" charset="-122"/>
              </a:rPr>
              <a:t>, just based on LC(e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) &lt; LC(e</a:t>
            </a:r>
            <a:r>
              <a:rPr lang="en-US" altLang="zh-CN" sz="2400" baseline="-25000" dirty="0">
                <a:ea typeface="SimSun" panose="02010600030101010101" pitchFamily="2" charset="-122"/>
              </a:rPr>
              <a:t>j</a:t>
            </a:r>
            <a:r>
              <a:rPr lang="en-US" altLang="zh-CN" sz="2400" dirty="0">
                <a:ea typeface="SimSun" panose="02010600030101010101" pitchFamily="2" charset="-122"/>
              </a:rPr>
              <a:t>).</a:t>
            </a:r>
            <a:endParaRPr lang="en-US" altLang="en-US" sz="2400" dirty="0"/>
          </a:p>
          <a:p>
            <a:pPr marL="609600" indent="-609600" algn="l">
              <a:lnSpc>
                <a:spcPct val="90000"/>
              </a:lnSpc>
            </a:pPr>
            <a:endParaRPr lang="en-US" altLang="zh-CN" baseline="-25000" dirty="0">
              <a:ea typeface="SimSun" panose="02010600030101010101" pitchFamily="2" charset="-122"/>
            </a:endParaRPr>
          </a:p>
          <a:p>
            <a:pPr marL="609600" indent="-609600" algn="l">
              <a:lnSpc>
                <a:spcPct val="90000"/>
              </a:lnSpc>
            </a:pPr>
            <a:endParaRPr lang="en-US" altLang="zh-CN" baseline="-25000" dirty="0">
              <a:ea typeface="SimSun" panose="02010600030101010101" pitchFamily="2" charset="-122"/>
            </a:endParaRPr>
          </a:p>
        </p:txBody>
      </p:sp>
      <p:sp>
        <p:nvSpPr>
          <p:cNvPr id="27652" name="Line 4">
            <a:extLst>
              <a:ext uri="{FF2B5EF4-FFF2-40B4-BE49-F238E27FC236}">
                <a16:creationId xmlns:a16="http://schemas.microsoft.com/office/drawing/2014/main" id="{CC368EA0-3F17-43A2-84ED-08AE5A115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258795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0157A541-6357-470A-AFD2-C3971BA74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231932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D62CA4E8-3FCE-4E3B-9D1E-681EACC26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6300320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BDD2789F-3E38-4D64-94C1-B50E20695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3953995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A0722CE8-1396-44C8-95BE-0B42CF88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4987457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05A44F5B-3C78-4189-AB40-CBB9EF207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6032032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7CFBB6C9-D272-4C33-B6F2-6C025C0B1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0363" y="3998445"/>
            <a:ext cx="19589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Text Box 11">
            <a:extLst>
              <a:ext uri="{FF2B5EF4-FFF2-40B4-BE49-F238E27FC236}">
                <a16:creationId xmlns:a16="http://schemas.microsoft.com/office/drawing/2014/main" id="{2A48463C-96A8-4E47-B697-816768D81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619" y="3607920"/>
            <a:ext cx="857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Time</a:t>
            </a:r>
          </a:p>
        </p:txBody>
      </p:sp>
      <p:sp>
        <p:nvSpPr>
          <p:cNvPr id="27660" name="Oval 12">
            <a:extLst>
              <a:ext uri="{FF2B5EF4-FFF2-40B4-BE49-F238E27FC236}">
                <a16:creationId xmlns:a16="http://schemas.microsoft.com/office/drawing/2014/main" id="{48B7FE58-D0FF-46C2-A50C-C2B7105AE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4092107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1" name="Oval 13">
            <a:extLst>
              <a:ext uri="{FF2B5EF4-FFF2-40B4-BE49-F238E27FC236}">
                <a16:creationId xmlns:a16="http://schemas.microsoft.com/office/drawing/2014/main" id="{C05C9659-8A25-491E-B4D3-02681C2C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103220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2" name="Oval 14">
            <a:extLst>
              <a:ext uri="{FF2B5EF4-FFF2-40B4-BE49-F238E27FC236}">
                <a16:creationId xmlns:a16="http://schemas.microsoft.com/office/drawing/2014/main" id="{799869A5-171A-421F-BDB1-B16F24614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170145"/>
            <a:ext cx="296863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3" name="Oval 15">
            <a:extLst>
              <a:ext uri="{FF2B5EF4-FFF2-40B4-BE49-F238E27FC236}">
                <a16:creationId xmlns:a16="http://schemas.microsoft.com/office/drawing/2014/main" id="{A9D23848-F074-42D5-8618-1596DD9DD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613" y="5041432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4" name="Oval 16">
            <a:extLst>
              <a:ext uri="{FF2B5EF4-FFF2-40B4-BE49-F238E27FC236}">
                <a16:creationId xmlns:a16="http://schemas.microsoft.com/office/drawing/2014/main" id="{CB97A7A6-8004-4BFC-B70A-FEAD3FB14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6146332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5" name="Line 17">
            <a:extLst>
              <a:ext uri="{FF2B5EF4-FFF2-40B4-BE49-F238E27FC236}">
                <a16:creationId xmlns:a16="http://schemas.microsoft.com/office/drawing/2014/main" id="{9CD0D5E3-2985-4A21-BF70-352BF7116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4401670"/>
            <a:ext cx="927100" cy="6651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8">
            <a:extLst>
              <a:ext uri="{FF2B5EF4-FFF2-40B4-BE49-F238E27FC236}">
                <a16:creationId xmlns:a16="http://schemas.microsoft.com/office/drawing/2014/main" id="{1FC1040C-CA6E-4467-A28A-7203A70B4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150" y="5387507"/>
            <a:ext cx="701675" cy="796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Text Box 19">
            <a:extLst>
              <a:ext uri="{FF2B5EF4-FFF2-40B4-BE49-F238E27FC236}">
                <a16:creationId xmlns:a16="http://schemas.microsoft.com/office/drawing/2014/main" id="{CBD2D743-879D-41CF-95B8-A24B00BFA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369364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a</a:t>
            </a:r>
          </a:p>
        </p:txBody>
      </p:sp>
      <p:sp>
        <p:nvSpPr>
          <p:cNvPr id="27668" name="Text Box 20">
            <a:extLst>
              <a:ext uri="{FF2B5EF4-FFF2-40B4-BE49-F238E27FC236}">
                <a16:creationId xmlns:a16="http://schemas.microsoft.com/office/drawing/2014/main" id="{FCB725E1-4314-4F6F-A900-B362BF7F3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368094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b</a:t>
            </a:r>
          </a:p>
        </p:txBody>
      </p:sp>
      <p:sp>
        <p:nvSpPr>
          <p:cNvPr id="27669" name="Text Box 21">
            <a:extLst>
              <a:ext uri="{FF2B5EF4-FFF2-40B4-BE49-F238E27FC236}">
                <a16:creationId xmlns:a16="http://schemas.microsoft.com/office/drawing/2014/main" id="{D4859653-9B0E-458F-B1E2-1EF6701D3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464297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c</a:t>
            </a:r>
          </a:p>
        </p:txBody>
      </p:sp>
      <p:sp>
        <p:nvSpPr>
          <p:cNvPr id="27670" name="Text Box 22">
            <a:extLst>
              <a:ext uri="{FF2B5EF4-FFF2-40B4-BE49-F238E27FC236}">
                <a16:creationId xmlns:a16="http://schemas.microsoft.com/office/drawing/2014/main" id="{A2A905C1-10DF-4385-B187-9AB21C4F2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5724057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f</a:t>
            </a:r>
          </a:p>
        </p:txBody>
      </p:sp>
      <p:sp>
        <p:nvSpPr>
          <p:cNvPr id="27671" name="Oval 23">
            <a:extLst>
              <a:ext uri="{FF2B5EF4-FFF2-40B4-BE49-F238E27FC236}">
                <a16:creationId xmlns:a16="http://schemas.microsoft.com/office/drawing/2014/main" id="{413F6250-9D17-4017-A7F5-3A51C76C4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63" y="5076357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2" name="Text Box 24">
            <a:extLst>
              <a:ext uri="{FF2B5EF4-FFF2-40B4-BE49-F238E27FC236}">
                <a16:creationId xmlns:a16="http://schemas.microsoft.com/office/drawing/2014/main" id="{4F1441AD-D8CE-4EC6-B9A4-44D7ACF8C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4738" y="473822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d</a:t>
            </a:r>
          </a:p>
        </p:txBody>
      </p:sp>
      <p:sp>
        <p:nvSpPr>
          <p:cNvPr id="27673" name="Text Box 25">
            <a:extLst>
              <a:ext uri="{FF2B5EF4-FFF2-40B4-BE49-F238E27FC236}">
                <a16:creationId xmlns:a16="http://schemas.microsoft.com/office/drawing/2014/main" id="{4395BEE9-9A6D-42A0-8E5C-DACB02EBE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583042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</a:p>
        </p:txBody>
      </p:sp>
      <p:sp>
        <p:nvSpPr>
          <p:cNvPr id="27674" name="Text Box 26">
            <a:extLst>
              <a:ext uri="{FF2B5EF4-FFF2-40B4-BE49-F238E27FC236}">
                <a16:creationId xmlns:a16="http://schemas.microsoft.com/office/drawing/2014/main" id="{97C59101-69DA-4036-A50F-136502D48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4311182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7675" name="Text Box 27">
            <a:extLst>
              <a:ext uri="{FF2B5EF4-FFF2-40B4-BE49-F238E27FC236}">
                <a16:creationId xmlns:a16="http://schemas.microsoft.com/office/drawing/2014/main" id="{99704088-EED0-47D2-B6E7-18546DAED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536687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7676" name="Text Box 28">
            <a:extLst>
              <a:ext uri="{FF2B5EF4-FFF2-40B4-BE49-F238E27FC236}">
                <a16:creationId xmlns:a16="http://schemas.microsoft.com/office/drawing/2014/main" id="{1BC97204-73AE-40C4-B8F1-5DD197F75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434610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7677" name="Text Box 29">
            <a:extLst>
              <a:ext uri="{FF2B5EF4-FFF2-40B4-BE49-F238E27FC236}">
                <a16:creationId xmlns:a16="http://schemas.microsoft.com/office/drawing/2014/main" id="{46F338A6-B770-4B7F-A8E3-86F458741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32229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7678" name="Text Box 30">
            <a:extLst>
              <a:ext uri="{FF2B5EF4-FFF2-40B4-BE49-F238E27FC236}">
                <a16:creationId xmlns:a16="http://schemas.microsoft.com/office/drawing/2014/main" id="{131FFD15-89EA-4ACA-825D-EA19D6238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518907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7679" name="Text Box 31">
            <a:extLst>
              <a:ext uri="{FF2B5EF4-FFF2-40B4-BE49-F238E27FC236}">
                <a16:creationId xmlns:a16="http://schemas.microsoft.com/office/drawing/2014/main" id="{6E493271-546F-456D-B0BF-7D5C6E900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975" y="631778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5</a:t>
            </a:r>
          </a:p>
        </p:txBody>
      </p:sp>
      <p:sp>
        <p:nvSpPr>
          <p:cNvPr id="27680" name="Text Box 32">
            <a:extLst>
              <a:ext uri="{FF2B5EF4-FFF2-40B4-BE49-F238E27FC236}">
                <a16:creationId xmlns:a16="http://schemas.microsoft.com/office/drawing/2014/main" id="{A08CAE5B-6501-4647-86B1-935F4BD15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21288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4</a:t>
            </a:r>
          </a:p>
        </p:txBody>
      </p:sp>
      <p:sp>
        <p:nvSpPr>
          <p:cNvPr id="27681" name="Text Box 33">
            <a:extLst>
              <a:ext uri="{FF2B5EF4-FFF2-40B4-BE49-F238E27FC236}">
                <a16:creationId xmlns:a16="http://schemas.microsoft.com/office/drawing/2014/main" id="{2B39FD6B-2AA8-4A1C-8FD8-225AD314C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636540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27682" name="Oval 34">
            <a:extLst>
              <a:ext uri="{FF2B5EF4-FFF2-40B4-BE49-F238E27FC236}">
                <a16:creationId xmlns:a16="http://schemas.microsoft.com/office/drawing/2014/main" id="{DE2654AA-B436-46A1-BD52-52E6FC704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138" y="6170145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3" name="Text Box 35">
            <a:extLst>
              <a:ext uri="{FF2B5EF4-FFF2-40B4-BE49-F238E27FC236}">
                <a16:creationId xmlns:a16="http://schemas.microsoft.com/office/drawing/2014/main" id="{63D3C4CE-6F76-4B5C-A71E-AAE9DA11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573675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g</a:t>
            </a:r>
          </a:p>
        </p:txBody>
      </p:sp>
      <p:sp>
        <p:nvSpPr>
          <p:cNvPr id="27684" name="Text Box 36">
            <a:extLst>
              <a:ext uri="{FF2B5EF4-FFF2-40B4-BE49-F238E27FC236}">
                <a16:creationId xmlns:a16="http://schemas.microsoft.com/office/drawing/2014/main" id="{973FAC5D-A9D7-4D20-A984-2D1233B3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650" y="635429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FFCF035-AD6E-4F71-8B43-A67FA1F0B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764" y="520700"/>
            <a:ext cx="8624236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Vector Timestamps</a:t>
            </a:r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A476114B-2500-4B4A-888B-C7F81A624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849438"/>
            <a:ext cx="7858125" cy="3471862"/>
          </a:xfrm>
        </p:spPr>
        <p:txBody>
          <a:bodyPr/>
          <a:lstStyle/>
          <a:p>
            <a:pPr marL="609600" indent="-609600" algn="l"/>
            <a:r>
              <a:rPr lang="en-US" altLang="en-US" dirty="0"/>
              <a:t>Extend logical timestamps into a list of counters, one per process in the system</a:t>
            </a:r>
          </a:p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P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’s clock is a vector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[]</a:t>
            </a:r>
          </a:p>
          <a:p>
            <a:pPr marL="609600" indent="-609600" algn="l"/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= number of events P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has stamped</a:t>
            </a:r>
          </a:p>
          <a:p>
            <a:pPr marL="609600" indent="-609600" algn="l"/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[j] = what P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thinks number of events </a:t>
            </a:r>
            <a:r>
              <a:rPr lang="en-US" altLang="zh-CN" dirty="0" err="1">
                <a:ea typeface="SimSun" panose="02010600030101010101" pitchFamily="2" charset="-122"/>
              </a:rPr>
              <a:t>P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 has stamped (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dirty="0">
                <a:ea typeface="SimSun" panose="02010600030101010101" pitchFamily="2" charset="-122"/>
              </a:rPr>
              <a:t> j)</a:t>
            </a:r>
          </a:p>
          <a:p>
            <a:pPr marL="609600" indent="-609600" algn="l"/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A0F0F1F-E44D-4CBD-BF36-4982BBDB0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00" y="533400"/>
            <a:ext cx="8394700" cy="4572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Vector Timestamps (cont.)</a:t>
            </a:r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ECD41F51-118F-47FA-B6C2-384E7A500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1543050"/>
            <a:ext cx="7669213" cy="61595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Initialization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the vector timestamp for each process is initialized to (0,0,…,0)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en-US" altLang="zh-CN" dirty="0">
              <a:ea typeface="SimSun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Local event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when an event occurs on process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+ 1</a:t>
            </a:r>
          </a:p>
          <a:p>
            <a:pPr lvl="2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e.g., on process 3, (1,2,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,3)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 (1,2,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,3)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Rectangle 3">
            <a:extLst>
              <a:ext uri="{FF2B5EF4-FFF2-40B4-BE49-F238E27FC236}">
                <a16:creationId xmlns:a16="http://schemas.microsoft.com/office/drawing/2014/main" id="{ADC3FA4C-B6C4-4D2D-AB1C-2796548F0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50" y="1311275"/>
            <a:ext cx="8724899" cy="4679950"/>
          </a:xfrm>
        </p:spPr>
        <p:txBody>
          <a:bodyPr/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Message passing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when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 sends a message to </a:t>
            </a:r>
            <a:r>
              <a:rPr lang="en-US" altLang="zh-CN" i="1" dirty="0" err="1">
                <a:ea typeface="SimSun" panose="02010600030101010101" pitchFamily="2" charset="-122"/>
              </a:rPr>
              <a:t>P</a:t>
            </a:r>
            <a:r>
              <a:rPr lang="en-US" altLang="zh-CN" i="1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, the message has timestamp t[]=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[]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when </a:t>
            </a:r>
            <a:r>
              <a:rPr lang="en-US" altLang="zh-CN" i="1" dirty="0" err="1">
                <a:ea typeface="SimSun" panose="02010600030101010101" pitchFamily="2" charset="-122"/>
              </a:rPr>
              <a:t>P</a:t>
            </a:r>
            <a:r>
              <a:rPr lang="en-US" altLang="zh-CN" i="1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 receives the message, it sets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[k] to max (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[k],t[k]), for k = 1, 2, …, N, except its own clock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[j] (its own clock </a:t>
            </a:r>
            <a:r>
              <a:rPr lang="en-US" altLang="zh-CN" dirty="0" err="1">
                <a:ea typeface="SimSun" panose="02010600030101010101" pitchFamily="2" charset="-122"/>
              </a:rPr>
              <a:t>VT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[j] will be increased by 1 because this message receiving is a new event for </a:t>
            </a:r>
            <a:r>
              <a:rPr lang="en-US" altLang="zh-CN" i="1" dirty="0" err="1">
                <a:ea typeface="SimSun" panose="02010600030101010101" pitchFamily="2" charset="-122"/>
              </a:rPr>
              <a:t>P</a:t>
            </a:r>
            <a:r>
              <a:rPr lang="en-US" altLang="zh-CN" i="1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</a:p>
          <a:p>
            <a:pPr lvl="2">
              <a:lnSpc>
                <a:spcPct val="90000"/>
              </a:lnSpc>
              <a:spcBef>
                <a:spcPts val="600"/>
              </a:spcBef>
            </a:pPr>
            <a:r>
              <a:rPr lang="en-US" altLang="zh-CN" dirty="0">
                <a:ea typeface="SimSun" panose="02010600030101010101" pitchFamily="2" charset="-122"/>
              </a:rPr>
              <a:t>e.g.,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 receives a message with timestamp (3,2,4) and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’s timestamp is (3,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3</a:t>
            </a:r>
            <a:r>
              <a:rPr lang="en-US" altLang="zh-CN" dirty="0">
                <a:ea typeface="SimSun" panose="02010600030101010101" pitchFamily="2" charset="-122"/>
              </a:rPr>
              <a:t>,3), then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 adjusts its timestamp to (3,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4</a:t>
            </a:r>
            <a:r>
              <a:rPr lang="en-US" altLang="zh-CN" dirty="0">
                <a:ea typeface="SimSun" panose="02010600030101010101" pitchFamily="2" charset="-122"/>
              </a:rPr>
              <a:t>,4). Here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2</a:t>
            </a:r>
            <a:r>
              <a:rPr lang="en-US" altLang="zh-CN" i="1" dirty="0">
                <a:ea typeface="SimSun" panose="02010600030101010101" pitchFamily="2" charset="-122"/>
              </a:rPr>
              <a:t>’</a:t>
            </a:r>
            <a:r>
              <a:rPr lang="en-US" altLang="zh-CN" dirty="0">
                <a:ea typeface="SimSun" panose="02010600030101010101" pitchFamily="2" charset="-122"/>
              </a:rPr>
              <a:t>s own clock is increased from 3 to 4, because for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, this is a new event. 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D19CCD00-01E0-4DAB-AC9B-92D539613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130" y="0"/>
            <a:ext cx="8941869" cy="1143000"/>
          </a:xfrm>
          <a:noFill/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Vector Timestamps (cont.)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C18DD14-7548-4B2B-9098-381762F24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514" y="0"/>
            <a:ext cx="8643486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Comparing Vectors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E575822-6642-4ECE-AA93-D03FDD549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4000" y="1482090"/>
            <a:ext cx="7858125" cy="5010150"/>
          </a:xfrm>
        </p:spPr>
        <p:txBody>
          <a:bodyPr/>
          <a:lstStyle/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= VT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ea typeface="SimSun" panose="02010600030101010101" pitchFamily="2" charset="-122"/>
              </a:rPr>
              <a:t>iff</a:t>
            </a:r>
            <a:r>
              <a:rPr lang="en-US" altLang="zh-CN" dirty="0">
                <a:ea typeface="SimSun" panose="02010600030101010101" pitchFamily="2" charset="-122"/>
              </a:rPr>
              <a:t> 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= VT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for all 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endParaRPr lang="en-US" altLang="zh-CN" dirty="0">
              <a:ea typeface="SimSun" panose="02010600030101010101" pitchFamily="2" charset="-122"/>
            </a:endParaRPr>
          </a:p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2 </a:t>
            </a:r>
            <a:r>
              <a:rPr lang="en-US" altLang="zh-CN" dirty="0" err="1">
                <a:ea typeface="SimSun" panose="02010600030101010101" pitchFamily="2" charset="-122"/>
                <a:sym typeface="Symbol" panose="05050102010706020507" pitchFamily="18" charset="2"/>
              </a:rPr>
              <a:t>iff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dirty="0">
                <a:ea typeface="SimSun" panose="02010600030101010101" pitchFamily="2" charset="-122"/>
              </a:rPr>
              <a:t> VT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[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] for all </a:t>
            </a:r>
            <a:r>
              <a:rPr lang="en-US" altLang="zh-CN" dirty="0" err="1">
                <a:ea typeface="SimSun" panose="02010600030101010101" pitchFamily="2" charset="-122"/>
              </a:rPr>
              <a:t>i</a:t>
            </a:r>
            <a:endParaRPr lang="en-US" altLang="zh-CN" dirty="0">
              <a:ea typeface="SimSun" panose="02010600030101010101" pitchFamily="2" charset="-122"/>
            </a:endParaRPr>
          </a:p>
          <a:p>
            <a:pPr marL="609600" indent="-609600" algn="l"/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&lt; VT</a:t>
            </a:r>
            <a:r>
              <a:rPr lang="en-US" altLang="zh-CN" baseline="-25000" dirty="0">
                <a:ea typeface="SimSun" panose="02010600030101010101" pitchFamily="2" charset="-122"/>
              </a:rPr>
              <a:t>2 </a:t>
            </a:r>
            <a:r>
              <a:rPr lang="en-US" altLang="zh-CN" dirty="0" err="1">
                <a:ea typeface="SimSun" panose="02010600030101010101" pitchFamily="2" charset="-122"/>
              </a:rPr>
              <a:t>iff</a:t>
            </a:r>
            <a:r>
              <a:rPr lang="en-US" altLang="zh-CN" dirty="0">
                <a:ea typeface="SimSun" panose="02010600030101010101" pitchFamily="2" charset="-122"/>
              </a:rPr>
              <a:t> 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dirty="0">
                <a:ea typeface="SimSun" panose="02010600030101010101" pitchFamily="2" charset="-122"/>
              </a:rPr>
              <a:t> VT</a:t>
            </a:r>
            <a:r>
              <a:rPr lang="en-US" altLang="zh-CN" baseline="-25000" dirty="0">
                <a:ea typeface="SimSun" panose="02010600030101010101" pitchFamily="2" charset="-122"/>
              </a:rPr>
              <a:t>2 </a:t>
            </a:r>
            <a:r>
              <a:rPr lang="en-US" altLang="zh-CN" dirty="0">
                <a:ea typeface="SimSun" panose="02010600030101010101" pitchFamily="2" charset="-122"/>
              </a:rPr>
              <a:t>&amp; VT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dirty="0">
                <a:ea typeface="SimSun" panose="02010600030101010101" pitchFamily="2" charset="-122"/>
              </a:rPr>
              <a:t>VT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</a:p>
          <a:p>
            <a:pPr marL="990600" lvl="1" indent="-533400"/>
            <a:r>
              <a:rPr lang="en-US" altLang="zh-CN" dirty="0">
                <a:ea typeface="SimSun" panose="02010600030101010101" pitchFamily="2" charset="-122"/>
              </a:rPr>
              <a:t>for instance, (1, 2, 2) &lt; (1, 3, 2)</a:t>
            </a:r>
          </a:p>
          <a:p>
            <a:pPr marL="457200" lvl="1" indent="0">
              <a:buNone/>
            </a:pPr>
            <a:endParaRPr lang="en-US" altLang="zh-CN" dirty="0">
              <a:ea typeface="SimSun" panose="02010600030101010101" pitchFamily="2" charset="-122"/>
            </a:endParaRPr>
          </a:p>
          <a:p>
            <a:pPr marL="590550" indent="-533400" algn="l"/>
            <a:r>
              <a:rPr lang="en-US" altLang="zh-CN" dirty="0">
                <a:ea typeface="SimSun" panose="02010600030101010101" pitchFamily="2" charset="-122"/>
              </a:rPr>
              <a:t>Notice that not all VT’s are “comparable” under this rule: consider [4,0,0] and [0,0,4]</a:t>
            </a:r>
          </a:p>
          <a:p>
            <a:pPr marL="990600" lvl="1" indent="-533400"/>
            <a:r>
              <a:rPr lang="en-US" altLang="zh-CN" dirty="0">
                <a:ea typeface="SimSun" panose="02010600030101010101" pitchFamily="2" charset="-122"/>
              </a:rPr>
              <a:t>If VT’s are not comparable, the corresponding events are concurrent</a:t>
            </a:r>
          </a:p>
          <a:p>
            <a:pPr marL="990600" lvl="1" indent="-533400"/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E93C8FF-5ED3-4FC9-A086-BDCB1E364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512" y="0"/>
            <a:ext cx="8720488" cy="1143000"/>
          </a:xfrm>
        </p:spPr>
        <p:txBody>
          <a:bodyPr/>
          <a:lstStyle/>
          <a:p>
            <a:pPr algn="l"/>
            <a:r>
              <a:rPr lang="en-US" altLang="zh-CN" sz="4000" dirty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Vector Timestamp Analysis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724C2E2-C916-434A-857A-9F9CE84BF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056041"/>
            <a:ext cx="7858125" cy="685446"/>
          </a:xfrm>
        </p:spPr>
        <p:txBody>
          <a:bodyPr/>
          <a:lstStyle/>
          <a:p>
            <a:pPr marL="609600" indent="-609600" algn="l"/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Claim: </a:t>
            </a:r>
            <a:r>
              <a:rPr lang="en-US" altLang="zh-CN" dirty="0">
                <a:ea typeface="SimSun" panose="02010600030101010101" pitchFamily="2" charset="-122"/>
              </a:rPr>
              <a:t>e &lt; e’ </a:t>
            </a:r>
            <a:r>
              <a:rPr lang="en-US" altLang="zh-CN" b="1" dirty="0" err="1">
                <a:ea typeface="SimSun" panose="02010600030101010101" pitchFamily="2" charset="-122"/>
              </a:rPr>
              <a:t>iff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ea typeface="SimSun" panose="02010600030101010101" pitchFamily="2" charset="-122"/>
              </a:rPr>
              <a:t>e.VT</a:t>
            </a:r>
            <a:r>
              <a:rPr lang="en-US" altLang="zh-CN" dirty="0">
                <a:ea typeface="SimSun" panose="02010600030101010101" pitchFamily="2" charset="-122"/>
              </a:rPr>
              <a:t> &lt; </a:t>
            </a:r>
            <a:r>
              <a:rPr lang="en-US" altLang="zh-CN" dirty="0" err="1">
                <a:ea typeface="SimSun" panose="02010600030101010101" pitchFamily="2" charset="-122"/>
              </a:rPr>
              <a:t>e’.VT</a:t>
            </a:r>
            <a:endParaRPr lang="en-US" altLang="zh-CN" dirty="0">
              <a:ea typeface="SimSun" panose="02010600030101010101" pitchFamily="2" charset="-122"/>
            </a:endParaRPr>
          </a:p>
          <a:p>
            <a:pPr marL="609600" indent="-609600" algn="l"/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36868" name="Line 4">
            <a:extLst>
              <a:ext uri="{FF2B5EF4-FFF2-40B4-BE49-F238E27FC236}">
                <a16:creationId xmlns:a16="http://schemas.microsoft.com/office/drawing/2014/main" id="{81DCC7DF-25EB-427C-A39D-C3E09036A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9850" y="2296829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Line 5">
            <a:extLst>
              <a:ext uri="{FF2B5EF4-FFF2-40B4-BE49-F238E27FC236}">
                <a16:creationId xmlns:a16="http://schemas.microsoft.com/office/drawing/2014/main" id="{E58F702C-6CBA-48B7-877D-857A18340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9850" y="3269967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6">
            <a:extLst>
              <a:ext uri="{FF2B5EF4-FFF2-40B4-BE49-F238E27FC236}">
                <a16:creationId xmlns:a16="http://schemas.microsoft.com/office/drawing/2014/main" id="{442176A0-21DA-4DD2-8211-4C875F035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9850" y="4338354"/>
            <a:ext cx="63547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C946F727-9CA8-43DF-9F2B-6AF186867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992029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B9844706-3311-4848-815F-2559D04BB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025492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6A091538-7985-424D-A830-019DFCC83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070067"/>
            <a:ext cx="47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P</a:t>
            </a:r>
            <a:r>
              <a:rPr lang="en-US" altLang="zh-CN" b="1" baseline="-25000"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EBA6EA67-479E-45CE-B601-B5367B457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2036479"/>
            <a:ext cx="19589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7DA38303-34FB-4798-8549-CA6E00754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1419" y="1645954"/>
            <a:ext cx="857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Time</a:t>
            </a:r>
          </a:p>
        </p:txBody>
      </p:sp>
      <p:sp>
        <p:nvSpPr>
          <p:cNvPr id="36876" name="Oval 12">
            <a:extLst>
              <a:ext uri="{FF2B5EF4-FFF2-40B4-BE49-F238E27FC236}">
                <a16:creationId xmlns:a16="http://schemas.microsoft.com/office/drawing/2014/main" id="{D147682E-FB6C-463F-8F72-D41AE60F4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2130142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7" name="Oval 13">
            <a:extLst>
              <a:ext uri="{FF2B5EF4-FFF2-40B4-BE49-F238E27FC236}">
                <a16:creationId xmlns:a16="http://schemas.microsoft.com/office/drawing/2014/main" id="{F8A53305-46E6-4368-8228-CB4063A7D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2141254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8" name="Oval 14">
            <a:extLst>
              <a:ext uri="{FF2B5EF4-FFF2-40B4-BE49-F238E27FC236}">
                <a16:creationId xmlns:a16="http://schemas.microsoft.com/office/drawing/2014/main" id="{2080C149-50AA-49E1-B6C8-3990D1F69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4208179"/>
            <a:ext cx="296863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9" name="Oval 15">
            <a:extLst>
              <a:ext uri="{FF2B5EF4-FFF2-40B4-BE49-F238E27FC236}">
                <a16:creationId xmlns:a16="http://schemas.microsoft.com/office/drawing/2014/main" id="{F4B3504B-A74D-45E9-83EB-2971D810C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3079467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0" name="Oval 16">
            <a:extLst>
              <a:ext uri="{FF2B5EF4-FFF2-40B4-BE49-F238E27FC236}">
                <a16:creationId xmlns:a16="http://schemas.microsoft.com/office/drawing/2014/main" id="{E6809122-5D04-4FA4-B841-5482409EF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213" y="4184367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1" name="Line 17">
            <a:extLst>
              <a:ext uri="{FF2B5EF4-FFF2-40B4-BE49-F238E27FC236}">
                <a16:creationId xmlns:a16="http://schemas.microsoft.com/office/drawing/2014/main" id="{CA6C2817-1151-4E4C-A0A5-7461E5D24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439704"/>
            <a:ext cx="927100" cy="6651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2" name="Line 18">
            <a:extLst>
              <a:ext uri="{FF2B5EF4-FFF2-40B4-BE49-F238E27FC236}">
                <a16:creationId xmlns:a16="http://schemas.microsoft.com/office/drawing/2014/main" id="{3655F48B-DE9C-4B37-9AC0-8C04BDE7D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950" y="3425542"/>
            <a:ext cx="701675" cy="7969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Text Box 19">
            <a:extLst>
              <a:ext uri="{FF2B5EF4-FFF2-40B4-BE49-F238E27FC236}">
                <a16:creationId xmlns:a16="http://schemas.microsoft.com/office/drawing/2014/main" id="{D4B1931B-DDFF-4E6E-ADEF-0B26C3C60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1731679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a</a:t>
            </a:r>
          </a:p>
        </p:txBody>
      </p:sp>
      <p:sp>
        <p:nvSpPr>
          <p:cNvPr id="36884" name="Text Box 20">
            <a:extLst>
              <a:ext uri="{FF2B5EF4-FFF2-40B4-BE49-F238E27FC236}">
                <a16:creationId xmlns:a16="http://schemas.microsoft.com/office/drawing/2014/main" id="{D0CEDE48-78E1-4BBF-8289-1C7B15E83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513" y="1718979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b</a:t>
            </a:r>
          </a:p>
        </p:txBody>
      </p:sp>
      <p:sp>
        <p:nvSpPr>
          <p:cNvPr id="36885" name="Text Box 21">
            <a:extLst>
              <a:ext uri="{FF2B5EF4-FFF2-40B4-BE49-F238E27FC236}">
                <a16:creationId xmlns:a16="http://schemas.microsoft.com/office/drawing/2014/main" id="{FB7857D6-1377-4880-9BD9-1D88785B2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2681004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c</a:t>
            </a:r>
          </a:p>
        </p:txBody>
      </p:sp>
      <p:sp>
        <p:nvSpPr>
          <p:cNvPr id="36886" name="Text Box 22">
            <a:extLst>
              <a:ext uri="{FF2B5EF4-FFF2-40B4-BE49-F238E27FC236}">
                <a16:creationId xmlns:a16="http://schemas.microsoft.com/office/drawing/2014/main" id="{8B206081-2401-440F-BF5D-5B57B585B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762092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f</a:t>
            </a:r>
          </a:p>
        </p:txBody>
      </p:sp>
      <p:sp>
        <p:nvSpPr>
          <p:cNvPr id="36887" name="Oval 23">
            <a:extLst>
              <a:ext uri="{FF2B5EF4-FFF2-40B4-BE49-F238E27FC236}">
                <a16:creationId xmlns:a16="http://schemas.microsoft.com/office/drawing/2014/main" id="{40C568CC-4F0B-4AC6-BF9B-332D8D2DF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3114392"/>
            <a:ext cx="296862" cy="3095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8" name="Text Box 24">
            <a:extLst>
              <a:ext uri="{FF2B5EF4-FFF2-40B4-BE49-F238E27FC236}">
                <a16:creationId xmlns:a16="http://schemas.microsoft.com/office/drawing/2014/main" id="{9A2987B7-16BD-47A0-874E-E0D7C00C3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277625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d</a:t>
            </a:r>
          </a:p>
        </p:txBody>
      </p:sp>
      <p:sp>
        <p:nvSpPr>
          <p:cNvPr id="36889" name="Text Box 25">
            <a:extLst>
              <a:ext uri="{FF2B5EF4-FFF2-40B4-BE49-F238E27FC236}">
                <a16:creationId xmlns:a16="http://schemas.microsoft.com/office/drawing/2014/main" id="{48E0E895-871A-4C69-B4ED-62ECC73E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3868454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e</a:t>
            </a:r>
          </a:p>
        </p:txBody>
      </p:sp>
      <p:sp>
        <p:nvSpPr>
          <p:cNvPr id="36890" name="Text Box 26">
            <a:extLst>
              <a:ext uri="{FF2B5EF4-FFF2-40B4-BE49-F238E27FC236}">
                <a16:creationId xmlns:a16="http://schemas.microsoft.com/office/drawing/2014/main" id="{2A088B33-9AD2-4A60-A28E-B02FDD5FD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2349217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36891" name="Text Box 27">
            <a:extLst>
              <a:ext uri="{FF2B5EF4-FFF2-40B4-BE49-F238E27FC236}">
                <a16:creationId xmlns:a16="http://schemas.microsoft.com/office/drawing/2014/main" id="{357A96BD-E388-4D65-AAE8-8989F573D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5" y="3404904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r>
              <a:rPr lang="en-US" altLang="zh-CN" b="1" baseline="-25000">
                <a:solidFill>
                  <a:srgbClr val="FF0000"/>
                </a:solidFill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355356" name="Text Box 28">
            <a:extLst>
              <a:ext uri="{FF2B5EF4-FFF2-40B4-BE49-F238E27FC236}">
                <a16:creationId xmlns:a16="http://schemas.microsoft.com/office/drawing/2014/main" id="{4D681C57-079E-4AC2-97BE-0FFC2F827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2384142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[1,0,0]</a:t>
            </a:r>
          </a:p>
        </p:txBody>
      </p:sp>
      <p:sp>
        <p:nvSpPr>
          <p:cNvPr id="355357" name="Text Box 29">
            <a:extLst>
              <a:ext uri="{FF2B5EF4-FFF2-40B4-BE49-F238E27FC236}">
                <a16:creationId xmlns:a16="http://schemas.microsoft.com/office/drawing/2014/main" id="{29BA0693-5ACC-4328-91DA-1CE6315D7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1768192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[2,0,0]</a:t>
            </a:r>
          </a:p>
        </p:txBody>
      </p:sp>
      <p:sp>
        <p:nvSpPr>
          <p:cNvPr id="355358" name="Text Box 30">
            <a:extLst>
              <a:ext uri="{FF2B5EF4-FFF2-40B4-BE49-F238E27FC236}">
                <a16:creationId xmlns:a16="http://schemas.microsoft.com/office/drawing/2014/main" id="{B1AA34D5-29A5-4632-81E8-206802AF7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274729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[2,1,0]</a:t>
            </a:r>
          </a:p>
        </p:txBody>
      </p:sp>
      <p:sp>
        <p:nvSpPr>
          <p:cNvPr id="355359" name="Text Box 31">
            <a:extLst>
              <a:ext uri="{FF2B5EF4-FFF2-40B4-BE49-F238E27FC236}">
                <a16:creationId xmlns:a16="http://schemas.microsoft.com/office/drawing/2014/main" id="{16E9B671-0E07-4D08-AAE6-3CE8899BA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3820829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[2,2,3]</a:t>
            </a:r>
          </a:p>
        </p:txBody>
      </p:sp>
      <p:sp>
        <p:nvSpPr>
          <p:cNvPr id="355360" name="Text Box 32">
            <a:extLst>
              <a:ext uri="{FF2B5EF4-FFF2-40B4-BE49-F238E27FC236}">
                <a16:creationId xmlns:a16="http://schemas.microsoft.com/office/drawing/2014/main" id="{68962A6B-6F61-466B-A8CF-A9132DE9D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2776254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[2,2,0]</a:t>
            </a:r>
          </a:p>
        </p:txBody>
      </p:sp>
      <p:sp>
        <p:nvSpPr>
          <p:cNvPr id="355361" name="Text Box 33">
            <a:extLst>
              <a:ext uri="{FF2B5EF4-FFF2-40B4-BE49-F238E27FC236}">
                <a16:creationId xmlns:a16="http://schemas.microsoft.com/office/drawing/2014/main" id="{C68EF8F9-3791-4423-840B-6553A7C7D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4403442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[0,0,1]</a:t>
            </a:r>
          </a:p>
        </p:txBody>
      </p:sp>
      <p:sp>
        <p:nvSpPr>
          <p:cNvPr id="36898" name="Oval 34">
            <a:extLst>
              <a:ext uri="{FF2B5EF4-FFF2-40B4-BE49-F238E27FC236}">
                <a16:creationId xmlns:a16="http://schemas.microsoft.com/office/drawing/2014/main" id="{F66709D2-6333-486F-93A6-B71F1CD3D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938" y="4208179"/>
            <a:ext cx="296862" cy="3095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99" name="Text Box 35">
            <a:extLst>
              <a:ext uri="{FF2B5EF4-FFF2-40B4-BE49-F238E27FC236}">
                <a16:creationId xmlns:a16="http://schemas.microsoft.com/office/drawing/2014/main" id="{11AE25DA-2806-4E55-9046-EC0837269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377479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ea typeface="SimSun" panose="02010600030101010101" pitchFamily="2" charset="-122"/>
              </a:rPr>
              <a:t>g</a:t>
            </a:r>
          </a:p>
        </p:txBody>
      </p:sp>
      <p:sp>
        <p:nvSpPr>
          <p:cNvPr id="355364" name="Text Box 36">
            <a:extLst>
              <a:ext uri="{FF2B5EF4-FFF2-40B4-BE49-F238E27FC236}">
                <a16:creationId xmlns:a16="http://schemas.microsoft.com/office/drawing/2014/main" id="{2B6BFADA-3F5D-4891-8C6D-15B191349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4381217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b="1">
                <a:ea typeface="SimSun" panose="02010600030101010101" pitchFamily="2" charset="-122"/>
              </a:rPr>
              <a:t>[0,0,2]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ACB77-ADFE-43FA-A558-FF823E275697}"/>
              </a:ext>
            </a:extLst>
          </p:cNvPr>
          <p:cNvSpPr txBox="1"/>
          <p:nvPr/>
        </p:nvSpPr>
        <p:spPr>
          <a:xfrm>
            <a:off x="894255" y="5181134"/>
            <a:ext cx="76094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events a and f: [1,0,0] &lt; [2,2,3], so a&lt;f.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events c and g: [2,1,0] is not larger nor smaller than [0,0,2], so we can say c and g are concurrent.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5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5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57" grpId="0"/>
      <p:bldP spid="355358" grpId="0"/>
      <p:bldP spid="355359" grpId="0"/>
      <p:bldP spid="355360" grpId="0"/>
      <p:bldP spid="355361" grpId="0"/>
      <p:bldP spid="35536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</TotalTime>
  <Words>2046</Words>
  <Application>Microsoft Office PowerPoint</Application>
  <PresentationFormat>On-screen Show (4:3)</PresentationFormat>
  <Paragraphs>283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Comic Sans MS</vt:lpstr>
      <vt:lpstr>Helvetica</vt:lpstr>
      <vt:lpstr>Symbol</vt:lpstr>
      <vt:lpstr>Times New Roman</vt:lpstr>
      <vt:lpstr>Wingdings</vt:lpstr>
      <vt:lpstr>Office Theme</vt:lpstr>
      <vt:lpstr>Tannenbaum</vt:lpstr>
      <vt:lpstr>Clock Synchronization  and Logical Clocks</vt:lpstr>
      <vt:lpstr>Lack of Global Time in Distributed Systems</vt:lpstr>
      <vt:lpstr>UNIX Make</vt:lpstr>
      <vt:lpstr>PowerPoint Presentation</vt:lpstr>
      <vt:lpstr>Physical Clocks</vt:lpstr>
      <vt:lpstr>Physical Clock Synchronization</vt:lpstr>
      <vt:lpstr>Clock Synchronization Algorithms</vt:lpstr>
      <vt:lpstr>Cristian’s Algorithm – External Synch</vt:lpstr>
      <vt:lpstr>Cristian's Algorithm</vt:lpstr>
      <vt:lpstr>Cristian’s algorithm</vt:lpstr>
      <vt:lpstr>The Berkeley algorithm</vt:lpstr>
      <vt:lpstr>The Berkeley Algorithm</vt:lpstr>
      <vt:lpstr>Averaging Algorithms</vt:lpstr>
      <vt:lpstr>Averaging Algorithms</vt:lpstr>
      <vt:lpstr>The Network Time Protocol (NTP)</vt:lpstr>
      <vt:lpstr>PowerPoint Presentation</vt:lpstr>
      <vt:lpstr>Real synchronization is imperfect</vt:lpstr>
      <vt:lpstr>PowerPoint Presentation</vt:lpstr>
      <vt:lpstr>Logical Clocks</vt:lpstr>
      <vt:lpstr>Logical Clocks (Cont.)</vt:lpstr>
      <vt:lpstr>Lamport Algorithm</vt:lpstr>
      <vt:lpstr>Lamport’s “Happens-Before” Partial Order</vt:lpstr>
      <vt:lpstr>Concurrent Events</vt:lpstr>
      <vt:lpstr>Lamport Logical Clocks</vt:lpstr>
      <vt:lpstr>Lamport Algorithm</vt:lpstr>
      <vt:lpstr>Lamport Algorithm (cont.)</vt:lpstr>
      <vt:lpstr>Lamport’s  Algorithm Analysis (1)</vt:lpstr>
      <vt:lpstr>Lamport’s Algorithm Analysis (2)</vt:lpstr>
      <vt:lpstr>Vector Timestamps</vt:lpstr>
      <vt:lpstr>Vector Timestamps (cont.)</vt:lpstr>
      <vt:lpstr>Vector Timestamps (cont.)</vt:lpstr>
      <vt:lpstr>Comparing Vectors</vt:lpstr>
      <vt:lpstr>Vector Timestamp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Clock Synchronization  and Logical Clock</dc:title>
  <dc:creator>Xiang Cao</dc:creator>
  <cp:lastModifiedBy>Xiang Cao</cp:lastModifiedBy>
  <cp:revision>99</cp:revision>
  <dcterms:created xsi:type="dcterms:W3CDTF">2019-11-07T03:08:27Z</dcterms:created>
  <dcterms:modified xsi:type="dcterms:W3CDTF">2021-11-29T01:56:08Z</dcterms:modified>
</cp:coreProperties>
</file>