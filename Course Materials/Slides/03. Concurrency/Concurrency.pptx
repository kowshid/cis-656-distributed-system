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7"/>
  </p:notesMasterIdLst>
  <p:sldIdLst>
    <p:sldId id="256" r:id="rId2"/>
    <p:sldId id="259" r:id="rId3"/>
    <p:sldId id="521" r:id="rId4"/>
    <p:sldId id="258" r:id="rId5"/>
    <p:sldId id="260" r:id="rId6"/>
    <p:sldId id="263" r:id="rId7"/>
    <p:sldId id="266" r:id="rId8"/>
    <p:sldId id="267" r:id="rId9"/>
    <p:sldId id="268" r:id="rId10"/>
    <p:sldId id="282" r:id="rId11"/>
    <p:sldId id="283" r:id="rId12"/>
    <p:sldId id="284" r:id="rId13"/>
    <p:sldId id="285" r:id="rId14"/>
    <p:sldId id="269" r:id="rId15"/>
    <p:sldId id="520" r:id="rId16"/>
    <p:sldId id="273" r:id="rId17"/>
    <p:sldId id="274" r:id="rId18"/>
    <p:sldId id="275" r:id="rId19"/>
    <p:sldId id="276" r:id="rId20"/>
    <p:sldId id="497" r:id="rId21"/>
    <p:sldId id="498" r:id="rId22"/>
    <p:sldId id="499" r:id="rId23"/>
    <p:sldId id="500" r:id="rId24"/>
    <p:sldId id="501" r:id="rId25"/>
    <p:sldId id="502" r:id="rId26"/>
    <p:sldId id="315" r:id="rId27"/>
    <p:sldId id="279" r:id="rId28"/>
    <p:sldId id="522" r:id="rId29"/>
    <p:sldId id="503" r:id="rId30"/>
    <p:sldId id="509" r:id="rId31"/>
    <p:sldId id="316" r:id="rId32"/>
    <p:sldId id="504" r:id="rId33"/>
    <p:sldId id="505" r:id="rId34"/>
    <p:sldId id="281" r:id="rId35"/>
    <p:sldId id="506" r:id="rId36"/>
    <p:sldId id="280" r:id="rId37"/>
    <p:sldId id="507" r:id="rId38"/>
    <p:sldId id="508" r:id="rId39"/>
    <p:sldId id="304" r:id="rId40"/>
    <p:sldId id="510" r:id="rId41"/>
    <p:sldId id="523" r:id="rId42"/>
    <p:sldId id="512" r:id="rId43"/>
    <p:sldId id="517" r:id="rId44"/>
    <p:sldId id="516" r:id="rId45"/>
    <p:sldId id="519" r:id="rId4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041" autoAdjust="0"/>
    <p:restoredTop sz="85161" autoAdjust="0"/>
  </p:normalViewPr>
  <p:slideViewPr>
    <p:cSldViewPr snapToGrid="0">
      <p:cViewPr varScale="1">
        <p:scale>
          <a:sx n="90" d="100"/>
          <a:sy n="90" d="100"/>
        </p:scale>
        <p:origin x="234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04477A0-E5FE-45AA-B380-86FF225CF99B}" type="datetimeFigureOut">
              <a:rPr lang="en-US" smtClean="0"/>
              <a:t>9/17/25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EE6D62-2016-406F-A757-017A72DC3EC2}" type="slidenum">
              <a:rPr lang="en-US" smtClean="0"/>
              <a:t>‹#›</a:t>
            </a:fld>
            <a:endParaRPr lang="en-US"/>
          </a:p>
        </p:txBody>
      </p:sp>
    </p:spTree>
    <p:extLst>
      <p:ext uri="{BB962C8B-B14F-4D97-AF65-F5344CB8AC3E}">
        <p14:creationId xmlns:p14="http://schemas.microsoft.com/office/powerpoint/2010/main" val="32031571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core vs. multi-core: the difference </a:t>
            </a:r>
          </a:p>
        </p:txBody>
      </p:sp>
      <p:sp>
        <p:nvSpPr>
          <p:cNvPr id="4" name="Slide Number Placeholder 3"/>
          <p:cNvSpPr>
            <a:spLocks noGrp="1"/>
          </p:cNvSpPr>
          <p:nvPr>
            <p:ph type="sldNum" sz="quarter" idx="5"/>
          </p:nvPr>
        </p:nvSpPr>
        <p:spPr/>
        <p:txBody>
          <a:bodyPr/>
          <a:lstStyle/>
          <a:p>
            <a:fld id="{41EE6D62-2016-406F-A757-017A72DC3EC2}" type="slidenum">
              <a:rPr lang="en-US" smtClean="0"/>
              <a:t>15</a:t>
            </a:fld>
            <a:endParaRPr lang="en-US"/>
          </a:p>
        </p:txBody>
      </p:sp>
    </p:spTree>
    <p:extLst>
      <p:ext uri="{BB962C8B-B14F-4D97-AF65-F5344CB8AC3E}">
        <p14:creationId xmlns:p14="http://schemas.microsoft.com/office/powerpoint/2010/main" val="3357423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a:extLst>
              <a:ext uri="{FF2B5EF4-FFF2-40B4-BE49-F238E27FC236}">
                <a16:creationId xmlns:a16="http://schemas.microsoft.com/office/drawing/2014/main" id="{2161EE54-8626-4182-9FA6-86A76430515A}"/>
              </a:ext>
            </a:extLst>
          </p:cNvPr>
          <p:cNvSpPr>
            <a:spLocks noGrp="1" noRot="1" noChangeAspect="1" noChangeArrowheads="1" noTextEdit="1"/>
          </p:cNvSpPr>
          <p:nvPr>
            <p:ph type="sldImg"/>
          </p:nvPr>
        </p:nvSpPr>
        <p:spPr bwMode="auto">
          <a:xfrm>
            <a:off x="1144588" y="685800"/>
            <a:ext cx="4572000" cy="3429000"/>
          </a:xfrm>
          <a:prstGeom prst="rect">
            <a:avLst/>
          </a:prstGeom>
          <a:solidFill>
            <a:srgbClr val="FFFFFF"/>
          </a:solidFill>
          <a:ln>
            <a:solidFill>
              <a:srgbClr val="000000"/>
            </a:solidFill>
            <a:miter lim="800000"/>
            <a:headEnd/>
            <a:tailEnd/>
          </a:ln>
        </p:spPr>
      </p:sp>
      <p:sp>
        <p:nvSpPr>
          <p:cNvPr id="90115" name="Rectangle 3">
            <a:extLst>
              <a:ext uri="{FF2B5EF4-FFF2-40B4-BE49-F238E27FC236}">
                <a16:creationId xmlns:a16="http://schemas.microsoft.com/office/drawing/2014/main" id="{9B10E354-3DA7-4F75-BC55-734AB1304FB7}"/>
              </a:ext>
            </a:extLst>
          </p:cNvPr>
          <p:cNvSpPr>
            <a:spLocks noGrp="1" noChangeArrowheads="1"/>
          </p:cNvSpPr>
          <p:nvPr>
            <p:ph type="body" idx="1"/>
          </p:nvPr>
        </p:nvSpPr>
        <p:spPr bwMode="auto">
          <a:xfrm>
            <a:off x="915988" y="4343400"/>
            <a:ext cx="5026025" cy="4114800"/>
          </a:xfrm>
          <a:prstGeom prst="rect">
            <a:avLst/>
          </a:prstGeom>
          <a:solidFill>
            <a:srgbClr val="FFFFFF"/>
          </a:solidFill>
          <a:ln>
            <a:solidFill>
              <a:srgbClr val="000000"/>
            </a:solidFill>
            <a:miter lim="800000"/>
            <a:headEnd/>
            <a:tailEnd/>
          </a:ln>
        </p:spPr>
        <p:txBody>
          <a:bodyPr lIns="86493" tIns="43247" rIns="86493" bIns="43247"/>
          <a:lstStyle/>
          <a:p>
            <a:endParaRPr lang="en-US" altLang="en-US">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a:extLst>
              <a:ext uri="{FF2B5EF4-FFF2-40B4-BE49-F238E27FC236}">
                <a16:creationId xmlns:a16="http://schemas.microsoft.com/office/drawing/2014/main" id="{754642CA-FB85-4C58-B5CF-377334675659}"/>
              </a:ext>
            </a:extLst>
          </p:cNvPr>
          <p:cNvSpPr>
            <a:spLocks noGrp="1" noRot="1" noChangeAspect="1" noChangeArrowheads="1" noTextEdit="1"/>
          </p:cNvSpPr>
          <p:nvPr>
            <p:ph type="sldImg"/>
          </p:nvPr>
        </p:nvSpPr>
        <p:spPr bwMode="auto">
          <a:xfrm>
            <a:off x="1144588" y="685800"/>
            <a:ext cx="4572000" cy="3429000"/>
          </a:xfrm>
          <a:prstGeom prst="rect">
            <a:avLst/>
          </a:prstGeom>
          <a:solidFill>
            <a:srgbClr val="FFFFFF"/>
          </a:solidFill>
          <a:ln>
            <a:solidFill>
              <a:srgbClr val="000000"/>
            </a:solidFill>
            <a:miter lim="800000"/>
            <a:headEnd/>
            <a:tailEnd/>
          </a:ln>
        </p:spPr>
      </p:sp>
      <p:sp>
        <p:nvSpPr>
          <p:cNvPr id="92163" name="Rectangle 3">
            <a:extLst>
              <a:ext uri="{FF2B5EF4-FFF2-40B4-BE49-F238E27FC236}">
                <a16:creationId xmlns:a16="http://schemas.microsoft.com/office/drawing/2014/main" id="{12BB0B3F-01DC-48FE-A015-091C135C0540}"/>
              </a:ext>
            </a:extLst>
          </p:cNvPr>
          <p:cNvSpPr>
            <a:spLocks noGrp="1" noChangeArrowheads="1"/>
          </p:cNvSpPr>
          <p:nvPr>
            <p:ph type="body" idx="1"/>
          </p:nvPr>
        </p:nvSpPr>
        <p:spPr bwMode="auto">
          <a:xfrm>
            <a:off x="915988" y="4343400"/>
            <a:ext cx="5026025" cy="4114800"/>
          </a:xfrm>
          <a:prstGeom prst="rect">
            <a:avLst/>
          </a:prstGeom>
          <a:solidFill>
            <a:srgbClr val="FFFFFF"/>
          </a:solidFill>
          <a:ln>
            <a:solidFill>
              <a:srgbClr val="000000"/>
            </a:solidFill>
            <a:miter lim="800000"/>
            <a:headEnd/>
            <a:tailEnd/>
          </a:ln>
        </p:spPr>
        <p:txBody>
          <a:bodyPr lIns="86493" tIns="43247" rIns="86493" bIns="43247"/>
          <a:lstStyle/>
          <a:p>
            <a:endParaRPr lang="en-US" altLang="en-US">
              <a:latin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a:extLst>
              <a:ext uri="{FF2B5EF4-FFF2-40B4-BE49-F238E27FC236}">
                <a16:creationId xmlns:a16="http://schemas.microsoft.com/office/drawing/2014/main" id="{01F98B1B-7CF0-4802-B89E-35C5E7830304}"/>
              </a:ext>
            </a:extLst>
          </p:cNvPr>
          <p:cNvSpPr>
            <a:spLocks noGrp="1" noRot="1" noChangeAspect="1" noChangeArrowheads="1" noTextEdit="1"/>
          </p:cNvSpPr>
          <p:nvPr>
            <p:ph type="sldImg"/>
          </p:nvPr>
        </p:nvSpPr>
        <p:spPr bwMode="auto">
          <a:xfrm>
            <a:off x="1144588" y="685800"/>
            <a:ext cx="4572000" cy="3429000"/>
          </a:xfrm>
          <a:prstGeom prst="rect">
            <a:avLst/>
          </a:prstGeom>
          <a:solidFill>
            <a:srgbClr val="FFFFFF"/>
          </a:solidFill>
          <a:ln>
            <a:solidFill>
              <a:srgbClr val="000000"/>
            </a:solidFill>
            <a:miter lim="800000"/>
            <a:headEnd/>
            <a:tailEnd/>
          </a:ln>
        </p:spPr>
      </p:sp>
      <p:sp>
        <p:nvSpPr>
          <p:cNvPr id="94211" name="Rectangle 3">
            <a:extLst>
              <a:ext uri="{FF2B5EF4-FFF2-40B4-BE49-F238E27FC236}">
                <a16:creationId xmlns:a16="http://schemas.microsoft.com/office/drawing/2014/main" id="{F497E557-579C-4926-8933-5DDB3DECF5BA}"/>
              </a:ext>
            </a:extLst>
          </p:cNvPr>
          <p:cNvSpPr>
            <a:spLocks noGrp="1" noChangeArrowheads="1"/>
          </p:cNvSpPr>
          <p:nvPr>
            <p:ph type="body" idx="1"/>
          </p:nvPr>
        </p:nvSpPr>
        <p:spPr bwMode="auto">
          <a:xfrm>
            <a:off x="915988" y="4343400"/>
            <a:ext cx="5026025" cy="4114800"/>
          </a:xfrm>
          <a:prstGeom prst="rect">
            <a:avLst/>
          </a:prstGeom>
          <a:solidFill>
            <a:srgbClr val="FFFFFF"/>
          </a:solidFill>
          <a:ln>
            <a:solidFill>
              <a:srgbClr val="000000"/>
            </a:solidFill>
            <a:miter lim="800000"/>
            <a:headEnd/>
            <a:tailEnd/>
          </a:ln>
        </p:spPr>
        <p:txBody>
          <a:bodyPr lIns="86493" tIns="43247" rIns="86493" bIns="43247"/>
          <a:lstStyle/>
          <a:p>
            <a:endParaRPr lang="en-US" altLang="en-US">
              <a:latin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a:extLst>
              <a:ext uri="{FF2B5EF4-FFF2-40B4-BE49-F238E27FC236}">
                <a16:creationId xmlns:a16="http://schemas.microsoft.com/office/drawing/2014/main" id="{8CBB1AC0-7A0A-4879-AF50-F2250873EE09}"/>
              </a:ext>
            </a:extLst>
          </p:cNvPr>
          <p:cNvSpPr>
            <a:spLocks noGrp="1" noRot="1" noChangeAspect="1" noChangeArrowheads="1" noTextEdit="1"/>
          </p:cNvSpPr>
          <p:nvPr>
            <p:ph type="sldImg"/>
          </p:nvPr>
        </p:nvSpPr>
        <p:spPr bwMode="auto">
          <a:xfrm>
            <a:off x="1144588" y="685800"/>
            <a:ext cx="4572000" cy="3429000"/>
          </a:xfrm>
          <a:prstGeom prst="rect">
            <a:avLst/>
          </a:prstGeom>
          <a:solidFill>
            <a:srgbClr val="FFFFFF"/>
          </a:solidFill>
          <a:ln>
            <a:solidFill>
              <a:srgbClr val="000000"/>
            </a:solidFill>
            <a:miter lim="800000"/>
            <a:headEnd/>
            <a:tailEnd/>
          </a:ln>
        </p:spPr>
      </p:sp>
      <p:sp>
        <p:nvSpPr>
          <p:cNvPr id="96259" name="Rectangle 3">
            <a:extLst>
              <a:ext uri="{FF2B5EF4-FFF2-40B4-BE49-F238E27FC236}">
                <a16:creationId xmlns:a16="http://schemas.microsoft.com/office/drawing/2014/main" id="{6EA10504-A22A-42A3-AE3B-FB7182BBC3F1}"/>
              </a:ext>
            </a:extLst>
          </p:cNvPr>
          <p:cNvSpPr>
            <a:spLocks noGrp="1" noChangeArrowheads="1"/>
          </p:cNvSpPr>
          <p:nvPr>
            <p:ph type="body" idx="1"/>
          </p:nvPr>
        </p:nvSpPr>
        <p:spPr bwMode="auto">
          <a:xfrm>
            <a:off x="915988" y="4343400"/>
            <a:ext cx="5026025" cy="4114800"/>
          </a:xfrm>
          <a:prstGeom prst="rect">
            <a:avLst/>
          </a:prstGeom>
          <a:solidFill>
            <a:srgbClr val="FFFFFF"/>
          </a:solidFill>
          <a:ln>
            <a:solidFill>
              <a:srgbClr val="000000"/>
            </a:solidFill>
            <a:miter lim="800000"/>
            <a:headEnd/>
            <a:tailEnd/>
          </a:ln>
        </p:spPr>
        <p:txBody>
          <a:bodyPr lIns="86493" tIns="43247" rIns="86493" bIns="43247"/>
          <a:lstStyle/>
          <a:p>
            <a:endParaRPr lang="en-US" altLang="en-US">
              <a:latin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a:extLst>
              <a:ext uri="{FF2B5EF4-FFF2-40B4-BE49-F238E27FC236}">
                <a16:creationId xmlns:a16="http://schemas.microsoft.com/office/drawing/2014/main" id="{5F8C7672-44F6-47F1-B72A-372A3A950690}"/>
              </a:ext>
            </a:extLst>
          </p:cNvPr>
          <p:cNvSpPr>
            <a:spLocks noGrp="1" noRot="1" noChangeAspect="1" noChangeArrowheads="1" noTextEdit="1"/>
          </p:cNvSpPr>
          <p:nvPr>
            <p:ph type="sldImg"/>
          </p:nvPr>
        </p:nvSpPr>
        <p:spPr bwMode="auto">
          <a:xfrm>
            <a:off x="1144588" y="685800"/>
            <a:ext cx="4572000" cy="3429000"/>
          </a:xfrm>
          <a:prstGeom prst="rect">
            <a:avLst/>
          </a:prstGeom>
          <a:solidFill>
            <a:srgbClr val="FFFFFF"/>
          </a:solidFill>
          <a:ln>
            <a:solidFill>
              <a:srgbClr val="000000"/>
            </a:solidFill>
            <a:miter lim="800000"/>
            <a:headEnd/>
            <a:tailEnd/>
          </a:ln>
        </p:spPr>
      </p:sp>
      <p:sp>
        <p:nvSpPr>
          <p:cNvPr id="98307" name="Rectangle 3">
            <a:extLst>
              <a:ext uri="{FF2B5EF4-FFF2-40B4-BE49-F238E27FC236}">
                <a16:creationId xmlns:a16="http://schemas.microsoft.com/office/drawing/2014/main" id="{5DE50274-7479-4F66-81E0-9F2721039287}"/>
              </a:ext>
            </a:extLst>
          </p:cNvPr>
          <p:cNvSpPr>
            <a:spLocks noGrp="1" noChangeArrowheads="1"/>
          </p:cNvSpPr>
          <p:nvPr>
            <p:ph type="body" idx="1"/>
          </p:nvPr>
        </p:nvSpPr>
        <p:spPr bwMode="auto">
          <a:xfrm>
            <a:off x="915988" y="4343400"/>
            <a:ext cx="5026025" cy="4114800"/>
          </a:xfrm>
          <a:prstGeom prst="rect">
            <a:avLst/>
          </a:prstGeom>
          <a:solidFill>
            <a:srgbClr val="FFFFFF"/>
          </a:solidFill>
          <a:ln>
            <a:solidFill>
              <a:srgbClr val="000000"/>
            </a:solidFill>
            <a:miter lim="800000"/>
            <a:headEnd/>
            <a:tailEnd/>
          </a:ln>
        </p:spPr>
        <p:txBody>
          <a:bodyPr lIns="86493" tIns="43247" rIns="86493" bIns="43247"/>
          <a:lstStyle/>
          <a:p>
            <a:endParaRPr lang="en-US" altLang="en-US">
              <a:latin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a:extLst>
              <a:ext uri="{FF2B5EF4-FFF2-40B4-BE49-F238E27FC236}">
                <a16:creationId xmlns:a16="http://schemas.microsoft.com/office/drawing/2014/main" id="{FC7F107B-1DF1-485D-97D8-7C53D39FD12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814F5E5-C75D-4156-B053-241DB6D6DA5A}" type="slidenum">
              <a:rPr lang="en-US" altLang="en-US">
                <a:latin typeface="Times New Roman" panose="02020603050405020304" pitchFamily="18" charset="0"/>
              </a:rPr>
              <a:pPr/>
              <a:t>42</a:t>
            </a:fld>
            <a:endParaRPr lang="en-US" altLang="en-US">
              <a:latin typeface="Times New Roman" panose="02020603050405020304" pitchFamily="18" charset="0"/>
            </a:endParaRPr>
          </a:p>
        </p:txBody>
      </p:sp>
      <p:sp>
        <p:nvSpPr>
          <p:cNvPr id="53251" name="Rectangle 2">
            <a:extLst>
              <a:ext uri="{FF2B5EF4-FFF2-40B4-BE49-F238E27FC236}">
                <a16:creationId xmlns:a16="http://schemas.microsoft.com/office/drawing/2014/main" id="{7A725C1F-2359-4C1E-A6F6-D6BF4ABAAFE7}"/>
              </a:ext>
            </a:extLst>
          </p:cNvPr>
          <p:cNvSpPr>
            <a:spLocks noGrp="1" noRot="1" noChangeAspect="1" noChangeArrowheads="1" noTextEdit="1"/>
          </p:cNvSpPr>
          <p:nvPr>
            <p:ph type="sldImg"/>
          </p:nvPr>
        </p:nvSpPr>
        <p:spPr>
          <a:ln/>
        </p:spPr>
      </p:sp>
      <p:sp>
        <p:nvSpPr>
          <p:cNvPr id="53252" name="Rectangle 3">
            <a:extLst>
              <a:ext uri="{FF2B5EF4-FFF2-40B4-BE49-F238E27FC236}">
                <a16:creationId xmlns:a16="http://schemas.microsoft.com/office/drawing/2014/main" id="{78696A3C-38B1-4C5E-B7F0-1337E345906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a:extLst>
              <a:ext uri="{FF2B5EF4-FFF2-40B4-BE49-F238E27FC236}">
                <a16:creationId xmlns:a16="http://schemas.microsoft.com/office/drawing/2014/main" id="{FC7F107B-1DF1-485D-97D8-7C53D39FD12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814F5E5-C75D-4156-B053-241DB6D6DA5A}" type="slidenum">
              <a:rPr lang="en-US" altLang="en-US">
                <a:latin typeface="Times New Roman" panose="02020603050405020304" pitchFamily="18" charset="0"/>
              </a:rPr>
              <a:pPr/>
              <a:t>45</a:t>
            </a:fld>
            <a:endParaRPr lang="en-US" altLang="en-US">
              <a:latin typeface="Times New Roman" panose="02020603050405020304" pitchFamily="18" charset="0"/>
            </a:endParaRPr>
          </a:p>
        </p:txBody>
      </p:sp>
      <p:sp>
        <p:nvSpPr>
          <p:cNvPr id="53251" name="Rectangle 2">
            <a:extLst>
              <a:ext uri="{FF2B5EF4-FFF2-40B4-BE49-F238E27FC236}">
                <a16:creationId xmlns:a16="http://schemas.microsoft.com/office/drawing/2014/main" id="{7A725C1F-2359-4C1E-A6F6-D6BF4ABAAFE7}"/>
              </a:ext>
            </a:extLst>
          </p:cNvPr>
          <p:cNvSpPr>
            <a:spLocks noGrp="1" noRot="1" noChangeAspect="1" noChangeArrowheads="1" noTextEdit="1"/>
          </p:cNvSpPr>
          <p:nvPr>
            <p:ph type="sldImg"/>
          </p:nvPr>
        </p:nvSpPr>
        <p:spPr>
          <a:ln/>
        </p:spPr>
      </p:sp>
      <p:sp>
        <p:nvSpPr>
          <p:cNvPr id="53252" name="Rectangle 3">
            <a:extLst>
              <a:ext uri="{FF2B5EF4-FFF2-40B4-BE49-F238E27FC236}">
                <a16:creationId xmlns:a16="http://schemas.microsoft.com/office/drawing/2014/main" id="{78696A3C-38B1-4C5E-B7F0-1337E345906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0364667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B8FF64D-3B61-4E6A-8139-8D1BAE2C761D}" type="datetimeFigureOut">
              <a:rPr lang="en-US" smtClean="0"/>
              <a:t>9/17/25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FC14D7-8C7B-45A8-9512-1B911FC4D23B}" type="slidenum">
              <a:rPr lang="en-US" smtClean="0"/>
              <a:t>‹#›</a:t>
            </a:fld>
            <a:endParaRPr lang="en-US"/>
          </a:p>
        </p:txBody>
      </p:sp>
    </p:spTree>
    <p:extLst>
      <p:ext uri="{BB962C8B-B14F-4D97-AF65-F5344CB8AC3E}">
        <p14:creationId xmlns:p14="http://schemas.microsoft.com/office/powerpoint/2010/main" val="9405177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B8FF64D-3B61-4E6A-8139-8D1BAE2C761D}" type="datetimeFigureOut">
              <a:rPr lang="en-US" smtClean="0"/>
              <a:t>9/17/25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FC14D7-8C7B-45A8-9512-1B911FC4D23B}" type="slidenum">
              <a:rPr lang="en-US" smtClean="0"/>
              <a:t>‹#›</a:t>
            </a:fld>
            <a:endParaRPr lang="en-US"/>
          </a:p>
        </p:txBody>
      </p:sp>
    </p:spTree>
    <p:extLst>
      <p:ext uri="{BB962C8B-B14F-4D97-AF65-F5344CB8AC3E}">
        <p14:creationId xmlns:p14="http://schemas.microsoft.com/office/powerpoint/2010/main" val="1999037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B8FF64D-3B61-4E6A-8139-8D1BAE2C761D}" type="datetimeFigureOut">
              <a:rPr lang="en-US" smtClean="0"/>
              <a:t>9/17/25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FC14D7-8C7B-45A8-9512-1B911FC4D23B}" type="slidenum">
              <a:rPr lang="en-US" smtClean="0"/>
              <a:t>‹#›</a:t>
            </a:fld>
            <a:endParaRPr lang="en-US"/>
          </a:p>
        </p:txBody>
      </p:sp>
    </p:spTree>
    <p:extLst>
      <p:ext uri="{BB962C8B-B14F-4D97-AF65-F5344CB8AC3E}">
        <p14:creationId xmlns:p14="http://schemas.microsoft.com/office/powerpoint/2010/main" val="25601209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B8FF64D-3B61-4E6A-8139-8D1BAE2C761D}" type="datetimeFigureOut">
              <a:rPr lang="en-US" smtClean="0"/>
              <a:t>9/17/25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FC14D7-8C7B-45A8-9512-1B911FC4D23B}" type="slidenum">
              <a:rPr lang="en-US" smtClean="0"/>
              <a:t>‹#›</a:t>
            </a:fld>
            <a:endParaRPr lang="en-US"/>
          </a:p>
        </p:txBody>
      </p:sp>
    </p:spTree>
    <p:extLst>
      <p:ext uri="{BB962C8B-B14F-4D97-AF65-F5344CB8AC3E}">
        <p14:creationId xmlns:p14="http://schemas.microsoft.com/office/powerpoint/2010/main" val="1843467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B8FF64D-3B61-4E6A-8139-8D1BAE2C761D}" type="datetimeFigureOut">
              <a:rPr lang="en-US" smtClean="0"/>
              <a:t>9/17/25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FC14D7-8C7B-45A8-9512-1B911FC4D23B}" type="slidenum">
              <a:rPr lang="en-US" smtClean="0"/>
              <a:t>‹#›</a:t>
            </a:fld>
            <a:endParaRPr lang="en-US"/>
          </a:p>
        </p:txBody>
      </p:sp>
    </p:spTree>
    <p:extLst>
      <p:ext uri="{BB962C8B-B14F-4D97-AF65-F5344CB8AC3E}">
        <p14:creationId xmlns:p14="http://schemas.microsoft.com/office/powerpoint/2010/main" val="15340611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B8FF64D-3B61-4E6A-8139-8D1BAE2C761D}" type="datetimeFigureOut">
              <a:rPr lang="en-US" smtClean="0"/>
              <a:t>9/17/25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FC14D7-8C7B-45A8-9512-1B911FC4D23B}" type="slidenum">
              <a:rPr lang="en-US" smtClean="0"/>
              <a:t>‹#›</a:t>
            </a:fld>
            <a:endParaRPr lang="en-US"/>
          </a:p>
        </p:txBody>
      </p:sp>
    </p:spTree>
    <p:extLst>
      <p:ext uri="{BB962C8B-B14F-4D97-AF65-F5344CB8AC3E}">
        <p14:creationId xmlns:p14="http://schemas.microsoft.com/office/powerpoint/2010/main" val="35413651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B8FF64D-3B61-4E6A-8139-8D1BAE2C761D}" type="datetimeFigureOut">
              <a:rPr lang="en-US" smtClean="0"/>
              <a:t>9/17/25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FC14D7-8C7B-45A8-9512-1B911FC4D23B}" type="slidenum">
              <a:rPr lang="en-US" smtClean="0"/>
              <a:t>‹#›</a:t>
            </a:fld>
            <a:endParaRPr lang="en-US"/>
          </a:p>
        </p:txBody>
      </p:sp>
    </p:spTree>
    <p:extLst>
      <p:ext uri="{BB962C8B-B14F-4D97-AF65-F5344CB8AC3E}">
        <p14:creationId xmlns:p14="http://schemas.microsoft.com/office/powerpoint/2010/main" val="19195574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FB8FF64D-3B61-4E6A-8139-8D1BAE2C761D}" type="datetimeFigureOut">
              <a:rPr lang="en-US" smtClean="0"/>
              <a:t>9/17/25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FC14D7-8C7B-45A8-9512-1B911FC4D23B}" type="slidenum">
              <a:rPr lang="en-US" smtClean="0"/>
              <a:t>‹#›</a:t>
            </a:fld>
            <a:endParaRPr lang="en-US"/>
          </a:p>
        </p:txBody>
      </p:sp>
    </p:spTree>
    <p:extLst>
      <p:ext uri="{BB962C8B-B14F-4D97-AF65-F5344CB8AC3E}">
        <p14:creationId xmlns:p14="http://schemas.microsoft.com/office/powerpoint/2010/main" val="4218435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FB8FF64D-3B61-4E6A-8139-8D1BAE2C761D}" type="datetimeFigureOut">
              <a:rPr lang="en-US" smtClean="0"/>
              <a:t>9/17/25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FC14D7-8C7B-45A8-9512-1B911FC4D23B}" type="slidenum">
              <a:rPr lang="en-US" smtClean="0"/>
              <a:t>‹#›</a:t>
            </a:fld>
            <a:endParaRPr lang="en-US"/>
          </a:p>
        </p:txBody>
      </p:sp>
    </p:spTree>
    <p:extLst>
      <p:ext uri="{BB962C8B-B14F-4D97-AF65-F5344CB8AC3E}">
        <p14:creationId xmlns:p14="http://schemas.microsoft.com/office/powerpoint/2010/main" val="4681615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B8FF64D-3B61-4E6A-8139-8D1BAE2C761D}" type="datetimeFigureOut">
              <a:rPr lang="en-US" smtClean="0"/>
              <a:t>9/17/25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FC14D7-8C7B-45A8-9512-1B911FC4D23B}" type="slidenum">
              <a:rPr lang="en-US" smtClean="0"/>
              <a:t>‹#›</a:t>
            </a:fld>
            <a:endParaRPr lang="en-US"/>
          </a:p>
        </p:txBody>
      </p:sp>
    </p:spTree>
    <p:extLst>
      <p:ext uri="{BB962C8B-B14F-4D97-AF65-F5344CB8AC3E}">
        <p14:creationId xmlns:p14="http://schemas.microsoft.com/office/powerpoint/2010/main" val="3831830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B8FF64D-3B61-4E6A-8139-8D1BAE2C761D}" type="datetimeFigureOut">
              <a:rPr lang="en-US" smtClean="0"/>
              <a:t>9/17/25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FC14D7-8C7B-45A8-9512-1B911FC4D23B}" type="slidenum">
              <a:rPr lang="en-US" smtClean="0"/>
              <a:t>‹#›</a:t>
            </a:fld>
            <a:endParaRPr lang="en-US"/>
          </a:p>
        </p:txBody>
      </p:sp>
    </p:spTree>
    <p:extLst>
      <p:ext uri="{BB962C8B-B14F-4D97-AF65-F5344CB8AC3E}">
        <p14:creationId xmlns:p14="http://schemas.microsoft.com/office/powerpoint/2010/main" val="34165266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B8FF64D-3B61-4E6A-8139-8D1BAE2C761D}" type="datetimeFigureOut">
              <a:rPr lang="en-US" smtClean="0"/>
              <a:t>9/17/25</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FC14D7-8C7B-45A8-9512-1B911FC4D23B}" type="slidenum">
              <a:rPr lang="en-US" smtClean="0"/>
              <a:t>‹#›</a:t>
            </a:fld>
            <a:endParaRPr lang="en-US"/>
          </a:p>
        </p:txBody>
      </p:sp>
    </p:spTree>
    <p:extLst>
      <p:ext uri="{BB962C8B-B14F-4D97-AF65-F5344CB8AC3E}">
        <p14:creationId xmlns:p14="http://schemas.microsoft.com/office/powerpoint/2010/main" val="326410117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docs.oracle.com/javase/tutorial/essential/concurrency/procthread.html"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image" Target="../media/image10.jpe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jpeg"/><Relationship Id="rId4" Type="http://schemas.openxmlformats.org/officeDocument/2006/relationships/image" Target="../media/image7.jpeg"/></Relationships>
</file>

<file path=ppt/slides/_rels/slide21.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image" Target="../media/image10.jpe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jpeg"/><Relationship Id="rId4" Type="http://schemas.openxmlformats.org/officeDocument/2006/relationships/image" Target="../media/image7.jpeg"/></Relationships>
</file>

<file path=ppt/slides/_rels/slide2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0.jpeg"/></Relationships>
</file>

<file path=ppt/slides/_rels/slide2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0.jpeg"/></Relationships>
</file>

<file path=ppt/slides/_rels/slide24.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image" Target="../media/image10.jpe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jpeg"/><Relationship Id="rId4" Type="http://schemas.openxmlformats.org/officeDocument/2006/relationships/image" Target="../media/image7.jpe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92F299-5314-4BF0-B5F3-6DEE8BDE6C5B}"/>
              </a:ext>
            </a:extLst>
          </p:cNvPr>
          <p:cNvSpPr>
            <a:spLocks noGrp="1"/>
          </p:cNvSpPr>
          <p:nvPr>
            <p:ph type="ctrTitle"/>
          </p:nvPr>
        </p:nvSpPr>
        <p:spPr/>
        <p:txBody>
          <a:bodyPr/>
          <a:lstStyle/>
          <a:p>
            <a:r>
              <a:rPr lang="en-US" altLang="zh-CN" dirty="0">
                <a:solidFill>
                  <a:srgbClr val="FF0000"/>
                </a:solidFill>
              </a:rPr>
              <a:t>C</a:t>
            </a:r>
            <a:r>
              <a:rPr lang="en-US" dirty="0">
                <a:solidFill>
                  <a:srgbClr val="FF0000"/>
                </a:solidFill>
              </a:rPr>
              <a:t>oncurrency</a:t>
            </a:r>
          </a:p>
        </p:txBody>
      </p:sp>
    </p:spTree>
    <p:extLst>
      <p:ext uri="{BB962C8B-B14F-4D97-AF65-F5344CB8AC3E}">
        <p14:creationId xmlns:p14="http://schemas.microsoft.com/office/powerpoint/2010/main" val="7398594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Discussion</a:t>
            </a:r>
          </a:p>
        </p:txBody>
      </p:sp>
      <p:sp>
        <p:nvSpPr>
          <p:cNvPr id="3" name="Content Placeholder 2"/>
          <p:cNvSpPr>
            <a:spLocks noGrp="1"/>
          </p:cNvSpPr>
          <p:nvPr>
            <p:ph idx="1"/>
          </p:nvPr>
        </p:nvSpPr>
        <p:spPr/>
        <p:txBody>
          <a:bodyPr/>
          <a:lstStyle/>
          <a:p>
            <a:r>
              <a:rPr lang="en-US" dirty="0"/>
              <a:t>Give an example of concurrency in your daily life</a:t>
            </a:r>
          </a:p>
          <a:p>
            <a:pPr lvl="1"/>
            <a:endParaRPr lang="en-US" dirty="0"/>
          </a:p>
          <a:p>
            <a:pPr lvl="1"/>
            <a:endParaRPr lang="en-US" dirty="0"/>
          </a:p>
          <a:p>
            <a:pPr lvl="1"/>
            <a:endParaRPr lang="en-US" dirty="0"/>
          </a:p>
          <a:p>
            <a:pPr lvl="1"/>
            <a:endParaRPr lang="en-US" dirty="0"/>
          </a:p>
          <a:p>
            <a:r>
              <a:rPr lang="en-US" dirty="0"/>
              <a:t>Give an example of concurrency for a computer</a:t>
            </a:r>
          </a:p>
          <a:p>
            <a:pPr lvl="1"/>
            <a:endParaRPr lang="en-US" dirty="0"/>
          </a:p>
        </p:txBody>
      </p:sp>
    </p:spTree>
    <p:extLst>
      <p:ext uri="{BB962C8B-B14F-4D97-AF65-F5344CB8AC3E}">
        <p14:creationId xmlns:p14="http://schemas.microsoft.com/office/powerpoint/2010/main" val="11485639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Discussion</a:t>
            </a:r>
          </a:p>
        </p:txBody>
      </p:sp>
      <p:sp>
        <p:nvSpPr>
          <p:cNvPr id="3" name="Content Placeholder 2"/>
          <p:cNvSpPr>
            <a:spLocks noGrp="1"/>
          </p:cNvSpPr>
          <p:nvPr>
            <p:ph idx="1"/>
          </p:nvPr>
        </p:nvSpPr>
        <p:spPr/>
        <p:txBody>
          <a:bodyPr/>
          <a:lstStyle/>
          <a:p>
            <a:r>
              <a:rPr lang="en-US" dirty="0"/>
              <a:t>Give an example of concurrency in your daily life</a:t>
            </a:r>
          </a:p>
          <a:p>
            <a:pPr lvl="1"/>
            <a:r>
              <a:rPr lang="en-US" dirty="0"/>
              <a:t>Taking notes while listening to a lecture</a:t>
            </a:r>
          </a:p>
          <a:p>
            <a:pPr lvl="1"/>
            <a:r>
              <a:rPr lang="en-US" dirty="0"/>
              <a:t>Driving while listening to a radio</a:t>
            </a:r>
          </a:p>
          <a:p>
            <a:pPr lvl="1"/>
            <a:r>
              <a:rPr lang="mr-IN" dirty="0"/>
              <a:t>…</a:t>
            </a:r>
            <a:endParaRPr lang="en-US" dirty="0"/>
          </a:p>
          <a:p>
            <a:pPr lvl="1"/>
            <a:endParaRPr lang="en-US" dirty="0"/>
          </a:p>
          <a:p>
            <a:r>
              <a:rPr lang="en-US" dirty="0"/>
              <a:t>Give an example of concurrency for a computer</a:t>
            </a:r>
          </a:p>
          <a:p>
            <a:pPr lvl="1"/>
            <a:r>
              <a:rPr lang="en-US" dirty="0"/>
              <a:t>Maintaining Internet connection while receiving keyboard input</a:t>
            </a:r>
          </a:p>
          <a:p>
            <a:pPr lvl="1"/>
            <a:r>
              <a:rPr lang="en-US" dirty="0"/>
              <a:t>Playing a movie while receiving emails</a:t>
            </a:r>
          </a:p>
          <a:p>
            <a:pPr lvl="1"/>
            <a:r>
              <a:rPr lang="mr-IN" dirty="0"/>
              <a:t>…</a:t>
            </a:r>
            <a:endParaRPr lang="en-US" dirty="0"/>
          </a:p>
          <a:p>
            <a:pPr lvl="1"/>
            <a:endParaRPr lang="en-US" dirty="0"/>
          </a:p>
        </p:txBody>
      </p:sp>
    </p:spTree>
    <p:extLst>
      <p:ext uri="{BB962C8B-B14F-4D97-AF65-F5344CB8AC3E}">
        <p14:creationId xmlns:p14="http://schemas.microsoft.com/office/powerpoint/2010/main" val="37367150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E0D56F-5328-472D-BFCA-C68C7CD8A102}"/>
              </a:ext>
            </a:extLst>
          </p:cNvPr>
          <p:cNvSpPr>
            <a:spLocks noGrp="1"/>
          </p:cNvSpPr>
          <p:nvPr>
            <p:ph type="title"/>
          </p:nvPr>
        </p:nvSpPr>
        <p:spPr/>
        <p:txBody>
          <a:bodyPr/>
          <a:lstStyle/>
          <a:p>
            <a:r>
              <a:rPr lang="en-US" dirty="0">
                <a:solidFill>
                  <a:srgbClr val="FF0000"/>
                </a:solidFill>
              </a:rPr>
              <a:t>Why concurrency?</a:t>
            </a:r>
          </a:p>
        </p:txBody>
      </p:sp>
      <p:sp>
        <p:nvSpPr>
          <p:cNvPr id="3" name="Content Placeholder 2">
            <a:extLst>
              <a:ext uri="{FF2B5EF4-FFF2-40B4-BE49-F238E27FC236}">
                <a16:creationId xmlns:a16="http://schemas.microsoft.com/office/drawing/2014/main" id="{0D8CF6CF-7B6E-47F4-8E27-5F830F511AA2}"/>
              </a:ext>
            </a:extLst>
          </p:cNvPr>
          <p:cNvSpPr>
            <a:spLocks noGrp="1"/>
          </p:cNvSpPr>
          <p:nvPr>
            <p:ph idx="1"/>
          </p:nvPr>
        </p:nvSpPr>
        <p:spPr/>
        <p:txBody>
          <a:bodyPr/>
          <a:lstStyle/>
          <a:p>
            <a:r>
              <a:rPr lang="en-US" dirty="0"/>
              <a:t>Multi-</a:t>
            </a:r>
            <a:r>
              <a:rPr lang="en-US" altLang="zh-CN" dirty="0"/>
              <a:t>T</a:t>
            </a:r>
            <a:r>
              <a:rPr lang="en-US" dirty="0"/>
              <a:t>ask</a:t>
            </a:r>
          </a:p>
          <a:p>
            <a:endParaRPr lang="en-US" dirty="0"/>
          </a:p>
          <a:p>
            <a:r>
              <a:rPr lang="en-US" dirty="0"/>
              <a:t>Higher resource utilization</a:t>
            </a:r>
          </a:p>
          <a:p>
            <a:endParaRPr lang="en-US" dirty="0"/>
          </a:p>
          <a:p>
            <a:r>
              <a:rPr lang="en-US" dirty="0"/>
              <a:t>Reduced waiting time</a:t>
            </a:r>
          </a:p>
        </p:txBody>
      </p:sp>
    </p:spTree>
    <p:extLst>
      <p:ext uri="{BB962C8B-B14F-4D97-AF65-F5344CB8AC3E}">
        <p14:creationId xmlns:p14="http://schemas.microsoft.com/office/powerpoint/2010/main" val="28848885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2879E-B050-42FB-955C-F5CF012E2482}"/>
              </a:ext>
            </a:extLst>
          </p:cNvPr>
          <p:cNvSpPr>
            <a:spLocks noGrp="1"/>
          </p:cNvSpPr>
          <p:nvPr>
            <p:ph type="title"/>
          </p:nvPr>
        </p:nvSpPr>
        <p:spPr>
          <a:xfrm>
            <a:off x="386604" y="69292"/>
            <a:ext cx="7886700" cy="558238"/>
          </a:xfrm>
        </p:spPr>
        <p:txBody>
          <a:bodyPr>
            <a:normAutofit fontScale="90000"/>
          </a:bodyPr>
          <a:lstStyle/>
          <a:p>
            <a:r>
              <a:rPr lang="en-US" dirty="0">
                <a:solidFill>
                  <a:srgbClr val="FF0000"/>
                </a:solidFill>
              </a:rPr>
              <a:t>Client Concurrency</a:t>
            </a:r>
          </a:p>
        </p:txBody>
      </p:sp>
      <p:sp>
        <p:nvSpPr>
          <p:cNvPr id="3" name="Content Placeholder 2">
            <a:extLst>
              <a:ext uri="{FF2B5EF4-FFF2-40B4-BE49-F238E27FC236}">
                <a16:creationId xmlns:a16="http://schemas.microsoft.com/office/drawing/2014/main" id="{017FD856-1F3C-4543-A472-6500ABF25D59}"/>
              </a:ext>
            </a:extLst>
          </p:cNvPr>
          <p:cNvSpPr>
            <a:spLocks noGrp="1"/>
          </p:cNvSpPr>
          <p:nvPr>
            <p:ph idx="1"/>
          </p:nvPr>
        </p:nvSpPr>
        <p:spPr>
          <a:xfrm>
            <a:off x="286870" y="735107"/>
            <a:ext cx="8597153" cy="1760257"/>
          </a:xfrm>
        </p:spPr>
        <p:txBody>
          <a:bodyPr>
            <a:normAutofit lnSpcReduction="10000"/>
          </a:bodyPr>
          <a:lstStyle/>
          <a:p>
            <a:r>
              <a:rPr lang="en-US" dirty="0"/>
              <a:t>Concurrency: Client’s perspective</a:t>
            </a:r>
          </a:p>
          <a:p>
            <a:r>
              <a:rPr lang="en-US" dirty="0"/>
              <a:t>opportunity for parallelization</a:t>
            </a:r>
          </a:p>
          <a:p>
            <a:pPr lvl="1"/>
            <a:r>
              <a:rPr lang="en-US" dirty="0"/>
              <a:t>within a client</a:t>
            </a:r>
          </a:p>
          <a:p>
            <a:pPr lvl="1"/>
            <a:r>
              <a:rPr lang="en-US" dirty="0"/>
              <a:t>multiple servers</a:t>
            </a:r>
          </a:p>
        </p:txBody>
      </p:sp>
      <p:pic>
        <p:nvPicPr>
          <p:cNvPr id="4" name="Content Placeholder 3">
            <a:extLst>
              <a:ext uri="{FF2B5EF4-FFF2-40B4-BE49-F238E27FC236}">
                <a16:creationId xmlns:a16="http://schemas.microsoft.com/office/drawing/2014/main" id="{249A971C-969C-40E2-A686-992915FC5D0E}"/>
              </a:ext>
            </a:extLst>
          </p:cNvPr>
          <p:cNvPicPr>
            <a:picLocks noChangeAspect="1"/>
          </p:cNvPicPr>
          <p:nvPr/>
        </p:nvPicPr>
        <p:blipFill>
          <a:blip r:embed="rId2"/>
          <a:stretch>
            <a:fillRect/>
          </a:stretch>
        </p:blipFill>
        <p:spPr>
          <a:xfrm>
            <a:off x="959315" y="2387787"/>
            <a:ext cx="6741277" cy="4351338"/>
          </a:xfrm>
          <a:prstGeom prst="rect">
            <a:avLst/>
          </a:prstGeom>
        </p:spPr>
      </p:pic>
    </p:spTree>
    <p:extLst>
      <p:ext uri="{BB962C8B-B14F-4D97-AF65-F5344CB8AC3E}">
        <p14:creationId xmlns:p14="http://schemas.microsoft.com/office/powerpoint/2010/main" val="17941401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DB911B-DD7A-4ADF-BC68-B081F1FB04AA}"/>
              </a:ext>
            </a:extLst>
          </p:cNvPr>
          <p:cNvSpPr>
            <a:spLocks noGrp="1"/>
          </p:cNvSpPr>
          <p:nvPr>
            <p:ph type="title"/>
          </p:nvPr>
        </p:nvSpPr>
        <p:spPr>
          <a:xfrm>
            <a:off x="494180" y="149973"/>
            <a:ext cx="7886700" cy="719603"/>
          </a:xfrm>
        </p:spPr>
        <p:txBody>
          <a:bodyPr/>
          <a:lstStyle/>
          <a:p>
            <a:r>
              <a:rPr lang="en-US" dirty="0">
                <a:solidFill>
                  <a:srgbClr val="FF0000"/>
                </a:solidFill>
              </a:rPr>
              <a:t>Server Concurrency</a:t>
            </a:r>
          </a:p>
        </p:txBody>
      </p:sp>
      <p:sp>
        <p:nvSpPr>
          <p:cNvPr id="3" name="Content Placeholder 2">
            <a:extLst>
              <a:ext uri="{FF2B5EF4-FFF2-40B4-BE49-F238E27FC236}">
                <a16:creationId xmlns:a16="http://schemas.microsoft.com/office/drawing/2014/main" id="{FEBD6D1A-F2CE-4495-911E-4DBDCF777365}"/>
              </a:ext>
            </a:extLst>
          </p:cNvPr>
          <p:cNvSpPr>
            <a:spLocks noGrp="1"/>
          </p:cNvSpPr>
          <p:nvPr>
            <p:ph idx="1"/>
          </p:nvPr>
        </p:nvSpPr>
        <p:spPr>
          <a:xfrm>
            <a:off x="494180" y="995082"/>
            <a:ext cx="7886700" cy="1643716"/>
          </a:xfrm>
        </p:spPr>
        <p:txBody>
          <a:bodyPr>
            <a:normAutofit/>
          </a:bodyPr>
          <a:lstStyle/>
          <a:p>
            <a:r>
              <a:rPr lang="en-US" dirty="0"/>
              <a:t>Concurrency: server’s perspective</a:t>
            </a:r>
          </a:p>
          <a:p>
            <a:pPr lvl="1"/>
            <a:r>
              <a:rPr lang="en-US" dirty="0"/>
              <a:t>exploits parallelism</a:t>
            </a:r>
          </a:p>
          <a:p>
            <a:pPr lvl="1"/>
            <a:r>
              <a:rPr lang="en-US" dirty="0"/>
              <a:t>higher utilization (efficient dispatch)</a:t>
            </a:r>
          </a:p>
        </p:txBody>
      </p:sp>
      <p:pic>
        <p:nvPicPr>
          <p:cNvPr id="4" name="Content Placeholder 3">
            <a:extLst>
              <a:ext uri="{FF2B5EF4-FFF2-40B4-BE49-F238E27FC236}">
                <a16:creationId xmlns:a16="http://schemas.microsoft.com/office/drawing/2014/main" id="{6A5D8F24-93A6-4EC1-917C-71B36A704825}"/>
              </a:ext>
            </a:extLst>
          </p:cNvPr>
          <p:cNvPicPr>
            <a:picLocks noChangeAspect="1"/>
          </p:cNvPicPr>
          <p:nvPr/>
        </p:nvPicPr>
        <p:blipFill>
          <a:blip r:embed="rId2"/>
          <a:stretch>
            <a:fillRect/>
          </a:stretch>
        </p:blipFill>
        <p:spPr>
          <a:xfrm>
            <a:off x="637615" y="3044379"/>
            <a:ext cx="7886700" cy="3527478"/>
          </a:xfrm>
          <a:prstGeom prst="rect">
            <a:avLst/>
          </a:prstGeom>
        </p:spPr>
      </p:pic>
    </p:spTree>
    <p:extLst>
      <p:ext uri="{BB962C8B-B14F-4D97-AF65-F5344CB8AC3E}">
        <p14:creationId xmlns:p14="http://schemas.microsoft.com/office/powerpoint/2010/main" val="7357863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B4D902-2908-4A0F-9329-142F5EA355DB}"/>
              </a:ext>
            </a:extLst>
          </p:cNvPr>
          <p:cNvSpPr>
            <a:spLocks noGrp="1"/>
          </p:cNvSpPr>
          <p:nvPr>
            <p:ph type="title"/>
          </p:nvPr>
        </p:nvSpPr>
        <p:spPr>
          <a:xfrm>
            <a:off x="494180" y="293408"/>
            <a:ext cx="7886700" cy="1325563"/>
          </a:xfrm>
        </p:spPr>
        <p:txBody>
          <a:bodyPr/>
          <a:lstStyle/>
          <a:p>
            <a:r>
              <a:rPr lang="en-US" dirty="0">
                <a:solidFill>
                  <a:srgbClr val="FF0000"/>
                </a:solidFill>
              </a:rPr>
              <a:t>Basic Concepts</a:t>
            </a:r>
          </a:p>
        </p:txBody>
      </p:sp>
      <p:sp>
        <p:nvSpPr>
          <p:cNvPr id="3" name="Content Placeholder 2">
            <a:extLst>
              <a:ext uri="{FF2B5EF4-FFF2-40B4-BE49-F238E27FC236}">
                <a16:creationId xmlns:a16="http://schemas.microsoft.com/office/drawing/2014/main" id="{F453240F-39F2-4AD7-903B-ADB2FB53527E}"/>
              </a:ext>
            </a:extLst>
          </p:cNvPr>
          <p:cNvSpPr>
            <a:spLocks noGrp="1"/>
          </p:cNvSpPr>
          <p:nvPr>
            <p:ph idx="1"/>
          </p:nvPr>
        </p:nvSpPr>
        <p:spPr>
          <a:xfrm>
            <a:off x="421341" y="1825625"/>
            <a:ext cx="8283388" cy="4351338"/>
          </a:xfrm>
        </p:spPr>
        <p:txBody>
          <a:bodyPr>
            <a:normAutofit/>
          </a:bodyPr>
          <a:lstStyle/>
          <a:p>
            <a:r>
              <a:rPr lang="en-US" sz="2400" dirty="0"/>
              <a:t>Processor vs. Core</a:t>
            </a:r>
            <a:endParaRPr lang="en-US" sz="2400" dirty="0">
              <a:hlinkClick r:id="rId2"/>
            </a:endParaRPr>
          </a:p>
          <a:p>
            <a:endParaRPr lang="en-US" sz="2400" dirty="0">
              <a:hlinkClick r:id="rId2"/>
            </a:endParaRPr>
          </a:p>
          <a:p>
            <a:r>
              <a:rPr lang="en-US" sz="2400" dirty="0"/>
              <a:t>Process vs. Thread</a:t>
            </a:r>
          </a:p>
          <a:p>
            <a:endParaRPr lang="en-US" sz="2400" dirty="0">
              <a:hlinkClick r:id="rId2"/>
            </a:endParaRPr>
          </a:p>
          <a:p>
            <a:r>
              <a:rPr lang="en-US" sz="2400" dirty="0"/>
              <a:t>Parallelism vs. Concurrency</a:t>
            </a:r>
            <a:endParaRPr lang="en-US" sz="2400" dirty="0">
              <a:hlinkClick r:id="rId2"/>
            </a:endParaRPr>
          </a:p>
          <a:p>
            <a:endParaRPr lang="en-US" sz="2400" dirty="0">
              <a:hlinkClick r:id="rId2"/>
            </a:endParaRPr>
          </a:p>
          <a:p>
            <a:r>
              <a:rPr lang="en-US" sz="2400" dirty="0"/>
              <a:t>More detail</a:t>
            </a:r>
          </a:p>
          <a:p>
            <a:pPr lvl="1"/>
            <a:r>
              <a:rPr lang="en-US" sz="1800" dirty="0"/>
              <a:t>Only one page</a:t>
            </a:r>
            <a:endParaRPr lang="en-US" sz="1800" dirty="0">
              <a:hlinkClick r:id="rId2"/>
            </a:endParaRPr>
          </a:p>
          <a:p>
            <a:pPr lvl="1"/>
            <a:r>
              <a:rPr lang="en-US" sz="1800" dirty="0">
                <a:hlinkClick r:id="rId2"/>
              </a:rPr>
              <a:t>https://docs.oracle.com/javase/tutorial/essential/concurrency/procthread.html</a:t>
            </a:r>
            <a:endParaRPr lang="en-US" sz="1800" dirty="0"/>
          </a:p>
        </p:txBody>
      </p:sp>
    </p:spTree>
    <p:extLst>
      <p:ext uri="{BB962C8B-B14F-4D97-AF65-F5344CB8AC3E}">
        <p14:creationId xmlns:p14="http://schemas.microsoft.com/office/powerpoint/2010/main" val="16081775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61633B-9BFF-4678-B020-2EECF3171D7F}"/>
              </a:ext>
            </a:extLst>
          </p:cNvPr>
          <p:cNvSpPr>
            <a:spLocks noGrp="1"/>
          </p:cNvSpPr>
          <p:nvPr>
            <p:ph type="title"/>
          </p:nvPr>
        </p:nvSpPr>
        <p:spPr>
          <a:xfrm>
            <a:off x="628650" y="78257"/>
            <a:ext cx="7886700" cy="728568"/>
          </a:xfrm>
        </p:spPr>
        <p:txBody>
          <a:bodyPr/>
          <a:lstStyle/>
          <a:p>
            <a:r>
              <a:rPr lang="en-US" dirty="0">
                <a:solidFill>
                  <a:srgbClr val="FF0000"/>
                </a:solidFill>
              </a:rPr>
              <a:t>Processor vs. Core</a:t>
            </a:r>
          </a:p>
        </p:txBody>
      </p:sp>
      <p:sp>
        <p:nvSpPr>
          <p:cNvPr id="3" name="Content Placeholder 2">
            <a:extLst>
              <a:ext uri="{FF2B5EF4-FFF2-40B4-BE49-F238E27FC236}">
                <a16:creationId xmlns:a16="http://schemas.microsoft.com/office/drawing/2014/main" id="{E5E69A2A-3F94-46BA-B868-C91D76F5B4E0}"/>
              </a:ext>
            </a:extLst>
          </p:cNvPr>
          <p:cNvSpPr>
            <a:spLocks noGrp="1"/>
          </p:cNvSpPr>
          <p:nvPr>
            <p:ph idx="1"/>
          </p:nvPr>
        </p:nvSpPr>
        <p:spPr>
          <a:xfrm>
            <a:off x="628650" y="806825"/>
            <a:ext cx="7886700" cy="4351338"/>
          </a:xfrm>
        </p:spPr>
        <p:txBody>
          <a:bodyPr/>
          <a:lstStyle/>
          <a:p>
            <a:r>
              <a:rPr lang="en-US" dirty="0"/>
              <a:t>A CPU, or Central Processing Unit, is what is typically referred to as a </a:t>
            </a:r>
            <a:r>
              <a:rPr lang="en-US" b="1" dirty="0"/>
              <a:t>processor</a:t>
            </a:r>
            <a:r>
              <a:rPr lang="en-US" dirty="0"/>
              <a:t>.</a:t>
            </a:r>
          </a:p>
          <a:p>
            <a:r>
              <a:rPr lang="en-US" dirty="0"/>
              <a:t>One processor can have multiple cores.</a:t>
            </a:r>
          </a:p>
          <a:p>
            <a:r>
              <a:rPr lang="en-US" dirty="0"/>
              <a:t>Modern computer can have multiple processors.</a:t>
            </a:r>
          </a:p>
          <a:p>
            <a:endParaRPr lang="en-US" dirty="0"/>
          </a:p>
        </p:txBody>
      </p:sp>
      <p:pic>
        <p:nvPicPr>
          <p:cNvPr id="4" name="Picture 3"/>
          <p:cNvPicPr>
            <a:picLocks noChangeAspect="1"/>
          </p:cNvPicPr>
          <p:nvPr/>
        </p:nvPicPr>
        <p:blipFill>
          <a:blip r:embed="rId2"/>
          <a:stretch>
            <a:fillRect/>
          </a:stretch>
        </p:blipFill>
        <p:spPr>
          <a:xfrm>
            <a:off x="2399896" y="2678671"/>
            <a:ext cx="4344208" cy="4179329"/>
          </a:xfrm>
          <a:prstGeom prst="rect">
            <a:avLst/>
          </a:prstGeom>
        </p:spPr>
      </p:pic>
    </p:spTree>
    <p:extLst>
      <p:ext uri="{BB962C8B-B14F-4D97-AF65-F5344CB8AC3E}">
        <p14:creationId xmlns:p14="http://schemas.microsoft.com/office/powerpoint/2010/main" val="33514171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5CCDE-95A1-4E59-BD01-ECA79064533A}"/>
              </a:ext>
            </a:extLst>
          </p:cNvPr>
          <p:cNvSpPr>
            <a:spLocks noGrp="1"/>
          </p:cNvSpPr>
          <p:nvPr>
            <p:ph type="title"/>
          </p:nvPr>
        </p:nvSpPr>
        <p:spPr/>
        <p:txBody>
          <a:bodyPr/>
          <a:lstStyle/>
          <a:p>
            <a:r>
              <a:rPr lang="en-US" dirty="0">
                <a:solidFill>
                  <a:srgbClr val="FF0000"/>
                </a:solidFill>
              </a:rPr>
              <a:t>Process vs. Thread (1)</a:t>
            </a:r>
          </a:p>
        </p:txBody>
      </p:sp>
      <p:sp>
        <p:nvSpPr>
          <p:cNvPr id="3" name="Content Placeholder 2">
            <a:extLst>
              <a:ext uri="{FF2B5EF4-FFF2-40B4-BE49-F238E27FC236}">
                <a16:creationId xmlns:a16="http://schemas.microsoft.com/office/drawing/2014/main" id="{39347360-3792-41D4-AA78-C8811185A439}"/>
              </a:ext>
            </a:extLst>
          </p:cNvPr>
          <p:cNvSpPr>
            <a:spLocks noGrp="1"/>
          </p:cNvSpPr>
          <p:nvPr>
            <p:ph idx="1"/>
          </p:nvPr>
        </p:nvSpPr>
        <p:spPr/>
        <p:txBody>
          <a:bodyPr/>
          <a:lstStyle/>
          <a:p>
            <a:r>
              <a:rPr lang="en-US" dirty="0"/>
              <a:t>Process</a:t>
            </a:r>
          </a:p>
          <a:p>
            <a:pPr lvl="1"/>
            <a:r>
              <a:rPr lang="en-US" dirty="0"/>
              <a:t>A software processor in whose context one or more threads may be executed.</a:t>
            </a:r>
          </a:p>
          <a:p>
            <a:pPr lvl="1"/>
            <a:r>
              <a:rPr lang="en-US" dirty="0"/>
              <a:t>Every process has at least one thread.</a:t>
            </a:r>
          </a:p>
          <a:p>
            <a:pPr lvl="1"/>
            <a:endParaRPr lang="en-US" dirty="0"/>
          </a:p>
          <a:p>
            <a:r>
              <a:rPr lang="en-US" dirty="0"/>
              <a:t>Thread</a:t>
            </a:r>
          </a:p>
          <a:p>
            <a:pPr lvl="1"/>
            <a:r>
              <a:rPr lang="en-US" dirty="0"/>
              <a:t>A minimal software processor in whose context a series of instructions can be executed. </a:t>
            </a:r>
          </a:p>
          <a:p>
            <a:pPr lvl="1"/>
            <a:r>
              <a:rPr lang="en-US" dirty="0"/>
              <a:t>A Thread is sometimes called </a:t>
            </a:r>
            <a:r>
              <a:rPr lang="en-US" i="1" dirty="0"/>
              <a:t>lightweight process.</a:t>
            </a:r>
            <a:endParaRPr lang="en-US" dirty="0"/>
          </a:p>
          <a:p>
            <a:pPr lvl="1"/>
            <a:endParaRPr lang="en-US" dirty="0"/>
          </a:p>
        </p:txBody>
      </p:sp>
    </p:spTree>
    <p:extLst>
      <p:ext uri="{BB962C8B-B14F-4D97-AF65-F5344CB8AC3E}">
        <p14:creationId xmlns:p14="http://schemas.microsoft.com/office/powerpoint/2010/main" val="7336046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Process vs. Thread (2)</a:t>
            </a:r>
          </a:p>
        </p:txBody>
      </p:sp>
      <p:sp>
        <p:nvSpPr>
          <p:cNvPr id="3" name="Content Placeholder 2"/>
          <p:cNvSpPr>
            <a:spLocks noGrp="1"/>
          </p:cNvSpPr>
          <p:nvPr>
            <p:ph idx="1"/>
          </p:nvPr>
        </p:nvSpPr>
        <p:spPr/>
        <p:txBody>
          <a:bodyPr/>
          <a:lstStyle/>
          <a:p>
            <a:r>
              <a:rPr lang="en-US" dirty="0"/>
              <a:t>Process switching is generally (somewhat) more expensive as it involves getting the OS in the loop.</a:t>
            </a:r>
          </a:p>
          <a:p>
            <a:endParaRPr lang="en-US" dirty="0"/>
          </a:p>
          <a:p>
            <a:r>
              <a:rPr lang="en-US" dirty="0"/>
              <a:t>Creating and destroying threads is much cheaper than doing so for processes.</a:t>
            </a:r>
          </a:p>
        </p:txBody>
      </p:sp>
    </p:spTree>
    <p:extLst>
      <p:ext uri="{BB962C8B-B14F-4D97-AF65-F5344CB8AC3E}">
        <p14:creationId xmlns:p14="http://schemas.microsoft.com/office/powerpoint/2010/main" val="21343784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Why use thread?</a:t>
            </a:r>
          </a:p>
        </p:txBody>
      </p:sp>
      <p:sp>
        <p:nvSpPr>
          <p:cNvPr id="3" name="Content Placeholder 2"/>
          <p:cNvSpPr>
            <a:spLocks noGrp="1"/>
          </p:cNvSpPr>
          <p:nvPr>
            <p:ph idx="1"/>
          </p:nvPr>
        </p:nvSpPr>
        <p:spPr/>
        <p:txBody>
          <a:bodyPr>
            <a:normAutofit fontScale="92500" lnSpcReduction="10000"/>
          </a:bodyPr>
          <a:lstStyle/>
          <a:p>
            <a:r>
              <a:rPr lang="en-US" dirty="0">
                <a:solidFill>
                  <a:srgbClr val="0070C0"/>
                </a:solidFill>
              </a:rPr>
              <a:t>Avoid needless blocking</a:t>
            </a:r>
          </a:p>
          <a:p>
            <a:pPr lvl="1"/>
            <a:r>
              <a:rPr lang="en-US" dirty="0"/>
              <a:t>A single-threaded process will block when doing I/O; in a multi-threaded process, the operating system can switch the CPU to another thread in that process. </a:t>
            </a:r>
          </a:p>
          <a:p>
            <a:pPr lvl="1"/>
            <a:endParaRPr lang="en-US" dirty="0"/>
          </a:p>
          <a:p>
            <a:r>
              <a:rPr lang="en-US" dirty="0">
                <a:solidFill>
                  <a:srgbClr val="0070C0"/>
                </a:solidFill>
              </a:rPr>
              <a:t>Exploit parallelism</a:t>
            </a:r>
          </a:p>
          <a:p>
            <a:pPr lvl="1"/>
            <a:r>
              <a:rPr lang="en-US" dirty="0"/>
              <a:t>the threads in a multi-threaded process can be scheduled to run in parallel on a multiprocessor or multicore processor. </a:t>
            </a:r>
          </a:p>
          <a:p>
            <a:pPr lvl="1"/>
            <a:endParaRPr lang="en-US" dirty="0"/>
          </a:p>
          <a:p>
            <a:r>
              <a:rPr lang="en-US" dirty="0">
                <a:solidFill>
                  <a:srgbClr val="0070C0"/>
                </a:solidFill>
              </a:rPr>
              <a:t>Avoid process switching </a:t>
            </a:r>
          </a:p>
          <a:p>
            <a:pPr lvl="1"/>
            <a:r>
              <a:rPr lang="en-US" dirty="0"/>
              <a:t>structure large applications not as a collection of processes, but through multiple threads.</a:t>
            </a:r>
          </a:p>
        </p:txBody>
      </p:sp>
    </p:spTree>
    <p:extLst>
      <p:ext uri="{BB962C8B-B14F-4D97-AF65-F5344CB8AC3E}">
        <p14:creationId xmlns:p14="http://schemas.microsoft.com/office/powerpoint/2010/main" val="18475349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Avoid process switching</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2753" y="1897723"/>
            <a:ext cx="9033739" cy="3525924"/>
          </a:xfrm>
        </p:spPr>
      </p:pic>
    </p:spTree>
    <p:extLst>
      <p:ext uri="{BB962C8B-B14F-4D97-AF65-F5344CB8AC3E}">
        <p14:creationId xmlns:p14="http://schemas.microsoft.com/office/powerpoint/2010/main" val="10493768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Threading: Pros &amp; Cons</a:t>
            </a:r>
          </a:p>
        </p:txBody>
      </p:sp>
      <p:sp>
        <p:nvSpPr>
          <p:cNvPr id="3" name="Content Placeholder 2"/>
          <p:cNvSpPr>
            <a:spLocks noGrp="1"/>
          </p:cNvSpPr>
          <p:nvPr>
            <p:ph idx="1"/>
          </p:nvPr>
        </p:nvSpPr>
        <p:spPr/>
        <p:txBody>
          <a:bodyPr/>
          <a:lstStyle/>
          <a:p>
            <a:r>
              <a:rPr lang="en-US" dirty="0"/>
              <a:t>Pro: </a:t>
            </a:r>
          </a:p>
          <a:p>
            <a:pPr lvl="1"/>
            <a:r>
              <a:rPr lang="en-US" dirty="0"/>
              <a:t>Better performance</a:t>
            </a:r>
          </a:p>
          <a:p>
            <a:pPr lvl="1"/>
            <a:r>
              <a:rPr lang="en-US" dirty="0"/>
              <a:t>Parallelism</a:t>
            </a:r>
          </a:p>
          <a:p>
            <a:pPr lvl="1"/>
            <a:r>
              <a:rPr lang="en-US" dirty="0"/>
              <a:t>...</a:t>
            </a:r>
          </a:p>
          <a:p>
            <a:pPr lvl="1"/>
            <a:endParaRPr lang="en-US" dirty="0"/>
          </a:p>
          <a:p>
            <a:r>
              <a:rPr lang="en-US" dirty="0"/>
              <a:t>Con:</a:t>
            </a:r>
          </a:p>
          <a:p>
            <a:pPr lvl="1"/>
            <a:r>
              <a:rPr lang="en-US" dirty="0"/>
              <a:t>Concurrent update to shared data requires programmer to explicitly synchronize.</a:t>
            </a:r>
          </a:p>
        </p:txBody>
      </p:sp>
    </p:spTree>
    <p:extLst>
      <p:ext uri="{BB962C8B-B14F-4D97-AF65-F5344CB8AC3E}">
        <p14:creationId xmlns:p14="http://schemas.microsoft.com/office/powerpoint/2010/main" val="17410760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FD27B7-FDA6-4D07-8C82-B5E7EF5AD702}"/>
              </a:ext>
            </a:extLst>
          </p:cNvPr>
          <p:cNvSpPr>
            <a:spLocks noGrp="1"/>
          </p:cNvSpPr>
          <p:nvPr>
            <p:ph type="title"/>
          </p:nvPr>
        </p:nvSpPr>
        <p:spPr>
          <a:xfrm>
            <a:off x="628650" y="356162"/>
            <a:ext cx="7886700" cy="764427"/>
          </a:xfrm>
        </p:spPr>
        <p:txBody>
          <a:bodyPr/>
          <a:lstStyle/>
          <a:p>
            <a:r>
              <a:rPr lang="en-US" dirty="0">
                <a:solidFill>
                  <a:srgbClr val="FF0000"/>
                </a:solidFill>
              </a:rPr>
              <a:t>Concurrency vs. Parallelism</a:t>
            </a:r>
          </a:p>
        </p:txBody>
      </p:sp>
      <p:sp>
        <p:nvSpPr>
          <p:cNvPr id="3" name="Content Placeholder 2">
            <a:extLst>
              <a:ext uri="{FF2B5EF4-FFF2-40B4-BE49-F238E27FC236}">
                <a16:creationId xmlns:a16="http://schemas.microsoft.com/office/drawing/2014/main" id="{270A805A-84CD-4F4A-96AA-0E6559F5EAEC}"/>
              </a:ext>
            </a:extLst>
          </p:cNvPr>
          <p:cNvSpPr>
            <a:spLocks noGrp="1"/>
          </p:cNvSpPr>
          <p:nvPr>
            <p:ph idx="1"/>
          </p:nvPr>
        </p:nvSpPr>
        <p:spPr>
          <a:xfrm>
            <a:off x="628650" y="1556682"/>
            <a:ext cx="7886700" cy="4897905"/>
          </a:xfrm>
        </p:spPr>
        <p:txBody>
          <a:bodyPr>
            <a:normAutofit fontScale="92500" lnSpcReduction="10000"/>
          </a:bodyPr>
          <a:lstStyle/>
          <a:p>
            <a:r>
              <a:rPr lang="en-US" dirty="0"/>
              <a:t>Concurrency is not parallelism!</a:t>
            </a:r>
          </a:p>
          <a:p>
            <a:r>
              <a:rPr lang="en-US" dirty="0"/>
              <a:t>Concurrency </a:t>
            </a:r>
          </a:p>
          <a:p>
            <a:pPr lvl="1"/>
            <a:r>
              <a:rPr lang="en-US" dirty="0"/>
              <a:t>Two tasks can start, run, and complete in overlapping time periods. </a:t>
            </a:r>
          </a:p>
          <a:p>
            <a:pPr lvl="1"/>
            <a:r>
              <a:rPr lang="en-US" dirty="0"/>
              <a:t>Though tasks run looks like simultaneously, but essentially they MAY not.</a:t>
            </a:r>
          </a:p>
          <a:p>
            <a:pPr lvl="1"/>
            <a:r>
              <a:rPr lang="en-US" dirty="0"/>
              <a:t>Takes advantage of </a:t>
            </a:r>
            <a:r>
              <a:rPr lang="en-US" b="1" dirty="0"/>
              <a:t>CPU time-slicing</a:t>
            </a:r>
          </a:p>
          <a:p>
            <a:pPr lvl="1"/>
            <a:endParaRPr lang="en-US" dirty="0"/>
          </a:p>
          <a:p>
            <a:r>
              <a:rPr lang="en-US" dirty="0"/>
              <a:t>Parallelism</a:t>
            </a:r>
          </a:p>
          <a:p>
            <a:pPr lvl="1"/>
            <a:r>
              <a:rPr lang="en-US" dirty="0"/>
              <a:t>when tasks literally run at the same time, e.g. on a multi-core processor or multiple processors.</a:t>
            </a:r>
          </a:p>
          <a:p>
            <a:pPr lvl="1"/>
            <a:r>
              <a:rPr lang="en-US" dirty="0"/>
              <a:t>Assign one processor/core to each task</a:t>
            </a:r>
          </a:p>
          <a:p>
            <a:pPr lvl="1"/>
            <a:r>
              <a:rPr lang="en-US" dirty="0"/>
              <a:t>Needs hardware support, e.g., a multi-core processor or multiple processors</a:t>
            </a:r>
          </a:p>
        </p:txBody>
      </p:sp>
    </p:spTree>
    <p:extLst>
      <p:ext uri="{BB962C8B-B14F-4D97-AF65-F5344CB8AC3E}">
        <p14:creationId xmlns:p14="http://schemas.microsoft.com/office/powerpoint/2010/main" val="42242454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1A751A-2283-49E4-80A7-911163CDA1C9}"/>
              </a:ext>
            </a:extLst>
          </p:cNvPr>
          <p:cNvSpPr>
            <a:spLocks noGrp="1"/>
          </p:cNvSpPr>
          <p:nvPr>
            <p:ph type="title"/>
          </p:nvPr>
        </p:nvSpPr>
        <p:spPr/>
        <p:txBody>
          <a:bodyPr/>
          <a:lstStyle/>
          <a:p>
            <a:r>
              <a:rPr lang="en-US" dirty="0">
                <a:solidFill>
                  <a:srgbClr val="FF0000"/>
                </a:solidFill>
              </a:rPr>
              <a:t>Revisit the discussion question</a:t>
            </a:r>
          </a:p>
        </p:txBody>
      </p:sp>
      <p:sp>
        <p:nvSpPr>
          <p:cNvPr id="4" name="Rectangle 2">
            <a:extLst>
              <a:ext uri="{FF2B5EF4-FFF2-40B4-BE49-F238E27FC236}">
                <a16:creationId xmlns:a16="http://schemas.microsoft.com/office/drawing/2014/main" id="{CD434D94-1AE4-46FA-BE21-690EDD70EE70}"/>
              </a:ext>
            </a:extLst>
          </p:cNvPr>
          <p:cNvSpPr>
            <a:spLocks noChangeArrowheads="1"/>
          </p:cNvSpPr>
          <p:nvPr/>
        </p:nvSpPr>
        <p:spPr bwMode="auto">
          <a:xfrm>
            <a:off x="628650" y="1580735"/>
            <a:ext cx="7580544"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Calibri" panose="020F0502020204030204" pitchFamily="34" charset="0"/>
                <a:ea typeface="DengXian" panose="02010600030101010101" pitchFamily="2" charset="-122"/>
                <a:cs typeface="Times New Roman" panose="02020603050405020304" pitchFamily="18" charset="0"/>
              </a:rPr>
              <a:t>Socket generally works in the following way as shown in the figure. </a:t>
            </a:r>
            <a:endParaRPr kumimoji="0" lang="en-US" altLang="en-US" sz="9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025" name="Picture 4">
            <a:extLst>
              <a:ext uri="{FF2B5EF4-FFF2-40B4-BE49-F238E27FC236}">
                <a16:creationId xmlns:a16="http://schemas.microsoft.com/office/drawing/2014/main" id="{460A4BA9-F06B-479B-A0BD-BAC96010312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3064" y="2147889"/>
            <a:ext cx="5943600" cy="15621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3">
            <a:extLst>
              <a:ext uri="{FF2B5EF4-FFF2-40B4-BE49-F238E27FC236}">
                <a16:creationId xmlns:a16="http://schemas.microsoft.com/office/drawing/2014/main" id="{9BF3434B-2E82-44FE-AD84-54BE940756E8}"/>
              </a:ext>
            </a:extLst>
          </p:cNvPr>
          <p:cNvSpPr>
            <a:spLocks noChangeArrowheads="1"/>
          </p:cNvSpPr>
          <p:nvPr/>
        </p:nvSpPr>
        <p:spPr bwMode="auto">
          <a:xfrm>
            <a:off x="628650" y="3953827"/>
            <a:ext cx="7710678" cy="1292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Calibri" panose="020F0502020204030204" pitchFamily="34" charset="0"/>
                <a:ea typeface="DengXian" panose="02010600030101010101" pitchFamily="2" charset="-122"/>
                <a:cs typeface="Times New Roman" panose="02020603050405020304" pitchFamily="18" charset="0"/>
              </a:rPr>
              <a:t>If we actually adopt this working flow of socket on a real server receiving clients’ requests, what is the problem?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Calibri" panose="020F0502020204030204" pitchFamily="34" charset="0"/>
                <a:ea typeface="DengXian" panose="02010600030101010101" pitchFamily="2" charset="-122"/>
                <a:cs typeface="Times New Roman" panose="02020603050405020304" pitchFamily="18" charset="0"/>
              </a:rPr>
              <a:t>Can you propose an idea to solve the problem? </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7331458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CDCD21-E83F-4C3D-9AD5-0140D77CB467}"/>
              </a:ext>
            </a:extLst>
          </p:cNvPr>
          <p:cNvSpPr>
            <a:spLocks noGrp="1"/>
          </p:cNvSpPr>
          <p:nvPr>
            <p:ph type="title"/>
          </p:nvPr>
        </p:nvSpPr>
        <p:spPr/>
        <p:txBody>
          <a:bodyPr/>
          <a:lstStyle/>
          <a:p>
            <a:r>
              <a:rPr lang="en-US" altLang="zh-CN" dirty="0">
                <a:solidFill>
                  <a:srgbClr val="FF0000"/>
                </a:solidFill>
              </a:rPr>
              <a:t>Critical section (1)</a:t>
            </a:r>
            <a:endParaRPr lang="en-US" dirty="0">
              <a:solidFill>
                <a:srgbClr val="FF0000"/>
              </a:solidFill>
            </a:endParaRPr>
          </a:p>
        </p:txBody>
      </p:sp>
      <p:sp>
        <p:nvSpPr>
          <p:cNvPr id="3" name="Content Placeholder 2">
            <a:extLst>
              <a:ext uri="{FF2B5EF4-FFF2-40B4-BE49-F238E27FC236}">
                <a16:creationId xmlns:a16="http://schemas.microsoft.com/office/drawing/2014/main" id="{ED3EE215-1620-4F93-9470-6A044E396E0F}"/>
              </a:ext>
            </a:extLst>
          </p:cNvPr>
          <p:cNvSpPr>
            <a:spLocks noGrp="1"/>
          </p:cNvSpPr>
          <p:nvPr>
            <p:ph idx="1"/>
          </p:nvPr>
        </p:nvSpPr>
        <p:spPr>
          <a:xfrm>
            <a:off x="628650" y="1825624"/>
            <a:ext cx="7886700" cy="4843623"/>
          </a:xfrm>
        </p:spPr>
        <p:txBody>
          <a:bodyPr>
            <a:normAutofit fontScale="92500" lnSpcReduction="10000"/>
          </a:bodyPr>
          <a:lstStyle/>
          <a:p>
            <a:r>
              <a:rPr lang="en-US" dirty="0"/>
              <a:t>Thread #1</a:t>
            </a:r>
          </a:p>
          <a:p>
            <a:pPr lvl="1"/>
            <a:r>
              <a:rPr lang="en-US" dirty="0"/>
              <a:t>bal = bal + deposit;</a:t>
            </a:r>
          </a:p>
          <a:p>
            <a:pPr lvl="1"/>
            <a:r>
              <a:rPr lang="en-US" dirty="0"/>
              <a:t>bal = bal * 2;</a:t>
            </a:r>
          </a:p>
          <a:p>
            <a:pPr lvl="1"/>
            <a:endParaRPr lang="en-US" dirty="0"/>
          </a:p>
          <a:p>
            <a:r>
              <a:rPr lang="en-US" dirty="0"/>
              <a:t>Thread #2</a:t>
            </a:r>
          </a:p>
          <a:p>
            <a:pPr lvl="1"/>
            <a:r>
              <a:rPr lang="en-US" dirty="0"/>
              <a:t>bal = bal * 2;</a:t>
            </a:r>
          </a:p>
          <a:p>
            <a:pPr lvl="1"/>
            <a:r>
              <a:rPr lang="en-US" dirty="0"/>
              <a:t>bal = bal + deposit;</a:t>
            </a:r>
          </a:p>
          <a:p>
            <a:pPr lvl="1"/>
            <a:endParaRPr lang="en-US" dirty="0"/>
          </a:p>
          <a:p>
            <a:r>
              <a:rPr lang="en-US" altLang="zh-CN" dirty="0"/>
              <a:t>bal=100</a:t>
            </a:r>
          </a:p>
          <a:p>
            <a:r>
              <a:rPr lang="en-US" altLang="zh-CN" dirty="0"/>
              <a:t>deposit=50</a:t>
            </a:r>
          </a:p>
          <a:p>
            <a:endParaRPr lang="en-US" dirty="0"/>
          </a:p>
          <a:p>
            <a:r>
              <a:rPr lang="en-US" altLang="zh-CN" dirty="0"/>
              <a:t>Now assume Thread #1 executes before Thread #2</a:t>
            </a:r>
            <a:endParaRPr lang="en-US" dirty="0"/>
          </a:p>
        </p:txBody>
      </p:sp>
    </p:spTree>
    <p:extLst>
      <p:ext uri="{BB962C8B-B14F-4D97-AF65-F5344CB8AC3E}">
        <p14:creationId xmlns:p14="http://schemas.microsoft.com/office/powerpoint/2010/main" val="39714894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493A9-9843-4AE0-B63A-AE874CA01EFC}"/>
              </a:ext>
            </a:extLst>
          </p:cNvPr>
          <p:cNvSpPr>
            <a:spLocks noGrp="1"/>
          </p:cNvSpPr>
          <p:nvPr>
            <p:ph type="title"/>
          </p:nvPr>
        </p:nvSpPr>
        <p:spPr>
          <a:xfrm>
            <a:off x="544760" y="423849"/>
            <a:ext cx="7886700" cy="591219"/>
          </a:xfrm>
        </p:spPr>
        <p:txBody>
          <a:bodyPr>
            <a:normAutofit fontScale="90000"/>
          </a:bodyPr>
          <a:lstStyle/>
          <a:p>
            <a:r>
              <a:rPr lang="en-US" dirty="0">
                <a:solidFill>
                  <a:srgbClr val="FF0000"/>
                </a:solidFill>
              </a:rPr>
              <a:t>Critical section (2)</a:t>
            </a:r>
          </a:p>
        </p:txBody>
      </p:sp>
      <p:sp>
        <p:nvSpPr>
          <p:cNvPr id="3" name="Content Placeholder 2">
            <a:extLst>
              <a:ext uri="{FF2B5EF4-FFF2-40B4-BE49-F238E27FC236}">
                <a16:creationId xmlns:a16="http://schemas.microsoft.com/office/drawing/2014/main" id="{BB258BB0-CF17-4735-92EE-D4A386901971}"/>
              </a:ext>
            </a:extLst>
          </p:cNvPr>
          <p:cNvSpPr>
            <a:spLocks noGrp="1"/>
          </p:cNvSpPr>
          <p:nvPr>
            <p:ph idx="1"/>
          </p:nvPr>
        </p:nvSpPr>
        <p:spPr>
          <a:xfrm>
            <a:off x="544760" y="1393386"/>
            <a:ext cx="7886700" cy="4646687"/>
          </a:xfrm>
        </p:spPr>
        <p:txBody>
          <a:bodyPr>
            <a:normAutofit/>
          </a:bodyPr>
          <a:lstStyle/>
          <a:p>
            <a:r>
              <a:rPr lang="en-US" dirty="0"/>
              <a:t>Case 1:</a:t>
            </a:r>
          </a:p>
          <a:p>
            <a:pPr lvl="1"/>
            <a:r>
              <a:rPr lang="en-US" dirty="0"/>
              <a:t>bal = bal + deposit </a:t>
            </a:r>
            <a:r>
              <a:rPr lang="en-US" altLang="zh-CN" dirty="0"/>
              <a:t>= 100 + 50 = 150	//Thread #1</a:t>
            </a:r>
            <a:endParaRPr lang="en-US" dirty="0"/>
          </a:p>
          <a:p>
            <a:pPr lvl="1"/>
            <a:r>
              <a:rPr lang="en-US" dirty="0"/>
              <a:t>bal = bal * 2 </a:t>
            </a:r>
            <a:r>
              <a:rPr lang="en-US" altLang="zh-CN" dirty="0"/>
              <a:t>= 300  //Thread #1</a:t>
            </a:r>
          </a:p>
          <a:p>
            <a:pPr lvl="1"/>
            <a:r>
              <a:rPr lang="en-US" dirty="0"/>
              <a:t>bal = bal * 2 = 600  //Thread #2</a:t>
            </a:r>
          </a:p>
          <a:p>
            <a:pPr lvl="1"/>
            <a:r>
              <a:rPr lang="en-US" dirty="0"/>
              <a:t>bal = bal + deposit = 600 + 50 = 650 //Thread #2</a:t>
            </a:r>
          </a:p>
          <a:p>
            <a:pPr lvl="1"/>
            <a:endParaRPr lang="en-US" dirty="0"/>
          </a:p>
          <a:p>
            <a:r>
              <a:rPr lang="en-US" dirty="0"/>
              <a:t>Case 2:</a:t>
            </a:r>
          </a:p>
          <a:p>
            <a:pPr lvl="1"/>
            <a:r>
              <a:rPr lang="en-US" dirty="0"/>
              <a:t>bal = bal + deposit = 100 + 50 = 150	//Thread #1</a:t>
            </a:r>
          </a:p>
          <a:p>
            <a:pPr lvl="1"/>
            <a:r>
              <a:rPr lang="en-US" dirty="0"/>
              <a:t>bal = bal * 2 = 300  //Thread #2</a:t>
            </a:r>
          </a:p>
          <a:p>
            <a:pPr lvl="1"/>
            <a:r>
              <a:rPr lang="en-US" dirty="0"/>
              <a:t>bal = bal + deposit = 300 + 50 = 350 //Thread #2</a:t>
            </a:r>
          </a:p>
          <a:p>
            <a:pPr lvl="1"/>
            <a:r>
              <a:rPr lang="en-US" dirty="0"/>
              <a:t>bal = bal * 2 </a:t>
            </a:r>
            <a:r>
              <a:rPr lang="en-US" altLang="zh-CN" dirty="0"/>
              <a:t>= 700  //Thread #1</a:t>
            </a:r>
          </a:p>
          <a:p>
            <a:pPr lvl="1"/>
            <a:endParaRPr lang="en-US" altLang="zh-CN" dirty="0"/>
          </a:p>
          <a:p>
            <a:pPr lvl="1"/>
            <a:endParaRPr lang="en-US" altLang="zh-CN" dirty="0"/>
          </a:p>
          <a:p>
            <a:pPr lvl="1"/>
            <a:endParaRPr lang="en-US" dirty="0"/>
          </a:p>
          <a:p>
            <a:pPr lvl="1"/>
            <a:endParaRPr lang="en-US" dirty="0"/>
          </a:p>
          <a:p>
            <a:endParaRPr lang="en-US" dirty="0"/>
          </a:p>
          <a:p>
            <a:endParaRPr lang="en-US" dirty="0"/>
          </a:p>
        </p:txBody>
      </p:sp>
    </p:spTree>
    <p:extLst>
      <p:ext uri="{BB962C8B-B14F-4D97-AF65-F5344CB8AC3E}">
        <p14:creationId xmlns:p14="http://schemas.microsoft.com/office/powerpoint/2010/main" val="12388000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A70B46-D385-45D1-91FB-CA0560CA078C}"/>
              </a:ext>
            </a:extLst>
          </p:cNvPr>
          <p:cNvSpPr>
            <a:spLocks noGrp="1"/>
          </p:cNvSpPr>
          <p:nvPr>
            <p:ph type="title"/>
          </p:nvPr>
        </p:nvSpPr>
        <p:spPr/>
        <p:txBody>
          <a:bodyPr/>
          <a:lstStyle/>
          <a:p>
            <a:r>
              <a:rPr lang="en-US" dirty="0">
                <a:solidFill>
                  <a:srgbClr val="FF0000"/>
                </a:solidFill>
              </a:rPr>
              <a:t>Critical section (3)</a:t>
            </a:r>
          </a:p>
        </p:txBody>
      </p:sp>
      <p:sp>
        <p:nvSpPr>
          <p:cNvPr id="3" name="Content Placeholder 2">
            <a:extLst>
              <a:ext uri="{FF2B5EF4-FFF2-40B4-BE49-F238E27FC236}">
                <a16:creationId xmlns:a16="http://schemas.microsoft.com/office/drawing/2014/main" id="{1FE99DB7-014E-4BEF-8222-082D23CD6C12}"/>
              </a:ext>
            </a:extLst>
          </p:cNvPr>
          <p:cNvSpPr>
            <a:spLocks noGrp="1"/>
          </p:cNvSpPr>
          <p:nvPr>
            <p:ph idx="1"/>
          </p:nvPr>
        </p:nvSpPr>
        <p:spPr/>
        <p:txBody>
          <a:bodyPr/>
          <a:lstStyle/>
          <a:p>
            <a:r>
              <a:rPr lang="en-US" dirty="0"/>
              <a:t>Assume we have n threads:</a:t>
            </a:r>
          </a:p>
          <a:p>
            <a:pPr lvl="1"/>
            <a:r>
              <a:rPr lang="en-US" dirty="0"/>
              <a:t>threads share data</a:t>
            </a:r>
          </a:p>
          <a:p>
            <a:pPr lvl="1"/>
            <a:endParaRPr lang="en-US" dirty="0"/>
          </a:p>
          <a:p>
            <a:pPr lvl="1"/>
            <a:r>
              <a:rPr lang="en-US" dirty="0"/>
              <a:t>each thread has a “critical section”</a:t>
            </a:r>
          </a:p>
          <a:p>
            <a:pPr lvl="1"/>
            <a:endParaRPr lang="en-US" dirty="0"/>
          </a:p>
          <a:p>
            <a:pPr lvl="1"/>
            <a:r>
              <a:rPr lang="en-US" dirty="0"/>
              <a:t>if one thread is in the critical section, no other thread can be in its critical section.</a:t>
            </a:r>
          </a:p>
        </p:txBody>
      </p:sp>
    </p:spTree>
    <p:extLst>
      <p:ext uri="{BB962C8B-B14F-4D97-AF65-F5344CB8AC3E}">
        <p14:creationId xmlns:p14="http://schemas.microsoft.com/office/powerpoint/2010/main" val="5656569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350FA-354D-421C-B80B-D2B578700DA4}"/>
              </a:ext>
            </a:extLst>
          </p:cNvPr>
          <p:cNvSpPr>
            <a:spLocks noGrp="1"/>
          </p:cNvSpPr>
          <p:nvPr>
            <p:ph type="title"/>
          </p:nvPr>
        </p:nvSpPr>
        <p:spPr>
          <a:xfrm>
            <a:off x="628650" y="365127"/>
            <a:ext cx="7886700" cy="767388"/>
          </a:xfrm>
        </p:spPr>
        <p:txBody>
          <a:bodyPr/>
          <a:lstStyle/>
          <a:p>
            <a:r>
              <a:rPr lang="en-US" altLang="zh-CN" dirty="0">
                <a:solidFill>
                  <a:srgbClr val="FF0000"/>
                </a:solidFill>
              </a:rPr>
              <a:t>Solution to critical section</a:t>
            </a:r>
            <a:endParaRPr lang="en-US" dirty="0">
              <a:solidFill>
                <a:srgbClr val="FF0000"/>
              </a:solidFill>
            </a:endParaRPr>
          </a:p>
        </p:txBody>
      </p:sp>
      <p:sp>
        <p:nvSpPr>
          <p:cNvPr id="3" name="Content Placeholder 2">
            <a:extLst>
              <a:ext uri="{FF2B5EF4-FFF2-40B4-BE49-F238E27FC236}">
                <a16:creationId xmlns:a16="http://schemas.microsoft.com/office/drawing/2014/main" id="{2222F666-79C9-41AE-9819-D94DF2AEE899}"/>
              </a:ext>
            </a:extLst>
          </p:cNvPr>
          <p:cNvSpPr>
            <a:spLocks noGrp="1"/>
          </p:cNvSpPr>
          <p:nvPr>
            <p:ph idx="1"/>
          </p:nvPr>
        </p:nvSpPr>
        <p:spPr>
          <a:xfrm>
            <a:off x="486037" y="1708179"/>
            <a:ext cx="7886700" cy="4351338"/>
          </a:xfrm>
        </p:spPr>
        <p:txBody>
          <a:bodyPr>
            <a:normAutofit lnSpcReduction="10000"/>
          </a:bodyPr>
          <a:lstStyle/>
          <a:p>
            <a:r>
              <a:rPr lang="en-US" dirty="0"/>
              <a:t>A solution must satisfy the following:</a:t>
            </a:r>
          </a:p>
          <a:p>
            <a:pPr lvl="1"/>
            <a:r>
              <a:rPr lang="en-US" dirty="0"/>
              <a:t>mutual exclusion: If a process/thread is executing in its critical section, then no other processes/threads can be executing in their critical sections.</a:t>
            </a:r>
          </a:p>
          <a:p>
            <a:pPr lvl="1"/>
            <a:endParaRPr lang="en-US" dirty="0"/>
          </a:p>
          <a:p>
            <a:pPr lvl="1"/>
            <a:r>
              <a:rPr lang="en-US" dirty="0"/>
              <a:t>progress: If no process/thread is executing in its critical section and there exist some processes/threads that wish to enter their critical section, then the selection of the processes/threads that will enter the critical section next, cannot be postponed indefinitely.</a:t>
            </a:r>
          </a:p>
          <a:p>
            <a:pPr lvl="1"/>
            <a:endParaRPr lang="en-US" dirty="0"/>
          </a:p>
          <a:p>
            <a:pPr lvl="1"/>
            <a:r>
              <a:rPr lang="en-US" dirty="0"/>
              <a:t>bounded waiting: no process/thread can be kept waiting forever to enter its CS.</a:t>
            </a:r>
          </a:p>
          <a:p>
            <a:pPr lvl="1"/>
            <a:endParaRPr lang="en-US" dirty="0"/>
          </a:p>
          <a:p>
            <a:pPr lvl="1"/>
            <a:endParaRPr lang="en-US" dirty="0"/>
          </a:p>
        </p:txBody>
      </p:sp>
    </p:spTree>
    <p:extLst>
      <p:ext uri="{BB962C8B-B14F-4D97-AF65-F5344CB8AC3E}">
        <p14:creationId xmlns:p14="http://schemas.microsoft.com/office/powerpoint/2010/main" val="6019397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a:extLst>
              <a:ext uri="{FF2B5EF4-FFF2-40B4-BE49-F238E27FC236}">
                <a16:creationId xmlns:a16="http://schemas.microsoft.com/office/drawing/2014/main" id="{A624CFC6-F99E-46AE-9FEC-1C51CD8EBA53}"/>
              </a:ext>
            </a:extLst>
          </p:cNvPr>
          <p:cNvSpPr>
            <a:spLocks noGrp="1" noChangeArrowheads="1"/>
          </p:cNvSpPr>
          <p:nvPr>
            <p:ph type="title"/>
          </p:nvPr>
        </p:nvSpPr>
        <p:spPr>
          <a:xfrm>
            <a:off x="457200" y="344611"/>
            <a:ext cx="7772400" cy="598488"/>
          </a:xfrm>
        </p:spPr>
        <p:txBody>
          <a:bodyPr>
            <a:normAutofit fontScale="90000"/>
          </a:bodyPr>
          <a:lstStyle/>
          <a:p>
            <a:r>
              <a:rPr lang="en-US" altLang="en-US" sz="4000" dirty="0">
                <a:solidFill>
                  <a:srgbClr val="FF0000"/>
                </a:solidFill>
              </a:rPr>
              <a:t>Mutual Exclusion: Traffic Analogy</a:t>
            </a:r>
            <a:endParaRPr lang="en-US" altLang="en-US" dirty="0">
              <a:solidFill>
                <a:srgbClr val="FF0000"/>
              </a:solidFill>
            </a:endParaRPr>
          </a:p>
        </p:txBody>
      </p:sp>
      <p:sp>
        <p:nvSpPr>
          <p:cNvPr id="89091" name="Rectangle 3">
            <a:extLst>
              <a:ext uri="{FF2B5EF4-FFF2-40B4-BE49-F238E27FC236}">
                <a16:creationId xmlns:a16="http://schemas.microsoft.com/office/drawing/2014/main" id="{F53B4DF6-DF38-401F-B851-6F3C500D4F56}"/>
              </a:ext>
            </a:extLst>
          </p:cNvPr>
          <p:cNvSpPr>
            <a:spLocks noGrp="1" noChangeArrowheads="1"/>
          </p:cNvSpPr>
          <p:nvPr>
            <p:ph type="body" idx="1"/>
          </p:nvPr>
        </p:nvSpPr>
        <p:spPr>
          <a:xfrm>
            <a:off x="457200" y="1600200"/>
            <a:ext cx="7772400" cy="914400"/>
          </a:xfrm>
        </p:spPr>
        <p:txBody>
          <a:bodyPr>
            <a:normAutofit/>
          </a:bodyPr>
          <a:lstStyle/>
          <a:p>
            <a:r>
              <a:rPr lang="en-US" altLang="en-US" sz="2000" dirty="0"/>
              <a:t>If process </a:t>
            </a:r>
            <a:r>
              <a:rPr lang="en-US" altLang="en-US" sz="2000" dirty="0">
                <a:solidFill>
                  <a:srgbClr val="0000FF"/>
                </a:solidFill>
              </a:rPr>
              <a:t>P</a:t>
            </a:r>
            <a:r>
              <a:rPr lang="en-US" altLang="en-US" sz="2000" baseline="-25000" dirty="0">
                <a:solidFill>
                  <a:srgbClr val="0000FF"/>
                </a:solidFill>
              </a:rPr>
              <a:t>i</a:t>
            </a:r>
            <a:r>
              <a:rPr lang="en-US" altLang="en-US" sz="2000" dirty="0"/>
              <a:t> is executing in its critical section, then no other processes can be executing in their critical sections</a:t>
            </a:r>
          </a:p>
        </p:txBody>
      </p:sp>
      <p:pic>
        <p:nvPicPr>
          <p:cNvPr id="89092" name="Picture 4" descr="4-way_stop">
            <a:extLst>
              <a:ext uri="{FF2B5EF4-FFF2-40B4-BE49-F238E27FC236}">
                <a16:creationId xmlns:a16="http://schemas.microsoft.com/office/drawing/2014/main" id="{34578E55-7980-4BF5-A766-A0C7D2E4A82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9495" y="2715937"/>
            <a:ext cx="5825809" cy="3873616"/>
          </a:xfrm>
          <a:prstGeom prst="rect">
            <a:avLst/>
          </a:prstGeom>
          <a:noFill/>
          <a:extLst>
            <a:ext uri="{909E8E84-426E-40DD-AFC4-6F175D3DCCD1}">
              <a14:hiddenFill xmlns:a14="http://schemas.microsoft.com/office/drawing/2010/main">
                <a:solidFill>
                  <a:srgbClr val="FFFFFF"/>
                </a:solidFill>
              </a14:hiddenFill>
            </a:ext>
          </a:extLst>
        </p:spPr>
      </p:pic>
      <p:pic>
        <p:nvPicPr>
          <p:cNvPr id="89093" name="Picture 5" descr="car1">
            <a:extLst>
              <a:ext uri="{FF2B5EF4-FFF2-40B4-BE49-F238E27FC236}">
                <a16:creationId xmlns:a16="http://schemas.microsoft.com/office/drawing/2014/main" id="{01D111CD-4AF7-45C5-911F-2E9B3A6375F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30332" y="5239543"/>
            <a:ext cx="658813" cy="493713"/>
          </a:xfrm>
          <a:prstGeom prst="rect">
            <a:avLst/>
          </a:prstGeom>
          <a:noFill/>
          <a:extLst>
            <a:ext uri="{909E8E84-426E-40DD-AFC4-6F175D3DCCD1}">
              <a14:hiddenFill xmlns:a14="http://schemas.microsoft.com/office/drawing/2010/main">
                <a:solidFill>
                  <a:srgbClr val="FFFFFF"/>
                </a:solidFill>
              </a14:hiddenFill>
            </a:ext>
          </a:extLst>
        </p:spPr>
      </p:pic>
      <p:pic>
        <p:nvPicPr>
          <p:cNvPr id="89094" name="Picture 6" descr="car2">
            <a:extLst>
              <a:ext uri="{FF2B5EF4-FFF2-40B4-BE49-F238E27FC236}">
                <a16:creationId xmlns:a16="http://schemas.microsoft.com/office/drawing/2014/main" id="{DF583E71-D238-4736-999D-E93F81A1517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26165" y="5058561"/>
            <a:ext cx="579438" cy="590550"/>
          </a:xfrm>
          <a:prstGeom prst="rect">
            <a:avLst/>
          </a:prstGeom>
          <a:noFill/>
          <a:extLst>
            <a:ext uri="{909E8E84-426E-40DD-AFC4-6F175D3DCCD1}">
              <a14:hiddenFill xmlns:a14="http://schemas.microsoft.com/office/drawing/2010/main">
                <a:solidFill>
                  <a:srgbClr val="FFFFFF"/>
                </a:solidFill>
              </a14:hiddenFill>
            </a:ext>
          </a:extLst>
        </p:spPr>
      </p:pic>
      <p:pic>
        <p:nvPicPr>
          <p:cNvPr id="89095" name="Picture 7" descr="car3">
            <a:extLst>
              <a:ext uri="{FF2B5EF4-FFF2-40B4-BE49-F238E27FC236}">
                <a16:creationId xmlns:a16="http://schemas.microsoft.com/office/drawing/2014/main" id="{6D737CBA-5574-4506-A930-6E0342CF9F6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69335" y="3339611"/>
            <a:ext cx="457200" cy="392113"/>
          </a:xfrm>
          <a:prstGeom prst="rect">
            <a:avLst/>
          </a:prstGeom>
          <a:noFill/>
          <a:extLst>
            <a:ext uri="{909E8E84-426E-40DD-AFC4-6F175D3DCCD1}">
              <a14:hiddenFill xmlns:a14="http://schemas.microsoft.com/office/drawing/2010/main">
                <a:solidFill>
                  <a:srgbClr val="FFFFFF"/>
                </a:solidFill>
              </a14:hiddenFill>
            </a:ext>
          </a:extLst>
        </p:spPr>
      </p:pic>
      <p:pic>
        <p:nvPicPr>
          <p:cNvPr id="89096" name="Picture 8" descr="car4">
            <a:extLst>
              <a:ext uri="{FF2B5EF4-FFF2-40B4-BE49-F238E27FC236}">
                <a16:creationId xmlns:a16="http://schemas.microsoft.com/office/drawing/2014/main" id="{5B4123EB-010F-476F-9AD6-040729400A9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606879" y="3130593"/>
            <a:ext cx="654050" cy="506413"/>
          </a:xfrm>
          <a:prstGeom prst="rect">
            <a:avLst/>
          </a:prstGeom>
          <a:noFill/>
          <a:extLst>
            <a:ext uri="{909E8E84-426E-40DD-AFC4-6F175D3DCCD1}">
              <a14:hiddenFill xmlns:a14="http://schemas.microsoft.com/office/drawing/2010/main">
                <a:solidFill>
                  <a:srgbClr val="FFFFFF"/>
                </a:solidFill>
              </a14:hiddenFill>
            </a:ext>
          </a:extLst>
        </p:spPr>
      </p:pic>
      <p:sp>
        <p:nvSpPr>
          <p:cNvPr id="89097" name="Text Box 9">
            <a:extLst>
              <a:ext uri="{FF2B5EF4-FFF2-40B4-BE49-F238E27FC236}">
                <a16:creationId xmlns:a16="http://schemas.microsoft.com/office/drawing/2014/main" id="{635E08EC-008A-49D2-8C91-90E21FAAD9FD}"/>
              </a:ext>
            </a:extLst>
          </p:cNvPr>
          <p:cNvSpPr txBox="1">
            <a:spLocks noChangeArrowheads="1"/>
          </p:cNvSpPr>
          <p:nvPr/>
        </p:nvSpPr>
        <p:spPr bwMode="auto">
          <a:xfrm>
            <a:off x="2487612" y="3699311"/>
            <a:ext cx="304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i="0" dirty="0"/>
              <a:t>1</a:t>
            </a:r>
            <a:endParaRPr lang="en-US" altLang="en-US" dirty="0"/>
          </a:p>
        </p:txBody>
      </p:sp>
      <p:sp>
        <p:nvSpPr>
          <p:cNvPr id="89098" name="Text Box 10">
            <a:extLst>
              <a:ext uri="{FF2B5EF4-FFF2-40B4-BE49-F238E27FC236}">
                <a16:creationId xmlns:a16="http://schemas.microsoft.com/office/drawing/2014/main" id="{4906579E-0F2A-4040-A7EE-7F5094B22EA8}"/>
              </a:ext>
            </a:extLst>
          </p:cNvPr>
          <p:cNvSpPr txBox="1">
            <a:spLocks noChangeArrowheads="1"/>
          </p:cNvSpPr>
          <p:nvPr/>
        </p:nvSpPr>
        <p:spPr bwMode="auto">
          <a:xfrm>
            <a:off x="5002635" y="3130593"/>
            <a:ext cx="3270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i="0" dirty="0"/>
              <a:t>3</a:t>
            </a:r>
            <a:endParaRPr lang="en-US" altLang="en-US" dirty="0"/>
          </a:p>
        </p:txBody>
      </p:sp>
      <p:sp>
        <p:nvSpPr>
          <p:cNvPr id="89099" name="Text Box 11">
            <a:extLst>
              <a:ext uri="{FF2B5EF4-FFF2-40B4-BE49-F238E27FC236}">
                <a16:creationId xmlns:a16="http://schemas.microsoft.com/office/drawing/2014/main" id="{36736406-D908-43A0-A1F0-5D92F01BB064}"/>
              </a:ext>
            </a:extLst>
          </p:cNvPr>
          <p:cNvSpPr txBox="1">
            <a:spLocks noChangeArrowheads="1"/>
          </p:cNvSpPr>
          <p:nvPr/>
        </p:nvSpPr>
        <p:spPr bwMode="auto">
          <a:xfrm>
            <a:off x="2846348" y="5504656"/>
            <a:ext cx="3270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i="0" dirty="0"/>
              <a:t>2</a:t>
            </a:r>
            <a:endParaRPr lang="en-US" altLang="en-US" dirty="0"/>
          </a:p>
        </p:txBody>
      </p:sp>
      <p:sp>
        <p:nvSpPr>
          <p:cNvPr id="89100" name="Text Box 12">
            <a:extLst>
              <a:ext uri="{FF2B5EF4-FFF2-40B4-BE49-F238E27FC236}">
                <a16:creationId xmlns:a16="http://schemas.microsoft.com/office/drawing/2014/main" id="{5D76CBCF-5F49-49C4-AB80-99AEAEE19CAB}"/>
              </a:ext>
            </a:extLst>
          </p:cNvPr>
          <p:cNvSpPr txBox="1">
            <a:spLocks noChangeArrowheads="1"/>
          </p:cNvSpPr>
          <p:nvPr/>
        </p:nvSpPr>
        <p:spPr bwMode="auto">
          <a:xfrm>
            <a:off x="4992449" y="5172329"/>
            <a:ext cx="3270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i="0" dirty="0"/>
              <a:t>4</a:t>
            </a:r>
            <a:endParaRPr lang="en-US" altLang="en-US" dirty="0"/>
          </a:p>
        </p:txBody>
      </p:sp>
      <p:sp>
        <p:nvSpPr>
          <p:cNvPr id="89101" name="Oval 13">
            <a:extLst>
              <a:ext uri="{FF2B5EF4-FFF2-40B4-BE49-F238E27FC236}">
                <a16:creationId xmlns:a16="http://schemas.microsoft.com/office/drawing/2014/main" id="{55E62B6C-3B4B-4E59-BD5D-9F63115C43E6}"/>
              </a:ext>
            </a:extLst>
          </p:cNvPr>
          <p:cNvSpPr>
            <a:spLocks noChangeArrowheads="1"/>
          </p:cNvSpPr>
          <p:nvPr/>
        </p:nvSpPr>
        <p:spPr bwMode="auto">
          <a:xfrm>
            <a:off x="2411412" y="3693136"/>
            <a:ext cx="457200" cy="457200"/>
          </a:xfrm>
          <a:prstGeom prst="ellipse">
            <a:avLst/>
          </a:prstGeom>
          <a:solidFill>
            <a:schemeClr val="folHlink">
              <a:alpha val="17000"/>
            </a:schemeClr>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9102" name="Oval 14">
            <a:extLst>
              <a:ext uri="{FF2B5EF4-FFF2-40B4-BE49-F238E27FC236}">
                <a16:creationId xmlns:a16="http://schemas.microsoft.com/office/drawing/2014/main" id="{0B939FBD-17F0-4B09-8F99-872D83C40C8A}"/>
              </a:ext>
            </a:extLst>
          </p:cNvPr>
          <p:cNvSpPr>
            <a:spLocks noChangeArrowheads="1"/>
          </p:cNvSpPr>
          <p:nvPr/>
        </p:nvSpPr>
        <p:spPr bwMode="auto">
          <a:xfrm>
            <a:off x="2792372" y="5504656"/>
            <a:ext cx="457200" cy="457200"/>
          </a:xfrm>
          <a:prstGeom prst="ellipse">
            <a:avLst/>
          </a:prstGeom>
          <a:solidFill>
            <a:schemeClr val="folHlink">
              <a:alpha val="17000"/>
            </a:schemeClr>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9103" name="Oval 15">
            <a:extLst>
              <a:ext uri="{FF2B5EF4-FFF2-40B4-BE49-F238E27FC236}">
                <a16:creationId xmlns:a16="http://schemas.microsoft.com/office/drawing/2014/main" id="{38A92E99-E8C8-4D3B-BD57-28E39588D060}"/>
              </a:ext>
            </a:extLst>
          </p:cNvPr>
          <p:cNvSpPr>
            <a:spLocks noChangeArrowheads="1"/>
          </p:cNvSpPr>
          <p:nvPr/>
        </p:nvSpPr>
        <p:spPr bwMode="auto">
          <a:xfrm>
            <a:off x="4964637" y="3111011"/>
            <a:ext cx="457200" cy="457200"/>
          </a:xfrm>
          <a:prstGeom prst="ellipse">
            <a:avLst/>
          </a:prstGeom>
          <a:solidFill>
            <a:schemeClr val="folHlink">
              <a:alpha val="17000"/>
            </a:schemeClr>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9104" name="Oval 16">
            <a:extLst>
              <a:ext uri="{FF2B5EF4-FFF2-40B4-BE49-F238E27FC236}">
                <a16:creationId xmlns:a16="http://schemas.microsoft.com/office/drawing/2014/main" id="{FABD8167-0BA9-44E3-B68F-B96FC90E5B92}"/>
              </a:ext>
            </a:extLst>
          </p:cNvPr>
          <p:cNvSpPr>
            <a:spLocks noChangeArrowheads="1"/>
          </p:cNvSpPr>
          <p:nvPr/>
        </p:nvSpPr>
        <p:spPr bwMode="auto">
          <a:xfrm>
            <a:off x="4937547" y="5191911"/>
            <a:ext cx="457200" cy="457200"/>
          </a:xfrm>
          <a:prstGeom prst="ellipse">
            <a:avLst/>
          </a:prstGeom>
          <a:solidFill>
            <a:schemeClr val="folHlink">
              <a:alpha val="17000"/>
            </a:schemeClr>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a:extLst>
              <a:ext uri="{FF2B5EF4-FFF2-40B4-BE49-F238E27FC236}">
                <a16:creationId xmlns:a16="http://schemas.microsoft.com/office/drawing/2014/main" id="{555AF9F7-9DBE-47AB-B872-727E898595B8}"/>
              </a:ext>
            </a:extLst>
          </p:cNvPr>
          <p:cNvSpPr>
            <a:spLocks noGrp="1" noChangeArrowheads="1"/>
          </p:cNvSpPr>
          <p:nvPr>
            <p:ph type="title"/>
          </p:nvPr>
        </p:nvSpPr>
        <p:spPr>
          <a:xfrm>
            <a:off x="685800" y="600076"/>
            <a:ext cx="7772400" cy="598488"/>
          </a:xfrm>
        </p:spPr>
        <p:txBody>
          <a:bodyPr>
            <a:normAutofit fontScale="90000"/>
          </a:bodyPr>
          <a:lstStyle/>
          <a:p>
            <a:r>
              <a:rPr lang="en-US" altLang="en-US" sz="4000" dirty="0">
                <a:solidFill>
                  <a:srgbClr val="FF0000"/>
                </a:solidFill>
              </a:rPr>
              <a:t>Mutual Exclusion: Traffic Analogy</a:t>
            </a:r>
            <a:endParaRPr lang="en-US" altLang="en-US" dirty="0">
              <a:solidFill>
                <a:srgbClr val="FF0000"/>
              </a:solidFill>
            </a:endParaRPr>
          </a:p>
        </p:txBody>
      </p:sp>
      <p:sp>
        <p:nvSpPr>
          <p:cNvPr id="91139" name="Rectangle 3">
            <a:extLst>
              <a:ext uri="{FF2B5EF4-FFF2-40B4-BE49-F238E27FC236}">
                <a16:creationId xmlns:a16="http://schemas.microsoft.com/office/drawing/2014/main" id="{578ADD82-FEF2-4F30-AC4A-749B5CB31838}"/>
              </a:ext>
            </a:extLst>
          </p:cNvPr>
          <p:cNvSpPr>
            <a:spLocks noGrp="1" noChangeArrowheads="1"/>
          </p:cNvSpPr>
          <p:nvPr>
            <p:ph type="body" idx="1"/>
          </p:nvPr>
        </p:nvSpPr>
        <p:spPr>
          <a:xfrm>
            <a:off x="199836" y="1562100"/>
            <a:ext cx="8531604" cy="914400"/>
          </a:xfrm>
        </p:spPr>
        <p:txBody>
          <a:bodyPr/>
          <a:lstStyle/>
          <a:p>
            <a:r>
              <a:rPr lang="en-US" altLang="en-US" sz="2000" dirty="0"/>
              <a:t>If process </a:t>
            </a:r>
            <a:r>
              <a:rPr lang="en-US" altLang="en-US" sz="2000" dirty="0">
                <a:solidFill>
                  <a:srgbClr val="0000FF"/>
                </a:solidFill>
              </a:rPr>
              <a:t>P</a:t>
            </a:r>
            <a:r>
              <a:rPr lang="en-US" altLang="en-US" sz="2000" baseline="-25000" dirty="0">
                <a:solidFill>
                  <a:srgbClr val="0000FF"/>
                </a:solidFill>
              </a:rPr>
              <a:t>i</a:t>
            </a:r>
            <a:r>
              <a:rPr lang="en-US" altLang="en-US" sz="2000" dirty="0"/>
              <a:t> is executing in its critical section, then no other processes can be executing in their critical sections</a:t>
            </a:r>
          </a:p>
          <a:p>
            <a:pPr marL="609600" indent="-609600">
              <a:lnSpc>
                <a:spcPct val="90000"/>
              </a:lnSpc>
              <a:buFont typeface="Arial" panose="020B0604020202020204" pitchFamily="34" charset="0"/>
              <a:buAutoNum type="arabicPeriod" startAt="2"/>
            </a:pPr>
            <a:endParaRPr lang="en-US" altLang="en-US" sz="1800" dirty="0">
              <a:latin typeface="Garamond" panose="02020404030301010803" pitchFamily="18" charset="0"/>
            </a:endParaRPr>
          </a:p>
        </p:txBody>
      </p:sp>
      <p:pic>
        <p:nvPicPr>
          <p:cNvPr id="91140" name="Picture 4" descr="4-way_stop">
            <a:extLst>
              <a:ext uri="{FF2B5EF4-FFF2-40B4-BE49-F238E27FC236}">
                <a16:creationId xmlns:a16="http://schemas.microsoft.com/office/drawing/2014/main" id="{521144D3-E96D-4BA0-808C-B5C69A1F81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3200400"/>
            <a:ext cx="5410200" cy="3597275"/>
          </a:xfrm>
          <a:prstGeom prst="rect">
            <a:avLst/>
          </a:prstGeom>
          <a:noFill/>
          <a:extLst>
            <a:ext uri="{909E8E84-426E-40DD-AFC4-6F175D3DCCD1}">
              <a14:hiddenFill xmlns:a14="http://schemas.microsoft.com/office/drawing/2010/main">
                <a:solidFill>
                  <a:srgbClr val="FFFFFF"/>
                </a:solidFill>
              </a14:hiddenFill>
            </a:ext>
          </a:extLst>
        </p:spPr>
      </p:pic>
      <p:pic>
        <p:nvPicPr>
          <p:cNvPr id="91141" name="Picture 5" descr="car1">
            <a:extLst>
              <a:ext uri="{FF2B5EF4-FFF2-40B4-BE49-F238E27FC236}">
                <a16:creationId xmlns:a16="http://schemas.microsoft.com/office/drawing/2014/main" id="{5D0B4171-C53A-4D9C-A143-A55288154BE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4400" y="5410200"/>
            <a:ext cx="658813" cy="493713"/>
          </a:xfrm>
          <a:prstGeom prst="rect">
            <a:avLst/>
          </a:prstGeom>
          <a:noFill/>
          <a:extLst>
            <a:ext uri="{909E8E84-426E-40DD-AFC4-6F175D3DCCD1}">
              <a14:hiddenFill xmlns:a14="http://schemas.microsoft.com/office/drawing/2010/main">
                <a:solidFill>
                  <a:srgbClr val="FFFFFF"/>
                </a:solidFill>
              </a14:hiddenFill>
            </a:ext>
          </a:extLst>
        </p:spPr>
      </p:pic>
      <p:pic>
        <p:nvPicPr>
          <p:cNvPr id="91142" name="Picture 6" descr="car2">
            <a:extLst>
              <a:ext uri="{FF2B5EF4-FFF2-40B4-BE49-F238E27FC236}">
                <a16:creationId xmlns:a16="http://schemas.microsoft.com/office/drawing/2014/main" id="{267E620C-3A4D-4547-B5F1-D0A2D5ADDFC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86200" y="5486400"/>
            <a:ext cx="579438" cy="590550"/>
          </a:xfrm>
          <a:prstGeom prst="rect">
            <a:avLst/>
          </a:prstGeom>
          <a:noFill/>
          <a:extLst>
            <a:ext uri="{909E8E84-426E-40DD-AFC4-6F175D3DCCD1}">
              <a14:hiddenFill xmlns:a14="http://schemas.microsoft.com/office/drawing/2010/main">
                <a:solidFill>
                  <a:srgbClr val="FFFFFF"/>
                </a:solidFill>
              </a14:hiddenFill>
            </a:ext>
          </a:extLst>
        </p:spPr>
      </p:pic>
      <p:pic>
        <p:nvPicPr>
          <p:cNvPr id="91143" name="Picture 7" descr="car3">
            <a:extLst>
              <a:ext uri="{FF2B5EF4-FFF2-40B4-BE49-F238E27FC236}">
                <a16:creationId xmlns:a16="http://schemas.microsoft.com/office/drawing/2014/main" id="{6112E670-4445-4AAB-81F1-3EBE1C9255D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14800" y="3810000"/>
            <a:ext cx="457200" cy="392113"/>
          </a:xfrm>
          <a:prstGeom prst="rect">
            <a:avLst/>
          </a:prstGeom>
          <a:noFill/>
          <a:extLst>
            <a:ext uri="{909E8E84-426E-40DD-AFC4-6F175D3DCCD1}">
              <a14:hiddenFill xmlns:a14="http://schemas.microsoft.com/office/drawing/2010/main">
                <a:solidFill>
                  <a:srgbClr val="FFFFFF"/>
                </a:solidFill>
              </a14:hiddenFill>
            </a:ext>
          </a:extLst>
        </p:spPr>
      </p:pic>
      <p:pic>
        <p:nvPicPr>
          <p:cNvPr id="91144" name="Picture 8" descr="car4">
            <a:extLst>
              <a:ext uri="{FF2B5EF4-FFF2-40B4-BE49-F238E27FC236}">
                <a16:creationId xmlns:a16="http://schemas.microsoft.com/office/drawing/2014/main" id="{3F3E8A73-A6F7-4239-A6AC-1FE3864DA65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09800" y="4267200"/>
            <a:ext cx="654050" cy="506413"/>
          </a:xfrm>
          <a:prstGeom prst="rect">
            <a:avLst/>
          </a:prstGeom>
          <a:noFill/>
          <a:extLst>
            <a:ext uri="{909E8E84-426E-40DD-AFC4-6F175D3DCCD1}">
              <a14:hiddenFill xmlns:a14="http://schemas.microsoft.com/office/drawing/2010/main">
                <a:solidFill>
                  <a:srgbClr val="FFFFFF"/>
                </a:solidFill>
              </a14:hiddenFill>
            </a:ext>
          </a:extLst>
        </p:spPr>
      </p:pic>
      <p:sp>
        <p:nvSpPr>
          <p:cNvPr id="91145" name="Text Box 9">
            <a:extLst>
              <a:ext uri="{FF2B5EF4-FFF2-40B4-BE49-F238E27FC236}">
                <a16:creationId xmlns:a16="http://schemas.microsoft.com/office/drawing/2014/main" id="{D7CE4142-A87E-4C44-8198-7664FE3264B0}"/>
              </a:ext>
            </a:extLst>
          </p:cNvPr>
          <p:cNvSpPr txBox="1">
            <a:spLocks noChangeArrowheads="1"/>
          </p:cNvSpPr>
          <p:nvPr/>
        </p:nvSpPr>
        <p:spPr bwMode="auto">
          <a:xfrm>
            <a:off x="2667000" y="4495800"/>
            <a:ext cx="304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i="0"/>
              <a:t>1</a:t>
            </a:r>
            <a:endParaRPr lang="en-US" altLang="en-US"/>
          </a:p>
        </p:txBody>
      </p:sp>
      <p:sp>
        <p:nvSpPr>
          <p:cNvPr id="91146" name="Text Box 10">
            <a:extLst>
              <a:ext uri="{FF2B5EF4-FFF2-40B4-BE49-F238E27FC236}">
                <a16:creationId xmlns:a16="http://schemas.microsoft.com/office/drawing/2014/main" id="{69024716-AC9D-4CCC-8B41-AD9762F35B23}"/>
              </a:ext>
            </a:extLst>
          </p:cNvPr>
          <p:cNvSpPr txBox="1">
            <a:spLocks noChangeArrowheads="1"/>
          </p:cNvSpPr>
          <p:nvPr/>
        </p:nvSpPr>
        <p:spPr bwMode="auto">
          <a:xfrm>
            <a:off x="4038600" y="3962400"/>
            <a:ext cx="3270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i="0"/>
              <a:t>3</a:t>
            </a:r>
            <a:endParaRPr lang="en-US" altLang="en-US"/>
          </a:p>
        </p:txBody>
      </p:sp>
      <p:sp>
        <p:nvSpPr>
          <p:cNvPr id="91147" name="Text Box 11">
            <a:extLst>
              <a:ext uri="{FF2B5EF4-FFF2-40B4-BE49-F238E27FC236}">
                <a16:creationId xmlns:a16="http://schemas.microsoft.com/office/drawing/2014/main" id="{C68A1E4B-272C-4833-8FBA-54A3F9861EC0}"/>
              </a:ext>
            </a:extLst>
          </p:cNvPr>
          <p:cNvSpPr txBox="1">
            <a:spLocks noChangeArrowheads="1"/>
          </p:cNvSpPr>
          <p:nvPr/>
        </p:nvSpPr>
        <p:spPr bwMode="auto">
          <a:xfrm>
            <a:off x="1295400" y="5181600"/>
            <a:ext cx="3270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i="0"/>
              <a:t>2</a:t>
            </a:r>
            <a:endParaRPr lang="en-US" altLang="en-US"/>
          </a:p>
        </p:txBody>
      </p:sp>
      <p:sp>
        <p:nvSpPr>
          <p:cNvPr id="91148" name="Text Box 12">
            <a:extLst>
              <a:ext uri="{FF2B5EF4-FFF2-40B4-BE49-F238E27FC236}">
                <a16:creationId xmlns:a16="http://schemas.microsoft.com/office/drawing/2014/main" id="{4A25E720-F2E5-491F-87A9-9CBC4AB2A6E8}"/>
              </a:ext>
            </a:extLst>
          </p:cNvPr>
          <p:cNvSpPr txBox="1">
            <a:spLocks noChangeArrowheads="1"/>
          </p:cNvSpPr>
          <p:nvPr/>
        </p:nvSpPr>
        <p:spPr bwMode="auto">
          <a:xfrm>
            <a:off x="3810000" y="5257800"/>
            <a:ext cx="3270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i="0"/>
              <a:t>4</a:t>
            </a:r>
            <a:endParaRPr lang="en-US" altLang="en-US"/>
          </a:p>
        </p:txBody>
      </p:sp>
      <p:sp>
        <p:nvSpPr>
          <p:cNvPr id="91149" name="Oval 13">
            <a:extLst>
              <a:ext uri="{FF2B5EF4-FFF2-40B4-BE49-F238E27FC236}">
                <a16:creationId xmlns:a16="http://schemas.microsoft.com/office/drawing/2014/main" id="{73752AFD-D167-4A55-8100-44382AE1C53E}"/>
              </a:ext>
            </a:extLst>
          </p:cNvPr>
          <p:cNvSpPr>
            <a:spLocks noChangeArrowheads="1"/>
          </p:cNvSpPr>
          <p:nvPr/>
        </p:nvSpPr>
        <p:spPr bwMode="auto">
          <a:xfrm>
            <a:off x="2590800" y="4495800"/>
            <a:ext cx="457200" cy="457200"/>
          </a:xfrm>
          <a:prstGeom prst="ellipse">
            <a:avLst/>
          </a:prstGeom>
          <a:solidFill>
            <a:schemeClr val="folHlink">
              <a:alpha val="17000"/>
            </a:schemeClr>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1150" name="Oval 14">
            <a:extLst>
              <a:ext uri="{FF2B5EF4-FFF2-40B4-BE49-F238E27FC236}">
                <a16:creationId xmlns:a16="http://schemas.microsoft.com/office/drawing/2014/main" id="{2CE7E993-066F-496D-AC67-0CCBD734AC92}"/>
              </a:ext>
            </a:extLst>
          </p:cNvPr>
          <p:cNvSpPr>
            <a:spLocks noChangeArrowheads="1"/>
          </p:cNvSpPr>
          <p:nvPr/>
        </p:nvSpPr>
        <p:spPr bwMode="auto">
          <a:xfrm>
            <a:off x="1219200" y="5181600"/>
            <a:ext cx="457200" cy="457200"/>
          </a:xfrm>
          <a:prstGeom prst="ellipse">
            <a:avLst/>
          </a:prstGeom>
          <a:solidFill>
            <a:schemeClr val="folHlink">
              <a:alpha val="17000"/>
            </a:schemeClr>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1151" name="Oval 15">
            <a:extLst>
              <a:ext uri="{FF2B5EF4-FFF2-40B4-BE49-F238E27FC236}">
                <a16:creationId xmlns:a16="http://schemas.microsoft.com/office/drawing/2014/main" id="{C1F4B8D6-034D-4F8B-A5E1-8746295A08C4}"/>
              </a:ext>
            </a:extLst>
          </p:cNvPr>
          <p:cNvSpPr>
            <a:spLocks noChangeArrowheads="1"/>
          </p:cNvSpPr>
          <p:nvPr/>
        </p:nvSpPr>
        <p:spPr bwMode="auto">
          <a:xfrm>
            <a:off x="3962400" y="3962400"/>
            <a:ext cx="457200" cy="457200"/>
          </a:xfrm>
          <a:prstGeom prst="ellipse">
            <a:avLst/>
          </a:prstGeom>
          <a:solidFill>
            <a:schemeClr val="folHlink">
              <a:alpha val="17000"/>
            </a:schemeClr>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1152" name="Oval 16">
            <a:extLst>
              <a:ext uri="{FF2B5EF4-FFF2-40B4-BE49-F238E27FC236}">
                <a16:creationId xmlns:a16="http://schemas.microsoft.com/office/drawing/2014/main" id="{5534FF0F-1DE3-4A5C-8FF9-CD98AE12C8A7}"/>
              </a:ext>
            </a:extLst>
          </p:cNvPr>
          <p:cNvSpPr>
            <a:spLocks noChangeArrowheads="1"/>
          </p:cNvSpPr>
          <p:nvPr/>
        </p:nvSpPr>
        <p:spPr bwMode="auto">
          <a:xfrm>
            <a:off x="3733800" y="5257800"/>
            <a:ext cx="457200" cy="457200"/>
          </a:xfrm>
          <a:prstGeom prst="ellipse">
            <a:avLst/>
          </a:prstGeom>
          <a:solidFill>
            <a:schemeClr val="folHlink">
              <a:alpha val="17000"/>
            </a:schemeClr>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1153" name="AutoShape 17">
            <a:extLst>
              <a:ext uri="{FF2B5EF4-FFF2-40B4-BE49-F238E27FC236}">
                <a16:creationId xmlns:a16="http://schemas.microsoft.com/office/drawing/2014/main" id="{ED49D9F0-4F2E-4F60-B5B9-FD87B40DF9A7}"/>
              </a:ext>
            </a:extLst>
          </p:cNvPr>
          <p:cNvSpPr>
            <a:spLocks noChangeArrowheads="1"/>
          </p:cNvSpPr>
          <p:nvPr/>
        </p:nvSpPr>
        <p:spPr bwMode="auto">
          <a:xfrm>
            <a:off x="5791200" y="3505200"/>
            <a:ext cx="3200400" cy="2057400"/>
          </a:xfrm>
          <a:prstGeom prst="wedgeRoundRectCallout">
            <a:avLst>
              <a:gd name="adj1" fmla="val -57889"/>
              <a:gd name="adj2" fmla="val 77083"/>
              <a:gd name="adj3" fmla="val 16667"/>
            </a:avLst>
          </a:prstGeom>
          <a:solidFill>
            <a:srgbClr val="FFC000"/>
          </a:solidFill>
          <a:ln w="9525">
            <a:solidFill>
              <a:schemeClr val="tx1"/>
            </a:solidFill>
            <a:miter lim="800000"/>
            <a:headEnd/>
            <a:tailEnd/>
          </a:ln>
          <a:effectLst/>
        </p:spPr>
        <p:txBody>
          <a:bodyPr wrap="none" anchor="ctr"/>
          <a:lstStyle/>
          <a:p>
            <a:pPr algn="ctr"/>
            <a:endParaRPr lang="en-US" altLang="en-US"/>
          </a:p>
        </p:txBody>
      </p:sp>
      <p:sp>
        <p:nvSpPr>
          <p:cNvPr id="91154" name="Text Box 18">
            <a:extLst>
              <a:ext uri="{FF2B5EF4-FFF2-40B4-BE49-F238E27FC236}">
                <a16:creationId xmlns:a16="http://schemas.microsoft.com/office/drawing/2014/main" id="{A1117428-6DCD-455E-9790-B918AE99F2EB}"/>
              </a:ext>
            </a:extLst>
          </p:cNvPr>
          <p:cNvSpPr txBox="1">
            <a:spLocks noChangeArrowheads="1"/>
          </p:cNvSpPr>
          <p:nvPr/>
        </p:nvSpPr>
        <p:spPr bwMode="auto">
          <a:xfrm>
            <a:off x="5906970" y="3811250"/>
            <a:ext cx="3124200" cy="144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en-US" sz="2200" dirty="0"/>
              <a:t>Only one car can be in the square area between the stop signs at a given time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a:extLst>
              <a:ext uri="{FF2B5EF4-FFF2-40B4-BE49-F238E27FC236}">
                <a16:creationId xmlns:a16="http://schemas.microsoft.com/office/drawing/2014/main" id="{AB46AA24-5D3E-4BDB-B3DD-8CC8BEA91D45}"/>
              </a:ext>
            </a:extLst>
          </p:cNvPr>
          <p:cNvSpPr>
            <a:spLocks noGrp="1" noChangeArrowheads="1"/>
          </p:cNvSpPr>
          <p:nvPr>
            <p:ph type="title"/>
          </p:nvPr>
        </p:nvSpPr>
        <p:spPr>
          <a:xfrm>
            <a:off x="555072" y="803275"/>
            <a:ext cx="7772400" cy="598488"/>
          </a:xfrm>
        </p:spPr>
        <p:txBody>
          <a:bodyPr>
            <a:normAutofit fontScale="90000"/>
          </a:bodyPr>
          <a:lstStyle/>
          <a:p>
            <a:r>
              <a:rPr lang="en-US" altLang="en-US" sz="4000" dirty="0">
                <a:solidFill>
                  <a:srgbClr val="FF0000"/>
                </a:solidFill>
              </a:rPr>
              <a:t>Progress: Traffic Analogy</a:t>
            </a:r>
            <a:endParaRPr lang="en-US" altLang="en-US" dirty="0">
              <a:solidFill>
                <a:srgbClr val="FF0000"/>
              </a:solidFill>
            </a:endParaRPr>
          </a:p>
        </p:txBody>
      </p:sp>
      <p:sp>
        <p:nvSpPr>
          <p:cNvPr id="93187" name="Rectangle 3">
            <a:extLst>
              <a:ext uri="{FF2B5EF4-FFF2-40B4-BE49-F238E27FC236}">
                <a16:creationId xmlns:a16="http://schemas.microsoft.com/office/drawing/2014/main" id="{732A8AEE-F61E-4EE7-8DBE-CD45C556A393}"/>
              </a:ext>
            </a:extLst>
          </p:cNvPr>
          <p:cNvSpPr>
            <a:spLocks noGrp="1" noChangeArrowheads="1"/>
          </p:cNvSpPr>
          <p:nvPr>
            <p:ph type="body" idx="1"/>
          </p:nvPr>
        </p:nvSpPr>
        <p:spPr>
          <a:xfrm>
            <a:off x="0" y="1600200"/>
            <a:ext cx="8506437" cy="914400"/>
          </a:xfrm>
        </p:spPr>
        <p:txBody>
          <a:bodyPr>
            <a:normAutofit/>
          </a:bodyPr>
          <a:lstStyle/>
          <a:p>
            <a:r>
              <a:rPr lang="en-US" altLang="en-US" sz="2000" dirty="0"/>
              <a:t>If no process is executing in its critical section and there exist some processes that wish to enter their critical section, then the selection of the processes that will enter the critical section next cannot be postponed indefinitely</a:t>
            </a:r>
            <a:endParaRPr lang="en-US" altLang="en-US" sz="1800" dirty="0"/>
          </a:p>
        </p:txBody>
      </p:sp>
      <p:pic>
        <p:nvPicPr>
          <p:cNvPr id="93188" name="Picture 4" descr="4-way_stop">
            <a:extLst>
              <a:ext uri="{FF2B5EF4-FFF2-40B4-BE49-F238E27FC236}">
                <a16:creationId xmlns:a16="http://schemas.microsoft.com/office/drawing/2014/main" id="{C508338B-7C06-4100-B177-9C48770C40A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3184525"/>
            <a:ext cx="5410200" cy="3597275"/>
          </a:xfrm>
          <a:prstGeom prst="rect">
            <a:avLst/>
          </a:prstGeom>
          <a:noFill/>
          <a:extLst>
            <a:ext uri="{909E8E84-426E-40DD-AFC4-6F175D3DCCD1}">
              <a14:hiddenFill xmlns:a14="http://schemas.microsoft.com/office/drawing/2010/main">
                <a:solidFill>
                  <a:srgbClr val="FFFFFF"/>
                </a:solidFill>
              </a14:hiddenFill>
            </a:ext>
          </a:extLst>
        </p:spPr>
      </p:pic>
      <p:pic>
        <p:nvPicPr>
          <p:cNvPr id="93189" name="Picture 5" descr="car4">
            <a:extLst>
              <a:ext uri="{FF2B5EF4-FFF2-40B4-BE49-F238E27FC236}">
                <a16:creationId xmlns:a16="http://schemas.microsoft.com/office/drawing/2014/main" id="{8646F13C-EB2E-4B5C-AA60-6B5498C3A71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00200" y="3581400"/>
            <a:ext cx="654050" cy="50641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a:extLst>
              <a:ext uri="{FF2B5EF4-FFF2-40B4-BE49-F238E27FC236}">
                <a16:creationId xmlns:a16="http://schemas.microsoft.com/office/drawing/2014/main" id="{D93E523A-1F22-4761-B931-B3AF67297CAC}"/>
              </a:ext>
            </a:extLst>
          </p:cNvPr>
          <p:cNvSpPr>
            <a:spLocks noGrp="1" noChangeArrowheads="1"/>
          </p:cNvSpPr>
          <p:nvPr>
            <p:ph type="title"/>
          </p:nvPr>
        </p:nvSpPr>
        <p:spPr>
          <a:xfrm>
            <a:off x="529905" y="620712"/>
            <a:ext cx="7772400" cy="598488"/>
          </a:xfrm>
        </p:spPr>
        <p:txBody>
          <a:bodyPr>
            <a:normAutofit fontScale="90000"/>
          </a:bodyPr>
          <a:lstStyle/>
          <a:p>
            <a:r>
              <a:rPr lang="en-US" altLang="en-US" sz="4000" dirty="0">
                <a:solidFill>
                  <a:srgbClr val="FF0000"/>
                </a:solidFill>
              </a:rPr>
              <a:t>Progress: Traffic Analogy</a:t>
            </a:r>
            <a:endParaRPr lang="en-US" altLang="en-US" dirty="0">
              <a:solidFill>
                <a:srgbClr val="FF0000"/>
              </a:solidFill>
            </a:endParaRPr>
          </a:p>
        </p:txBody>
      </p:sp>
      <p:sp>
        <p:nvSpPr>
          <p:cNvPr id="95235" name="Rectangle 3">
            <a:extLst>
              <a:ext uri="{FF2B5EF4-FFF2-40B4-BE49-F238E27FC236}">
                <a16:creationId xmlns:a16="http://schemas.microsoft.com/office/drawing/2014/main" id="{3F7E0D6B-3CBF-4178-A8BB-58C458837E34}"/>
              </a:ext>
            </a:extLst>
          </p:cNvPr>
          <p:cNvSpPr>
            <a:spLocks noGrp="1" noChangeArrowheads="1"/>
          </p:cNvSpPr>
          <p:nvPr>
            <p:ph type="body" idx="1"/>
          </p:nvPr>
        </p:nvSpPr>
        <p:spPr>
          <a:xfrm>
            <a:off x="129330" y="1573213"/>
            <a:ext cx="8573549" cy="1169987"/>
          </a:xfrm>
        </p:spPr>
        <p:txBody>
          <a:bodyPr>
            <a:normAutofit/>
          </a:bodyPr>
          <a:lstStyle/>
          <a:p>
            <a:r>
              <a:rPr lang="en-US" altLang="en-US" sz="2000" dirty="0"/>
              <a:t>If no process is executing in its critical section and there exist some processes that wish to enter their critical section, then the selection of the processes that will enter the critical section next cannot be postponed indefinitely</a:t>
            </a:r>
            <a:endParaRPr lang="en-US" altLang="en-US" sz="1800" dirty="0"/>
          </a:p>
        </p:txBody>
      </p:sp>
      <p:sp>
        <p:nvSpPr>
          <p:cNvPr id="95236" name="AutoShape 4">
            <a:extLst>
              <a:ext uri="{FF2B5EF4-FFF2-40B4-BE49-F238E27FC236}">
                <a16:creationId xmlns:a16="http://schemas.microsoft.com/office/drawing/2014/main" id="{CF6592F0-F232-4931-880B-FC5E53A652C6}"/>
              </a:ext>
            </a:extLst>
          </p:cNvPr>
          <p:cNvSpPr>
            <a:spLocks noChangeArrowheads="1"/>
          </p:cNvSpPr>
          <p:nvPr/>
        </p:nvSpPr>
        <p:spPr bwMode="auto">
          <a:xfrm>
            <a:off x="5791200" y="3505200"/>
            <a:ext cx="3200400" cy="2057400"/>
          </a:xfrm>
          <a:prstGeom prst="wedgeRoundRectCallout">
            <a:avLst>
              <a:gd name="adj1" fmla="val -57889"/>
              <a:gd name="adj2" fmla="val 77083"/>
              <a:gd name="adj3" fmla="val 16667"/>
            </a:avLst>
          </a:prstGeom>
          <a:solidFill>
            <a:srgbClr val="FFC000"/>
          </a:solidFill>
          <a:ln w="9525">
            <a:solidFill>
              <a:schemeClr val="tx1"/>
            </a:solidFill>
            <a:miter lim="800000"/>
            <a:headEnd/>
            <a:tailEnd/>
          </a:ln>
          <a:effectLst/>
        </p:spPr>
        <p:txBody>
          <a:bodyPr wrap="none" anchor="ctr"/>
          <a:lstStyle/>
          <a:p>
            <a:pPr algn="ctr"/>
            <a:endParaRPr lang="en-US" altLang="en-US"/>
          </a:p>
        </p:txBody>
      </p:sp>
      <p:pic>
        <p:nvPicPr>
          <p:cNvPr id="95237" name="Picture 5" descr="4-way_stop">
            <a:extLst>
              <a:ext uri="{FF2B5EF4-FFF2-40B4-BE49-F238E27FC236}">
                <a16:creationId xmlns:a16="http://schemas.microsoft.com/office/drawing/2014/main" id="{748657B0-D419-4931-86C3-1932B66249E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3184525"/>
            <a:ext cx="5410200" cy="3597275"/>
          </a:xfrm>
          <a:prstGeom prst="rect">
            <a:avLst/>
          </a:prstGeom>
          <a:noFill/>
          <a:extLst>
            <a:ext uri="{909E8E84-426E-40DD-AFC4-6F175D3DCCD1}">
              <a14:hiddenFill xmlns:a14="http://schemas.microsoft.com/office/drawing/2010/main">
                <a:solidFill>
                  <a:srgbClr val="FFFFFF"/>
                </a:solidFill>
              </a14:hiddenFill>
            </a:ext>
          </a:extLst>
        </p:spPr>
      </p:pic>
      <p:sp>
        <p:nvSpPr>
          <p:cNvPr id="95238" name="Text Box 6">
            <a:extLst>
              <a:ext uri="{FF2B5EF4-FFF2-40B4-BE49-F238E27FC236}">
                <a16:creationId xmlns:a16="http://schemas.microsoft.com/office/drawing/2014/main" id="{7CBB02D8-5BFB-4D7D-8B26-81B1D4EE3CEC}"/>
              </a:ext>
            </a:extLst>
          </p:cNvPr>
          <p:cNvSpPr txBox="1">
            <a:spLocks noChangeArrowheads="1"/>
          </p:cNvSpPr>
          <p:nvPr/>
        </p:nvSpPr>
        <p:spPr bwMode="auto">
          <a:xfrm>
            <a:off x="6062663" y="3810625"/>
            <a:ext cx="2776537" cy="144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en-US" sz="2200" dirty="0"/>
              <a:t>If the square is empty and there is some car, it will get to cross (no starvation)</a:t>
            </a:r>
          </a:p>
        </p:txBody>
      </p:sp>
      <p:pic>
        <p:nvPicPr>
          <p:cNvPr id="95239" name="Picture 7" descr="car4">
            <a:extLst>
              <a:ext uri="{FF2B5EF4-FFF2-40B4-BE49-F238E27FC236}">
                <a16:creationId xmlns:a16="http://schemas.microsoft.com/office/drawing/2014/main" id="{CB34BDD3-BD3D-4C77-B342-5F2F8446FDB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0" y="4343400"/>
            <a:ext cx="654050" cy="50641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a:extLst>
              <a:ext uri="{FF2B5EF4-FFF2-40B4-BE49-F238E27FC236}">
                <a16:creationId xmlns:a16="http://schemas.microsoft.com/office/drawing/2014/main" id="{23527441-E0DA-4955-8A2A-5D07A8840319}"/>
              </a:ext>
            </a:extLst>
          </p:cNvPr>
          <p:cNvSpPr>
            <a:spLocks noGrp="1" noChangeArrowheads="1"/>
          </p:cNvSpPr>
          <p:nvPr>
            <p:ph type="title"/>
          </p:nvPr>
        </p:nvSpPr>
        <p:spPr>
          <a:xfrm>
            <a:off x="533400" y="669925"/>
            <a:ext cx="7772400" cy="598488"/>
          </a:xfrm>
        </p:spPr>
        <p:txBody>
          <a:bodyPr>
            <a:normAutofit fontScale="90000"/>
          </a:bodyPr>
          <a:lstStyle/>
          <a:p>
            <a:r>
              <a:rPr lang="en-US" altLang="en-US" sz="4000" dirty="0">
                <a:solidFill>
                  <a:srgbClr val="FF0000"/>
                </a:solidFill>
              </a:rPr>
              <a:t>Bounded Waiting: Traffic Analogy</a:t>
            </a:r>
            <a:endParaRPr lang="en-US" altLang="en-US" dirty="0">
              <a:solidFill>
                <a:srgbClr val="FF0000"/>
              </a:solidFill>
            </a:endParaRPr>
          </a:p>
        </p:txBody>
      </p:sp>
      <p:sp>
        <p:nvSpPr>
          <p:cNvPr id="97283" name="Rectangle 3">
            <a:extLst>
              <a:ext uri="{FF2B5EF4-FFF2-40B4-BE49-F238E27FC236}">
                <a16:creationId xmlns:a16="http://schemas.microsoft.com/office/drawing/2014/main" id="{49C7A08E-7829-4DDD-BD44-C49F43A50301}"/>
              </a:ext>
            </a:extLst>
          </p:cNvPr>
          <p:cNvSpPr>
            <a:spLocks noGrp="1" noChangeArrowheads="1"/>
          </p:cNvSpPr>
          <p:nvPr>
            <p:ph type="body" idx="1"/>
          </p:nvPr>
        </p:nvSpPr>
        <p:spPr>
          <a:xfrm>
            <a:off x="354435" y="1612500"/>
            <a:ext cx="7063530" cy="533400"/>
          </a:xfrm>
        </p:spPr>
        <p:txBody>
          <a:bodyPr>
            <a:normAutofit/>
          </a:bodyPr>
          <a:lstStyle/>
          <a:p>
            <a:r>
              <a:rPr lang="en-US" altLang="en-US" sz="2000" dirty="0"/>
              <a:t>no process/thread can be kept waiting forever to enter its CS.</a:t>
            </a:r>
          </a:p>
          <a:p>
            <a:pPr marL="609600" indent="-609600">
              <a:lnSpc>
                <a:spcPct val="90000"/>
              </a:lnSpc>
              <a:buFontTx/>
              <a:buNone/>
            </a:pPr>
            <a:endParaRPr lang="en-US" altLang="en-US" sz="1600" dirty="0">
              <a:latin typeface="Garamond" panose="02020404030301010803" pitchFamily="18" charset="0"/>
            </a:endParaRPr>
          </a:p>
        </p:txBody>
      </p:sp>
      <p:sp>
        <p:nvSpPr>
          <p:cNvPr id="97284" name="AutoShape 4">
            <a:extLst>
              <a:ext uri="{FF2B5EF4-FFF2-40B4-BE49-F238E27FC236}">
                <a16:creationId xmlns:a16="http://schemas.microsoft.com/office/drawing/2014/main" id="{6DAA926D-19AA-4B4E-AF23-616368B9CDFC}"/>
              </a:ext>
            </a:extLst>
          </p:cNvPr>
          <p:cNvSpPr>
            <a:spLocks noChangeArrowheads="1"/>
          </p:cNvSpPr>
          <p:nvPr/>
        </p:nvSpPr>
        <p:spPr bwMode="auto">
          <a:xfrm>
            <a:off x="5729535" y="3834606"/>
            <a:ext cx="3200400" cy="2057400"/>
          </a:xfrm>
          <a:prstGeom prst="wedgeRoundRectCallout">
            <a:avLst>
              <a:gd name="adj1" fmla="val -57889"/>
              <a:gd name="adj2" fmla="val 77083"/>
              <a:gd name="adj3" fmla="val 16667"/>
            </a:avLst>
          </a:prstGeom>
          <a:solidFill>
            <a:srgbClr val="FFC000"/>
          </a:solidFill>
          <a:ln w="9525">
            <a:solidFill>
              <a:schemeClr val="tx1"/>
            </a:solidFill>
            <a:miter lim="800000"/>
            <a:headEnd/>
            <a:tailEnd/>
          </a:ln>
          <a:effectLst/>
        </p:spPr>
        <p:txBody>
          <a:bodyPr wrap="none" anchor="ctr"/>
          <a:lstStyle/>
          <a:p>
            <a:pPr algn="ctr"/>
            <a:endParaRPr lang="en-US" altLang="en-US"/>
          </a:p>
        </p:txBody>
      </p:sp>
      <p:sp>
        <p:nvSpPr>
          <p:cNvPr id="97285" name="Text Box 5">
            <a:extLst>
              <a:ext uri="{FF2B5EF4-FFF2-40B4-BE49-F238E27FC236}">
                <a16:creationId xmlns:a16="http://schemas.microsoft.com/office/drawing/2014/main" id="{F9B00EFD-C09B-4DFB-9128-40EA1E466952}"/>
              </a:ext>
            </a:extLst>
          </p:cNvPr>
          <p:cNvSpPr txBox="1">
            <a:spLocks noChangeArrowheads="1"/>
          </p:cNvSpPr>
          <p:nvPr/>
        </p:nvSpPr>
        <p:spPr bwMode="auto">
          <a:xfrm>
            <a:off x="6062663" y="3963988"/>
            <a:ext cx="2477330" cy="144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en-US" sz="2200" dirty="0"/>
              <a:t>Any car has to wait at most for 3 others to pass after it </a:t>
            </a:r>
          </a:p>
          <a:p>
            <a:r>
              <a:rPr lang="en-US" altLang="en-US" sz="2200" dirty="0"/>
              <a:t>stops (fairness)</a:t>
            </a:r>
          </a:p>
        </p:txBody>
      </p:sp>
      <p:pic>
        <p:nvPicPr>
          <p:cNvPr id="97286" name="Picture 6" descr="4-way_stop">
            <a:extLst>
              <a:ext uri="{FF2B5EF4-FFF2-40B4-BE49-F238E27FC236}">
                <a16:creationId xmlns:a16="http://schemas.microsoft.com/office/drawing/2014/main" id="{C7C763CE-C655-4EAD-AE7D-ABD9AB6AEF9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3200400"/>
            <a:ext cx="5410200" cy="3597275"/>
          </a:xfrm>
          <a:prstGeom prst="rect">
            <a:avLst/>
          </a:prstGeom>
          <a:noFill/>
          <a:extLst>
            <a:ext uri="{909E8E84-426E-40DD-AFC4-6F175D3DCCD1}">
              <a14:hiddenFill xmlns:a14="http://schemas.microsoft.com/office/drawing/2010/main">
                <a:solidFill>
                  <a:srgbClr val="FFFFFF"/>
                </a:solidFill>
              </a14:hiddenFill>
            </a:ext>
          </a:extLst>
        </p:spPr>
      </p:pic>
      <p:pic>
        <p:nvPicPr>
          <p:cNvPr id="97287" name="Picture 7" descr="car1">
            <a:extLst>
              <a:ext uri="{FF2B5EF4-FFF2-40B4-BE49-F238E27FC236}">
                <a16:creationId xmlns:a16="http://schemas.microsoft.com/office/drawing/2014/main" id="{A9A1DC81-BE35-49E6-B359-E53FA2DB6CB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4400" y="5410200"/>
            <a:ext cx="658813" cy="493713"/>
          </a:xfrm>
          <a:prstGeom prst="rect">
            <a:avLst/>
          </a:prstGeom>
          <a:noFill/>
          <a:extLst>
            <a:ext uri="{909E8E84-426E-40DD-AFC4-6F175D3DCCD1}">
              <a14:hiddenFill xmlns:a14="http://schemas.microsoft.com/office/drawing/2010/main">
                <a:solidFill>
                  <a:srgbClr val="FFFFFF"/>
                </a:solidFill>
              </a14:hiddenFill>
            </a:ext>
          </a:extLst>
        </p:spPr>
      </p:pic>
      <p:pic>
        <p:nvPicPr>
          <p:cNvPr id="97288" name="Picture 8" descr="car2">
            <a:extLst>
              <a:ext uri="{FF2B5EF4-FFF2-40B4-BE49-F238E27FC236}">
                <a16:creationId xmlns:a16="http://schemas.microsoft.com/office/drawing/2014/main" id="{C1DFF652-140E-42D2-B860-7759A8F8A90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86200" y="5486400"/>
            <a:ext cx="579438" cy="590550"/>
          </a:xfrm>
          <a:prstGeom prst="rect">
            <a:avLst/>
          </a:prstGeom>
          <a:noFill/>
          <a:extLst>
            <a:ext uri="{909E8E84-426E-40DD-AFC4-6F175D3DCCD1}">
              <a14:hiddenFill xmlns:a14="http://schemas.microsoft.com/office/drawing/2010/main">
                <a:solidFill>
                  <a:srgbClr val="FFFFFF"/>
                </a:solidFill>
              </a14:hiddenFill>
            </a:ext>
          </a:extLst>
        </p:spPr>
      </p:pic>
      <p:pic>
        <p:nvPicPr>
          <p:cNvPr id="97289" name="Picture 9" descr="car3">
            <a:extLst>
              <a:ext uri="{FF2B5EF4-FFF2-40B4-BE49-F238E27FC236}">
                <a16:creationId xmlns:a16="http://schemas.microsoft.com/office/drawing/2014/main" id="{32708C97-9598-4F25-88F3-35B3D3A7334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14800" y="3810000"/>
            <a:ext cx="457200" cy="392113"/>
          </a:xfrm>
          <a:prstGeom prst="rect">
            <a:avLst/>
          </a:prstGeom>
          <a:noFill/>
          <a:extLst>
            <a:ext uri="{909E8E84-426E-40DD-AFC4-6F175D3DCCD1}">
              <a14:hiddenFill xmlns:a14="http://schemas.microsoft.com/office/drawing/2010/main">
                <a:solidFill>
                  <a:srgbClr val="FFFFFF"/>
                </a:solidFill>
              </a14:hiddenFill>
            </a:ext>
          </a:extLst>
        </p:spPr>
      </p:pic>
      <p:pic>
        <p:nvPicPr>
          <p:cNvPr id="97290" name="Picture 10" descr="car4">
            <a:extLst>
              <a:ext uri="{FF2B5EF4-FFF2-40B4-BE49-F238E27FC236}">
                <a16:creationId xmlns:a16="http://schemas.microsoft.com/office/drawing/2014/main" id="{15A912F7-C7CF-4448-B5C6-71BECA0991A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00200" y="3581400"/>
            <a:ext cx="654050" cy="506413"/>
          </a:xfrm>
          <a:prstGeom prst="rect">
            <a:avLst/>
          </a:prstGeom>
          <a:noFill/>
          <a:extLst>
            <a:ext uri="{909E8E84-426E-40DD-AFC4-6F175D3DCCD1}">
              <a14:hiddenFill xmlns:a14="http://schemas.microsoft.com/office/drawing/2010/main">
                <a:solidFill>
                  <a:srgbClr val="FFFFFF"/>
                </a:solidFill>
              </a14:hiddenFill>
            </a:ext>
          </a:extLst>
        </p:spPr>
      </p:pic>
      <p:sp>
        <p:nvSpPr>
          <p:cNvPr id="97291" name="Text Box 11">
            <a:extLst>
              <a:ext uri="{FF2B5EF4-FFF2-40B4-BE49-F238E27FC236}">
                <a16:creationId xmlns:a16="http://schemas.microsoft.com/office/drawing/2014/main" id="{8E92845C-A457-473D-9861-20C89317BE4E}"/>
              </a:ext>
            </a:extLst>
          </p:cNvPr>
          <p:cNvSpPr txBox="1">
            <a:spLocks noChangeArrowheads="1"/>
          </p:cNvSpPr>
          <p:nvPr/>
        </p:nvSpPr>
        <p:spPr bwMode="auto">
          <a:xfrm>
            <a:off x="2057400" y="3810000"/>
            <a:ext cx="304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i="0"/>
              <a:t>1</a:t>
            </a:r>
            <a:endParaRPr lang="en-US" altLang="en-US"/>
          </a:p>
        </p:txBody>
      </p:sp>
      <p:sp>
        <p:nvSpPr>
          <p:cNvPr id="97292" name="Text Box 12">
            <a:extLst>
              <a:ext uri="{FF2B5EF4-FFF2-40B4-BE49-F238E27FC236}">
                <a16:creationId xmlns:a16="http://schemas.microsoft.com/office/drawing/2014/main" id="{7A6B2022-872F-46F5-8C86-31599940F04E}"/>
              </a:ext>
            </a:extLst>
          </p:cNvPr>
          <p:cNvSpPr txBox="1">
            <a:spLocks noChangeArrowheads="1"/>
          </p:cNvSpPr>
          <p:nvPr/>
        </p:nvSpPr>
        <p:spPr bwMode="auto">
          <a:xfrm>
            <a:off x="4038600" y="3962400"/>
            <a:ext cx="3270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i="0"/>
              <a:t>3</a:t>
            </a:r>
            <a:endParaRPr lang="en-US" altLang="en-US"/>
          </a:p>
        </p:txBody>
      </p:sp>
      <p:sp>
        <p:nvSpPr>
          <p:cNvPr id="97293" name="Text Box 13">
            <a:extLst>
              <a:ext uri="{FF2B5EF4-FFF2-40B4-BE49-F238E27FC236}">
                <a16:creationId xmlns:a16="http://schemas.microsoft.com/office/drawing/2014/main" id="{76174047-0F39-4598-B0E0-0EAF73FA3D41}"/>
              </a:ext>
            </a:extLst>
          </p:cNvPr>
          <p:cNvSpPr txBox="1">
            <a:spLocks noChangeArrowheads="1"/>
          </p:cNvSpPr>
          <p:nvPr/>
        </p:nvSpPr>
        <p:spPr bwMode="auto">
          <a:xfrm>
            <a:off x="1295400" y="5181600"/>
            <a:ext cx="3270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i="0"/>
              <a:t>2</a:t>
            </a:r>
            <a:endParaRPr lang="en-US" altLang="en-US"/>
          </a:p>
        </p:txBody>
      </p:sp>
      <p:sp>
        <p:nvSpPr>
          <p:cNvPr id="97294" name="Text Box 14">
            <a:extLst>
              <a:ext uri="{FF2B5EF4-FFF2-40B4-BE49-F238E27FC236}">
                <a16:creationId xmlns:a16="http://schemas.microsoft.com/office/drawing/2014/main" id="{65C048EF-793E-44D2-A266-C0B65E18FC5E}"/>
              </a:ext>
            </a:extLst>
          </p:cNvPr>
          <p:cNvSpPr txBox="1">
            <a:spLocks noChangeArrowheads="1"/>
          </p:cNvSpPr>
          <p:nvPr/>
        </p:nvSpPr>
        <p:spPr bwMode="auto">
          <a:xfrm>
            <a:off x="3810000" y="5257800"/>
            <a:ext cx="3270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i="0"/>
              <a:t>4</a:t>
            </a:r>
            <a:endParaRPr lang="en-US" altLang="en-US"/>
          </a:p>
        </p:txBody>
      </p:sp>
      <p:sp>
        <p:nvSpPr>
          <p:cNvPr id="97295" name="Oval 15">
            <a:extLst>
              <a:ext uri="{FF2B5EF4-FFF2-40B4-BE49-F238E27FC236}">
                <a16:creationId xmlns:a16="http://schemas.microsoft.com/office/drawing/2014/main" id="{C0C1B32A-A530-4DFE-8838-F9A79206FEF7}"/>
              </a:ext>
            </a:extLst>
          </p:cNvPr>
          <p:cNvSpPr>
            <a:spLocks noChangeArrowheads="1"/>
          </p:cNvSpPr>
          <p:nvPr/>
        </p:nvSpPr>
        <p:spPr bwMode="auto">
          <a:xfrm>
            <a:off x="1981200" y="3810000"/>
            <a:ext cx="457200" cy="457200"/>
          </a:xfrm>
          <a:prstGeom prst="ellipse">
            <a:avLst/>
          </a:prstGeom>
          <a:solidFill>
            <a:schemeClr val="folHlink">
              <a:alpha val="17000"/>
            </a:schemeClr>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7296" name="Oval 16">
            <a:extLst>
              <a:ext uri="{FF2B5EF4-FFF2-40B4-BE49-F238E27FC236}">
                <a16:creationId xmlns:a16="http://schemas.microsoft.com/office/drawing/2014/main" id="{C2328EB2-E34B-4837-B4FE-2661EA2FC439}"/>
              </a:ext>
            </a:extLst>
          </p:cNvPr>
          <p:cNvSpPr>
            <a:spLocks noChangeArrowheads="1"/>
          </p:cNvSpPr>
          <p:nvPr/>
        </p:nvSpPr>
        <p:spPr bwMode="auto">
          <a:xfrm>
            <a:off x="1219200" y="5181600"/>
            <a:ext cx="457200" cy="457200"/>
          </a:xfrm>
          <a:prstGeom prst="ellipse">
            <a:avLst/>
          </a:prstGeom>
          <a:solidFill>
            <a:schemeClr val="folHlink">
              <a:alpha val="17000"/>
            </a:schemeClr>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7297" name="Oval 17">
            <a:extLst>
              <a:ext uri="{FF2B5EF4-FFF2-40B4-BE49-F238E27FC236}">
                <a16:creationId xmlns:a16="http://schemas.microsoft.com/office/drawing/2014/main" id="{EF695FF0-46B9-432D-B3D6-9E28D84296BE}"/>
              </a:ext>
            </a:extLst>
          </p:cNvPr>
          <p:cNvSpPr>
            <a:spLocks noChangeArrowheads="1"/>
          </p:cNvSpPr>
          <p:nvPr/>
        </p:nvSpPr>
        <p:spPr bwMode="auto">
          <a:xfrm>
            <a:off x="3962400" y="3962400"/>
            <a:ext cx="457200" cy="457200"/>
          </a:xfrm>
          <a:prstGeom prst="ellipse">
            <a:avLst/>
          </a:prstGeom>
          <a:solidFill>
            <a:schemeClr val="folHlink">
              <a:alpha val="17000"/>
            </a:schemeClr>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7298" name="Oval 18">
            <a:extLst>
              <a:ext uri="{FF2B5EF4-FFF2-40B4-BE49-F238E27FC236}">
                <a16:creationId xmlns:a16="http://schemas.microsoft.com/office/drawing/2014/main" id="{A20FFED9-EF68-4A87-A079-0EAA073F0D25}"/>
              </a:ext>
            </a:extLst>
          </p:cNvPr>
          <p:cNvSpPr>
            <a:spLocks noChangeArrowheads="1"/>
          </p:cNvSpPr>
          <p:nvPr/>
        </p:nvSpPr>
        <p:spPr bwMode="auto">
          <a:xfrm>
            <a:off x="3733800" y="5257800"/>
            <a:ext cx="457200" cy="457200"/>
          </a:xfrm>
          <a:prstGeom prst="ellipse">
            <a:avLst/>
          </a:prstGeom>
          <a:solidFill>
            <a:schemeClr val="folHlink">
              <a:alpha val="17000"/>
            </a:schemeClr>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E880A5-73D5-4A0B-8089-F981A032F4DB}"/>
              </a:ext>
            </a:extLst>
          </p:cNvPr>
          <p:cNvSpPr>
            <a:spLocks noGrp="1"/>
          </p:cNvSpPr>
          <p:nvPr>
            <p:ph type="title"/>
          </p:nvPr>
        </p:nvSpPr>
        <p:spPr/>
        <p:txBody>
          <a:bodyPr/>
          <a:lstStyle/>
          <a:p>
            <a:r>
              <a:rPr lang="en-US" dirty="0">
                <a:solidFill>
                  <a:srgbClr val="FF0000"/>
                </a:solidFill>
              </a:rPr>
              <a:t>A more </a:t>
            </a:r>
            <a:r>
              <a:rPr lang="en-US" altLang="zh-CN" dirty="0">
                <a:solidFill>
                  <a:srgbClr val="FF0000"/>
                </a:solidFill>
              </a:rPr>
              <a:t>general example</a:t>
            </a:r>
            <a:endParaRPr lang="en-US" dirty="0">
              <a:solidFill>
                <a:srgbClr val="FF0000"/>
              </a:solidFill>
            </a:endParaRPr>
          </a:p>
        </p:txBody>
      </p:sp>
      <p:sp>
        <p:nvSpPr>
          <p:cNvPr id="3" name="Content Placeholder 2">
            <a:extLst>
              <a:ext uri="{FF2B5EF4-FFF2-40B4-BE49-F238E27FC236}">
                <a16:creationId xmlns:a16="http://schemas.microsoft.com/office/drawing/2014/main" id="{942E111B-2A20-47A0-B07D-76BFEA5DB1D8}"/>
              </a:ext>
            </a:extLst>
          </p:cNvPr>
          <p:cNvSpPr>
            <a:spLocks noGrp="1"/>
          </p:cNvSpPr>
          <p:nvPr>
            <p:ph idx="1"/>
          </p:nvPr>
        </p:nvSpPr>
        <p:spPr/>
        <p:txBody>
          <a:bodyPr/>
          <a:lstStyle/>
          <a:p>
            <a:r>
              <a:rPr lang="en-US" dirty="0"/>
              <a:t>Bank account</a:t>
            </a:r>
          </a:p>
          <a:p>
            <a:pPr lvl="1"/>
            <a:r>
              <a:rPr lang="en-US" dirty="0"/>
              <a:t>Initial balance: $500</a:t>
            </a:r>
          </a:p>
          <a:p>
            <a:pPr lvl="1"/>
            <a:r>
              <a:rPr lang="en-US" dirty="0"/>
              <a:t>Users A and B</a:t>
            </a:r>
          </a:p>
          <a:p>
            <a:pPr lvl="1"/>
            <a:endParaRPr lang="en-US" dirty="0"/>
          </a:p>
          <a:p>
            <a:r>
              <a:rPr lang="en-US" dirty="0"/>
              <a:t>A makes $100 deposit</a:t>
            </a:r>
          </a:p>
          <a:p>
            <a:r>
              <a:rPr lang="en-US" dirty="0"/>
              <a:t>B requests $100 withdrawal</a:t>
            </a:r>
          </a:p>
        </p:txBody>
      </p:sp>
      <p:sp>
        <p:nvSpPr>
          <p:cNvPr id="5" name="TextBox 4">
            <a:extLst>
              <a:ext uri="{FF2B5EF4-FFF2-40B4-BE49-F238E27FC236}">
                <a16:creationId xmlns:a16="http://schemas.microsoft.com/office/drawing/2014/main" id="{5263219E-D5E9-422F-8972-C054C38F2941}"/>
              </a:ext>
            </a:extLst>
          </p:cNvPr>
          <p:cNvSpPr txBox="1"/>
          <p:nvPr/>
        </p:nvSpPr>
        <p:spPr>
          <a:xfrm>
            <a:off x="628650" y="4747303"/>
            <a:ext cx="8151556" cy="1938992"/>
          </a:xfrm>
          <a:prstGeom prst="rect">
            <a:avLst/>
          </a:prstGeom>
          <a:noFill/>
        </p:spPr>
        <p:txBody>
          <a:bodyPr wrap="square">
            <a:spAutoFit/>
          </a:bodyPr>
          <a:lstStyle/>
          <a:p>
            <a:pPr algn="l"/>
            <a:r>
              <a:rPr lang="en-US" altLang="zh-CN" sz="3600" b="0" i="0" u="none" strike="noStrike" baseline="0" dirty="0">
                <a:solidFill>
                  <a:srgbClr val="000000"/>
                </a:solidFill>
                <a:latin typeface="Calibri" panose="020F0502020204030204" pitchFamily="34" charset="0"/>
              </a:rPr>
              <a:t>Discussion:</a:t>
            </a:r>
            <a:endParaRPr lang="en-US" sz="3600" b="0" i="0" u="none" strike="noStrike" baseline="0" dirty="0">
              <a:solidFill>
                <a:srgbClr val="000000"/>
              </a:solidFill>
              <a:latin typeface="Calibri" panose="020F0502020204030204" pitchFamily="34" charset="0"/>
            </a:endParaRPr>
          </a:p>
          <a:p>
            <a:r>
              <a:rPr lang="en-US" sz="2800" b="0" i="0" u="none" strike="noStrike" baseline="0" dirty="0">
                <a:solidFill>
                  <a:srgbClr val="000000"/>
                </a:solidFill>
                <a:latin typeface="Calibri" panose="020F0502020204030204" pitchFamily="34" charset="0"/>
              </a:rPr>
              <a:t>Can you give an example that shows the final balance is NOT $500? Is there any solution you can think of to solve the problem? </a:t>
            </a:r>
            <a:endParaRPr lang="en-US" sz="2800" dirty="0"/>
          </a:p>
        </p:txBody>
      </p:sp>
    </p:spTree>
    <p:extLst>
      <p:ext uri="{BB962C8B-B14F-4D97-AF65-F5344CB8AC3E}">
        <p14:creationId xmlns:p14="http://schemas.microsoft.com/office/powerpoint/2010/main" val="5573400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64735798-6587-4971-BE21-E5A1ACD95BF8}"/>
              </a:ext>
            </a:extLst>
          </p:cNvPr>
          <p:cNvSpPr>
            <a:spLocks noGrp="1" noChangeArrowheads="1"/>
          </p:cNvSpPr>
          <p:nvPr>
            <p:ph type="title"/>
          </p:nvPr>
        </p:nvSpPr>
        <p:spPr>
          <a:xfrm>
            <a:off x="381000" y="272426"/>
            <a:ext cx="7772400" cy="495300"/>
          </a:xfrm>
        </p:spPr>
        <p:txBody>
          <a:bodyPr>
            <a:normAutofit fontScale="90000"/>
          </a:bodyPr>
          <a:lstStyle/>
          <a:p>
            <a:r>
              <a:rPr lang="en-US" altLang="en-US" dirty="0">
                <a:solidFill>
                  <a:srgbClr val="FF0000"/>
                </a:solidFill>
              </a:rPr>
              <a:t>Banking Example</a:t>
            </a:r>
          </a:p>
        </p:txBody>
      </p:sp>
      <p:sp>
        <p:nvSpPr>
          <p:cNvPr id="9219" name="Rectangle 3">
            <a:extLst>
              <a:ext uri="{FF2B5EF4-FFF2-40B4-BE49-F238E27FC236}">
                <a16:creationId xmlns:a16="http://schemas.microsoft.com/office/drawing/2014/main" id="{76770233-1B13-4F07-805C-6C268DF79452}"/>
              </a:ext>
            </a:extLst>
          </p:cNvPr>
          <p:cNvSpPr>
            <a:spLocks noGrp="1" noChangeArrowheads="1"/>
          </p:cNvSpPr>
          <p:nvPr>
            <p:ph type="body" sz="half" idx="1"/>
          </p:nvPr>
        </p:nvSpPr>
        <p:spPr>
          <a:xfrm>
            <a:off x="685800" y="1676400"/>
            <a:ext cx="3810000" cy="4114800"/>
          </a:xfrm>
        </p:spPr>
        <p:txBody>
          <a:bodyPr/>
          <a:lstStyle/>
          <a:p>
            <a:r>
              <a:rPr lang="en-US" altLang="en-US" sz="2000" dirty="0">
                <a:solidFill>
                  <a:srgbClr val="FF0000"/>
                </a:solidFill>
              </a:rPr>
              <a:t>A makes $100 deposit</a:t>
            </a:r>
          </a:p>
          <a:p>
            <a:r>
              <a:rPr lang="en-US" altLang="en-US" sz="2000" dirty="0">
                <a:solidFill>
                  <a:srgbClr val="FF0000"/>
                </a:solidFill>
              </a:rPr>
              <a:t>Get current balance of $500</a:t>
            </a:r>
          </a:p>
          <a:p>
            <a:endParaRPr lang="en-US" altLang="en-US" sz="2000" dirty="0"/>
          </a:p>
          <a:p>
            <a:endParaRPr lang="en-US" altLang="en-US" sz="2000" dirty="0"/>
          </a:p>
          <a:p>
            <a:endParaRPr lang="en-US" altLang="en-US" sz="2000" dirty="0"/>
          </a:p>
          <a:p>
            <a:endParaRPr lang="en-US" altLang="en-US" sz="2000" dirty="0"/>
          </a:p>
          <a:p>
            <a:r>
              <a:rPr lang="en-US" altLang="en-US" sz="2000" dirty="0">
                <a:solidFill>
                  <a:srgbClr val="FF0000"/>
                </a:solidFill>
              </a:rPr>
              <a:t>balance = 500 + 100 = 600</a:t>
            </a:r>
          </a:p>
          <a:p>
            <a:r>
              <a:rPr lang="en-US" altLang="en-US" sz="2000" dirty="0">
                <a:solidFill>
                  <a:srgbClr val="FF0000"/>
                </a:solidFill>
              </a:rPr>
              <a:t>Write new balance back to disk thus on disk = $600</a:t>
            </a:r>
          </a:p>
        </p:txBody>
      </p:sp>
      <p:sp>
        <p:nvSpPr>
          <p:cNvPr id="9220" name="Rectangle 4">
            <a:extLst>
              <a:ext uri="{FF2B5EF4-FFF2-40B4-BE49-F238E27FC236}">
                <a16:creationId xmlns:a16="http://schemas.microsoft.com/office/drawing/2014/main" id="{A4200204-9EE0-472F-A176-8B3989932A29}"/>
              </a:ext>
            </a:extLst>
          </p:cNvPr>
          <p:cNvSpPr>
            <a:spLocks noGrp="1" noChangeArrowheads="1"/>
          </p:cNvSpPr>
          <p:nvPr>
            <p:ph type="body" sz="half" idx="2"/>
          </p:nvPr>
        </p:nvSpPr>
        <p:spPr>
          <a:xfrm>
            <a:off x="4648200" y="1676400"/>
            <a:ext cx="3810000" cy="4114800"/>
          </a:xfrm>
        </p:spPr>
        <p:txBody>
          <a:bodyPr>
            <a:normAutofit fontScale="92500" lnSpcReduction="20000"/>
          </a:bodyPr>
          <a:lstStyle/>
          <a:p>
            <a:r>
              <a:rPr lang="en-US" altLang="en-US" sz="2000" dirty="0">
                <a:solidFill>
                  <a:srgbClr val="0070C0"/>
                </a:solidFill>
              </a:rPr>
              <a:t>B requests $100 withdrawal</a:t>
            </a:r>
          </a:p>
          <a:p>
            <a:endParaRPr lang="en-US" altLang="en-US" sz="2000" dirty="0"/>
          </a:p>
          <a:p>
            <a:endParaRPr lang="en-US" altLang="en-US" sz="2000" dirty="0"/>
          </a:p>
          <a:p>
            <a:r>
              <a:rPr lang="en-US" altLang="en-US" sz="2000" dirty="0">
                <a:solidFill>
                  <a:srgbClr val="0070C0"/>
                </a:solidFill>
              </a:rPr>
              <a:t>Get current balance of $500</a:t>
            </a:r>
          </a:p>
          <a:p>
            <a:r>
              <a:rPr lang="en-US" altLang="en-US" sz="2000" dirty="0">
                <a:solidFill>
                  <a:srgbClr val="0070C0"/>
                </a:solidFill>
              </a:rPr>
              <a:t>balance = 500 - 100 = 400</a:t>
            </a:r>
          </a:p>
          <a:p>
            <a:endParaRPr lang="en-US" altLang="en-US" sz="2000" dirty="0">
              <a:solidFill>
                <a:srgbClr val="0070C0"/>
              </a:solidFill>
            </a:endParaRPr>
          </a:p>
          <a:p>
            <a:endParaRPr lang="en-US" altLang="en-US" sz="2000" dirty="0">
              <a:solidFill>
                <a:srgbClr val="0070C0"/>
              </a:solidFill>
            </a:endParaRPr>
          </a:p>
          <a:p>
            <a:endParaRPr lang="en-US" altLang="en-US" sz="2000" dirty="0">
              <a:solidFill>
                <a:srgbClr val="0070C0"/>
              </a:solidFill>
            </a:endParaRPr>
          </a:p>
          <a:p>
            <a:endParaRPr lang="en-US" altLang="en-US" sz="2000" dirty="0">
              <a:solidFill>
                <a:srgbClr val="0070C0"/>
              </a:solidFill>
            </a:endParaRPr>
          </a:p>
          <a:p>
            <a:endParaRPr lang="en-US" altLang="en-US" sz="2000" dirty="0">
              <a:solidFill>
                <a:srgbClr val="0070C0"/>
              </a:solidFill>
            </a:endParaRPr>
          </a:p>
          <a:p>
            <a:r>
              <a:rPr lang="en-US" altLang="en-US" sz="2000" dirty="0">
                <a:solidFill>
                  <a:srgbClr val="0070C0"/>
                </a:solidFill>
              </a:rPr>
              <a:t>Write new balance back to disk thus on disk = $400</a:t>
            </a:r>
          </a:p>
        </p:txBody>
      </p:sp>
      <p:sp>
        <p:nvSpPr>
          <p:cNvPr id="9221" name="Line 5">
            <a:extLst>
              <a:ext uri="{FF2B5EF4-FFF2-40B4-BE49-F238E27FC236}">
                <a16:creationId xmlns:a16="http://schemas.microsoft.com/office/drawing/2014/main" id="{5D0B2B64-5EC1-4045-B56E-A227C3E66AB6}"/>
              </a:ext>
            </a:extLst>
          </p:cNvPr>
          <p:cNvSpPr>
            <a:spLocks noChangeShapeType="1"/>
          </p:cNvSpPr>
          <p:nvPr/>
        </p:nvSpPr>
        <p:spPr bwMode="auto">
          <a:xfrm>
            <a:off x="381000" y="2945934"/>
            <a:ext cx="8382000" cy="0"/>
          </a:xfrm>
          <a:prstGeom prst="line">
            <a:avLst/>
          </a:prstGeom>
          <a:noFill/>
          <a:ln w="76200">
            <a:solidFill>
              <a:schemeClr val="tx1"/>
            </a:solidFill>
            <a:round/>
            <a:headEnd type="none" w="sm" len="sm"/>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222" name="Line 6">
            <a:extLst>
              <a:ext uri="{FF2B5EF4-FFF2-40B4-BE49-F238E27FC236}">
                <a16:creationId xmlns:a16="http://schemas.microsoft.com/office/drawing/2014/main" id="{7C839813-D156-4BB0-823A-4332DEA33538}"/>
              </a:ext>
            </a:extLst>
          </p:cNvPr>
          <p:cNvSpPr>
            <a:spLocks noChangeShapeType="1"/>
          </p:cNvSpPr>
          <p:nvPr/>
        </p:nvSpPr>
        <p:spPr bwMode="auto">
          <a:xfrm>
            <a:off x="381000" y="3962400"/>
            <a:ext cx="8382000" cy="0"/>
          </a:xfrm>
          <a:prstGeom prst="line">
            <a:avLst/>
          </a:prstGeom>
          <a:noFill/>
          <a:ln w="76200">
            <a:solidFill>
              <a:schemeClr val="tx1"/>
            </a:solidFill>
            <a:round/>
            <a:headEnd type="none" w="sm" len="sm"/>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223" name="Line 7">
            <a:extLst>
              <a:ext uri="{FF2B5EF4-FFF2-40B4-BE49-F238E27FC236}">
                <a16:creationId xmlns:a16="http://schemas.microsoft.com/office/drawing/2014/main" id="{190FE60F-F330-4B86-BC34-E25C8786ED39}"/>
              </a:ext>
            </a:extLst>
          </p:cNvPr>
          <p:cNvSpPr>
            <a:spLocks noChangeShapeType="1"/>
          </p:cNvSpPr>
          <p:nvPr/>
        </p:nvSpPr>
        <p:spPr bwMode="auto">
          <a:xfrm>
            <a:off x="381000" y="5443756"/>
            <a:ext cx="8382000" cy="0"/>
          </a:xfrm>
          <a:prstGeom prst="line">
            <a:avLst/>
          </a:prstGeom>
          <a:noFill/>
          <a:ln w="76200">
            <a:solidFill>
              <a:schemeClr val="tx1"/>
            </a:solidFill>
            <a:round/>
            <a:headEnd type="none" w="sm" len="sm"/>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225" name="WordArt 10">
            <a:extLst>
              <a:ext uri="{FF2B5EF4-FFF2-40B4-BE49-F238E27FC236}">
                <a16:creationId xmlns:a16="http://schemas.microsoft.com/office/drawing/2014/main" id="{515A03AE-6421-4FFD-AD7F-9D5084860B66}"/>
              </a:ext>
            </a:extLst>
          </p:cNvPr>
          <p:cNvSpPr>
            <a:spLocks noChangeArrowheads="1" noChangeShapeType="1" noTextEdit="1"/>
          </p:cNvSpPr>
          <p:nvPr/>
        </p:nvSpPr>
        <p:spPr bwMode="auto">
          <a:xfrm>
            <a:off x="304800" y="6019800"/>
            <a:ext cx="2590800" cy="571500"/>
          </a:xfrm>
          <a:prstGeom prst="rect">
            <a:avLst/>
          </a:prstGeom>
        </p:spPr>
        <p:txBody>
          <a:bodyPr wrap="none" fromWordArt="1">
            <a:prstTxWarp prst="textPlain">
              <a:avLst>
                <a:gd name="adj" fmla="val 50000"/>
              </a:avLst>
            </a:prstTxWarp>
          </a:bodyPr>
          <a:lstStyle/>
          <a:p>
            <a:pPr algn="ctr"/>
            <a:r>
              <a:rPr lang="en-US" sz="3600" kern="10" dirty="0">
                <a:ln w="19050">
                  <a:solidFill>
                    <a:srgbClr val="99CCFF"/>
                  </a:solidFill>
                  <a:round/>
                  <a:headEnd type="none" w="sm" len="sm"/>
                  <a:tailEnd/>
                </a:ln>
                <a:solidFill>
                  <a:srgbClr val="0066CC"/>
                </a:solidFill>
                <a:effectLst>
                  <a:outerShdw dist="35921" dir="2700000" algn="ctr" rotWithShape="0">
                    <a:srgbClr val="990000"/>
                  </a:outerShdw>
                </a:effectLst>
                <a:latin typeface="Impact" panose="020B0806030902050204" pitchFamily="34" charset="0"/>
              </a:rPr>
              <a:t>Final Answer?</a:t>
            </a:r>
          </a:p>
        </p:txBody>
      </p:sp>
      <p:sp>
        <p:nvSpPr>
          <p:cNvPr id="2" name="TextBox 1">
            <a:extLst>
              <a:ext uri="{FF2B5EF4-FFF2-40B4-BE49-F238E27FC236}">
                <a16:creationId xmlns:a16="http://schemas.microsoft.com/office/drawing/2014/main" id="{8C3454EC-43FC-4634-8880-12A778059A3A}"/>
              </a:ext>
            </a:extLst>
          </p:cNvPr>
          <p:cNvSpPr txBox="1"/>
          <p:nvPr/>
        </p:nvSpPr>
        <p:spPr>
          <a:xfrm>
            <a:off x="2895600" y="1006812"/>
            <a:ext cx="3035417" cy="369332"/>
          </a:xfrm>
          <a:prstGeom prst="rect">
            <a:avLst/>
          </a:prstGeom>
          <a:solidFill>
            <a:srgbClr val="FFC000"/>
          </a:solidFill>
          <a:ln w="19050">
            <a:solidFill>
              <a:srgbClr val="7030A0"/>
            </a:solidFill>
          </a:ln>
        </p:spPr>
        <p:txBody>
          <a:bodyPr wrap="square" rtlCol="0">
            <a:spAutoFit/>
          </a:bodyPr>
          <a:lstStyle/>
          <a:p>
            <a:pPr algn="ctr"/>
            <a:r>
              <a:rPr lang="en-US" b="1" dirty="0"/>
              <a:t>Initial Balance: $500</a:t>
            </a:r>
          </a:p>
        </p:txBody>
      </p:sp>
      <p:cxnSp>
        <p:nvCxnSpPr>
          <p:cNvPr id="4" name="Straight Arrow Connector 3">
            <a:extLst>
              <a:ext uri="{FF2B5EF4-FFF2-40B4-BE49-F238E27FC236}">
                <a16:creationId xmlns:a16="http://schemas.microsoft.com/office/drawing/2014/main" id="{9EDED121-2904-453C-9C55-AAC7F55908E3}"/>
              </a:ext>
            </a:extLst>
          </p:cNvPr>
          <p:cNvCxnSpPr/>
          <p:nvPr/>
        </p:nvCxnSpPr>
        <p:spPr>
          <a:xfrm>
            <a:off x="251670" y="1676400"/>
            <a:ext cx="0" cy="3969391"/>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
        <p:nvSpPr>
          <p:cNvPr id="5" name="TextBox 4">
            <a:extLst>
              <a:ext uri="{FF2B5EF4-FFF2-40B4-BE49-F238E27FC236}">
                <a16:creationId xmlns:a16="http://schemas.microsoft.com/office/drawing/2014/main" id="{5328324E-C3C2-427B-BA24-17A37C1F0309}"/>
              </a:ext>
            </a:extLst>
          </p:cNvPr>
          <p:cNvSpPr txBox="1"/>
          <p:nvPr/>
        </p:nvSpPr>
        <p:spPr>
          <a:xfrm>
            <a:off x="-1" y="1266738"/>
            <a:ext cx="685789" cy="369332"/>
          </a:xfrm>
          <a:prstGeom prst="rect">
            <a:avLst/>
          </a:prstGeom>
          <a:noFill/>
        </p:spPr>
        <p:txBody>
          <a:bodyPr wrap="square" rtlCol="0">
            <a:spAutoFit/>
          </a:bodyPr>
          <a:lstStyle/>
          <a:p>
            <a:r>
              <a:rPr lang="en-US" dirty="0"/>
              <a:t>Time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1C119E-4DD4-491B-8320-A967C6E26EC5}"/>
              </a:ext>
            </a:extLst>
          </p:cNvPr>
          <p:cNvSpPr>
            <a:spLocks noGrp="1"/>
          </p:cNvSpPr>
          <p:nvPr>
            <p:ph type="title"/>
          </p:nvPr>
        </p:nvSpPr>
        <p:spPr/>
        <p:txBody>
          <a:bodyPr/>
          <a:lstStyle/>
          <a:p>
            <a:r>
              <a:rPr lang="en-US" dirty="0">
                <a:solidFill>
                  <a:srgbClr val="FF0000"/>
                </a:solidFill>
              </a:rPr>
              <a:t>Mutual exclusion</a:t>
            </a:r>
          </a:p>
        </p:txBody>
      </p:sp>
      <p:sp>
        <p:nvSpPr>
          <p:cNvPr id="3" name="Content Placeholder 2">
            <a:extLst>
              <a:ext uri="{FF2B5EF4-FFF2-40B4-BE49-F238E27FC236}">
                <a16:creationId xmlns:a16="http://schemas.microsoft.com/office/drawing/2014/main" id="{FB15CF79-D6CF-4DBE-A32D-94CA3C43B2B8}"/>
              </a:ext>
            </a:extLst>
          </p:cNvPr>
          <p:cNvSpPr>
            <a:spLocks noGrp="1"/>
          </p:cNvSpPr>
          <p:nvPr>
            <p:ph idx="1"/>
          </p:nvPr>
        </p:nvSpPr>
        <p:spPr>
          <a:xfrm>
            <a:off x="383457" y="1825624"/>
            <a:ext cx="8504903" cy="4667249"/>
          </a:xfrm>
        </p:spPr>
        <p:txBody>
          <a:bodyPr>
            <a:normAutofit/>
          </a:bodyPr>
          <a:lstStyle/>
          <a:p>
            <a:r>
              <a:rPr lang="en-US" dirty="0"/>
              <a:t>Problem</a:t>
            </a:r>
          </a:p>
          <a:p>
            <a:pPr lvl="1"/>
            <a:r>
              <a:rPr lang="en-US" dirty="0"/>
              <a:t>A number of processes in a distributed system want exclusive access to some resources.</a:t>
            </a:r>
          </a:p>
          <a:p>
            <a:pPr lvl="1"/>
            <a:endParaRPr lang="en-US" dirty="0"/>
          </a:p>
          <a:p>
            <a:r>
              <a:rPr lang="en-US" altLang="zh-CN" dirty="0"/>
              <a:t>Discussion</a:t>
            </a:r>
          </a:p>
          <a:p>
            <a:pPr lvl="1"/>
            <a:r>
              <a:rPr lang="en-US" dirty="0"/>
              <a:t>Can you propose some solutions to achieve mutual exclusion for multiple processes?</a:t>
            </a:r>
          </a:p>
          <a:p>
            <a:pPr lvl="1"/>
            <a:r>
              <a:rPr lang="en-US" dirty="0"/>
              <a:t>Please go to </a:t>
            </a:r>
          </a:p>
          <a:p>
            <a:pPr marL="457200" lvl="1" indent="0">
              <a:buNone/>
            </a:pPr>
            <a:r>
              <a:rPr lang="en-US" sz="6600" dirty="0">
                <a:solidFill>
                  <a:schemeClr val="accent5">
                    <a:lumMod val="75000"/>
                  </a:schemeClr>
                </a:solidFill>
              </a:rPr>
              <a:t>PollEv.com/cisgvsu429</a:t>
            </a:r>
          </a:p>
          <a:p>
            <a:pPr marL="457200" lvl="1" indent="0">
              <a:buNone/>
            </a:pPr>
            <a:endParaRPr lang="en-US" dirty="0"/>
          </a:p>
        </p:txBody>
      </p:sp>
    </p:spTree>
    <p:extLst>
      <p:ext uri="{BB962C8B-B14F-4D97-AF65-F5344CB8AC3E}">
        <p14:creationId xmlns:p14="http://schemas.microsoft.com/office/powerpoint/2010/main" val="33612279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1C119E-4DD4-491B-8320-A967C6E26EC5}"/>
              </a:ext>
            </a:extLst>
          </p:cNvPr>
          <p:cNvSpPr>
            <a:spLocks noGrp="1"/>
          </p:cNvSpPr>
          <p:nvPr>
            <p:ph type="title"/>
          </p:nvPr>
        </p:nvSpPr>
        <p:spPr/>
        <p:txBody>
          <a:bodyPr/>
          <a:lstStyle/>
          <a:p>
            <a:r>
              <a:rPr lang="en-US" dirty="0">
                <a:solidFill>
                  <a:srgbClr val="FF0000"/>
                </a:solidFill>
              </a:rPr>
              <a:t>Mutual exclusion</a:t>
            </a:r>
          </a:p>
        </p:txBody>
      </p:sp>
      <p:sp>
        <p:nvSpPr>
          <p:cNvPr id="3" name="Content Placeholder 2">
            <a:extLst>
              <a:ext uri="{FF2B5EF4-FFF2-40B4-BE49-F238E27FC236}">
                <a16:creationId xmlns:a16="http://schemas.microsoft.com/office/drawing/2014/main" id="{FB15CF79-D6CF-4DBE-A32D-94CA3C43B2B8}"/>
              </a:ext>
            </a:extLst>
          </p:cNvPr>
          <p:cNvSpPr>
            <a:spLocks noGrp="1"/>
          </p:cNvSpPr>
          <p:nvPr>
            <p:ph idx="1"/>
          </p:nvPr>
        </p:nvSpPr>
        <p:spPr>
          <a:xfrm>
            <a:off x="628650" y="1825625"/>
            <a:ext cx="7886700" cy="4566786"/>
          </a:xfrm>
        </p:spPr>
        <p:txBody>
          <a:bodyPr>
            <a:normAutofit/>
          </a:bodyPr>
          <a:lstStyle/>
          <a:p>
            <a:r>
              <a:rPr lang="en-US" dirty="0"/>
              <a:t>Problem</a:t>
            </a:r>
          </a:p>
          <a:p>
            <a:pPr lvl="1"/>
            <a:r>
              <a:rPr lang="en-US" dirty="0"/>
              <a:t>A number of processes in a distributed system want exclusive access to some resources.</a:t>
            </a:r>
          </a:p>
          <a:p>
            <a:pPr lvl="1"/>
            <a:endParaRPr lang="en-US" dirty="0"/>
          </a:p>
          <a:p>
            <a:r>
              <a:rPr lang="en-US" dirty="0"/>
              <a:t>Basic solutions</a:t>
            </a:r>
          </a:p>
          <a:p>
            <a:pPr lvl="1"/>
            <a:r>
              <a:rPr lang="en-US" dirty="0"/>
              <a:t>Permission-based: A process wanting to enter its critical section, or access a resource, needs permission.</a:t>
            </a:r>
          </a:p>
          <a:p>
            <a:pPr lvl="1"/>
            <a:endParaRPr lang="en-US" dirty="0"/>
          </a:p>
          <a:p>
            <a:pPr lvl="1"/>
            <a:r>
              <a:rPr lang="en-US" dirty="0"/>
              <a:t>Token-based: A token is passed between processes. The one who has the token may proceed in its critical section, or pass it on when not interested.</a:t>
            </a:r>
          </a:p>
        </p:txBody>
      </p:sp>
    </p:spTree>
    <p:extLst>
      <p:ext uri="{BB962C8B-B14F-4D97-AF65-F5344CB8AC3E}">
        <p14:creationId xmlns:p14="http://schemas.microsoft.com/office/powerpoint/2010/main" val="40570408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6DCD04-B52E-405B-B0DE-A68ADB542847}"/>
              </a:ext>
            </a:extLst>
          </p:cNvPr>
          <p:cNvSpPr>
            <a:spLocks noGrp="1"/>
          </p:cNvSpPr>
          <p:nvPr>
            <p:ph type="title"/>
          </p:nvPr>
        </p:nvSpPr>
        <p:spPr>
          <a:xfrm>
            <a:off x="628650" y="365126"/>
            <a:ext cx="7886700" cy="658331"/>
          </a:xfrm>
        </p:spPr>
        <p:txBody>
          <a:bodyPr>
            <a:normAutofit fontScale="90000"/>
          </a:bodyPr>
          <a:lstStyle/>
          <a:p>
            <a:r>
              <a:rPr lang="en-US" dirty="0">
                <a:solidFill>
                  <a:srgbClr val="FF0000"/>
                </a:solidFill>
              </a:rPr>
              <a:t>Mutual Exclusion: Permission-based</a:t>
            </a:r>
          </a:p>
        </p:txBody>
      </p:sp>
      <p:sp>
        <p:nvSpPr>
          <p:cNvPr id="3" name="Content Placeholder 2">
            <a:extLst>
              <a:ext uri="{FF2B5EF4-FFF2-40B4-BE49-F238E27FC236}">
                <a16:creationId xmlns:a16="http://schemas.microsoft.com/office/drawing/2014/main" id="{4CDBDD63-549D-414F-BFBA-D3FCA5626C06}"/>
              </a:ext>
            </a:extLst>
          </p:cNvPr>
          <p:cNvSpPr>
            <a:spLocks noGrp="1"/>
          </p:cNvSpPr>
          <p:nvPr>
            <p:ph sz="half" idx="1"/>
          </p:nvPr>
        </p:nvSpPr>
        <p:spPr>
          <a:xfrm>
            <a:off x="628650" y="4043494"/>
            <a:ext cx="7886700" cy="2276082"/>
          </a:xfrm>
        </p:spPr>
        <p:txBody>
          <a:bodyPr>
            <a:normAutofit fontScale="92500" lnSpcReduction="10000"/>
          </a:bodyPr>
          <a:lstStyle/>
          <a:p>
            <a:pPr marL="0" indent="0">
              <a:buNone/>
            </a:pPr>
            <a:r>
              <a:rPr lang="en-US" dirty="0"/>
              <a:t>(a) Process P1 asks the coordinator for permission to access a shared resource. Permission is granted.</a:t>
            </a:r>
          </a:p>
          <a:p>
            <a:pPr marL="0" indent="0">
              <a:buNone/>
            </a:pPr>
            <a:r>
              <a:rPr lang="en-US" dirty="0"/>
              <a:t>(b) Process P2 then asks permission to access the same resource. The coordinator does not reply.</a:t>
            </a:r>
          </a:p>
          <a:p>
            <a:pPr marL="0" indent="0">
              <a:buNone/>
            </a:pPr>
            <a:r>
              <a:rPr lang="en-US" dirty="0"/>
              <a:t>(c) When P1 releases the resource, it tells the coordinator, which then replies to P2.</a:t>
            </a:r>
          </a:p>
        </p:txBody>
      </p:sp>
      <p:pic>
        <p:nvPicPr>
          <p:cNvPr id="5" name="Picture 4">
            <a:extLst>
              <a:ext uri="{FF2B5EF4-FFF2-40B4-BE49-F238E27FC236}">
                <a16:creationId xmlns:a16="http://schemas.microsoft.com/office/drawing/2014/main" id="{9412BE15-4B42-4A2A-A794-6510328EF3AA}"/>
              </a:ext>
            </a:extLst>
          </p:cNvPr>
          <p:cNvPicPr>
            <a:picLocks noChangeAspect="1"/>
          </p:cNvPicPr>
          <p:nvPr/>
        </p:nvPicPr>
        <p:blipFill>
          <a:blip r:embed="rId2"/>
          <a:stretch>
            <a:fillRect/>
          </a:stretch>
        </p:blipFill>
        <p:spPr>
          <a:xfrm>
            <a:off x="652952" y="1114934"/>
            <a:ext cx="7838095" cy="2609524"/>
          </a:xfrm>
          <a:prstGeom prst="rect">
            <a:avLst/>
          </a:prstGeom>
        </p:spPr>
      </p:pic>
    </p:spTree>
    <p:extLst>
      <p:ext uri="{BB962C8B-B14F-4D97-AF65-F5344CB8AC3E}">
        <p14:creationId xmlns:p14="http://schemas.microsoft.com/office/powerpoint/2010/main" val="198478121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636DC5-B365-4053-A3F7-5A630FC0E3F6}"/>
              </a:ext>
            </a:extLst>
          </p:cNvPr>
          <p:cNvSpPr>
            <a:spLocks noGrp="1"/>
          </p:cNvSpPr>
          <p:nvPr>
            <p:ph type="title"/>
          </p:nvPr>
        </p:nvSpPr>
        <p:spPr/>
        <p:txBody>
          <a:bodyPr/>
          <a:lstStyle/>
          <a:p>
            <a:r>
              <a:rPr lang="en-US" dirty="0">
                <a:solidFill>
                  <a:srgbClr val="FF0000"/>
                </a:solidFill>
              </a:rPr>
              <a:t>Lock</a:t>
            </a:r>
          </a:p>
        </p:txBody>
      </p:sp>
      <p:sp>
        <p:nvSpPr>
          <p:cNvPr id="3" name="Content Placeholder 2">
            <a:extLst>
              <a:ext uri="{FF2B5EF4-FFF2-40B4-BE49-F238E27FC236}">
                <a16:creationId xmlns:a16="http://schemas.microsoft.com/office/drawing/2014/main" id="{478BD4A3-C654-4530-99E7-F65EE3D9A181}"/>
              </a:ext>
            </a:extLst>
          </p:cNvPr>
          <p:cNvSpPr>
            <a:spLocks noGrp="1"/>
          </p:cNvSpPr>
          <p:nvPr>
            <p:ph sz="half" idx="1"/>
          </p:nvPr>
        </p:nvSpPr>
        <p:spPr>
          <a:xfrm>
            <a:off x="628649" y="1825625"/>
            <a:ext cx="7886699" cy="4351338"/>
          </a:xfrm>
        </p:spPr>
        <p:txBody>
          <a:bodyPr/>
          <a:lstStyle/>
          <a:p>
            <a:r>
              <a:rPr lang="en-US" dirty="0"/>
              <a:t>Locking: deny other users’ accesses to data while one user’s updates are being processed</a:t>
            </a:r>
          </a:p>
          <a:p>
            <a:endParaRPr lang="en-US" dirty="0"/>
          </a:p>
          <a:p>
            <a:r>
              <a:rPr lang="en-US" dirty="0"/>
              <a:t>Mechanism for enforcing limits on access to the object</a:t>
            </a:r>
          </a:p>
          <a:p>
            <a:endParaRPr lang="en-US" dirty="0"/>
          </a:p>
          <a:p>
            <a:r>
              <a:rPr lang="en-US" dirty="0"/>
              <a:t>If the access to the object is locked, other users have to wait until it’s unlocked</a:t>
            </a:r>
          </a:p>
          <a:p>
            <a:endParaRPr lang="en-US" dirty="0"/>
          </a:p>
          <a:p>
            <a:endParaRPr lang="en-US" dirty="0"/>
          </a:p>
        </p:txBody>
      </p:sp>
    </p:spTree>
    <p:extLst>
      <p:ext uri="{BB962C8B-B14F-4D97-AF65-F5344CB8AC3E}">
        <p14:creationId xmlns:p14="http://schemas.microsoft.com/office/powerpoint/2010/main" val="29568765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1026">
            <a:extLst>
              <a:ext uri="{FF2B5EF4-FFF2-40B4-BE49-F238E27FC236}">
                <a16:creationId xmlns:a16="http://schemas.microsoft.com/office/drawing/2014/main" id="{405A0651-6040-4CA8-93E9-F5286E6512EF}"/>
              </a:ext>
            </a:extLst>
          </p:cNvPr>
          <p:cNvSpPr>
            <a:spLocks noGrp="1" noChangeArrowheads="1"/>
          </p:cNvSpPr>
          <p:nvPr>
            <p:ph type="title"/>
          </p:nvPr>
        </p:nvSpPr>
        <p:spPr>
          <a:xfrm>
            <a:off x="161138" y="196068"/>
            <a:ext cx="8821723" cy="457201"/>
          </a:xfrm>
        </p:spPr>
        <p:txBody>
          <a:bodyPr>
            <a:normAutofit fontScale="90000"/>
          </a:bodyPr>
          <a:lstStyle/>
          <a:p>
            <a:r>
              <a:rPr lang="en-US" altLang="en-US" dirty="0">
                <a:solidFill>
                  <a:srgbClr val="FF0000"/>
                </a:solidFill>
              </a:rPr>
              <a:t>Banking Example (Permission-based: Lock)</a:t>
            </a:r>
          </a:p>
        </p:txBody>
      </p:sp>
      <p:sp>
        <p:nvSpPr>
          <p:cNvPr id="10243" name="Rectangle 1027">
            <a:extLst>
              <a:ext uri="{FF2B5EF4-FFF2-40B4-BE49-F238E27FC236}">
                <a16:creationId xmlns:a16="http://schemas.microsoft.com/office/drawing/2014/main" id="{E81E47DB-4717-4B0C-BC34-7D8B5E302202}"/>
              </a:ext>
            </a:extLst>
          </p:cNvPr>
          <p:cNvSpPr>
            <a:spLocks noGrp="1" noChangeArrowheads="1"/>
          </p:cNvSpPr>
          <p:nvPr>
            <p:ph type="body" sz="half" idx="1"/>
          </p:nvPr>
        </p:nvSpPr>
        <p:spPr>
          <a:xfrm>
            <a:off x="685800" y="1242969"/>
            <a:ext cx="3810000" cy="4114800"/>
          </a:xfrm>
        </p:spPr>
        <p:txBody>
          <a:bodyPr/>
          <a:lstStyle/>
          <a:p>
            <a:r>
              <a:rPr lang="en-US" altLang="en-US" sz="2000" dirty="0">
                <a:solidFill>
                  <a:srgbClr val="FF0000"/>
                </a:solidFill>
              </a:rPr>
              <a:t>A makes $100 deposit</a:t>
            </a:r>
          </a:p>
          <a:p>
            <a:r>
              <a:rPr lang="en-US" altLang="en-US" sz="2000" dirty="0">
                <a:solidFill>
                  <a:srgbClr val="FF0000"/>
                </a:solidFill>
              </a:rPr>
              <a:t>Request and get </a:t>
            </a:r>
            <a:r>
              <a:rPr lang="en-US" altLang="en-US" sz="2000" dirty="0" err="1">
                <a:solidFill>
                  <a:srgbClr val="FF0000"/>
                </a:solidFill>
              </a:rPr>
              <a:t>AcctLock</a:t>
            </a:r>
            <a:endParaRPr lang="en-US" altLang="en-US" sz="2000" dirty="0">
              <a:solidFill>
                <a:srgbClr val="FF0000"/>
              </a:solidFill>
            </a:endParaRPr>
          </a:p>
          <a:p>
            <a:r>
              <a:rPr lang="en-US" altLang="en-US" sz="2000" dirty="0">
                <a:solidFill>
                  <a:srgbClr val="FF0000"/>
                </a:solidFill>
              </a:rPr>
              <a:t>Get current balance of $500 from disk</a:t>
            </a:r>
          </a:p>
          <a:p>
            <a:endParaRPr lang="en-US" altLang="en-US" sz="2000" dirty="0">
              <a:solidFill>
                <a:srgbClr val="FF0000"/>
              </a:solidFill>
            </a:endParaRPr>
          </a:p>
          <a:p>
            <a:endParaRPr lang="en-US" altLang="en-US" sz="2000" dirty="0">
              <a:solidFill>
                <a:srgbClr val="FF0000"/>
              </a:solidFill>
            </a:endParaRPr>
          </a:p>
          <a:p>
            <a:endParaRPr lang="en-US" altLang="en-US" sz="2000" dirty="0">
              <a:solidFill>
                <a:srgbClr val="FF0000"/>
              </a:solidFill>
            </a:endParaRPr>
          </a:p>
          <a:p>
            <a:r>
              <a:rPr lang="en-US" altLang="en-US" sz="2000" dirty="0">
                <a:solidFill>
                  <a:srgbClr val="FF0000"/>
                </a:solidFill>
              </a:rPr>
              <a:t>balance = 500 + 100 = 600</a:t>
            </a:r>
          </a:p>
          <a:p>
            <a:r>
              <a:rPr lang="en-US" altLang="en-US" sz="2000" dirty="0">
                <a:solidFill>
                  <a:srgbClr val="FF0000"/>
                </a:solidFill>
              </a:rPr>
              <a:t>Write back balance = $600</a:t>
            </a:r>
          </a:p>
          <a:p>
            <a:r>
              <a:rPr lang="en-US" altLang="en-US" sz="2000" dirty="0">
                <a:solidFill>
                  <a:srgbClr val="FF0000"/>
                </a:solidFill>
              </a:rPr>
              <a:t>Release </a:t>
            </a:r>
            <a:r>
              <a:rPr lang="en-US" altLang="en-US" sz="2000" dirty="0" err="1">
                <a:solidFill>
                  <a:srgbClr val="FF0000"/>
                </a:solidFill>
              </a:rPr>
              <a:t>AcctLock</a:t>
            </a:r>
            <a:endParaRPr lang="en-US" altLang="en-US" sz="2000" dirty="0">
              <a:solidFill>
                <a:srgbClr val="FF0000"/>
              </a:solidFill>
            </a:endParaRPr>
          </a:p>
        </p:txBody>
      </p:sp>
      <p:sp>
        <p:nvSpPr>
          <p:cNvPr id="10244" name="Rectangle 1028">
            <a:extLst>
              <a:ext uri="{FF2B5EF4-FFF2-40B4-BE49-F238E27FC236}">
                <a16:creationId xmlns:a16="http://schemas.microsoft.com/office/drawing/2014/main" id="{FBC6A422-ECEC-4D22-B130-75400D00974C}"/>
              </a:ext>
            </a:extLst>
          </p:cNvPr>
          <p:cNvSpPr>
            <a:spLocks noGrp="1" noChangeArrowheads="1"/>
          </p:cNvSpPr>
          <p:nvPr>
            <p:ph type="body" sz="half" idx="2"/>
          </p:nvPr>
        </p:nvSpPr>
        <p:spPr>
          <a:xfrm>
            <a:off x="4648200" y="1242969"/>
            <a:ext cx="3810000" cy="5486400"/>
          </a:xfrm>
        </p:spPr>
        <p:txBody>
          <a:bodyPr>
            <a:normAutofit lnSpcReduction="10000"/>
          </a:bodyPr>
          <a:lstStyle/>
          <a:p>
            <a:r>
              <a:rPr lang="en-US" altLang="en-US" sz="2000" dirty="0">
                <a:solidFill>
                  <a:srgbClr val="0070C0"/>
                </a:solidFill>
              </a:rPr>
              <a:t>B requests $100 withdrawal</a:t>
            </a:r>
          </a:p>
          <a:p>
            <a:endParaRPr lang="en-US" altLang="en-US" sz="2000" dirty="0">
              <a:solidFill>
                <a:srgbClr val="0070C0"/>
              </a:solidFill>
            </a:endParaRPr>
          </a:p>
          <a:p>
            <a:endParaRPr lang="en-US" altLang="en-US" sz="2000" dirty="0">
              <a:solidFill>
                <a:srgbClr val="0070C0"/>
              </a:solidFill>
            </a:endParaRPr>
          </a:p>
          <a:p>
            <a:endParaRPr lang="en-US" altLang="en-US" sz="2000" dirty="0">
              <a:solidFill>
                <a:srgbClr val="0070C0"/>
              </a:solidFill>
            </a:endParaRPr>
          </a:p>
          <a:p>
            <a:r>
              <a:rPr lang="en-US" altLang="en-US" sz="2000" dirty="0">
                <a:solidFill>
                  <a:srgbClr val="0070C0"/>
                </a:solidFill>
              </a:rPr>
              <a:t>Request </a:t>
            </a:r>
            <a:r>
              <a:rPr lang="en-US" altLang="en-US" sz="2000" dirty="0" err="1">
                <a:solidFill>
                  <a:srgbClr val="0070C0"/>
                </a:solidFill>
              </a:rPr>
              <a:t>AcctLock</a:t>
            </a:r>
            <a:endParaRPr lang="en-US" altLang="en-US" sz="2000" dirty="0">
              <a:solidFill>
                <a:srgbClr val="0070C0"/>
              </a:solidFill>
            </a:endParaRPr>
          </a:p>
          <a:p>
            <a:r>
              <a:rPr lang="en-US" altLang="en-US" sz="2000" dirty="0">
                <a:solidFill>
                  <a:srgbClr val="0070C0"/>
                </a:solidFill>
              </a:rPr>
              <a:t>Wait(</a:t>
            </a:r>
            <a:r>
              <a:rPr lang="en-US" altLang="en-US" sz="2000" dirty="0" err="1">
                <a:solidFill>
                  <a:srgbClr val="0070C0"/>
                </a:solidFill>
              </a:rPr>
              <a:t>AcctLock</a:t>
            </a:r>
            <a:r>
              <a:rPr lang="en-US" altLang="en-US" sz="2000" dirty="0">
                <a:solidFill>
                  <a:srgbClr val="0070C0"/>
                </a:solidFill>
              </a:rPr>
              <a:t>)</a:t>
            </a:r>
          </a:p>
          <a:p>
            <a:endParaRPr lang="en-US" altLang="en-US" sz="2000" dirty="0">
              <a:solidFill>
                <a:srgbClr val="0070C0"/>
              </a:solidFill>
            </a:endParaRPr>
          </a:p>
          <a:p>
            <a:endParaRPr lang="en-US" altLang="en-US" sz="2000" dirty="0">
              <a:solidFill>
                <a:srgbClr val="0070C0"/>
              </a:solidFill>
            </a:endParaRPr>
          </a:p>
          <a:p>
            <a:endParaRPr lang="en-US" altLang="en-US" sz="2000" dirty="0">
              <a:solidFill>
                <a:srgbClr val="0070C0"/>
              </a:solidFill>
            </a:endParaRPr>
          </a:p>
          <a:p>
            <a:endParaRPr lang="en-US" altLang="en-US" sz="2000" dirty="0">
              <a:solidFill>
                <a:srgbClr val="0070C0"/>
              </a:solidFill>
            </a:endParaRPr>
          </a:p>
          <a:p>
            <a:r>
              <a:rPr lang="en-US" altLang="en-US" sz="2000" dirty="0">
                <a:solidFill>
                  <a:srgbClr val="0070C0"/>
                </a:solidFill>
              </a:rPr>
              <a:t>Get </a:t>
            </a:r>
            <a:r>
              <a:rPr lang="en-US" altLang="en-US" sz="2000" dirty="0" err="1">
                <a:solidFill>
                  <a:srgbClr val="0070C0"/>
                </a:solidFill>
              </a:rPr>
              <a:t>AcctLock</a:t>
            </a:r>
            <a:endParaRPr lang="en-US" altLang="en-US" sz="2000" dirty="0">
              <a:solidFill>
                <a:srgbClr val="0070C0"/>
              </a:solidFill>
            </a:endParaRPr>
          </a:p>
          <a:p>
            <a:r>
              <a:rPr lang="en-US" altLang="en-US" sz="2000" dirty="0">
                <a:solidFill>
                  <a:srgbClr val="0070C0"/>
                </a:solidFill>
              </a:rPr>
              <a:t>Read balance = 600</a:t>
            </a:r>
          </a:p>
          <a:p>
            <a:r>
              <a:rPr lang="en-US" altLang="en-US" sz="2000" dirty="0">
                <a:solidFill>
                  <a:srgbClr val="0070C0"/>
                </a:solidFill>
              </a:rPr>
              <a:t>balance = 600 - 100 = 500</a:t>
            </a:r>
          </a:p>
          <a:p>
            <a:r>
              <a:rPr lang="en-US" altLang="en-US" sz="2000" dirty="0">
                <a:solidFill>
                  <a:srgbClr val="0070C0"/>
                </a:solidFill>
              </a:rPr>
              <a:t>Write back $500</a:t>
            </a:r>
          </a:p>
        </p:txBody>
      </p:sp>
      <p:sp>
        <p:nvSpPr>
          <p:cNvPr id="10245" name="Line 1029">
            <a:extLst>
              <a:ext uri="{FF2B5EF4-FFF2-40B4-BE49-F238E27FC236}">
                <a16:creationId xmlns:a16="http://schemas.microsoft.com/office/drawing/2014/main" id="{F9D4FBE4-D6A4-4699-B9CA-9CE2C0E30414}"/>
              </a:ext>
            </a:extLst>
          </p:cNvPr>
          <p:cNvSpPr>
            <a:spLocks noChangeShapeType="1"/>
          </p:cNvSpPr>
          <p:nvPr/>
        </p:nvSpPr>
        <p:spPr bwMode="auto">
          <a:xfrm>
            <a:off x="381000" y="3062681"/>
            <a:ext cx="8382000" cy="0"/>
          </a:xfrm>
          <a:prstGeom prst="line">
            <a:avLst/>
          </a:prstGeom>
          <a:noFill/>
          <a:ln w="76200">
            <a:solidFill>
              <a:schemeClr val="tx1"/>
            </a:solidFill>
            <a:round/>
            <a:headEnd type="none" w="sm" len="sm"/>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246" name="Line 1030">
            <a:extLst>
              <a:ext uri="{FF2B5EF4-FFF2-40B4-BE49-F238E27FC236}">
                <a16:creationId xmlns:a16="http://schemas.microsoft.com/office/drawing/2014/main" id="{3E52559D-48C5-4542-9179-70F150F9BDE9}"/>
              </a:ext>
            </a:extLst>
          </p:cNvPr>
          <p:cNvSpPr>
            <a:spLocks noChangeShapeType="1"/>
          </p:cNvSpPr>
          <p:nvPr/>
        </p:nvSpPr>
        <p:spPr bwMode="auto">
          <a:xfrm>
            <a:off x="381000" y="3833769"/>
            <a:ext cx="8382000" cy="0"/>
          </a:xfrm>
          <a:prstGeom prst="line">
            <a:avLst/>
          </a:prstGeom>
          <a:noFill/>
          <a:ln w="76200">
            <a:solidFill>
              <a:schemeClr val="tx1"/>
            </a:solidFill>
            <a:round/>
            <a:headEnd type="none" w="sm" len="sm"/>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247" name="Line 1031">
            <a:extLst>
              <a:ext uri="{FF2B5EF4-FFF2-40B4-BE49-F238E27FC236}">
                <a16:creationId xmlns:a16="http://schemas.microsoft.com/office/drawing/2014/main" id="{EF56F7DE-F8F2-4BE1-9142-3E1EC0E41322}"/>
              </a:ext>
            </a:extLst>
          </p:cNvPr>
          <p:cNvSpPr>
            <a:spLocks noChangeShapeType="1"/>
          </p:cNvSpPr>
          <p:nvPr/>
        </p:nvSpPr>
        <p:spPr bwMode="auto">
          <a:xfrm>
            <a:off x="381000" y="5264092"/>
            <a:ext cx="8382000" cy="0"/>
          </a:xfrm>
          <a:prstGeom prst="line">
            <a:avLst/>
          </a:prstGeom>
          <a:noFill/>
          <a:ln w="76200">
            <a:solidFill>
              <a:schemeClr val="tx1"/>
            </a:solidFill>
            <a:round/>
            <a:headEnd type="none" w="sm" len="sm"/>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 name="TextBox 8">
            <a:extLst>
              <a:ext uri="{FF2B5EF4-FFF2-40B4-BE49-F238E27FC236}">
                <a16:creationId xmlns:a16="http://schemas.microsoft.com/office/drawing/2014/main" id="{6AB7F3C9-85DA-4E50-AE3B-08CC977B973E}"/>
              </a:ext>
            </a:extLst>
          </p:cNvPr>
          <p:cNvSpPr txBox="1"/>
          <p:nvPr/>
        </p:nvSpPr>
        <p:spPr>
          <a:xfrm>
            <a:off x="2895600" y="796256"/>
            <a:ext cx="3035417" cy="369332"/>
          </a:xfrm>
          <a:prstGeom prst="rect">
            <a:avLst/>
          </a:prstGeom>
          <a:solidFill>
            <a:srgbClr val="FFC000"/>
          </a:solidFill>
          <a:ln w="19050">
            <a:solidFill>
              <a:srgbClr val="7030A0"/>
            </a:solidFill>
          </a:ln>
        </p:spPr>
        <p:txBody>
          <a:bodyPr wrap="square" rtlCol="0">
            <a:spAutoFit/>
          </a:bodyPr>
          <a:lstStyle/>
          <a:p>
            <a:pPr algn="ctr"/>
            <a:r>
              <a:rPr lang="en-US" b="1" dirty="0"/>
              <a:t>Initial Balance: $500</a:t>
            </a:r>
          </a:p>
        </p:txBody>
      </p:sp>
      <p:cxnSp>
        <p:nvCxnSpPr>
          <p:cNvPr id="10" name="Straight Arrow Connector 9">
            <a:extLst>
              <a:ext uri="{FF2B5EF4-FFF2-40B4-BE49-F238E27FC236}">
                <a16:creationId xmlns:a16="http://schemas.microsoft.com/office/drawing/2014/main" id="{65CEBCF5-B4C3-4A46-A213-4B38C2893ABA}"/>
              </a:ext>
            </a:extLst>
          </p:cNvPr>
          <p:cNvCxnSpPr>
            <a:cxnSpLocks/>
          </p:cNvCxnSpPr>
          <p:nvPr/>
        </p:nvCxnSpPr>
        <p:spPr>
          <a:xfrm>
            <a:off x="251670" y="1368430"/>
            <a:ext cx="0" cy="5360939"/>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
        <p:nvSpPr>
          <p:cNvPr id="11" name="TextBox 10">
            <a:extLst>
              <a:ext uri="{FF2B5EF4-FFF2-40B4-BE49-F238E27FC236}">
                <a16:creationId xmlns:a16="http://schemas.microsoft.com/office/drawing/2014/main" id="{689805EE-D5AE-49A3-92C7-AD9E8E534707}"/>
              </a:ext>
            </a:extLst>
          </p:cNvPr>
          <p:cNvSpPr txBox="1"/>
          <p:nvPr/>
        </p:nvSpPr>
        <p:spPr>
          <a:xfrm>
            <a:off x="38105" y="999098"/>
            <a:ext cx="685789" cy="369332"/>
          </a:xfrm>
          <a:prstGeom prst="rect">
            <a:avLst/>
          </a:prstGeom>
          <a:noFill/>
        </p:spPr>
        <p:txBody>
          <a:bodyPr wrap="square" rtlCol="0">
            <a:spAutoFit/>
          </a:bodyPr>
          <a:lstStyle/>
          <a:p>
            <a:r>
              <a:rPr lang="en-US" dirty="0"/>
              <a:t>Time</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AA5573-75DE-44D2-8BA4-B16DD56B328E}"/>
              </a:ext>
            </a:extLst>
          </p:cNvPr>
          <p:cNvSpPr>
            <a:spLocks noGrp="1"/>
          </p:cNvSpPr>
          <p:nvPr>
            <p:ph type="title"/>
          </p:nvPr>
        </p:nvSpPr>
        <p:spPr/>
        <p:txBody>
          <a:bodyPr/>
          <a:lstStyle/>
          <a:p>
            <a:r>
              <a:rPr lang="en-US" dirty="0">
                <a:solidFill>
                  <a:srgbClr val="FF0000"/>
                </a:solidFill>
              </a:rPr>
              <a:t>Mutual exclusion: Token-based</a:t>
            </a:r>
          </a:p>
        </p:txBody>
      </p:sp>
      <p:sp>
        <p:nvSpPr>
          <p:cNvPr id="3" name="Content Placeholder 2">
            <a:extLst>
              <a:ext uri="{FF2B5EF4-FFF2-40B4-BE49-F238E27FC236}">
                <a16:creationId xmlns:a16="http://schemas.microsoft.com/office/drawing/2014/main" id="{364EB75C-E3AB-4CF4-BD52-28CD47C148CA}"/>
              </a:ext>
            </a:extLst>
          </p:cNvPr>
          <p:cNvSpPr>
            <a:spLocks noGrp="1"/>
          </p:cNvSpPr>
          <p:nvPr>
            <p:ph sz="half" idx="1"/>
          </p:nvPr>
        </p:nvSpPr>
        <p:spPr>
          <a:xfrm>
            <a:off x="628648" y="1800458"/>
            <a:ext cx="7886699" cy="2847043"/>
          </a:xfrm>
        </p:spPr>
        <p:txBody>
          <a:bodyPr/>
          <a:lstStyle/>
          <a:p>
            <a:r>
              <a:rPr lang="en-US" dirty="0"/>
              <a:t>Essence</a:t>
            </a:r>
          </a:p>
          <a:p>
            <a:pPr lvl="1"/>
            <a:r>
              <a:rPr lang="en-US" dirty="0"/>
              <a:t>Organize processes in a logical ring, and let a token be passed between them.</a:t>
            </a:r>
          </a:p>
          <a:p>
            <a:pPr lvl="1"/>
            <a:r>
              <a:rPr lang="en-US" dirty="0"/>
              <a:t>The one that holds the token is allowed to enter the critical region (if it wants to).</a:t>
            </a:r>
          </a:p>
          <a:p>
            <a:r>
              <a:rPr lang="en-US" dirty="0"/>
              <a:t>An overlay network constructed as a logical ring with a circulating token</a:t>
            </a:r>
          </a:p>
        </p:txBody>
      </p:sp>
      <p:pic>
        <p:nvPicPr>
          <p:cNvPr id="5" name="Picture 4">
            <a:extLst>
              <a:ext uri="{FF2B5EF4-FFF2-40B4-BE49-F238E27FC236}">
                <a16:creationId xmlns:a16="http://schemas.microsoft.com/office/drawing/2014/main" id="{C3DB8B42-5E4E-4A8D-BFA8-CF046E2062E8}"/>
              </a:ext>
            </a:extLst>
          </p:cNvPr>
          <p:cNvPicPr>
            <a:picLocks noChangeAspect="1"/>
          </p:cNvPicPr>
          <p:nvPr/>
        </p:nvPicPr>
        <p:blipFill>
          <a:blip r:embed="rId2"/>
          <a:stretch>
            <a:fillRect/>
          </a:stretch>
        </p:blipFill>
        <p:spPr>
          <a:xfrm>
            <a:off x="2257711" y="4845741"/>
            <a:ext cx="4628571" cy="1495238"/>
          </a:xfrm>
          <a:prstGeom prst="rect">
            <a:avLst/>
          </a:prstGeom>
        </p:spPr>
      </p:pic>
    </p:spTree>
    <p:extLst>
      <p:ext uri="{BB962C8B-B14F-4D97-AF65-F5344CB8AC3E}">
        <p14:creationId xmlns:p14="http://schemas.microsoft.com/office/powerpoint/2010/main" val="73263545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DC76CC-3FCA-4AC6-BDA5-29BC7CBC2BBB}"/>
              </a:ext>
            </a:extLst>
          </p:cNvPr>
          <p:cNvSpPr>
            <a:spLocks noGrp="1"/>
          </p:cNvSpPr>
          <p:nvPr>
            <p:ph type="title"/>
          </p:nvPr>
        </p:nvSpPr>
        <p:spPr>
          <a:xfrm>
            <a:off x="628650" y="365126"/>
            <a:ext cx="7886700" cy="691887"/>
          </a:xfrm>
        </p:spPr>
        <p:txBody>
          <a:bodyPr>
            <a:normAutofit fontScale="90000"/>
          </a:bodyPr>
          <a:lstStyle/>
          <a:p>
            <a:r>
              <a:rPr lang="en-US" dirty="0">
                <a:solidFill>
                  <a:srgbClr val="FF0000"/>
                </a:solidFill>
              </a:rPr>
              <a:t>How to elect a coordinator</a:t>
            </a:r>
          </a:p>
        </p:txBody>
      </p:sp>
      <p:sp>
        <p:nvSpPr>
          <p:cNvPr id="3" name="Content Placeholder 2">
            <a:extLst>
              <a:ext uri="{FF2B5EF4-FFF2-40B4-BE49-F238E27FC236}">
                <a16:creationId xmlns:a16="http://schemas.microsoft.com/office/drawing/2014/main" id="{5D16BF56-077C-4220-B054-830A359BDEEC}"/>
              </a:ext>
            </a:extLst>
          </p:cNvPr>
          <p:cNvSpPr>
            <a:spLocks noGrp="1"/>
          </p:cNvSpPr>
          <p:nvPr>
            <p:ph sz="half" idx="1"/>
          </p:nvPr>
        </p:nvSpPr>
        <p:spPr>
          <a:xfrm>
            <a:off x="628650" y="1133738"/>
            <a:ext cx="7886700" cy="5359136"/>
          </a:xfrm>
        </p:spPr>
        <p:txBody>
          <a:bodyPr>
            <a:normAutofit fontScale="92500" lnSpcReduction="10000"/>
          </a:bodyPr>
          <a:lstStyle/>
          <a:p>
            <a:r>
              <a:rPr lang="en-US" dirty="0"/>
              <a:t>Principle</a:t>
            </a:r>
          </a:p>
          <a:p>
            <a:pPr lvl="1"/>
            <a:r>
              <a:rPr lang="en-US" dirty="0"/>
              <a:t>An algorithm requires that some process acts as a coordinator. The question is how to select this special process dynamically.</a:t>
            </a:r>
          </a:p>
          <a:p>
            <a:pPr lvl="1"/>
            <a:endParaRPr lang="en-US" dirty="0"/>
          </a:p>
          <a:p>
            <a:r>
              <a:rPr lang="en-US" dirty="0"/>
              <a:t>Note</a:t>
            </a:r>
          </a:p>
          <a:p>
            <a:pPr lvl="1"/>
            <a:r>
              <a:rPr lang="en-US" dirty="0"/>
              <a:t>In many systems the coordinator is chosen by hand. This leads to centralized solutions (e.g., single point of failure).</a:t>
            </a:r>
          </a:p>
          <a:p>
            <a:pPr lvl="1"/>
            <a:endParaRPr lang="en-US" dirty="0"/>
          </a:p>
          <a:p>
            <a:r>
              <a:rPr lang="en-US" dirty="0"/>
              <a:t>Basic assumptions:</a:t>
            </a:r>
          </a:p>
          <a:p>
            <a:pPr lvl="1"/>
            <a:r>
              <a:rPr lang="en-US" dirty="0"/>
              <a:t>All processes have unique IDs.</a:t>
            </a:r>
          </a:p>
          <a:p>
            <a:pPr lvl="1"/>
            <a:r>
              <a:rPr lang="en-US" dirty="0"/>
              <a:t>All processes know IDs of all processes in the system (but not if they are up or down)</a:t>
            </a:r>
          </a:p>
          <a:p>
            <a:pPr lvl="1"/>
            <a:r>
              <a:rPr lang="en-US" dirty="0"/>
              <a:t>Election means identifying the process with the highest ID that is up</a:t>
            </a:r>
          </a:p>
        </p:txBody>
      </p:sp>
    </p:spTree>
    <p:extLst>
      <p:ext uri="{BB962C8B-B14F-4D97-AF65-F5344CB8AC3E}">
        <p14:creationId xmlns:p14="http://schemas.microsoft.com/office/powerpoint/2010/main" val="381983756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BA4CC4-C6D6-4ABE-985D-1C3BE0E406AD}"/>
              </a:ext>
            </a:extLst>
          </p:cNvPr>
          <p:cNvSpPr>
            <a:spLocks noGrp="1"/>
          </p:cNvSpPr>
          <p:nvPr>
            <p:ph type="title"/>
          </p:nvPr>
        </p:nvSpPr>
        <p:spPr/>
        <p:txBody>
          <a:bodyPr/>
          <a:lstStyle/>
          <a:p>
            <a:r>
              <a:rPr lang="en-US" dirty="0">
                <a:solidFill>
                  <a:srgbClr val="FF0000"/>
                </a:solidFill>
              </a:rPr>
              <a:t>Election by bullying (1)</a:t>
            </a:r>
            <a:endParaRPr lang="en-US" dirty="0"/>
          </a:p>
        </p:txBody>
      </p:sp>
      <p:sp>
        <p:nvSpPr>
          <p:cNvPr id="3" name="Content Placeholder 2">
            <a:extLst>
              <a:ext uri="{FF2B5EF4-FFF2-40B4-BE49-F238E27FC236}">
                <a16:creationId xmlns:a16="http://schemas.microsoft.com/office/drawing/2014/main" id="{CDBA5577-552C-4466-8E0B-2560C8D57F03}"/>
              </a:ext>
            </a:extLst>
          </p:cNvPr>
          <p:cNvSpPr>
            <a:spLocks noGrp="1"/>
          </p:cNvSpPr>
          <p:nvPr>
            <p:ph idx="1"/>
          </p:nvPr>
        </p:nvSpPr>
        <p:spPr>
          <a:xfrm>
            <a:off x="368591" y="1850792"/>
            <a:ext cx="8406817" cy="4351338"/>
          </a:xfrm>
        </p:spPr>
        <p:txBody>
          <a:bodyPr>
            <a:normAutofit lnSpcReduction="10000"/>
          </a:bodyPr>
          <a:lstStyle/>
          <a:p>
            <a:r>
              <a:rPr lang="en-US" dirty="0"/>
              <a:t>Consider N processes {P</a:t>
            </a:r>
            <a:r>
              <a:rPr lang="en-US" baseline="-25000" dirty="0"/>
              <a:t>0</a:t>
            </a:r>
            <a:r>
              <a:rPr lang="en-US" dirty="0"/>
              <a:t>, P</a:t>
            </a:r>
            <a:r>
              <a:rPr lang="en-US" baseline="-25000" dirty="0"/>
              <a:t>1</a:t>
            </a:r>
            <a:r>
              <a:rPr lang="en-US" dirty="0"/>
              <a:t>, …, P</a:t>
            </a:r>
            <a:r>
              <a:rPr lang="en-US" baseline="-25000" dirty="0"/>
              <a:t>N-1</a:t>
            </a:r>
            <a:r>
              <a:rPr lang="en-US" dirty="0"/>
              <a:t>} and let id(P</a:t>
            </a:r>
            <a:r>
              <a:rPr lang="en-US" baseline="-25000" dirty="0"/>
              <a:t>k</a:t>
            </a:r>
            <a:r>
              <a:rPr lang="en-US" dirty="0"/>
              <a:t> ) = k. When a process P</a:t>
            </a:r>
            <a:r>
              <a:rPr lang="en-US" baseline="-25000" dirty="0"/>
              <a:t>k</a:t>
            </a:r>
            <a:r>
              <a:rPr lang="en-US" dirty="0"/>
              <a:t> notices that the coordinator is no longer responding to requests, it initiates an election:</a:t>
            </a:r>
          </a:p>
          <a:p>
            <a:endParaRPr lang="en-US" dirty="0"/>
          </a:p>
          <a:p>
            <a:pPr marL="971550" lvl="1" indent="-514350">
              <a:buFont typeface="+mj-lt"/>
              <a:buAutoNum type="arabicPeriod"/>
            </a:pPr>
            <a:r>
              <a:rPr lang="en-US" dirty="0"/>
              <a:t>P</a:t>
            </a:r>
            <a:r>
              <a:rPr lang="en-US" baseline="-25000" dirty="0"/>
              <a:t>k</a:t>
            </a:r>
            <a:r>
              <a:rPr lang="en-US" dirty="0"/>
              <a:t> sends an ELECTION message to all processes with higher identifiers: P</a:t>
            </a:r>
            <a:r>
              <a:rPr lang="en-US" baseline="-25000" dirty="0"/>
              <a:t>k+1</a:t>
            </a:r>
            <a:r>
              <a:rPr lang="en-US" dirty="0"/>
              <a:t>, P</a:t>
            </a:r>
            <a:r>
              <a:rPr lang="en-US" baseline="-25000" dirty="0"/>
              <a:t>k+2</a:t>
            </a:r>
            <a:r>
              <a:rPr lang="en-US" dirty="0"/>
              <a:t>, …, P</a:t>
            </a:r>
            <a:r>
              <a:rPr lang="en-US" baseline="-25000" dirty="0"/>
              <a:t>N-1</a:t>
            </a:r>
            <a:r>
              <a:rPr lang="en-US" dirty="0"/>
              <a:t>.</a:t>
            </a:r>
          </a:p>
          <a:p>
            <a:pPr marL="971550" lvl="1" indent="-514350">
              <a:buFont typeface="+mj-lt"/>
              <a:buAutoNum type="arabicPeriod"/>
            </a:pPr>
            <a:endParaRPr lang="en-US" dirty="0"/>
          </a:p>
          <a:p>
            <a:pPr marL="971550" lvl="1" indent="-514350">
              <a:buFont typeface="+mj-lt"/>
              <a:buAutoNum type="arabicPeriod"/>
            </a:pPr>
            <a:r>
              <a:rPr lang="en-US" dirty="0"/>
              <a:t>If no one responds, P</a:t>
            </a:r>
            <a:r>
              <a:rPr lang="en-US" baseline="-25000" dirty="0"/>
              <a:t>k</a:t>
            </a:r>
            <a:r>
              <a:rPr lang="en-US" dirty="0"/>
              <a:t> wins the election and becomes coordinator.</a:t>
            </a:r>
          </a:p>
          <a:p>
            <a:pPr marL="971550" lvl="1" indent="-514350">
              <a:buFont typeface="+mj-lt"/>
              <a:buAutoNum type="arabicPeriod"/>
            </a:pPr>
            <a:endParaRPr lang="en-US" dirty="0"/>
          </a:p>
          <a:p>
            <a:pPr marL="971550" lvl="1" indent="-514350">
              <a:buFont typeface="+mj-lt"/>
              <a:buAutoNum type="arabicPeriod"/>
            </a:pPr>
            <a:r>
              <a:rPr lang="en-US" dirty="0"/>
              <a:t>If one of the higher-ups answers, it takes over and P</a:t>
            </a:r>
            <a:r>
              <a:rPr lang="en-US" baseline="-25000" dirty="0"/>
              <a:t>k</a:t>
            </a:r>
            <a:r>
              <a:rPr lang="en-US" dirty="0"/>
              <a:t>’s job is done.</a:t>
            </a:r>
          </a:p>
        </p:txBody>
      </p:sp>
    </p:spTree>
    <p:extLst>
      <p:ext uri="{BB962C8B-B14F-4D97-AF65-F5344CB8AC3E}">
        <p14:creationId xmlns:p14="http://schemas.microsoft.com/office/powerpoint/2010/main" val="418647963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B684F-F3F7-47A3-AB61-9DEA05504EB8}"/>
              </a:ext>
            </a:extLst>
          </p:cNvPr>
          <p:cNvSpPr>
            <a:spLocks noGrp="1"/>
          </p:cNvSpPr>
          <p:nvPr>
            <p:ph type="title"/>
          </p:nvPr>
        </p:nvSpPr>
        <p:spPr>
          <a:xfrm>
            <a:off x="544760" y="431780"/>
            <a:ext cx="7886700" cy="465384"/>
          </a:xfrm>
        </p:spPr>
        <p:txBody>
          <a:bodyPr>
            <a:normAutofit fontScale="90000"/>
          </a:bodyPr>
          <a:lstStyle/>
          <a:p>
            <a:r>
              <a:rPr lang="en-US" dirty="0">
                <a:solidFill>
                  <a:srgbClr val="FF0000"/>
                </a:solidFill>
              </a:rPr>
              <a:t>Election by bullying (2)</a:t>
            </a:r>
          </a:p>
        </p:txBody>
      </p:sp>
      <p:pic>
        <p:nvPicPr>
          <p:cNvPr id="5" name="Picture 4">
            <a:extLst>
              <a:ext uri="{FF2B5EF4-FFF2-40B4-BE49-F238E27FC236}">
                <a16:creationId xmlns:a16="http://schemas.microsoft.com/office/drawing/2014/main" id="{A3962B9C-8D80-4471-87F6-A9AD9CA7FC1E}"/>
              </a:ext>
            </a:extLst>
          </p:cNvPr>
          <p:cNvPicPr>
            <a:picLocks noChangeAspect="1"/>
          </p:cNvPicPr>
          <p:nvPr/>
        </p:nvPicPr>
        <p:blipFill>
          <a:blip r:embed="rId2"/>
          <a:stretch>
            <a:fillRect/>
          </a:stretch>
        </p:blipFill>
        <p:spPr>
          <a:xfrm>
            <a:off x="395809" y="1388125"/>
            <a:ext cx="8352381" cy="5038095"/>
          </a:xfrm>
          <a:prstGeom prst="rect">
            <a:avLst/>
          </a:prstGeom>
        </p:spPr>
      </p:pic>
    </p:spTree>
    <p:extLst>
      <p:ext uri="{BB962C8B-B14F-4D97-AF65-F5344CB8AC3E}">
        <p14:creationId xmlns:p14="http://schemas.microsoft.com/office/powerpoint/2010/main" val="268810815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09F38E-7B1B-4E44-82C1-4A69540801E2}"/>
              </a:ext>
            </a:extLst>
          </p:cNvPr>
          <p:cNvSpPr>
            <a:spLocks noGrp="1"/>
          </p:cNvSpPr>
          <p:nvPr>
            <p:ph type="title"/>
          </p:nvPr>
        </p:nvSpPr>
        <p:spPr/>
        <p:txBody>
          <a:bodyPr/>
          <a:lstStyle/>
          <a:p>
            <a:r>
              <a:rPr lang="en-US" altLang="zh-CN" dirty="0">
                <a:solidFill>
                  <a:srgbClr val="FF0000"/>
                </a:solidFill>
              </a:rPr>
              <a:t>Election in a ring (1) </a:t>
            </a:r>
            <a:endParaRPr lang="en-US" dirty="0">
              <a:solidFill>
                <a:srgbClr val="FF0000"/>
              </a:solidFill>
            </a:endParaRPr>
          </a:p>
        </p:txBody>
      </p:sp>
      <p:sp>
        <p:nvSpPr>
          <p:cNvPr id="3" name="Content Placeholder 2">
            <a:extLst>
              <a:ext uri="{FF2B5EF4-FFF2-40B4-BE49-F238E27FC236}">
                <a16:creationId xmlns:a16="http://schemas.microsoft.com/office/drawing/2014/main" id="{4D55138F-3A5B-4EAC-AC49-0DD4B73CF99D}"/>
              </a:ext>
            </a:extLst>
          </p:cNvPr>
          <p:cNvSpPr>
            <a:spLocks noGrp="1"/>
          </p:cNvSpPr>
          <p:nvPr>
            <p:ph idx="1"/>
          </p:nvPr>
        </p:nvSpPr>
        <p:spPr>
          <a:xfrm>
            <a:off x="628650" y="1602297"/>
            <a:ext cx="7886700" cy="4739780"/>
          </a:xfrm>
        </p:spPr>
        <p:txBody>
          <a:bodyPr>
            <a:normAutofit fontScale="92500" lnSpcReduction="20000"/>
          </a:bodyPr>
          <a:lstStyle/>
          <a:p>
            <a:r>
              <a:rPr lang="en-US" dirty="0"/>
              <a:t>Process priority is obtained by organizing processes into a (logical) ring. Process with the highest priority should be elected as coordinator.</a:t>
            </a:r>
          </a:p>
          <a:p>
            <a:endParaRPr lang="en-US" dirty="0"/>
          </a:p>
          <a:p>
            <a:pPr lvl="1"/>
            <a:r>
              <a:rPr lang="en-US" dirty="0"/>
              <a:t>Any process can start an election by sending an election message to its successor. If a successor is down, the message is passed on to the next successor.</a:t>
            </a:r>
          </a:p>
          <a:p>
            <a:pPr lvl="1"/>
            <a:endParaRPr lang="en-US" dirty="0"/>
          </a:p>
          <a:p>
            <a:pPr lvl="1"/>
            <a:r>
              <a:rPr lang="en-US" dirty="0"/>
              <a:t>If a message is passed on, the sender adds itself to the list. When it gets back to the initiator, everyone had a chance to make its presence known.</a:t>
            </a:r>
          </a:p>
          <a:p>
            <a:pPr lvl="1"/>
            <a:endParaRPr lang="en-US" dirty="0"/>
          </a:p>
          <a:p>
            <a:pPr lvl="1"/>
            <a:r>
              <a:rPr lang="en-US" dirty="0"/>
              <a:t>The initiator sends a coordinator message around the ring containing a list of all living processes. The one with the highest priority is elected as coordinator.</a:t>
            </a:r>
          </a:p>
        </p:txBody>
      </p:sp>
    </p:spTree>
    <p:extLst>
      <p:ext uri="{BB962C8B-B14F-4D97-AF65-F5344CB8AC3E}">
        <p14:creationId xmlns:p14="http://schemas.microsoft.com/office/powerpoint/2010/main" val="137463674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4D6468-4FDC-4D90-9DCE-928E5EF954F7}"/>
              </a:ext>
            </a:extLst>
          </p:cNvPr>
          <p:cNvSpPr>
            <a:spLocks noGrp="1"/>
          </p:cNvSpPr>
          <p:nvPr>
            <p:ph type="title"/>
          </p:nvPr>
        </p:nvSpPr>
        <p:spPr/>
        <p:txBody>
          <a:bodyPr/>
          <a:lstStyle/>
          <a:p>
            <a:r>
              <a:rPr lang="en-US" dirty="0">
                <a:solidFill>
                  <a:srgbClr val="FF0000"/>
                </a:solidFill>
              </a:rPr>
              <a:t>Election in a ring (2)</a:t>
            </a:r>
          </a:p>
        </p:txBody>
      </p:sp>
      <p:pic>
        <p:nvPicPr>
          <p:cNvPr id="5" name="Picture 4">
            <a:extLst>
              <a:ext uri="{FF2B5EF4-FFF2-40B4-BE49-F238E27FC236}">
                <a16:creationId xmlns:a16="http://schemas.microsoft.com/office/drawing/2014/main" id="{BF60CC63-D5E1-4F6B-BE89-88FD4EE82ABF}"/>
              </a:ext>
            </a:extLst>
          </p:cNvPr>
          <p:cNvPicPr>
            <a:picLocks noChangeAspect="1"/>
          </p:cNvPicPr>
          <p:nvPr/>
        </p:nvPicPr>
        <p:blipFill>
          <a:blip r:embed="rId2"/>
          <a:stretch>
            <a:fillRect/>
          </a:stretch>
        </p:blipFill>
        <p:spPr>
          <a:xfrm>
            <a:off x="348419" y="1896356"/>
            <a:ext cx="8447161" cy="3590044"/>
          </a:xfrm>
          <a:prstGeom prst="rect">
            <a:avLst/>
          </a:prstGeom>
        </p:spPr>
      </p:pic>
    </p:spTree>
    <p:extLst>
      <p:ext uri="{BB962C8B-B14F-4D97-AF65-F5344CB8AC3E}">
        <p14:creationId xmlns:p14="http://schemas.microsoft.com/office/powerpoint/2010/main" val="59741917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09F38E-7B1B-4E44-82C1-4A69540801E2}"/>
              </a:ext>
            </a:extLst>
          </p:cNvPr>
          <p:cNvSpPr>
            <a:spLocks noGrp="1"/>
          </p:cNvSpPr>
          <p:nvPr>
            <p:ph type="title"/>
          </p:nvPr>
        </p:nvSpPr>
        <p:spPr>
          <a:xfrm>
            <a:off x="628650" y="230903"/>
            <a:ext cx="7886700" cy="616386"/>
          </a:xfrm>
        </p:spPr>
        <p:txBody>
          <a:bodyPr>
            <a:normAutofit fontScale="90000"/>
          </a:bodyPr>
          <a:lstStyle/>
          <a:p>
            <a:r>
              <a:rPr lang="en-US" altLang="zh-CN" dirty="0">
                <a:solidFill>
                  <a:srgbClr val="FF0000"/>
                </a:solidFill>
              </a:rPr>
              <a:t>Discussion </a:t>
            </a:r>
            <a:endParaRPr lang="en-US" dirty="0">
              <a:solidFill>
                <a:srgbClr val="FF0000"/>
              </a:solidFill>
            </a:endParaRPr>
          </a:p>
        </p:txBody>
      </p:sp>
      <p:sp>
        <p:nvSpPr>
          <p:cNvPr id="3" name="Content Placeholder 2">
            <a:extLst>
              <a:ext uri="{FF2B5EF4-FFF2-40B4-BE49-F238E27FC236}">
                <a16:creationId xmlns:a16="http://schemas.microsoft.com/office/drawing/2014/main" id="{4D55138F-3A5B-4EAC-AC49-0DD4B73CF99D}"/>
              </a:ext>
            </a:extLst>
          </p:cNvPr>
          <p:cNvSpPr>
            <a:spLocks noGrp="1"/>
          </p:cNvSpPr>
          <p:nvPr>
            <p:ph idx="1"/>
          </p:nvPr>
        </p:nvSpPr>
        <p:spPr>
          <a:xfrm>
            <a:off x="628650" y="1003299"/>
            <a:ext cx="7886700" cy="5001710"/>
          </a:xfrm>
        </p:spPr>
        <p:txBody>
          <a:bodyPr>
            <a:normAutofit/>
          </a:bodyPr>
          <a:lstStyle/>
          <a:p>
            <a:r>
              <a:rPr lang="en-US" dirty="0"/>
              <a:t>Consider the following scenario:</a:t>
            </a:r>
          </a:p>
          <a:p>
            <a:pPr lvl="1"/>
            <a:r>
              <a:rPr lang="en-US" dirty="0"/>
              <a:t>Both Job A and B need resource C and D to finish</a:t>
            </a:r>
          </a:p>
          <a:p>
            <a:pPr lvl="2"/>
            <a:endParaRPr lang="en-US" dirty="0"/>
          </a:p>
          <a:p>
            <a:pPr lvl="1"/>
            <a:r>
              <a:rPr lang="en-US" dirty="0"/>
              <a:t>Job A needs to process resource C first, then looks for resource D</a:t>
            </a:r>
          </a:p>
          <a:p>
            <a:pPr lvl="1"/>
            <a:endParaRPr lang="en-US" dirty="0"/>
          </a:p>
          <a:p>
            <a:pPr lvl="1"/>
            <a:r>
              <a:rPr lang="en-US" dirty="0"/>
              <a:t>Job B needs to process resource D first, then looks for resource C</a:t>
            </a:r>
          </a:p>
          <a:p>
            <a:r>
              <a:rPr lang="en-US" dirty="0"/>
              <a:t>Now, Job A and B arrive roughly at the same time.</a:t>
            </a:r>
          </a:p>
          <a:p>
            <a:r>
              <a:rPr lang="en-US" dirty="0"/>
              <a:t>Questions</a:t>
            </a:r>
          </a:p>
          <a:p>
            <a:pPr lvl="1"/>
            <a:r>
              <a:rPr lang="en-US" dirty="0"/>
              <a:t>What could be the problem in this scenario?</a:t>
            </a:r>
          </a:p>
          <a:p>
            <a:pPr lvl="1"/>
            <a:r>
              <a:rPr lang="en-US" dirty="0"/>
              <a:t>Is there any way to solve this problem?</a:t>
            </a:r>
          </a:p>
        </p:txBody>
      </p:sp>
      <p:sp>
        <p:nvSpPr>
          <p:cNvPr id="5" name="TextBox 4">
            <a:extLst>
              <a:ext uri="{FF2B5EF4-FFF2-40B4-BE49-F238E27FC236}">
                <a16:creationId xmlns:a16="http://schemas.microsoft.com/office/drawing/2014/main" id="{191D972A-9F96-FCBE-F099-181600058582}"/>
              </a:ext>
            </a:extLst>
          </p:cNvPr>
          <p:cNvSpPr txBox="1"/>
          <p:nvPr/>
        </p:nvSpPr>
        <p:spPr>
          <a:xfrm>
            <a:off x="739182" y="6005008"/>
            <a:ext cx="8103368" cy="923330"/>
          </a:xfrm>
          <a:prstGeom prst="rect">
            <a:avLst/>
          </a:prstGeom>
          <a:noFill/>
        </p:spPr>
        <p:txBody>
          <a:bodyPr wrap="square">
            <a:spAutoFit/>
          </a:bodyPr>
          <a:lstStyle/>
          <a:p>
            <a:r>
              <a:rPr lang="en-US" dirty="0"/>
              <a:t>Please go to </a:t>
            </a:r>
          </a:p>
          <a:p>
            <a:pPr marL="457200" lvl="1" indent="0">
              <a:buNone/>
            </a:pPr>
            <a:r>
              <a:rPr lang="en-US" sz="3600" dirty="0">
                <a:solidFill>
                  <a:schemeClr val="accent5">
                    <a:lumMod val="75000"/>
                  </a:schemeClr>
                </a:solidFill>
              </a:rPr>
              <a:t>PollEv.com/cisgvsu429</a:t>
            </a:r>
          </a:p>
        </p:txBody>
      </p:sp>
    </p:spTree>
    <p:extLst>
      <p:ext uri="{BB962C8B-B14F-4D97-AF65-F5344CB8AC3E}">
        <p14:creationId xmlns:p14="http://schemas.microsoft.com/office/powerpoint/2010/main" val="466116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14">
            <a:extLst>
              <a:ext uri="{FF2B5EF4-FFF2-40B4-BE49-F238E27FC236}">
                <a16:creationId xmlns:a16="http://schemas.microsoft.com/office/drawing/2014/main" id="{D4E50CA1-51C3-4D45-9964-64BB9F72D20F}"/>
              </a:ext>
            </a:extLst>
          </p:cNvPr>
          <p:cNvSpPr>
            <a:spLocks noGrp="1" noChangeArrowheads="1"/>
          </p:cNvSpPr>
          <p:nvPr>
            <p:ph type="title"/>
          </p:nvPr>
        </p:nvSpPr>
        <p:spPr>
          <a:xfrm>
            <a:off x="327498" y="210368"/>
            <a:ext cx="7772400" cy="581818"/>
          </a:xfrm>
        </p:spPr>
        <p:txBody>
          <a:bodyPr>
            <a:normAutofit fontScale="90000"/>
          </a:bodyPr>
          <a:lstStyle/>
          <a:p>
            <a:r>
              <a:rPr lang="en-US" altLang="en-US" dirty="0">
                <a:solidFill>
                  <a:srgbClr val="FF0000"/>
                </a:solidFill>
              </a:rPr>
              <a:t>Deadlock (1)</a:t>
            </a:r>
          </a:p>
        </p:txBody>
      </p:sp>
      <p:sp>
        <p:nvSpPr>
          <p:cNvPr id="16387" name="Rectangle 15">
            <a:extLst>
              <a:ext uri="{FF2B5EF4-FFF2-40B4-BE49-F238E27FC236}">
                <a16:creationId xmlns:a16="http://schemas.microsoft.com/office/drawing/2014/main" id="{44C2F569-73A3-4570-901B-06C428F406CF}"/>
              </a:ext>
            </a:extLst>
          </p:cNvPr>
          <p:cNvSpPr>
            <a:spLocks noGrp="1" noChangeArrowheads="1"/>
          </p:cNvSpPr>
          <p:nvPr>
            <p:ph type="body" idx="1"/>
          </p:nvPr>
        </p:nvSpPr>
        <p:spPr>
          <a:xfrm>
            <a:off x="155196" y="923154"/>
            <a:ext cx="8833606" cy="4648200"/>
          </a:xfrm>
        </p:spPr>
        <p:txBody>
          <a:bodyPr>
            <a:normAutofit/>
          </a:bodyPr>
          <a:lstStyle/>
          <a:p>
            <a:pPr>
              <a:buFontTx/>
              <a:buNone/>
            </a:pPr>
            <a:r>
              <a:rPr lang="en-US" altLang="en-US" sz="2400" b="1" dirty="0"/>
              <a:t>When sharing resources, jobs can get into never-ending waits:</a:t>
            </a:r>
            <a:endParaRPr lang="en-US" altLang="en-US" sz="2400" dirty="0"/>
          </a:p>
        </p:txBody>
      </p:sp>
      <p:sp>
        <p:nvSpPr>
          <p:cNvPr id="16388" name="Oval 4">
            <a:extLst>
              <a:ext uri="{FF2B5EF4-FFF2-40B4-BE49-F238E27FC236}">
                <a16:creationId xmlns:a16="http://schemas.microsoft.com/office/drawing/2014/main" id="{3E615709-D3C9-47BE-B69D-C4E185871B86}"/>
              </a:ext>
            </a:extLst>
          </p:cNvPr>
          <p:cNvSpPr>
            <a:spLocks noChangeArrowheads="1"/>
          </p:cNvSpPr>
          <p:nvPr/>
        </p:nvSpPr>
        <p:spPr bwMode="auto">
          <a:xfrm>
            <a:off x="947738" y="2681813"/>
            <a:ext cx="2673350" cy="254635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Arial" panose="020B0604020202020204" pitchFamily="34" charset="0"/>
              </a:defRPr>
            </a:lvl1pPr>
            <a:lvl2pPr marL="742950" indent="-285750">
              <a:defRPr sz="2400" b="1">
                <a:solidFill>
                  <a:schemeClr val="tx1"/>
                </a:solidFill>
                <a:latin typeface="Arial" panose="020B0604020202020204" pitchFamily="34" charset="0"/>
              </a:defRPr>
            </a:lvl2pPr>
            <a:lvl3pPr marL="1143000" indent="-228600">
              <a:defRPr sz="2400" b="1">
                <a:solidFill>
                  <a:schemeClr val="tx1"/>
                </a:solidFill>
                <a:latin typeface="Arial" panose="020B0604020202020204" pitchFamily="34" charset="0"/>
              </a:defRPr>
            </a:lvl3pPr>
            <a:lvl4pPr marL="1600200" indent="-228600">
              <a:defRPr sz="2400" b="1">
                <a:solidFill>
                  <a:schemeClr val="tx1"/>
                </a:solidFill>
                <a:latin typeface="Arial" panose="020B0604020202020204" pitchFamily="34" charset="0"/>
              </a:defRPr>
            </a:lvl4pPr>
            <a:lvl5pPr marL="2057400" indent="-228600">
              <a:defRPr sz="2400" b="1">
                <a:solidFill>
                  <a:schemeClr val="tx1"/>
                </a:solidFill>
                <a:latin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defRPr>
            </a:lvl9pPr>
          </a:lstStyle>
          <a:p>
            <a:endParaRPr lang="en-US" altLang="en-US"/>
          </a:p>
        </p:txBody>
      </p:sp>
      <p:sp>
        <p:nvSpPr>
          <p:cNvPr id="16389" name="Oval 5">
            <a:extLst>
              <a:ext uri="{FF2B5EF4-FFF2-40B4-BE49-F238E27FC236}">
                <a16:creationId xmlns:a16="http://schemas.microsoft.com/office/drawing/2014/main" id="{BD34C32E-8D8D-4FF2-85F6-E40BDEAAA590}"/>
              </a:ext>
            </a:extLst>
          </p:cNvPr>
          <p:cNvSpPr>
            <a:spLocks noChangeArrowheads="1"/>
          </p:cNvSpPr>
          <p:nvPr/>
        </p:nvSpPr>
        <p:spPr bwMode="auto">
          <a:xfrm>
            <a:off x="4948238" y="2667816"/>
            <a:ext cx="2809875" cy="254635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Arial" panose="020B0604020202020204" pitchFamily="34" charset="0"/>
              </a:defRPr>
            </a:lvl1pPr>
            <a:lvl2pPr marL="742950" indent="-285750">
              <a:defRPr sz="2400" b="1">
                <a:solidFill>
                  <a:schemeClr val="tx1"/>
                </a:solidFill>
                <a:latin typeface="Arial" panose="020B0604020202020204" pitchFamily="34" charset="0"/>
              </a:defRPr>
            </a:lvl2pPr>
            <a:lvl3pPr marL="1143000" indent="-228600">
              <a:defRPr sz="2400" b="1">
                <a:solidFill>
                  <a:schemeClr val="tx1"/>
                </a:solidFill>
                <a:latin typeface="Arial" panose="020B0604020202020204" pitchFamily="34" charset="0"/>
              </a:defRPr>
            </a:lvl3pPr>
            <a:lvl4pPr marL="1600200" indent="-228600">
              <a:defRPr sz="2400" b="1">
                <a:solidFill>
                  <a:schemeClr val="tx1"/>
                </a:solidFill>
                <a:latin typeface="Arial" panose="020B0604020202020204" pitchFamily="34" charset="0"/>
              </a:defRPr>
            </a:lvl4pPr>
            <a:lvl5pPr marL="2057400" indent="-228600">
              <a:defRPr sz="2400" b="1">
                <a:solidFill>
                  <a:schemeClr val="tx1"/>
                </a:solidFill>
                <a:latin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defRPr>
            </a:lvl9pPr>
          </a:lstStyle>
          <a:p>
            <a:endParaRPr lang="en-US" altLang="en-US"/>
          </a:p>
        </p:txBody>
      </p:sp>
      <p:sp>
        <p:nvSpPr>
          <p:cNvPr id="16390" name="Rectangle 6">
            <a:extLst>
              <a:ext uri="{FF2B5EF4-FFF2-40B4-BE49-F238E27FC236}">
                <a16:creationId xmlns:a16="http://schemas.microsoft.com/office/drawing/2014/main" id="{738233A2-1321-44BB-825D-0CE02D564DB3}"/>
              </a:ext>
            </a:extLst>
          </p:cNvPr>
          <p:cNvSpPr>
            <a:spLocks noChangeArrowheads="1"/>
          </p:cNvSpPr>
          <p:nvPr/>
        </p:nvSpPr>
        <p:spPr bwMode="auto">
          <a:xfrm>
            <a:off x="1720850" y="3018654"/>
            <a:ext cx="1030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b="1">
                <a:solidFill>
                  <a:schemeClr val="tx1"/>
                </a:solidFill>
                <a:latin typeface="Arial" panose="020B0604020202020204" pitchFamily="34" charset="0"/>
              </a:defRPr>
            </a:lvl1pPr>
            <a:lvl2pPr marL="742950" indent="-285750">
              <a:defRPr sz="2400" b="1">
                <a:solidFill>
                  <a:schemeClr val="tx1"/>
                </a:solidFill>
                <a:latin typeface="Arial" panose="020B0604020202020204" pitchFamily="34" charset="0"/>
              </a:defRPr>
            </a:lvl2pPr>
            <a:lvl3pPr marL="1143000" indent="-228600">
              <a:defRPr sz="2400" b="1">
                <a:solidFill>
                  <a:schemeClr val="tx1"/>
                </a:solidFill>
                <a:latin typeface="Arial" panose="020B0604020202020204" pitchFamily="34" charset="0"/>
              </a:defRPr>
            </a:lvl3pPr>
            <a:lvl4pPr marL="1600200" indent="-228600">
              <a:defRPr sz="2400" b="1">
                <a:solidFill>
                  <a:schemeClr val="tx1"/>
                </a:solidFill>
                <a:latin typeface="Arial" panose="020B0604020202020204" pitchFamily="34" charset="0"/>
              </a:defRPr>
            </a:lvl4pPr>
            <a:lvl5pPr marL="2057400" indent="-228600">
              <a:defRPr sz="2400" b="1">
                <a:solidFill>
                  <a:schemeClr val="tx1"/>
                </a:solidFill>
                <a:latin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defRPr>
            </a:lvl9pPr>
          </a:lstStyle>
          <a:p>
            <a:r>
              <a:rPr lang="en-US" altLang="en-US" dirty="0"/>
              <a:t>Job A</a:t>
            </a:r>
          </a:p>
        </p:txBody>
      </p:sp>
      <p:sp>
        <p:nvSpPr>
          <p:cNvPr id="16391" name="Rectangle 7">
            <a:extLst>
              <a:ext uri="{FF2B5EF4-FFF2-40B4-BE49-F238E27FC236}">
                <a16:creationId xmlns:a16="http://schemas.microsoft.com/office/drawing/2014/main" id="{B33A341D-3998-4066-8AC5-D9B4C19185E7}"/>
              </a:ext>
            </a:extLst>
          </p:cNvPr>
          <p:cNvSpPr>
            <a:spLocks noChangeArrowheads="1"/>
          </p:cNvSpPr>
          <p:nvPr/>
        </p:nvSpPr>
        <p:spPr bwMode="auto">
          <a:xfrm>
            <a:off x="5835650" y="2866254"/>
            <a:ext cx="1030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b="1">
                <a:solidFill>
                  <a:schemeClr val="tx1"/>
                </a:solidFill>
                <a:latin typeface="Arial" panose="020B0604020202020204" pitchFamily="34" charset="0"/>
              </a:defRPr>
            </a:lvl1pPr>
            <a:lvl2pPr marL="742950" indent="-285750">
              <a:defRPr sz="2400" b="1">
                <a:solidFill>
                  <a:schemeClr val="tx1"/>
                </a:solidFill>
                <a:latin typeface="Arial" panose="020B0604020202020204" pitchFamily="34" charset="0"/>
              </a:defRPr>
            </a:lvl2pPr>
            <a:lvl3pPr marL="1143000" indent="-228600">
              <a:defRPr sz="2400" b="1">
                <a:solidFill>
                  <a:schemeClr val="tx1"/>
                </a:solidFill>
                <a:latin typeface="Arial" panose="020B0604020202020204" pitchFamily="34" charset="0"/>
              </a:defRPr>
            </a:lvl3pPr>
            <a:lvl4pPr marL="1600200" indent="-228600">
              <a:defRPr sz="2400" b="1">
                <a:solidFill>
                  <a:schemeClr val="tx1"/>
                </a:solidFill>
                <a:latin typeface="Arial" panose="020B0604020202020204" pitchFamily="34" charset="0"/>
              </a:defRPr>
            </a:lvl4pPr>
            <a:lvl5pPr marL="2057400" indent="-228600">
              <a:defRPr sz="2400" b="1">
                <a:solidFill>
                  <a:schemeClr val="tx1"/>
                </a:solidFill>
                <a:latin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defRPr>
            </a:lvl9pPr>
          </a:lstStyle>
          <a:p>
            <a:r>
              <a:rPr lang="en-US" altLang="en-US"/>
              <a:t>Job B</a:t>
            </a:r>
          </a:p>
        </p:txBody>
      </p:sp>
      <p:sp>
        <p:nvSpPr>
          <p:cNvPr id="16392" name="Line 8">
            <a:extLst>
              <a:ext uri="{FF2B5EF4-FFF2-40B4-BE49-F238E27FC236}">
                <a16:creationId xmlns:a16="http://schemas.microsoft.com/office/drawing/2014/main" id="{5B7823FB-AF70-4FDC-8DCE-658F2012DB97}"/>
              </a:ext>
            </a:extLst>
          </p:cNvPr>
          <p:cNvSpPr>
            <a:spLocks noChangeShapeType="1"/>
          </p:cNvSpPr>
          <p:nvPr/>
        </p:nvSpPr>
        <p:spPr bwMode="auto">
          <a:xfrm>
            <a:off x="2314575" y="3464741"/>
            <a:ext cx="3033713" cy="596900"/>
          </a:xfrm>
          <a:prstGeom prst="line">
            <a:avLst/>
          </a:prstGeom>
          <a:noFill/>
          <a:ln w="381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393" name="Line 9">
            <a:extLst>
              <a:ext uri="{FF2B5EF4-FFF2-40B4-BE49-F238E27FC236}">
                <a16:creationId xmlns:a16="http://schemas.microsoft.com/office/drawing/2014/main" id="{EC44C5A5-D4C1-4742-AB4A-5358CC9A852E}"/>
              </a:ext>
            </a:extLst>
          </p:cNvPr>
          <p:cNvSpPr>
            <a:spLocks noChangeShapeType="1"/>
          </p:cNvSpPr>
          <p:nvPr/>
        </p:nvSpPr>
        <p:spPr bwMode="auto">
          <a:xfrm flipH="1">
            <a:off x="3244850" y="3323454"/>
            <a:ext cx="2441575" cy="725487"/>
          </a:xfrm>
          <a:prstGeom prst="line">
            <a:avLst/>
          </a:prstGeom>
          <a:noFill/>
          <a:ln w="381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394" name="Rectangle 10">
            <a:extLst>
              <a:ext uri="{FF2B5EF4-FFF2-40B4-BE49-F238E27FC236}">
                <a16:creationId xmlns:a16="http://schemas.microsoft.com/office/drawing/2014/main" id="{6845B5E4-677F-4425-846B-8E37D1232CC0}"/>
              </a:ext>
            </a:extLst>
          </p:cNvPr>
          <p:cNvSpPr>
            <a:spLocks noChangeArrowheads="1"/>
          </p:cNvSpPr>
          <p:nvPr/>
        </p:nvSpPr>
        <p:spPr bwMode="auto">
          <a:xfrm>
            <a:off x="1169988" y="4134666"/>
            <a:ext cx="2184400" cy="36195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defRPr sz="2400" b="1">
                <a:solidFill>
                  <a:schemeClr val="tx1"/>
                </a:solidFill>
                <a:latin typeface="Arial" panose="020B0604020202020204" pitchFamily="34" charset="0"/>
              </a:defRPr>
            </a:lvl1pPr>
            <a:lvl2pPr marL="742950" indent="-285750">
              <a:defRPr sz="2400" b="1">
                <a:solidFill>
                  <a:schemeClr val="tx1"/>
                </a:solidFill>
                <a:latin typeface="Arial" panose="020B0604020202020204" pitchFamily="34" charset="0"/>
              </a:defRPr>
            </a:lvl2pPr>
            <a:lvl3pPr marL="1143000" indent="-228600">
              <a:defRPr sz="2400" b="1">
                <a:solidFill>
                  <a:schemeClr val="tx1"/>
                </a:solidFill>
                <a:latin typeface="Arial" panose="020B0604020202020204" pitchFamily="34" charset="0"/>
              </a:defRPr>
            </a:lvl3pPr>
            <a:lvl4pPr marL="1600200" indent="-228600">
              <a:defRPr sz="2400" b="1">
                <a:solidFill>
                  <a:schemeClr val="tx1"/>
                </a:solidFill>
                <a:latin typeface="Arial" panose="020B0604020202020204" pitchFamily="34" charset="0"/>
              </a:defRPr>
            </a:lvl4pPr>
            <a:lvl5pPr marL="2057400" indent="-228600">
              <a:defRPr sz="2400" b="1">
                <a:solidFill>
                  <a:schemeClr val="tx1"/>
                </a:solidFill>
                <a:latin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defRPr>
            </a:lvl9pPr>
          </a:lstStyle>
          <a:p>
            <a:pPr algn="ctr"/>
            <a:r>
              <a:rPr lang="en-US" altLang="en-US"/>
              <a:t>resource C</a:t>
            </a:r>
          </a:p>
        </p:txBody>
      </p:sp>
      <p:sp>
        <p:nvSpPr>
          <p:cNvPr id="16395" name="Rectangle 11">
            <a:extLst>
              <a:ext uri="{FF2B5EF4-FFF2-40B4-BE49-F238E27FC236}">
                <a16:creationId xmlns:a16="http://schemas.microsoft.com/office/drawing/2014/main" id="{705A51CF-9E76-412D-9429-81F3C06C250C}"/>
              </a:ext>
            </a:extLst>
          </p:cNvPr>
          <p:cNvSpPr>
            <a:spLocks noChangeArrowheads="1"/>
          </p:cNvSpPr>
          <p:nvPr/>
        </p:nvSpPr>
        <p:spPr bwMode="auto">
          <a:xfrm>
            <a:off x="5254625" y="4074341"/>
            <a:ext cx="2262188" cy="363538"/>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defRPr sz="2400" b="1">
                <a:solidFill>
                  <a:schemeClr val="tx1"/>
                </a:solidFill>
                <a:latin typeface="Arial" panose="020B0604020202020204" pitchFamily="34" charset="0"/>
              </a:defRPr>
            </a:lvl1pPr>
            <a:lvl2pPr marL="742950" indent="-285750">
              <a:defRPr sz="2400" b="1">
                <a:solidFill>
                  <a:schemeClr val="tx1"/>
                </a:solidFill>
                <a:latin typeface="Arial" panose="020B0604020202020204" pitchFamily="34" charset="0"/>
              </a:defRPr>
            </a:lvl2pPr>
            <a:lvl3pPr marL="1143000" indent="-228600">
              <a:defRPr sz="2400" b="1">
                <a:solidFill>
                  <a:schemeClr val="tx1"/>
                </a:solidFill>
                <a:latin typeface="Arial" panose="020B0604020202020204" pitchFamily="34" charset="0"/>
              </a:defRPr>
            </a:lvl3pPr>
            <a:lvl4pPr marL="1600200" indent="-228600">
              <a:defRPr sz="2400" b="1">
                <a:solidFill>
                  <a:schemeClr val="tx1"/>
                </a:solidFill>
                <a:latin typeface="Arial" panose="020B0604020202020204" pitchFamily="34" charset="0"/>
              </a:defRPr>
            </a:lvl4pPr>
            <a:lvl5pPr marL="2057400" indent="-228600">
              <a:defRPr sz="2400" b="1">
                <a:solidFill>
                  <a:schemeClr val="tx1"/>
                </a:solidFill>
                <a:latin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defRPr>
            </a:lvl9pPr>
          </a:lstStyle>
          <a:p>
            <a:pPr algn="ctr"/>
            <a:r>
              <a:rPr lang="en-US" altLang="en-US"/>
              <a:t>resource D</a:t>
            </a:r>
          </a:p>
        </p:txBody>
      </p:sp>
      <p:sp>
        <p:nvSpPr>
          <p:cNvPr id="16396" name="Rectangle 12">
            <a:extLst>
              <a:ext uri="{FF2B5EF4-FFF2-40B4-BE49-F238E27FC236}">
                <a16:creationId xmlns:a16="http://schemas.microsoft.com/office/drawing/2014/main" id="{E2810E99-1763-4BBB-B4B6-8B84C759C03B}"/>
              </a:ext>
            </a:extLst>
          </p:cNvPr>
          <p:cNvSpPr>
            <a:spLocks noChangeArrowheads="1"/>
          </p:cNvSpPr>
          <p:nvPr/>
        </p:nvSpPr>
        <p:spPr bwMode="auto">
          <a:xfrm>
            <a:off x="2154237" y="1515291"/>
            <a:ext cx="4622800" cy="890588"/>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defRPr sz="2400" b="1">
                <a:solidFill>
                  <a:schemeClr val="tx1"/>
                </a:solidFill>
                <a:latin typeface="Arial" panose="020B0604020202020204" pitchFamily="34" charset="0"/>
              </a:defRPr>
            </a:lvl1pPr>
            <a:lvl2pPr marL="742950" indent="-285750">
              <a:defRPr sz="2400" b="1">
                <a:solidFill>
                  <a:schemeClr val="tx1"/>
                </a:solidFill>
                <a:latin typeface="Arial" panose="020B0604020202020204" pitchFamily="34" charset="0"/>
              </a:defRPr>
            </a:lvl2pPr>
            <a:lvl3pPr marL="1143000" indent="-228600">
              <a:defRPr sz="2400" b="1">
                <a:solidFill>
                  <a:schemeClr val="tx1"/>
                </a:solidFill>
                <a:latin typeface="Arial" panose="020B0604020202020204" pitchFamily="34" charset="0"/>
              </a:defRPr>
            </a:lvl3pPr>
            <a:lvl4pPr marL="1600200" indent="-228600">
              <a:defRPr sz="2400" b="1">
                <a:solidFill>
                  <a:schemeClr val="tx1"/>
                </a:solidFill>
                <a:latin typeface="Arial" panose="020B0604020202020204" pitchFamily="34" charset="0"/>
              </a:defRPr>
            </a:lvl4pPr>
            <a:lvl5pPr marL="2057400" indent="-228600">
              <a:defRPr sz="2400" b="1">
                <a:solidFill>
                  <a:schemeClr val="tx1"/>
                </a:solidFill>
                <a:latin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defRPr>
            </a:lvl9pPr>
          </a:lstStyle>
          <a:p>
            <a:pPr algn="ctr"/>
            <a:r>
              <a:rPr lang="en-US" altLang="en-US"/>
              <a:t>A has resource C, needs D</a:t>
            </a:r>
          </a:p>
          <a:p>
            <a:pPr algn="ctr"/>
            <a:r>
              <a:rPr lang="en-US" altLang="en-US"/>
              <a:t>B has resource D, needs C</a:t>
            </a:r>
          </a:p>
        </p:txBody>
      </p:sp>
      <p:sp>
        <p:nvSpPr>
          <p:cNvPr id="2" name="TextBox 1">
            <a:extLst>
              <a:ext uri="{FF2B5EF4-FFF2-40B4-BE49-F238E27FC236}">
                <a16:creationId xmlns:a16="http://schemas.microsoft.com/office/drawing/2014/main" id="{062EA167-7D45-40AB-8C5E-A1711A2D981C}"/>
              </a:ext>
            </a:extLst>
          </p:cNvPr>
          <p:cNvSpPr txBox="1"/>
          <p:nvPr/>
        </p:nvSpPr>
        <p:spPr>
          <a:xfrm>
            <a:off x="306198" y="5718969"/>
            <a:ext cx="8531603" cy="646331"/>
          </a:xfrm>
          <a:prstGeom prst="rect">
            <a:avLst/>
          </a:prstGeom>
          <a:noFill/>
        </p:spPr>
        <p:txBody>
          <a:bodyPr wrap="square" rtlCol="0">
            <a:spAutoFit/>
          </a:bodyPr>
          <a:lstStyle/>
          <a:p>
            <a:r>
              <a:rPr lang="en-US" dirty="0"/>
              <a:t>Job A arrives, requests C, Gets C; Job B arrives, requests D, Gets D; </a:t>
            </a:r>
          </a:p>
          <a:p>
            <a:r>
              <a:rPr lang="en-US" dirty="0"/>
              <a:t>Job A finishes C, requests D, denied; Job B finishes D, requests C, denied.</a:t>
            </a:r>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FC7B50-FE5C-44D2-BE62-38777BC8850F}"/>
              </a:ext>
            </a:extLst>
          </p:cNvPr>
          <p:cNvSpPr>
            <a:spLocks noGrp="1"/>
          </p:cNvSpPr>
          <p:nvPr>
            <p:ph type="title"/>
          </p:nvPr>
        </p:nvSpPr>
        <p:spPr/>
        <p:txBody>
          <a:bodyPr/>
          <a:lstStyle/>
          <a:p>
            <a:r>
              <a:rPr lang="en-US" dirty="0">
                <a:solidFill>
                  <a:srgbClr val="FF0000"/>
                </a:solidFill>
              </a:rPr>
              <a:t>Deadlock (2)</a:t>
            </a:r>
          </a:p>
        </p:txBody>
      </p:sp>
      <p:sp>
        <p:nvSpPr>
          <p:cNvPr id="3" name="Content Placeholder 2">
            <a:extLst>
              <a:ext uri="{FF2B5EF4-FFF2-40B4-BE49-F238E27FC236}">
                <a16:creationId xmlns:a16="http://schemas.microsoft.com/office/drawing/2014/main" id="{2BD5073F-0B69-4C43-8D4B-19064C58751D}"/>
              </a:ext>
            </a:extLst>
          </p:cNvPr>
          <p:cNvSpPr>
            <a:spLocks noGrp="1"/>
          </p:cNvSpPr>
          <p:nvPr>
            <p:ph idx="1"/>
          </p:nvPr>
        </p:nvSpPr>
        <p:spPr>
          <a:xfrm>
            <a:off x="628650" y="1825625"/>
            <a:ext cx="7886700" cy="3241325"/>
          </a:xfrm>
        </p:spPr>
        <p:txBody>
          <a:bodyPr>
            <a:normAutofit lnSpcReduction="10000"/>
          </a:bodyPr>
          <a:lstStyle/>
          <a:p>
            <a:r>
              <a:rPr lang="en-US" altLang="en-US" dirty="0"/>
              <a:t>Ensure that the system will </a:t>
            </a:r>
            <a:r>
              <a:rPr lang="en-US" altLang="en-US" b="1" i="1" dirty="0">
                <a:solidFill>
                  <a:srgbClr val="FF0066"/>
                </a:solidFill>
              </a:rPr>
              <a:t>never</a:t>
            </a:r>
            <a:r>
              <a:rPr lang="en-US" altLang="en-US" dirty="0"/>
              <a:t> enter a deadlock state – deadlock prevention (e.g., use timestamping or token ring instead of lock)</a:t>
            </a:r>
          </a:p>
          <a:p>
            <a:r>
              <a:rPr lang="en-US" altLang="en-US" dirty="0"/>
              <a:t>Allow the system to enter a deadlock state and then recover</a:t>
            </a:r>
          </a:p>
          <a:p>
            <a:pPr lvl="1"/>
            <a:r>
              <a:rPr lang="en-US" altLang="en-US" dirty="0"/>
              <a:t>detects and breaks any deadlock</a:t>
            </a:r>
          </a:p>
          <a:p>
            <a:pPr lvl="1"/>
            <a:r>
              <a:rPr lang="en-US" altLang="en-US" dirty="0"/>
              <a:t>By preemption or by killing the job</a:t>
            </a:r>
          </a:p>
          <a:p>
            <a:pPr lvl="1"/>
            <a:r>
              <a:rPr lang="en-US" altLang="en-US" dirty="0"/>
              <a:t>choose one job to be the victim</a:t>
            </a:r>
          </a:p>
          <a:p>
            <a:pPr lvl="1"/>
            <a:endParaRPr lang="en-US" altLang="en-US" dirty="0"/>
          </a:p>
          <a:p>
            <a:endParaRPr lang="en-US" dirty="0"/>
          </a:p>
        </p:txBody>
      </p:sp>
    </p:spTree>
    <p:extLst>
      <p:ext uri="{BB962C8B-B14F-4D97-AF65-F5344CB8AC3E}">
        <p14:creationId xmlns:p14="http://schemas.microsoft.com/office/powerpoint/2010/main" val="326884652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9DDFB-FA88-4914-B0E1-40C885D9183F}"/>
              </a:ext>
            </a:extLst>
          </p:cNvPr>
          <p:cNvSpPr>
            <a:spLocks noGrp="1"/>
          </p:cNvSpPr>
          <p:nvPr>
            <p:ph type="title"/>
          </p:nvPr>
        </p:nvSpPr>
        <p:spPr/>
        <p:txBody>
          <a:bodyPr/>
          <a:lstStyle/>
          <a:p>
            <a:r>
              <a:rPr lang="en-US" dirty="0">
                <a:solidFill>
                  <a:srgbClr val="FF0000"/>
                </a:solidFill>
              </a:rPr>
              <a:t>Discussion</a:t>
            </a:r>
          </a:p>
        </p:txBody>
      </p:sp>
      <p:sp>
        <p:nvSpPr>
          <p:cNvPr id="3" name="Content Placeholder 2">
            <a:extLst>
              <a:ext uri="{FF2B5EF4-FFF2-40B4-BE49-F238E27FC236}">
                <a16:creationId xmlns:a16="http://schemas.microsoft.com/office/drawing/2014/main" id="{D384EFDC-9E63-4C2D-BE41-B4CE4DFB09F1}"/>
              </a:ext>
            </a:extLst>
          </p:cNvPr>
          <p:cNvSpPr>
            <a:spLocks noGrp="1"/>
          </p:cNvSpPr>
          <p:nvPr>
            <p:ph idx="1"/>
          </p:nvPr>
        </p:nvSpPr>
        <p:spPr/>
        <p:txBody>
          <a:bodyPr/>
          <a:lstStyle/>
          <a:p>
            <a:r>
              <a:rPr lang="en-US" dirty="0"/>
              <a:t>Can you give a real-life example of deadlock that follows the previous idea?</a:t>
            </a:r>
          </a:p>
          <a:p>
            <a:endParaRPr lang="en-US" dirty="0"/>
          </a:p>
          <a:p>
            <a:r>
              <a:rPr lang="en-US" dirty="0"/>
              <a:t>Please go to </a:t>
            </a:r>
          </a:p>
          <a:p>
            <a:pPr marL="457200" lvl="1" indent="0">
              <a:buNone/>
            </a:pPr>
            <a:r>
              <a:rPr lang="en-US" sz="6000" dirty="0">
                <a:solidFill>
                  <a:schemeClr val="accent5">
                    <a:lumMod val="75000"/>
                  </a:schemeClr>
                </a:solidFill>
              </a:rPr>
              <a:t>PollEv.com/cisgvsu429</a:t>
            </a:r>
          </a:p>
          <a:p>
            <a:endParaRPr lang="en-US" dirty="0"/>
          </a:p>
        </p:txBody>
      </p:sp>
    </p:spTree>
    <p:extLst>
      <p:ext uri="{BB962C8B-B14F-4D97-AF65-F5344CB8AC3E}">
        <p14:creationId xmlns:p14="http://schemas.microsoft.com/office/powerpoint/2010/main" val="135016711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E5AA4B56-3654-4E46-9B4F-B0099880E16D}"/>
              </a:ext>
            </a:extLst>
          </p:cNvPr>
          <p:cNvSpPr>
            <a:spLocks noGrp="1" noChangeArrowheads="1"/>
          </p:cNvSpPr>
          <p:nvPr>
            <p:ph type="title"/>
          </p:nvPr>
        </p:nvSpPr>
        <p:spPr>
          <a:xfrm>
            <a:off x="628650" y="365127"/>
            <a:ext cx="7886700" cy="987424"/>
          </a:xfrm>
        </p:spPr>
        <p:txBody>
          <a:bodyPr>
            <a:normAutofit fontScale="90000"/>
          </a:bodyPr>
          <a:lstStyle/>
          <a:p>
            <a:pPr eaLnBrk="1" hangingPunct="1"/>
            <a:r>
              <a:rPr lang="en-US" altLang="en-US" dirty="0">
                <a:solidFill>
                  <a:srgbClr val="FF0000"/>
                </a:solidFill>
              </a:rPr>
              <a:t>Bridge Crossing Example (deadlock)</a:t>
            </a:r>
          </a:p>
        </p:txBody>
      </p:sp>
      <p:sp>
        <p:nvSpPr>
          <p:cNvPr id="7171" name="Rectangle 3">
            <a:extLst>
              <a:ext uri="{FF2B5EF4-FFF2-40B4-BE49-F238E27FC236}">
                <a16:creationId xmlns:a16="http://schemas.microsoft.com/office/drawing/2014/main" id="{2F8E377D-8ABA-4E7E-B57D-8C85A7E7C973}"/>
              </a:ext>
            </a:extLst>
          </p:cNvPr>
          <p:cNvSpPr>
            <a:spLocks noGrp="1" noChangeArrowheads="1"/>
          </p:cNvSpPr>
          <p:nvPr>
            <p:ph type="body" idx="1"/>
          </p:nvPr>
        </p:nvSpPr>
        <p:spPr>
          <a:xfrm>
            <a:off x="688181" y="3857625"/>
            <a:ext cx="7886700" cy="2483752"/>
          </a:xfrm>
        </p:spPr>
        <p:txBody>
          <a:bodyPr>
            <a:normAutofit/>
          </a:bodyPr>
          <a:lstStyle/>
          <a:p>
            <a:r>
              <a:rPr lang="en-US" altLang="en-US" sz="2400" dirty="0"/>
              <a:t>Traffic only in one direction</a:t>
            </a:r>
          </a:p>
          <a:p>
            <a:r>
              <a:rPr lang="en-US" altLang="en-US" sz="2400" dirty="0"/>
              <a:t>Each section of a bridge can be viewed as a resource</a:t>
            </a:r>
          </a:p>
          <a:p>
            <a:r>
              <a:rPr lang="en-US" altLang="en-US" sz="2400" dirty="0"/>
              <a:t>If a deadlock occurs, it can be resolved if one car backs up (preempt resources and rollback)</a:t>
            </a:r>
          </a:p>
          <a:p>
            <a:r>
              <a:rPr lang="en-US" altLang="en-US" sz="2400" dirty="0"/>
              <a:t>Several cars may have to be backed up if a deadlock occurs</a:t>
            </a:r>
          </a:p>
          <a:p>
            <a:endParaRPr lang="en-US" altLang="en-US" sz="2400" dirty="0"/>
          </a:p>
        </p:txBody>
      </p:sp>
      <p:grpSp>
        <p:nvGrpSpPr>
          <p:cNvPr id="7172" name="Group 35">
            <a:extLst>
              <a:ext uri="{FF2B5EF4-FFF2-40B4-BE49-F238E27FC236}">
                <a16:creationId xmlns:a16="http://schemas.microsoft.com/office/drawing/2014/main" id="{C39B21A6-BFDB-465A-B510-F89B829BCA15}"/>
              </a:ext>
            </a:extLst>
          </p:cNvPr>
          <p:cNvGrpSpPr>
            <a:grpSpLocks/>
          </p:cNvGrpSpPr>
          <p:nvPr/>
        </p:nvGrpSpPr>
        <p:grpSpPr bwMode="auto">
          <a:xfrm>
            <a:off x="1266825" y="2057400"/>
            <a:ext cx="6276975" cy="1371600"/>
            <a:chOff x="798" y="1008"/>
            <a:chExt cx="3954" cy="864"/>
          </a:xfrm>
        </p:grpSpPr>
        <p:grpSp>
          <p:nvGrpSpPr>
            <p:cNvPr id="7173" name="Group 11">
              <a:extLst>
                <a:ext uri="{FF2B5EF4-FFF2-40B4-BE49-F238E27FC236}">
                  <a16:creationId xmlns:a16="http://schemas.microsoft.com/office/drawing/2014/main" id="{8CE868A5-4939-4E86-BF5C-8670E2F85A2B}"/>
                </a:ext>
              </a:extLst>
            </p:cNvPr>
            <p:cNvGrpSpPr>
              <a:grpSpLocks/>
            </p:cNvGrpSpPr>
            <p:nvPr/>
          </p:nvGrpSpPr>
          <p:grpSpPr bwMode="auto">
            <a:xfrm>
              <a:off x="816" y="1008"/>
              <a:ext cx="3936" cy="240"/>
              <a:chOff x="672" y="1008"/>
              <a:chExt cx="3936" cy="240"/>
            </a:xfrm>
          </p:grpSpPr>
          <p:sp>
            <p:nvSpPr>
              <p:cNvPr id="7197" name="Line 6">
                <a:extLst>
                  <a:ext uri="{FF2B5EF4-FFF2-40B4-BE49-F238E27FC236}">
                    <a16:creationId xmlns:a16="http://schemas.microsoft.com/office/drawing/2014/main" id="{0B5A2E7C-0214-4006-87AF-2E7331B25F0B}"/>
                  </a:ext>
                </a:extLst>
              </p:cNvPr>
              <p:cNvSpPr>
                <a:spLocks noChangeShapeType="1"/>
              </p:cNvSpPr>
              <p:nvPr/>
            </p:nvSpPr>
            <p:spPr bwMode="auto">
              <a:xfrm>
                <a:off x="672" y="1008"/>
                <a:ext cx="115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98" name="Line 7">
                <a:extLst>
                  <a:ext uri="{FF2B5EF4-FFF2-40B4-BE49-F238E27FC236}">
                    <a16:creationId xmlns:a16="http://schemas.microsoft.com/office/drawing/2014/main" id="{3AF02176-DBA3-43E5-8238-F6621EE1DECA}"/>
                  </a:ext>
                </a:extLst>
              </p:cNvPr>
              <p:cNvSpPr>
                <a:spLocks noChangeShapeType="1"/>
              </p:cNvSpPr>
              <p:nvPr/>
            </p:nvSpPr>
            <p:spPr bwMode="auto">
              <a:xfrm>
                <a:off x="1824" y="1008"/>
                <a:ext cx="384"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99" name="Line 8">
                <a:extLst>
                  <a:ext uri="{FF2B5EF4-FFF2-40B4-BE49-F238E27FC236}">
                    <a16:creationId xmlns:a16="http://schemas.microsoft.com/office/drawing/2014/main" id="{BA3E3CE0-BC28-4951-B45A-3D5B1BA5C21C}"/>
                  </a:ext>
                </a:extLst>
              </p:cNvPr>
              <p:cNvSpPr>
                <a:spLocks noChangeShapeType="1"/>
              </p:cNvSpPr>
              <p:nvPr/>
            </p:nvSpPr>
            <p:spPr bwMode="auto">
              <a:xfrm>
                <a:off x="2208" y="1248"/>
                <a:ext cx="86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200" name="Line 9">
                <a:extLst>
                  <a:ext uri="{FF2B5EF4-FFF2-40B4-BE49-F238E27FC236}">
                    <a16:creationId xmlns:a16="http://schemas.microsoft.com/office/drawing/2014/main" id="{885D1E61-6FDB-4255-8CE7-32C6E95420E3}"/>
                  </a:ext>
                </a:extLst>
              </p:cNvPr>
              <p:cNvSpPr>
                <a:spLocks noChangeShapeType="1"/>
              </p:cNvSpPr>
              <p:nvPr/>
            </p:nvSpPr>
            <p:spPr bwMode="auto">
              <a:xfrm flipV="1">
                <a:off x="3072" y="1026"/>
                <a:ext cx="384" cy="2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201" name="Line 10">
                <a:extLst>
                  <a:ext uri="{FF2B5EF4-FFF2-40B4-BE49-F238E27FC236}">
                    <a16:creationId xmlns:a16="http://schemas.microsoft.com/office/drawing/2014/main" id="{4C3E6078-A2E6-40B0-9ADF-F3C5715EF35B}"/>
                  </a:ext>
                </a:extLst>
              </p:cNvPr>
              <p:cNvSpPr>
                <a:spLocks noChangeShapeType="1"/>
              </p:cNvSpPr>
              <p:nvPr/>
            </p:nvSpPr>
            <p:spPr bwMode="auto">
              <a:xfrm>
                <a:off x="3456" y="1020"/>
                <a:ext cx="115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7174" name="Group 12">
              <a:extLst>
                <a:ext uri="{FF2B5EF4-FFF2-40B4-BE49-F238E27FC236}">
                  <a16:creationId xmlns:a16="http://schemas.microsoft.com/office/drawing/2014/main" id="{913B30B6-3D56-4BC7-81B9-2F941DD51F7F}"/>
                </a:ext>
              </a:extLst>
            </p:cNvPr>
            <p:cNvGrpSpPr>
              <a:grpSpLocks/>
            </p:cNvGrpSpPr>
            <p:nvPr/>
          </p:nvGrpSpPr>
          <p:grpSpPr bwMode="auto">
            <a:xfrm flipV="1">
              <a:off x="816" y="1632"/>
              <a:ext cx="3936" cy="240"/>
              <a:chOff x="672" y="1008"/>
              <a:chExt cx="3936" cy="240"/>
            </a:xfrm>
          </p:grpSpPr>
          <p:sp>
            <p:nvSpPr>
              <p:cNvPr id="7192" name="Line 13">
                <a:extLst>
                  <a:ext uri="{FF2B5EF4-FFF2-40B4-BE49-F238E27FC236}">
                    <a16:creationId xmlns:a16="http://schemas.microsoft.com/office/drawing/2014/main" id="{6328854A-7E49-43FB-B737-C1C201C1907F}"/>
                  </a:ext>
                </a:extLst>
              </p:cNvPr>
              <p:cNvSpPr>
                <a:spLocks noChangeShapeType="1"/>
              </p:cNvSpPr>
              <p:nvPr/>
            </p:nvSpPr>
            <p:spPr bwMode="auto">
              <a:xfrm>
                <a:off x="672" y="1008"/>
                <a:ext cx="115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93" name="Line 14">
                <a:extLst>
                  <a:ext uri="{FF2B5EF4-FFF2-40B4-BE49-F238E27FC236}">
                    <a16:creationId xmlns:a16="http://schemas.microsoft.com/office/drawing/2014/main" id="{A31A69CA-7DA7-491B-968C-ECA5266838B3}"/>
                  </a:ext>
                </a:extLst>
              </p:cNvPr>
              <p:cNvSpPr>
                <a:spLocks noChangeShapeType="1"/>
              </p:cNvSpPr>
              <p:nvPr/>
            </p:nvSpPr>
            <p:spPr bwMode="auto">
              <a:xfrm>
                <a:off x="1824" y="1008"/>
                <a:ext cx="384"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94" name="Line 15">
                <a:extLst>
                  <a:ext uri="{FF2B5EF4-FFF2-40B4-BE49-F238E27FC236}">
                    <a16:creationId xmlns:a16="http://schemas.microsoft.com/office/drawing/2014/main" id="{75C63057-9F47-4729-8AC8-D352C7E1DC47}"/>
                  </a:ext>
                </a:extLst>
              </p:cNvPr>
              <p:cNvSpPr>
                <a:spLocks noChangeShapeType="1"/>
              </p:cNvSpPr>
              <p:nvPr/>
            </p:nvSpPr>
            <p:spPr bwMode="auto">
              <a:xfrm>
                <a:off x="2208" y="1248"/>
                <a:ext cx="86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95" name="Line 16">
                <a:extLst>
                  <a:ext uri="{FF2B5EF4-FFF2-40B4-BE49-F238E27FC236}">
                    <a16:creationId xmlns:a16="http://schemas.microsoft.com/office/drawing/2014/main" id="{AEB890B6-3F18-450A-8754-E01189B12808}"/>
                  </a:ext>
                </a:extLst>
              </p:cNvPr>
              <p:cNvSpPr>
                <a:spLocks noChangeShapeType="1"/>
              </p:cNvSpPr>
              <p:nvPr/>
            </p:nvSpPr>
            <p:spPr bwMode="auto">
              <a:xfrm flipV="1">
                <a:off x="3072" y="1026"/>
                <a:ext cx="384" cy="2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96" name="Line 17">
                <a:extLst>
                  <a:ext uri="{FF2B5EF4-FFF2-40B4-BE49-F238E27FC236}">
                    <a16:creationId xmlns:a16="http://schemas.microsoft.com/office/drawing/2014/main" id="{B9A0FF76-AD13-43CB-814E-58AC8DDD3EAC}"/>
                  </a:ext>
                </a:extLst>
              </p:cNvPr>
              <p:cNvSpPr>
                <a:spLocks noChangeShapeType="1"/>
              </p:cNvSpPr>
              <p:nvPr/>
            </p:nvSpPr>
            <p:spPr bwMode="auto">
              <a:xfrm>
                <a:off x="3456" y="1020"/>
                <a:ext cx="115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7175" name="Group 22">
              <a:extLst>
                <a:ext uri="{FF2B5EF4-FFF2-40B4-BE49-F238E27FC236}">
                  <a16:creationId xmlns:a16="http://schemas.microsoft.com/office/drawing/2014/main" id="{745A5C89-8E6A-4410-974D-6A6A545C6ABE}"/>
                </a:ext>
              </a:extLst>
            </p:cNvPr>
            <p:cNvGrpSpPr>
              <a:grpSpLocks/>
            </p:cNvGrpSpPr>
            <p:nvPr/>
          </p:nvGrpSpPr>
          <p:grpSpPr bwMode="auto">
            <a:xfrm>
              <a:off x="1512" y="1614"/>
              <a:ext cx="288" cy="162"/>
              <a:chOff x="1056" y="1614"/>
              <a:chExt cx="288" cy="162"/>
            </a:xfrm>
          </p:grpSpPr>
          <p:sp>
            <p:nvSpPr>
              <p:cNvPr id="7190" name="Rectangle 18">
                <a:extLst>
                  <a:ext uri="{FF2B5EF4-FFF2-40B4-BE49-F238E27FC236}">
                    <a16:creationId xmlns:a16="http://schemas.microsoft.com/office/drawing/2014/main" id="{285094F3-489D-42A2-9358-72808D10C2C4}"/>
                  </a:ext>
                </a:extLst>
              </p:cNvPr>
              <p:cNvSpPr>
                <a:spLocks noChangeArrowheads="1"/>
              </p:cNvSpPr>
              <p:nvPr/>
            </p:nvSpPr>
            <p:spPr bwMode="auto">
              <a:xfrm>
                <a:off x="1056" y="1614"/>
                <a:ext cx="288" cy="162"/>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endParaRPr lang="en-US" altLang="en-US"/>
              </a:p>
            </p:txBody>
          </p:sp>
          <p:sp>
            <p:nvSpPr>
              <p:cNvPr id="7191" name="Rectangle 19">
                <a:extLst>
                  <a:ext uri="{FF2B5EF4-FFF2-40B4-BE49-F238E27FC236}">
                    <a16:creationId xmlns:a16="http://schemas.microsoft.com/office/drawing/2014/main" id="{AC299DF1-57C7-4B80-A96B-B45E9512C4A6}"/>
                  </a:ext>
                </a:extLst>
              </p:cNvPr>
              <p:cNvSpPr>
                <a:spLocks noChangeArrowheads="1"/>
              </p:cNvSpPr>
              <p:nvPr/>
            </p:nvSpPr>
            <p:spPr bwMode="auto">
              <a:xfrm>
                <a:off x="1206" y="1638"/>
                <a:ext cx="66" cy="114"/>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endParaRPr lang="en-US" altLang="en-US"/>
              </a:p>
            </p:txBody>
          </p:sp>
        </p:grpSp>
        <p:sp>
          <p:nvSpPr>
            <p:cNvPr id="7176" name="Line 20">
              <a:extLst>
                <a:ext uri="{FF2B5EF4-FFF2-40B4-BE49-F238E27FC236}">
                  <a16:creationId xmlns:a16="http://schemas.microsoft.com/office/drawing/2014/main" id="{D3E8065C-8878-4620-A5A1-04DE978E47E6}"/>
                </a:ext>
              </a:extLst>
            </p:cNvPr>
            <p:cNvSpPr>
              <a:spLocks noChangeShapeType="1"/>
            </p:cNvSpPr>
            <p:nvPr/>
          </p:nvSpPr>
          <p:spPr bwMode="auto">
            <a:xfrm>
              <a:off x="798" y="1428"/>
              <a:ext cx="1272"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77" name="Line 21">
              <a:extLst>
                <a:ext uri="{FF2B5EF4-FFF2-40B4-BE49-F238E27FC236}">
                  <a16:creationId xmlns:a16="http://schemas.microsoft.com/office/drawing/2014/main" id="{171DDF65-0CE5-4DEB-A293-BB48F06AA05D}"/>
                </a:ext>
              </a:extLst>
            </p:cNvPr>
            <p:cNvSpPr>
              <a:spLocks noChangeShapeType="1"/>
            </p:cNvSpPr>
            <p:nvPr/>
          </p:nvSpPr>
          <p:spPr bwMode="auto">
            <a:xfrm>
              <a:off x="3444" y="1422"/>
              <a:ext cx="1272"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7178" name="Group 23">
              <a:extLst>
                <a:ext uri="{FF2B5EF4-FFF2-40B4-BE49-F238E27FC236}">
                  <a16:creationId xmlns:a16="http://schemas.microsoft.com/office/drawing/2014/main" id="{F0BED46E-8925-40E8-8B74-C2C9F6FC7892}"/>
                </a:ext>
              </a:extLst>
            </p:cNvPr>
            <p:cNvGrpSpPr>
              <a:grpSpLocks/>
            </p:cNvGrpSpPr>
            <p:nvPr/>
          </p:nvGrpSpPr>
          <p:grpSpPr bwMode="auto">
            <a:xfrm>
              <a:off x="2382" y="1344"/>
              <a:ext cx="288" cy="162"/>
              <a:chOff x="1056" y="1614"/>
              <a:chExt cx="288" cy="162"/>
            </a:xfrm>
          </p:grpSpPr>
          <p:sp>
            <p:nvSpPr>
              <p:cNvPr id="7188" name="Rectangle 24">
                <a:extLst>
                  <a:ext uri="{FF2B5EF4-FFF2-40B4-BE49-F238E27FC236}">
                    <a16:creationId xmlns:a16="http://schemas.microsoft.com/office/drawing/2014/main" id="{1A6A2DEB-CBCB-4D87-A168-CEDC1E768BFF}"/>
                  </a:ext>
                </a:extLst>
              </p:cNvPr>
              <p:cNvSpPr>
                <a:spLocks noChangeArrowheads="1"/>
              </p:cNvSpPr>
              <p:nvPr/>
            </p:nvSpPr>
            <p:spPr bwMode="auto">
              <a:xfrm>
                <a:off x="1056" y="1614"/>
                <a:ext cx="288" cy="162"/>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endParaRPr lang="en-US" altLang="en-US"/>
              </a:p>
            </p:txBody>
          </p:sp>
          <p:sp>
            <p:nvSpPr>
              <p:cNvPr id="7189" name="Rectangle 25">
                <a:extLst>
                  <a:ext uri="{FF2B5EF4-FFF2-40B4-BE49-F238E27FC236}">
                    <a16:creationId xmlns:a16="http://schemas.microsoft.com/office/drawing/2014/main" id="{8E343672-430C-41F0-8313-37A758275878}"/>
                  </a:ext>
                </a:extLst>
              </p:cNvPr>
              <p:cNvSpPr>
                <a:spLocks noChangeArrowheads="1"/>
              </p:cNvSpPr>
              <p:nvPr/>
            </p:nvSpPr>
            <p:spPr bwMode="auto">
              <a:xfrm>
                <a:off x="1206" y="1638"/>
                <a:ext cx="66" cy="114"/>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endParaRPr lang="en-US" altLang="en-US"/>
              </a:p>
            </p:txBody>
          </p:sp>
        </p:grpSp>
        <p:grpSp>
          <p:nvGrpSpPr>
            <p:cNvPr id="7179" name="Group 26">
              <a:extLst>
                <a:ext uri="{FF2B5EF4-FFF2-40B4-BE49-F238E27FC236}">
                  <a16:creationId xmlns:a16="http://schemas.microsoft.com/office/drawing/2014/main" id="{0B471664-ED95-46DE-A07F-FBE9AC6E238A}"/>
                </a:ext>
              </a:extLst>
            </p:cNvPr>
            <p:cNvGrpSpPr>
              <a:grpSpLocks/>
            </p:cNvGrpSpPr>
            <p:nvPr/>
          </p:nvGrpSpPr>
          <p:grpSpPr bwMode="auto">
            <a:xfrm flipH="1">
              <a:off x="2838" y="1344"/>
              <a:ext cx="288" cy="162"/>
              <a:chOff x="1056" y="1614"/>
              <a:chExt cx="288" cy="162"/>
            </a:xfrm>
          </p:grpSpPr>
          <p:sp>
            <p:nvSpPr>
              <p:cNvPr id="7186" name="Rectangle 27">
                <a:extLst>
                  <a:ext uri="{FF2B5EF4-FFF2-40B4-BE49-F238E27FC236}">
                    <a16:creationId xmlns:a16="http://schemas.microsoft.com/office/drawing/2014/main" id="{69956C92-EF17-45FE-8657-CBF352949085}"/>
                  </a:ext>
                </a:extLst>
              </p:cNvPr>
              <p:cNvSpPr>
                <a:spLocks noChangeArrowheads="1"/>
              </p:cNvSpPr>
              <p:nvPr/>
            </p:nvSpPr>
            <p:spPr bwMode="auto">
              <a:xfrm>
                <a:off x="1056" y="1614"/>
                <a:ext cx="288" cy="162"/>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endParaRPr lang="en-US" altLang="en-US"/>
              </a:p>
            </p:txBody>
          </p:sp>
          <p:sp>
            <p:nvSpPr>
              <p:cNvPr id="7187" name="Rectangle 28">
                <a:extLst>
                  <a:ext uri="{FF2B5EF4-FFF2-40B4-BE49-F238E27FC236}">
                    <a16:creationId xmlns:a16="http://schemas.microsoft.com/office/drawing/2014/main" id="{C608BA9A-7972-4905-8D1C-34889067FE75}"/>
                  </a:ext>
                </a:extLst>
              </p:cNvPr>
              <p:cNvSpPr>
                <a:spLocks noChangeArrowheads="1"/>
              </p:cNvSpPr>
              <p:nvPr/>
            </p:nvSpPr>
            <p:spPr bwMode="auto">
              <a:xfrm>
                <a:off x="1206" y="1638"/>
                <a:ext cx="66" cy="114"/>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endParaRPr lang="en-US" altLang="en-US"/>
              </a:p>
            </p:txBody>
          </p:sp>
        </p:grpSp>
        <p:grpSp>
          <p:nvGrpSpPr>
            <p:cNvPr id="7180" name="Group 29">
              <a:extLst>
                <a:ext uri="{FF2B5EF4-FFF2-40B4-BE49-F238E27FC236}">
                  <a16:creationId xmlns:a16="http://schemas.microsoft.com/office/drawing/2014/main" id="{098DA982-3791-44D8-BB19-F35BB3AFA974}"/>
                </a:ext>
              </a:extLst>
            </p:cNvPr>
            <p:cNvGrpSpPr>
              <a:grpSpLocks/>
            </p:cNvGrpSpPr>
            <p:nvPr/>
          </p:nvGrpSpPr>
          <p:grpSpPr bwMode="auto">
            <a:xfrm flipH="1">
              <a:off x="3822" y="1140"/>
              <a:ext cx="288" cy="162"/>
              <a:chOff x="1056" y="1614"/>
              <a:chExt cx="288" cy="162"/>
            </a:xfrm>
          </p:grpSpPr>
          <p:sp>
            <p:nvSpPr>
              <p:cNvPr id="7184" name="Rectangle 30">
                <a:extLst>
                  <a:ext uri="{FF2B5EF4-FFF2-40B4-BE49-F238E27FC236}">
                    <a16:creationId xmlns:a16="http://schemas.microsoft.com/office/drawing/2014/main" id="{5CBFA64F-D0DD-4F21-B890-0B4991211367}"/>
                  </a:ext>
                </a:extLst>
              </p:cNvPr>
              <p:cNvSpPr>
                <a:spLocks noChangeArrowheads="1"/>
              </p:cNvSpPr>
              <p:nvPr/>
            </p:nvSpPr>
            <p:spPr bwMode="auto">
              <a:xfrm>
                <a:off x="1056" y="1614"/>
                <a:ext cx="288" cy="162"/>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endParaRPr lang="en-US" altLang="en-US"/>
              </a:p>
            </p:txBody>
          </p:sp>
          <p:sp>
            <p:nvSpPr>
              <p:cNvPr id="7185" name="Rectangle 31">
                <a:extLst>
                  <a:ext uri="{FF2B5EF4-FFF2-40B4-BE49-F238E27FC236}">
                    <a16:creationId xmlns:a16="http://schemas.microsoft.com/office/drawing/2014/main" id="{E4FF6A14-FE61-4F9F-8D95-F3DA08419A05}"/>
                  </a:ext>
                </a:extLst>
              </p:cNvPr>
              <p:cNvSpPr>
                <a:spLocks noChangeArrowheads="1"/>
              </p:cNvSpPr>
              <p:nvPr/>
            </p:nvSpPr>
            <p:spPr bwMode="auto">
              <a:xfrm>
                <a:off x="1206" y="1638"/>
                <a:ext cx="66" cy="114"/>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endParaRPr lang="en-US" altLang="en-US"/>
              </a:p>
            </p:txBody>
          </p:sp>
        </p:grpSp>
        <p:grpSp>
          <p:nvGrpSpPr>
            <p:cNvPr id="7181" name="Group 32">
              <a:extLst>
                <a:ext uri="{FF2B5EF4-FFF2-40B4-BE49-F238E27FC236}">
                  <a16:creationId xmlns:a16="http://schemas.microsoft.com/office/drawing/2014/main" id="{21E0D5E3-78C8-485B-B491-C5F1A47C3A85}"/>
                </a:ext>
              </a:extLst>
            </p:cNvPr>
            <p:cNvGrpSpPr>
              <a:grpSpLocks/>
            </p:cNvGrpSpPr>
            <p:nvPr/>
          </p:nvGrpSpPr>
          <p:grpSpPr bwMode="auto">
            <a:xfrm flipH="1">
              <a:off x="4248" y="1140"/>
              <a:ext cx="288" cy="162"/>
              <a:chOff x="1056" y="1614"/>
              <a:chExt cx="288" cy="162"/>
            </a:xfrm>
          </p:grpSpPr>
          <p:sp>
            <p:nvSpPr>
              <p:cNvPr id="7182" name="Rectangle 33">
                <a:extLst>
                  <a:ext uri="{FF2B5EF4-FFF2-40B4-BE49-F238E27FC236}">
                    <a16:creationId xmlns:a16="http://schemas.microsoft.com/office/drawing/2014/main" id="{13FCE13D-5E63-4B29-A190-DBE5360DD85D}"/>
                  </a:ext>
                </a:extLst>
              </p:cNvPr>
              <p:cNvSpPr>
                <a:spLocks noChangeArrowheads="1"/>
              </p:cNvSpPr>
              <p:nvPr/>
            </p:nvSpPr>
            <p:spPr bwMode="auto">
              <a:xfrm>
                <a:off x="1056" y="1614"/>
                <a:ext cx="288" cy="162"/>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endParaRPr lang="en-US" altLang="en-US"/>
              </a:p>
            </p:txBody>
          </p:sp>
          <p:sp>
            <p:nvSpPr>
              <p:cNvPr id="7183" name="Rectangle 34">
                <a:extLst>
                  <a:ext uri="{FF2B5EF4-FFF2-40B4-BE49-F238E27FC236}">
                    <a16:creationId xmlns:a16="http://schemas.microsoft.com/office/drawing/2014/main" id="{94C90024-52E0-4DF4-99BB-C0D77D32BF01}"/>
                  </a:ext>
                </a:extLst>
              </p:cNvPr>
              <p:cNvSpPr>
                <a:spLocks noChangeArrowheads="1"/>
              </p:cNvSpPr>
              <p:nvPr/>
            </p:nvSpPr>
            <p:spPr bwMode="auto">
              <a:xfrm>
                <a:off x="1206" y="1638"/>
                <a:ext cx="66" cy="114"/>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endParaRPr lang="en-US" altLang="en-US"/>
              </a:p>
            </p:txBody>
          </p:sp>
        </p:grpSp>
      </p:gr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Discussion</a:t>
            </a:r>
          </a:p>
        </p:txBody>
      </p:sp>
      <p:sp>
        <p:nvSpPr>
          <p:cNvPr id="3" name="Content Placeholder 2"/>
          <p:cNvSpPr>
            <a:spLocks noGrp="1"/>
          </p:cNvSpPr>
          <p:nvPr>
            <p:ph idx="1"/>
          </p:nvPr>
        </p:nvSpPr>
        <p:spPr/>
        <p:txBody>
          <a:bodyPr/>
          <a:lstStyle/>
          <a:p>
            <a:r>
              <a:rPr lang="en-US" dirty="0"/>
              <a:t>Now, we understand what deadlock is.</a:t>
            </a:r>
          </a:p>
          <a:p>
            <a:endParaRPr lang="en-US" dirty="0"/>
          </a:p>
          <a:p>
            <a:r>
              <a:rPr lang="en-US" dirty="0"/>
              <a:t>How about </a:t>
            </a:r>
            <a:r>
              <a:rPr lang="en-US" dirty="0" err="1"/>
              <a:t>livelock</a:t>
            </a:r>
            <a:r>
              <a:rPr lang="en-US" dirty="0"/>
              <a:t>? Can you give an example of </a:t>
            </a:r>
            <a:r>
              <a:rPr lang="en-US" dirty="0" err="1"/>
              <a:t>livelock</a:t>
            </a:r>
            <a:r>
              <a:rPr lang="en-US" dirty="0"/>
              <a:t>? </a:t>
            </a:r>
          </a:p>
        </p:txBody>
      </p:sp>
    </p:spTree>
    <p:extLst>
      <p:ext uri="{BB962C8B-B14F-4D97-AF65-F5344CB8AC3E}">
        <p14:creationId xmlns:p14="http://schemas.microsoft.com/office/powerpoint/2010/main" val="119485122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Livelock</a:t>
            </a:r>
          </a:p>
        </p:txBody>
      </p:sp>
      <p:sp>
        <p:nvSpPr>
          <p:cNvPr id="3" name="Content Placeholder 2"/>
          <p:cNvSpPr>
            <a:spLocks noGrp="1"/>
          </p:cNvSpPr>
          <p:nvPr>
            <p:ph idx="1"/>
          </p:nvPr>
        </p:nvSpPr>
        <p:spPr/>
        <p:txBody>
          <a:bodyPr/>
          <a:lstStyle/>
          <a:p>
            <a:r>
              <a:rPr lang="en-US" dirty="0"/>
              <a:t>A </a:t>
            </a:r>
            <a:r>
              <a:rPr lang="en-US" i="1" dirty="0" err="1"/>
              <a:t>livelock</a:t>
            </a:r>
            <a:r>
              <a:rPr lang="en-US" dirty="0"/>
              <a:t> is almost similar to a deadlock, except that </a:t>
            </a:r>
            <a:r>
              <a:rPr lang="en-US" altLang="zh-CN" dirty="0"/>
              <a:t>it </a:t>
            </a:r>
            <a:r>
              <a:rPr lang="en-US" dirty="0"/>
              <a:t>occurs when two or more processes continually repeat the same interaction in response to changes in the other processes without doing any useful work. None progressing.</a:t>
            </a:r>
          </a:p>
          <a:p>
            <a:endParaRPr lang="en-US" dirty="0"/>
          </a:p>
        </p:txBody>
      </p:sp>
    </p:spTree>
    <p:extLst>
      <p:ext uri="{BB962C8B-B14F-4D97-AF65-F5344CB8AC3E}">
        <p14:creationId xmlns:p14="http://schemas.microsoft.com/office/powerpoint/2010/main" val="1941675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E5AA4B56-3654-4E46-9B4F-B0099880E16D}"/>
              </a:ext>
            </a:extLst>
          </p:cNvPr>
          <p:cNvSpPr>
            <a:spLocks noGrp="1" noChangeArrowheads="1"/>
          </p:cNvSpPr>
          <p:nvPr>
            <p:ph type="title"/>
          </p:nvPr>
        </p:nvSpPr>
        <p:spPr>
          <a:xfrm>
            <a:off x="628650" y="365127"/>
            <a:ext cx="7886700" cy="987424"/>
          </a:xfrm>
        </p:spPr>
        <p:txBody>
          <a:bodyPr/>
          <a:lstStyle/>
          <a:p>
            <a:pPr eaLnBrk="1" hangingPunct="1"/>
            <a:r>
              <a:rPr lang="en-US" altLang="en-US" dirty="0">
                <a:solidFill>
                  <a:srgbClr val="FF0000"/>
                </a:solidFill>
              </a:rPr>
              <a:t>Bridge Crossing Example (</a:t>
            </a:r>
            <a:r>
              <a:rPr lang="en-US" altLang="en-US" dirty="0" err="1">
                <a:solidFill>
                  <a:srgbClr val="FF0000"/>
                </a:solidFill>
              </a:rPr>
              <a:t>livelock</a:t>
            </a:r>
            <a:r>
              <a:rPr lang="en-US" altLang="en-US" dirty="0">
                <a:solidFill>
                  <a:srgbClr val="FF0000"/>
                </a:solidFill>
              </a:rPr>
              <a:t>)</a:t>
            </a:r>
          </a:p>
        </p:txBody>
      </p:sp>
      <p:sp>
        <p:nvSpPr>
          <p:cNvPr id="7171" name="Rectangle 3">
            <a:extLst>
              <a:ext uri="{FF2B5EF4-FFF2-40B4-BE49-F238E27FC236}">
                <a16:creationId xmlns:a16="http://schemas.microsoft.com/office/drawing/2014/main" id="{2F8E377D-8ABA-4E7E-B57D-8C85A7E7C973}"/>
              </a:ext>
            </a:extLst>
          </p:cNvPr>
          <p:cNvSpPr>
            <a:spLocks noGrp="1" noChangeArrowheads="1"/>
          </p:cNvSpPr>
          <p:nvPr>
            <p:ph type="body" idx="1"/>
          </p:nvPr>
        </p:nvSpPr>
        <p:spPr>
          <a:xfrm>
            <a:off x="688181" y="3857625"/>
            <a:ext cx="7886700" cy="2483752"/>
          </a:xfrm>
        </p:spPr>
        <p:txBody>
          <a:bodyPr>
            <a:normAutofit/>
          </a:bodyPr>
          <a:lstStyle/>
          <a:p>
            <a:r>
              <a:rPr lang="en-US" altLang="en-US" sz="2400" dirty="0"/>
              <a:t>Traffic only in one direction</a:t>
            </a:r>
          </a:p>
          <a:p>
            <a:r>
              <a:rPr lang="en-US" altLang="en-US" sz="2400" dirty="0"/>
              <a:t>Each section of a bridge can be viewed as a resource</a:t>
            </a:r>
          </a:p>
          <a:p>
            <a:r>
              <a:rPr lang="en-US" altLang="en-US" sz="2400" dirty="0"/>
              <a:t>If a </a:t>
            </a:r>
            <a:r>
              <a:rPr lang="en-US" altLang="en-US" sz="2400" dirty="0" err="1"/>
              <a:t>livelock</a:t>
            </a:r>
            <a:r>
              <a:rPr lang="en-US" altLang="en-US" sz="2400" dirty="0"/>
              <a:t> occurs, both cars back up. So no car can go through.</a:t>
            </a:r>
          </a:p>
        </p:txBody>
      </p:sp>
      <p:grpSp>
        <p:nvGrpSpPr>
          <p:cNvPr id="7172" name="Group 35">
            <a:extLst>
              <a:ext uri="{FF2B5EF4-FFF2-40B4-BE49-F238E27FC236}">
                <a16:creationId xmlns:a16="http://schemas.microsoft.com/office/drawing/2014/main" id="{C39B21A6-BFDB-465A-B510-F89B829BCA15}"/>
              </a:ext>
            </a:extLst>
          </p:cNvPr>
          <p:cNvGrpSpPr>
            <a:grpSpLocks/>
          </p:cNvGrpSpPr>
          <p:nvPr/>
        </p:nvGrpSpPr>
        <p:grpSpPr bwMode="auto">
          <a:xfrm>
            <a:off x="1266825" y="2057400"/>
            <a:ext cx="6276975" cy="1371600"/>
            <a:chOff x="798" y="1008"/>
            <a:chExt cx="3954" cy="864"/>
          </a:xfrm>
        </p:grpSpPr>
        <p:grpSp>
          <p:nvGrpSpPr>
            <p:cNvPr id="7173" name="Group 11">
              <a:extLst>
                <a:ext uri="{FF2B5EF4-FFF2-40B4-BE49-F238E27FC236}">
                  <a16:creationId xmlns:a16="http://schemas.microsoft.com/office/drawing/2014/main" id="{8CE868A5-4939-4E86-BF5C-8670E2F85A2B}"/>
                </a:ext>
              </a:extLst>
            </p:cNvPr>
            <p:cNvGrpSpPr>
              <a:grpSpLocks/>
            </p:cNvGrpSpPr>
            <p:nvPr/>
          </p:nvGrpSpPr>
          <p:grpSpPr bwMode="auto">
            <a:xfrm>
              <a:off x="816" y="1008"/>
              <a:ext cx="3936" cy="240"/>
              <a:chOff x="672" y="1008"/>
              <a:chExt cx="3936" cy="240"/>
            </a:xfrm>
          </p:grpSpPr>
          <p:sp>
            <p:nvSpPr>
              <p:cNvPr id="7197" name="Line 6">
                <a:extLst>
                  <a:ext uri="{FF2B5EF4-FFF2-40B4-BE49-F238E27FC236}">
                    <a16:creationId xmlns:a16="http://schemas.microsoft.com/office/drawing/2014/main" id="{0B5A2E7C-0214-4006-87AF-2E7331B25F0B}"/>
                  </a:ext>
                </a:extLst>
              </p:cNvPr>
              <p:cNvSpPr>
                <a:spLocks noChangeShapeType="1"/>
              </p:cNvSpPr>
              <p:nvPr/>
            </p:nvSpPr>
            <p:spPr bwMode="auto">
              <a:xfrm>
                <a:off x="672" y="1008"/>
                <a:ext cx="115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98" name="Line 7">
                <a:extLst>
                  <a:ext uri="{FF2B5EF4-FFF2-40B4-BE49-F238E27FC236}">
                    <a16:creationId xmlns:a16="http://schemas.microsoft.com/office/drawing/2014/main" id="{3AF02176-DBA3-43E5-8238-F6621EE1DECA}"/>
                  </a:ext>
                </a:extLst>
              </p:cNvPr>
              <p:cNvSpPr>
                <a:spLocks noChangeShapeType="1"/>
              </p:cNvSpPr>
              <p:nvPr/>
            </p:nvSpPr>
            <p:spPr bwMode="auto">
              <a:xfrm>
                <a:off x="1824" y="1008"/>
                <a:ext cx="384"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99" name="Line 8">
                <a:extLst>
                  <a:ext uri="{FF2B5EF4-FFF2-40B4-BE49-F238E27FC236}">
                    <a16:creationId xmlns:a16="http://schemas.microsoft.com/office/drawing/2014/main" id="{BA3E3CE0-BC28-4951-B45A-3D5B1BA5C21C}"/>
                  </a:ext>
                </a:extLst>
              </p:cNvPr>
              <p:cNvSpPr>
                <a:spLocks noChangeShapeType="1"/>
              </p:cNvSpPr>
              <p:nvPr/>
            </p:nvSpPr>
            <p:spPr bwMode="auto">
              <a:xfrm>
                <a:off x="2208" y="1248"/>
                <a:ext cx="86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200" name="Line 9">
                <a:extLst>
                  <a:ext uri="{FF2B5EF4-FFF2-40B4-BE49-F238E27FC236}">
                    <a16:creationId xmlns:a16="http://schemas.microsoft.com/office/drawing/2014/main" id="{885D1E61-6FDB-4255-8CE7-32C6E95420E3}"/>
                  </a:ext>
                </a:extLst>
              </p:cNvPr>
              <p:cNvSpPr>
                <a:spLocks noChangeShapeType="1"/>
              </p:cNvSpPr>
              <p:nvPr/>
            </p:nvSpPr>
            <p:spPr bwMode="auto">
              <a:xfrm flipV="1">
                <a:off x="3072" y="1026"/>
                <a:ext cx="384" cy="2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201" name="Line 10">
                <a:extLst>
                  <a:ext uri="{FF2B5EF4-FFF2-40B4-BE49-F238E27FC236}">
                    <a16:creationId xmlns:a16="http://schemas.microsoft.com/office/drawing/2014/main" id="{4C3E6078-A2E6-40B0-9ADF-F3C5715EF35B}"/>
                  </a:ext>
                </a:extLst>
              </p:cNvPr>
              <p:cNvSpPr>
                <a:spLocks noChangeShapeType="1"/>
              </p:cNvSpPr>
              <p:nvPr/>
            </p:nvSpPr>
            <p:spPr bwMode="auto">
              <a:xfrm>
                <a:off x="3456" y="1020"/>
                <a:ext cx="115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7174" name="Group 12">
              <a:extLst>
                <a:ext uri="{FF2B5EF4-FFF2-40B4-BE49-F238E27FC236}">
                  <a16:creationId xmlns:a16="http://schemas.microsoft.com/office/drawing/2014/main" id="{913B30B6-3D56-4BC7-81B9-2F941DD51F7F}"/>
                </a:ext>
              </a:extLst>
            </p:cNvPr>
            <p:cNvGrpSpPr>
              <a:grpSpLocks/>
            </p:cNvGrpSpPr>
            <p:nvPr/>
          </p:nvGrpSpPr>
          <p:grpSpPr bwMode="auto">
            <a:xfrm flipV="1">
              <a:off x="816" y="1632"/>
              <a:ext cx="3936" cy="240"/>
              <a:chOff x="672" y="1008"/>
              <a:chExt cx="3936" cy="240"/>
            </a:xfrm>
          </p:grpSpPr>
          <p:sp>
            <p:nvSpPr>
              <p:cNvPr id="7192" name="Line 13">
                <a:extLst>
                  <a:ext uri="{FF2B5EF4-FFF2-40B4-BE49-F238E27FC236}">
                    <a16:creationId xmlns:a16="http://schemas.microsoft.com/office/drawing/2014/main" id="{6328854A-7E49-43FB-B737-C1C201C1907F}"/>
                  </a:ext>
                </a:extLst>
              </p:cNvPr>
              <p:cNvSpPr>
                <a:spLocks noChangeShapeType="1"/>
              </p:cNvSpPr>
              <p:nvPr/>
            </p:nvSpPr>
            <p:spPr bwMode="auto">
              <a:xfrm>
                <a:off x="672" y="1008"/>
                <a:ext cx="115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93" name="Line 14">
                <a:extLst>
                  <a:ext uri="{FF2B5EF4-FFF2-40B4-BE49-F238E27FC236}">
                    <a16:creationId xmlns:a16="http://schemas.microsoft.com/office/drawing/2014/main" id="{A31A69CA-7DA7-491B-968C-ECA5266838B3}"/>
                  </a:ext>
                </a:extLst>
              </p:cNvPr>
              <p:cNvSpPr>
                <a:spLocks noChangeShapeType="1"/>
              </p:cNvSpPr>
              <p:nvPr/>
            </p:nvSpPr>
            <p:spPr bwMode="auto">
              <a:xfrm>
                <a:off x="1824" y="1008"/>
                <a:ext cx="384"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94" name="Line 15">
                <a:extLst>
                  <a:ext uri="{FF2B5EF4-FFF2-40B4-BE49-F238E27FC236}">
                    <a16:creationId xmlns:a16="http://schemas.microsoft.com/office/drawing/2014/main" id="{75C63057-9F47-4729-8AC8-D352C7E1DC47}"/>
                  </a:ext>
                </a:extLst>
              </p:cNvPr>
              <p:cNvSpPr>
                <a:spLocks noChangeShapeType="1"/>
              </p:cNvSpPr>
              <p:nvPr/>
            </p:nvSpPr>
            <p:spPr bwMode="auto">
              <a:xfrm>
                <a:off x="2208" y="1248"/>
                <a:ext cx="86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95" name="Line 16">
                <a:extLst>
                  <a:ext uri="{FF2B5EF4-FFF2-40B4-BE49-F238E27FC236}">
                    <a16:creationId xmlns:a16="http://schemas.microsoft.com/office/drawing/2014/main" id="{AEB890B6-3F18-450A-8754-E01189B12808}"/>
                  </a:ext>
                </a:extLst>
              </p:cNvPr>
              <p:cNvSpPr>
                <a:spLocks noChangeShapeType="1"/>
              </p:cNvSpPr>
              <p:nvPr/>
            </p:nvSpPr>
            <p:spPr bwMode="auto">
              <a:xfrm flipV="1">
                <a:off x="3072" y="1026"/>
                <a:ext cx="384" cy="2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96" name="Line 17">
                <a:extLst>
                  <a:ext uri="{FF2B5EF4-FFF2-40B4-BE49-F238E27FC236}">
                    <a16:creationId xmlns:a16="http://schemas.microsoft.com/office/drawing/2014/main" id="{B9A0FF76-AD13-43CB-814E-58AC8DDD3EAC}"/>
                  </a:ext>
                </a:extLst>
              </p:cNvPr>
              <p:cNvSpPr>
                <a:spLocks noChangeShapeType="1"/>
              </p:cNvSpPr>
              <p:nvPr/>
            </p:nvSpPr>
            <p:spPr bwMode="auto">
              <a:xfrm>
                <a:off x="3456" y="1020"/>
                <a:ext cx="115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7175" name="Group 22">
              <a:extLst>
                <a:ext uri="{FF2B5EF4-FFF2-40B4-BE49-F238E27FC236}">
                  <a16:creationId xmlns:a16="http://schemas.microsoft.com/office/drawing/2014/main" id="{745A5C89-8E6A-4410-974D-6A6A545C6ABE}"/>
                </a:ext>
              </a:extLst>
            </p:cNvPr>
            <p:cNvGrpSpPr>
              <a:grpSpLocks/>
            </p:cNvGrpSpPr>
            <p:nvPr/>
          </p:nvGrpSpPr>
          <p:grpSpPr bwMode="auto">
            <a:xfrm>
              <a:off x="1512" y="1614"/>
              <a:ext cx="288" cy="162"/>
              <a:chOff x="1056" y="1614"/>
              <a:chExt cx="288" cy="162"/>
            </a:xfrm>
          </p:grpSpPr>
          <p:sp>
            <p:nvSpPr>
              <p:cNvPr id="7190" name="Rectangle 18">
                <a:extLst>
                  <a:ext uri="{FF2B5EF4-FFF2-40B4-BE49-F238E27FC236}">
                    <a16:creationId xmlns:a16="http://schemas.microsoft.com/office/drawing/2014/main" id="{285094F3-489D-42A2-9358-72808D10C2C4}"/>
                  </a:ext>
                </a:extLst>
              </p:cNvPr>
              <p:cNvSpPr>
                <a:spLocks noChangeArrowheads="1"/>
              </p:cNvSpPr>
              <p:nvPr/>
            </p:nvSpPr>
            <p:spPr bwMode="auto">
              <a:xfrm>
                <a:off x="1056" y="1614"/>
                <a:ext cx="288" cy="162"/>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endParaRPr lang="en-US" altLang="en-US"/>
              </a:p>
            </p:txBody>
          </p:sp>
          <p:sp>
            <p:nvSpPr>
              <p:cNvPr id="7191" name="Rectangle 19">
                <a:extLst>
                  <a:ext uri="{FF2B5EF4-FFF2-40B4-BE49-F238E27FC236}">
                    <a16:creationId xmlns:a16="http://schemas.microsoft.com/office/drawing/2014/main" id="{AC299DF1-57C7-4B80-A96B-B45E9512C4A6}"/>
                  </a:ext>
                </a:extLst>
              </p:cNvPr>
              <p:cNvSpPr>
                <a:spLocks noChangeArrowheads="1"/>
              </p:cNvSpPr>
              <p:nvPr/>
            </p:nvSpPr>
            <p:spPr bwMode="auto">
              <a:xfrm>
                <a:off x="1206" y="1638"/>
                <a:ext cx="66" cy="114"/>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endParaRPr lang="en-US" altLang="en-US"/>
              </a:p>
            </p:txBody>
          </p:sp>
        </p:grpSp>
        <p:sp>
          <p:nvSpPr>
            <p:cNvPr id="7176" name="Line 20">
              <a:extLst>
                <a:ext uri="{FF2B5EF4-FFF2-40B4-BE49-F238E27FC236}">
                  <a16:creationId xmlns:a16="http://schemas.microsoft.com/office/drawing/2014/main" id="{D3E8065C-8878-4620-A5A1-04DE978E47E6}"/>
                </a:ext>
              </a:extLst>
            </p:cNvPr>
            <p:cNvSpPr>
              <a:spLocks noChangeShapeType="1"/>
            </p:cNvSpPr>
            <p:nvPr/>
          </p:nvSpPr>
          <p:spPr bwMode="auto">
            <a:xfrm>
              <a:off x="798" y="1428"/>
              <a:ext cx="1272"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77" name="Line 21">
              <a:extLst>
                <a:ext uri="{FF2B5EF4-FFF2-40B4-BE49-F238E27FC236}">
                  <a16:creationId xmlns:a16="http://schemas.microsoft.com/office/drawing/2014/main" id="{171DDF65-0CE5-4DEB-A293-BB48F06AA05D}"/>
                </a:ext>
              </a:extLst>
            </p:cNvPr>
            <p:cNvSpPr>
              <a:spLocks noChangeShapeType="1"/>
            </p:cNvSpPr>
            <p:nvPr/>
          </p:nvSpPr>
          <p:spPr bwMode="auto">
            <a:xfrm>
              <a:off x="3444" y="1422"/>
              <a:ext cx="1272"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7178" name="Group 23">
              <a:extLst>
                <a:ext uri="{FF2B5EF4-FFF2-40B4-BE49-F238E27FC236}">
                  <a16:creationId xmlns:a16="http://schemas.microsoft.com/office/drawing/2014/main" id="{F0BED46E-8925-40E8-8B74-C2C9F6FC7892}"/>
                </a:ext>
              </a:extLst>
            </p:cNvPr>
            <p:cNvGrpSpPr>
              <a:grpSpLocks/>
            </p:cNvGrpSpPr>
            <p:nvPr/>
          </p:nvGrpSpPr>
          <p:grpSpPr bwMode="auto">
            <a:xfrm>
              <a:off x="2382" y="1344"/>
              <a:ext cx="288" cy="162"/>
              <a:chOff x="1056" y="1614"/>
              <a:chExt cx="288" cy="162"/>
            </a:xfrm>
          </p:grpSpPr>
          <p:sp>
            <p:nvSpPr>
              <p:cNvPr id="7188" name="Rectangle 24">
                <a:extLst>
                  <a:ext uri="{FF2B5EF4-FFF2-40B4-BE49-F238E27FC236}">
                    <a16:creationId xmlns:a16="http://schemas.microsoft.com/office/drawing/2014/main" id="{1A6A2DEB-CBCB-4D87-A168-CEDC1E768BFF}"/>
                  </a:ext>
                </a:extLst>
              </p:cNvPr>
              <p:cNvSpPr>
                <a:spLocks noChangeArrowheads="1"/>
              </p:cNvSpPr>
              <p:nvPr/>
            </p:nvSpPr>
            <p:spPr bwMode="auto">
              <a:xfrm>
                <a:off x="1056" y="1614"/>
                <a:ext cx="288" cy="162"/>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endParaRPr lang="en-US" altLang="en-US"/>
              </a:p>
            </p:txBody>
          </p:sp>
          <p:sp>
            <p:nvSpPr>
              <p:cNvPr id="7189" name="Rectangle 25">
                <a:extLst>
                  <a:ext uri="{FF2B5EF4-FFF2-40B4-BE49-F238E27FC236}">
                    <a16:creationId xmlns:a16="http://schemas.microsoft.com/office/drawing/2014/main" id="{8E343672-430C-41F0-8313-37A758275878}"/>
                  </a:ext>
                </a:extLst>
              </p:cNvPr>
              <p:cNvSpPr>
                <a:spLocks noChangeArrowheads="1"/>
              </p:cNvSpPr>
              <p:nvPr/>
            </p:nvSpPr>
            <p:spPr bwMode="auto">
              <a:xfrm>
                <a:off x="1206" y="1638"/>
                <a:ext cx="66" cy="114"/>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endParaRPr lang="en-US" altLang="en-US"/>
              </a:p>
            </p:txBody>
          </p:sp>
        </p:grpSp>
        <p:grpSp>
          <p:nvGrpSpPr>
            <p:cNvPr id="7179" name="Group 26">
              <a:extLst>
                <a:ext uri="{FF2B5EF4-FFF2-40B4-BE49-F238E27FC236}">
                  <a16:creationId xmlns:a16="http://schemas.microsoft.com/office/drawing/2014/main" id="{0B471664-ED95-46DE-A07F-FBE9AC6E238A}"/>
                </a:ext>
              </a:extLst>
            </p:cNvPr>
            <p:cNvGrpSpPr>
              <a:grpSpLocks/>
            </p:cNvGrpSpPr>
            <p:nvPr/>
          </p:nvGrpSpPr>
          <p:grpSpPr bwMode="auto">
            <a:xfrm flipH="1">
              <a:off x="2838" y="1344"/>
              <a:ext cx="288" cy="162"/>
              <a:chOff x="1056" y="1614"/>
              <a:chExt cx="288" cy="162"/>
            </a:xfrm>
          </p:grpSpPr>
          <p:sp>
            <p:nvSpPr>
              <p:cNvPr id="7186" name="Rectangle 27">
                <a:extLst>
                  <a:ext uri="{FF2B5EF4-FFF2-40B4-BE49-F238E27FC236}">
                    <a16:creationId xmlns:a16="http://schemas.microsoft.com/office/drawing/2014/main" id="{69956C92-EF17-45FE-8657-CBF352949085}"/>
                  </a:ext>
                </a:extLst>
              </p:cNvPr>
              <p:cNvSpPr>
                <a:spLocks noChangeArrowheads="1"/>
              </p:cNvSpPr>
              <p:nvPr/>
            </p:nvSpPr>
            <p:spPr bwMode="auto">
              <a:xfrm>
                <a:off x="1056" y="1614"/>
                <a:ext cx="288" cy="162"/>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endParaRPr lang="en-US" altLang="en-US"/>
              </a:p>
            </p:txBody>
          </p:sp>
          <p:sp>
            <p:nvSpPr>
              <p:cNvPr id="7187" name="Rectangle 28">
                <a:extLst>
                  <a:ext uri="{FF2B5EF4-FFF2-40B4-BE49-F238E27FC236}">
                    <a16:creationId xmlns:a16="http://schemas.microsoft.com/office/drawing/2014/main" id="{C608BA9A-7972-4905-8D1C-34889067FE75}"/>
                  </a:ext>
                </a:extLst>
              </p:cNvPr>
              <p:cNvSpPr>
                <a:spLocks noChangeArrowheads="1"/>
              </p:cNvSpPr>
              <p:nvPr/>
            </p:nvSpPr>
            <p:spPr bwMode="auto">
              <a:xfrm>
                <a:off x="1206" y="1638"/>
                <a:ext cx="66" cy="114"/>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endParaRPr lang="en-US" altLang="en-US"/>
              </a:p>
            </p:txBody>
          </p:sp>
        </p:grpSp>
        <p:grpSp>
          <p:nvGrpSpPr>
            <p:cNvPr id="7180" name="Group 29">
              <a:extLst>
                <a:ext uri="{FF2B5EF4-FFF2-40B4-BE49-F238E27FC236}">
                  <a16:creationId xmlns:a16="http://schemas.microsoft.com/office/drawing/2014/main" id="{098DA982-3791-44D8-BB19-F35BB3AFA974}"/>
                </a:ext>
              </a:extLst>
            </p:cNvPr>
            <p:cNvGrpSpPr>
              <a:grpSpLocks/>
            </p:cNvGrpSpPr>
            <p:nvPr/>
          </p:nvGrpSpPr>
          <p:grpSpPr bwMode="auto">
            <a:xfrm flipH="1">
              <a:off x="3822" y="1140"/>
              <a:ext cx="288" cy="162"/>
              <a:chOff x="1056" y="1614"/>
              <a:chExt cx="288" cy="162"/>
            </a:xfrm>
          </p:grpSpPr>
          <p:sp>
            <p:nvSpPr>
              <p:cNvPr id="7184" name="Rectangle 30">
                <a:extLst>
                  <a:ext uri="{FF2B5EF4-FFF2-40B4-BE49-F238E27FC236}">
                    <a16:creationId xmlns:a16="http://schemas.microsoft.com/office/drawing/2014/main" id="{5CBFA64F-D0DD-4F21-B890-0B4991211367}"/>
                  </a:ext>
                </a:extLst>
              </p:cNvPr>
              <p:cNvSpPr>
                <a:spLocks noChangeArrowheads="1"/>
              </p:cNvSpPr>
              <p:nvPr/>
            </p:nvSpPr>
            <p:spPr bwMode="auto">
              <a:xfrm>
                <a:off x="1056" y="1614"/>
                <a:ext cx="288" cy="162"/>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endParaRPr lang="en-US" altLang="en-US"/>
              </a:p>
            </p:txBody>
          </p:sp>
          <p:sp>
            <p:nvSpPr>
              <p:cNvPr id="7185" name="Rectangle 31">
                <a:extLst>
                  <a:ext uri="{FF2B5EF4-FFF2-40B4-BE49-F238E27FC236}">
                    <a16:creationId xmlns:a16="http://schemas.microsoft.com/office/drawing/2014/main" id="{E4FF6A14-FE61-4F9F-8D95-F3DA08419A05}"/>
                  </a:ext>
                </a:extLst>
              </p:cNvPr>
              <p:cNvSpPr>
                <a:spLocks noChangeArrowheads="1"/>
              </p:cNvSpPr>
              <p:nvPr/>
            </p:nvSpPr>
            <p:spPr bwMode="auto">
              <a:xfrm>
                <a:off x="1206" y="1638"/>
                <a:ext cx="66" cy="114"/>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endParaRPr lang="en-US" altLang="en-US"/>
              </a:p>
            </p:txBody>
          </p:sp>
        </p:grpSp>
        <p:grpSp>
          <p:nvGrpSpPr>
            <p:cNvPr id="7181" name="Group 32">
              <a:extLst>
                <a:ext uri="{FF2B5EF4-FFF2-40B4-BE49-F238E27FC236}">
                  <a16:creationId xmlns:a16="http://schemas.microsoft.com/office/drawing/2014/main" id="{21E0D5E3-78C8-485B-B491-C5F1A47C3A85}"/>
                </a:ext>
              </a:extLst>
            </p:cNvPr>
            <p:cNvGrpSpPr>
              <a:grpSpLocks/>
            </p:cNvGrpSpPr>
            <p:nvPr/>
          </p:nvGrpSpPr>
          <p:grpSpPr bwMode="auto">
            <a:xfrm flipH="1">
              <a:off x="4248" y="1140"/>
              <a:ext cx="288" cy="162"/>
              <a:chOff x="1056" y="1614"/>
              <a:chExt cx="288" cy="162"/>
            </a:xfrm>
          </p:grpSpPr>
          <p:sp>
            <p:nvSpPr>
              <p:cNvPr id="7182" name="Rectangle 33">
                <a:extLst>
                  <a:ext uri="{FF2B5EF4-FFF2-40B4-BE49-F238E27FC236}">
                    <a16:creationId xmlns:a16="http://schemas.microsoft.com/office/drawing/2014/main" id="{13FCE13D-5E63-4B29-A190-DBE5360DD85D}"/>
                  </a:ext>
                </a:extLst>
              </p:cNvPr>
              <p:cNvSpPr>
                <a:spLocks noChangeArrowheads="1"/>
              </p:cNvSpPr>
              <p:nvPr/>
            </p:nvSpPr>
            <p:spPr bwMode="auto">
              <a:xfrm>
                <a:off x="1056" y="1614"/>
                <a:ext cx="288" cy="162"/>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endParaRPr lang="en-US" altLang="en-US"/>
              </a:p>
            </p:txBody>
          </p:sp>
          <p:sp>
            <p:nvSpPr>
              <p:cNvPr id="7183" name="Rectangle 34">
                <a:extLst>
                  <a:ext uri="{FF2B5EF4-FFF2-40B4-BE49-F238E27FC236}">
                    <a16:creationId xmlns:a16="http://schemas.microsoft.com/office/drawing/2014/main" id="{94C90024-52E0-4DF4-99BB-C0D77D32BF01}"/>
                  </a:ext>
                </a:extLst>
              </p:cNvPr>
              <p:cNvSpPr>
                <a:spLocks noChangeArrowheads="1"/>
              </p:cNvSpPr>
              <p:nvPr/>
            </p:nvSpPr>
            <p:spPr bwMode="auto">
              <a:xfrm>
                <a:off x="1206" y="1638"/>
                <a:ext cx="66" cy="114"/>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endParaRPr lang="en-US" altLang="en-US"/>
              </a:p>
            </p:txBody>
          </p:sp>
        </p:grpSp>
      </p:grpSp>
    </p:spTree>
    <p:extLst>
      <p:ext uri="{BB962C8B-B14F-4D97-AF65-F5344CB8AC3E}">
        <p14:creationId xmlns:p14="http://schemas.microsoft.com/office/powerpoint/2010/main" val="99145368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302</TotalTime>
  <Words>2259</Words>
  <Application>Microsoft Macintosh PowerPoint</Application>
  <PresentationFormat>On-screen Show (4:3)</PresentationFormat>
  <Paragraphs>332</Paragraphs>
  <Slides>45</Slides>
  <Notes>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45</vt:i4>
      </vt:variant>
    </vt:vector>
  </HeadingPairs>
  <TitlesOfParts>
    <vt:vector size="52" baseType="lpstr">
      <vt:lpstr>Arial</vt:lpstr>
      <vt:lpstr>Calibri</vt:lpstr>
      <vt:lpstr>Calibri Light</vt:lpstr>
      <vt:lpstr>Garamond</vt:lpstr>
      <vt:lpstr>Impact</vt:lpstr>
      <vt:lpstr>Times New Roman</vt:lpstr>
      <vt:lpstr>Office Theme</vt:lpstr>
      <vt:lpstr>Concurrency</vt:lpstr>
      <vt:lpstr>Discussion</vt:lpstr>
      <vt:lpstr>Discussion</vt:lpstr>
      <vt:lpstr>Why concurrency?</vt:lpstr>
      <vt:lpstr>Client Concurrency</vt:lpstr>
      <vt:lpstr>Server Concurrency</vt:lpstr>
      <vt:lpstr>Basic Concepts</vt:lpstr>
      <vt:lpstr>Processor vs. Core</vt:lpstr>
      <vt:lpstr>Process vs. Thread (1)</vt:lpstr>
      <vt:lpstr>Process vs. Thread (2)</vt:lpstr>
      <vt:lpstr>Why use thread?</vt:lpstr>
      <vt:lpstr>Avoid process switching</vt:lpstr>
      <vt:lpstr>Threading: Pros &amp; Cons</vt:lpstr>
      <vt:lpstr>Concurrency vs. Parallelism</vt:lpstr>
      <vt:lpstr>Revisit the discussion question</vt:lpstr>
      <vt:lpstr>Critical section (1)</vt:lpstr>
      <vt:lpstr>Critical section (2)</vt:lpstr>
      <vt:lpstr>Critical section (3)</vt:lpstr>
      <vt:lpstr>Solution to critical section</vt:lpstr>
      <vt:lpstr>Mutual Exclusion: Traffic Analogy</vt:lpstr>
      <vt:lpstr>Mutual Exclusion: Traffic Analogy</vt:lpstr>
      <vt:lpstr>Progress: Traffic Analogy</vt:lpstr>
      <vt:lpstr>Progress: Traffic Analogy</vt:lpstr>
      <vt:lpstr>Bounded Waiting: Traffic Analogy</vt:lpstr>
      <vt:lpstr>A more general example</vt:lpstr>
      <vt:lpstr>Banking Example</vt:lpstr>
      <vt:lpstr>Mutual exclusion</vt:lpstr>
      <vt:lpstr>Mutual exclusion</vt:lpstr>
      <vt:lpstr>Mutual Exclusion: Permission-based</vt:lpstr>
      <vt:lpstr>Lock</vt:lpstr>
      <vt:lpstr>Banking Example (Permission-based: Lock)</vt:lpstr>
      <vt:lpstr>Mutual exclusion: Token-based</vt:lpstr>
      <vt:lpstr>How to elect a coordinator</vt:lpstr>
      <vt:lpstr>Election by bullying (1)</vt:lpstr>
      <vt:lpstr>Election by bullying (2)</vt:lpstr>
      <vt:lpstr>Election in a ring (1) </vt:lpstr>
      <vt:lpstr>Election in a ring (2)</vt:lpstr>
      <vt:lpstr>Discussion </vt:lpstr>
      <vt:lpstr>Deadlock (1)</vt:lpstr>
      <vt:lpstr>Deadlock (2)</vt:lpstr>
      <vt:lpstr>Discussion</vt:lpstr>
      <vt:lpstr>Bridge Crossing Example (deadlock)</vt:lpstr>
      <vt:lpstr>Discussion</vt:lpstr>
      <vt:lpstr>Livelock</vt:lpstr>
      <vt:lpstr>Bridge Crossing Example (livelock)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Xiang Cao</dc:creator>
  <cp:lastModifiedBy>Xiang Cao</cp:lastModifiedBy>
  <cp:revision>119</cp:revision>
  <dcterms:created xsi:type="dcterms:W3CDTF">2019-01-15T06:43:04Z</dcterms:created>
  <dcterms:modified xsi:type="dcterms:W3CDTF">2025-09-17T20:55:50Z</dcterms:modified>
</cp:coreProperties>
</file>