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307" r:id="rId3"/>
    <p:sldId id="308" r:id="rId4"/>
    <p:sldId id="299" r:id="rId5"/>
    <p:sldId id="309" r:id="rId6"/>
    <p:sldId id="300" r:id="rId7"/>
    <p:sldId id="310" r:id="rId8"/>
    <p:sldId id="304" r:id="rId9"/>
    <p:sldId id="315" r:id="rId10"/>
    <p:sldId id="319" r:id="rId11"/>
    <p:sldId id="321" r:id="rId12"/>
    <p:sldId id="320" r:id="rId13"/>
    <p:sldId id="322" r:id="rId14"/>
    <p:sldId id="316" r:id="rId15"/>
    <p:sldId id="311" r:id="rId16"/>
    <p:sldId id="312" r:id="rId17"/>
    <p:sldId id="313" r:id="rId18"/>
    <p:sldId id="314" r:id="rId19"/>
    <p:sldId id="317" r:id="rId20"/>
    <p:sldId id="318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75" autoAdjust="0"/>
    <p:restoredTop sz="80301" autoAdjust="0"/>
  </p:normalViewPr>
  <p:slideViewPr>
    <p:cSldViewPr snapToGrid="0">
      <p:cViewPr varScale="1">
        <p:scale>
          <a:sx n="90" d="100"/>
          <a:sy n="90" d="100"/>
        </p:scale>
        <p:origin x="22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122AE-48C9-4432-8769-A217679A6842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66443-9487-4952-93B6-BD4C31BA2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77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C8AE363F-53B4-417C-910A-5A7146A147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4038324-D67B-4576-8E00-1ABD290356E7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9601211B-F728-444B-B87E-07B544CBC4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011A1F8-4CAB-4919-8FB0-7900E364F9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We now look at RPC, but before we do so we need to understand how a conventional procedure call works. 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Example function call in C: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count = read(</a:t>
            </a:r>
            <a:r>
              <a:rPr lang="en-US" altLang="en-US" dirty="0" err="1"/>
              <a:t>fd</a:t>
            </a:r>
            <a:r>
              <a:rPr lang="en-US" altLang="en-US" dirty="0"/>
              <a:t>, </a:t>
            </a:r>
            <a:r>
              <a:rPr lang="en-US" altLang="en-US" dirty="0" err="1"/>
              <a:t>buf</a:t>
            </a:r>
            <a:r>
              <a:rPr lang="en-US" altLang="en-US" dirty="0"/>
              <a:t>, </a:t>
            </a:r>
            <a:r>
              <a:rPr lang="en-US" altLang="en-US" dirty="0" err="1"/>
              <a:t>nbytes</a:t>
            </a:r>
            <a:r>
              <a:rPr lang="en-US" altLang="en-US" dirty="0"/>
              <a:t>);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Note, that </a:t>
            </a:r>
            <a:r>
              <a:rPr lang="en-US" altLang="en-US" dirty="0" err="1"/>
              <a:t>buf</a:t>
            </a:r>
            <a:r>
              <a:rPr lang="en-US" altLang="en-US" dirty="0"/>
              <a:t> is call-by-reference, since it is an array, </a:t>
            </a:r>
            <a:r>
              <a:rPr lang="en-US" altLang="en-US" dirty="0" err="1"/>
              <a:t>fd</a:t>
            </a:r>
            <a:r>
              <a:rPr lang="en-US" altLang="en-US" dirty="0"/>
              <a:t> and </a:t>
            </a:r>
            <a:r>
              <a:rPr lang="en-US" altLang="en-US" dirty="0" err="1"/>
              <a:t>nbytes</a:t>
            </a:r>
            <a:r>
              <a:rPr lang="en-US" altLang="en-US" dirty="0"/>
              <a:t> are call-by-value.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66443-9487-4952-93B6-BD4C31BA26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38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30DF34EC-5215-427F-9ADF-AE78B3515C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691F947-35C6-4261-A372-29771610AE8C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AF95E1ED-F5A9-45A4-BDA1-F5A13F855C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EF0D550-8903-4615-8840-708D009B9A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Goal is to make a remote procedure call transparent to the programmer.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Instead of calling the actual procedure, the client calls a </a:t>
            </a:r>
            <a:r>
              <a:rPr lang="en-US" altLang="en-US" b="1" dirty="0"/>
              <a:t>client stub</a:t>
            </a:r>
            <a:r>
              <a:rPr lang="en-US" altLang="en-US" dirty="0"/>
              <a:t> which essentially creates a message and sends the request across the network. 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When the server machine receives the message it passes it up to a </a:t>
            </a:r>
            <a:r>
              <a:rPr lang="en-US" altLang="en-US" b="1" dirty="0"/>
              <a:t>server stub</a:t>
            </a:r>
            <a:r>
              <a:rPr lang="en-US" altLang="en-US" dirty="0"/>
              <a:t>, which does the opposite of the client stub, i.e.. Unpacks the message and calls the local procedure. 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When the local procedure on the remote server returns, the server stub creates a message containing the return value and sends it to the client. When the client machines receives the message it unpacks it and returns the return value to the calling code.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66443-9487-4952-93B6-BD4C31BA26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704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0450C9B2-A293-44BF-8AF3-4F1060A8A9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88F9EBF-B51E-42B5-9DBD-5EF43A9F7369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7BD0C868-5A70-442E-A2F1-06A2B5236C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025CE62-DFC9-4182-A150-81C264B0C3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Parameter Marshalling. – packing parameters into a message – not as easy as it sounds!.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Synchronous communication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66443-9487-4952-93B6-BD4C31BA26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23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66443-9487-4952-93B6-BD4C31BA268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005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205C-4D77-479D-BB37-EE2BDFE16CB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45DAF-7E54-4D98-AA27-DAB1B9FAC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14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205C-4D77-479D-BB37-EE2BDFE16CB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45DAF-7E54-4D98-AA27-DAB1B9FAC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85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205C-4D77-479D-BB37-EE2BDFE16CB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45DAF-7E54-4D98-AA27-DAB1B9FAC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34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205C-4D77-479D-BB37-EE2BDFE16CB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45DAF-7E54-4D98-AA27-DAB1B9FAC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53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205C-4D77-479D-BB37-EE2BDFE16CB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45DAF-7E54-4D98-AA27-DAB1B9FAC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51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205C-4D77-479D-BB37-EE2BDFE16CB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45DAF-7E54-4D98-AA27-DAB1B9FAC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343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205C-4D77-479D-BB37-EE2BDFE16CB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45DAF-7E54-4D98-AA27-DAB1B9FAC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10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205C-4D77-479D-BB37-EE2BDFE16CB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45DAF-7E54-4D98-AA27-DAB1B9FAC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15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205C-4D77-479D-BB37-EE2BDFE16CB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45DAF-7E54-4D98-AA27-DAB1B9FAC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58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205C-4D77-479D-BB37-EE2BDFE16CB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45DAF-7E54-4D98-AA27-DAB1B9FAC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2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205C-4D77-479D-BB37-EE2BDFE16CB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45DAF-7E54-4D98-AA27-DAB1B9FAC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97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E205C-4D77-479D-BB37-EE2BDFE16CBC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45DAF-7E54-4D98-AA27-DAB1B9FAC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546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7B88A-C552-45EF-AFC0-58F9A42820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Remote Procedure Call (RPC)</a:t>
            </a:r>
          </a:p>
        </p:txBody>
      </p:sp>
    </p:spTree>
    <p:extLst>
      <p:ext uri="{BB962C8B-B14F-4D97-AF65-F5344CB8AC3E}">
        <p14:creationId xmlns:p14="http://schemas.microsoft.com/office/powerpoint/2010/main" val="355289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208F7E87-18E1-40AF-8EBC-BD9E872C5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RPC: In a nutshell…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A5C4FA1E-D833-4952-ADD6-F76941680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Goal: write distributed programs in the same way non-distributed programs have been written</a:t>
            </a:r>
          </a:p>
          <a:p>
            <a:pPr lvl="1"/>
            <a:r>
              <a:rPr lang="en-US" dirty="0"/>
              <a:t>calling a procedure on a remote machine as if it were a local procedure call.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Unique requirements:</a:t>
            </a:r>
          </a:p>
          <a:p>
            <a:pPr lvl="1"/>
            <a:r>
              <a:rPr lang="en-US" altLang="en-US" dirty="0"/>
              <a:t>Multiple program units (e.g. chunks of programs running on different machines concurrently.</a:t>
            </a:r>
          </a:p>
          <a:p>
            <a:pPr lvl="1"/>
            <a:r>
              <a:rPr lang="en-US" altLang="en-US" dirty="0"/>
              <a:t>Communication among program units.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97503640-9726-47E3-BAA9-C85327F5E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20737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Conventional Procedure Calls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695AFA0-CBC1-4EA6-AD9C-7525A7009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3183" y="1524000"/>
            <a:ext cx="2667000" cy="441960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595959"/>
            </a:solidFill>
            <a:prstDash val="sysDash"/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CDF885-956A-4CC3-97AE-3DF1964D0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83" y="2057400"/>
            <a:ext cx="1295400" cy="91440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.</a:t>
            </a:r>
          </a:p>
          <a:p>
            <a:pPr>
              <a:defRPr/>
            </a:pPr>
            <a:r>
              <a:rPr lang="en-US">
                <a:latin typeface="+mn-lt"/>
                <a:ea typeface="+mn-ea"/>
              </a:rPr>
              <a:t>P1()</a:t>
            </a:r>
          </a:p>
          <a:p>
            <a:pPr>
              <a:defRPr/>
            </a:pPr>
            <a:r>
              <a:rPr lang="en-US">
                <a:latin typeface="+mn-lt"/>
                <a:ea typeface="+mn-ea"/>
              </a:rPr>
              <a:t>.</a:t>
            </a:r>
          </a:p>
        </p:txBody>
      </p:sp>
      <p:sp>
        <p:nvSpPr>
          <p:cNvPr id="19460" name="TextBox 7">
            <a:extLst>
              <a:ext uri="{FF2B5EF4-FFF2-40B4-BE49-F238E27FC236}">
                <a16:creationId xmlns:a16="http://schemas.microsoft.com/office/drawing/2014/main" id="{85E6BE77-7AC3-4C04-8F55-802A82147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83" y="4430713"/>
            <a:ext cx="466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P1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0BAFA8-D558-43C1-A159-237D4A00B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83" y="3429000"/>
            <a:ext cx="1295400" cy="91440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.</a:t>
            </a:r>
          </a:p>
          <a:p>
            <a:pPr>
              <a:defRPr/>
            </a:pPr>
            <a:r>
              <a:rPr lang="en-US">
                <a:latin typeface="+mn-lt"/>
                <a:ea typeface="+mn-ea"/>
              </a:rPr>
              <a:t>P3()</a:t>
            </a:r>
          </a:p>
          <a:p>
            <a:pPr>
              <a:defRPr/>
            </a:pPr>
            <a:r>
              <a:rPr lang="en-US">
                <a:latin typeface="+mn-lt"/>
                <a:ea typeface="+mn-ea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A3032B-EFDF-4983-8459-0A426A572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83" y="4800600"/>
            <a:ext cx="1295400" cy="91440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.</a:t>
            </a:r>
          </a:p>
          <a:p>
            <a:pPr>
              <a:defRPr/>
            </a:pPr>
            <a:r>
              <a:rPr lang="en-US">
                <a:latin typeface="+mn-lt"/>
                <a:ea typeface="+mn-ea"/>
              </a:rPr>
              <a:t>P2()</a:t>
            </a:r>
          </a:p>
          <a:p>
            <a:pPr>
              <a:defRPr/>
            </a:pPr>
            <a:r>
              <a:rPr lang="en-US">
                <a:latin typeface="+mn-lt"/>
                <a:ea typeface="+mn-ea"/>
              </a:rPr>
              <a:t>.</a:t>
            </a:r>
          </a:p>
        </p:txBody>
      </p:sp>
      <p:sp>
        <p:nvSpPr>
          <p:cNvPr id="19463" name="TextBox 10">
            <a:extLst>
              <a:ext uri="{FF2B5EF4-FFF2-40B4-BE49-F238E27FC236}">
                <a16:creationId xmlns:a16="http://schemas.microsoft.com/office/drawing/2014/main" id="{D44A0C59-8D75-4FA9-A620-05F04627E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83" y="3059113"/>
            <a:ext cx="466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P2</a:t>
            </a:r>
          </a:p>
        </p:txBody>
      </p:sp>
      <p:sp>
        <p:nvSpPr>
          <p:cNvPr id="19464" name="TextBox 11">
            <a:extLst>
              <a:ext uri="{FF2B5EF4-FFF2-40B4-BE49-F238E27FC236}">
                <a16:creationId xmlns:a16="http://schemas.microsoft.com/office/drawing/2014/main" id="{FFCB1BED-CB30-4E8B-9BCD-308EBF6B0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83" y="1687513"/>
            <a:ext cx="466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P3</a:t>
            </a:r>
          </a:p>
        </p:txBody>
      </p:sp>
      <p:sp>
        <p:nvSpPr>
          <p:cNvPr id="19465" name="TextBox 12">
            <a:extLst>
              <a:ext uri="{FF2B5EF4-FFF2-40B4-BE49-F238E27FC236}">
                <a16:creationId xmlns:a16="http://schemas.microsoft.com/office/drawing/2014/main" id="{82B3BE60-40AA-45C3-B2DD-91883B208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183" y="5943600"/>
            <a:ext cx="266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/>
              <a:t>Program Unit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DC430EEF-CD6A-4DCE-8CD6-447F3EA3F4D4}"/>
              </a:ext>
            </a:extLst>
          </p:cNvPr>
          <p:cNvSpPr>
            <a:spLocks/>
          </p:cNvSpPr>
          <p:nvPr/>
        </p:nvSpPr>
        <p:spPr bwMode="auto">
          <a:xfrm>
            <a:off x="3234946" y="3430588"/>
            <a:ext cx="565150" cy="1835150"/>
          </a:xfrm>
          <a:custGeom>
            <a:avLst/>
            <a:gdLst>
              <a:gd name="T0" fmla="*/ 565150 w 563943"/>
              <a:gd name="T1" fmla="*/ 1835150 h 1835598"/>
              <a:gd name="T2" fmla="*/ 7742 w 563943"/>
              <a:gd name="T3" fmla="*/ 593180 h 1835598"/>
              <a:gd name="T4" fmla="*/ 518699 w 563943"/>
              <a:gd name="T5" fmla="*/ 0 h 183559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63943" h="1835598">
                <a:moveTo>
                  <a:pt x="563943" y="1835598"/>
                </a:moveTo>
                <a:cubicBezTo>
                  <a:pt x="289696" y="1367428"/>
                  <a:pt x="15450" y="899258"/>
                  <a:pt x="7725" y="593325"/>
                </a:cubicBezTo>
                <a:cubicBezTo>
                  <a:pt x="0" y="287392"/>
                  <a:pt x="517591" y="0"/>
                  <a:pt x="517591" y="0"/>
                </a:cubicBez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round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EBD054E-38C3-49AB-B721-79F9327E6E98}"/>
              </a:ext>
            </a:extLst>
          </p:cNvPr>
          <p:cNvSpPr>
            <a:spLocks/>
          </p:cNvSpPr>
          <p:nvPr/>
        </p:nvSpPr>
        <p:spPr bwMode="auto">
          <a:xfrm>
            <a:off x="3230183" y="2066925"/>
            <a:ext cx="550863" cy="1854200"/>
          </a:xfrm>
          <a:custGeom>
            <a:avLst/>
            <a:gdLst>
              <a:gd name="T0" fmla="*/ 550863 w 550037"/>
              <a:gd name="T1" fmla="*/ 1854200 h 1854140"/>
              <a:gd name="T2" fmla="*/ 12379 w 550037"/>
              <a:gd name="T3" fmla="*/ 732409 h 1854140"/>
              <a:gd name="T4" fmla="*/ 476590 w 550037"/>
              <a:gd name="T5" fmla="*/ 0 h 185414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50037" h="1854140">
                <a:moveTo>
                  <a:pt x="550037" y="1854140"/>
                </a:moveTo>
                <a:cubicBezTo>
                  <a:pt x="287378" y="1447774"/>
                  <a:pt x="24720" y="1041408"/>
                  <a:pt x="12360" y="732385"/>
                </a:cubicBezTo>
                <a:cubicBezTo>
                  <a:pt x="0" y="423362"/>
                  <a:pt x="475875" y="0"/>
                  <a:pt x="475875" y="0"/>
                </a:cubicBez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round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4B6D3E48-25E1-4137-AF5A-88B46DB0F32A}"/>
              </a:ext>
            </a:extLst>
          </p:cNvPr>
          <p:cNvSpPr>
            <a:spLocks/>
          </p:cNvSpPr>
          <p:nvPr/>
        </p:nvSpPr>
        <p:spPr bwMode="auto">
          <a:xfrm>
            <a:off x="4374771" y="2559050"/>
            <a:ext cx="1344612" cy="2233613"/>
          </a:xfrm>
          <a:custGeom>
            <a:avLst/>
            <a:gdLst>
              <a:gd name="T0" fmla="*/ 0 w 1345739"/>
              <a:gd name="T1" fmla="*/ 0 h 2234239"/>
              <a:gd name="T2" fmla="*/ 1213393 w 1345739"/>
              <a:gd name="T3" fmla="*/ 1047295 h 2234239"/>
              <a:gd name="T4" fmla="*/ 787316 w 1345739"/>
              <a:gd name="T5" fmla="*/ 2233613 h 223423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45739" h="2234239">
                <a:moveTo>
                  <a:pt x="0" y="0"/>
                </a:moveTo>
                <a:cubicBezTo>
                  <a:pt x="541540" y="337608"/>
                  <a:pt x="1083081" y="675216"/>
                  <a:pt x="1214410" y="1047589"/>
                </a:cubicBezTo>
                <a:cubicBezTo>
                  <a:pt x="1345739" y="1419962"/>
                  <a:pt x="859048" y="2038009"/>
                  <a:pt x="787976" y="2234239"/>
                </a:cubicBez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round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BB9640B4-2B7D-4816-B94E-4F8056FF9B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0484" y="281043"/>
            <a:ext cx="7886700" cy="591315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Conventional Procedure Call: Detail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83F0D779-E86C-476D-80D9-388F95B666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2248" y="5519901"/>
            <a:ext cx="8639503" cy="838200"/>
          </a:xfrm>
        </p:spPr>
        <p:txBody>
          <a:bodyPr/>
          <a:lstStyle/>
          <a:p>
            <a:r>
              <a:rPr lang="en-US" altLang="en-US" sz="2000" dirty="0"/>
              <a:t>(a) Parameter passing in a local procedure call: the stack before the call to read. </a:t>
            </a:r>
          </a:p>
          <a:p>
            <a:r>
              <a:rPr lang="en-US" altLang="en-US" sz="2000" dirty="0"/>
              <a:t>(b) The stack while the called procedure is active.</a:t>
            </a:r>
          </a:p>
        </p:txBody>
      </p:sp>
      <p:pic>
        <p:nvPicPr>
          <p:cNvPr id="21507" name="Picture 5" descr="04-05">
            <a:extLst>
              <a:ext uri="{FF2B5EF4-FFF2-40B4-BE49-F238E27FC236}">
                <a16:creationId xmlns:a16="http://schemas.microsoft.com/office/drawing/2014/main" id="{3A220B1F-2046-4728-9F63-8C64619E0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60475"/>
            <a:ext cx="5908675" cy="407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AE2BC64B-E07A-45FB-A9CD-85EA7DCC0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09612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Remote Procedure Calls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46EA2B8-3AE9-463A-90C6-303386FF4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524000"/>
            <a:ext cx="2667000" cy="441960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595959"/>
            </a:solidFill>
            <a:prstDash val="sysDash"/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0483" name="TextBox 7">
            <a:extLst>
              <a:ext uri="{FF2B5EF4-FFF2-40B4-BE49-F238E27FC236}">
                <a16:creationId xmlns:a16="http://schemas.microsoft.com/office/drawing/2014/main" id="{1EE80E3B-71D8-4575-912A-F3BD46253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430713"/>
            <a:ext cx="466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P1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263E2E-B408-406C-B272-344640B7C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263" y="2144713"/>
            <a:ext cx="1295400" cy="91440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.</a:t>
            </a:r>
          </a:p>
          <a:p>
            <a:pPr>
              <a:defRPr/>
            </a:pPr>
            <a:r>
              <a:rPr lang="en-US">
                <a:latin typeface="+mn-lt"/>
                <a:ea typeface="+mn-ea"/>
              </a:rPr>
              <a:t>P3()</a:t>
            </a:r>
          </a:p>
          <a:p>
            <a:pPr>
              <a:defRPr/>
            </a:pPr>
            <a:r>
              <a:rPr lang="en-US">
                <a:latin typeface="+mn-lt"/>
                <a:ea typeface="+mn-ea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73C1B2-4FE5-465C-AE23-7DFC0FEC2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800600"/>
            <a:ext cx="1295400" cy="91440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.</a:t>
            </a:r>
          </a:p>
          <a:p>
            <a:pPr>
              <a:defRPr/>
            </a:pPr>
            <a:r>
              <a:rPr lang="en-US">
                <a:latin typeface="+mn-lt"/>
                <a:ea typeface="+mn-ea"/>
              </a:rPr>
              <a:t>P2()</a:t>
            </a:r>
          </a:p>
          <a:p>
            <a:pPr>
              <a:defRPr/>
            </a:pPr>
            <a:r>
              <a:rPr lang="en-US">
                <a:latin typeface="+mn-lt"/>
                <a:ea typeface="+mn-ea"/>
              </a:rPr>
              <a:t>.</a:t>
            </a:r>
          </a:p>
        </p:txBody>
      </p:sp>
      <p:sp>
        <p:nvSpPr>
          <p:cNvPr id="20486" name="TextBox 10">
            <a:extLst>
              <a:ext uri="{FF2B5EF4-FFF2-40B4-BE49-F238E27FC236}">
                <a16:creationId xmlns:a16="http://schemas.microsoft.com/office/drawing/2014/main" id="{41578B95-17C1-43C9-9430-AB7B2710F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8463" y="1776413"/>
            <a:ext cx="466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P2</a:t>
            </a:r>
          </a:p>
        </p:txBody>
      </p:sp>
      <p:sp>
        <p:nvSpPr>
          <p:cNvPr id="20487" name="TextBox 12">
            <a:extLst>
              <a:ext uri="{FF2B5EF4-FFF2-40B4-BE49-F238E27FC236}">
                <a16:creationId xmlns:a16="http://schemas.microsoft.com/office/drawing/2014/main" id="{B92B447F-92EE-4CB7-B79B-D938EE80B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54113"/>
            <a:ext cx="266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/>
              <a:t>Program Unit #1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3E44BB7-6D1C-42AA-91CB-31A72A257C82}"/>
              </a:ext>
            </a:extLst>
          </p:cNvPr>
          <p:cNvSpPr>
            <a:spLocks/>
          </p:cNvSpPr>
          <p:nvPr/>
        </p:nvSpPr>
        <p:spPr bwMode="auto">
          <a:xfrm>
            <a:off x="665163" y="2144713"/>
            <a:ext cx="565150" cy="3121025"/>
          </a:xfrm>
          <a:custGeom>
            <a:avLst/>
            <a:gdLst>
              <a:gd name="T0" fmla="*/ 565150 w 563943"/>
              <a:gd name="T1" fmla="*/ 3121025 h 1835598"/>
              <a:gd name="T2" fmla="*/ 7742 w 563943"/>
              <a:gd name="T3" fmla="*/ 1008817 h 1835598"/>
              <a:gd name="T4" fmla="*/ 518699 w 563943"/>
              <a:gd name="T5" fmla="*/ 0 h 183559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63943" h="1835598">
                <a:moveTo>
                  <a:pt x="563943" y="1835598"/>
                </a:moveTo>
                <a:cubicBezTo>
                  <a:pt x="289696" y="1367428"/>
                  <a:pt x="15450" y="899258"/>
                  <a:pt x="7725" y="593325"/>
                </a:cubicBezTo>
                <a:cubicBezTo>
                  <a:pt x="0" y="287392"/>
                  <a:pt x="517591" y="0"/>
                  <a:pt x="517591" y="0"/>
                </a:cubicBez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round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A4A984B-7D24-4637-AC53-CC5889658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524000"/>
            <a:ext cx="2667000" cy="441960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595959"/>
            </a:solidFill>
            <a:prstDash val="sysDash"/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F8ED60-03DD-4085-8678-D2197D517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429000"/>
            <a:ext cx="1295400" cy="91440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.</a:t>
            </a:r>
          </a:p>
          <a:p>
            <a:pPr>
              <a:defRPr/>
            </a:pPr>
            <a:r>
              <a:rPr lang="en-US">
                <a:latin typeface="+mn-lt"/>
                <a:ea typeface="+mn-ea"/>
              </a:rPr>
              <a:t>P1()</a:t>
            </a:r>
          </a:p>
          <a:p>
            <a:pPr>
              <a:defRPr/>
            </a:pPr>
            <a:r>
              <a:rPr lang="en-US">
                <a:latin typeface="+mn-lt"/>
                <a:ea typeface="+mn-ea"/>
              </a:rPr>
              <a:t>.</a:t>
            </a:r>
          </a:p>
        </p:txBody>
      </p:sp>
      <p:sp>
        <p:nvSpPr>
          <p:cNvPr id="20491" name="TextBox 19">
            <a:extLst>
              <a:ext uri="{FF2B5EF4-FFF2-40B4-BE49-F238E27FC236}">
                <a16:creationId xmlns:a16="http://schemas.microsoft.com/office/drawing/2014/main" id="{FD416B1C-41BE-46D7-AA80-E7EED4BD5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3059113"/>
            <a:ext cx="466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P3</a:t>
            </a:r>
          </a:p>
        </p:txBody>
      </p:sp>
      <p:sp>
        <p:nvSpPr>
          <p:cNvPr id="20492" name="TextBox 20">
            <a:extLst>
              <a:ext uri="{FF2B5EF4-FFF2-40B4-BE49-F238E27FC236}">
                <a16:creationId xmlns:a16="http://schemas.microsoft.com/office/drawing/2014/main" id="{704AEBB4-71AE-4FA5-82BF-03BA20D20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154113"/>
            <a:ext cx="266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/>
              <a:t>Program Unit #2</a:t>
            </a:r>
          </a:p>
        </p:txBody>
      </p:sp>
      <p:pic>
        <p:nvPicPr>
          <p:cNvPr id="20493" name="Picture 29">
            <a:extLst>
              <a:ext uri="{FF2B5EF4-FFF2-40B4-BE49-F238E27FC236}">
                <a16:creationId xmlns:a16="http://schemas.microsoft.com/office/drawing/2014/main" id="{98F88A77-76E4-466A-97A6-D1FA686E2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743200"/>
            <a:ext cx="1900238" cy="190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4" name="TextBox 31">
            <a:extLst>
              <a:ext uri="{FF2B5EF4-FFF2-40B4-BE49-F238E27FC236}">
                <a16:creationId xmlns:a16="http://schemas.microsoft.com/office/drawing/2014/main" id="{4875D8A3-A828-4470-8A63-FE395808C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560763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/>
              <a:t>Network</a:t>
            </a: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722DA38A-FFF6-4468-A2E8-67801FC2C71C}"/>
              </a:ext>
            </a:extLst>
          </p:cNvPr>
          <p:cNvSpPr>
            <a:spLocks/>
          </p:cNvSpPr>
          <p:nvPr/>
        </p:nvSpPr>
        <p:spPr bwMode="auto">
          <a:xfrm>
            <a:off x="1704975" y="2651125"/>
            <a:ext cx="4449763" cy="1020763"/>
          </a:xfrm>
          <a:custGeom>
            <a:avLst/>
            <a:gdLst>
              <a:gd name="T0" fmla="*/ 0 w 4449747"/>
              <a:gd name="T1" fmla="*/ 0 h 1019777"/>
              <a:gd name="T2" fmla="*/ 2438100 w 4449747"/>
              <a:gd name="T3" fmla="*/ 890848 h 1019777"/>
              <a:gd name="T4" fmla="*/ 4449763 w 4449747"/>
              <a:gd name="T5" fmla="*/ 779492 h 10197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449747" h="1019777">
                <a:moveTo>
                  <a:pt x="0" y="0"/>
                </a:moveTo>
                <a:cubicBezTo>
                  <a:pt x="848233" y="380098"/>
                  <a:pt x="1696466" y="760197"/>
                  <a:pt x="2438091" y="889987"/>
                </a:cubicBezTo>
                <a:cubicBezTo>
                  <a:pt x="3179716" y="1019777"/>
                  <a:pt x="3814731" y="899258"/>
                  <a:pt x="4449747" y="778739"/>
                </a:cubicBez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round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D46537B2-EE79-470C-8FF6-2596D0E3052A}"/>
              </a:ext>
            </a:extLst>
          </p:cNvPr>
          <p:cNvSpPr>
            <a:spLocks/>
          </p:cNvSpPr>
          <p:nvPr/>
        </p:nvSpPr>
        <p:spPr bwMode="auto">
          <a:xfrm>
            <a:off x="2595563" y="3949700"/>
            <a:ext cx="4662487" cy="825500"/>
          </a:xfrm>
          <a:custGeom>
            <a:avLst/>
            <a:gdLst>
              <a:gd name="T0" fmla="*/ 4171210 w 4662966"/>
              <a:gd name="T1" fmla="*/ 0 h 826637"/>
              <a:gd name="T2" fmla="*/ 4560523 w 4662966"/>
              <a:gd name="T3" fmla="*/ 231449 h 826637"/>
              <a:gd name="T4" fmla="*/ 3559432 w 4662966"/>
              <a:gd name="T5" fmla="*/ 796183 h 826637"/>
              <a:gd name="T6" fmla="*/ 1798255 w 4662966"/>
              <a:gd name="T7" fmla="*/ 55547 h 826637"/>
              <a:gd name="T8" fmla="*/ 0 w 4662966"/>
              <a:gd name="T9" fmla="*/ 823957 h 8266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662966" h="826637">
                <a:moveTo>
                  <a:pt x="4171639" y="0"/>
                </a:moveTo>
                <a:cubicBezTo>
                  <a:pt x="4417302" y="49444"/>
                  <a:pt x="4662966" y="98888"/>
                  <a:pt x="4560992" y="231768"/>
                </a:cubicBezTo>
                <a:cubicBezTo>
                  <a:pt x="4459018" y="364648"/>
                  <a:pt x="4020223" y="826637"/>
                  <a:pt x="3559798" y="797280"/>
                </a:cubicBezTo>
                <a:cubicBezTo>
                  <a:pt x="3099373" y="767923"/>
                  <a:pt x="2391740" y="50989"/>
                  <a:pt x="1798440" y="55624"/>
                </a:cubicBezTo>
                <a:cubicBezTo>
                  <a:pt x="1205140" y="60259"/>
                  <a:pt x="0" y="825092"/>
                  <a:pt x="0" y="825092"/>
                </a:cubicBez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round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A030AB7B-1760-4B95-9EEC-645611FDB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881063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Client and Server</a:t>
            </a:r>
          </a:p>
        </p:txBody>
      </p:sp>
      <p:pic>
        <p:nvPicPr>
          <p:cNvPr id="23555" name="Picture 4" descr="04-06">
            <a:extLst>
              <a:ext uri="{FF2B5EF4-FFF2-40B4-BE49-F238E27FC236}">
                <a16:creationId xmlns:a16="http://schemas.microsoft.com/office/drawing/2014/main" id="{F5A9B5A7-3A26-4B9D-8B93-1BC3C231C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1430338"/>
            <a:ext cx="7645400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BA4B5C-482D-4EBE-9641-CE55B85C950A}"/>
              </a:ext>
            </a:extLst>
          </p:cNvPr>
          <p:cNvSpPr/>
          <p:nvPr/>
        </p:nvSpPr>
        <p:spPr>
          <a:xfrm>
            <a:off x="269547" y="5795524"/>
            <a:ext cx="87446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NimbusSanL-Regu"/>
              </a:rPr>
              <a:t>Communication between caller &amp; </a:t>
            </a:r>
            <a:r>
              <a:rPr lang="en-US" dirty="0" err="1">
                <a:latin typeface="NimbusSanL-Regu"/>
              </a:rPr>
              <a:t>callee</a:t>
            </a:r>
            <a:r>
              <a:rPr lang="en-US" dirty="0">
                <a:latin typeface="NimbusSanL-Regu"/>
              </a:rPr>
              <a:t> can be hidden by using procedure-call mechanism.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C08C3F04-4CC1-480F-8377-A9C146C6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How RPC Works</a:t>
            </a:r>
          </a:p>
        </p:txBody>
      </p:sp>
      <p:pic>
        <p:nvPicPr>
          <p:cNvPr id="33794" name="Picture 3">
            <a:extLst>
              <a:ext uri="{FF2B5EF4-FFF2-40B4-BE49-F238E27FC236}">
                <a16:creationId xmlns:a16="http://schemas.microsoft.com/office/drawing/2014/main" id="{838C4BA6-F4DE-47FF-A587-7498C485CF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019300"/>
            <a:ext cx="439737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TextBox 4">
            <a:extLst>
              <a:ext uri="{FF2B5EF4-FFF2-40B4-BE49-F238E27FC236}">
                <a16:creationId xmlns:a16="http://schemas.microsoft.com/office/drawing/2014/main" id="{B65C1E02-DC3A-4D2C-9D95-CE1D508B0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986" y="6184899"/>
            <a:ext cx="6454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 dirty="0"/>
              <a:t>Source: https://docs.microsoft.com/en-us/windows/desktop/Rpc/how-rpc-works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0DCFB0CB-4C21-451A-A7C9-BF8E330C8F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4870" y="156318"/>
            <a:ext cx="7886700" cy="642468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Detail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1BC042-DF1D-401B-AAC2-D77E5A34B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7732"/>
            <a:ext cx="9144000" cy="43323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3ABFDF-6418-4DAA-B0B8-2A10DA2C7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66687"/>
            <a:ext cx="9144000" cy="154557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BBD4E-D185-4D0A-BF28-08BA1D25E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0239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RPC: Parameter passing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882F0-C3B5-41F0-A254-463A4B417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924" y="1502461"/>
            <a:ext cx="8292661" cy="471966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There’s more than just wrapping parameters into a message</a:t>
            </a:r>
          </a:p>
          <a:p>
            <a:pPr lvl="1"/>
            <a:r>
              <a:rPr lang="en-US" dirty="0"/>
              <a:t>Client and server machines may have different data representations (think of byte ordering)</a:t>
            </a:r>
          </a:p>
          <a:p>
            <a:pPr lvl="1"/>
            <a:r>
              <a:rPr lang="en-US" dirty="0"/>
              <a:t>Wrapping a parameter means transforming a value into a sequence of bytes</a:t>
            </a:r>
          </a:p>
          <a:p>
            <a:pPr lvl="1"/>
            <a:r>
              <a:rPr lang="en-US" dirty="0"/>
              <a:t>Client and server have to agree on the same encoding</a:t>
            </a:r>
          </a:p>
          <a:p>
            <a:pPr lvl="1"/>
            <a:r>
              <a:rPr lang="en-US" dirty="0"/>
              <a:t>How are basic data values represented (integers, floats, characters)</a:t>
            </a:r>
          </a:p>
          <a:p>
            <a:pPr lvl="1"/>
            <a:r>
              <a:rPr lang="en-US" dirty="0"/>
              <a:t>How are complex data values represented (arrays, unions)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000000"/>
                </a:solidFill>
                <a:latin typeface="NimbusSanL-Regu"/>
              </a:rPr>
              <a:t>Client and server need to </a:t>
            </a:r>
            <a:r>
              <a:rPr lang="en-US" dirty="0">
                <a:solidFill>
                  <a:srgbClr val="0000FB"/>
                </a:solidFill>
                <a:latin typeface="NimbusSanL-Regu"/>
              </a:rPr>
              <a:t>properly interpret messages</a:t>
            </a:r>
            <a:r>
              <a:rPr lang="en-US" dirty="0">
                <a:solidFill>
                  <a:srgbClr val="000000"/>
                </a:solidFill>
                <a:latin typeface="NimbusSanL-Regu"/>
              </a:rPr>
              <a:t>, transforming them into machine-dependent representations.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17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2A5A-8ED1-E14F-B814-6D676B586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0BE3A-9706-D541-8F84-BE82B6F9A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705" y="1825625"/>
            <a:ext cx="8499423" cy="4351338"/>
          </a:xfrm>
        </p:spPr>
        <p:txBody>
          <a:bodyPr/>
          <a:lstStyle/>
          <a:p>
            <a:r>
              <a:rPr lang="en-US" dirty="0"/>
              <a:t>Please give an example of synchronous communication and asynchronous communication related to computing system respectively, and briefly explain why it is synchronous or asynchronous.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B5BAF0-F1A1-EB41-98E7-09C7A1900217}"/>
              </a:ext>
            </a:extLst>
          </p:cNvPr>
          <p:cNvSpPr/>
          <p:nvPr/>
        </p:nvSpPr>
        <p:spPr>
          <a:xfrm>
            <a:off x="846944" y="4001294"/>
            <a:ext cx="7562537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/>
              <a:t>Please go to </a:t>
            </a:r>
          </a:p>
          <a:p>
            <a:r>
              <a:rPr lang="en-US" sz="5400" dirty="0"/>
              <a:t>	</a:t>
            </a:r>
            <a:r>
              <a:rPr lang="en-US" sz="5400" dirty="0" err="1">
                <a:solidFill>
                  <a:srgbClr val="0070C0"/>
                </a:solidFill>
              </a:rPr>
              <a:t>PollEv.com</a:t>
            </a:r>
            <a:r>
              <a:rPr lang="en-US" sz="5400" dirty="0">
                <a:solidFill>
                  <a:srgbClr val="0070C0"/>
                </a:solidFill>
              </a:rPr>
              <a:t>/cisgvsu429</a:t>
            </a:r>
          </a:p>
        </p:txBody>
      </p:sp>
    </p:spTree>
    <p:extLst>
      <p:ext uri="{BB962C8B-B14F-4D97-AF65-F5344CB8AC3E}">
        <p14:creationId xmlns:p14="http://schemas.microsoft.com/office/powerpoint/2010/main" val="3920548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2A5A-8ED1-E14F-B814-6D676B586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0BE3A-9706-D541-8F84-BE82B6F9A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705" y="1825625"/>
            <a:ext cx="8499423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Please give an example of synchronous communication and asynchronous communication related to computing system respectively, and briefly explain why it is synchronous or asynchronous.</a:t>
            </a:r>
          </a:p>
          <a:p>
            <a:pPr lvl="0"/>
            <a:endParaRPr lang="en-US" dirty="0"/>
          </a:p>
          <a:p>
            <a:r>
              <a:rPr lang="en-US" dirty="0"/>
              <a:t>Synchronous: real-time; sender waiting for receiver’s reply during the communication</a:t>
            </a:r>
          </a:p>
          <a:p>
            <a:pPr lvl="1"/>
            <a:r>
              <a:rPr lang="en-US" dirty="0"/>
              <a:t>Video conferencing</a:t>
            </a:r>
          </a:p>
          <a:p>
            <a:pPr lvl="1"/>
            <a:r>
              <a:rPr lang="en-US" dirty="0" err="1"/>
              <a:t>Youtube</a:t>
            </a:r>
            <a:endParaRPr lang="en-US" dirty="0"/>
          </a:p>
          <a:p>
            <a:endParaRPr lang="en-US" dirty="0"/>
          </a:p>
          <a:p>
            <a:pPr lvl="0"/>
            <a:r>
              <a:rPr lang="en-US" dirty="0"/>
              <a:t>Asynchronous: no need for real-time</a:t>
            </a:r>
          </a:p>
          <a:p>
            <a:pPr lvl="1"/>
            <a:r>
              <a:rPr lang="en-US" dirty="0"/>
              <a:t>Email</a:t>
            </a:r>
          </a:p>
          <a:p>
            <a:pPr lvl="1"/>
            <a:r>
              <a:rPr lang="en-US" dirty="0"/>
              <a:t>Posting in Facebook</a:t>
            </a:r>
          </a:p>
          <a:p>
            <a:pPr lvl="0"/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519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17962-09AB-B346-BCC5-20CA2E952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899EB-CA77-194D-B11D-1C0CA759D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734" y="1825625"/>
            <a:ext cx="8349522" cy="4351338"/>
          </a:xfrm>
        </p:spPr>
        <p:txBody>
          <a:bodyPr/>
          <a:lstStyle/>
          <a:p>
            <a:r>
              <a:rPr lang="en-US" dirty="0"/>
              <a:t>Please give an example of synchronous communication and asynchronous communication in your daily life (non IT or computing field) respectively, and briefly explain why it is synchronous or asynchronous.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Please go to </a:t>
            </a:r>
          </a:p>
          <a:p>
            <a:pPr marL="0" indent="0">
              <a:buNone/>
            </a:pPr>
            <a:r>
              <a:rPr lang="en-US" sz="5400" dirty="0">
                <a:solidFill>
                  <a:srgbClr val="0070C0"/>
                </a:solidFill>
              </a:rPr>
              <a:t>	</a:t>
            </a:r>
            <a:r>
              <a:rPr lang="en-US" sz="5400" dirty="0" err="1">
                <a:solidFill>
                  <a:srgbClr val="0070C0"/>
                </a:solidFill>
              </a:rPr>
              <a:t>PollEv.com</a:t>
            </a:r>
            <a:r>
              <a:rPr lang="en-US" sz="5400" dirty="0">
                <a:solidFill>
                  <a:srgbClr val="0070C0"/>
                </a:solidFill>
              </a:rPr>
              <a:t>/cisgvsu429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554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17962-09AB-B346-BCC5-20CA2E952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899EB-CA77-194D-B11D-1C0CA759D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734" y="1825625"/>
            <a:ext cx="8349522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Please give an example of synchronous communication and asynchronous communication in your daily life (non IT or computing field) respectively, and briefly explain why it is synchronous or asynchronous.</a:t>
            </a:r>
          </a:p>
          <a:p>
            <a:endParaRPr lang="en-US" dirty="0"/>
          </a:p>
          <a:p>
            <a:pPr lvl="0"/>
            <a:r>
              <a:rPr lang="en-US" dirty="0"/>
              <a:t>Synchronous: real-time</a:t>
            </a:r>
            <a:endParaRPr lang="en-US" sz="2400" dirty="0"/>
          </a:p>
          <a:p>
            <a:pPr lvl="1"/>
            <a:r>
              <a:rPr lang="en-US" dirty="0"/>
              <a:t>Phone call</a:t>
            </a:r>
            <a:endParaRPr lang="en-US" sz="2000" dirty="0"/>
          </a:p>
          <a:p>
            <a:pPr lvl="1"/>
            <a:r>
              <a:rPr lang="en-US" dirty="0"/>
              <a:t>Face-to-face communication</a:t>
            </a:r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pPr lvl="0"/>
            <a:r>
              <a:rPr lang="en-US" dirty="0"/>
              <a:t>Asynchronous: no need for real-time</a:t>
            </a:r>
          </a:p>
          <a:p>
            <a:pPr lvl="1"/>
            <a:r>
              <a:rPr lang="en-US" dirty="0"/>
              <a:t>Texting</a:t>
            </a:r>
            <a:endParaRPr lang="en-US" sz="2000" dirty="0"/>
          </a:p>
          <a:p>
            <a:pPr lvl="1"/>
            <a:r>
              <a:rPr lang="en-US" dirty="0"/>
              <a:t>Mailing</a:t>
            </a:r>
            <a:endParaRPr lang="en-US" sz="4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528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7B296-2E91-4126-AE38-571E47E9C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55" y="365127"/>
            <a:ext cx="8986345" cy="780502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Asynchronous vs. Synchronous Communication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F0196-2F91-4CA6-A00B-0F9A7637D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538" y="1825625"/>
            <a:ext cx="7767146" cy="2893520"/>
          </a:xfrm>
        </p:spPr>
        <p:txBody>
          <a:bodyPr>
            <a:normAutofit/>
          </a:bodyPr>
          <a:lstStyle/>
          <a:p>
            <a:r>
              <a:rPr lang="en-US" dirty="0"/>
              <a:t>Asynchronous communication</a:t>
            </a:r>
          </a:p>
          <a:p>
            <a:pPr lvl="1"/>
            <a:r>
              <a:rPr lang="en-US" dirty="0"/>
              <a:t>does not wait around for a reply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Synchronous communication</a:t>
            </a:r>
          </a:p>
          <a:p>
            <a:pPr lvl="1"/>
            <a:r>
              <a:rPr lang="en-US" dirty="0"/>
              <a:t>requires parties or components to work simultaneously in real time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F441BD-1D54-4BB1-BD25-EC7F8A48A482}"/>
              </a:ext>
            </a:extLst>
          </p:cNvPr>
          <p:cNvSpPr txBox="1"/>
          <p:nvPr/>
        </p:nvSpPr>
        <p:spPr>
          <a:xfrm>
            <a:off x="1086835" y="5292544"/>
            <a:ext cx="6989379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Quick Discussion: </a:t>
            </a:r>
          </a:p>
          <a:p>
            <a:pPr algn="ctr"/>
            <a:r>
              <a:rPr lang="en-US" sz="2400" b="1" dirty="0"/>
              <a:t>Based on what we learned about RPC so far, is it asynchronous or synchronous communication? Why?</a:t>
            </a:r>
          </a:p>
        </p:txBody>
      </p:sp>
    </p:spTree>
    <p:extLst>
      <p:ext uri="{BB962C8B-B14F-4D97-AF65-F5344CB8AC3E}">
        <p14:creationId xmlns:p14="http://schemas.microsoft.com/office/powerpoint/2010/main" val="78336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B0B28-D0B6-4C83-99F9-BFF0298D0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Asynchronous RPCs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859D5-90EE-4060-B5BA-FB3957595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to get rid of the strict request-reply behavior, but let the client continue without waiting for an answer from the server.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03E32A-A76B-4622-83C7-5B3AAF890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381" y="3335717"/>
            <a:ext cx="6095238" cy="26190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FC9E04-F2B9-4DD9-8475-3B79F612ED47}"/>
              </a:ext>
            </a:extLst>
          </p:cNvPr>
          <p:cNvSpPr txBox="1"/>
          <p:nvPr/>
        </p:nvSpPr>
        <p:spPr>
          <a:xfrm>
            <a:off x="3053255" y="6292819"/>
            <a:ext cx="3037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Call Back</a:t>
            </a:r>
          </a:p>
        </p:txBody>
      </p:sp>
    </p:spTree>
    <p:extLst>
      <p:ext uri="{BB962C8B-B14F-4D97-AF65-F5344CB8AC3E}">
        <p14:creationId xmlns:p14="http://schemas.microsoft.com/office/powerpoint/2010/main" val="3877770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D2527-440B-454C-9662-E6CB20B3F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Sending out multiple RPCs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7E88D-A001-413A-801C-26EDEAD51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Sending an RPC request to a group of servers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A37C8-313D-4BB6-B1F8-2B3EE29A7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143" y="2588195"/>
            <a:ext cx="5685714" cy="3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936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2F6C2-DD65-41D7-8D91-A5B81E39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6968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Client-to-server binding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CF636-DCC5-44B0-9E6B-94DD62F38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6196"/>
            <a:ext cx="7886700" cy="700258"/>
          </a:xfrm>
        </p:spPr>
        <p:txBody>
          <a:bodyPr/>
          <a:lstStyle/>
          <a:p>
            <a:r>
              <a:rPr lang="en-US" dirty="0"/>
              <a:t>Client must locate server machine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122A2E-D87E-49E4-A75B-7CD6C1EAB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01217"/>
            <a:ext cx="9144000" cy="37004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97372B8-2442-40B4-9E19-18742B1A1638}"/>
              </a:ext>
            </a:extLst>
          </p:cNvPr>
          <p:cNvSpPr/>
          <p:nvPr/>
        </p:nvSpPr>
        <p:spPr>
          <a:xfrm>
            <a:off x="2497714" y="6397438"/>
            <a:ext cx="4148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Distributed Computing Environment (DCE)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591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3BA55-84F8-48FB-8B1F-02C4724A8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8560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Summary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0F1C8-30CD-4246-AE85-638E62DF7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2" y="1520824"/>
            <a:ext cx="8524876" cy="458568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Client/Server computing is </a:t>
            </a:r>
            <a:r>
              <a:rPr lang="en-US" dirty="0">
                <a:solidFill>
                  <a:srgbClr val="FF0000"/>
                </a:solidFill>
              </a:rPr>
              <a:t>generally</a:t>
            </a:r>
            <a:r>
              <a:rPr lang="en-US" dirty="0"/>
              <a:t> based on a model of synchronous communication (</a:t>
            </a:r>
            <a:r>
              <a:rPr lang="en-US" dirty="0">
                <a:solidFill>
                  <a:srgbClr val="0070C0"/>
                </a:solidFill>
              </a:rPr>
              <a:t>except </a:t>
            </a:r>
            <a:r>
              <a:rPr lang="en-US" b="1" i="1" dirty="0">
                <a:solidFill>
                  <a:srgbClr val="0070C0"/>
                </a:solidFill>
              </a:rPr>
              <a:t>call back </a:t>
            </a:r>
            <a:r>
              <a:rPr lang="en-US" dirty="0">
                <a:solidFill>
                  <a:srgbClr val="0070C0"/>
                </a:solidFill>
              </a:rPr>
              <a:t>for asynchronous RPC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Client and server have to be active at time of communication</a:t>
            </a:r>
          </a:p>
          <a:p>
            <a:pPr lvl="1"/>
            <a:r>
              <a:rPr lang="en-US" dirty="0"/>
              <a:t>Client issues request and blocks until it receives reply</a:t>
            </a:r>
          </a:p>
          <a:p>
            <a:pPr lvl="1"/>
            <a:r>
              <a:rPr lang="en-US" dirty="0"/>
              <a:t>Server essentially waits only for incoming requests, and subsequently processes them </a:t>
            </a:r>
          </a:p>
          <a:p>
            <a:pPr lvl="1"/>
            <a:endParaRPr lang="en-US" dirty="0"/>
          </a:p>
          <a:p>
            <a:r>
              <a:rPr lang="en-US" dirty="0"/>
              <a:t>Drawbacks: synchronous communication</a:t>
            </a:r>
          </a:p>
          <a:p>
            <a:pPr lvl="1"/>
            <a:r>
              <a:rPr lang="en-US" dirty="0"/>
              <a:t>Client cannot do any other work while waiting for reply</a:t>
            </a:r>
          </a:p>
          <a:p>
            <a:pPr lvl="1"/>
            <a:r>
              <a:rPr lang="en-US" dirty="0"/>
              <a:t>Failures have to be handled immediately: the client is waiting</a:t>
            </a:r>
          </a:p>
          <a:p>
            <a:pPr lvl="1"/>
            <a:r>
              <a:rPr lang="en-US" dirty="0"/>
              <a:t>The model may simply not be appropriate (mail, news)</a:t>
            </a:r>
          </a:p>
        </p:txBody>
      </p:sp>
    </p:spTree>
    <p:extLst>
      <p:ext uri="{BB962C8B-B14F-4D97-AF65-F5344CB8AC3E}">
        <p14:creationId xmlns:p14="http://schemas.microsoft.com/office/powerpoint/2010/main" val="2800414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48767-5391-46FB-B07E-34FD2090B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AEF9D-9C5B-4FB8-8342-F8425D7DE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Could you give examples in your daily life that are analogous/similar to the idea of local procedure call and RPC? </a:t>
            </a:r>
          </a:p>
          <a:p>
            <a:endParaRPr lang="en-US" dirty="0"/>
          </a:p>
          <a:p>
            <a:r>
              <a:rPr lang="en-US" dirty="0"/>
              <a:t>Please go to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5400" dirty="0" err="1">
                <a:solidFill>
                  <a:srgbClr val="0070C0"/>
                </a:solidFill>
              </a:rPr>
              <a:t>PollEv.com</a:t>
            </a:r>
            <a:r>
              <a:rPr lang="en-US" sz="5400" dirty="0">
                <a:solidFill>
                  <a:srgbClr val="0070C0"/>
                </a:solidFill>
              </a:rPr>
              <a:t>/cisgvsu429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72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48767-5391-46FB-B07E-34FD2090B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AEF9D-9C5B-4FB8-8342-F8425D7DE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Could you give examples in your daily life that are analogous/similar to the idea of local procedure call and RPC? </a:t>
            </a:r>
          </a:p>
          <a:p>
            <a:endParaRPr lang="en-US" dirty="0"/>
          </a:p>
          <a:p>
            <a:r>
              <a:rPr lang="en-US" dirty="0"/>
              <a:t>My example:</a:t>
            </a:r>
          </a:p>
          <a:p>
            <a:pPr lvl="1"/>
            <a:r>
              <a:rPr lang="en-US" dirty="0"/>
              <a:t>Local procedure call: press the “start” button of a dish washer at home</a:t>
            </a:r>
          </a:p>
          <a:p>
            <a:pPr lvl="1"/>
            <a:r>
              <a:rPr lang="en-US" dirty="0"/>
              <a:t>RPC: If your dish washer is intelligently connected to Internet, then you operate the APP on your phone to remotely start the dish washer.</a:t>
            </a:r>
          </a:p>
        </p:txBody>
      </p:sp>
    </p:spTree>
    <p:extLst>
      <p:ext uri="{BB962C8B-B14F-4D97-AF65-F5344CB8AC3E}">
        <p14:creationId xmlns:p14="http://schemas.microsoft.com/office/powerpoint/2010/main" val="93911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</TotalTime>
  <Words>961</Words>
  <Application>Microsoft Office PowerPoint</Application>
  <PresentationFormat>On-screen Show (4:3)</PresentationFormat>
  <Paragraphs>144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NimbusSanL-Regu</vt:lpstr>
      <vt:lpstr>Arial</vt:lpstr>
      <vt:lpstr>Calibri</vt:lpstr>
      <vt:lpstr>Calibri Light</vt:lpstr>
      <vt:lpstr>Office Theme</vt:lpstr>
      <vt:lpstr>Remote Procedure Call (RPC)</vt:lpstr>
      <vt:lpstr>RPC: In a nutshell…</vt:lpstr>
      <vt:lpstr>Conventional Procedure Calls</vt:lpstr>
      <vt:lpstr>Conventional Procedure Call: Detail</vt:lpstr>
      <vt:lpstr>Remote Procedure Calls</vt:lpstr>
      <vt:lpstr>Client and Server</vt:lpstr>
      <vt:lpstr>How RPC Works</vt:lpstr>
      <vt:lpstr>Detail</vt:lpstr>
      <vt:lpstr>RPC: Parameter passing</vt:lpstr>
      <vt:lpstr>Discussion</vt:lpstr>
      <vt:lpstr>Discussion</vt:lpstr>
      <vt:lpstr>Discussion</vt:lpstr>
      <vt:lpstr>Discussion</vt:lpstr>
      <vt:lpstr>Asynchronous vs. Synchronous Communication</vt:lpstr>
      <vt:lpstr>Asynchronous RPCs</vt:lpstr>
      <vt:lpstr>Sending out multiple RPCs</vt:lpstr>
      <vt:lpstr>Client-to-server binding</vt:lpstr>
      <vt:lpstr>Summary </vt:lpstr>
      <vt:lpstr>Discussion</vt:lpstr>
      <vt:lpstr>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Remote Procedure Call (RPC)</dc:title>
  <dc:creator>Xiang Cao</dc:creator>
  <cp:lastModifiedBy>Xiang Cao</cp:lastModifiedBy>
  <cp:revision>44</cp:revision>
  <dcterms:created xsi:type="dcterms:W3CDTF">2019-01-29T01:22:57Z</dcterms:created>
  <dcterms:modified xsi:type="dcterms:W3CDTF">2024-09-21T07:05:22Z</dcterms:modified>
</cp:coreProperties>
</file>