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8" r:id="rId3"/>
    <p:sldId id="927" r:id="rId4"/>
    <p:sldId id="261" r:id="rId5"/>
    <p:sldId id="259" r:id="rId6"/>
    <p:sldId id="364" r:id="rId7"/>
    <p:sldId id="352" r:id="rId8"/>
    <p:sldId id="260" r:id="rId9"/>
    <p:sldId id="374" r:id="rId10"/>
    <p:sldId id="375" r:id="rId11"/>
    <p:sldId id="925" r:id="rId12"/>
    <p:sldId id="357" r:id="rId13"/>
    <p:sldId id="358" r:id="rId14"/>
    <p:sldId id="359" r:id="rId15"/>
    <p:sldId id="360" r:id="rId16"/>
    <p:sldId id="262" r:id="rId17"/>
    <p:sldId id="928" r:id="rId18"/>
    <p:sldId id="926"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25" autoAdjust="0"/>
    <p:restoredTop sz="82240" autoAdjust="0"/>
  </p:normalViewPr>
  <p:slideViewPr>
    <p:cSldViewPr snapToGrid="0">
      <p:cViewPr varScale="1">
        <p:scale>
          <a:sx n="87" d="100"/>
          <a:sy n="87" d="100"/>
        </p:scale>
        <p:origin x="256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B200C-7119-471C-BB0C-63E9793AFAF3}" type="datetimeFigureOut">
              <a:rPr lang="en-US" smtClean="0"/>
              <a:t>12/5/22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71913-5BC2-4615-B742-5454F4536CAE}" type="slidenum">
              <a:rPr lang="en-US" smtClean="0"/>
              <a:t>‹#›</a:t>
            </a:fld>
            <a:endParaRPr lang="en-US"/>
          </a:p>
        </p:txBody>
      </p:sp>
    </p:spTree>
    <p:extLst>
      <p:ext uri="{BB962C8B-B14F-4D97-AF65-F5344CB8AC3E}">
        <p14:creationId xmlns:p14="http://schemas.microsoft.com/office/powerpoint/2010/main" val="357691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3F366F-555C-4BAA-B341-32B8211F8E78}" type="slidenum">
              <a:rPr lang="en-US" smtClean="0"/>
              <a:t>2</a:t>
            </a:fld>
            <a:endParaRPr lang="en-US"/>
          </a:p>
        </p:txBody>
      </p:sp>
    </p:spTree>
    <p:extLst>
      <p:ext uri="{BB962C8B-B14F-4D97-AF65-F5344CB8AC3E}">
        <p14:creationId xmlns:p14="http://schemas.microsoft.com/office/powerpoint/2010/main" val="2401055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Iot</a:t>
            </a:r>
            <a:r>
              <a:rPr lang="en-US" dirty="0"/>
              <a:t> is</a:t>
            </a:r>
            <a:r>
              <a:rPr lang="en-US" baseline="0" dirty="0"/>
              <a:t> generating unprecedented volume and variety of data, by the time it makes to the cloud for analysis, the opportunity to act upon the data might be gone.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Also, Loads of useless data are been pushed to the cloud. Fog</a:t>
            </a:r>
            <a:r>
              <a:rPr lang="en-US" sz="1200" b="0" i="0" kern="1200" baseline="0" dirty="0">
                <a:solidFill>
                  <a:schemeClr val="tx1"/>
                </a:solidFill>
                <a:effectLst/>
                <a:latin typeface="+mn-lt"/>
                <a:ea typeface="+mn-ea"/>
                <a:cs typeface="+mn-cs"/>
              </a:rPr>
              <a:t> filters out and sends useful data to clouds.</a:t>
            </a:r>
            <a:endParaRPr lang="en-US" sz="1200" b="0" i="0" kern="1200" dirty="0">
              <a:solidFill>
                <a:schemeClr val="tx1"/>
              </a:solidFill>
              <a:effectLst/>
              <a:latin typeface="+mn-lt"/>
              <a:ea typeface="+mn-ea"/>
              <a:cs typeface="+mn-cs"/>
            </a:endParaRPr>
          </a:p>
          <a:p>
            <a:endParaRPr lang="en-US" dirty="0"/>
          </a:p>
          <a:p>
            <a:r>
              <a:rPr lang="en-US" dirty="0"/>
              <a:t>Anyway,</a:t>
            </a:r>
            <a:r>
              <a:rPr lang="en-US" baseline="0" dirty="0"/>
              <a:t> th</a:t>
            </a:r>
            <a:r>
              <a:rPr lang="en-US" dirty="0"/>
              <a:t>ese</a:t>
            </a:r>
            <a:r>
              <a:rPr lang="en-US" baseline="0" dirty="0"/>
              <a:t> are a few </a:t>
            </a:r>
            <a:r>
              <a:rPr lang="en-US" dirty="0"/>
              <a:t>examples, we see key attributes</a:t>
            </a:r>
            <a:r>
              <a:rPr lang="en-US" baseline="0" dirty="0"/>
              <a:t> of fog computing later in the slides. </a:t>
            </a:r>
          </a:p>
          <a:p>
            <a:endParaRPr lang="en-US" baseline="0" dirty="0"/>
          </a:p>
          <a:p>
            <a:r>
              <a:rPr lang="en-US" baseline="0" dirty="0"/>
              <a:t>End systems might be sensors, actuators could be stolen.</a:t>
            </a:r>
            <a:endParaRPr lang="en-US" dirty="0"/>
          </a:p>
        </p:txBody>
      </p:sp>
      <p:sp>
        <p:nvSpPr>
          <p:cNvPr id="4" name="Slide Number Placeholder 3"/>
          <p:cNvSpPr>
            <a:spLocks noGrp="1"/>
          </p:cNvSpPr>
          <p:nvPr>
            <p:ph type="sldNum" sz="quarter" idx="10"/>
          </p:nvPr>
        </p:nvSpPr>
        <p:spPr/>
        <p:txBody>
          <a:bodyPr/>
          <a:lstStyle/>
          <a:p>
            <a:fld id="{AB3F366F-555C-4BAA-B341-32B8211F8E78}" type="slidenum">
              <a:rPr lang="en-US" smtClean="0"/>
              <a:t>4</a:t>
            </a:fld>
            <a:endParaRPr lang="en-US"/>
          </a:p>
        </p:txBody>
      </p:sp>
    </p:spTree>
    <p:extLst>
      <p:ext uri="{BB962C8B-B14F-4D97-AF65-F5344CB8AC3E}">
        <p14:creationId xmlns:p14="http://schemas.microsoft.com/office/powerpoint/2010/main" val="3489035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3F366F-555C-4BAA-B341-32B8211F8E78}" type="slidenum">
              <a:rPr lang="en-US" smtClean="0"/>
              <a:t>5</a:t>
            </a:fld>
            <a:endParaRPr lang="en-US"/>
          </a:p>
        </p:txBody>
      </p:sp>
    </p:spTree>
    <p:extLst>
      <p:ext uri="{BB962C8B-B14F-4D97-AF65-F5344CB8AC3E}">
        <p14:creationId xmlns:p14="http://schemas.microsoft.com/office/powerpoint/2010/main" val="1645073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smart phone is</a:t>
            </a:r>
            <a:r>
              <a:rPr lang="en-US" altLang="zh-CN" baseline="0" dirty="0"/>
              <a:t> </a:t>
            </a:r>
            <a:r>
              <a:rPr lang="en-US" altLang="zh-CN" dirty="0"/>
              <a:t>the edge between body things and cloud, a gateway in a smart</a:t>
            </a:r>
            <a:r>
              <a:rPr lang="en-US" altLang="zh-CN" baseline="0" dirty="0"/>
              <a:t> </a:t>
            </a:r>
            <a:r>
              <a:rPr lang="en-US" altLang="zh-CN" dirty="0"/>
              <a:t>home is the edge between home things and cloud, a micro data</a:t>
            </a:r>
          </a:p>
          <a:p>
            <a:r>
              <a:rPr lang="en-US" altLang="zh-CN" dirty="0"/>
              <a:t>center and a cloudlet is the edge between a mobile device</a:t>
            </a:r>
            <a:r>
              <a:rPr lang="en-US" altLang="zh-CN" baseline="0" dirty="0"/>
              <a:t> </a:t>
            </a:r>
            <a:r>
              <a:rPr lang="en-US" altLang="zh-CN" dirty="0"/>
              <a:t>and cloud</a:t>
            </a:r>
            <a:endParaRPr lang="zh-CN" altLang="en-US" dirty="0"/>
          </a:p>
        </p:txBody>
      </p:sp>
      <p:sp>
        <p:nvSpPr>
          <p:cNvPr id="4" name="灯片编号占位符 3"/>
          <p:cNvSpPr>
            <a:spLocks noGrp="1"/>
          </p:cNvSpPr>
          <p:nvPr>
            <p:ph type="sldNum" sz="quarter" idx="10"/>
          </p:nvPr>
        </p:nvSpPr>
        <p:spPr/>
        <p:txBody>
          <a:bodyPr/>
          <a:lstStyle/>
          <a:p>
            <a:fld id="{00F6C0C9-DBBA-48F8-BF34-889F7B93E183}" type="slidenum">
              <a:rPr lang="zh-CN" altLang="en-US" smtClean="0"/>
              <a:t>8</a:t>
            </a:fld>
            <a:endParaRPr lang="zh-CN" altLang="en-US"/>
          </a:p>
        </p:txBody>
      </p:sp>
    </p:spTree>
    <p:extLst>
      <p:ext uri="{BB962C8B-B14F-4D97-AF65-F5344CB8AC3E}">
        <p14:creationId xmlns:p14="http://schemas.microsoft.com/office/powerpoint/2010/main" val="97064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These attributes do not apply uniformly to every use case.</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B3F366F-555C-4BAA-B341-32B8211F8E78}" type="slidenum">
              <a:rPr lang="en-US" smtClean="0"/>
              <a:t>16</a:t>
            </a:fld>
            <a:endParaRPr lang="en-US"/>
          </a:p>
        </p:txBody>
      </p:sp>
    </p:spTree>
    <p:extLst>
      <p:ext uri="{BB962C8B-B14F-4D97-AF65-F5344CB8AC3E}">
        <p14:creationId xmlns:p14="http://schemas.microsoft.com/office/powerpoint/2010/main" val="322450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B3F366F-555C-4BAA-B341-32B8211F8E78}" type="slidenum">
              <a:rPr lang="en-US" smtClean="0"/>
              <a:t>18</a:t>
            </a:fld>
            <a:endParaRPr lang="en-US"/>
          </a:p>
        </p:txBody>
      </p:sp>
    </p:spTree>
    <p:extLst>
      <p:ext uri="{BB962C8B-B14F-4D97-AF65-F5344CB8AC3E}">
        <p14:creationId xmlns:p14="http://schemas.microsoft.com/office/powerpoint/2010/main" val="623557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82FA9E-2C17-4746-AE36-306D7B61DB5C}" type="datetimeFigureOut">
              <a:rPr lang="en-US" smtClean="0"/>
              <a:t>12/5/22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126876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2FA9E-2C17-4746-AE36-306D7B61DB5C}" type="datetimeFigureOut">
              <a:rPr lang="en-US" smtClean="0"/>
              <a:t>12/5/22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108104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2FA9E-2C17-4746-AE36-306D7B61DB5C}" type="datetimeFigureOut">
              <a:rPr lang="en-US" smtClean="0"/>
              <a:t>12/5/22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387951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82FA9E-2C17-4746-AE36-306D7B61DB5C}" type="datetimeFigureOut">
              <a:rPr lang="en-US" smtClean="0"/>
              <a:t>12/5/22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2160339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82FA9E-2C17-4746-AE36-306D7B61DB5C}" type="datetimeFigureOut">
              <a:rPr lang="en-US" smtClean="0"/>
              <a:t>12/5/22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3032055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82FA9E-2C17-4746-AE36-306D7B61DB5C}" type="datetimeFigureOut">
              <a:rPr lang="en-US" smtClean="0"/>
              <a:t>12/5/22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689008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82FA9E-2C17-4746-AE36-306D7B61DB5C}" type="datetimeFigureOut">
              <a:rPr lang="en-US" smtClean="0"/>
              <a:t>12/5/22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290429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2FA9E-2C17-4746-AE36-306D7B61DB5C}" type="datetimeFigureOut">
              <a:rPr lang="en-US" smtClean="0"/>
              <a:t>12/5/22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724519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82FA9E-2C17-4746-AE36-306D7B61DB5C}" type="datetimeFigureOut">
              <a:rPr lang="en-US" smtClean="0"/>
              <a:t>12/5/22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3613166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2FA9E-2C17-4746-AE36-306D7B61DB5C}" type="datetimeFigureOut">
              <a:rPr lang="en-US" smtClean="0"/>
              <a:t>12/5/22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2922932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82FA9E-2C17-4746-AE36-306D7B61DB5C}" type="datetimeFigureOut">
              <a:rPr lang="en-US" smtClean="0"/>
              <a:t>12/5/22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2B9E3-7036-4991-BFF4-C5E7C5D8839E}" type="slidenum">
              <a:rPr lang="en-US" smtClean="0"/>
              <a:t>‹#›</a:t>
            </a:fld>
            <a:endParaRPr lang="en-US"/>
          </a:p>
        </p:txBody>
      </p:sp>
    </p:spTree>
    <p:extLst>
      <p:ext uri="{BB962C8B-B14F-4D97-AF65-F5344CB8AC3E}">
        <p14:creationId xmlns:p14="http://schemas.microsoft.com/office/powerpoint/2010/main" val="4011636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ree Content" userDrawn="1">
  <p:cSld name="Free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to add core message of slide</a:t>
            </a:r>
          </a:p>
        </p:txBody>
      </p:sp>
      <p:sp>
        <p:nvSpPr>
          <p:cNvPr id="4" name="Textplatzhalter 3"/>
          <p:cNvSpPr>
            <a:spLocks noGrp="1"/>
          </p:cNvSpPr>
          <p:nvPr>
            <p:ph type="body" sz="quarter" idx="11" hasCustomPrompt="1"/>
          </p:nvPr>
        </p:nvSpPr>
        <p:spPr>
          <a:xfrm>
            <a:off x="470052" y="1412875"/>
            <a:ext cx="8312186" cy="237629"/>
          </a:xfrm>
        </p:spPr>
        <p:txBody>
          <a:bodyPr wrap="square">
            <a:spAutoFit/>
          </a:bodyPr>
          <a:lstStyle>
            <a:lvl1pPr>
              <a:defRPr sz="1049"/>
            </a:lvl1pPr>
          </a:lstStyle>
          <a:p>
            <a:pPr lvl="0"/>
            <a:r>
              <a:rPr lang="en-US" noProof="0" dirty="0"/>
              <a:t>Title (description of slide content), Arial 14 </a:t>
            </a:r>
            <a:r>
              <a:rPr lang="en-US" noProof="0" dirty="0" err="1"/>
              <a:t>pt</a:t>
            </a:r>
            <a:r>
              <a:rPr lang="en-US" noProof="0" dirty="0"/>
              <a:t>, maximum of 1 line</a:t>
            </a:r>
          </a:p>
        </p:txBody>
      </p:sp>
      <p:sp>
        <p:nvSpPr>
          <p:cNvPr id="5" name="Textplatzhalter 8"/>
          <p:cNvSpPr>
            <a:spLocks noGrp="1"/>
          </p:cNvSpPr>
          <p:nvPr>
            <p:ph type="body" sz="quarter" idx="13" hasCustomPrompt="1"/>
          </p:nvPr>
        </p:nvSpPr>
        <p:spPr>
          <a:xfrm>
            <a:off x="470052" y="1774582"/>
            <a:ext cx="8312187" cy="4032493"/>
          </a:xfrm>
          <a:ln>
            <a:noFill/>
          </a:ln>
        </p:spPr>
        <p:txBody>
          <a:bodyPr vert="horz" wrap="square" lIns="0" tIns="0" rIns="0" bIns="0" rtlCol="0">
            <a:noAutofit/>
          </a:bodyPr>
          <a:lstStyle>
            <a:lvl1pPr>
              <a:defRPr lang="de-DE" sz="1049" kern="1400" baseline="0" smtClean="0"/>
            </a:lvl1pPr>
            <a:lvl2pPr>
              <a:defRPr lang="de-DE" sz="1049" kern="1400" smtClean="0">
                <a:cs typeface="+mn-cs"/>
              </a:defRPr>
            </a:lvl2pPr>
            <a:lvl3pPr>
              <a:defRPr lang="de-DE" sz="1049" kern="1400" smtClean="0">
                <a:cs typeface="+mn-cs"/>
              </a:defRPr>
            </a:lvl3pPr>
            <a:lvl4pPr>
              <a:defRPr lang="de-DE" sz="1049" kern="1400" smtClean="0">
                <a:cs typeface="+mn-cs"/>
              </a:defRPr>
            </a:lvl4pPr>
            <a:lvl5pPr>
              <a:defRPr lang="de-DE" sz="1049" kern="1400">
                <a:cs typeface="+mn-cs"/>
              </a:defRPr>
            </a:lvl5pPr>
          </a:lstStyle>
          <a:p>
            <a:pPr lvl="0" eaLnBrk="0" hangingPunct="0"/>
            <a:r>
              <a:rPr lang="en-US" dirty="0"/>
              <a:t>Note: Increase indent level to start bullet list/</a:t>
            </a:r>
            <a:r>
              <a:rPr lang="en-US" dirty="0" err="1"/>
              <a:t>Vergrößern</a:t>
            </a:r>
            <a:r>
              <a:rPr lang="en-US" dirty="0"/>
              <a:t> </a:t>
            </a:r>
            <a:r>
              <a:rPr lang="en-US" dirty="0" err="1"/>
              <a:t>Sie</a:t>
            </a:r>
            <a:r>
              <a:rPr lang="en-US" dirty="0"/>
              <a:t> die </a:t>
            </a:r>
            <a:r>
              <a:rPr lang="en-US" dirty="0" err="1"/>
              <a:t>Einzugsebene</a:t>
            </a:r>
            <a:r>
              <a:rPr lang="en-US" dirty="0"/>
              <a:t>, um Bullets </a:t>
            </a:r>
            <a:r>
              <a:rPr lang="en-US" dirty="0" err="1"/>
              <a:t>zu</a:t>
            </a:r>
            <a:r>
              <a:rPr lang="en-US" dirty="0"/>
              <a:t> </a:t>
            </a:r>
            <a:r>
              <a:rPr lang="en-US" dirty="0" err="1"/>
              <a:t>erhalten</a:t>
            </a:r>
            <a:r>
              <a:rPr lang="en-US" dirty="0"/>
              <a:t>.</a:t>
            </a:r>
          </a:p>
          <a:p>
            <a:pPr marL="134469" lvl="1" indent="-134469" eaLnBrk="0" hangingPunct="0">
              <a:buClr>
                <a:schemeClr val="accent1"/>
              </a:buClr>
            </a:pPr>
            <a:r>
              <a:rPr lang="en-US" dirty="0" err="1"/>
              <a:t>Zweite</a:t>
            </a:r>
            <a:r>
              <a:rPr lang="en-US" dirty="0"/>
              <a:t> </a:t>
            </a:r>
            <a:r>
              <a:rPr lang="en-US" dirty="0" err="1"/>
              <a:t>Ebene</a:t>
            </a:r>
            <a:endParaRPr lang="en-US" dirty="0"/>
          </a:p>
          <a:p>
            <a:pPr marL="268938" lvl="2" eaLnBrk="0" hangingPunct="0"/>
            <a:r>
              <a:rPr lang="en-US" dirty="0" err="1"/>
              <a:t>Dritte</a:t>
            </a:r>
            <a:r>
              <a:rPr lang="en-US" dirty="0"/>
              <a:t> </a:t>
            </a:r>
            <a:r>
              <a:rPr lang="en-US" dirty="0" err="1"/>
              <a:t>Ebene</a:t>
            </a:r>
            <a:endParaRPr lang="en-US" dirty="0"/>
          </a:p>
          <a:p>
            <a:pPr marL="403407" lvl="3" eaLnBrk="0" hangingPunct="0"/>
            <a:r>
              <a:rPr lang="en-US" dirty="0" err="1"/>
              <a:t>Vierte</a:t>
            </a:r>
            <a:r>
              <a:rPr lang="en-US" dirty="0"/>
              <a:t> </a:t>
            </a:r>
            <a:r>
              <a:rPr lang="en-US" dirty="0" err="1"/>
              <a:t>Ebene</a:t>
            </a:r>
            <a:endParaRPr lang="en-US" dirty="0"/>
          </a:p>
          <a:p>
            <a:pPr marL="537875" lvl="4" eaLnBrk="0" hangingPunct="0"/>
            <a:r>
              <a:rPr lang="en-US" dirty="0" err="1"/>
              <a:t>Fünfte</a:t>
            </a:r>
            <a:r>
              <a:rPr lang="en-US" dirty="0"/>
              <a:t> </a:t>
            </a:r>
            <a:r>
              <a:rPr lang="en-US" dirty="0" err="1"/>
              <a:t>Ebene</a:t>
            </a:r>
            <a:endParaRPr lang="en-US" dirty="0"/>
          </a:p>
        </p:txBody>
      </p:sp>
    </p:spTree>
    <p:custDataLst>
      <p:tags r:id="rId1"/>
    </p:custDataLst>
    <p:extLst>
      <p:ext uri="{BB962C8B-B14F-4D97-AF65-F5344CB8AC3E}">
        <p14:creationId xmlns:p14="http://schemas.microsoft.com/office/powerpoint/2010/main" val="19839553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Divider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24200" y="6477002"/>
            <a:ext cx="2895600" cy="244475"/>
          </a:xfrm>
        </p:spPr>
        <p:txBody>
          <a:bodyPr/>
          <a:lstStyle>
            <a:lvl1pPr>
              <a:defRPr sz="525">
                <a:latin typeface="Helvetica Neue Light"/>
              </a:defRPr>
            </a:lvl1pPr>
          </a:lstStyle>
          <a:p>
            <a:r>
              <a:rPr lang="en-GB">
                <a:solidFill>
                  <a:schemeClr val="tx1"/>
                </a:solidFill>
                <a:cs typeface="Helvetica Neue Light"/>
              </a:rPr>
              <a:t>Confidential  |  DD.MM.YY  |  version #</a:t>
            </a:r>
            <a:endParaRPr lang="en-US" dirty="0"/>
          </a:p>
        </p:txBody>
      </p:sp>
      <p:sp>
        <p:nvSpPr>
          <p:cNvPr id="11" name="Text Placeholder 10"/>
          <p:cNvSpPr>
            <a:spLocks noGrp="1"/>
          </p:cNvSpPr>
          <p:nvPr>
            <p:ph type="body" sz="quarter" idx="13" hasCustomPrompt="1"/>
          </p:nvPr>
        </p:nvSpPr>
        <p:spPr>
          <a:xfrm>
            <a:off x="228600" y="2971800"/>
            <a:ext cx="8001000" cy="457200"/>
          </a:xfrm>
        </p:spPr>
        <p:txBody>
          <a:bodyPr vert="horz" lIns="91440" tIns="45720" rIns="91440" bIns="45720" rtlCol="0" anchor="ctr">
            <a:normAutofit/>
          </a:bodyPr>
          <a:lstStyle>
            <a:lvl1pPr algn="l" defTabSz="685800" rtl="0" eaLnBrk="1" latinLnBrk="0" hangingPunct="1">
              <a:spcBef>
                <a:spcPct val="0"/>
              </a:spcBef>
              <a:buNone/>
              <a:defRPr lang="en-US" sz="2100" b="0" kern="1200" dirty="0" smtClean="0">
                <a:solidFill>
                  <a:schemeClr val="tx1"/>
                </a:solidFill>
                <a:latin typeface="Helvetica Neue"/>
                <a:ea typeface="+mj-ea"/>
                <a:cs typeface="+mj-cs"/>
              </a:defRPr>
            </a:lvl1pPr>
          </a:lstStyle>
          <a:p>
            <a:pPr lvl="0"/>
            <a:r>
              <a:rPr lang="en-GB" sz="1575" b="1" dirty="0">
                <a:latin typeface="Helvetica Neue"/>
                <a:cs typeface="Helvetica Neue"/>
              </a:rPr>
              <a:t>Divider slide title.</a:t>
            </a:r>
            <a:endParaRPr lang="en-US" dirty="0"/>
          </a:p>
        </p:txBody>
      </p:sp>
      <p:sp>
        <p:nvSpPr>
          <p:cNvPr id="12" name="Text Placeholder 10"/>
          <p:cNvSpPr>
            <a:spLocks noGrp="1"/>
          </p:cNvSpPr>
          <p:nvPr>
            <p:ph type="body" sz="quarter" idx="14" hasCustomPrompt="1"/>
          </p:nvPr>
        </p:nvSpPr>
        <p:spPr>
          <a:xfrm>
            <a:off x="228600" y="3429000"/>
            <a:ext cx="8001000" cy="457200"/>
          </a:xfrm>
        </p:spPr>
        <p:txBody>
          <a:bodyPr vert="horz" lIns="91440" tIns="45720" rIns="91440" bIns="45720" rtlCol="0" anchor="ctr">
            <a:normAutofit/>
          </a:bodyPr>
          <a:lstStyle>
            <a:lvl1pPr algn="l" defTabSz="685800" rtl="0" eaLnBrk="1" latinLnBrk="0" hangingPunct="1">
              <a:spcBef>
                <a:spcPct val="0"/>
              </a:spcBef>
              <a:buNone/>
              <a:defRPr lang="en-US" sz="1050" b="0" kern="1200" dirty="0" smtClean="0">
                <a:solidFill>
                  <a:schemeClr val="tx1"/>
                </a:solidFill>
                <a:latin typeface="Helvetica Neue"/>
                <a:ea typeface="+mj-ea"/>
                <a:cs typeface="+mj-cs"/>
              </a:defRPr>
            </a:lvl1pPr>
          </a:lstStyle>
          <a:p>
            <a:r>
              <a:rPr lang="en-GB" sz="1575" dirty="0">
                <a:latin typeface="Helvetica Neue"/>
                <a:cs typeface="Helvetica Neue Light"/>
              </a:rPr>
              <a:t>Second line.</a:t>
            </a:r>
            <a:endParaRPr lang="en-GB" dirty="0">
              <a:latin typeface="Helvetica Neue Light"/>
              <a:cs typeface="Helvetica Neue Light"/>
            </a:endParaRPr>
          </a:p>
        </p:txBody>
      </p:sp>
    </p:spTree>
    <p:extLst>
      <p:ext uri="{BB962C8B-B14F-4D97-AF65-F5344CB8AC3E}">
        <p14:creationId xmlns:p14="http://schemas.microsoft.com/office/powerpoint/2010/main" val="723713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82FA9E-2C17-4746-AE36-306D7B61DB5C}" type="datetimeFigureOut">
              <a:rPr lang="en-US" smtClean="0"/>
              <a:t>12/5/22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82B9E3-7036-4991-BFF4-C5E7C5D8839E}" type="slidenum">
              <a:rPr lang="en-US" smtClean="0"/>
              <a:t>‹#›</a:t>
            </a:fld>
            <a:endParaRPr lang="en-US"/>
          </a:p>
        </p:txBody>
      </p:sp>
    </p:spTree>
    <p:extLst>
      <p:ext uri="{BB962C8B-B14F-4D97-AF65-F5344CB8AC3E}">
        <p14:creationId xmlns:p14="http://schemas.microsoft.com/office/powerpoint/2010/main" val="13467877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C5A2F-4B7E-4D02-A0CF-0C789B8DBC20}"/>
              </a:ext>
            </a:extLst>
          </p:cNvPr>
          <p:cNvSpPr>
            <a:spLocks noGrp="1"/>
          </p:cNvSpPr>
          <p:nvPr>
            <p:ph type="ctrTitle"/>
          </p:nvPr>
        </p:nvSpPr>
        <p:spPr/>
        <p:txBody>
          <a:bodyPr/>
          <a:lstStyle/>
          <a:p>
            <a:r>
              <a:rPr lang="en-US" dirty="0"/>
              <a:t>Edge/Fog Computing</a:t>
            </a:r>
          </a:p>
        </p:txBody>
      </p:sp>
      <p:sp>
        <p:nvSpPr>
          <p:cNvPr id="3" name="Subtitle 2">
            <a:extLst>
              <a:ext uri="{FF2B5EF4-FFF2-40B4-BE49-F238E27FC236}">
                <a16:creationId xmlns:a16="http://schemas.microsoft.com/office/drawing/2014/main" id="{A6F8D6EE-2DC7-47F8-B6B4-A942871CBB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96526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148" y="96678"/>
            <a:ext cx="7886700" cy="809333"/>
          </a:xfrm>
        </p:spPr>
        <p:txBody>
          <a:bodyPr/>
          <a:lstStyle/>
          <a:p>
            <a:r>
              <a:rPr lang="en-US" dirty="0"/>
              <a:t>Cloud Computing</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913" y="747827"/>
            <a:ext cx="9144000" cy="4069356"/>
          </a:xfrm>
        </p:spPr>
      </p:pic>
      <p:sp>
        <p:nvSpPr>
          <p:cNvPr id="5" name="Rectangle 4">
            <a:extLst>
              <a:ext uri="{FF2B5EF4-FFF2-40B4-BE49-F238E27FC236}">
                <a16:creationId xmlns:a16="http://schemas.microsoft.com/office/drawing/2014/main" id="{F2287947-86A7-4E0A-A80D-6BB474F52540}"/>
              </a:ext>
            </a:extLst>
          </p:cNvPr>
          <p:cNvSpPr/>
          <p:nvPr/>
        </p:nvSpPr>
        <p:spPr>
          <a:xfrm>
            <a:off x="402148" y="4729997"/>
            <a:ext cx="8732939" cy="2031325"/>
          </a:xfrm>
          <a:prstGeom prst="rect">
            <a:avLst/>
          </a:prstGeom>
        </p:spPr>
        <p:txBody>
          <a:bodyPr wrap="square">
            <a:spAutoFit/>
          </a:bodyPr>
          <a:lstStyle/>
          <a:p>
            <a:pPr lvl="0" defTabSz="914400">
              <a:defRPr/>
            </a:pPr>
            <a:r>
              <a:rPr lang="en-US" dirty="0"/>
              <a:t>Many years ago, the IoT started its communication with the centralized server in the cloud like this, as shown in the figure.</a:t>
            </a:r>
          </a:p>
          <a:p>
            <a:endParaRPr lang="en-US" dirty="0"/>
          </a:p>
          <a:p>
            <a:r>
              <a:rPr lang="en-US" dirty="0"/>
              <a:t>Basically, it is making use of Centralized servers hosted in the core internet rather than using a local sever or personal system for huge processing/computation or storage of data.</a:t>
            </a:r>
          </a:p>
          <a:p>
            <a:endParaRPr lang="en-US" dirty="0"/>
          </a:p>
          <a:p>
            <a:r>
              <a:rPr lang="en-US" dirty="0"/>
              <a:t>In the present times almost all the organizations uses cloud.</a:t>
            </a:r>
          </a:p>
        </p:txBody>
      </p:sp>
    </p:spTree>
    <p:extLst>
      <p:ext uri="{BB962C8B-B14F-4D97-AF65-F5344CB8AC3E}">
        <p14:creationId xmlns:p14="http://schemas.microsoft.com/office/powerpoint/2010/main" val="429092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6CBD-06AC-41F1-B0BC-398464F9E011}"/>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F218D0B3-1CFE-463B-B4E6-92A02EE21F57}"/>
              </a:ext>
            </a:extLst>
          </p:cNvPr>
          <p:cNvSpPr>
            <a:spLocks noGrp="1"/>
          </p:cNvSpPr>
          <p:nvPr>
            <p:ph idx="1"/>
          </p:nvPr>
        </p:nvSpPr>
        <p:spPr/>
        <p:txBody>
          <a:bodyPr/>
          <a:lstStyle/>
          <a:p>
            <a:r>
              <a:rPr lang="en-US" dirty="0"/>
              <a:t>Need for fog computing</a:t>
            </a:r>
          </a:p>
          <a:p>
            <a:pPr lvl="1"/>
            <a:r>
              <a:rPr lang="en-US" dirty="0"/>
              <a:t>Why can’t do all in cloud?</a:t>
            </a:r>
          </a:p>
          <a:p>
            <a:pPr lvl="1"/>
            <a:endParaRPr lang="en-US" dirty="0"/>
          </a:p>
          <a:p>
            <a:pPr lvl="1"/>
            <a:endParaRPr lang="en-US" dirty="0"/>
          </a:p>
          <a:p>
            <a:pPr lvl="1"/>
            <a:r>
              <a:rPr lang="en-US" dirty="0"/>
              <a:t>Why can’t do all in end systems?</a:t>
            </a:r>
          </a:p>
          <a:p>
            <a:pPr lvl="1"/>
            <a:endParaRPr lang="en-US" dirty="0"/>
          </a:p>
          <a:p>
            <a:pPr lvl="1"/>
            <a:endParaRPr lang="en-US" dirty="0"/>
          </a:p>
        </p:txBody>
      </p:sp>
    </p:spTree>
    <p:extLst>
      <p:ext uri="{BB962C8B-B14F-4D97-AF65-F5344CB8AC3E}">
        <p14:creationId xmlns:p14="http://schemas.microsoft.com/office/powerpoint/2010/main" val="108293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for fog computing</a:t>
            </a:r>
          </a:p>
        </p:txBody>
      </p:sp>
      <p:sp>
        <p:nvSpPr>
          <p:cNvPr id="3" name="Content Placeholder 2"/>
          <p:cNvSpPr>
            <a:spLocks noGrp="1"/>
          </p:cNvSpPr>
          <p:nvPr>
            <p:ph idx="1"/>
          </p:nvPr>
        </p:nvSpPr>
        <p:spPr/>
        <p:txBody>
          <a:bodyPr/>
          <a:lstStyle/>
          <a:p>
            <a:r>
              <a:rPr lang="en-US" dirty="0"/>
              <a:t>Why can’t do all in cloud?</a:t>
            </a:r>
          </a:p>
          <a:p>
            <a:pPr lvl="1"/>
            <a:r>
              <a:rPr lang="en-US" dirty="0"/>
              <a:t>Cloud computing frees the enterprise and the end user from many details.</a:t>
            </a:r>
          </a:p>
          <a:p>
            <a:pPr lvl="1"/>
            <a:r>
              <a:rPr lang="en-US" dirty="0"/>
              <a:t>This becomes a problem for latency-sensitive applications.</a:t>
            </a:r>
          </a:p>
          <a:p>
            <a:pPr lvl="1"/>
            <a:endParaRPr lang="en-US" dirty="0"/>
          </a:p>
          <a:p>
            <a:r>
              <a:rPr lang="en-US" dirty="0"/>
              <a:t>Why can’t do all in end systems?</a:t>
            </a:r>
          </a:p>
          <a:p>
            <a:pPr lvl="1"/>
            <a:r>
              <a:rPr lang="en-US" dirty="0"/>
              <a:t>Physical constraints: Energy, space, etc.,</a:t>
            </a:r>
          </a:p>
          <a:p>
            <a:pPr lvl="1"/>
            <a:r>
              <a:rPr lang="en-US" dirty="0"/>
              <a:t>Limited computing and storage capacity.</a:t>
            </a:r>
          </a:p>
        </p:txBody>
      </p:sp>
    </p:spTree>
    <p:extLst>
      <p:ext uri="{BB962C8B-B14F-4D97-AF65-F5344CB8AC3E}">
        <p14:creationId xmlns:p14="http://schemas.microsoft.com/office/powerpoint/2010/main" val="629212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9144000" cy="4491254"/>
          </a:xfrm>
        </p:spPr>
      </p:pic>
      <p:sp>
        <p:nvSpPr>
          <p:cNvPr id="3" name="Rectangle 2">
            <a:extLst>
              <a:ext uri="{FF2B5EF4-FFF2-40B4-BE49-F238E27FC236}">
                <a16:creationId xmlns:a16="http://schemas.microsoft.com/office/drawing/2014/main" id="{41075F71-D338-495C-BAD1-FA3F7C3040E8}"/>
              </a:ext>
            </a:extLst>
          </p:cNvPr>
          <p:cNvSpPr/>
          <p:nvPr/>
        </p:nvSpPr>
        <p:spPr>
          <a:xfrm>
            <a:off x="536895" y="4568984"/>
            <a:ext cx="8070209" cy="2308324"/>
          </a:xfrm>
          <a:prstGeom prst="rect">
            <a:avLst/>
          </a:prstGeom>
        </p:spPr>
        <p:txBody>
          <a:bodyPr wrap="square">
            <a:spAutoFit/>
          </a:bodyPr>
          <a:lstStyle/>
          <a:p>
            <a:r>
              <a:rPr lang="en-US" dirty="0"/>
              <a:t>Number of end devices that are connected to internet rose above 50+ billion in 2020.</a:t>
            </a:r>
          </a:p>
          <a:p>
            <a:endParaRPr lang="en-US" dirty="0"/>
          </a:p>
          <a:p>
            <a:r>
              <a:rPr lang="en-US" dirty="0"/>
              <a:t>Cloud computing architectures won’t be able to handle the demand of the Internet of things. So only cloud is not the optimal solution to handle this massive explosion.</a:t>
            </a:r>
          </a:p>
          <a:p>
            <a:endParaRPr lang="en-US" dirty="0"/>
          </a:p>
          <a:p>
            <a:r>
              <a:rPr lang="en-US" dirty="0"/>
              <a:t>Fog is needed in between to optimize – need for an intermediary between cloud and end systems.</a:t>
            </a:r>
          </a:p>
        </p:txBody>
      </p:sp>
    </p:spTree>
    <p:extLst>
      <p:ext uri="{BB962C8B-B14F-4D97-AF65-F5344CB8AC3E}">
        <p14:creationId xmlns:p14="http://schemas.microsoft.com/office/powerpoint/2010/main" val="2150132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a:xfrm>
            <a:off x="285750" y="1028700"/>
            <a:ext cx="8001000" cy="5271432"/>
          </a:xfrm>
        </p:spPr>
        <p:txBody>
          <a:bodyPr>
            <a:normAutofit fontScale="92500" lnSpcReduction="10000"/>
          </a:bodyPr>
          <a:lstStyle/>
          <a:p>
            <a:pPr>
              <a:buFont typeface="+mj-lt"/>
              <a:buAutoNum type="arabicPeriod"/>
            </a:pPr>
            <a:r>
              <a:rPr lang="en-US" sz="1900" b="1" dirty="0">
                <a:latin typeface="+mn-lt"/>
              </a:rPr>
              <a:t>Cloud </a:t>
            </a:r>
            <a:r>
              <a:rPr lang="en-US" sz="1900" dirty="0">
                <a:latin typeface="+mn-lt"/>
              </a:rPr>
              <a:t>is centralized, federated, consolidated, shared, automated, and programmable Infrastructure</a:t>
            </a:r>
          </a:p>
          <a:p>
            <a:pPr>
              <a:buFont typeface="+mj-lt"/>
              <a:buAutoNum type="arabicPeriod"/>
            </a:pPr>
            <a:endParaRPr lang="en-US" sz="1900" b="1" dirty="0">
              <a:latin typeface="+mn-lt"/>
            </a:endParaRPr>
          </a:p>
          <a:p>
            <a:pPr>
              <a:buFont typeface="+mj-lt"/>
              <a:buAutoNum type="arabicPeriod"/>
            </a:pPr>
            <a:r>
              <a:rPr lang="en-US" sz="1900" b="1" dirty="0">
                <a:latin typeface="+mn-lt"/>
              </a:rPr>
              <a:t>Latency</a:t>
            </a:r>
            <a:r>
              <a:rPr lang="en-US" sz="1900" dirty="0">
                <a:latin typeface="+mn-lt"/>
              </a:rPr>
              <a:t> and </a:t>
            </a:r>
            <a:r>
              <a:rPr lang="en-US" sz="1900" b="1" dirty="0">
                <a:latin typeface="+mn-lt"/>
              </a:rPr>
              <a:t>Response time</a:t>
            </a:r>
            <a:r>
              <a:rPr lang="en-US" sz="1900" dirty="0">
                <a:latin typeface="+mn-lt"/>
              </a:rPr>
              <a:t> is often a critical part, especially when you deal with human life or emergency procedure.</a:t>
            </a:r>
          </a:p>
          <a:p>
            <a:pPr>
              <a:buFont typeface="+mj-lt"/>
              <a:buAutoNum type="arabicPeriod"/>
            </a:pPr>
            <a:endParaRPr lang="en-US" sz="1900" b="1" dirty="0">
              <a:latin typeface="+mn-lt"/>
            </a:endParaRPr>
          </a:p>
          <a:p>
            <a:pPr>
              <a:buFont typeface="+mj-lt"/>
              <a:buAutoNum type="arabicPeriod"/>
            </a:pPr>
            <a:r>
              <a:rPr lang="en-US" sz="1900" b="1" dirty="0">
                <a:latin typeface="+mn-lt"/>
              </a:rPr>
              <a:t>Bandwidth Cost and Capacity</a:t>
            </a:r>
            <a:r>
              <a:rPr lang="en-US" sz="1900" dirty="0">
                <a:latin typeface="+mn-lt"/>
              </a:rPr>
              <a:t> is very often underestimated. If you want to use many smart devices requiring each one to communicate with cloud, then you can quickly reach huge bandwidth requirements at a gateway level. </a:t>
            </a:r>
          </a:p>
          <a:p>
            <a:pPr>
              <a:buFont typeface="+mj-lt"/>
              <a:buAutoNum type="arabicPeriod"/>
            </a:pPr>
            <a:endParaRPr lang="en-US" sz="1900" b="1" dirty="0">
              <a:latin typeface="+mn-lt"/>
            </a:endParaRPr>
          </a:p>
          <a:p>
            <a:pPr>
              <a:buFont typeface="+mj-lt"/>
              <a:buAutoNum type="arabicPeriod"/>
            </a:pPr>
            <a:r>
              <a:rPr lang="en-US" sz="1900" b="1" dirty="0">
                <a:latin typeface="+mn-lt"/>
              </a:rPr>
              <a:t>Security and Privacy</a:t>
            </a:r>
            <a:r>
              <a:rPr lang="en-US" sz="1900" dirty="0">
                <a:latin typeface="+mn-lt"/>
              </a:rPr>
              <a:t> - transmitting device data over any open and public network is risky </a:t>
            </a:r>
          </a:p>
          <a:p>
            <a:pPr>
              <a:buFont typeface="+mj-lt"/>
              <a:buAutoNum type="arabicPeriod"/>
            </a:pPr>
            <a:endParaRPr lang="en-US" sz="1900" b="1" dirty="0">
              <a:latin typeface="+mn-lt"/>
            </a:endParaRPr>
          </a:p>
          <a:p>
            <a:pPr>
              <a:buFont typeface="+mj-lt"/>
              <a:buAutoNum type="arabicPeriod"/>
            </a:pPr>
            <a:r>
              <a:rPr lang="en-US" sz="1900" b="1" dirty="0">
                <a:latin typeface="+mn-lt"/>
              </a:rPr>
              <a:t>Power consumption</a:t>
            </a:r>
            <a:r>
              <a:rPr lang="en-US" sz="1900" dirty="0">
                <a:latin typeface="+mn-lt"/>
              </a:rPr>
              <a:t> - Cloud computing is energy-hungry and that it is a concern for a low-carbon economy.</a:t>
            </a:r>
          </a:p>
          <a:p>
            <a:pPr>
              <a:buFont typeface="+mj-lt"/>
              <a:buAutoNum type="arabicPeriod"/>
            </a:pPr>
            <a:endParaRPr lang="en-US" sz="1900" b="1" dirty="0">
              <a:latin typeface="+mn-lt"/>
            </a:endParaRPr>
          </a:p>
          <a:p>
            <a:pPr>
              <a:buFont typeface="+mj-lt"/>
              <a:buAutoNum type="arabicPeriod"/>
            </a:pPr>
            <a:r>
              <a:rPr lang="en-US" sz="1900" b="1" dirty="0">
                <a:latin typeface="+mn-lt"/>
              </a:rPr>
              <a:t>Data amount</a:t>
            </a:r>
            <a:r>
              <a:rPr lang="en-US" sz="1900" dirty="0">
                <a:latin typeface="+mn-lt"/>
              </a:rPr>
              <a:t> – In a traditional cloud approach, huge amount of untreated data are pumped blindly into the cloud. This vision is really not the best efficient and it is much wiser to pre-treat data at a local level and to limit the cloud processes.</a:t>
            </a:r>
          </a:p>
          <a:p>
            <a:pPr>
              <a:buFont typeface="+mj-lt"/>
              <a:buAutoNum type="arabicPeriod"/>
            </a:pPr>
            <a:endParaRPr lang="en-US" sz="1900" b="1" dirty="0">
              <a:latin typeface="+mn-lt"/>
            </a:endParaRPr>
          </a:p>
          <a:p>
            <a:pPr>
              <a:buFont typeface="+mj-lt"/>
              <a:buAutoNum type="arabicPeriod"/>
            </a:pPr>
            <a:r>
              <a:rPr lang="en-US" sz="1900" b="1" dirty="0">
                <a:latin typeface="+mn-lt"/>
              </a:rPr>
              <a:t>Offline usages</a:t>
            </a:r>
            <a:r>
              <a:rPr lang="en-US" sz="1900" dirty="0">
                <a:latin typeface="+mn-lt"/>
              </a:rPr>
              <a:t> versus only-online usages – Pure cloud services do not allow offline usages. It is a major shortcoming since smart cities and industry applications require a dual offline/online paradigm.</a:t>
            </a:r>
          </a:p>
          <a:p>
            <a:endParaRPr lang="en-US" dirty="0"/>
          </a:p>
        </p:txBody>
      </p:sp>
      <p:sp>
        <p:nvSpPr>
          <p:cNvPr id="3" name="TextBox 2">
            <a:extLst>
              <a:ext uri="{FF2B5EF4-FFF2-40B4-BE49-F238E27FC236}">
                <a16:creationId xmlns:a16="http://schemas.microsoft.com/office/drawing/2014/main" id="{7985552D-BC63-4A8F-A43E-62871E78F5CA}"/>
              </a:ext>
            </a:extLst>
          </p:cNvPr>
          <p:cNvSpPr txBox="1"/>
          <p:nvPr/>
        </p:nvSpPr>
        <p:spPr>
          <a:xfrm>
            <a:off x="285750" y="171257"/>
            <a:ext cx="8740804" cy="461665"/>
          </a:xfrm>
          <a:prstGeom prst="rect">
            <a:avLst/>
          </a:prstGeom>
          <a:noFill/>
        </p:spPr>
        <p:txBody>
          <a:bodyPr wrap="square" rtlCol="0">
            <a:spAutoFit/>
          </a:bodyPr>
          <a:lstStyle/>
          <a:p>
            <a:r>
              <a:rPr lang="en-US" sz="2400" b="1" dirty="0">
                <a:latin typeface="Avenir Book" panose="02000503020000020003" pitchFamily="2" charset="0"/>
              </a:rPr>
              <a:t>Why Off-premise Cloud is not suitable for certain IoT applications?</a:t>
            </a:r>
          </a:p>
        </p:txBody>
      </p:sp>
    </p:spTree>
    <p:extLst>
      <p:ext uri="{BB962C8B-B14F-4D97-AF65-F5344CB8AC3E}">
        <p14:creationId xmlns:p14="http://schemas.microsoft.com/office/powerpoint/2010/main" val="2923222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458779" y="1127271"/>
            <a:ext cx="8244899" cy="5281918"/>
          </a:xfrm>
        </p:spPr>
        <p:txBody>
          <a:bodyPr>
            <a:normAutofit lnSpcReduction="10000"/>
          </a:bodyPr>
          <a:lstStyle/>
          <a:p>
            <a:pPr marL="342892" indent="-342892">
              <a:lnSpc>
                <a:spcPct val="150000"/>
              </a:lnSpc>
              <a:buFont typeface="Arial" panose="020B0604020202020204" pitchFamily="34" charset="0"/>
              <a:buChar char="•"/>
            </a:pPr>
            <a:r>
              <a:rPr lang="en-US" sz="1600" b="1" dirty="0">
                <a:solidFill>
                  <a:srgbClr val="000000"/>
                </a:solidFill>
                <a:cs typeface="Avenir Book"/>
              </a:rPr>
              <a:t>Volume and Velocity </a:t>
            </a:r>
            <a:r>
              <a:rPr lang="en-US" sz="1600" dirty="0">
                <a:solidFill>
                  <a:srgbClr val="000000"/>
                </a:solidFill>
                <a:cs typeface="Avenir Book"/>
              </a:rPr>
              <a:t>– ingesting, processing and storing such huge amounts of data which is gathered in real-time.</a:t>
            </a:r>
          </a:p>
          <a:p>
            <a:pPr marL="342892" indent="-342892">
              <a:lnSpc>
                <a:spcPct val="150000"/>
              </a:lnSpc>
              <a:buFont typeface="Arial" panose="020B0604020202020204" pitchFamily="34" charset="0"/>
              <a:buChar char="•"/>
            </a:pPr>
            <a:r>
              <a:rPr lang="en-US" sz="1600" b="1" dirty="0">
                <a:solidFill>
                  <a:srgbClr val="000000"/>
                </a:solidFill>
                <a:cs typeface="Avenir Book"/>
              </a:rPr>
              <a:t>Security</a:t>
            </a:r>
            <a:r>
              <a:rPr lang="en-US" sz="1600" dirty="0">
                <a:solidFill>
                  <a:srgbClr val="000000"/>
                </a:solidFill>
                <a:cs typeface="Avenir Book"/>
              </a:rPr>
              <a:t> – devices can be located in sensitive environments, control vital systems or send private data. With the number of devices and the fact they are not humans who can simply type a password, new paradigms and strict authentication and access control must be implemented.</a:t>
            </a:r>
          </a:p>
          <a:p>
            <a:pPr marL="342892" indent="-342892">
              <a:lnSpc>
                <a:spcPct val="150000"/>
              </a:lnSpc>
              <a:buFont typeface="Arial" panose="020B0604020202020204" pitchFamily="34" charset="0"/>
              <a:buChar char="•"/>
            </a:pPr>
            <a:r>
              <a:rPr lang="en-US" sz="1600" b="1" dirty="0">
                <a:solidFill>
                  <a:srgbClr val="000000"/>
                </a:solidFill>
                <a:cs typeface="Avenir Book"/>
              </a:rPr>
              <a:t>Bandwidth</a:t>
            </a:r>
            <a:r>
              <a:rPr lang="en-US" sz="1600" dirty="0">
                <a:solidFill>
                  <a:srgbClr val="000000"/>
                </a:solidFill>
                <a:cs typeface="Avenir Book"/>
              </a:rPr>
              <a:t> – if devices constantly send the sensor and video data, it will hog the internet and cost a fortune. Therefore, edge approaches must be deployed to achieve scale and lower response time.</a:t>
            </a:r>
          </a:p>
          <a:p>
            <a:pPr marL="342892" indent="-342892">
              <a:lnSpc>
                <a:spcPct val="150000"/>
              </a:lnSpc>
              <a:buFont typeface="Arial" panose="020B0604020202020204" pitchFamily="34" charset="0"/>
              <a:buChar char="•"/>
            </a:pPr>
            <a:r>
              <a:rPr lang="en-US" sz="1600" b="1" dirty="0">
                <a:solidFill>
                  <a:srgbClr val="000000"/>
                </a:solidFill>
                <a:cs typeface="Avenir Book"/>
              </a:rPr>
              <a:t>Real-time Data Capture, Storage, Processing, Analytics, Knowledge Discovery, Decision-making and Actuation</a:t>
            </a:r>
          </a:p>
          <a:p>
            <a:pPr marL="342892" indent="-342892">
              <a:lnSpc>
                <a:spcPct val="150000"/>
              </a:lnSpc>
              <a:buFont typeface="Arial" panose="020B0604020202020204" pitchFamily="34" charset="0"/>
              <a:buChar char="•"/>
            </a:pPr>
            <a:r>
              <a:rPr lang="en-US" sz="1600" b="1" dirty="0">
                <a:solidFill>
                  <a:srgbClr val="000000"/>
                </a:solidFill>
                <a:cs typeface="Avenir Book"/>
              </a:rPr>
              <a:t>Less Latency and Faster Response</a:t>
            </a:r>
          </a:p>
          <a:p>
            <a:pPr marL="342892" indent="-342892">
              <a:lnSpc>
                <a:spcPct val="150000"/>
              </a:lnSpc>
              <a:buFont typeface="Arial" panose="020B0604020202020204" pitchFamily="34" charset="0"/>
              <a:buChar char="•"/>
            </a:pPr>
            <a:r>
              <a:rPr lang="en-US" sz="1600" b="1" dirty="0">
                <a:solidFill>
                  <a:srgbClr val="000000"/>
                </a:solidFill>
                <a:cs typeface="Avenir Book"/>
              </a:rPr>
              <a:t>Combining real-time data with historical state </a:t>
            </a:r>
            <a:r>
              <a:rPr lang="en-US" sz="1600" dirty="0">
                <a:solidFill>
                  <a:srgbClr val="000000"/>
                </a:solidFill>
                <a:cs typeface="Avenir Book"/>
              </a:rPr>
              <a:t>– there are analytics solutions which handle batch quite well and some tools that can process streams without historical context. It is quite challenging to analyze streams and combine them with historical data in real-time.</a:t>
            </a:r>
          </a:p>
          <a:p>
            <a:endParaRPr lang="en-US" dirty="0"/>
          </a:p>
        </p:txBody>
      </p:sp>
      <p:sp>
        <p:nvSpPr>
          <p:cNvPr id="3" name="Title 2"/>
          <p:cNvSpPr>
            <a:spLocks noGrp="1"/>
          </p:cNvSpPr>
          <p:nvPr>
            <p:ph type="title"/>
          </p:nvPr>
        </p:nvSpPr>
        <p:spPr>
          <a:xfrm>
            <a:off x="356532" y="127408"/>
            <a:ext cx="8229600" cy="857250"/>
          </a:xfrm>
        </p:spPr>
        <p:txBody>
          <a:bodyPr>
            <a:normAutofit/>
          </a:bodyPr>
          <a:lstStyle/>
          <a:p>
            <a:pPr>
              <a:lnSpc>
                <a:spcPct val="140000"/>
              </a:lnSpc>
            </a:pPr>
            <a:r>
              <a:rPr lang="en-US" sz="2400" dirty="0"/>
              <a:t>Why some IoT applications have to be real-time and at Edge?</a:t>
            </a:r>
          </a:p>
        </p:txBody>
      </p:sp>
    </p:spTree>
    <p:extLst>
      <p:ext uri="{BB962C8B-B14F-4D97-AF65-F5344CB8AC3E}">
        <p14:creationId xmlns:p14="http://schemas.microsoft.com/office/powerpoint/2010/main" val="2132989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6978" y="280910"/>
            <a:ext cx="7886700" cy="666935"/>
          </a:xfrm>
        </p:spPr>
        <p:txBody>
          <a:bodyPr>
            <a:normAutofit fontScale="90000"/>
          </a:bodyPr>
          <a:lstStyle/>
          <a:p>
            <a:r>
              <a:rPr lang="en-US" altLang="zh-CN" cap="none" dirty="0">
                <a:ea typeface="Arial Unicode MS" panose="020B0604020202020204" pitchFamily="34" charset="-122"/>
                <a:cs typeface="Arial Unicode MS" panose="020B0604020202020204" pitchFamily="34" charset="-122"/>
              </a:rPr>
              <a:t>What is Edge/Fog computing?</a:t>
            </a:r>
            <a:endParaRPr lang="zh-CN" altLang="en-US" cap="none" dirty="0">
              <a:ea typeface="Arial Unicode MS" panose="020B0604020202020204" pitchFamily="34" charset="-122"/>
              <a:cs typeface="Arial Unicode MS" panose="020B0604020202020204" pitchFamily="34" charset="-122"/>
            </a:endParaRPr>
          </a:p>
        </p:txBody>
      </p:sp>
      <p:sp>
        <p:nvSpPr>
          <p:cNvPr id="3" name="内容占位符 2"/>
          <p:cNvSpPr>
            <a:spLocks noGrp="1"/>
          </p:cNvSpPr>
          <p:nvPr>
            <p:ph idx="1"/>
          </p:nvPr>
        </p:nvSpPr>
        <p:spPr>
          <a:xfrm>
            <a:off x="427839" y="1596409"/>
            <a:ext cx="4504888" cy="2178637"/>
          </a:xfrm>
        </p:spPr>
        <p:txBody>
          <a:bodyPr>
            <a:normAutofit fontScale="70000" lnSpcReduction="20000"/>
          </a:bodyPr>
          <a:lstStyle/>
          <a:p>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We define “edge” as any computing and network resources along the path between data sources and cloud data centers.</a:t>
            </a:r>
          </a:p>
          <a:p>
            <a:endPar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dirty="0">
                <a:latin typeface="Arial Unicode MS" panose="020B0604020202020204" pitchFamily="34" charset="-122"/>
                <a:ea typeface="Arial Unicode MS" panose="020B0604020202020204" pitchFamily="34" charset="-122"/>
                <a:cs typeface="Arial Unicode MS" panose="020B0604020202020204" pitchFamily="34" charset="-122"/>
              </a:rPr>
              <a:t>Edge computing is interchangeable with fog computing.</a:t>
            </a:r>
            <a:endParaRPr lang="zh-CN" altLang="en-US" dirty="0">
              <a:solidFill>
                <a:schemeClr val="bg2">
                  <a:lumMod val="60000"/>
                  <a:lumOff val="40000"/>
                </a:schemeClr>
              </a:solidFill>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5690" y="3775046"/>
            <a:ext cx="3107965" cy="2736438"/>
          </a:xfrm>
          <a:prstGeom prst="rect">
            <a:avLst/>
          </a:prstGeom>
        </p:spPr>
      </p:pic>
      <p:sp>
        <p:nvSpPr>
          <p:cNvPr id="7" name="Rectangle 6">
            <a:extLst>
              <a:ext uri="{FF2B5EF4-FFF2-40B4-BE49-F238E27FC236}">
                <a16:creationId xmlns:a16="http://schemas.microsoft.com/office/drawing/2014/main" id="{529116B3-E3C9-4ADA-B69A-C1A25D78B295}"/>
              </a:ext>
            </a:extLst>
          </p:cNvPr>
          <p:cNvSpPr/>
          <p:nvPr/>
        </p:nvSpPr>
        <p:spPr bwMode="auto">
          <a:xfrm>
            <a:off x="5177594" y="1939941"/>
            <a:ext cx="3248715" cy="3113702"/>
          </a:xfrm>
          <a:prstGeom prst="rect">
            <a:avLst/>
          </a:prstGeom>
          <a:noFill/>
          <a:ln>
            <a:solidFill>
              <a:schemeClr val="accent1"/>
            </a:solidFill>
          </a:ln>
          <a:effectLst/>
        </p:spPr>
        <p:txBody>
          <a:bodyPr wrap="square" lIns="80958" tIns="40479" rIns="80958" bIns="40479" numCol="1" spcCol="72000" rtlCol="0" anchor="t">
            <a:noAutofit/>
          </a:bodyPr>
          <a:lstStyle/>
          <a:p>
            <a:pPr>
              <a:lnSpc>
                <a:spcPct val="110000"/>
              </a:lnSpc>
              <a:spcBef>
                <a:spcPct val="0"/>
              </a:spcBef>
            </a:pPr>
            <a:r>
              <a:rPr lang="en-US" sz="1349" dirty="0"/>
              <a:t>Edge computing is a method of optimizing cloud computing systems by performing data processing at the edge of the network, near the source of the data. -- Wikipedia: Edge Computing</a:t>
            </a:r>
          </a:p>
          <a:p>
            <a:pPr>
              <a:lnSpc>
                <a:spcPct val="110000"/>
              </a:lnSpc>
              <a:spcBef>
                <a:spcPct val="0"/>
              </a:spcBef>
            </a:pPr>
            <a:endParaRPr lang="en-US" sz="1349" dirty="0"/>
          </a:p>
          <a:p>
            <a:pPr marL="214198" indent="-214198">
              <a:lnSpc>
                <a:spcPct val="110000"/>
              </a:lnSpc>
              <a:spcBef>
                <a:spcPct val="0"/>
              </a:spcBef>
              <a:buFont typeface="Arial" panose="020B0604020202020204" pitchFamily="34" charset="0"/>
              <a:buChar char="•"/>
            </a:pPr>
            <a:r>
              <a:rPr lang="en-US" sz="1349" dirty="0"/>
              <a:t>Reduce data transfer</a:t>
            </a:r>
          </a:p>
          <a:p>
            <a:pPr marL="214198" indent="-214198">
              <a:lnSpc>
                <a:spcPct val="110000"/>
              </a:lnSpc>
              <a:spcBef>
                <a:spcPct val="0"/>
              </a:spcBef>
              <a:buFont typeface="Arial" panose="020B0604020202020204" pitchFamily="34" charset="0"/>
              <a:buChar char="•"/>
            </a:pPr>
            <a:r>
              <a:rPr lang="en-US" sz="1349" dirty="0"/>
              <a:t>Low latency</a:t>
            </a:r>
          </a:p>
          <a:p>
            <a:pPr marL="214198" indent="-214198">
              <a:lnSpc>
                <a:spcPct val="110000"/>
              </a:lnSpc>
              <a:spcBef>
                <a:spcPct val="0"/>
              </a:spcBef>
              <a:buFont typeface="Arial" panose="020B0604020202020204" pitchFamily="34" charset="0"/>
              <a:buChar char="•"/>
            </a:pPr>
            <a:r>
              <a:rPr lang="en-US" sz="1349" dirty="0"/>
              <a:t>Local feedback loop</a:t>
            </a:r>
          </a:p>
          <a:p>
            <a:pPr marL="214198" indent="-214198">
              <a:lnSpc>
                <a:spcPct val="110000"/>
              </a:lnSpc>
              <a:spcBef>
                <a:spcPct val="0"/>
              </a:spcBef>
              <a:buFont typeface="Arial" panose="020B0604020202020204" pitchFamily="34" charset="0"/>
              <a:buChar char="•"/>
            </a:pPr>
            <a:r>
              <a:rPr lang="en-US" sz="1349" dirty="0"/>
              <a:t>Privacy</a:t>
            </a:r>
          </a:p>
          <a:p>
            <a:pPr marL="214198" indent="-214198">
              <a:lnSpc>
                <a:spcPct val="110000"/>
              </a:lnSpc>
              <a:spcBef>
                <a:spcPct val="0"/>
              </a:spcBef>
              <a:buFont typeface="Arial" panose="020B0604020202020204" pitchFamily="34" charset="0"/>
              <a:buChar char="•"/>
            </a:pPr>
            <a:r>
              <a:rPr lang="en-US" sz="1349" dirty="0"/>
              <a:t>Security</a:t>
            </a:r>
          </a:p>
          <a:p>
            <a:pPr marL="214198" indent="-214198">
              <a:lnSpc>
                <a:spcPct val="110000"/>
              </a:lnSpc>
              <a:spcBef>
                <a:spcPct val="0"/>
              </a:spcBef>
              <a:buFont typeface="Arial" panose="020B0604020202020204" pitchFamily="34" charset="0"/>
              <a:buChar char="•"/>
            </a:pPr>
            <a:endParaRPr lang="en-US" sz="1349" dirty="0"/>
          </a:p>
          <a:p>
            <a:pPr marL="214198" indent="-214198">
              <a:lnSpc>
                <a:spcPct val="110000"/>
              </a:lnSpc>
              <a:spcBef>
                <a:spcPct val="0"/>
              </a:spcBef>
              <a:buFont typeface="Arial" panose="020B0604020202020204" pitchFamily="34" charset="0"/>
              <a:buChar char="•"/>
            </a:pPr>
            <a:endParaRPr lang="en-US" sz="1349" dirty="0"/>
          </a:p>
        </p:txBody>
      </p:sp>
      <p:sp>
        <p:nvSpPr>
          <p:cNvPr id="8" name="Rectangle 7">
            <a:extLst>
              <a:ext uri="{FF2B5EF4-FFF2-40B4-BE49-F238E27FC236}">
                <a16:creationId xmlns:a16="http://schemas.microsoft.com/office/drawing/2014/main" id="{4F96B8DD-0541-45C0-B051-F4ED24C24382}"/>
              </a:ext>
            </a:extLst>
          </p:cNvPr>
          <p:cNvSpPr/>
          <p:nvPr/>
        </p:nvSpPr>
        <p:spPr bwMode="auto">
          <a:xfrm>
            <a:off x="5177594" y="1690689"/>
            <a:ext cx="3248715" cy="249252"/>
          </a:xfrm>
          <a:prstGeom prst="rect">
            <a:avLst/>
          </a:prstGeom>
          <a:solidFill>
            <a:schemeClr val="accent2"/>
          </a:solidFill>
          <a:ln>
            <a:solidFill>
              <a:schemeClr val="accent1"/>
            </a:solidFill>
          </a:ln>
          <a:effectLst/>
        </p:spPr>
        <p:txBody>
          <a:bodyPr wrap="square" lIns="80958" tIns="40479" rIns="80958" bIns="40479" numCol="1" spcCol="72000" rtlCol="0" anchor="t">
            <a:noAutofit/>
          </a:bodyPr>
          <a:lstStyle/>
          <a:p>
            <a:pPr>
              <a:lnSpc>
                <a:spcPct val="110000"/>
              </a:lnSpc>
              <a:spcBef>
                <a:spcPct val="0"/>
              </a:spcBef>
            </a:pPr>
            <a:r>
              <a:rPr lang="en-US" sz="1049" b="1" dirty="0"/>
              <a:t>Edge Computing</a:t>
            </a:r>
          </a:p>
        </p:txBody>
      </p:sp>
    </p:spTree>
    <p:extLst>
      <p:ext uri="{BB962C8B-B14F-4D97-AF65-F5344CB8AC3E}">
        <p14:creationId xmlns:p14="http://schemas.microsoft.com/office/powerpoint/2010/main" val="963943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9A49AE-499B-5B4D-8C50-18EC374C920D}"/>
              </a:ext>
            </a:extLst>
          </p:cNvPr>
          <p:cNvPicPr>
            <a:picLocks noGrp="1" noChangeAspect="1"/>
          </p:cNvPicPr>
          <p:nvPr>
            <p:ph idx="1"/>
          </p:nvPr>
        </p:nvPicPr>
        <p:blipFill>
          <a:blip r:embed="rId2"/>
          <a:stretch>
            <a:fillRect/>
          </a:stretch>
        </p:blipFill>
        <p:spPr>
          <a:xfrm>
            <a:off x="640587" y="0"/>
            <a:ext cx="7862825" cy="5034967"/>
          </a:xfrm>
          <a:prstGeom prst="rect">
            <a:avLst/>
          </a:prstGeom>
        </p:spPr>
      </p:pic>
      <p:sp>
        <p:nvSpPr>
          <p:cNvPr id="2" name="Rectangle 1">
            <a:extLst>
              <a:ext uri="{FF2B5EF4-FFF2-40B4-BE49-F238E27FC236}">
                <a16:creationId xmlns:a16="http://schemas.microsoft.com/office/drawing/2014/main" id="{8D908FBA-2AFE-412F-BD5F-01464191DD64}"/>
              </a:ext>
            </a:extLst>
          </p:cNvPr>
          <p:cNvSpPr/>
          <p:nvPr/>
        </p:nvSpPr>
        <p:spPr>
          <a:xfrm>
            <a:off x="640586" y="5177429"/>
            <a:ext cx="7862825" cy="1477328"/>
          </a:xfrm>
          <a:prstGeom prst="rect">
            <a:avLst/>
          </a:prstGeom>
        </p:spPr>
        <p:txBody>
          <a:bodyPr wrap="square">
            <a:spAutoFit/>
          </a:bodyPr>
          <a:lstStyle/>
          <a:p>
            <a:r>
              <a:rPr lang="en-US" dirty="0"/>
              <a:t>Fog nodes can be deployed anywhere with a network connection: on a factory floor, on top of a power pole, alongside a railway track, in a vehicle, or on an oil rig. Any device with computing, storage, and network connectivity can be a fog node. Examples include industrial controllers, switches, routers, embedded servers, and video surveillance cameras.</a:t>
            </a:r>
          </a:p>
        </p:txBody>
      </p:sp>
    </p:spTree>
    <p:extLst>
      <p:ext uri="{BB962C8B-B14F-4D97-AF65-F5344CB8AC3E}">
        <p14:creationId xmlns:p14="http://schemas.microsoft.com/office/powerpoint/2010/main" val="1067161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649F3-7E7E-F049-B824-025EAC69A489}"/>
              </a:ext>
            </a:extLst>
          </p:cNvPr>
          <p:cNvSpPr>
            <a:spLocks noGrp="1"/>
          </p:cNvSpPr>
          <p:nvPr>
            <p:ph type="title"/>
          </p:nvPr>
        </p:nvSpPr>
        <p:spPr/>
        <p:txBody>
          <a:bodyPr>
            <a:normAutofit/>
          </a:bodyPr>
          <a:lstStyle/>
          <a:p>
            <a:r>
              <a:rPr lang="en-US" sz="3600" dirty="0"/>
              <a:t>The Device Categories</a:t>
            </a:r>
          </a:p>
        </p:txBody>
      </p:sp>
      <p:pic>
        <p:nvPicPr>
          <p:cNvPr id="5" name="Content Placeholder 4">
            <a:extLst>
              <a:ext uri="{FF2B5EF4-FFF2-40B4-BE49-F238E27FC236}">
                <a16:creationId xmlns:a16="http://schemas.microsoft.com/office/drawing/2014/main" id="{FD3E3FCF-8418-3E4C-B484-54D1A512E6FB}"/>
              </a:ext>
            </a:extLst>
          </p:cNvPr>
          <p:cNvPicPr>
            <a:picLocks noGrp="1" noChangeAspect="1"/>
          </p:cNvPicPr>
          <p:nvPr>
            <p:ph idx="1"/>
          </p:nvPr>
        </p:nvPicPr>
        <p:blipFill>
          <a:blip r:embed="rId2"/>
          <a:stretch>
            <a:fillRect/>
          </a:stretch>
        </p:blipFill>
        <p:spPr>
          <a:xfrm>
            <a:off x="914400" y="2114550"/>
            <a:ext cx="7172325" cy="2228850"/>
          </a:xfrm>
          <a:prstGeom prst="rect">
            <a:avLst/>
          </a:prstGeom>
        </p:spPr>
      </p:pic>
    </p:spTree>
    <p:extLst>
      <p:ext uri="{BB962C8B-B14F-4D97-AF65-F5344CB8AC3E}">
        <p14:creationId xmlns:p14="http://schemas.microsoft.com/office/powerpoint/2010/main" val="1404803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 and Cloud</a:t>
            </a:r>
          </a:p>
        </p:txBody>
      </p:sp>
      <p:graphicFrame>
        <p:nvGraphicFramePr>
          <p:cNvPr id="5" name="Content Placeholder 3"/>
          <p:cNvGraphicFramePr>
            <a:graphicFrameLocks/>
          </p:cNvGraphicFramePr>
          <p:nvPr>
            <p:extLst>
              <p:ext uri="{D42A27DB-BD31-4B8C-83A1-F6EECF244321}">
                <p14:modId xmlns:p14="http://schemas.microsoft.com/office/powerpoint/2010/main" val="1876495698"/>
              </p:ext>
            </p:extLst>
          </p:nvPr>
        </p:nvGraphicFramePr>
        <p:xfrm>
          <a:off x="779317" y="3584864"/>
          <a:ext cx="7626928" cy="2951021"/>
        </p:xfrm>
        <a:graphic>
          <a:graphicData uri="http://schemas.openxmlformats.org/drawingml/2006/table">
            <a:tbl>
              <a:tblPr firstRow="1" bandRow="1">
                <a:tableStyleId>{5C22544A-7EE6-4342-B048-85BDC9FD1C3A}</a:tableStyleId>
              </a:tblPr>
              <a:tblGrid>
                <a:gridCol w="3813464">
                  <a:extLst>
                    <a:ext uri="{9D8B030D-6E8A-4147-A177-3AD203B41FA5}">
                      <a16:colId xmlns:a16="http://schemas.microsoft.com/office/drawing/2014/main" val="20000"/>
                    </a:ext>
                  </a:extLst>
                </a:gridCol>
                <a:gridCol w="3813464">
                  <a:extLst>
                    <a:ext uri="{9D8B030D-6E8A-4147-A177-3AD203B41FA5}">
                      <a16:colId xmlns:a16="http://schemas.microsoft.com/office/drawing/2014/main" val="20001"/>
                    </a:ext>
                  </a:extLst>
                </a:gridCol>
              </a:tblGrid>
              <a:tr h="417433">
                <a:tc>
                  <a:txBody>
                    <a:bodyPr/>
                    <a:lstStyle/>
                    <a:p>
                      <a:r>
                        <a:rPr lang="en-US" sz="1300" noProof="0" dirty="0"/>
                        <a:t>Cloud</a:t>
                      </a:r>
                    </a:p>
                  </a:txBody>
                  <a:tcPr marL="68544" marR="68544" marT="34272" marB="34272"/>
                </a:tc>
                <a:tc>
                  <a:txBody>
                    <a:bodyPr/>
                    <a:lstStyle/>
                    <a:p>
                      <a:r>
                        <a:rPr lang="de-AT" sz="1300" dirty="0"/>
                        <a:t>Edge</a:t>
                      </a:r>
                      <a:endParaRPr lang="de-DE" sz="1300" dirty="0"/>
                    </a:p>
                  </a:txBody>
                  <a:tcPr marL="68544" marR="68544" marT="34272" marB="34272"/>
                </a:tc>
                <a:extLst>
                  <a:ext uri="{0D108BD9-81ED-4DB2-BD59-A6C34878D82A}">
                    <a16:rowId xmlns:a16="http://schemas.microsoft.com/office/drawing/2014/main" val="10000"/>
                  </a:ext>
                </a:extLst>
              </a:tr>
              <a:tr h="423231">
                <a:tc>
                  <a:txBody>
                    <a:bodyPr/>
                    <a:lstStyle/>
                    <a:p>
                      <a:r>
                        <a:rPr lang="de-AT" sz="1300" dirty="0"/>
                        <a:t>Off </a:t>
                      </a:r>
                      <a:r>
                        <a:rPr lang="en-US" sz="1300" dirty="0"/>
                        <a:t>site</a:t>
                      </a:r>
                      <a:endParaRPr lang="de-DE" sz="1300" dirty="0"/>
                    </a:p>
                  </a:txBody>
                  <a:tcPr marL="68544" marR="68544" marT="34272" marB="34272"/>
                </a:tc>
                <a:tc>
                  <a:txBody>
                    <a:bodyPr/>
                    <a:lstStyle/>
                    <a:p>
                      <a:r>
                        <a:rPr lang="de-AT" sz="1300" dirty="0"/>
                        <a:t>On site</a:t>
                      </a:r>
                      <a:endParaRPr lang="de-DE" sz="1300" dirty="0"/>
                    </a:p>
                  </a:txBody>
                  <a:tcPr marL="68544" marR="68544" marT="34272" marB="34272"/>
                </a:tc>
                <a:extLst>
                  <a:ext uri="{0D108BD9-81ED-4DB2-BD59-A6C34878D82A}">
                    <a16:rowId xmlns:a16="http://schemas.microsoft.com/office/drawing/2014/main" val="10001"/>
                  </a:ext>
                </a:extLst>
              </a:tr>
              <a:tr h="423231">
                <a:tc>
                  <a:txBody>
                    <a:bodyPr/>
                    <a:lstStyle/>
                    <a:p>
                      <a:r>
                        <a:rPr lang="de-AT" sz="1300" dirty="0"/>
                        <a:t>Limited </a:t>
                      </a:r>
                      <a:r>
                        <a:rPr lang="de-AT" sz="1300" dirty="0" err="1"/>
                        <a:t>control</a:t>
                      </a:r>
                      <a:endParaRPr lang="de-DE" sz="1300" dirty="0"/>
                    </a:p>
                  </a:txBody>
                  <a:tcPr marL="68544" marR="68544" marT="34272" marB="34272"/>
                </a:tc>
                <a:tc>
                  <a:txBody>
                    <a:bodyPr/>
                    <a:lstStyle/>
                    <a:p>
                      <a:r>
                        <a:rPr lang="de-AT" sz="1300" dirty="0" err="1"/>
                        <a:t>Full</a:t>
                      </a:r>
                      <a:r>
                        <a:rPr lang="de-AT" sz="1300" baseline="0" dirty="0"/>
                        <a:t> </a:t>
                      </a:r>
                      <a:r>
                        <a:rPr lang="de-AT" sz="1300" baseline="0" dirty="0" err="1"/>
                        <a:t>control</a:t>
                      </a:r>
                      <a:endParaRPr lang="de-DE" sz="1300" dirty="0"/>
                    </a:p>
                  </a:txBody>
                  <a:tcPr marL="68544" marR="68544" marT="34272" marB="34272"/>
                </a:tc>
                <a:extLst>
                  <a:ext uri="{0D108BD9-81ED-4DB2-BD59-A6C34878D82A}">
                    <a16:rowId xmlns:a16="http://schemas.microsoft.com/office/drawing/2014/main" val="10002"/>
                  </a:ext>
                </a:extLst>
              </a:tr>
              <a:tr h="423231">
                <a:tc>
                  <a:txBody>
                    <a:bodyPr/>
                    <a:lstStyle/>
                    <a:p>
                      <a:r>
                        <a:rPr lang="de-AT" sz="1300" dirty="0" err="1"/>
                        <a:t>Virtually</a:t>
                      </a:r>
                      <a:r>
                        <a:rPr lang="de-AT" sz="1300" baseline="0" dirty="0"/>
                        <a:t> </a:t>
                      </a:r>
                      <a:r>
                        <a:rPr lang="de-AT" sz="1300" baseline="0" dirty="0" err="1"/>
                        <a:t>unlimited</a:t>
                      </a:r>
                      <a:r>
                        <a:rPr lang="de-AT" sz="1300" baseline="0" dirty="0"/>
                        <a:t> </a:t>
                      </a:r>
                      <a:r>
                        <a:rPr lang="de-AT" sz="1300" baseline="0" dirty="0" err="1"/>
                        <a:t>resources</a:t>
                      </a:r>
                      <a:endParaRPr lang="de-DE" sz="1300" dirty="0"/>
                    </a:p>
                  </a:txBody>
                  <a:tcPr marL="68544" marR="68544" marT="34272" marB="34272"/>
                </a:tc>
                <a:tc>
                  <a:txBody>
                    <a:bodyPr/>
                    <a:lstStyle/>
                    <a:p>
                      <a:r>
                        <a:rPr lang="de-AT" sz="1300" dirty="0"/>
                        <a:t>Limited</a:t>
                      </a:r>
                      <a:r>
                        <a:rPr lang="de-AT" sz="1300" baseline="0" dirty="0"/>
                        <a:t> </a:t>
                      </a:r>
                      <a:r>
                        <a:rPr lang="de-AT" sz="1300" baseline="0" dirty="0" err="1"/>
                        <a:t>resources</a:t>
                      </a:r>
                      <a:endParaRPr lang="de-DE" sz="1300" dirty="0"/>
                    </a:p>
                  </a:txBody>
                  <a:tcPr marL="68544" marR="68544" marT="34272" marB="34272"/>
                </a:tc>
                <a:extLst>
                  <a:ext uri="{0D108BD9-81ED-4DB2-BD59-A6C34878D82A}">
                    <a16:rowId xmlns:a16="http://schemas.microsoft.com/office/drawing/2014/main" val="10003"/>
                  </a:ext>
                </a:extLst>
              </a:tr>
              <a:tr h="423231">
                <a:tc>
                  <a:txBody>
                    <a:bodyPr/>
                    <a:lstStyle/>
                    <a:p>
                      <a:r>
                        <a:rPr lang="de-AT" sz="1300" dirty="0"/>
                        <a:t>Easy </a:t>
                      </a:r>
                      <a:r>
                        <a:rPr lang="de-AT" sz="1300" dirty="0" err="1"/>
                        <a:t>scaling</a:t>
                      </a:r>
                      <a:endParaRPr lang="de-DE" sz="1300" dirty="0"/>
                    </a:p>
                  </a:txBody>
                  <a:tcPr marL="68544" marR="68544" marT="34272" marB="34272"/>
                </a:tc>
                <a:tc>
                  <a:txBody>
                    <a:bodyPr/>
                    <a:lstStyle/>
                    <a:p>
                      <a:r>
                        <a:rPr lang="de-AT" sz="1300" dirty="0" err="1"/>
                        <a:t>No</a:t>
                      </a:r>
                      <a:r>
                        <a:rPr lang="de-AT" sz="1300" dirty="0"/>
                        <a:t> </a:t>
                      </a:r>
                      <a:r>
                        <a:rPr lang="de-AT" sz="1300" dirty="0" err="1"/>
                        <a:t>or</a:t>
                      </a:r>
                      <a:r>
                        <a:rPr lang="de-AT" sz="1300" dirty="0"/>
                        <a:t> limited </a:t>
                      </a:r>
                      <a:r>
                        <a:rPr lang="de-AT" sz="1300" dirty="0" err="1"/>
                        <a:t>scaling</a:t>
                      </a:r>
                      <a:endParaRPr lang="de-DE" sz="1300" dirty="0"/>
                    </a:p>
                  </a:txBody>
                  <a:tcPr marL="68544" marR="68544" marT="34272" marB="34272"/>
                </a:tc>
                <a:extLst>
                  <a:ext uri="{0D108BD9-81ED-4DB2-BD59-A6C34878D82A}">
                    <a16:rowId xmlns:a16="http://schemas.microsoft.com/office/drawing/2014/main" val="10004"/>
                  </a:ext>
                </a:extLst>
              </a:tr>
              <a:tr h="423231">
                <a:tc>
                  <a:txBody>
                    <a:bodyPr/>
                    <a:lstStyle/>
                    <a:p>
                      <a:r>
                        <a:rPr lang="de-AT" sz="1300" dirty="0"/>
                        <a:t>High</a:t>
                      </a:r>
                      <a:r>
                        <a:rPr lang="de-AT" sz="1300" baseline="0" dirty="0"/>
                        <a:t> </a:t>
                      </a:r>
                      <a:r>
                        <a:rPr lang="de-AT" sz="1300" baseline="0" dirty="0" err="1"/>
                        <a:t>latency</a:t>
                      </a:r>
                      <a:endParaRPr lang="de-DE" sz="1300" dirty="0"/>
                    </a:p>
                  </a:txBody>
                  <a:tcPr marL="68544" marR="68544" marT="34272" marB="34272"/>
                </a:tc>
                <a:tc>
                  <a:txBody>
                    <a:bodyPr/>
                    <a:lstStyle/>
                    <a:p>
                      <a:r>
                        <a:rPr lang="de-AT" sz="1300" dirty="0"/>
                        <a:t>Low </a:t>
                      </a:r>
                      <a:r>
                        <a:rPr lang="de-AT" sz="1300" dirty="0" err="1"/>
                        <a:t>Latency</a:t>
                      </a:r>
                      <a:endParaRPr lang="de-DE" sz="1300" dirty="0"/>
                    </a:p>
                  </a:txBody>
                  <a:tcPr marL="68544" marR="68544" marT="34272" marB="34272"/>
                </a:tc>
                <a:extLst>
                  <a:ext uri="{0D108BD9-81ED-4DB2-BD59-A6C34878D82A}">
                    <a16:rowId xmlns:a16="http://schemas.microsoft.com/office/drawing/2014/main" val="10005"/>
                  </a:ext>
                </a:extLst>
              </a:tr>
              <a:tr h="417433">
                <a:tc>
                  <a:txBody>
                    <a:bodyPr/>
                    <a:lstStyle/>
                    <a:p>
                      <a:r>
                        <a:rPr lang="de-AT" sz="1300" dirty="0"/>
                        <a:t>Limited </a:t>
                      </a:r>
                      <a:r>
                        <a:rPr lang="de-AT" sz="1300" baseline="0" dirty="0" err="1"/>
                        <a:t>privacy</a:t>
                      </a:r>
                      <a:endParaRPr lang="de-DE" sz="1300" dirty="0"/>
                    </a:p>
                  </a:txBody>
                  <a:tcPr marL="68544" marR="68544" marT="34272" marB="34272"/>
                </a:tc>
                <a:tc>
                  <a:txBody>
                    <a:bodyPr/>
                    <a:lstStyle/>
                    <a:p>
                      <a:r>
                        <a:rPr lang="de-AT" sz="1300" dirty="0" err="1"/>
                        <a:t>Full</a:t>
                      </a:r>
                      <a:r>
                        <a:rPr lang="de-AT" sz="1300" dirty="0"/>
                        <a:t> </a:t>
                      </a:r>
                      <a:r>
                        <a:rPr lang="de-AT" sz="1300" dirty="0" err="1"/>
                        <a:t>privacy</a:t>
                      </a:r>
                      <a:endParaRPr lang="de-DE" sz="1300" dirty="0"/>
                    </a:p>
                  </a:txBody>
                  <a:tcPr marL="68544" marR="68544" marT="34272" marB="34272"/>
                </a:tc>
                <a:extLst>
                  <a:ext uri="{0D108BD9-81ED-4DB2-BD59-A6C34878D82A}">
                    <a16:rowId xmlns:a16="http://schemas.microsoft.com/office/drawing/2014/main" val="10006"/>
                  </a:ext>
                </a:extLst>
              </a:tr>
            </a:tbl>
          </a:graphicData>
        </a:graphic>
      </p:graphicFrame>
      <p:grpSp>
        <p:nvGrpSpPr>
          <p:cNvPr id="8" name="Group 7"/>
          <p:cNvGrpSpPr/>
          <p:nvPr/>
        </p:nvGrpSpPr>
        <p:grpSpPr>
          <a:xfrm>
            <a:off x="2486864" y="2388987"/>
            <a:ext cx="1149390" cy="729901"/>
            <a:chOff x="193346" y="2787179"/>
            <a:chExt cx="1533318" cy="973708"/>
          </a:xfrm>
        </p:grpSpPr>
        <p:sp>
          <p:nvSpPr>
            <p:cNvPr id="6" name="Freeform 43"/>
            <p:cNvSpPr>
              <a:spLocks noChangeAspect="1"/>
            </p:cNvSpPr>
            <p:nvPr/>
          </p:nvSpPr>
          <p:spPr bwMode="auto">
            <a:xfrm>
              <a:off x="193346" y="2787179"/>
              <a:ext cx="1533318" cy="973708"/>
            </a:xfrm>
            <a:custGeom>
              <a:avLst/>
              <a:gdLst>
                <a:gd name="T0" fmla="*/ 310 w 396"/>
                <a:gd name="T1" fmla="*/ 251 h 251"/>
                <a:gd name="T2" fmla="*/ 66 w 396"/>
                <a:gd name="T3" fmla="*/ 251 h 251"/>
                <a:gd name="T4" fmla="*/ 63 w 396"/>
                <a:gd name="T5" fmla="*/ 251 h 251"/>
                <a:gd name="T6" fmla="*/ 0 w 396"/>
                <a:gd name="T7" fmla="*/ 185 h 251"/>
                <a:gd name="T8" fmla="*/ 62 w 396"/>
                <a:gd name="T9" fmla="*/ 119 h 251"/>
                <a:gd name="T10" fmla="*/ 59 w 396"/>
                <a:gd name="T11" fmla="*/ 99 h 251"/>
                <a:gd name="T12" fmla="*/ 125 w 396"/>
                <a:gd name="T13" fmla="*/ 33 h 251"/>
                <a:gd name="T14" fmla="*/ 160 w 396"/>
                <a:gd name="T15" fmla="*/ 43 h 251"/>
                <a:gd name="T16" fmla="*/ 231 w 396"/>
                <a:gd name="T17" fmla="*/ 0 h 251"/>
                <a:gd name="T18" fmla="*/ 310 w 396"/>
                <a:gd name="T19" fmla="*/ 79 h 251"/>
                <a:gd name="T20" fmla="*/ 396 w 396"/>
                <a:gd name="T21" fmla="*/ 165 h 251"/>
                <a:gd name="T22" fmla="*/ 310 w 396"/>
                <a:gd name="T23"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6" h="251">
                  <a:moveTo>
                    <a:pt x="310" y="251"/>
                  </a:moveTo>
                  <a:cubicBezTo>
                    <a:pt x="66" y="251"/>
                    <a:pt x="66" y="251"/>
                    <a:pt x="66" y="251"/>
                  </a:cubicBezTo>
                  <a:cubicBezTo>
                    <a:pt x="63" y="251"/>
                    <a:pt x="63" y="251"/>
                    <a:pt x="63" y="251"/>
                  </a:cubicBezTo>
                  <a:cubicBezTo>
                    <a:pt x="28" y="249"/>
                    <a:pt x="0" y="220"/>
                    <a:pt x="0" y="185"/>
                  </a:cubicBezTo>
                  <a:cubicBezTo>
                    <a:pt x="0" y="150"/>
                    <a:pt x="28" y="121"/>
                    <a:pt x="62" y="119"/>
                  </a:cubicBezTo>
                  <a:cubicBezTo>
                    <a:pt x="60" y="113"/>
                    <a:pt x="59" y="106"/>
                    <a:pt x="59" y="99"/>
                  </a:cubicBezTo>
                  <a:cubicBezTo>
                    <a:pt x="59" y="63"/>
                    <a:pt x="89" y="33"/>
                    <a:pt x="125" y="33"/>
                  </a:cubicBezTo>
                  <a:cubicBezTo>
                    <a:pt x="138" y="33"/>
                    <a:pt x="150" y="37"/>
                    <a:pt x="160" y="43"/>
                  </a:cubicBezTo>
                  <a:cubicBezTo>
                    <a:pt x="174" y="18"/>
                    <a:pt x="200" y="0"/>
                    <a:pt x="231" y="0"/>
                  </a:cubicBezTo>
                  <a:cubicBezTo>
                    <a:pt x="275" y="0"/>
                    <a:pt x="310" y="36"/>
                    <a:pt x="310" y="79"/>
                  </a:cubicBezTo>
                  <a:cubicBezTo>
                    <a:pt x="358" y="79"/>
                    <a:pt x="396" y="118"/>
                    <a:pt x="396" y="165"/>
                  </a:cubicBezTo>
                  <a:cubicBezTo>
                    <a:pt x="396" y="213"/>
                    <a:pt x="358" y="251"/>
                    <a:pt x="310" y="251"/>
                  </a:cubicBezTo>
                  <a:close/>
                </a:path>
              </a:pathLst>
            </a:custGeom>
            <a:noFill/>
            <a:ln w="38100">
              <a:solidFill>
                <a:srgbClr val="3C464B"/>
              </a:solidFill>
            </a:ln>
          </p:spPr>
          <p:txBody>
            <a:bodyPr vert="horz" wrap="square" lIns="68544" tIns="34272" rIns="68544" bIns="34272" numCol="1" anchor="t" anchorCtr="0" compatLnSpc="1">
              <a:prstTxWarp prst="textNoShape">
                <a:avLst/>
              </a:prstTxWarp>
            </a:bodyPr>
            <a:lstStyle/>
            <a:p>
              <a:endParaRPr lang="en-US" sz="1349"/>
            </a:p>
          </p:txBody>
        </p:sp>
        <p:sp>
          <p:nvSpPr>
            <p:cNvPr id="7" name="Freeform 21"/>
            <p:cNvSpPr>
              <a:spLocks noEditPoints="1"/>
            </p:cNvSpPr>
            <p:nvPr/>
          </p:nvSpPr>
          <p:spPr bwMode="auto">
            <a:xfrm>
              <a:off x="520986" y="3030872"/>
              <a:ext cx="854992" cy="639733"/>
            </a:xfrm>
            <a:custGeom>
              <a:avLst/>
              <a:gdLst>
                <a:gd name="T0" fmla="*/ 0 w 709"/>
                <a:gd name="T1" fmla="*/ 508 h 531"/>
                <a:gd name="T2" fmla="*/ 709 w 709"/>
                <a:gd name="T3" fmla="*/ 508 h 531"/>
                <a:gd name="T4" fmla="*/ 685 w 709"/>
                <a:gd name="T5" fmla="*/ 531 h 531"/>
                <a:gd name="T6" fmla="*/ 24 w 709"/>
                <a:gd name="T7" fmla="*/ 531 h 531"/>
                <a:gd name="T8" fmla="*/ 0 w 709"/>
                <a:gd name="T9" fmla="*/ 508 h 531"/>
                <a:gd name="T10" fmla="*/ 284 w 709"/>
                <a:gd name="T11" fmla="*/ 366 h 531"/>
                <a:gd name="T12" fmla="*/ 425 w 709"/>
                <a:gd name="T13" fmla="*/ 366 h 531"/>
                <a:gd name="T14" fmla="*/ 425 w 709"/>
                <a:gd name="T15" fmla="*/ 407 h 531"/>
                <a:gd name="T16" fmla="*/ 284 w 709"/>
                <a:gd name="T17" fmla="*/ 407 h 531"/>
                <a:gd name="T18" fmla="*/ 284 w 709"/>
                <a:gd name="T19" fmla="*/ 366 h 531"/>
                <a:gd name="T20" fmla="*/ 80 w 709"/>
                <a:gd name="T21" fmla="*/ 419 h 531"/>
                <a:gd name="T22" fmla="*/ 629 w 709"/>
                <a:gd name="T23" fmla="*/ 419 h 531"/>
                <a:gd name="T24" fmla="*/ 709 w 709"/>
                <a:gd name="T25" fmla="*/ 496 h 531"/>
                <a:gd name="T26" fmla="*/ 0 w 709"/>
                <a:gd name="T27" fmla="*/ 496 h 531"/>
                <a:gd name="T28" fmla="*/ 80 w 709"/>
                <a:gd name="T29" fmla="*/ 419 h 531"/>
                <a:gd name="T30" fmla="*/ 71 w 709"/>
                <a:gd name="T31" fmla="*/ 23 h 531"/>
                <a:gd name="T32" fmla="*/ 638 w 709"/>
                <a:gd name="T33" fmla="*/ 23 h 531"/>
                <a:gd name="T34" fmla="*/ 638 w 709"/>
                <a:gd name="T35" fmla="*/ 330 h 531"/>
                <a:gd name="T36" fmla="*/ 71 w 709"/>
                <a:gd name="T37" fmla="*/ 330 h 531"/>
                <a:gd name="T38" fmla="*/ 71 w 709"/>
                <a:gd name="T39" fmla="*/ 23 h 531"/>
                <a:gd name="T40" fmla="*/ 48 w 709"/>
                <a:gd name="T41" fmla="*/ 18 h 531"/>
                <a:gd name="T42" fmla="*/ 65 w 709"/>
                <a:gd name="T43" fmla="*/ 0 h 531"/>
                <a:gd name="T44" fmla="*/ 644 w 709"/>
                <a:gd name="T45" fmla="*/ 0 h 531"/>
                <a:gd name="T46" fmla="*/ 662 w 709"/>
                <a:gd name="T47" fmla="*/ 18 h 531"/>
                <a:gd name="T48" fmla="*/ 662 w 709"/>
                <a:gd name="T49" fmla="*/ 336 h 531"/>
                <a:gd name="T50" fmla="*/ 644 w 709"/>
                <a:gd name="T51" fmla="*/ 354 h 531"/>
                <a:gd name="T52" fmla="*/ 65 w 709"/>
                <a:gd name="T53" fmla="*/ 354 h 531"/>
                <a:gd name="T54" fmla="*/ 48 w 709"/>
                <a:gd name="T55" fmla="*/ 336 h 531"/>
                <a:gd name="T56" fmla="*/ 48 w 709"/>
                <a:gd name="T57" fmla="*/ 1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9" h="531">
                  <a:moveTo>
                    <a:pt x="0" y="508"/>
                  </a:moveTo>
                  <a:cubicBezTo>
                    <a:pt x="709" y="508"/>
                    <a:pt x="709" y="508"/>
                    <a:pt x="709" y="508"/>
                  </a:cubicBezTo>
                  <a:cubicBezTo>
                    <a:pt x="709" y="521"/>
                    <a:pt x="698" y="531"/>
                    <a:pt x="685" y="531"/>
                  </a:cubicBezTo>
                  <a:cubicBezTo>
                    <a:pt x="24" y="531"/>
                    <a:pt x="24" y="531"/>
                    <a:pt x="24" y="531"/>
                  </a:cubicBezTo>
                  <a:cubicBezTo>
                    <a:pt x="11" y="531"/>
                    <a:pt x="0" y="521"/>
                    <a:pt x="0" y="508"/>
                  </a:cubicBezTo>
                  <a:moveTo>
                    <a:pt x="284" y="366"/>
                  </a:moveTo>
                  <a:cubicBezTo>
                    <a:pt x="425" y="366"/>
                    <a:pt x="425" y="366"/>
                    <a:pt x="425" y="366"/>
                  </a:cubicBezTo>
                  <a:cubicBezTo>
                    <a:pt x="425" y="407"/>
                    <a:pt x="425" y="407"/>
                    <a:pt x="425" y="407"/>
                  </a:cubicBezTo>
                  <a:cubicBezTo>
                    <a:pt x="284" y="407"/>
                    <a:pt x="284" y="407"/>
                    <a:pt x="284" y="407"/>
                  </a:cubicBezTo>
                  <a:lnTo>
                    <a:pt x="284" y="366"/>
                  </a:lnTo>
                  <a:close/>
                  <a:moveTo>
                    <a:pt x="80" y="419"/>
                  </a:moveTo>
                  <a:cubicBezTo>
                    <a:pt x="629" y="419"/>
                    <a:pt x="629" y="419"/>
                    <a:pt x="629" y="419"/>
                  </a:cubicBezTo>
                  <a:cubicBezTo>
                    <a:pt x="709" y="496"/>
                    <a:pt x="709" y="496"/>
                    <a:pt x="709" y="496"/>
                  </a:cubicBezTo>
                  <a:cubicBezTo>
                    <a:pt x="0" y="496"/>
                    <a:pt x="0" y="496"/>
                    <a:pt x="0" y="496"/>
                  </a:cubicBezTo>
                  <a:lnTo>
                    <a:pt x="80" y="419"/>
                  </a:lnTo>
                  <a:close/>
                  <a:moveTo>
                    <a:pt x="71" y="23"/>
                  </a:moveTo>
                  <a:cubicBezTo>
                    <a:pt x="638" y="23"/>
                    <a:pt x="638" y="23"/>
                    <a:pt x="638" y="23"/>
                  </a:cubicBezTo>
                  <a:cubicBezTo>
                    <a:pt x="638" y="330"/>
                    <a:pt x="638" y="330"/>
                    <a:pt x="638" y="330"/>
                  </a:cubicBezTo>
                  <a:cubicBezTo>
                    <a:pt x="71" y="330"/>
                    <a:pt x="71" y="330"/>
                    <a:pt x="71" y="330"/>
                  </a:cubicBezTo>
                  <a:lnTo>
                    <a:pt x="71" y="23"/>
                  </a:lnTo>
                  <a:close/>
                  <a:moveTo>
                    <a:pt x="48" y="18"/>
                  </a:moveTo>
                  <a:cubicBezTo>
                    <a:pt x="48" y="8"/>
                    <a:pt x="56" y="0"/>
                    <a:pt x="65" y="0"/>
                  </a:cubicBezTo>
                  <a:cubicBezTo>
                    <a:pt x="644" y="0"/>
                    <a:pt x="644" y="0"/>
                    <a:pt x="644" y="0"/>
                  </a:cubicBezTo>
                  <a:cubicBezTo>
                    <a:pt x="654" y="0"/>
                    <a:pt x="662" y="8"/>
                    <a:pt x="662" y="18"/>
                  </a:cubicBezTo>
                  <a:cubicBezTo>
                    <a:pt x="662" y="336"/>
                    <a:pt x="662" y="336"/>
                    <a:pt x="662" y="336"/>
                  </a:cubicBezTo>
                  <a:cubicBezTo>
                    <a:pt x="662" y="346"/>
                    <a:pt x="654" y="354"/>
                    <a:pt x="644" y="354"/>
                  </a:cubicBezTo>
                  <a:cubicBezTo>
                    <a:pt x="65" y="354"/>
                    <a:pt x="65" y="354"/>
                    <a:pt x="65" y="354"/>
                  </a:cubicBezTo>
                  <a:cubicBezTo>
                    <a:pt x="56" y="354"/>
                    <a:pt x="48" y="346"/>
                    <a:pt x="48" y="336"/>
                  </a:cubicBezTo>
                  <a:lnTo>
                    <a:pt x="48" y="18"/>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44" tIns="34272" rIns="68544" bIns="34272" numCol="1" anchor="t" anchorCtr="0" compatLnSpc="1">
              <a:prstTxWarp prst="textNoShape">
                <a:avLst/>
              </a:prstTxWarp>
            </a:bodyPr>
            <a:lstStyle/>
            <a:p>
              <a:pPr>
                <a:lnSpc>
                  <a:spcPct val="110000"/>
                </a:lnSpc>
                <a:spcBef>
                  <a:spcPct val="0"/>
                </a:spcBef>
              </a:pPr>
              <a:endParaRPr lang="en-US" sz="1049" kern="1400" dirty="0">
                <a:solidFill>
                  <a:srgbClr val="000000"/>
                </a:solidFill>
                <a:latin typeface="Arial" charset="0"/>
                <a:ea typeface="ＭＳ Ｐゴシック" pitchFamily="34" charset="-128"/>
              </a:endParaRPr>
            </a:p>
          </p:txBody>
        </p:sp>
      </p:grpSp>
      <p:sp>
        <p:nvSpPr>
          <p:cNvPr id="9" name="Freeform 73"/>
          <p:cNvSpPr>
            <a:spLocks noChangeAspect="1" noEditPoints="1"/>
          </p:cNvSpPr>
          <p:nvPr/>
        </p:nvSpPr>
        <p:spPr bwMode="auto">
          <a:xfrm>
            <a:off x="5407126" y="2539297"/>
            <a:ext cx="538645" cy="579591"/>
          </a:xfrm>
          <a:custGeom>
            <a:avLst/>
            <a:gdLst>
              <a:gd name="T0" fmla="*/ 2229 w 2229"/>
              <a:gd name="T1" fmla="*/ 577 h 2400"/>
              <a:gd name="T2" fmla="*/ 2202 w 2229"/>
              <a:gd name="T3" fmla="*/ 636 h 2400"/>
              <a:gd name="T4" fmla="*/ 1964 w 2229"/>
              <a:gd name="T5" fmla="*/ 274 h 2400"/>
              <a:gd name="T6" fmla="*/ 1719 w 2229"/>
              <a:gd name="T7" fmla="*/ 363 h 2400"/>
              <a:gd name="T8" fmla="*/ 1666 w 2229"/>
              <a:gd name="T9" fmla="*/ 251 h 2400"/>
              <a:gd name="T10" fmla="*/ 2005 w 2229"/>
              <a:gd name="T11" fmla="*/ 153 h 2400"/>
              <a:gd name="T12" fmla="*/ 2229 w 2229"/>
              <a:gd name="T13" fmla="*/ 577 h 2400"/>
              <a:gd name="T14" fmla="*/ 1540 w 2229"/>
              <a:gd name="T15" fmla="*/ 560 h 2400"/>
              <a:gd name="T16" fmla="*/ 1655 w 2229"/>
              <a:gd name="T17" fmla="*/ 518 h 2400"/>
              <a:gd name="T18" fmla="*/ 1763 w 2229"/>
              <a:gd name="T19" fmla="*/ 773 h 2400"/>
              <a:gd name="T20" fmla="*/ 2167 w 2229"/>
              <a:gd name="T21" fmla="*/ 711 h 2400"/>
              <a:gd name="T22" fmla="*/ 2140 w 2229"/>
              <a:gd name="T23" fmla="*/ 769 h 2400"/>
              <a:gd name="T24" fmla="*/ 1670 w 2229"/>
              <a:gd name="T25" fmla="*/ 870 h 2400"/>
              <a:gd name="T26" fmla="*/ 1533 w 2229"/>
              <a:gd name="T27" fmla="*/ 560 h 2400"/>
              <a:gd name="T28" fmla="*/ 1540 w 2229"/>
              <a:gd name="T29" fmla="*/ 560 h 2400"/>
              <a:gd name="T30" fmla="*/ 1160 w 2229"/>
              <a:gd name="T31" fmla="*/ 2400 h 2400"/>
              <a:gd name="T32" fmla="*/ 280 w 2229"/>
              <a:gd name="T33" fmla="*/ 2400 h 2400"/>
              <a:gd name="T34" fmla="*/ 280 w 2229"/>
              <a:gd name="T35" fmla="*/ 1640 h 2400"/>
              <a:gd name="T36" fmla="*/ 1160 w 2229"/>
              <a:gd name="T37" fmla="*/ 1640 h 2400"/>
              <a:gd name="T38" fmla="*/ 1160 w 2229"/>
              <a:gd name="T39" fmla="*/ 2400 h 2400"/>
              <a:gd name="T40" fmla="*/ 160 w 2229"/>
              <a:gd name="T41" fmla="*/ 320 h 2400"/>
              <a:gd name="T42" fmla="*/ 0 w 2229"/>
              <a:gd name="T43" fmla="*/ 160 h 2400"/>
              <a:gd name="T44" fmla="*/ 160 w 2229"/>
              <a:gd name="T45" fmla="*/ 0 h 2400"/>
              <a:gd name="T46" fmla="*/ 320 w 2229"/>
              <a:gd name="T47" fmla="*/ 160 h 2400"/>
              <a:gd name="T48" fmla="*/ 160 w 2229"/>
              <a:gd name="T49" fmla="*/ 320 h 2400"/>
              <a:gd name="T50" fmla="*/ 1540 w 2229"/>
              <a:gd name="T51" fmla="*/ 520 h 2400"/>
              <a:gd name="T52" fmla="*/ 1400 w 2229"/>
              <a:gd name="T53" fmla="*/ 380 h 2400"/>
              <a:gd name="T54" fmla="*/ 1540 w 2229"/>
              <a:gd name="T55" fmla="*/ 240 h 2400"/>
              <a:gd name="T56" fmla="*/ 1680 w 2229"/>
              <a:gd name="T57" fmla="*/ 380 h 2400"/>
              <a:gd name="T58" fmla="*/ 1540 w 2229"/>
              <a:gd name="T59" fmla="*/ 520 h 2400"/>
              <a:gd name="T60" fmla="*/ 1270 w 2229"/>
              <a:gd name="T61" fmla="*/ 1497 h 2400"/>
              <a:gd name="T62" fmla="*/ 1271 w 2229"/>
              <a:gd name="T63" fmla="*/ 1498 h 2400"/>
              <a:gd name="T64" fmla="*/ 1160 w 2229"/>
              <a:gd name="T65" fmla="*/ 1600 h 2400"/>
              <a:gd name="T66" fmla="*/ 280 w 2229"/>
              <a:gd name="T67" fmla="*/ 1600 h 2400"/>
              <a:gd name="T68" fmla="*/ 830 w 2229"/>
              <a:gd name="T69" fmla="*/ 1041 h 2400"/>
              <a:gd name="T70" fmla="*/ 1080 w 2229"/>
              <a:gd name="T71" fmla="*/ 920 h 2400"/>
              <a:gd name="T72" fmla="*/ 1400 w 2229"/>
              <a:gd name="T73" fmla="*/ 1240 h 2400"/>
              <a:gd name="T74" fmla="*/ 1270 w 2229"/>
              <a:gd name="T75" fmla="*/ 1497 h 2400"/>
              <a:gd name="T76" fmla="*/ 1080 w 2229"/>
              <a:gd name="T77" fmla="*/ 880 h 2400"/>
              <a:gd name="T78" fmla="*/ 849 w 2229"/>
              <a:gd name="T79" fmla="*/ 963 h 2400"/>
              <a:gd name="T80" fmla="*/ 647 w 2229"/>
              <a:gd name="T81" fmla="*/ 1170 h 2400"/>
              <a:gd name="T82" fmla="*/ 94 w 2229"/>
              <a:gd name="T83" fmla="*/ 349 h 2400"/>
              <a:gd name="T84" fmla="*/ 160 w 2229"/>
              <a:gd name="T85" fmla="*/ 360 h 2400"/>
              <a:gd name="T86" fmla="*/ 360 w 2229"/>
              <a:gd name="T87" fmla="*/ 160 h 2400"/>
              <a:gd name="T88" fmla="*/ 357 w 2229"/>
              <a:gd name="T89" fmla="*/ 125 h 2400"/>
              <a:gd name="T90" fmla="*/ 1177 w 2229"/>
              <a:gd name="T91" fmla="*/ 893 h 2400"/>
              <a:gd name="T92" fmla="*/ 1080 w 2229"/>
              <a:gd name="T93" fmla="*/ 880 h 2400"/>
              <a:gd name="T94" fmla="*/ 1360 w 2229"/>
              <a:gd name="T95" fmla="*/ 380 h 2400"/>
              <a:gd name="T96" fmla="*/ 1408 w 2229"/>
              <a:gd name="T97" fmla="*/ 503 h 2400"/>
              <a:gd name="T98" fmla="*/ 710 w 2229"/>
              <a:gd name="T99" fmla="*/ 401 h 2400"/>
              <a:gd name="T100" fmla="*/ 306 w 2229"/>
              <a:gd name="T101" fmla="*/ 23 h 2400"/>
              <a:gd name="T102" fmla="*/ 1453 w 2229"/>
              <a:gd name="T103" fmla="*/ 222 h 2400"/>
              <a:gd name="T104" fmla="*/ 1360 w 2229"/>
              <a:gd name="T105" fmla="*/ 38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29" h="2400">
                <a:moveTo>
                  <a:pt x="2229" y="577"/>
                </a:moveTo>
                <a:cubicBezTo>
                  <a:pt x="2202" y="636"/>
                  <a:pt x="2202" y="636"/>
                  <a:pt x="2202" y="636"/>
                </a:cubicBezTo>
                <a:cubicBezTo>
                  <a:pt x="1964" y="274"/>
                  <a:pt x="1964" y="274"/>
                  <a:pt x="1964" y="274"/>
                </a:cubicBezTo>
                <a:cubicBezTo>
                  <a:pt x="1719" y="363"/>
                  <a:pt x="1719" y="363"/>
                  <a:pt x="1719" y="363"/>
                </a:cubicBezTo>
                <a:cubicBezTo>
                  <a:pt x="1715" y="319"/>
                  <a:pt x="1695" y="280"/>
                  <a:pt x="1666" y="251"/>
                </a:cubicBezTo>
                <a:cubicBezTo>
                  <a:pt x="2005" y="153"/>
                  <a:pt x="2005" y="153"/>
                  <a:pt x="2005" y="153"/>
                </a:cubicBezTo>
                <a:lnTo>
                  <a:pt x="2229" y="577"/>
                </a:lnTo>
                <a:close/>
                <a:moveTo>
                  <a:pt x="1540" y="560"/>
                </a:moveTo>
                <a:cubicBezTo>
                  <a:pt x="1584" y="560"/>
                  <a:pt x="1624" y="544"/>
                  <a:pt x="1655" y="518"/>
                </a:cubicBezTo>
                <a:cubicBezTo>
                  <a:pt x="1763" y="773"/>
                  <a:pt x="1763" y="773"/>
                  <a:pt x="1763" y="773"/>
                </a:cubicBezTo>
                <a:cubicBezTo>
                  <a:pt x="2167" y="711"/>
                  <a:pt x="2167" y="711"/>
                  <a:pt x="2167" y="711"/>
                </a:cubicBezTo>
                <a:cubicBezTo>
                  <a:pt x="2140" y="769"/>
                  <a:pt x="2140" y="769"/>
                  <a:pt x="2140" y="769"/>
                </a:cubicBezTo>
                <a:cubicBezTo>
                  <a:pt x="1670" y="870"/>
                  <a:pt x="1670" y="870"/>
                  <a:pt x="1670" y="870"/>
                </a:cubicBezTo>
                <a:cubicBezTo>
                  <a:pt x="1533" y="560"/>
                  <a:pt x="1533" y="560"/>
                  <a:pt x="1533" y="560"/>
                </a:cubicBezTo>
                <a:cubicBezTo>
                  <a:pt x="1536" y="560"/>
                  <a:pt x="1538" y="560"/>
                  <a:pt x="1540" y="560"/>
                </a:cubicBezTo>
                <a:close/>
                <a:moveTo>
                  <a:pt x="1160" y="2400"/>
                </a:moveTo>
                <a:cubicBezTo>
                  <a:pt x="280" y="2400"/>
                  <a:pt x="280" y="2400"/>
                  <a:pt x="280" y="2400"/>
                </a:cubicBezTo>
                <a:cubicBezTo>
                  <a:pt x="280" y="1640"/>
                  <a:pt x="280" y="1640"/>
                  <a:pt x="280" y="1640"/>
                </a:cubicBezTo>
                <a:cubicBezTo>
                  <a:pt x="1160" y="1640"/>
                  <a:pt x="1160" y="1640"/>
                  <a:pt x="1160" y="1640"/>
                </a:cubicBezTo>
                <a:lnTo>
                  <a:pt x="1160" y="2400"/>
                </a:lnTo>
                <a:close/>
                <a:moveTo>
                  <a:pt x="160" y="320"/>
                </a:moveTo>
                <a:cubicBezTo>
                  <a:pt x="72" y="320"/>
                  <a:pt x="0" y="248"/>
                  <a:pt x="0" y="160"/>
                </a:cubicBezTo>
                <a:cubicBezTo>
                  <a:pt x="0" y="72"/>
                  <a:pt x="72" y="0"/>
                  <a:pt x="160" y="0"/>
                </a:cubicBezTo>
                <a:cubicBezTo>
                  <a:pt x="248" y="0"/>
                  <a:pt x="320" y="72"/>
                  <a:pt x="320" y="160"/>
                </a:cubicBezTo>
                <a:cubicBezTo>
                  <a:pt x="320" y="248"/>
                  <a:pt x="248" y="320"/>
                  <a:pt x="160" y="320"/>
                </a:cubicBezTo>
                <a:close/>
                <a:moveTo>
                  <a:pt x="1540" y="520"/>
                </a:moveTo>
                <a:cubicBezTo>
                  <a:pt x="1463" y="520"/>
                  <a:pt x="1400" y="457"/>
                  <a:pt x="1400" y="380"/>
                </a:cubicBezTo>
                <a:cubicBezTo>
                  <a:pt x="1400" y="303"/>
                  <a:pt x="1463" y="240"/>
                  <a:pt x="1540" y="240"/>
                </a:cubicBezTo>
                <a:cubicBezTo>
                  <a:pt x="1617" y="240"/>
                  <a:pt x="1680" y="303"/>
                  <a:pt x="1680" y="380"/>
                </a:cubicBezTo>
                <a:cubicBezTo>
                  <a:pt x="1680" y="457"/>
                  <a:pt x="1617" y="520"/>
                  <a:pt x="1540" y="520"/>
                </a:cubicBezTo>
                <a:close/>
                <a:moveTo>
                  <a:pt x="1270" y="1497"/>
                </a:moveTo>
                <a:cubicBezTo>
                  <a:pt x="1271" y="1498"/>
                  <a:pt x="1271" y="1498"/>
                  <a:pt x="1271" y="1498"/>
                </a:cubicBezTo>
                <a:cubicBezTo>
                  <a:pt x="1160" y="1600"/>
                  <a:pt x="1160" y="1600"/>
                  <a:pt x="1160" y="1600"/>
                </a:cubicBezTo>
                <a:cubicBezTo>
                  <a:pt x="280" y="1600"/>
                  <a:pt x="280" y="1600"/>
                  <a:pt x="280" y="1600"/>
                </a:cubicBezTo>
                <a:cubicBezTo>
                  <a:pt x="830" y="1041"/>
                  <a:pt x="830" y="1041"/>
                  <a:pt x="830" y="1041"/>
                </a:cubicBezTo>
                <a:cubicBezTo>
                  <a:pt x="888" y="967"/>
                  <a:pt x="979" y="920"/>
                  <a:pt x="1080" y="920"/>
                </a:cubicBezTo>
                <a:cubicBezTo>
                  <a:pt x="1257" y="920"/>
                  <a:pt x="1400" y="1063"/>
                  <a:pt x="1400" y="1240"/>
                </a:cubicBezTo>
                <a:cubicBezTo>
                  <a:pt x="1400" y="1346"/>
                  <a:pt x="1349" y="1439"/>
                  <a:pt x="1270" y="1497"/>
                </a:cubicBezTo>
                <a:close/>
                <a:moveTo>
                  <a:pt x="1080" y="880"/>
                </a:moveTo>
                <a:cubicBezTo>
                  <a:pt x="992" y="880"/>
                  <a:pt x="912" y="911"/>
                  <a:pt x="849" y="963"/>
                </a:cubicBezTo>
                <a:cubicBezTo>
                  <a:pt x="831" y="979"/>
                  <a:pt x="647" y="1170"/>
                  <a:pt x="647" y="1170"/>
                </a:cubicBezTo>
                <a:cubicBezTo>
                  <a:pt x="94" y="349"/>
                  <a:pt x="94" y="349"/>
                  <a:pt x="94" y="349"/>
                </a:cubicBezTo>
                <a:cubicBezTo>
                  <a:pt x="115" y="356"/>
                  <a:pt x="137" y="360"/>
                  <a:pt x="160" y="360"/>
                </a:cubicBezTo>
                <a:cubicBezTo>
                  <a:pt x="270" y="360"/>
                  <a:pt x="360" y="270"/>
                  <a:pt x="360" y="160"/>
                </a:cubicBezTo>
                <a:cubicBezTo>
                  <a:pt x="360" y="148"/>
                  <a:pt x="359" y="137"/>
                  <a:pt x="357" y="125"/>
                </a:cubicBezTo>
                <a:cubicBezTo>
                  <a:pt x="1177" y="893"/>
                  <a:pt x="1177" y="893"/>
                  <a:pt x="1177" y="893"/>
                </a:cubicBezTo>
                <a:cubicBezTo>
                  <a:pt x="1146" y="885"/>
                  <a:pt x="1114" y="880"/>
                  <a:pt x="1080" y="880"/>
                </a:cubicBezTo>
                <a:close/>
                <a:moveTo>
                  <a:pt x="1360" y="380"/>
                </a:moveTo>
                <a:cubicBezTo>
                  <a:pt x="1360" y="427"/>
                  <a:pt x="1378" y="471"/>
                  <a:pt x="1408" y="503"/>
                </a:cubicBezTo>
                <a:cubicBezTo>
                  <a:pt x="710" y="401"/>
                  <a:pt x="710" y="401"/>
                  <a:pt x="710" y="401"/>
                </a:cubicBezTo>
                <a:cubicBezTo>
                  <a:pt x="306" y="23"/>
                  <a:pt x="306" y="23"/>
                  <a:pt x="306" y="23"/>
                </a:cubicBezTo>
                <a:cubicBezTo>
                  <a:pt x="1453" y="222"/>
                  <a:pt x="1453" y="222"/>
                  <a:pt x="1453" y="222"/>
                </a:cubicBezTo>
                <a:cubicBezTo>
                  <a:pt x="1398" y="253"/>
                  <a:pt x="1360" y="312"/>
                  <a:pt x="1360" y="380"/>
                </a:cubicBezTo>
                <a:close/>
              </a:path>
            </a:pathLst>
          </a:custGeom>
          <a:solidFill>
            <a:srgbClr val="3C464B"/>
          </a:solidFill>
          <a:ln>
            <a:noFill/>
          </a:ln>
        </p:spPr>
        <p:txBody>
          <a:bodyPr vert="horz" wrap="square" lIns="68544" tIns="34272" rIns="68544" bIns="34272" numCol="1" anchor="t" anchorCtr="0" compatLnSpc="1">
            <a:prstTxWarp prst="textNoShape">
              <a:avLst/>
            </a:prstTxWarp>
          </a:bodyPr>
          <a:lstStyle/>
          <a:p>
            <a:endParaRPr lang="en-US" sz="1349" dirty="0"/>
          </a:p>
        </p:txBody>
      </p:sp>
      <p:sp>
        <p:nvSpPr>
          <p:cNvPr id="10" name="Freeform 73"/>
          <p:cNvSpPr>
            <a:spLocks noChangeAspect="1" noEditPoints="1"/>
          </p:cNvSpPr>
          <p:nvPr/>
        </p:nvSpPr>
        <p:spPr bwMode="auto">
          <a:xfrm flipH="1">
            <a:off x="6096078" y="2536445"/>
            <a:ext cx="538645" cy="579591"/>
          </a:xfrm>
          <a:custGeom>
            <a:avLst/>
            <a:gdLst>
              <a:gd name="T0" fmla="*/ 2229 w 2229"/>
              <a:gd name="T1" fmla="*/ 577 h 2400"/>
              <a:gd name="T2" fmla="*/ 2202 w 2229"/>
              <a:gd name="T3" fmla="*/ 636 h 2400"/>
              <a:gd name="T4" fmla="*/ 1964 w 2229"/>
              <a:gd name="T5" fmla="*/ 274 h 2400"/>
              <a:gd name="T6" fmla="*/ 1719 w 2229"/>
              <a:gd name="T7" fmla="*/ 363 h 2400"/>
              <a:gd name="T8" fmla="*/ 1666 w 2229"/>
              <a:gd name="T9" fmla="*/ 251 h 2400"/>
              <a:gd name="T10" fmla="*/ 2005 w 2229"/>
              <a:gd name="T11" fmla="*/ 153 h 2400"/>
              <a:gd name="T12" fmla="*/ 2229 w 2229"/>
              <a:gd name="T13" fmla="*/ 577 h 2400"/>
              <a:gd name="T14" fmla="*/ 1540 w 2229"/>
              <a:gd name="T15" fmla="*/ 560 h 2400"/>
              <a:gd name="T16" fmla="*/ 1655 w 2229"/>
              <a:gd name="T17" fmla="*/ 518 h 2400"/>
              <a:gd name="T18" fmla="*/ 1763 w 2229"/>
              <a:gd name="T19" fmla="*/ 773 h 2400"/>
              <a:gd name="T20" fmla="*/ 2167 w 2229"/>
              <a:gd name="T21" fmla="*/ 711 h 2400"/>
              <a:gd name="T22" fmla="*/ 2140 w 2229"/>
              <a:gd name="T23" fmla="*/ 769 h 2400"/>
              <a:gd name="T24" fmla="*/ 1670 w 2229"/>
              <a:gd name="T25" fmla="*/ 870 h 2400"/>
              <a:gd name="T26" fmla="*/ 1533 w 2229"/>
              <a:gd name="T27" fmla="*/ 560 h 2400"/>
              <a:gd name="T28" fmla="*/ 1540 w 2229"/>
              <a:gd name="T29" fmla="*/ 560 h 2400"/>
              <a:gd name="T30" fmla="*/ 1160 w 2229"/>
              <a:gd name="T31" fmla="*/ 2400 h 2400"/>
              <a:gd name="T32" fmla="*/ 280 w 2229"/>
              <a:gd name="T33" fmla="*/ 2400 h 2400"/>
              <a:gd name="T34" fmla="*/ 280 w 2229"/>
              <a:gd name="T35" fmla="*/ 1640 h 2400"/>
              <a:gd name="T36" fmla="*/ 1160 w 2229"/>
              <a:gd name="T37" fmla="*/ 1640 h 2400"/>
              <a:gd name="T38" fmla="*/ 1160 w 2229"/>
              <a:gd name="T39" fmla="*/ 2400 h 2400"/>
              <a:gd name="T40" fmla="*/ 160 w 2229"/>
              <a:gd name="T41" fmla="*/ 320 h 2400"/>
              <a:gd name="T42" fmla="*/ 0 w 2229"/>
              <a:gd name="T43" fmla="*/ 160 h 2400"/>
              <a:gd name="T44" fmla="*/ 160 w 2229"/>
              <a:gd name="T45" fmla="*/ 0 h 2400"/>
              <a:gd name="T46" fmla="*/ 320 w 2229"/>
              <a:gd name="T47" fmla="*/ 160 h 2400"/>
              <a:gd name="T48" fmla="*/ 160 w 2229"/>
              <a:gd name="T49" fmla="*/ 320 h 2400"/>
              <a:gd name="T50" fmla="*/ 1540 w 2229"/>
              <a:gd name="T51" fmla="*/ 520 h 2400"/>
              <a:gd name="T52" fmla="*/ 1400 w 2229"/>
              <a:gd name="T53" fmla="*/ 380 h 2400"/>
              <a:gd name="T54" fmla="*/ 1540 w 2229"/>
              <a:gd name="T55" fmla="*/ 240 h 2400"/>
              <a:gd name="T56" fmla="*/ 1680 w 2229"/>
              <a:gd name="T57" fmla="*/ 380 h 2400"/>
              <a:gd name="T58" fmla="*/ 1540 w 2229"/>
              <a:gd name="T59" fmla="*/ 520 h 2400"/>
              <a:gd name="T60" fmla="*/ 1270 w 2229"/>
              <a:gd name="T61" fmla="*/ 1497 h 2400"/>
              <a:gd name="T62" fmla="*/ 1271 w 2229"/>
              <a:gd name="T63" fmla="*/ 1498 h 2400"/>
              <a:gd name="T64" fmla="*/ 1160 w 2229"/>
              <a:gd name="T65" fmla="*/ 1600 h 2400"/>
              <a:gd name="T66" fmla="*/ 280 w 2229"/>
              <a:gd name="T67" fmla="*/ 1600 h 2400"/>
              <a:gd name="T68" fmla="*/ 830 w 2229"/>
              <a:gd name="T69" fmla="*/ 1041 h 2400"/>
              <a:gd name="T70" fmla="*/ 1080 w 2229"/>
              <a:gd name="T71" fmla="*/ 920 h 2400"/>
              <a:gd name="T72" fmla="*/ 1400 w 2229"/>
              <a:gd name="T73" fmla="*/ 1240 h 2400"/>
              <a:gd name="T74" fmla="*/ 1270 w 2229"/>
              <a:gd name="T75" fmla="*/ 1497 h 2400"/>
              <a:gd name="T76" fmla="*/ 1080 w 2229"/>
              <a:gd name="T77" fmla="*/ 880 h 2400"/>
              <a:gd name="T78" fmla="*/ 849 w 2229"/>
              <a:gd name="T79" fmla="*/ 963 h 2400"/>
              <a:gd name="T80" fmla="*/ 647 w 2229"/>
              <a:gd name="T81" fmla="*/ 1170 h 2400"/>
              <a:gd name="T82" fmla="*/ 94 w 2229"/>
              <a:gd name="T83" fmla="*/ 349 h 2400"/>
              <a:gd name="T84" fmla="*/ 160 w 2229"/>
              <a:gd name="T85" fmla="*/ 360 h 2400"/>
              <a:gd name="T86" fmla="*/ 360 w 2229"/>
              <a:gd name="T87" fmla="*/ 160 h 2400"/>
              <a:gd name="T88" fmla="*/ 357 w 2229"/>
              <a:gd name="T89" fmla="*/ 125 h 2400"/>
              <a:gd name="T90" fmla="*/ 1177 w 2229"/>
              <a:gd name="T91" fmla="*/ 893 h 2400"/>
              <a:gd name="T92" fmla="*/ 1080 w 2229"/>
              <a:gd name="T93" fmla="*/ 880 h 2400"/>
              <a:gd name="T94" fmla="*/ 1360 w 2229"/>
              <a:gd name="T95" fmla="*/ 380 h 2400"/>
              <a:gd name="T96" fmla="*/ 1408 w 2229"/>
              <a:gd name="T97" fmla="*/ 503 h 2400"/>
              <a:gd name="T98" fmla="*/ 710 w 2229"/>
              <a:gd name="T99" fmla="*/ 401 h 2400"/>
              <a:gd name="T100" fmla="*/ 306 w 2229"/>
              <a:gd name="T101" fmla="*/ 23 h 2400"/>
              <a:gd name="T102" fmla="*/ 1453 w 2229"/>
              <a:gd name="T103" fmla="*/ 222 h 2400"/>
              <a:gd name="T104" fmla="*/ 1360 w 2229"/>
              <a:gd name="T105" fmla="*/ 38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29" h="2400">
                <a:moveTo>
                  <a:pt x="2229" y="577"/>
                </a:moveTo>
                <a:cubicBezTo>
                  <a:pt x="2202" y="636"/>
                  <a:pt x="2202" y="636"/>
                  <a:pt x="2202" y="636"/>
                </a:cubicBezTo>
                <a:cubicBezTo>
                  <a:pt x="1964" y="274"/>
                  <a:pt x="1964" y="274"/>
                  <a:pt x="1964" y="274"/>
                </a:cubicBezTo>
                <a:cubicBezTo>
                  <a:pt x="1719" y="363"/>
                  <a:pt x="1719" y="363"/>
                  <a:pt x="1719" y="363"/>
                </a:cubicBezTo>
                <a:cubicBezTo>
                  <a:pt x="1715" y="319"/>
                  <a:pt x="1695" y="280"/>
                  <a:pt x="1666" y="251"/>
                </a:cubicBezTo>
                <a:cubicBezTo>
                  <a:pt x="2005" y="153"/>
                  <a:pt x="2005" y="153"/>
                  <a:pt x="2005" y="153"/>
                </a:cubicBezTo>
                <a:lnTo>
                  <a:pt x="2229" y="577"/>
                </a:lnTo>
                <a:close/>
                <a:moveTo>
                  <a:pt x="1540" y="560"/>
                </a:moveTo>
                <a:cubicBezTo>
                  <a:pt x="1584" y="560"/>
                  <a:pt x="1624" y="544"/>
                  <a:pt x="1655" y="518"/>
                </a:cubicBezTo>
                <a:cubicBezTo>
                  <a:pt x="1763" y="773"/>
                  <a:pt x="1763" y="773"/>
                  <a:pt x="1763" y="773"/>
                </a:cubicBezTo>
                <a:cubicBezTo>
                  <a:pt x="2167" y="711"/>
                  <a:pt x="2167" y="711"/>
                  <a:pt x="2167" y="711"/>
                </a:cubicBezTo>
                <a:cubicBezTo>
                  <a:pt x="2140" y="769"/>
                  <a:pt x="2140" y="769"/>
                  <a:pt x="2140" y="769"/>
                </a:cubicBezTo>
                <a:cubicBezTo>
                  <a:pt x="1670" y="870"/>
                  <a:pt x="1670" y="870"/>
                  <a:pt x="1670" y="870"/>
                </a:cubicBezTo>
                <a:cubicBezTo>
                  <a:pt x="1533" y="560"/>
                  <a:pt x="1533" y="560"/>
                  <a:pt x="1533" y="560"/>
                </a:cubicBezTo>
                <a:cubicBezTo>
                  <a:pt x="1536" y="560"/>
                  <a:pt x="1538" y="560"/>
                  <a:pt x="1540" y="560"/>
                </a:cubicBezTo>
                <a:close/>
                <a:moveTo>
                  <a:pt x="1160" y="2400"/>
                </a:moveTo>
                <a:cubicBezTo>
                  <a:pt x="280" y="2400"/>
                  <a:pt x="280" y="2400"/>
                  <a:pt x="280" y="2400"/>
                </a:cubicBezTo>
                <a:cubicBezTo>
                  <a:pt x="280" y="1640"/>
                  <a:pt x="280" y="1640"/>
                  <a:pt x="280" y="1640"/>
                </a:cubicBezTo>
                <a:cubicBezTo>
                  <a:pt x="1160" y="1640"/>
                  <a:pt x="1160" y="1640"/>
                  <a:pt x="1160" y="1640"/>
                </a:cubicBezTo>
                <a:lnTo>
                  <a:pt x="1160" y="2400"/>
                </a:lnTo>
                <a:close/>
                <a:moveTo>
                  <a:pt x="160" y="320"/>
                </a:moveTo>
                <a:cubicBezTo>
                  <a:pt x="72" y="320"/>
                  <a:pt x="0" y="248"/>
                  <a:pt x="0" y="160"/>
                </a:cubicBezTo>
                <a:cubicBezTo>
                  <a:pt x="0" y="72"/>
                  <a:pt x="72" y="0"/>
                  <a:pt x="160" y="0"/>
                </a:cubicBezTo>
                <a:cubicBezTo>
                  <a:pt x="248" y="0"/>
                  <a:pt x="320" y="72"/>
                  <a:pt x="320" y="160"/>
                </a:cubicBezTo>
                <a:cubicBezTo>
                  <a:pt x="320" y="248"/>
                  <a:pt x="248" y="320"/>
                  <a:pt x="160" y="320"/>
                </a:cubicBezTo>
                <a:close/>
                <a:moveTo>
                  <a:pt x="1540" y="520"/>
                </a:moveTo>
                <a:cubicBezTo>
                  <a:pt x="1463" y="520"/>
                  <a:pt x="1400" y="457"/>
                  <a:pt x="1400" y="380"/>
                </a:cubicBezTo>
                <a:cubicBezTo>
                  <a:pt x="1400" y="303"/>
                  <a:pt x="1463" y="240"/>
                  <a:pt x="1540" y="240"/>
                </a:cubicBezTo>
                <a:cubicBezTo>
                  <a:pt x="1617" y="240"/>
                  <a:pt x="1680" y="303"/>
                  <a:pt x="1680" y="380"/>
                </a:cubicBezTo>
                <a:cubicBezTo>
                  <a:pt x="1680" y="457"/>
                  <a:pt x="1617" y="520"/>
                  <a:pt x="1540" y="520"/>
                </a:cubicBezTo>
                <a:close/>
                <a:moveTo>
                  <a:pt x="1270" y="1497"/>
                </a:moveTo>
                <a:cubicBezTo>
                  <a:pt x="1271" y="1498"/>
                  <a:pt x="1271" y="1498"/>
                  <a:pt x="1271" y="1498"/>
                </a:cubicBezTo>
                <a:cubicBezTo>
                  <a:pt x="1160" y="1600"/>
                  <a:pt x="1160" y="1600"/>
                  <a:pt x="1160" y="1600"/>
                </a:cubicBezTo>
                <a:cubicBezTo>
                  <a:pt x="280" y="1600"/>
                  <a:pt x="280" y="1600"/>
                  <a:pt x="280" y="1600"/>
                </a:cubicBezTo>
                <a:cubicBezTo>
                  <a:pt x="830" y="1041"/>
                  <a:pt x="830" y="1041"/>
                  <a:pt x="830" y="1041"/>
                </a:cubicBezTo>
                <a:cubicBezTo>
                  <a:pt x="888" y="967"/>
                  <a:pt x="979" y="920"/>
                  <a:pt x="1080" y="920"/>
                </a:cubicBezTo>
                <a:cubicBezTo>
                  <a:pt x="1257" y="920"/>
                  <a:pt x="1400" y="1063"/>
                  <a:pt x="1400" y="1240"/>
                </a:cubicBezTo>
                <a:cubicBezTo>
                  <a:pt x="1400" y="1346"/>
                  <a:pt x="1349" y="1439"/>
                  <a:pt x="1270" y="1497"/>
                </a:cubicBezTo>
                <a:close/>
                <a:moveTo>
                  <a:pt x="1080" y="880"/>
                </a:moveTo>
                <a:cubicBezTo>
                  <a:pt x="992" y="880"/>
                  <a:pt x="912" y="911"/>
                  <a:pt x="849" y="963"/>
                </a:cubicBezTo>
                <a:cubicBezTo>
                  <a:pt x="831" y="979"/>
                  <a:pt x="647" y="1170"/>
                  <a:pt x="647" y="1170"/>
                </a:cubicBezTo>
                <a:cubicBezTo>
                  <a:pt x="94" y="349"/>
                  <a:pt x="94" y="349"/>
                  <a:pt x="94" y="349"/>
                </a:cubicBezTo>
                <a:cubicBezTo>
                  <a:pt x="115" y="356"/>
                  <a:pt x="137" y="360"/>
                  <a:pt x="160" y="360"/>
                </a:cubicBezTo>
                <a:cubicBezTo>
                  <a:pt x="270" y="360"/>
                  <a:pt x="360" y="270"/>
                  <a:pt x="360" y="160"/>
                </a:cubicBezTo>
                <a:cubicBezTo>
                  <a:pt x="360" y="148"/>
                  <a:pt x="359" y="137"/>
                  <a:pt x="357" y="125"/>
                </a:cubicBezTo>
                <a:cubicBezTo>
                  <a:pt x="1177" y="893"/>
                  <a:pt x="1177" y="893"/>
                  <a:pt x="1177" y="893"/>
                </a:cubicBezTo>
                <a:cubicBezTo>
                  <a:pt x="1146" y="885"/>
                  <a:pt x="1114" y="880"/>
                  <a:pt x="1080" y="880"/>
                </a:cubicBezTo>
                <a:close/>
                <a:moveTo>
                  <a:pt x="1360" y="380"/>
                </a:moveTo>
                <a:cubicBezTo>
                  <a:pt x="1360" y="427"/>
                  <a:pt x="1378" y="471"/>
                  <a:pt x="1408" y="503"/>
                </a:cubicBezTo>
                <a:cubicBezTo>
                  <a:pt x="710" y="401"/>
                  <a:pt x="710" y="401"/>
                  <a:pt x="710" y="401"/>
                </a:cubicBezTo>
                <a:cubicBezTo>
                  <a:pt x="306" y="23"/>
                  <a:pt x="306" y="23"/>
                  <a:pt x="306" y="23"/>
                </a:cubicBezTo>
                <a:cubicBezTo>
                  <a:pt x="1453" y="222"/>
                  <a:pt x="1453" y="222"/>
                  <a:pt x="1453" y="222"/>
                </a:cubicBezTo>
                <a:cubicBezTo>
                  <a:pt x="1398" y="253"/>
                  <a:pt x="1360" y="312"/>
                  <a:pt x="1360" y="380"/>
                </a:cubicBezTo>
                <a:close/>
              </a:path>
            </a:pathLst>
          </a:custGeom>
          <a:solidFill>
            <a:srgbClr val="3C464B"/>
          </a:solidFill>
          <a:ln>
            <a:noFill/>
          </a:ln>
        </p:spPr>
        <p:txBody>
          <a:bodyPr vert="horz" wrap="square" lIns="68544" tIns="34272" rIns="68544" bIns="34272" numCol="1" anchor="t" anchorCtr="0" compatLnSpc="1">
            <a:prstTxWarp prst="textNoShape">
              <a:avLst/>
            </a:prstTxWarp>
          </a:bodyPr>
          <a:lstStyle/>
          <a:p>
            <a:endParaRPr lang="en-US" sz="1349" dirty="0"/>
          </a:p>
        </p:txBody>
      </p:sp>
    </p:spTree>
    <p:extLst>
      <p:ext uri="{BB962C8B-B14F-4D97-AF65-F5344CB8AC3E}">
        <p14:creationId xmlns:p14="http://schemas.microsoft.com/office/powerpoint/2010/main" val="2730032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71451" y="1249961"/>
            <a:ext cx="8532227" cy="4899169"/>
          </a:xfrm>
        </p:spPr>
        <p:txBody>
          <a:bodyPr>
            <a:normAutofit fontScale="92500" lnSpcReduction="20000"/>
          </a:bodyPr>
          <a:lstStyle/>
          <a:p>
            <a:pPr algn="just"/>
            <a:r>
              <a:rPr lang="en-IN" sz="1900" b="1" dirty="0">
                <a:solidFill>
                  <a:srgbClr val="000000"/>
                </a:solidFill>
                <a:cs typeface="Avenir Book"/>
              </a:rPr>
              <a:t>Manufacturing </a:t>
            </a:r>
            <a:r>
              <a:rPr lang="en-IN" sz="1900" dirty="0">
                <a:solidFill>
                  <a:srgbClr val="000000"/>
                </a:solidFill>
                <a:cs typeface="Avenir Book"/>
              </a:rPr>
              <a:t>- From creating semiconductors to the assembly of giant industrial machines, edge intelligence enhances manufacturing yields and efficiency using real-time monitoring and diagnostics, machine learning, and operations optimization. The immediacy of edge intelligence enables automated feedback loops in the manufacturing process as well as predictive maintenance for maximizing the uptime and lifespan of equipment and assembly lines.</a:t>
            </a:r>
          </a:p>
          <a:p>
            <a:pPr algn="just"/>
            <a:endParaRPr lang="en-IN" sz="1900" dirty="0">
              <a:solidFill>
                <a:srgbClr val="000000"/>
              </a:solidFill>
              <a:cs typeface="Avenir Book"/>
            </a:endParaRPr>
          </a:p>
          <a:p>
            <a:pPr algn="just"/>
            <a:r>
              <a:rPr lang="en-IN" sz="1900" b="1" dirty="0">
                <a:solidFill>
                  <a:srgbClr val="000000"/>
                </a:solidFill>
                <a:cs typeface="Avenir Book"/>
              </a:rPr>
              <a:t>Oil and gas extraction </a:t>
            </a:r>
            <a:r>
              <a:rPr lang="en-IN" sz="1900" dirty="0">
                <a:solidFill>
                  <a:srgbClr val="000000"/>
                </a:solidFill>
                <a:cs typeface="Avenir Book"/>
              </a:rPr>
              <a:t>are high-stakes technology-driven operations that depend on real-time onsite intelligence to provide proactive monitoring and protection against equipment failure and environmental damage. Because these operations are very remote and lack reliable high speed access to centralized data </a:t>
            </a:r>
            <a:r>
              <a:rPr lang="en-IN" sz="1900" dirty="0" err="1">
                <a:solidFill>
                  <a:srgbClr val="000000"/>
                </a:solidFill>
                <a:cs typeface="Avenir Book"/>
              </a:rPr>
              <a:t>centers</a:t>
            </a:r>
            <a:r>
              <a:rPr lang="en-IN" sz="1900" dirty="0">
                <a:solidFill>
                  <a:srgbClr val="000000"/>
                </a:solidFill>
                <a:cs typeface="Avenir Book"/>
              </a:rPr>
              <a:t>, edge intelligence provides onsite delivery of advanced analytics and enables real-time responses required to ensure maximum production and safety.</a:t>
            </a:r>
          </a:p>
          <a:p>
            <a:pPr algn="just"/>
            <a:endParaRPr lang="en-IN" sz="1900" dirty="0">
              <a:solidFill>
                <a:srgbClr val="000000"/>
              </a:solidFill>
              <a:cs typeface="Avenir Book"/>
            </a:endParaRPr>
          </a:p>
          <a:p>
            <a:pPr algn="just"/>
            <a:r>
              <a:rPr lang="en-IN" sz="1900" b="1" dirty="0">
                <a:solidFill>
                  <a:srgbClr val="000000"/>
                </a:solidFill>
                <a:cs typeface="Avenir Book"/>
              </a:rPr>
              <a:t>Mining</a:t>
            </a:r>
            <a:r>
              <a:rPr lang="en-IN" sz="1900" dirty="0">
                <a:solidFill>
                  <a:srgbClr val="000000"/>
                </a:solidFill>
                <a:cs typeface="Avenir Book"/>
              </a:rPr>
              <a:t> faces extreme environmental conditions in very remote locations with little or no access to the Internet. As a result mining operations are relying more and more on edge intelligence for real-time, onsite monitoring and diagnostics, alarm management, and predictive maintenance to maximize safety, operational efficiency, and to minimize costs and downtime.</a:t>
            </a:r>
          </a:p>
          <a:p>
            <a:br>
              <a:rPr lang="en-IN" dirty="0"/>
            </a:br>
            <a:endParaRPr lang="en-IN" dirty="0"/>
          </a:p>
        </p:txBody>
      </p:sp>
      <p:sp>
        <p:nvSpPr>
          <p:cNvPr id="3" name="Title 2"/>
          <p:cNvSpPr>
            <a:spLocks noGrp="1"/>
          </p:cNvSpPr>
          <p:nvPr>
            <p:ph type="title"/>
          </p:nvPr>
        </p:nvSpPr>
        <p:spPr>
          <a:xfrm>
            <a:off x="427313" y="365127"/>
            <a:ext cx="8012011" cy="884834"/>
          </a:xfrm>
        </p:spPr>
        <p:txBody>
          <a:bodyPr>
            <a:normAutofit/>
          </a:bodyPr>
          <a:lstStyle/>
          <a:p>
            <a:r>
              <a:rPr lang="en-US" sz="3200" dirty="0"/>
              <a:t>The Industry Use Cases of Fog/Edge Computing</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0496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0" y="897622"/>
            <a:ext cx="8534400" cy="5872551"/>
          </a:xfrm>
        </p:spPr>
        <p:txBody>
          <a:bodyPr>
            <a:noAutofit/>
          </a:bodyPr>
          <a:lstStyle/>
          <a:p>
            <a:endParaRPr lang="en-IN" sz="1350" dirty="0">
              <a:latin typeface="Avenir Book"/>
              <a:cs typeface="Avenir Book"/>
            </a:endParaRPr>
          </a:p>
          <a:p>
            <a:pPr algn="just"/>
            <a:r>
              <a:rPr lang="en-IN" sz="1800" b="1" dirty="0">
                <a:solidFill>
                  <a:srgbClr val="000000"/>
                </a:solidFill>
                <a:cs typeface="Avenir Book"/>
              </a:rPr>
              <a:t>Transportation</a:t>
            </a:r>
            <a:r>
              <a:rPr lang="en-IN" sz="1800" dirty="0">
                <a:solidFill>
                  <a:srgbClr val="000000"/>
                </a:solidFill>
                <a:cs typeface="Avenir Book"/>
              </a:rPr>
              <a:t> - As part of the rise in the Industrial Internet, trains and tracks, buses, aircraft, and ships are being equipped with a new generation of instruments and sensors generating petabytes of data that will require additional intelligence for analysis and real-time response. Edge intelligence can process this data locally to enable real-time asset monitoring and management to minimize operational risk and downtime. It can also be used to monitor and control engine idle times to reduce emissions, conserve fuel and maximize profits.</a:t>
            </a:r>
          </a:p>
          <a:p>
            <a:endParaRPr lang="en-IN" sz="1800" dirty="0">
              <a:solidFill>
                <a:srgbClr val="000000"/>
              </a:solidFill>
              <a:cs typeface="Avenir Book"/>
            </a:endParaRPr>
          </a:p>
          <a:p>
            <a:pPr algn="just"/>
            <a:r>
              <a:rPr lang="en-IN" sz="1800" b="1" dirty="0">
                <a:solidFill>
                  <a:srgbClr val="000000"/>
                </a:solidFill>
                <a:cs typeface="Avenir Book"/>
              </a:rPr>
              <a:t>Power and Water </a:t>
            </a:r>
            <a:r>
              <a:rPr lang="en-IN" sz="1800" dirty="0">
                <a:solidFill>
                  <a:srgbClr val="000000"/>
                </a:solidFill>
                <a:cs typeface="Avenir Book"/>
              </a:rPr>
              <a:t>- The unexpected failure of an electrical power plant can create substantial disruption to the downstream power grid. The same holds true when water distribution equipment and pumps fail without warning. To avoid this, edge intelligence enables the proactive benefits of predictive maintenance and real-time responsiveness. It also enables ingestion and analysis of sensor data closer to the source rather than the cloud to reduce latency and bandwidth costs.</a:t>
            </a:r>
          </a:p>
          <a:p>
            <a:endParaRPr lang="en-IN" sz="1800" dirty="0">
              <a:solidFill>
                <a:srgbClr val="000000"/>
              </a:solidFill>
              <a:cs typeface="Avenir Book"/>
            </a:endParaRPr>
          </a:p>
          <a:p>
            <a:pPr algn="just"/>
            <a:r>
              <a:rPr lang="en-IN" sz="1800" b="1" dirty="0">
                <a:solidFill>
                  <a:srgbClr val="000000"/>
                </a:solidFill>
                <a:cs typeface="Avenir Book"/>
              </a:rPr>
              <a:t>Renewable Energy </a:t>
            </a:r>
            <a:r>
              <a:rPr lang="en-IN" sz="1800" dirty="0">
                <a:solidFill>
                  <a:srgbClr val="000000"/>
                </a:solidFill>
                <a:cs typeface="Avenir Book"/>
              </a:rPr>
              <a:t>- New solar, wind, and hydro are very promising sources of clean energy. However constantly changing weather conditions present major challenges for both predicting and delivering a reliable supply of electricity to the power grid. Edge intelligence enables real-time adjustments to maximize power generation as well as advanced analytics for accurate energy forecasting and delivery.</a:t>
            </a:r>
          </a:p>
          <a:p>
            <a:br>
              <a:rPr lang="en-IN" sz="1350" dirty="0">
                <a:latin typeface="Avenir Book"/>
                <a:cs typeface="Avenir Book"/>
              </a:rPr>
            </a:br>
            <a:endParaRPr lang="en-IN" sz="1350" dirty="0">
              <a:latin typeface="Avenir Book"/>
              <a:cs typeface="Avenir Book"/>
            </a:endParaRPr>
          </a:p>
        </p:txBody>
      </p:sp>
      <p:sp>
        <p:nvSpPr>
          <p:cNvPr id="3" name="Title 2"/>
          <p:cNvSpPr>
            <a:spLocks noGrp="1"/>
          </p:cNvSpPr>
          <p:nvPr>
            <p:ph type="title"/>
          </p:nvPr>
        </p:nvSpPr>
        <p:spPr>
          <a:xfrm>
            <a:off x="457200" y="289706"/>
            <a:ext cx="8229600" cy="373024"/>
          </a:xfrm>
        </p:spPr>
        <p:txBody>
          <a:bodyPr>
            <a:normAutofit fontScale="90000"/>
          </a:bodyPr>
          <a:lstStyle/>
          <a:p>
            <a:r>
              <a:rPr lang="en-US" sz="3200" dirty="0"/>
              <a:t>The Industry Use Cases of Fog/Edge Computing</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67871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18289" y="998291"/>
            <a:ext cx="8507422" cy="5754848"/>
          </a:xfrm>
        </p:spPr>
        <p:txBody>
          <a:bodyPr>
            <a:noAutofit/>
          </a:bodyPr>
          <a:lstStyle/>
          <a:p>
            <a:pPr algn="just"/>
            <a:r>
              <a:rPr lang="en-IN" sz="1800" b="1" dirty="0">
                <a:solidFill>
                  <a:srgbClr val="000000"/>
                </a:solidFill>
                <a:cs typeface="Avenir Book"/>
              </a:rPr>
              <a:t>Healthcare</a:t>
            </a:r>
            <a:r>
              <a:rPr lang="en-IN" sz="1800" dirty="0">
                <a:solidFill>
                  <a:srgbClr val="000000"/>
                </a:solidFill>
                <a:cs typeface="Avenir Book"/>
              </a:rPr>
              <a:t> - In the healthcare industry, new diagnostic equipment, patient monitoring tools, and operational technologies are delivering unprecedented levels of patient care but also huge amounts highly sensitive patient data. By processing and </a:t>
            </a:r>
            <a:r>
              <a:rPr lang="en-IN" sz="1800" dirty="0" err="1">
                <a:solidFill>
                  <a:srgbClr val="000000"/>
                </a:solidFill>
                <a:cs typeface="Avenir Book"/>
              </a:rPr>
              <a:t>analyzing</a:t>
            </a:r>
            <a:r>
              <a:rPr lang="en-IN" sz="1800" dirty="0">
                <a:solidFill>
                  <a:srgbClr val="000000"/>
                </a:solidFill>
                <a:cs typeface="Avenir Book"/>
              </a:rPr>
              <a:t> more data at the source, medical facilities can optimize supply chain operations and enhance patient services and privacy at a much lower cost.</a:t>
            </a:r>
          </a:p>
          <a:p>
            <a:endParaRPr lang="en-IN" sz="1800" dirty="0">
              <a:solidFill>
                <a:srgbClr val="000000"/>
              </a:solidFill>
              <a:cs typeface="Avenir Book"/>
            </a:endParaRPr>
          </a:p>
          <a:p>
            <a:pPr algn="just"/>
            <a:r>
              <a:rPr lang="en-IN" sz="1800" b="1" dirty="0">
                <a:solidFill>
                  <a:srgbClr val="000000"/>
                </a:solidFill>
                <a:cs typeface="Avenir Book"/>
              </a:rPr>
              <a:t>Retail</a:t>
            </a:r>
            <a:r>
              <a:rPr lang="en-IN" sz="1800" dirty="0">
                <a:solidFill>
                  <a:srgbClr val="000000"/>
                </a:solidFill>
                <a:cs typeface="Avenir Book"/>
              </a:rPr>
              <a:t> - To compete with online shopping, retailers must lower costs while creating enhanced customer experiences and levels of service that online stores cannot provide. Edge intelligence can enrich the user experience by delivering real-time channel personalization and supply chain optimization. It also enables newer technologies such as facial recognition to deliver even higher levels of personalization and security.</a:t>
            </a:r>
          </a:p>
          <a:p>
            <a:endParaRPr lang="en-IN" sz="1800" dirty="0">
              <a:solidFill>
                <a:srgbClr val="000000"/>
              </a:solidFill>
              <a:cs typeface="Avenir Book"/>
            </a:endParaRPr>
          </a:p>
          <a:p>
            <a:pPr algn="just"/>
            <a:r>
              <a:rPr lang="en-IN" sz="1800" b="1" dirty="0">
                <a:solidFill>
                  <a:srgbClr val="000000"/>
                </a:solidFill>
                <a:cs typeface="Avenir Book"/>
              </a:rPr>
              <a:t>Smart Buildings </a:t>
            </a:r>
            <a:r>
              <a:rPr lang="en-IN" sz="1800" dirty="0">
                <a:solidFill>
                  <a:srgbClr val="000000"/>
                </a:solidFill>
                <a:cs typeface="Avenir Book"/>
              </a:rPr>
              <a:t>- Among the many benefits of smart building technology are lower energy consumption, better security, increased occupant comfort and safety, and better utilization of building assets and services. Rather than sending massive amounts of building data to the cloud for analysis, smart buildings can use edge intelligence for more responsive automation while reducing bandwidth costs and latency.</a:t>
            </a:r>
          </a:p>
          <a:p>
            <a:pPr algn="just"/>
            <a:endParaRPr lang="en-IN" sz="1800" dirty="0">
              <a:solidFill>
                <a:srgbClr val="000000"/>
              </a:solidFill>
              <a:cs typeface="Avenir Book"/>
            </a:endParaRPr>
          </a:p>
          <a:p>
            <a:pPr algn="just"/>
            <a:r>
              <a:rPr lang="en-IN" sz="1800" b="1" dirty="0">
                <a:solidFill>
                  <a:srgbClr val="000000"/>
                </a:solidFill>
                <a:cs typeface="Avenir Book"/>
              </a:rPr>
              <a:t>Drones/Flying Robots/Unmanned Aerial Vehicles (UAVs) for surveillance and instant delivery – </a:t>
            </a:r>
            <a:r>
              <a:rPr lang="en-IN" sz="1800" dirty="0">
                <a:solidFill>
                  <a:srgbClr val="000000"/>
                </a:solidFill>
                <a:cs typeface="Avenir Book"/>
              </a:rPr>
              <a:t>Edge computing facilitates the monitoring, measurement and management of drones. </a:t>
            </a:r>
          </a:p>
          <a:p>
            <a:pPr algn="just"/>
            <a:endParaRPr lang="en-IN" sz="1800" dirty="0">
              <a:solidFill>
                <a:srgbClr val="000000"/>
              </a:solidFill>
              <a:cs typeface="Avenir Book"/>
            </a:endParaRPr>
          </a:p>
        </p:txBody>
      </p:sp>
      <p:sp>
        <p:nvSpPr>
          <p:cNvPr id="6" name="Title 2">
            <a:extLst>
              <a:ext uri="{FF2B5EF4-FFF2-40B4-BE49-F238E27FC236}">
                <a16:creationId xmlns:a16="http://schemas.microsoft.com/office/drawing/2014/main" id="{2FC166E5-287B-4CBC-AE2C-8C3BB3CA4A41}"/>
              </a:ext>
            </a:extLst>
          </p:cNvPr>
          <p:cNvSpPr>
            <a:spLocks noGrp="1"/>
          </p:cNvSpPr>
          <p:nvPr>
            <p:ph type="title"/>
          </p:nvPr>
        </p:nvSpPr>
        <p:spPr>
          <a:xfrm>
            <a:off x="457200" y="440708"/>
            <a:ext cx="8229600" cy="373024"/>
          </a:xfrm>
        </p:spPr>
        <p:txBody>
          <a:bodyPr>
            <a:normAutofit fontScale="90000"/>
          </a:bodyPr>
          <a:lstStyle/>
          <a:p>
            <a:r>
              <a:rPr lang="en-US" sz="3200" dirty="0"/>
              <a:t>The Industry Use Cases of Fog/Edge Computing</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62282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85750" y="637563"/>
            <a:ext cx="8424277" cy="6149131"/>
          </a:xfrm>
        </p:spPr>
        <p:txBody>
          <a:bodyPr>
            <a:normAutofit fontScale="70000" lnSpcReduction="20000"/>
          </a:bodyPr>
          <a:lstStyle/>
          <a:p>
            <a:pPr algn="just"/>
            <a:r>
              <a:rPr lang="en-IN" sz="2300" b="1" dirty="0">
                <a:solidFill>
                  <a:srgbClr val="000000"/>
                </a:solidFill>
                <a:cs typeface="Avenir Book"/>
              </a:rPr>
              <a:t>Connected Vehicles </a:t>
            </a:r>
            <a:r>
              <a:rPr lang="en-IN" sz="2300" dirty="0">
                <a:solidFill>
                  <a:srgbClr val="000000"/>
                </a:solidFill>
                <a:cs typeface="Avenir Book"/>
              </a:rPr>
              <a:t>- Connected vehicle technology adds an entirely new dimension to transportation by extending vehicle operations and controls beyond the driver to include external networks and systems. Edge intelligence and fog computing will enable distributed roadside services such as traffic regulation, vehicle speed management, toll collection, parking assistance, and more.</a:t>
            </a:r>
          </a:p>
          <a:p>
            <a:endParaRPr lang="en-IN" sz="2300" dirty="0">
              <a:solidFill>
                <a:srgbClr val="000000"/>
              </a:solidFill>
              <a:cs typeface="Avenir Book"/>
            </a:endParaRPr>
          </a:p>
          <a:p>
            <a:pPr algn="just"/>
            <a:r>
              <a:rPr lang="en-IN" sz="2300" dirty="0">
                <a:solidFill>
                  <a:srgbClr val="000000"/>
                </a:solidFill>
                <a:cs typeface="Avenir Book"/>
              </a:rPr>
              <a:t>In </a:t>
            </a:r>
            <a:r>
              <a:rPr lang="en-IN" sz="2300" b="1" dirty="0">
                <a:solidFill>
                  <a:srgbClr val="000000"/>
                </a:solidFill>
                <a:cs typeface="Avenir Book"/>
              </a:rPr>
              <a:t>automobile manufacturing</a:t>
            </a:r>
            <a:r>
              <a:rPr lang="en-IN" sz="2300" dirty="0">
                <a:solidFill>
                  <a:srgbClr val="000000"/>
                </a:solidFill>
                <a:cs typeface="Avenir Book"/>
              </a:rPr>
              <a:t>, real-time analytics can be performed on sensor streams from the engine and other parts, alerting the driver to potential imminent failure or to the need for preventive maintenance. Such information can also be transmitted to the cloud or EDW for integration into a database maintained by the vehicle manufacturer. Fine-grain analysis of such anomaly data might reveal vehicle model-specific defects that can be corrected in a timely manner.</a:t>
            </a:r>
          </a:p>
          <a:p>
            <a:endParaRPr lang="en-IN" sz="2300" dirty="0">
              <a:solidFill>
                <a:srgbClr val="000000"/>
              </a:solidFill>
              <a:cs typeface="Avenir Book"/>
            </a:endParaRPr>
          </a:p>
          <a:p>
            <a:pPr algn="just"/>
            <a:r>
              <a:rPr lang="en-IN" sz="2300" dirty="0">
                <a:solidFill>
                  <a:srgbClr val="000000"/>
                </a:solidFill>
                <a:cs typeface="Avenir Book"/>
              </a:rPr>
              <a:t>In the </a:t>
            </a:r>
            <a:r>
              <a:rPr lang="en-IN" sz="2300" b="1" dirty="0">
                <a:solidFill>
                  <a:srgbClr val="000000"/>
                </a:solidFill>
                <a:cs typeface="Avenir Book"/>
              </a:rPr>
              <a:t>aerospace industry</a:t>
            </a:r>
            <a:r>
              <a:rPr lang="en-IN" sz="2300" dirty="0">
                <a:solidFill>
                  <a:srgbClr val="000000"/>
                </a:solidFill>
                <a:cs typeface="Avenir Book"/>
              </a:rPr>
              <a:t>, the sensors in various parts of the airplane generate huge amount of data on the order of 1 terabyte per 24 hours. Intelligent devices (compared to connected devices) would be of great, and sometimes lifesaving, help as immediate proactive actions based on sensor readings could prevent crucial failures.</a:t>
            </a:r>
          </a:p>
          <a:p>
            <a:endParaRPr lang="en-IN" sz="2300" dirty="0">
              <a:solidFill>
                <a:srgbClr val="000000"/>
              </a:solidFill>
              <a:cs typeface="Avenir Book"/>
            </a:endParaRPr>
          </a:p>
          <a:p>
            <a:pPr algn="just"/>
            <a:r>
              <a:rPr lang="en-IN" sz="2300" dirty="0">
                <a:solidFill>
                  <a:srgbClr val="000000"/>
                </a:solidFill>
                <a:cs typeface="Avenir Book"/>
              </a:rPr>
              <a:t>The industrial Internet is going to transform the industry by making industrial machines more intelligent and enabling services using real-time data coming from sensors and machines. The intelligent devices will be able to take actions (to optimize processes, improve efficiencies, reduce costs, etc.) based on insights generated from real-time data and analytics. </a:t>
            </a:r>
          </a:p>
          <a:p>
            <a:endParaRPr lang="en-IN" sz="2300" dirty="0">
              <a:solidFill>
                <a:srgbClr val="000000"/>
              </a:solidFill>
              <a:cs typeface="Avenir Book"/>
            </a:endParaRPr>
          </a:p>
          <a:p>
            <a:pPr algn="just"/>
            <a:r>
              <a:rPr lang="en-IN" sz="2300" b="1" dirty="0">
                <a:solidFill>
                  <a:srgbClr val="000000"/>
                </a:solidFill>
                <a:cs typeface="Avenir Book"/>
              </a:rPr>
              <a:t>Smart Cities </a:t>
            </a:r>
            <a:r>
              <a:rPr lang="en-IN" sz="2300" dirty="0">
                <a:solidFill>
                  <a:srgbClr val="000000"/>
                </a:solidFill>
                <a:cs typeface="Avenir Book"/>
              </a:rPr>
              <a:t>- Integrating data from a diverse collection of municipal systems (e.g. Street lighting, traffic information, parking, public safety, etc.) for interactive management and community access is a common vision for smart city initiatives. However the sheer amount of data generated requires too much bandwidth and processing for cloud-based systems. Edge intelligence provides a more effective solution that distributes data processing and analytics to the edges where sensors and data sources are located.</a:t>
            </a:r>
          </a:p>
          <a:p>
            <a:endParaRPr lang="en-IN" sz="1350" dirty="0">
              <a:solidFill>
                <a:srgbClr val="000000"/>
              </a:solidFill>
              <a:latin typeface="Avenir Book"/>
              <a:cs typeface="Avenir Book"/>
            </a:endParaRPr>
          </a:p>
          <a:p>
            <a:endParaRPr lang="en-IN" sz="1350" dirty="0">
              <a:solidFill>
                <a:srgbClr val="000000"/>
              </a:solidFill>
              <a:latin typeface="Avenir Book"/>
              <a:cs typeface="Avenir Book"/>
            </a:endParaRPr>
          </a:p>
          <a:p>
            <a:endParaRPr lang="en-IN" dirty="0"/>
          </a:p>
        </p:txBody>
      </p:sp>
      <p:sp>
        <p:nvSpPr>
          <p:cNvPr id="6" name="Title 2">
            <a:extLst>
              <a:ext uri="{FF2B5EF4-FFF2-40B4-BE49-F238E27FC236}">
                <a16:creationId xmlns:a16="http://schemas.microsoft.com/office/drawing/2014/main" id="{D24F7603-6EA1-4621-8DD3-6233AE3B1586}"/>
              </a:ext>
            </a:extLst>
          </p:cNvPr>
          <p:cNvSpPr txBox="1">
            <a:spLocks/>
          </p:cNvSpPr>
          <p:nvPr/>
        </p:nvSpPr>
        <p:spPr>
          <a:xfrm>
            <a:off x="383088" y="264539"/>
            <a:ext cx="8229600" cy="373024"/>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The Industry Use Cases of Fog/Edge Computing</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83229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attributes of Edge computing</a:t>
            </a:r>
          </a:p>
        </p:txBody>
      </p:sp>
      <p:sp>
        <p:nvSpPr>
          <p:cNvPr id="3" name="Content Placeholder 2"/>
          <p:cNvSpPr>
            <a:spLocks noGrp="1"/>
          </p:cNvSpPr>
          <p:nvPr>
            <p:ph idx="1"/>
          </p:nvPr>
        </p:nvSpPr>
        <p:spPr>
          <a:xfrm>
            <a:off x="628650" y="1825625"/>
            <a:ext cx="8037178" cy="4351338"/>
          </a:xfrm>
        </p:spPr>
        <p:txBody>
          <a:bodyPr/>
          <a:lstStyle/>
          <a:p>
            <a:pPr marL="0" indent="0">
              <a:buNone/>
            </a:pPr>
            <a:r>
              <a:rPr lang="en-US" dirty="0"/>
              <a:t>The </a:t>
            </a:r>
            <a:r>
              <a:rPr lang="en-US" altLang="zh-CN" dirty="0"/>
              <a:t>u</a:t>
            </a:r>
            <a:r>
              <a:rPr lang="en-US" dirty="0"/>
              <a:t>se </a:t>
            </a:r>
            <a:r>
              <a:rPr lang="en-US" altLang="zh-CN" dirty="0"/>
              <a:t>c</a:t>
            </a:r>
            <a:r>
              <a:rPr lang="en-US" dirty="0"/>
              <a:t>ases that were discussed brings up a number of attributes that differentiate Fog computing platform from the Cloud.</a:t>
            </a:r>
          </a:p>
          <a:p>
            <a:pPr lvl="1"/>
            <a:r>
              <a:rPr lang="en-US" dirty="0"/>
              <a:t>Applications that require very low and predictable latency. </a:t>
            </a:r>
          </a:p>
          <a:p>
            <a:pPr lvl="1"/>
            <a:r>
              <a:rPr lang="en-US" dirty="0"/>
              <a:t>Geo-distributed applications </a:t>
            </a:r>
          </a:p>
          <a:p>
            <a:pPr lvl="1"/>
            <a:r>
              <a:rPr lang="en-US" dirty="0"/>
              <a:t>Fast mobile applications </a:t>
            </a:r>
          </a:p>
          <a:p>
            <a:pPr lvl="1"/>
            <a:r>
              <a:rPr lang="en-US" dirty="0"/>
              <a:t>Large-scale distributed control systems </a:t>
            </a:r>
          </a:p>
          <a:p>
            <a:pPr lvl="1"/>
            <a:r>
              <a:rPr lang="en-US" dirty="0"/>
              <a:t>IoT also brings Big Data with a twist: rather than high volume, the number of data sources distributed geographically</a:t>
            </a:r>
          </a:p>
          <a:p>
            <a:pPr marL="342900" lvl="1" indent="0">
              <a:buNone/>
            </a:pPr>
            <a:endParaRPr lang="en-US" dirty="0"/>
          </a:p>
        </p:txBody>
      </p:sp>
    </p:spTree>
    <p:extLst>
      <p:ext uri="{BB962C8B-B14F-4D97-AF65-F5344CB8AC3E}">
        <p14:creationId xmlns:p14="http://schemas.microsoft.com/office/powerpoint/2010/main" val="2174742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F1CF-C442-418C-A3D3-3E7A3D7FAA82}"/>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BF98CF41-1FB7-426D-AB75-E57723AE95E0}"/>
              </a:ext>
            </a:extLst>
          </p:cNvPr>
          <p:cNvSpPr>
            <a:spLocks noGrp="1"/>
          </p:cNvSpPr>
          <p:nvPr>
            <p:ph idx="1"/>
          </p:nvPr>
        </p:nvSpPr>
        <p:spPr/>
        <p:txBody>
          <a:bodyPr/>
          <a:lstStyle/>
          <a:p>
            <a:r>
              <a:rPr lang="en-US" dirty="0"/>
              <a:t>Do you think edge/fog computing can completely replace the cloud? Why or why not?</a:t>
            </a:r>
          </a:p>
        </p:txBody>
      </p:sp>
      <p:sp>
        <p:nvSpPr>
          <p:cNvPr id="4" name="TextBox 3">
            <a:extLst>
              <a:ext uri="{FF2B5EF4-FFF2-40B4-BE49-F238E27FC236}">
                <a16:creationId xmlns:a16="http://schemas.microsoft.com/office/drawing/2014/main" id="{95BC9038-982C-4ED8-B8F2-0A02F82023E9}"/>
              </a:ext>
            </a:extLst>
          </p:cNvPr>
          <p:cNvSpPr txBox="1"/>
          <p:nvPr/>
        </p:nvSpPr>
        <p:spPr>
          <a:xfrm>
            <a:off x="577645" y="5715298"/>
            <a:ext cx="7988710" cy="923330"/>
          </a:xfrm>
          <a:prstGeom prst="rect">
            <a:avLst/>
          </a:prstGeom>
          <a:noFill/>
        </p:spPr>
        <p:txBody>
          <a:bodyPr wrap="square" rtlCol="0">
            <a:spAutoFit/>
          </a:bodyPr>
          <a:lstStyle/>
          <a:p>
            <a:r>
              <a:rPr lang="en-US" dirty="0"/>
              <a:t>Please go to </a:t>
            </a:r>
          </a:p>
          <a:p>
            <a:pPr algn="ctr"/>
            <a:r>
              <a:rPr lang="en-US" sz="3600" dirty="0">
                <a:solidFill>
                  <a:srgbClr val="0070C0"/>
                </a:solidFill>
              </a:rPr>
              <a:t>PollEv.com/cisgvsu429</a:t>
            </a:r>
            <a:endParaRPr lang="en-US" sz="3600" dirty="0"/>
          </a:p>
        </p:txBody>
      </p:sp>
    </p:spTree>
    <p:extLst>
      <p:ext uri="{BB962C8B-B14F-4D97-AF65-F5344CB8AC3E}">
        <p14:creationId xmlns:p14="http://schemas.microsoft.com/office/powerpoint/2010/main" val="287112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980" y="155402"/>
            <a:ext cx="7886700" cy="599608"/>
          </a:xfrm>
        </p:spPr>
        <p:txBody>
          <a:bodyPr>
            <a:normAutofit fontScale="90000"/>
          </a:bodyPr>
          <a:lstStyle/>
          <a:p>
            <a:r>
              <a:rPr lang="en-US" dirty="0"/>
              <a:t>Fog Computing</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8854" y="835563"/>
            <a:ext cx="8263680" cy="3845428"/>
          </a:xfrm>
        </p:spPr>
      </p:pic>
      <p:sp>
        <p:nvSpPr>
          <p:cNvPr id="5" name="Rectangle 4">
            <a:extLst>
              <a:ext uri="{FF2B5EF4-FFF2-40B4-BE49-F238E27FC236}">
                <a16:creationId xmlns:a16="http://schemas.microsoft.com/office/drawing/2014/main" id="{87CA43CE-7B30-4846-B2E6-ECB917F9C20B}"/>
              </a:ext>
            </a:extLst>
          </p:cNvPr>
          <p:cNvSpPr/>
          <p:nvPr/>
        </p:nvSpPr>
        <p:spPr>
          <a:xfrm>
            <a:off x="222309" y="4547295"/>
            <a:ext cx="8699382" cy="2308324"/>
          </a:xfrm>
          <a:prstGeom prst="rect">
            <a:avLst/>
          </a:prstGeom>
        </p:spPr>
        <p:txBody>
          <a:bodyPr wrap="square">
            <a:spAutoFit/>
          </a:bodyPr>
          <a:lstStyle/>
          <a:p>
            <a:r>
              <a:rPr lang="en-US" dirty="0"/>
              <a:t>Fog computing is making use of decentralized servers in between network core and network edge for data processing and to serve the immediate requirements of the end systems.</a:t>
            </a:r>
          </a:p>
          <a:p>
            <a:endParaRPr lang="en-US" dirty="0"/>
          </a:p>
          <a:p>
            <a:r>
              <a:rPr lang="en-US" dirty="0"/>
              <a:t>Does this replace the cloud?</a:t>
            </a:r>
          </a:p>
          <a:p>
            <a:r>
              <a:rPr lang="en-US" dirty="0"/>
              <a:t>No, Fog computing is non-trivial extension of Cloud computing paradigm to the edge of the network. The cloud has better computing and storage power than the edge servers. Many computing or storage intensive applications should still run in the cloud.</a:t>
            </a:r>
            <a:endParaRPr lang="en-US" sz="1600" dirty="0"/>
          </a:p>
        </p:txBody>
      </p:sp>
    </p:spTree>
    <p:extLst>
      <p:ext uri="{BB962C8B-B14F-4D97-AF65-F5344CB8AC3E}">
        <p14:creationId xmlns:p14="http://schemas.microsoft.com/office/powerpoint/2010/main" val="3014020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1265</TotalTime>
  <Words>2115</Words>
  <Application>Microsoft Macintosh PowerPoint</Application>
  <PresentationFormat>On-screen Show (4:3)</PresentationFormat>
  <Paragraphs>143</Paragraphs>
  <Slides>18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 Unicode MS</vt:lpstr>
      <vt:lpstr>Arial</vt:lpstr>
      <vt:lpstr>Avenir Book</vt:lpstr>
      <vt:lpstr>Calibri</vt:lpstr>
      <vt:lpstr>Calibri Light</vt:lpstr>
      <vt:lpstr>Helvetica Neue</vt:lpstr>
      <vt:lpstr>Helvetica Neue Light</vt:lpstr>
      <vt:lpstr>Office Theme</vt:lpstr>
      <vt:lpstr>Edge/Fog Computing</vt:lpstr>
      <vt:lpstr>Cloud Computing</vt:lpstr>
      <vt:lpstr>Discussion</vt:lpstr>
      <vt:lpstr>Need for fog computing</vt:lpstr>
      <vt:lpstr>PowerPoint Presentation</vt:lpstr>
      <vt:lpstr>PowerPoint Presentation</vt:lpstr>
      <vt:lpstr>Why some IoT applications have to be real-time and at Edge?</vt:lpstr>
      <vt:lpstr>What is Edge/Fog computing?</vt:lpstr>
      <vt:lpstr>PowerPoint Presentation</vt:lpstr>
      <vt:lpstr>The Device Categories</vt:lpstr>
      <vt:lpstr>Edge and Cloud</vt:lpstr>
      <vt:lpstr>The Industry Use Cases of Fog/Edge Computing</vt:lpstr>
      <vt:lpstr>The Industry Use Cases of Fog/Edge Computing</vt:lpstr>
      <vt:lpstr>The Industry Use Cases of Fog/Edge Computing</vt:lpstr>
      <vt:lpstr>PowerPoint Presentation</vt:lpstr>
      <vt:lpstr>Key attributes of Edge computing</vt:lpstr>
      <vt:lpstr>Discussion</vt:lpstr>
      <vt:lpstr>Fog Computing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 Computing</dc:title>
  <dc:creator>Xiang Cao</dc:creator>
  <cp:lastModifiedBy>Xiang Cao</cp:lastModifiedBy>
  <cp:revision>43</cp:revision>
  <dcterms:created xsi:type="dcterms:W3CDTF">2019-04-16T07:49:00Z</dcterms:created>
  <dcterms:modified xsi:type="dcterms:W3CDTF">2022-12-06T02:25:20Z</dcterms:modified>
</cp:coreProperties>
</file>