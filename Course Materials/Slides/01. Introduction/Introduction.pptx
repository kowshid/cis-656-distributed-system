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31"/>
  </p:notesMasterIdLst>
  <p:sldIdLst>
    <p:sldId id="256" r:id="rId2"/>
    <p:sldId id="257" r:id="rId3"/>
    <p:sldId id="258" r:id="rId4"/>
    <p:sldId id="309" r:id="rId5"/>
    <p:sldId id="310" r:id="rId6"/>
    <p:sldId id="259" r:id="rId7"/>
    <p:sldId id="271" r:id="rId8"/>
    <p:sldId id="260" r:id="rId9"/>
    <p:sldId id="261" r:id="rId10"/>
    <p:sldId id="262" r:id="rId11"/>
    <p:sldId id="291" r:id="rId12"/>
    <p:sldId id="292" r:id="rId13"/>
    <p:sldId id="263" r:id="rId14"/>
    <p:sldId id="290" r:id="rId15"/>
    <p:sldId id="293" r:id="rId16"/>
    <p:sldId id="294" r:id="rId17"/>
    <p:sldId id="295" r:id="rId18"/>
    <p:sldId id="296" r:id="rId19"/>
    <p:sldId id="308" r:id="rId20"/>
    <p:sldId id="333" r:id="rId21"/>
    <p:sldId id="298" r:id="rId22"/>
    <p:sldId id="299" r:id="rId23"/>
    <p:sldId id="300" r:id="rId24"/>
    <p:sldId id="282" r:id="rId25"/>
    <p:sldId id="303" r:id="rId26"/>
    <p:sldId id="305" r:id="rId27"/>
    <p:sldId id="306" r:id="rId28"/>
    <p:sldId id="289" r:id="rId29"/>
    <p:sldId id="307" r:id="rId30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2787"/>
    <p:restoredTop sz="71680" autoAdjust="0"/>
  </p:normalViewPr>
  <p:slideViewPr>
    <p:cSldViewPr snapToGrid="0">
      <p:cViewPr varScale="1">
        <p:scale>
          <a:sx n="81" d="100"/>
          <a:sy n="81" d="100"/>
        </p:scale>
        <p:origin x="2082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0FA65E-019E-4D6E-AA4F-80D350F56A8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F766EB-631C-4F93-97C5-1B15D5CC695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EB184984-7DEC-40F4-A007-CA56A3383A0F}" type="datetimeFigureOut">
              <a:rPr lang="en-US"/>
              <a:pPr>
                <a:defRPr/>
              </a:pPr>
              <a:t>8/31/2021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AE1F9BDE-3270-4434-8393-3F88ABC210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569FA9B5-7D3F-44D6-B331-BEABC576AF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2C8646-93F3-4AF9-8D55-9E901D4CD56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BFD996-DBD4-43C9-9F72-08C7BC26B2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05D826AF-CD2E-43B6-AF83-58C4A0D80AB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a quick discussion about what are the potential problems of a single centralized system.</a:t>
            </a:r>
          </a:p>
          <a:p>
            <a:r>
              <a:rPr lang="en-US" dirty="0"/>
              <a:t>Single point of failure</a:t>
            </a:r>
          </a:p>
          <a:p>
            <a:r>
              <a:rPr lang="en-US" dirty="0"/>
              <a:t>Difficult to support concurrency: even though the single centralized system has very powerful CPU, memory and disk drives, the network (Internet) could be a bottleneck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5D826AF-CD2E-43B6-AF83-58C4A0D80AB8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8501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 you give an example?</a:t>
            </a:r>
          </a:p>
          <a:p>
            <a:endParaRPr lang="en-US" dirty="0"/>
          </a:p>
          <a:p>
            <a:r>
              <a:rPr lang="en-US" dirty="0"/>
              <a:t>Web (HTTP)</a:t>
            </a:r>
          </a:p>
          <a:p>
            <a:r>
              <a:rPr lang="en-US" dirty="0"/>
              <a:t>FTP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5D826AF-CD2E-43B6-AF83-58C4A0D80AB8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5871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Google Shape;283;p7:notes">
            <a:extLst>
              <a:ext uri="{FF2B5EF4-FFF2-40B4-BE49-F238E27FC236}">
                <a16:creationId xmlns:a16="http://schemas.microsoft.com/office/drawing/2014/main" id="{A5F519E3-DAF6-4981-A588-F6D341EF45D9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 bwMode="auto">
          <a:xfrm>
            <a:off x="695325" y="577850"/>
            <a:ext cx="2070100" cy="1554163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0 h 120000"/>
              <a:gd name="T4" fmla="*/ 120000 w 120000"/>
              <a:gd name="T5" fmla="*/ 120000 h 120000"/>
              <a:gd name="T6" fmla="*/ 0 w 120000"/>
              <a:gd name="T7" fmla="*/ 120000 h 120000"/>
              <a:gd name="T8" fmla="*/ 0 w 120000"/>
              <a:gd name="T9" fmla="*/ 0 h 12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 cap="flat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Google Shape;284;p7:notes">
            <a:extLst>
              <a:ext uri="{FF2B5EF4-FFF2-40B4-BE49-F238E27FC236}">
                <a16:creationId xmlns:a16="http://schemas.microsoft.com/office/drawing/2014/main" id="{B3E6D2E1-52F0-4640-BE56-73BC128E9A2F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346075" y="2217738"/>
            <a:ext cx="2768600" cy="18176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00" rIns="91425" bIns="4570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Google Shape;285;p7:notes">
            <a:extLst>
              <a:ext uri="{FF2B5EF4-FFF2-40B4-BE49-F238E27FC236}">
                <a16:creationId xmlns:a16="http://schemas.microsoft.com/office/drawing/2014/main" id="{911F9349-FAB3-4A0F-8C52-95C6AE34255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1960563" y="4379913"/>
            <a:ext cx="1498600" cy="2301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00" rIns="91425" bIns="45700" numCol="1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5855EAD-8977-4904-B4F4-1A0E70A4A0DB}" type="slidenum">
              <a:rPr lang="en-US" altLang="en-US" sz="1200" smtClean="0"/>
              <a:pPr/>
              <a:t>4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Google Shape;308;p8:notes">
            <a:extLst>
              <a:ext uri="{FF2B5EF4-FFF2-40B4-BE49-F238E27FC236}">
                <a16:creationId xmlns:a16="http://schemas.microsoft.com/office/drawing/2014/main" id="{332008A2-719E-4636-9E2D-491B2589B9BC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 bwMode="auto">
          <a:xfrm>
            <a:off x="695325" y="577850"/>
            <a:ext cx="2070100" cy="1554163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0 h 120000"/>
              <a:gd name="T4" fmla="*/ 120000 w 120000"/>
              <a:gd name="T5" fmla="*/ 120000 h 120000"/>
              <a:gd name="T6" fmla="*/ 0 w 120000"/>
              <a:gd name="T7" fmla="*/ 120000 h 120000"/>
              <a:gd name="T8" fmla="*/ 0 w 120000"/>
              <a:gd name="T9" fmla="*/ 0 h 12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 cap="flat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Google Shape;309;p8:notes">
            <a:extLst>
              <a:ext uri="{FF2B5EF4-FFF2-40B4-BE49-F238E27FC236}">
                <a16:creationId xmlns:a16="http://schemas.microsoft.com/office/drawing/2014/main" id="{2E19FCB2-89D9-4227-9492-244D0B256739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346075" y="2217738"/>
            <a:ext cx="2768600" cy="18176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00" rIns="91425" bIns="4570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0244" name="Google Shape;310;p8:notes">
            <a:extLst>
              <a:ext uri="{FF2B5EF4-FFF2-40B4-BE49-F238E27FC236}">
                <a16:creationId xmlns:a16="http://schemas.microsoft.com/office/drawing/2014/main" id="{C4F6647E-5E21-4609-A4E2-E0367715E09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1960563" y="4379913"/>
            <a:ext cx="1498600" cy="2301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00" rIns="91425" bIns="45700" numCol="1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13049A8-EDA7-4EBF-91CC-9DE5A1A927BC}" type="slidenum">
              <a:rPr lang="en-US" altLang="en-US" sz="1200" smtClean="0"/>
              <a:pPr/>
              <a:t>5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Google Shape;526;p16:notes">
            <a:extLst>
              <a:ext uri="{FF2B5EF4-FFF2-40B4-BE49-F238E27FC236}">
                <a16:creationId xmlns:a16="http://schemas.microsoft.com/office/drawing/2014/main" id="{75B53265-FDE5-42B0-8ADD-D429CF798650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 bwMode="auto">
          <a:xfrm>
            <a:off x="695325" y="577850"/>
            <a:ext cx="2070100" cy="1554163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0 h 120000"/>
              <a:gd name="T4" fmla="*/ 120000 w 120000"/>
              <a:gd name="T5" fmla="*/ 120000 h 120000"/>
              <a:gd name="T6" fmla="*/ 0 w 120000"/>
              <a:gd name="T7" fmla="*/ 120000 h 120000"/>
              <a:gd name="T8" fmla="*/ 0 w 120000"/>
              <a:gd name="T9" fmla="*/ 0 h 12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 cap="flat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Google Shape;527;p16:notes">
            <a:extLst>
              <a:ext uri="{FF2B5EF4-FFF2-40B4-BE49-F238E27FC236}">
                <a16:creationId xmlns:a16="http://schemas.microsoft.com/office/drawing/2014/main" id="{CBFAE073-85A0-4EB4-B2F0-FEEA52CE1AA5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346075" y="2217738"/>
            <a:ext cx="2768600" cy="18176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00" rIns="91425" bIns="4570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en-US"/>
              <a:t>Interfaces – well-defined = IDL or perhaps a common interface like HTTP, basically implies some sort of formal description of the interface. </a:t>
            </a:r>
          </a:p>
          <a:p>
            <a:pPr eaLnBrk="1" hangingPunct="1">
              <a:spcBef>
                <a:spcPct val="0"/>
              </a:spcBef>
            </a:pPr>
            <a:endParaRPr lang="en-US" altLang="en-US"/>
          </a:p>
          <a:p>
            <a:pPr eaLnBrk="1" hangingPunct="1">
              <a:spcBef>
                <a:spcPct val="0"/>
              </a:spcBef>
            </a:pPr>
            <a:r>
              <a:rPr lang="en-US" altLang="en-US"/>
              <a:t>Interoperability – characterizes the extent by which two implementations of systems or components from different manufacturers can co-exist and work together by merely relying on each other’s services as specified by a common standard</a:t>
            </a:r>
          </a:p>
          <a:p>
            <a:pPr eaLnBrk="1" hangingPunct="1">
              <a:spcBef>
                <a:spcPct val="0"/>
              </a:spcBef>
            </a:pPr>
            <a:endParaRPr lang="en-US" altLang="en-US"/>
          </a:p>
          <a:p>
            <a:pPr eaLnBrk="1" hangingPunct="1">
              <a:spcBef>
                <a:spcPct val="0"/>
              </a:spcBef>
            </a:pPr>
            <a:r>
              <a:rPr lang="en-US" altLang="en-US"/>
              <a:t>Portability – characterizes to what extent application developed for DS A can be executed without modification on a different DS B</a:t>
            </a:r>
          </a:p>
          <a:p>
            <a:pPr eaLnBrk="1" hangingPunct="1">
              <a:spcBef>
                <a:spcPct val="0"/>
              </a:spcBef>
            </a:pPr>
            <a:endParaRPr lang="en-US" altLang="en-US"/>
          </a:p>
          <a:p>
            <a:pPr eaLnBrk="1" hangingPunct="1">
              <a:spcBef>
                <a:spcPct val="0"/>
              </a:spcBef>
            </a:pPr>
            <a:r>
              <a:rPr lang="en-US" altLang="en-US"/>
              <a:t>Extensible – ability to add on to a system or replace components of a system with different components. </a:t>
            </a:r>
          </a:p>
        </p:txBody>
      </p:sp>
      <p:sp>
        <p:nvSpPr>
          <p:cNvPr id="13316" name="Google Shape;528;p16:notes">
            <a:extLst>
              <a:ext uri="{FF2B5EF4-FFF2-40B4-BE49-F238E27FC236}">
                <a16:creationId xmlns:a16="http://schemas.microsoft.com/office/drawing/2014/main" id="{E532F24E-C3B1-4DBA-931B-5089137CA42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1960563" y="4379913"/>
            <a:ext cx="1498600" cy="2301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00" rIns="91425" bIns="45700" numCol="1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1475269-8526-412E-BC25-295C812D04B9}" type="slidenum">
              <a:rPr lang="en-US" altLang="en-US" sz="1200" smtClean="0"/>
              <a:pPr/>
              <a:t>7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Scale-up vs. Scale-out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5D826AF-CD2E-43B6-AF83-58C4A0D80AB8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3635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IoT devices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5D826AF-CD2E-43B6-AF83-58C4A0D80AB8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6310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Google Shape;2871;p78:notes">
            <a:extLst>
              <a:ext uri="{FF2B5EF4-FFF2-40B4-BE49-F238E27FC236}">
                <a16:creationId xmlns:a16="http://schemas.microsoft.com/office/drawing/2014/main" id="{4B73F5AC-81E4-4F58-9A0A-481B5C338567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 bwMode="auto">
          <a:xfrm>
            <a:off x="695325" y="577850"/>
            <a:ext cx="2070100" cy="1554163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0 h 120000"/>
              <a:gd name="T4" fmla="*/ 120000 w 120000"/>
              <a:gd name="T5" fmla="*/ 120000 h 120000"/>
              <a:gd name="T6" fmla="*/ 0 w 120000"/>
              <a:gd name="T7" fmla="*/ 120000 h 120000"/>
              <a:gd name="T8" fmla="*/ 0 w 120000"/>
              <a:gd name="T9" fmla="*/ 0 h 12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 cap="flat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Google Shape;2872;p78:notes">
            <a:extLst>
              <a:ext uri="{FF2B5EF4-FFF2-40B4-BE49-F238E27FC236}">
                <a16:creationId xmlns:a16="http://schemas.microsoft.com/office/drawing/2014/main" id="{CF606F03-7888-498A-A580-49A3A3C31DB7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346075" y="2217738"/>
            <a:ext cx="2768600" cy="18176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00" rIns="91425" bIns="4570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7652" name="Google Shape;2873;p78:notes">
            <a:extLst>
              <a:ext uri="{FF2B5EF4-FFF2-40B4-BE49-F238E27FC236}">
                <a16:creationId xmlns:a16="http://schemas.microsoft.com/office/drawing/2014/main" id="{D0B8F5B9-AECD-4DE3-9F6E-6692DAE9B1A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1960563" y="4379913"/>
            <a:ext cx="1498600" cy="2301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00" rIns="91425" bIns="45700" numCol="1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E26189B-991F-4781-B092-FDA9FD833841}" type="slidenum">
              <a:rPr lang="en-US" altLang="en-US" sz="1200" smtClean="0"/>
              <a:pPr/>
              <a:t>20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A053FC4E-B797-4565-9917-006FF7B7189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74763" y="523875"/>
            <a:ext cx="4333875" cy="3249613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2F1C6CE0-BBCC-4AEE-A950-3F5669493F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D1E9AD71-686E-4210-ADD2-DC25C10D814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74763" y="523875"/>
            <a:ext cx="4333875" cy="3249613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F782DAFC-5305-4775-8C10-56E07AE62E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28C70FBC-4917-451D-82CD-592A8F4F9E5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74763" y="523875"/>
            <a:ext cx="4333875" cy="3249613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815E68EF-7B8C-4894-B6D0-B5392DD235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zh-TW">
                <a:latin typeface="Arial" panose="020B0604020202020204" pitchFamily="34" charset="0"/>
              </a:rPr>
              <a:t>L</a:t>
            </a:r>
            <a:r>
              <a:rPr lang="sv-SE" altLang="zh-TW">
                <a:latin typeface="Arial" panose="020B0604020202020204" pitchFamily="34" charset="0"/>
              </a:rPr>
              <a:t>oad sharing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TW">
                <a:latin typeface="Arial" panose="020B0604020202020204" pitchFamily="34" charset="0"/>
              </a:rPr>
              <a:t>R</a:t>
            </a:r>
            <a:r>
              <a:rPr lang="sv-SE" altLang="zh-TW">
                <a:latin typeface="Arial" panose="020B0604020202020204" pitchFamily="34" charset="0"/>
              </a:rPr>
              <a:t>edundancy</a:t>
            </a:r>
          </a:p>
          <a:p>
            <a:pPr eaLnBrk="1" hangingPunct="1">
              <a:spcBef>
                <a:spcPct val="0"/>
              </a:spcBef>
            </a:pPr>
            <a:endParaRPr lang="zh-TW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D99EE2EA-FE69-4046-B678-D0C8B33A86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74763" y="523875"/>
            <a:ext cx="4333875" cy="3249613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B9D7BBC5-32BA-4BAB-AFA0-85BEFF7ED7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B684A-3B1E-4105-A0BE-A8D1D69CD2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3082E0-9128-4454-915E-CD560C4B9D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E43ABE6-4279-4D78-A060-46975A58A46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006598D-6504-4128-A239-7C8A2FADB8E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A80243E-AE38-45E1-8F7C-1F3CA572A1B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9F1D13-30BB-4882-91A7-2E5CBEDB445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3035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0F47F-0176-4552-AC38-D99E807DC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5BAB8-17F2-474F-ABB7-61EC1FA1B3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DABE7E8-E9A7-4637-90C8-E91B10C5C78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B058078-30D7-4D5B-A36F-A69A1F09D7F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400273D-2C41-4E3D-88D1-A827ECF7471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B57E68-C518-416A-B246-11492D14586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12969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DE907-23B8-4919-8AF3-9C7808642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C48489-DB31-44DE-A05F-D072558748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AD2774A-C7F7-4D7A-ABC6-711CC53FAD6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5B628C8-4DFA-4EC6-ADD0-C4B3B3A96F3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82AEEF6-EC7E-4985-A71E-DD181961A3C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A1A8EC-5AC8-4B76-9B7A-FD72C75F28C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61505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22420-16DB-4BB3-80C7-EAE5384EB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99A4A-2B5C-4767-B788-CBAE25EDBF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5715000"/>
            <a:ext cx="4495800" cy="83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A39B4A-C0AE-4237-8FC9-87F4211775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5715000"/>
            <a:ext cx="4495800" cy="83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287BB3-3B1F-4D62-BABA-E1AFF712863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A0150F-B266-4D75-8DD0-69D673D86CD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5520C1-5421-4322-A593-7AF2DE84E26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C3A27E-2BDB-4D0D-AC9B-8E0273C0C72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1135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DD409-5272-455A-B094-0C97D9731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4E0518-BF7B-44A0-A8BF-08CE81C21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65A104-6A8B-48C5-AB3D-B42DE6EE09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616069-7BC3-4521-A601-60DF66097E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8AC98A-25B4-4793-AE0E-61A7B71939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84539688-0254-4598-82D7-2380838E65D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4BEC2CE7-BB07-448D-82E5-ECE49937AC6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E40CB750-F5FD-440B-ABD0-703D7F8ACA0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746C3C-FC71-4FB4-A960-E031C29734F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09039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4F755-9767-4DF3-8BD2-C27C9B13A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D627D602-A8D2-4224-878E-2AEA46F040D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69DD51B-38B4-4150-9D46-0FB8D92A2B1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44C98D7-75AB-43C0-B37D-A462D6BEA2C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DAE0DF-58E4-4E82-86B1-C4D863A1AC9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59367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92DC7F70-F254-4706-9B53-A09DC39B098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D2E96F4-4872-4AD5-97CA-BA809CF40CA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F7BCB7E-41FB-4BFD-A4FA-89ED8F1BDC1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2839FE-C47C-43B0-AE21-35F44EFBC3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20843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8F8A2-AB72-4E02-B23C-78ABCC0C5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2375D-7FDB-4641-810A-CDEEA3660B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BB2905-2FC4-4CC4-806A-6C9B017B3D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044C23-2105-4B9A-9466-8D69EB0F44E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5862D1-183F-4102-9F67-228898D6C38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746AE9-2F82-450E-9FCF-898820B174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1158CD-49E5-4D5A-9812-C2AD8769F3B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1357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2478E-CF67-493A-A657-BA804B9F5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F063D9-8C0C-41EB-ABEE-417B189AAA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05106B-C1C7-4ECA-9D3E-CA9234F33D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A58C0D-353B-4102-98A3-A0D48F64CCA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B10DD1-A088-4E03-9107-53E8173BB3A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27C83D-7C32-4F14-A00E-C94D22F015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EDE75B-236F-402C-BAEA-C5185055613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74480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921D4-0A37-478E-8207-AA14741FB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5768E2-3088-421D-9B55-95C53FFC1B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0CA019A-FB79-48C8-AB02-34730AE56F4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42FE00E-3358-4060-AA71-0AE0C62FBD9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0307433-D2C2-48E6-A7FF-F226DE487F5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A8C5E4-761E-4BE4-A4DB-A46659A205D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23112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DF98F6-96E7-42CB-9ED3-8D3A97DED3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858000" y="0"/>
            <a:ext cx="2286000" cy="6553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B57E04-37C6-40F7-A06A-32A0932FF6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705600" cy="65532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C23BA0D-FE04-4B67-94B4-C534039D855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E48FC91-0BB3-48B4-A7F0-57AC50BD185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694ADC3-B735-416A-8FA3-477D1622684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A4086F-B98A-4553-915C-1A9B2C4A924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193970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1_Two Conten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0" y="255697"/>
            <a:ext cx="9144000" cy="637983"/>
          </a:xfrm>
          <a:prstGeom prst="rect">
            <a:avLst/>
          </a:prstGeom>
          <a:noFill/>
          <a:ln>
            <a:noFill/>
          </a:ln>
        </p:spPr>
        <p:txBody>
          <a:bodyPr spcFirstLastPara="1" lIns="0" tIns="0" rIns="0" bIns="0" anchor="t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774" b="0" i="0">
                <a:solidFill>
                  <a:srgbClr val="04064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body" idx="1"/>
          </p:nvPr>
        </p:nvSpPr>
        <p:spPr>
          <a:xfrm>
            <a:off x="457201" y="1577340"/>
            <a:ext cx="3977639" cy="4526280"/>
          </a:xfrm>
          <a:prstGeom prst="rect">
            <a:avLst/>
          </a:prstGeom>
          <a:noFill/>
          <a:ln>
            <a:noFill/>
          </a:ln>
        </p:spPr>
        <p:txBody>
          <a:bodyPr spcFirstLastPara="1" lIns="0" tIns="0" rIns="0" bIns="0"/>
          <a:lstStyle>
            <a:lvl1pPr marL="906033" lvl="0" indent="-45301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1812066" lvl="1" indent="-45301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718100" lvl="2" indent="-45301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3624133" lvl="3" indent="-45301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4530166" lvl="4" indent="-45301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5436199" lvl="5" indent="-45301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6342233" lvl="6" indent="-45301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7248266" lvl="7" indent="-45301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8154299" lvl="8" indent="-45301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2"/>
          </p:nvPr>
        </p:nvSpPr>
        <p:spPr>
          <a:xfrm>
            <a:off x="4709160" y="1577340"/>
            <a:ext cx="3977639" cy="4526280"/>
          </a:xfrm>
          <a:prstGeom prst="rect">
            <a:avLst/>
          </a:prstGeom>
          <a:noFill/>
          <a:ln>
            <a:noFill/>
          </a:ln>
        </p:spPr>
        <p:txBody>
          <a:bodyPr spcFirstLastPara="1" lIns="0" tIns="0" rIns="0" bIns="0"/>
          <a:lstStyle>
            <a:lvl1pPr marL="906033" lvl="0" indent="-45301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1812066" lvl="1" indent="-45301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718100" lvl="2" indent="-45301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3624133" lvl="3" indent="-45301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4530166" lvl="4" indent="-45301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5436199" lvl="5" indent="-45301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6342233" lvl="6" indent="-45301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7248266" lvl="7" indent="-45301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8154299" lvl="8" indent="-45301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" name="Google Shape;26;p3">
            <a:extLst>
              <a:ext uri="{FF2B5EF4-FFF2-40B4-BE49-F238E27FC236}">
                <a16:creationId xmlns:a16="http://schemas.microsoft.com/office/drawing/2014/main" id="{84919F05-A29A-4BAC-8280-446BB8DF8F98}"/>
              </a:ext>
            </a:extLst>
          </p:cNvPr>
          <p:cNvSpPr txBox="1">
            <a:spLocks noGrp="1"/>
          </p:cNvSpPr>
          <p:nvPr>
            <p:ph type="ftr" idx="10"/>
          </p:nvPr>
        </p:nvSpPr>
        <p:spPr>
          <a:xfrm>
            <a:off x="3108325" y="6378575"/>
            <a:ext cx="2927350" cy="342900"/>
          </a:xfrm>
        </p:spPr>
        <p:txBody>
          <a:bodyPr spcFirstLastPara="1" lIns="0" tIns="0" rIns="0" bIns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" name="Google Shape;27;p3">
            <a:extLst>
              <a:ext uri="{FF2B5EF4-FFF2-40B4-BE49-F238E27FC236}">
                <a16:creationId xmlns:a16="http://schemas.microsoft.com/office/drawing/2014/main" id="{41DFA053-7C3C-4047-A42D-EAC31BB538F4}"/>
              </a:ext>
            </a:extLst>
          </p:cNvPr>
          <p:cNvSpPr txBox="1">
            <a:spLocks noGrp="1"/>
          </p:cNvSpPr>
          <p:nvPr>
            <p:ph type="dt" idx="11"/>
          </p:nvPr>
        </p:nvSpPr>
        <p:spPr>
          <a:xfrm>
            <a:off x="457200" y="6378575"/>
            <a:ext cx="2103438" cy="342900"/>
          </a:xfrm>
        </p:spPr>
        <p:txBody>
          <a:bodyPr spcFirstLastPara="1" lIns="0" tIns="0" rIns="0" b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" name="Google Shape;28;p3">
            <a:extLst>
              <a:ext uri="{FF2B5EF4-FFF2-40B4-BE49-F238E27FC236}">
                <a16:creationId xmlns:a16="http://schemas.microsoft.com/office/drawing/2014/main" id="{2B9F06C3-E7F4-47A5-B155-99038BD1F63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0900" y="6600825"/>
            <a:ext cx="536575" cy="238125"/>
          </a:xfrm>
        </p:spPr>
        <p:txBody>
          <a:bodyPr spcFirstLastPara="1" lIns="0" tIns="0" rIns="0" bIns="0">
            <a:noAutofit/>
          </a:bodyPr>
          <a:lstStyle>
            <a:lvl1pPr marL="50335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89" b="0" i="0" smtClean="0">
                <a:solidFill>
                  <a:srgbClr val="04064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50335" marR="0" lvl="1" indent="0" algn="l">
              <a:lnSpc>
                <a:spcPct val="100000"/>
              </a:lnSpc>
              <a:spcBef>
                <a:spcPts val="0"/>
              </a:spcBef>
              <a:buNone/>
              <a:defRPr sz="1189" b="0" i="0">
                <a:solidFill>
                  <a:srgbClr val="04064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50335" marR="0" lvl="2" indent="0" algn="l">
              <a:lnSpc>
                <a:spcPct val="100000"/>
              </a:lnSpc>
              <a:spcBef>
                <a:spcPts val="0"/>
              </a:spcBef>
              <a:buNone/>
              <a:defRPr sz="1189" b="0" i="0">
                <a:solidFill>
                  <a:srgbClr val="04064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50335" marR="0" lvl="3" indent="0" algn="l">
              <a:lnSpc>
                <a:spcPct val="100000"/>
              </a:lnSpc>
              <a:spcBef>
                <a:spcPts val="0"/>
              </a:spcBef>
              <a:buNone/>
              <a:defRPr sz="1189" b="0" i="0">
                <a:solidFill>
                  <a:srgbClr val="04064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50335" marR="0" lvl="4" indent="0" algn="l">
              <a:lnSpc>
                <a:spcPct val="100000"/>
              </a:lnSpc>
              <a:spcBef>
                <a:spcPts val="0"/>
              </a:spcBef>
              <a:buNone/>
              <a:defRPr sz="1189" b="0" i="0">
                <a:solidFill>
                  <a:srgbClr val="04064C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50335" marR="0" lvl="5" indent="0" algn="l">
              <a:lnSpc>
                <a:spcPct val="100000"/>
              </a:lnSpc>
              <a:spcBef>
                <a:spcPts val="0"/>
              </a:spcBef>
              <a:buNone/>
              <a:defRPr sz="1189" b="0" i="0">
                <a:solidFill>
                  <a:srgbClr val="04064C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50335" marR="0" lvl="6" indent="0" algn="l">
              <a:lnSpc>
                <a:spcPct val="100000"/>
              </a:lnSpc>
              <a:spcBef>
                <a:spcPts val="0"/>
              </a:spcBef>
              <a:buNone/>
              <a:defRPr sz="1189" b="0" i="0">
                <a:solidFill>
                  <a:srgbClr val="04064C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50335" marR="0" lvl="7" indent="0" algn="l">
              <a:lnSpc>
                <a:spcPct val="100000"/>
              </a:lnSpc>
              <a:spcBef>
                <a:spcPts val="0"/>
              </a:spcBef>
              <a:buNone/>
              <a:defRPr sz="1189" b="0" i="0">
                <a:solidFill>
                  <a:srgbClr val="04064C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0335" marR="0" lvl="8" indent="0" algn="l">
              <a:lnSpc>
                <a:spcPct val="100000"/>
              </a:lnSpc>
              <a:spcBef>
                <a:spcPts val="0"/>
              </a:spcBef>
              <a:buNone/>
              <a:defRPr sz="1189" b="0" i="0">
                <a:solidFill>
                  <a:srgbClr val="04064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defRPr/>
            </a:pPr>
            <a:fld id="{A049C1C0-54C4-407B-B7E6-08ECD5EFC89D}" type="slidenum">
              <a:rPr lang="en-US"/>
              <a:pPr>
                <a:defRPr/>
              </a:pPr>
              <a:t>‹#›</a:t>
            </a:fld>
            <a:r>
              <a:rPr lang="en-US"/>
              <a:t> / 56</a:t>
            </a:r>
          </a:p>
        </p:txBody>
      </p:sp>
    </p:spTree>
    <p:extLst>
      <p:ext uri="{BB962C8B-B14F-4D97-AF65-F5344CB8AC3E}">
        <p14:creationId xmlns:p14="http://schemas.microsoft.com/office/powerpoint/2010/main" val="1943558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6AFFFE7-9041-4A51-85CA-E54AF639C0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3D65431-28DE-4209-8C99-23A9066E72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5715000"/>
            <a:ext cx="91440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3706986D-3C85-425E-8398-F44341FC1BB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4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2D440883-B6FE-4EF7-81FA-9DBEE63F32F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68F4359C-85B4-4AB3-A8D4-7EA18B60A57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9CEE76AC-C7E9-4C1C-AB68-8785233006D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rgbClr val="FF0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anose="02020603050405020304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anose="02020603050405020304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anose="02020603050405020304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anose="02020603050405020304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anose="02020603050405020304" pitchFamily="18" charset="0"/>
        </a:defRPr>
      </a:lvl9pPr>
    </p:titleStyle>
    <p:bodyStyle>
      <a:lvl1pPr marL="342900" indent="-342900" algn="ctr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B3CCB4D3-D8C7-41D0-96CE-FF98CC67523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 anchor="ctr"/>
          <a:lstStyle/>
          <a:p>
            <a:pPr eaLnBrk="1" hangingPunct="1"/>
            <a:r>
              <a:rPr lang="en-US" altLang="en-US" sz="4400"/>
              <a:t>Introduction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826E6367-137A-400B-8A9E-2F935665BE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Definition of a Distributed System (1)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95A1C76F-0E3F-454D-94AA-C60AFB45F4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46225" y="1143000"/>
            <a:ext cx="6051550" cy="2971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A distributed system is:</a:t>
            </a:r>
          </a:p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A collection of independent computers that appears to its users as a single coherent system.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AE13BA-F2A8-4260-A1DD-8ABB796AB90C}"/>
              </a:ext>
            </a:extLst>
          </p:cNvPr>
          <p:cNvSpPr/>
          <p:nvPr/>
        </p:nvSpPr>
        <p:spPr>
          <a:xfrm>
            <a:off x="101600" y="4213225"/>
            <a:ext cx="8940800" cy="2200275"/>
          </a:xfrm>
          <a:prstGeom prst="rect">
            <a:avLst/>
          </a:prstGeom>
        </p:spPr>
        <p:txBody>
          <a:bodyPr>
            <a:spAutoFit/>
          </a:bodyPr>
          <a:lstStyle>
            <a:lvl1pPr marL="158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>
                <a:solidFill>
                  <a:srgbClr val="04064C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Characteristic features</a:t>
            </a:r>
            <a:endParaRPr lang="en-US" altLang="en-US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>
              <a:spcBef>
                <a:spcPts val="625"/>
              </a:spcBef>
            </a:pPr>
            <a:r>
              <a:rPr lang="en-US" alt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Autonomous computing elements, also referred to as </a:t>
            </a:r>
            <a:r>
              <a:rPr lang="en-US" altLang="en-US">
                <a:solidFill>
                  <a:srgbClr val="FA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nodes</a:t>
            </a:r>
            <a:r>
              <a:rPr lang="en-US" alt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, be they are hardware devices or software processes.</a:t>
            </a:r>
          </a:p>
          <a:p>
            <a:pPr>
              <a:lnSpc>
                <a:spcPct val="120000"/>
              </a:lnSpc>
              <a:spcBef>
                <a:spcPts val="588"/>
              </a:spcBef>
            </a:pPr>
            <a:r>
              <a:rPr lang="en-US" alt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Single coherent system: users or applications perceive a single system </a:t>
            </a:r>
            <a:r>
              <a:rPr lang="en-US" altLang="en-US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⇒ </a:t>
            </a:r>
            <a:r>
              <a:rPr lang="en-US" alt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nodes need to </a:t>
            </a:r>
            <a:r>
              <a:rPr lang="en-US" altLang="en-US">
                <a:solidFill>
                  <a:srgbClr val="0000FA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collaborate</a:t>
            </a:r>
            <a:r>
              <a:rPr lang="en-US" alt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78A3B0F8-B8F0-4192-B956-3030905369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Definition of a Distributed System (2)</a:t>
            </a:r>
          </a:p>
        </p:txBody>
      </p:sp>
      <p:sp>
        <p:nvSpPr>
          <p:cNvPr id="6147" name="Text Box 4">
            <a:extLst>
              <a:ext uri="{FF2B5EF4-FFF2-40B4-BE49-F238E27FC236}">
                <a16:creationId xmlns:a16="http://schemas.microsoft.com/office/drawing/2014/main" id="{0F0E8F65-82F1-4FB9-8865-03D88386D4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003925"/>
            <a:ext cx="91440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20000"/>
              </a:spcBef>
              <a:buClr>
                <a:schemeClr val="accent2"/>
              </a:buCl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</a:pPr>
            <a:r>
              <a:rPr lang="en-US" altLang="en-US" sz="2400"/>
              <a:t>A distributed system organized as middleware.</a:t>
            </a:r>
            <a:br>
              <a:rPr lang="en-US" altLang="en-US" sz="2400"/>
            </a:br>
            <a:r>
              <a:rPr lang="en-US" altLang="en-US" sz="2400"/>
              <a:t>Note that the middleware layer extends over multiple machines.</a:t>
            </a:r>
          </a:p>
        </p:txBody>
      </p:sp>
      <p:pic>
        <p:nvPicPr>
          <p:cNvPr id="6148" name="Picture 7">
            <a:extLst>
              <a:ext uri="{FF2B5EF4-FFF2-40B4-BE49-F238E27FC236}">
                <a16:creationId xmlns:a16="http://schemas.microsoft.com/office/drawing/2014/main" id="{D573929F-C793-46F7-B29F-A69F79D720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763" y="928688"/>
            <a:ext cx="8372475" cy="418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9" name="Rectangle 1">
            <a:extLst>
              <a:ext uri="{FF2B5EF4-FFF2-40B4-BE49-F238E27FC236}">
                <a16:creationId xmlns:a16="http://schemas.microsoft.com/office/drawing/2014/main" id="{C8C7745D-EC46-46CB-B908-1D6684E3FF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438" y="5105400"/>
            <a:ext cx="7731125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spcBef>
                <a:spcPct val="20000"/>
              </a:spcBef>
              <a:buClr>
                <a:schemeClr val="accent2"/>
              </a:buCl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</a:pPr>
            <a:r>
              <a:rPr lang="en-US" altLang="en-US" sz="2400">
                <a:solidFill>
                  <a:srgbClr val="0070C0"/>
                </a:solidFill>
                <a:latin typeface="NimbusSanL-Regu"/>
              </a:rPr>
              <a:t>Commonly used components and functions that need not be implemented by applications separately.</a:t>
            </a:r>
            <a:endParaRPr lang="en-US" altLang="en-US" sz="240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Google Shape;289;p13">
            <a:extLst>
              <a:ext uri="{FF2B5EF4-FFF2-40B4-BE49-F238E27FC236}">
                <a16:creationId xmlns:a16="http://schemas.microsoft.com/office/drawing/2014/main" id="{D96C52D9-0917-4298-83D0-B5E4D9E1F0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4775" y="255588"/>
            <a:ext cx="8856663" cy="831850"/>
          </a:xfrm>
          <a:solidFill>
            <a:schemeClr val="bg1"/>
          </a:solidFill>
        </p:spPr>
        <p:txBody>
          <a:bodyPr lIns="0" tIns="123308" rIns="0" bIns="0" anchor="t"/>
          <a:lstStyle/>
          <a:p>
            <a:pPr marL="212725"/>
            <a:r>
              <a:rPr lang="en-US" altLang="en-US"/>
              <a:t>What do we want to achieve?</a:t>
            </a:r>
          </a:p>
        </p:txBody>
      </p:sp>
      <p:sp>
        <p:nvSpPr>
          <p:cNvPr id="291" name="Google Shape;291;p13">
            <a:extLst>
              <a:ext uri="{FF2B5EF4-FFF2-40B4-BE49-F238E27FC236}">
                <a16:creationId xmlns:a16="http://schemas.microsoft.com/office/drawing/2014/main" id="{0B12D0C3-46B4-46D5-BA95-4BA08B41C112}"/>
              </a:ext>
            </a:extLst>
          </p:cNvPr>
          <p:cNvSpPr/>
          <p:nvPr/>
        </p:nvSpPr>
        <p:spPr>
          <a:xfrm>
            <a:off x="279400" y="4289425"/>
            <a:ext cx="200025" cy="20161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 sz="350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96" name="Google Shape;296;p13">
            <a:extLst>
              <a:ext uri="{FF2B5EF4-FFF2-40B4-BE49-F238E27FC236}">
                <a16:creationId xmlns:a16="http://schemas.microsoft.com/office/drawing/2014/main" id="{F07A9EC4-CD04-4518-A420-E2F5460812B7}"/>
              </a:ext>
            </a:extLst>
          </p:cNvPr>
          <p:cNvSpPr/>
          <p:nvPr/>
        </p:nvSpPr>
        <p:spPr>
          <a:xfrm>
            <a:off x="8961438" y="2646363"/>
            <a:ext cx="0" cy="25400"/>
          </a:xfrm>
          <a:custGeom>
            <a:avLst/>
            <a:gdLst/>
            <a:ahLst/>
            <a:cxnLst/>
            <a:rect l="l" t="t" r="r" b="b"/>
            <a:pathLst>
              <a:path w="120000" h="12700" extrusionOk="0">
                <a:moveTo>
                  <a:pt x="0" y="12700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rgbClr val="AFAF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lIns="0" tIns="0" rIns="0" bIns="0"/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sz="35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3">
            <a:extLst>
              <a:ext uri="{FF2B5EF4-FFF2-40B4-BE49-F238E27FC236}">
                <a16:creationId xmlns:a16="http://schemas.microsoft.com/office/drawing/2014/main" id="{86DB9EB9-487F-4F88-A0BA-1E926E5843A9}"/>
              </a:ext>
            </a:extLst>
          </p:cNvPr>
          <p:cNvSpPr/>
          <p:nvPr/>
        </p:nvSpPr>
        <p:spPr>
          <a:xfrm>
            <a:off x="8961438" y="2622550"/>
            <a:ext cx="0" cy="23813"/>
          </a:xfrm>
          <a:custGeom>
            <a:avLst/>
            <a:gdLst/>
            <a:ahLst/>
            <a:cxnLst/>
            <a:rect l="l" t="t" r="r" b="b"/>
            <a:pathLst>
              <a:path w="120000" h="12700" extrusionOk="0">
                <a:moveTo>
                  <a:pt x="0" y="12700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rgbClr val="CECE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lIns="0" tIns="0" rIns="0" bIns="0"/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sz="35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3">
            <a:extLst>
              <a:ext uri="{FF2B5EF4-FFF2-40B4-BE49-F238E27FC236}">
                <a16:creationId xmlns:a16="http://schemas.microsoft.com/office/drawing/2014/main" id="{2F99A8DD-A6E6-4AA6-A179-181C060E2915}"/>
              </a:ext>
            </a:extLst>
          </p:cNvPr>
          <p:cNvSpPr/>
          <p:nvPr/>
        </p:nvSpPr>
        <p:spPr>
          <a:xfrm>
            <a:off x="8961438" y="2597150"/>
            <a:ext cx="0" cy="25400"/>
          </a:xfrm>
          <a:custGeom>
            <a:avLst/>
            <a:gdLst/>
            <a:ahLst/>
            <a:cxnLst/>
            <a:rect l="l" t="t" r="r" b="b"/>
            <a:pathLst>
              <a:path w="120000" h="12700" extrusionOk="0">
                <a:moveTo>
                  <a:pt x="0" y="12700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rgbClr val="EFEF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lIns="0" tIns="0" rIns="0" bIns="0"/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sz="35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3">
            <a:extLst>
              <a:ext uri="{FF2B5EF4-FFF2-40B4-BE49-F238E27FC236}">
                <a16:creationId xmlns:a16="http://schemas.microsoft.com/office/drawing/2014/main" id="{FC04101B-7CDE-446A-BDC6-8B60AAC5C824}"/>
              </a:ext>
            </a:extLst>
          </p:cNvPr>
          <p:cNvSpPr/>
          <p:nvPr/>
        </p:nvSpPr>
        <p:spPr>
          <a:xfrm>
            <a:off x="538163" y="2736850"/>
            <a:ext cx="152400" cy="1524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 sz="350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00" name="Google Shape;300;p13">
            <a:extLst>
              <a:ext uri="{FF2B5EF4-FFF2-40B4-BE49-F238E27FC236}">
                <a16:creationId xmlns:a16="http://schemas.microsoft.com/office/drawing/2014/main" id="{1AF8FAFD-A7E4-48AD-A0C0-9FA5EC3BEE9E}"/>
              </a:ext>
            </a:extLst>
          </p:cNvPr>
          <p:cNvSpPr/>
          <p:nvPr/>
        </p:nvSpPr>
        <p:spPr>
          <a:xfrm>
            <a:off x="538163" y="3189288"/>
            <a:ext cx="152400" cy="1524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 sz="350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01" name="Google Shape;301;p13">
            <a:extLst>
              <a:ext uri="{FF2B5EF4-FFF2-40B4-BE49-F238E27FC236}">
                <a16:creationId xmlns:a16="http://schemas.microsoft.com/office/drawing/2014/main" id="{1FE4B6B0-840C-42D8-859E-5E3D8B89AAD4}"/>
              </a:ext>
            </a:extLst>
          </p:cNvPr>
          <p:cNvSpPr/>
          <p:nvPr/>
        </p:nvSpPr>
        <p:spPr>
          <a:xfrm>
            <a:off x="538163" y="3640138"/>
            <a:ext cx="152400" cy="1524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 sz="350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02" name="Google Shape;302;p13">
            <a:extLst>
              <a:ext uri="{FF2B5EF4-FFF2-40B4-BE49-F238E27FC236}">
                <a16:creationId xmlns:a16="http://schemas.microsoft.com/office/drawing/2014/main" id="{CB642EF7-ACF3-4CA9-99F3-21CA06897B0B}"/>
              </a:ext>
            </a:extLst>
          </p:cNvPr>
          <p:cNvSpPr/>
          <p:nvPr/>
        </p:nvSpPr>
        <p:spPr>
          <a:xfrm>
            <a:off x="538163" y="4090988"/>
            <a:ext cx="152400" cy="1524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 sz="350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7179" name="Google Shape;303;p13">
            <a:extLst>
              <a:ext uri="{FF2B5EF4-FFF2-40B4-BE49-F238E27FC236}">
                <a16:creationId xmlns:a16="http://schemas.microsoft.com/office/drawing/2014/main" id="{7609B20B-924E-44C8-8277-790AAB76A4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3275" y="2468563"/>
            <a:ext cx="5157788" cy="185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5167" rIns="0" bIns="0"/>
          <a:lstStyle>
            <a:lvl1pPr marL="2381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49000"/>
              </a:lnSpc>
            </a:pPr>
            <a:r>
              <a:rPr lang="en-US" altLang="en-US"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Support sharing of resources  Transparency  </a:t>
            </a:r>
          </a:p>
          <a:p>
            <a:pPr>
              <a:lnSpc>
                <a:spcPct val="149000"/>
              </a:lnSpc>
            </a:pPr>
            <a:r>
              <a:rPr lang="en-US" altLang="en-US"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Openness</a:t>
            </a:r>
          </a:p>
          <a:p>
            <a:pPr>
              <a:spcBef>
                <a:spcPts val="1175"/>
              </a:spcBef>
            </a:pPr>
            <a:r>
              <a:rPr lang="en-US" altLang="en-US"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Scalability</a:t>
            </a:r>
          </a:p>
        </p:txBody>
      </p:sp>
    </p:spTree>
  </p:cSld>
  <p:clrMapOvr>
    <a:masterClrMapping/>
  </p:clrMapOvr>
  <p:transition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Google Shape;313;p14">
            <a:extLst>
              <a:ext uri="{FF2B5EF4-FFF2-40B4-BE49-F238E27FC236}">
                <a16:creationId xmlns:a16="http://schemas.microsoft.com/office/drawing/2014/main" id="{29532E37-9371-4D7D-98BD-08C9A45DE9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6688" y="255588"/>
            <a:ext cx="8969375" cy="815975"/>
          </a:xfrm>
          <a:solidFill>
            <a:schemeClr val="bg1"/>
          </a:solidFill>
        </p:spPr>
        <p:txBody>
          <a:bodyPr lIns="0" tIns="123308" rIns="0" bIns="0" anchor="t"/>
          <a:lstStyle/>
          <a:p>
            <a:pPr marL="212725"/>
            <a:r>
              <a:rPr lang="en-US" altLang="en-US" sz="4000"/>
              <a:t>Sharing resources</a:t>
            </a:r>
          </a:p>
        </p:txBody>
      </p:sp>
      <p:sp>
        <p:nvSpPr>
          <p:cNvPr id="316" name="Google Shape;316;p14">
            <a:extLst>
              <a:ext uri="{FF2B5EF4-FFF2-40B4-BE49-F238E27FC236}">
                <a16:creationId xmlns:a16="http://schemas.microsoft.com/office/drawing/2014/main" id="{B2AD10EA-6F0E-4C9D-9C92-39767F2CF69E}"/>
              </a:ext>
            </a:extLst>
          </p:cNvPr>
          <p:cNvSpPr/>
          <p:nvPr/>
        </p:nvSpPr>
        <p:spPr>
          <a:xfrm>
            <a:off x="279400" y="3481388"/>
            <a:ext cx="200025" cy="20161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 sz="350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21" name="Google Shape;321;p14">
            <a:extLst>
              <a:ext uri="{FF2B5EF4-FFF2-40B4-BE49-F238E27FC236}">
                <a16:creationId xmlns:a16="http://schemas.microsoft.com/office/drawing/2014/main" id="{9B9444A7-A16E-4446-899C-22BFEB25666C}"/>
              </a:ext>
            </a:extLst>
          </p:cNvPr>
          <p:cNvSpPr/>
          <p:nvPr/>
        </p:nvSpPr>
        <p:spPr>
          <a:xfrm>
            <a:off x="8961438" y="2012950"/>
            <a:ext cx="0" cy="25400"/>
          </a:xfrm>
          <a:custGeom>
            <a:avLst/>
            <a:gdLst/>
            <a:ahLst/>
            <a:cxnLst/>
            <a:rect l="l" t="t" r="r" b="b"/>
            <a:pathLst>
              <a:path w="120000" h="12700" extrusionOk="0">
                <a:moveTo>
                  <a:pt x="0" y="12700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rgbClr val="AFAF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lIns="0" tIns="0" rIns="0" bIns="0"/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sz="35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4">
            <a:extLst>
              <a:ext uri="{FF2B5EF4-FFF2-40B4-BE49-F238E27FC236}">
                <a16:creationId xmlns:a16="http://schemas.microsoft.com/office/drawing/2014/main" id="{61C26787-0EF1-415D-A781-58FFF57C03F0}"/>
              </a:ext>
            </a:extLst>
          </p:cNvPr>
          <p:cNvSpPr/>
          <p:nvPr/>
        </p:nvSpPr>
        <p:spPr>
          <a:xfrm>
            <a:off x="8961438" y="1987550"/>
            <a:ext cx="0" cy="25400"/>
          </a:xfrm>
          <a:custGeom>
            <a:avLst/>
            <a:gdLst/>
            <a:ahLst/>
            <a:cxnLst/>
            <a:rect l="l" t="t" r="r" b="b"/>
            <a:pathLst>
              <a:path w="120000" h="12700" extrusionOk="0">
                <a:moveTo>
                  <a:pt x="0" y="12700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rgbClr val="CECE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lIns="0" tIns="0" rIns="0" bIns="0"/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sz="35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4">
            <a:extLst>
              <a:ext uri="{FF2B5EF4-FFF2-40B4-BE49-F238E27FC236}">
                <a16:creationId xmlns:a16="http://schemas.microsoft.com/office/drawing/2014/main" id="{D8F81AC9-FBB9-42F5-9B19-4661403890CE}"/>
              </a:ext>
            </a:extLst>
          </p:cNvPr>
          <p:cNvSpPr/>
          <p:nvPr/>
        </p:nvSpPr>
        <p:spPr>
          <a:xfrm>
            <a:off x="8961438" y="1962150"/>
            <a:ext cx="0" cy="25400"/>
          </a:xfrm>
          <a:custGeom>
            <a:avLst/>
            <a:gdLst/>
            <a:ahLst/>
            <a:cxnLst/>
            <a:rect l="l" t="t" r="r" b="b"/>
            <a:pathLst>
              <a:path w="120000" h="12700" extrusionOk="0">
                <a:moveTo>
                  <a:pt x="0" y="12699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rgbClr val="EFEF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lIns="0" tIns="0" rIns="0" bIns="0"/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sz="35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4">
            <a:extLst>
              <a:ext uri="{FF2B5EF4-FFF2-40B4-BE49-F238E27FC236}">
                <a16:creationId xmlns:a16="http://schemas.microsoft.com/office/drawing/2014/main" id="{E9730D56-BECA-445F-B80F-6F7D233673E1}"/>
              </a:ext>
            </a:extLst>
          </p:cNvPr>
          <p:cNvSpPr/>
          <p:nvPr/>
        </p:nvSpPr>
        <p:spPr>
          <a:xfrm>
            <a:off x="538163" y="2378075"/>
            <a:ext cx="152400" cy="1524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 sz="350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25" name="Google Shape;325;p14">
            <a:extLst>
              <a:ext uri="{FF2B5EF4-FFF2-40B4-BE49-F238E27FC236}">
                <a16:creationId xmlns:a16="http://schemas.microsoft.com/office/drawing/2014/main" id="{5D2F0EE8-E4C9-459E-8FF7-C8963A00D429}"/>
              </a:ext>
            </a:extLst>
          </p:cNvPr>
          <p:cNvSpPr/>
          <p:nvPr/>
        </p:nvSpPr>
        <p:spPr>
          <a:xfrm>
            <a:off x="538163" y="2679700"/>
            <a:ext cx="152400" cy="150813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 sz="350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26" name="Google Shape;326;p14">
            <a:extLst>
              <a:ext uri="{FF2B5EF4-FFF2-40B4-BE49-F238E27FC236}">
                <a16:creationId xmlns:a16="http://schemas.microsoft.com/office/drawing/2014/main" id="{7D14316B-DE72-4C69-BDAC-70F4FF40D204}"/>
              </a:ext>
            </a:extLst>
          </p:cNvPr>
          <p:cNvSpPr/>
          <p:nvPr/>
        </p:nvSpPr>
        <p:spPr>
          <a:xfrm>
            <a:off x="538163" y="2979738"/>
            <a:ext cx="152400" cy="1524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 sz="350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27" name="Google Shape;327;p14">
            <a:extLst>
              <a:ext uri="{FF2B5EF4-FFF2-40B4-BE49-F238E27FC236}">
                <a16:creationId xmlns:a16="http://schemas.microsoft.com/office/drawing/2014/main" id="{44EA0FFB-9962-4C62-A403-E0D88ADF723B}"/>
              </a:ext>
            </a:extLst>
          </p:cNvPr>
          <p:cNvSpPr/>
          <p:nvPr/>
        </p:nvSpPr>
        <p:spPr>
          <a:xfrm>
            <a:off x="538163" y="3281363"/>
            <a:ext cx="152400" cy="1524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 sz="350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30" name="Google Shape;330;p14">
            <a:extLst>
              <a:ext uri="{FF2B5EF4-FFF2-40B4-BE49-F238E27FC236}">
                <a16:creationId xmlns:a16="http://schemas.microsoft.com/office/drawing/2014/main" id="{9BEBBB8C-6222-4414-B8E7-AC6C4E3112E2}"/>
              </a:ext>
            </a:extLst>
          </p:cNvPr>
          <p:cNvSpPr/>
          <p:nvPr/>
        </p:nvSpPr>
        <p:spPr>
          <a:xfrm>
            <a:off x="279400" y="5222875"/>
            <a:ext cx="200025" cy="200025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 sz="350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35" name="Google Shape;335;p14">
            <a:extLst>
              <a:ext uri="{FF2B5EF4-FFF2-40B4-BE49-F238E27FC236}">
                <a16:creationId xmlns:a16="http://schemas.microsoft.com/office/drawing/2014/main" id="{065F29F1-DD2B-4ABE-9FCB-8721F174C22C}"/>
              </a:ext>
            </a:extLst>
          </p:cNvPr>
          <p:cNvSpPr/>
          <p:nvPr/>
        </p:nvSpPr>
        <p:spPr>
          <a:xfrm>
            <a:off x="8961438" y="4021138"/>
            <a:ext cx="0" cy="25400"/>
          </a:xfrm>
          <a:custGeom>
            <a:avLst/>
            <a:gdLst/>
            <a:ahLst/>
            <a:cxnLst/>
            <a:rect l="l" t="t" r="r" b="b"/>
            <a:pathLst>
              <a:path w="120000" h="12700" extrusionOk="0">
                <a:moveTo>
                  <a:pt x="0" y="12700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rgbClr val="AFAF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lIns="0" tIns="0" rIns="0" bIns="0"/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sz="35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4">
            <a:extLst>
              <a:ext uri="{FF2B5EF4-FFF2-40B4-BE49-F238E27FC236}">
                <a16:creationId xmlns:a16="http://schemas.microsoft.com/office/drawing/2014/main" id="{FC744023-D2BF-4F31-B2C5-942FC5EBD8BC}"/>
              </a:ext>
            </a:extLst>
          </p:cNvPr>
          <p:cNvSpPr/>
          <p:nvPr/>
        </p:nvSpPr>
        <p:spPr>
          <a:xfrm>
            <a:off x="8961438" y="3995738"/>
            <a:ext cx="0" cy="25400"/>
          </a:xfrm>
          <a:custGeom>
            <a:avLst/>
            <a:gdLst/>
            <a:ahLst/>
            <a:cxnLst/>
            <a:rect l="l" t="t" r="r" b="b"/>
            <a:pathLst>
              <a:path w="120000" h="12700" extrusionOk="0">
                <a:moveTo>
                  <a:pt x="0" y="12700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rgbClr val="CECE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lIns="0" tIns="0" rIns="0" bIns="0"/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sz="35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4">
            <a:extLst>
              <a:ext uri="{FF2B5EF4-FFF2-40B4-BE49-F238E27FC236}">
                <a16:creationId xmlns:a16="http://schemas.microsoft.com/office/drawing/2014/main" id="{E9F7262B-3983-471B-AD5A-FE67FA54D68C}"/>
              </a:ext>
            </a:extLst>
          </p:cNvPr>
          <p:cNvSpPr/>
          <p:nvPr/>
        </p:nvSpPr>
        <p:spPr>
          <a:xfrm>
            <a:off x="8961438" y="3970338"/>
            <a:ext cx="0" cy="25400"/>
          </a:xfrm>
          <a:custGeom>
            <a:avLst/>
            <a:gdLst/>
            <a:ahLst/>
            <a:cxnLst/>
            <a:rect l="l" t="t" r="r" b="b"/>
            <a:pathLst>
              <a:path w="120000" h="12700" extrusionOk="0">
                <a:moveTo>
                  <a:pt x="0" y="12700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rgbClr val="EFEF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lIns="0" tIns="0" rIns="0" bIns="0"/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sz="35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4">
            <a:extLst>
              <a:ext uri="{FF2B5EF4-FFF2-40B4-BE49-F238E27FC236}">
                <a16:creationId xmlns:a16="http://schemas.microsoft.com/office/drawing/2014/main" id="{72C84B62-F040-404E-9235-5644F8A4036B}"/>
              </a:ext>
            </a:extLst>
          </p:cNvPr>
          <p:cNvSpPr txBox="1"/>
          <p:nvPr/>
        </p:nvSpPr>
        <p:spPr>
          <a:xfrm>
            <a:off x="379413" y="1733550"/>
            <a:ext cx="8485187" cy="3494088"/>
          </a:xfrm>
          <a:prstGeom prst="rect">
            <a:avLst/>
          </a:prstGeom>
          <a:noFill/>
          <a:ln>
            <a:noFill/>
          </a:ln>
        </p:spPr>
        <p:txBody>
          <a:bodyPr lIns="0" tIns="123308" rIns="0" bIns="0"/>
          <a:lstStyle>
            <a:lvl1pPr marL="31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800">
                <a:solidFill>
                  <a:srgbClr val="04064C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Examples</a:t>
            </a:r>
            <a:endParaRPr lang="en-US" altLang="en-US" sz="28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>
              <a:lnSpc>
                <a:spcPct val="120000"/>
              </a:lnSpc>
              <a:spcBef>
                <a:spcPts val="775"/>
              </a:spcBef>
            </a:pPr>
            <a:r>
              <a:rPr lang="en-US" altLang="en-US"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Cloud-based shared storage and files</a:t>
            </a:r>
          </a:p>
          <a:p>
            <a:pPr>
              <a:lnSpc>
                <a:spcPct val="120000"/>
              </a:lnSpc>
            </a:pPr>
            <a:r>
              <a:rPr lang="en-US" altLang="en-US"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Peer-to-peer assisted multimedia streaming</a:t>
            </a:r>
          </a:p>
          <a:p>
            <a:pPr>
              <a:lnSpc>
                <a:spcPct val="120000"/>
              </a:lnSpc>
              <a:spcBef>
                <a:spcPts val="75"/>
              </a:spcBef>
            </a:pPr>
            <a:r>
              <a:rPr lang="en-US" altLang="en-US"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Shared mail services (think of outsourced mail systems)</a:t>
            </a:r>
            <a:endParaRPr lang="en-US" altLang="en-US" sz="3600">
              <a:solidFill>
                <a:srgbClr val="000000"/>
              </a:solidFill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</p:spTree>
  </p:cSld>
  <p:clrMapOvr>
    <a:masterClrMapping/>
  </p:clrMapOvr>
  <p:transition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3FB7781C-9260-47BB-89E2-3C9474B3D4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Transparency in a Distributed System</a:t>
            </a:r>
          </a:p>
        </p:txBody>
      </p:sp>
      <p:sp>
        <p:nvSpPr>
          <p:cNvPr id="11267" name="Text Box 3">
            <a:extLst>
              <a:ext uri="{FF2B5EF4-FFF2-40B4-BE49-F238E27FC236}">
                <a16:creationId xmlns:a16="http://schemas.microsoft.com/office/drawing/2014/main" id="{4A901E86-8AFD-44A4-A044-694EEEF9D9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5791200"/>
            <a:ext cx="845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20000"/>
              </a:spcBef>
              <a:buClr>
                <a:schemeClr val="accent2"/>
              </a:buCl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</a:pPr>
            <a:r>
              <a:rPr lang="en-US" altLang="en-US" sz="2400"/>
              <a:t>Different forms of transparency in a distributed system.</a:t>
            </a:r>
          </a:p>
        </p:txBody>
      </p:sp>
      <p:graphicFrame>
        <p:nvGraphicFramePr>
          <p:cNvPr id="1077" name="Group 53">
            <a:extLst>
              <a:ext uri="{FF2B5EF4-FFF2-40B4-BE49-F238E27FC236}">
                <a16:creationId xmlns:a16="http://schemas.microsoft.com/office/drawing/2014/main" id="{FB6CC554-1284-4564-B8B5-75F349D4DD52}"/>
              </a:ext>
            </a:extLst>
          </p:cNvPr>
          <p:cNvGraphicFramePr>
            <a:graphicFrameLocks noGrp="1"/>
          </p:cNvGraphicFramePr>
          <p:nvPr/>
        </p:nvGraphicFramePr>
        <p:xfrm>
          <a:off x="1066800" y="1092200"/>
          <a:ext cx="7010400" cy="4332350"/>
        </p:xfrm>
        <a:graphic>
          <a:graphicData uri="http://schemas.openxmlformats.org/drawingml/2006/table">
            <a:tbl>
              <a:tblPr/>
              <a:tblGrid>
                <a:gridCol w="1919288">
                  <a:extLst>
                    <a:ext uri="{9D8B030D-6E8A-4147-A177-3AD203B41FA5}">
                      <a16:colId xmlns:a16="http://schemas.microsoft.com/office/drawing/2014/main" val="3916883947"/>
                    </a:ext>
                  </a:extLst>
                </a:gridCol>
                <a:gridCol w="5091112">
                  <a:extLst>
                    <a:ext uri="{9D8B030D-6E8A-4147-A177-3AD203B41FA5}">
                      <a16:colId xmlns:a16="http://schemas.microsoft.com/office/drawing/2014/main" val="1433440351"/>
                    </a:ext>
                  </a:extLst>
                </a:gridCol>
              </a:tblGrid>
              <a:tr h="40318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Transparency</a:t>
                      </a:r>
                    </a:p>
                  </a:txBody>
                  <a:tcPr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Description</a:t>
                      </a: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957421"/>
                  </a:ext>
                </a:extLst>
              </a:tr>
              <a:tr h="57909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Access</a:t>
                      </a:r>
                    </a:p>
                  </a:txBody>
                  <a:tcPr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Hide differences in data representation and how a resource is accessed</a:t>
                      </a: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1694454"/>
                  </a:ext>
                </a:extLst>
              </a:tr>
              <a:tr h="40318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Location</a:t>
                      </a:r>
                    </a:p>
                  </a:txBody>
                  <a:tcPr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Hide where a resource is located</a:t>
                      </a: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5736814"/>
                  </a:ext>
                </a:extLst>
              </a:tr>
              <a:tr h="40318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Migration </a:t>
                      </a:r>
                    </a:p>
                  </a:txBody>
                  <a:tcPr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Hide that a resource may move to another location</a:t>
                      </a: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866341"/>
                  </a:ext>
                </a:extLst>
              </a:tr>
              <a:tr h="57909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Relocation</a:t>
                      </a:r>
                    </a:p>
                  </a:txBody>
                  <a:tcPr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Hide that a resource may be moved to another location while in use</a:t>
                      </a: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0174782"/>
                  </a:ext>
                </a:extLst>
              </a:tr>
              <a:tr h="40318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Replication</a:t>
                      </a:r>
                    </a:p>
                  </a:txBody>
                  <a:tcPr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Hide that a resource is replicated</a:t>
                      </a: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2653582"/>
                  </a:ext>
                </a:extLst>
              </a:tr>
              <a:tr h="57909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Concurrency</a:t>
                      </a:r>
                    </a:p>
                  </a:txBody>
                  <a:tcPr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Hide that a resource may be shared by several competitive users</a:t>
                      </a: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1315477"/>
                  </a:ext>
                </a:extLst>
              </a:tr>
              <a:tr h="40318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Failure</a:t>
                      </a:r>
                    </a:p>
                  </a:txBody>
                  <a:tcPr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Hide the failure and recovery of a resource</a:t>
                      </a: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5209023"/>
                  </a:ext>
                </a:extLst>
              </a:tr>
              <a:tr h="57909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Persistence</a:t>
                      </a:r>
                    </a:p>
                  </a:txBody>
                  <a:tcPr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Hide whether a (software) resource is in memory or on disk</a:t>
                      </a: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39357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Google Shape;531;p22">
            <a:extLst>
              <a:ext uri="{FF2B5EF4-FFF2-40B4-BE49-F238E27FC236}">
                <a16:creationId xmlns:a16="http://schemas.microsoft.com/office/drawing/2014/main" id="{90C95497-92F5-4D8D-AE99-4A24DE8868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63" y="255588"/>
            <a:ext cx="9131300" cy="762000"/>
          </a:xfrm>
          <a:solidFill>
            <a:schemeClr val="bg1"/>
          </a:solidFill>
        </p:spPr>
        <p:txBody>
          <a:bodyPr lIns="0" tIns="123308" rIns="0" bIns="0" anchor="t"/>
          <a:lstStyle/>
          <a:p>
            <a:pPr marL="212725"/>
            <a:r>
              <a:rPr lang="en-US" altLang="en-US" sz="4000"/>
              <a:t>Openness of distributed systems</a:t>
            </a:r>
          </a:p>
        </p:txBody>
      </p:sp>
      <p:sp>
        <p:nvSpPr>
          <p:cNvPr id="534" name="Google Shape;534;p22">
            <a:extLst>
              <a:ext uri="{FF2B5EF4-FFF2-40B4-BE49-F238E27FC236}">
                <a16:creationId xmlns:a16="http://schemas.microsoft.com/office/drawing/2014/main" id="{DE7D69EC-53D1-4694-AB2B-066DD9123784}"/>
              </a:ext>
            </a:extLst>
          </p:cNvPr>
          <p:cNvSpPr/>
          <p:nvPr/>
        </p:nvSpPr>
        <p:spPr>
          <a:xfrm>
            <a:off x="279400" y="4625975"/>
            <a:ext cx="200025" cy="20161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 sz="350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539" name="Google Shape;539;p22">
            <a:extLst>
              <a:ext uri="{FF2B5EF4-FFF2-40B4-BE49-F238E27FC236}">
                <a16:creationId xmlns:a16="http://schemas.microsoft.com/office/drawing/2014/main" id="{8F249ED6-79A1-4BAD-A126-32252945E7C9}"/>
              </a:ext>
            </a:extLst>
          </p:cNvPr>
          <p:cNvSpPr/>
          <p:nvPr/>
        </p:nvSpPr>
        <p:spPr>
          <a:xfrm>
            <a:off x="8961438" y="2409825"/>
            <a:ext cx="0" cy="25400"/>
          </a:xfrm>
          <a:custGeom>
            <a:avLst/>
            <a:gdLst/>
            <a:ahLst/>
            <a:cxnLst/>
            <a:rect l="l" t="t" r="r" b="b"/>
            <a:pathLst>
              <a:path w="120000" h="12700" extrusionOk="0">
                <a:moveTo>
                  <a:pt x="0" y="12700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rgbClr val="AFAF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lIns="0" tIns="0" rIns="0" bIns="0"/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sz="35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2">
            <a:extLst>
              <a:ext uri="{FF2B5EF4-FFF2-40B4-BE49-F238E27FC236}">
                <a16:creationId xmlns:a16="http://schemas.microsoft.com/office/drawing/2014/main" id="{942D35BD-2234-47C2-B5A2-2DCD2CF25CA2}"/>
              </a:ext>
            </a:extLst>
          </p:cNvPr>
          <p:cNvSpPr/>
          <p:nvPr/>
        </p:nvSpPr>
        <p:spPr>
          <a:xfrm>
            <a:off x="8961438" y="2384425"/>
            <a:ext cx="0" cy="25400"/>
          </a:xfrm>
          <a:custGeom>
            <a:avLst/>
            <a:gdLst/>
            <a:ahLst/>
            <a:cxnLst/>
            <a:rect l="l" t="t" r="r" b="b"/>
            <a:pathLst>
              <a:path w="120000" h="12700" extrusionOk="0">
                <a:moveTo>
                  <a:pt x="0" y="12700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rgbClr val="CECE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lIns="0" tIns="0" rIns="0" bIns="0"/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sz="35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2">
            <a:extLst>
              <a:ext uri="{FF2B5EF4-FFF2-40B4-BE49-F238E27FC236}">
                <a16:creationId xmlns:a16="http://schemas.microsoft.com/office/drawing/2014/main" id="{21E0B6B4-4BA2-462D-8054-BA8E70EA8F7D}"/>
              </a:ext>
            </a:extLst>
          </p:cNvPr>
          <p:cNvSpPr/>
          <p:nvPr/>
        </p:nvSpPr>
        <p:spPr>
          <a:xfrm>
            <a:off x="8961438" y="2359025"/>
            <a:ext cx="0" cy="25400"/>
          </a:xfrm>
          <a:custGeom>
            <a:avLst/>
            <a:gdLst/>
            <a:ahLst/>
            <a:cxnLst/>
            <a:rect l="l" t="t" r="r" b="b"/>
            <a:pathLst>
              <a:path w="120000" h="12700" extrusionOk="0">
                <a:moveTo>
                  <a:pt x="0" y="12700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rgbClr val="EFEF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lIns="0" tIns="0" rIns="0" bIns="0"/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sz="35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22">
            <a:extLst>
              <a:ext uri="{FF2B5EF4-FFF2-40B4-BE49-F238E27FC236}">
                <a16:creationId xmlns:a16="http://schemas.microsoft.com/office/drawing/2014/main" id="{0043CB96-10F5-42FD-88E9-267C10F6D034}"/>
              </a:ext>
            </a:extLst>
          </p:cNvPr>
          <p:cNvSpPr/>
          <p:nvPr/>
        </p:nvSpPr>
        <p:spPr>
          <a:xfrm>
            <a:off x="538163" y="3525838"/>
            <a:ext cx="152400" cy="1524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 sz="350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543" name="Google Shape;543;p22">
            <a:extLst>
              <a:ext uri="{FF2B5EF4-FFF2-40B4-BE49-F238E27FC236}">
                <a16:creationId xmlns:a16="http://schemas.microsoft.com/office/drawing/2014/main" id="{986D9B5A-F033-4EC6-B1F4-3922BC55009E}"/>
              </a:ext>
            </a:extLst>
          </p:cNvPr>
          <p:cNvSpPr/>
          <p:nvPr/>
        </p:nvSpPr>
        <p:spPr>
          <a:xfrm>
            <a:off x="538163" y="3825875"/>
            <a:ext cx="152400" cy="1524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 sz="350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544" name="Google Shape;544;p22">
            <a:extLst>
              <a:ext uri="{FF2B5EF4-FFF2-40B4-BE49-F238E27FC236}">
                <a16:creationId xmlns:a16="http://schemas.microsoft.com/office/drawing/2014/main" id="{68FFC1B1-AA82-405A-85A6-63B7AD0F6E53}"/>
              </a:ext>
            </a:extLst>
          </p:cNvPr>
          <p:cNvSpPr/>
          <p:nvPr/>
        </p:nvSpPr>
        <p:spPr>
          <a:xfrm>
            <a:off x="538163" y="4127500"/>
            <a:ext cx="152400" cy="1524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 sz="350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545" name="Google Shape;545;p22">
            <a:extLst>
              <a:ext uri="{FF2B5EF4-FFF2-40B4-BE49-F238E27FC236}">
                <a16:creationId xmlns:a16="http://schemas.microsoft.com/office/drawing/2014/main" id="{5A91F9EC-C94D-4841-B774-52DDF1513335}"/>
              </a:ext>
            </a:extLst>
          </p:cNvPr>
          <p:cNvSpPr/>
          <p:nvPr/>
        </p:nvSpPr>
        <p:spPr>
          <a:xfrm>
            <a:off x="538163" y="4427538"/>
            <a:ext cx="152400" cy="1524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 sz="350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97A973-9171-4694-AD0D-112EBE106EFD}"/>
              </a:ext>
            </a:extLst>
          </p:cNvPr>
          <p:cNvSpPr/>
          <p:nvPr/>
        </p:nvSpPr>
        <p:spPr>
          <a:xfrm>
            <a:off x="304800" y="1181100"/>
            <a:ext cx="8531225" cy="5632450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8001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>
                <a:latin typeface="Tahoma" panose="020B0604030504040204" pitchFamily="34" charset="0"/>
                <a:cs typeface="Tahoma" panose="020B0604030504040204" pitchFamily="34" charset="0"/>
              </a:rPr>
              <a:t>Be able to interact with services from other open systems, irrespective of the underlying environment:</a:t>
            </a:r>
          </a:p>
          <a:p>
            <a:endParaRPr lang="en-US" altLang="en-US" sz="2000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000">
                <a:latin typeface="Tahoma" panose="020B0604030504040204" pitchFamily="34" charset="0"/>
                <a:cs typeface="Tahoma" panose="020B0604030504040204" pitchFamily="34" charset="0"/>
              </a:rPr>
              <a:t>Systems should conform to well-defined </a:t>
            </a:r>
            <a:r>
              <a:rPr lang="en-US" altLang="en-US" sz="2000">
                <a:solidFill>
                  <a:srgbClr val="2D2DB9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interfaces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en-US" sz="2000">
                <a:solidFill>
                  <a:srgbClr val="2D2DB9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interface:</a:t>
            </a:r>
            <a:r>
              <a:rPr lang="en-US" altLang="en-US" sz="2000">
                <a:latin typeface="Tahoma" panose="020B0604030504040204" pitchFamily="34" charset="0"/>
                <a:cs typeface="Tahoma" panose="020B0604030504040204" pitchFamily="34" charset="0"/>
              </a:rPr>
              <a:t> e.g., a common interface like HTTP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altLang="en-US" sz="2000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000">
                <a:latin typeface="Tahoma" panose="020B0604030504040204" pitchFamily="34" charset="0"/>
                <a:cs typeface="Tahoma" panose="020B0604030504040204" pitchFamily="34" charset="0"/>
              </a:rPr>
              <a:t>Systems should easily interoperate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en-US" sz="2000">
                <a:solidFill>
                  <a:srgbClr val="2D2DB9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interoperate:</a:t>
            </a:r>
            <a:r>
              <a:rPr lang="en-US" altLang="en-US" sz="2000">
                <a:latin typeface="Tahoma" panose="020B0604030504040204" pitchFamily="34" charset="0"/>
                <a:cs typeface="Tahoma" panose="020B0604030504040204" pitchFamily="34" charset="0"/>
              </a:rPr>
              <a:t> two implementations of systems or components from different manufacturers can co-exist and work together by merely relying on each other’s services as specified by a common standard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altLang="en-US" sz="2000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000">
                <a:latin typeface="Tahoma" panose="020B0604030504040204" pitchFamily="34" charset="0"/>
                <a:cs typeface="Tahoma" panose="020B0604030504040204" pitchFamily="34" charset="0"/>
              </a:rPr>
              <a:t>Systems should support portability of applications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en-US" sz="2000">
                <a:solidFill>
                  <a:srgbClr val="2D2DB9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portability:</a:t>
            </a:r>
            <a:r>
              <a:rPr lang="en-US" altLang="en-US" sz="2000">
                <a:latin typeface="Tahoma" panose="020B0604030504040204" pitchFamily="34" charset="0"/>
                <a:cs typeface="Tahoma" panose="020B0604030504040204" pitchFamily="34" charset="0"/>
              </a:rPr>
              <a:t> application developed for distributed system (DS) A can be executed without modification on a different DS B 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altLang="en-US" sz="2000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000">
                <a:latin typeface="Tahoma" panose="020B0604030504040204" pitchFamily="34" charset="0"/>
                <a:cs typeface="Tahoma" panose="020B0604030504040204" pitchFamily="34" charset="0"/>
              </a:rPr>
              <a:t>Systems should be easily extensible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en-US" sz="2000">
                <a:solidFill>
                  <a:srgbClr val="2D2DB9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extensible:</a:t>
            </a:r>
            <a:r>
              <a:rPr lang="en-US" altLang="en-US" sz="2000">
                <a:latin typeface="Tahoma" panose="020B0604030504040204" pitchFamily="34" charset="0"/>
                <a:cs typeface="Tahoma" panose="020B0604030504040204" pitchFamily="34" charset="0"/>
              </a:rPr>
              <a:t> ability to add on to a system or replace components of a system with different components. </a:t>
            </a:r>
          </a:p>
        </p:txBody>
      </p:sp>
    </p:spTree>
  </p:cSld>
  <p:clrMapOvr>
    <a:masterClrMapping/>
  </p:clrMapOvr>
  <p:transition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AF799F98-BD52-4DFE-B0C1-8724DBFFEC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Scalability Problems</a:t>
            </a:r>
          </a:p>
        </p:txBody>
      </p:sp>
      <p:sp>
        <p:nvSpPr>
          <p:cNvPr id="14339" name="Text Box 3">
            <a:extLst>
              <a:ext uri="{FF2B5EF4-FFF2-40B4-BE49-F238E27FC236}">
                <a16:creationId xmlns:a16="http://schemas.microsoft.com/office/drawing/2014/main" id="{DA7B4430-C124-4999-9F17-DE25E9B478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5257800"/>
            <a:ext cx="7315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20000"/>
              </a:spcBef>
              <a:buClr>
                <a:schemeClr val="accent2"/>
              </a:buCl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</a:pPr>
            <a:r>
              <a:rPr lang="en-US" altLang="en-US" sz="2400"/>
              <a:t>Examples of scalability limitations.</a:t>
            </a:r>
          </a:p>
        </p:txBody>
      </p:sp>
      <p:graphicFrame>
        <p:nvGraphicFramePr>
          <p:cNvPr id="7202" name="Group 34">
            <a:extLst>
              <a:ext uri="{FF2B5EF4-FFF2-40B4-BE49-F238E27FC236}">
                <a16:creationId xmlns:a16="http://schemas.microsoft.com/office/drawing/2014/main" id="{58E2F837-7B61-4D2A-A18F-3B289912E3AC}"/>
              </a:ext>
            </a:extLst>
          </p:cNvPr>
          <p:cNvGraphicFramePr>
            <a:graphicFrameLocks noGrp="1"/>
          </p:cNvGraphicFramePr>
          <p:nvPr/>
        </p:nvGraphicFramePr>
        <p:xfrm>
          <a:off x="990600" y="1758950"/>
          <a:ext cx="7639050" cy="2616200"/>
        </p:xfrm>
        <a:graphic>
          <a:graphicData uri="http://schemas.openxmlformats.org/drawingml/2006/table">
            <a:tbl>
              <a:tblPr/>
              <a:tblGrid>
                <a:gridCol w="2855913">
                  <a:extLst>
                    <a:ext uri="{9D8B030D-6E8A-4147-A177-3AD203B41FA5}">
                      <a16:colId xmlns:a16="http://schemas.microsoft.com/office/drawing/2014/main" val="881599486"/>
                    </a:ext>
                  </a:extLst>
                </a:gridCol>
                <a:gridCol w="4783137">
                  <a:extLst>
                    <a:ext uri="{9D8B030D-6E8A-4147-A177-3AD203B41FA5}">
                      <a16:colId xmlns:a16="http://schemas.microsoft.com/office/drawing/2014/main" val="1333970481"/>
                    </a:ext>
                  </a:extLst>
                </a:gridCol>
              </a:tblGrid>
              <a:tr h="6540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Concept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Example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8410918"/>
                  </a:ext>
                </a:extLst>
              </a:tr>
              <a:tr h="6540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Centralized services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 single server for all users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5922547"/>
                  </a:ext>
                </a:extLst>
              </a:tr>
              <a:tr h="6540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Centralized data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 single on-line telephone book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218880"/>
                  </a:ext>
                </a:extLst>
              </a:tr>
              <a:tr h="6540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Centralized algorithms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Doing routing based on complete information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499304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5330AE00-CBEA-4224-9ED4-7588BF382B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Scaling Techniques (1)</a:t>
            </a:r>
          </a:p>
        </p:txBody>
      </p:sp>
      <p:sp>
        <p:nvSpPr>
          <p:cNvPr id="15363" name="Text Box 3">
            <a:extLst>
              <a:ext uri="{FF2B5EF4-FFF2-40B4-BE49-F238E27FC236}">
                <a16:creationId xmlns:a16="http://schemas.microsoft.com/office/drawing/2014/main" id="{45790E30-04EE-46EA-8984-A8979F035B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3352800"/>
            <a:ext cx="152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20000"/>
              </a:spcBef>
              <a:buClr>
                <a:schemeClr val="accent2"/>
              </a:buCl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</a:pPr>
            <a:r>
              <a:rPr lang="en-US" altLang="en-US" sz="2400"/>
              <a:t>1.4</a:t>
            </a:r>
          </a:p>
        </p:txBody>
      </p:sp>
      <p:sp>
        <p:nvSpPr>
          <p:cNvPr id="15364" name="Text Box 4">
            <a:extLst>
              <a:ext uri="{FF2B5EF4-FFF2-40B4-BE49-F238E27FC236}">
                <a16:creationId xmlns:a16="http://schemas.microsoft.com/office/drawing/2014/main" id="{C06ADF6C-2F4E-4487-9A3B-4A50B47904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3088" y="5249863"/>
            <a:ext cx="762000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algn="ctr">
              <a:spcBef>
                <a:spcPct val="20000"/>
              </a:spcBef>
              <a:buClr>
                <a:schemeClr val="accent2"/>
              </a:buCl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>
              <a:spcBef>
                <a:spcPct val="20000"/>
              </a:spcBef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>
              <a:spcBef>
                <a:spcPct val="20000"/>
              </a:spcBef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</a:pPr>
            <a:r>
              <a:rPr lang="en-US" altLang="en-US" sz="2400"/>
              <a:t>The difference between letting:</a:t>
            </a:r>
          </a:p>
          <a:p>
            <a:pPr algn="l" eaLnBrk="1" hangingPunct="1">
              <a:spcBef>
                <a:spcPct val="50000"/>
              </a:spcBef>
              <a:buFontTx/>
              <a:buAutoNum type="alphaLcParenR"/>
            </a:pPr>
            <a:r>
              <a:rPr lang="en-US" altLang="en-US" sz="2400"/>
              <a:t>a server or</a:t>
            </a:r>
          </a:p>
          <a:p>
            <a:pPr algn="l" eaLnBrk="1" hangingPunct="1">
              <a:spcBef>
                <a:spcPct val="50000"/>
              </a:spcBef>
              <a:buFontTx/>
              <a:buAutoNum type="alphaLcParenR"/>
            </a:pPr>
            <a:r>
              <a:rPr lang="en-US" altLang="en-US" sz="2400"/>
              <a:t>a client check forms as they are being filled</a:t>
            </a:r>
          </a:p>
        </p:txBody>
      </p:sp>
      <p:pic>
        <p:nvPicPr>
          <p:cNvPr id="15365" name="Picture 6">
            <a:extLst>
              <a:ext uri="{FF2B5EF4-FFF2-40B4-BE49-F238E27FC236}">
                <a16:creationId xmlns:a16="http://schemas.microsoft.com/office/drawing/2014/main" id="{66D82D37-3CA5-4BE0-9E04-4A90007780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44" t="37749" r="16615" b="33511"/>
          <a:stretch>
            <a:fillRect/>
          </a:stretch>
        </p:blipFill>
        <p:spPr bwMode="auto">
          <a:xfrm>
            <a:off x="990600" y="1433513"/>
            <a:ext cx="7086600" cy="394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366" name="Rectangle 1">
            <a:extLst>
              <a:ext uri="{FF2B5EF4-FFF2-40B4-BE49-F238E27FC236}">
                <a16:creationId xmlns:a16="http://schemas.microsoft.com/office/drawing/2014/main" id="{73574561-D19E-475B-B365-597C8E6FC9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088" y="1050925"/>
            <a:ext cx="750411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spcBef>
                <a:spcPct val="20000"/>
              </a:spcBef>
              <a:buClr>
                <a:schemeClr val="accent2"/>
              </a:buCl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</a:pPr>
            <a:r>
              <a:rPr lang="en-US" altLang="en-US" sz="2400"/>
              <a:t>Facilitate solution by moving computations to client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B2B84C66-7DAE-460A-B7A9-56CF29CB81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Scaling Techniques (2)</a:t>
            </a:r>
          </a:p>
        </p:txBody>
      </p:sp>
      <p:sp>
        <p:nvSpPr>
          <p:cNvPr id="16387" name="Rectangle 1">
            <a:extLst>
              <a:ext uri="{FF2B5EF4-FFF2-40B4-BE49-F238E27FC236}">
                <a16:creationId xmlns:a16="http://schemas.microsoft.com/office/drawing/2014/main" id="{9EE16628-6BFD-425F-A294-C0C51D4600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8" y="1636713"/>
            <a:ext cx="76247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spcBef>
                <a:spcPct val="20000"/>
              </a:spcBef>
              <a:buClr>
                <a:schemeClr val="accent2"/>
              </a:buCl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</a:pPr>
            <a:r>
              <a:rPr lang="en-US" altLang="en-US" sz="2400">
                <a:solidFill>
                  <a:srgbClr val="04064C"/>
                </a:solidFill>
                <a:latin typeface="NimbusSanL-Regu"/>
              </a:rPr>
              <a:t>Partition data and computations across multiple machines</a:t>
            </a:r>
            <a:endParaRPr lang="en-US" altLang="en-US" sz="2400"/>
          </a:p>
        </p:txBody>
      </p:sp>
      <p:sp>
        <p:nvSpPr>
          <p:cNvPr id="16388" name="Rectangle 2">
            <a:extLst>
              <a:ext uri="{FF2B5EF4-FFF2-40B4-BE49-F238E27FC236}">
                <a16:creationId xmlns:a16="http://schemas.microsoft.com/office/drawing/2014/main" id="{39EC30CF-F531-4F6C-A989-094685FF11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413" y="2509838"/>
            <a:ext cx="81899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spcBef>
                <a:spcPct val="20000"/>
              </a:spcBef>
              <a:buClr>
                <a:schemeClr val="accent2"/>
              </a:buCl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>
              <a:spcBef>
                <a:spcPct val="0"/>
              </a:spcBef>
              <a:buClrTx/>
            </a:pPr>
            <a:r>
              <a:rPr lang="en-US" altLang="en-US" sz="2400">
                <a:solidFill>
                  <a:srgbClr val="04064C"/>
                </a:solidFill>
                <a:latin typeface="NimbusSanL-Regu"/>
              </a:rPr>
              <a:t>Replication: Make copies of data available at different machines</a:t>
            </a:r>
            <a:endParaRPr lang="en-US" altLang="en-US" sz="24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88592B-B99D-426B-AFB9-51331ABEBE29}"/>
              </a:ext>
            </a:extLst>
          </p:cNvPr>
          <p:cNvSpPr/>
          <p:nvPr/>
        </p:nvSpPr>
        <p:spPr>
          <a:xfrm>
            <a:off x="760413" y="3632200"/>
            <a:ext cx="7940675" cy="2308225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dirty="0">
                <a:solidFill>
                  <a:srgbClr val="04064C"/>
                </a:solidFill>
                <a:latin typeface="NimbusSanL-Regu"/>
              </a:rPr>
              <a:t>Applying replication is easy, except for one thing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000000"/>
                </a:solidFill>
                <a:latin typeface="NimbusSanL-Regu"/>
              </a:rPr>
              <a:t>Having multiple copies, leads to </a:t>
            </a:r>
            <a:r>
              <a:rPr lang="en-US" dirty="0">
                <a:solidFill>
                  <a:srgbClr val="FB0000"/>
                </a:solidFill>
                <a:latin typeface="NimbusSanL-Regu"/>
              </a:rPr>
              <a:t>inconsistencies</a:t>
            </a:r>
            <a:r>
              <a:rPr lang="en-US" dirty="0">
                <a:solidFill>
                  <a:srgbClr val="000000"/>
                </a:solidFill>
                <a:latin typeface="NimbusSanL-Regu"/>
              </a:rPr>
              <a:t>: modifying one copy makes that copy different from the rest.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000000"/>
                </a:solidFill>
                <a:latin typeface="NimbusSanL-Regu"/>
              </a:rPr>
              <a:t>Always keeping copies consistent and in a general way requires </a:t>
            </a:r>
            <a:r>
              <a:rPr lang="en-US" dirty="0">
                <a:solidFill>
                  <a:srgbClr val="FB0000"/>
                </a:solidFill>
                <a:latin typeface="NimbusSanL-Regu"/>
              </a:rPr>
              <a:t>global synchronization </a:t>
            </a:r>
            <a:r>
              <a:rPr lang="en-US" dirty="0">
                <a:solidFill>
                  <a:srgbClr val="000000"/>
                </a:solidFill>
                <a:latin typeface="NimbusSanL-Regu"/>
              </a:rPr>
              <a:t>on each modification.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000000"/>
                </a:solidFill>
                <a:latin typeface="NimbusSanL-Regu"/>
              </a:rPr>
              <a:t>Global synchronization precludes large-scale solutions.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19777B2F-8E45-4188-8517-E05A21634E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Developing distributed systems: Pitfalls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3211E47-8C99-40DC-85BB-B3881AD7FBFE}"/>
              </a:ext>
            </a:extLst>
          </p:cNvPr>
          <p:cNvSpPr/>
          <p:nvPr/>
        </p:nvSpPr>
        <p:spPr>
          <a:xfrm>
            <a:off x="374650" y="1239838"/>
            <a:ext cx="8394700" cy="1077912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dirty="0"/>
              <a:t>Observation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  <a:defRPr/>
            </a:pPr>
            <a:r>
              <a:rPr lang="en-US" sz="2000" dirty="0"/>
              <a:t>Many distributed systems are needlessly complex caused by mistakes that required patching later on. Many false assumptions are often made.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5FA18A-A853-44FE-BDE5-39178DC78662}"/>
              </a:ext>
            </a:extLst>
          </p:cNvPr>
          <p:cNvSpPr/>
          <p:nvPr/>
        </p:nvSpPr>
        <p:spPr>
          <a:xfrm>
            <a:off x="374650" y="2724150"/>
            <a:ext cx="6626225" cy="2924175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dirty="0"/>
              <a:t>False (and often hidden) assumptions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  <a:defRPr/>
            </a:pPr>
            <a:r>
              <a:rPr lang="en-US" sz="2000" dirty="0"/>
              <a:t>The network is reliable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  <a:defRPr/>
            </a:pPr>
            <a:r>
              <a:rPr lang="en-US" sz="2000" dirty="0"/>
              <a:t>The network is secure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  <a:defRPr/>
            </a:pPr>
            <a:r>
              <a:rPr lang="en-US" sz="2000" dirty="0"/>
              <a:t>The network is homogeneous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  <a:defRPr/>
            </a:pPr>
            <a:r>
              <a:rPr lang="en-US" sz="2000" dirty="0"/>
              <a:t>The topology does not change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  <a:defRPr/>
            </a:pPr>
            <a:r>
              <a:rPr lang="en-US" sz="2000" dirty="0"/>
              <a:t>Latency is zero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  <a:defRPr/>
            </a:pPr>
            <a:r>
              <a:rPr lang="en-US" sz="2000" dirty="0"/>
              <a:t>Bandwidth is infinite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  <a:defRPr/>
            </a:pPr>
            <a:r>
              <a:rPr lang="en-US" sz="2000" dirty="0"/>
              <a:t>Transport cost is zero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  <a:defRPr/>
            </a:pPr>
            <a:r>
              <a:rPr lang="en-US" sz="2000" dirty="0"/>
              <a:t>There is one administrator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DAF1657D-AE09-4820-A107-865F04BC40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9388" y="82550"/>
            <a:ext cx="8785225" cy="1143000"/>
          </a:xfrm>
        </p:spPr>
        <p:txBody>
          <a:bodyPr/>
          <a:lstStyle/>
          <a:p>
            <a:pPr eaLnBrk="1" hangingPunct="1"/>
            <a:r>
              <a:rPr lang="en-US" altLang="en-US" sz="4000"/>
              <a:t>Different types of distributed computing</a:t>
            </a:r>
          </a:p>
        </p:txBody>
      </p:sp>
      <p:sp>
        <p:nvSpPr>
          <p:cNvPr id="18435" name="TextBox 2">
            <a:extLst>
              <a:ext uri="{FF2B5EF4-FFF2-40B4-BE49-F238E27FC236}">
                <a16:creationId xmlns:a16="http://schemas.microsoft.com/office/drawing/2014/main" id="{3D03FC41-CDF3-4E91-9AA4-264CDFB079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913" y="2041525"/>
            <a:ext cx="8045450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algn="ctr">
              <a:spcBef>
                <a:spcPct val="20000"/>
              </a:spcBef>
              <a:buClr>
                <a:schemeClr val="accent2"/>
              </a:buCl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Char char="•"/>
            </a:pPr>
            <a:r>
              <a:rPr lang="en-US" altLang="en-US" sz="2400"/>
              <a:t>Parallel Computing</a:t>
            </a:r>
          </a:p>
          <a:p>
            <a:pPr algn="l" eaLnBrk="1" hangingPunct="1">
              <a:spcBef>
                <a:spcPct val="0"/>
              </a:spcBef>
              <a:buClrTx/>
              <a:buFontTx/>
              <a:buChar char="•"/>
            </a:pPr>
            <a:endParaRPr lang="en-US" altLang="en-US" sz="2400"/>
          </a:p>
          <a:p>
            <a:pPr algn="l" eaLnBrk="1" hangingPunct="1">
              <a:spcBef>
                <a:spcPct val="0"/>
              </a:spcBef>
              <a:buClrTx/>
              <a:buFontTx/>
              <a:buChar char="•"/>
            </a:pPr>
            <a:r>
              <a:rPr lang="en-US" altLang="en-US" sz="2400"/>
              <a:t>Cluster Computing</a:t>
            </a:r>
          </a:p>
          <a:p>
            <a:pPr algn="l" eaLnBrk="1" hangingPunct="1">
              <a:spcBef>
                <a:spcPct val="0"/>
              </a:spcBef>
              <a:buClrTx/>
              <a:buFontTx/>
              <a:buChar char="•"/>
            </a:pPr>
            <a:endParaRPr lang="en-US" altLang="en-US" sz="2400"/>
          </a:p>
          <a:p>
            <a:pPr algn="l" eaLnBrk="1" hangingPunct="1">
              <a:spcBef>
                <a:spcPct val="0"/>
              </a:spcBef>
              <a:buClrTx/>
              <a:buFontTx/>
              <a:buChar char="•"/>
            </a:pPr>
            <a:r>
              <a:rPr lang="en-US" altLang="en-US" sz="2400"/>
              <a:t>Grid Computing</a:t>
            </a:r>
          </a:p>
          <a:p>
            <a:pPr algn="l" eaLnBrk="1" hangingPunct="1">
              <a:spcBef>
                <a:spcPct val="0"/>
              </a:spcBef>
              <a:buClrTx/>
              <a:buFontTx/>
              <a:buChar char="•"/>
            </a:pPr>
            <a:endParaRPr lang="en-US" altLang="en-US" sz="2400"/>
          </a:p>
          <a:p>
            <a:pPr algn="l" eaLnBrk="1" hangingPunct="1">
              <a:spcBef>
                <a:spcPct val="0"/>
              </a:spcBef>
              <a:buClrTx/>
              <a:buFontTx/>
              <a:buChar char="•"/>
            </a:pPr>
            <a:r>
              <a:rPr lang="en-US" altLang="en-US" sz="2400"/>
              <a:t>Cloud Computing</a:t>
            </a:r>
          </a:p>
          <a:p>
            <a:pPr algn="l" eaLnBrk="1" hangingPunct="1">
              <a:spcBef>
                <a:spcPct val="0"/>
              </a:spcBef>
              <a:buClrTx/>
              <a:buFontTx/>
              <a:buChar char="•"/>
            </a:pPr>
            <a:endParaRPr lang="en-US" altLang="en-US" sz="2400"/>
          </a:p>
          <a:p>
            <a:pPr algn="l" eaLnBrk="1" hangingPunct="1">
              <a:spcBef>
                <a:spcPct val="0"/>
              </a:spcBef>
              <a:buClrTx/>
              <a:buFontTx/>
              <a:buChar char="•"/>
            </a:pPr>
            <a:r>
              <a:rPr lang="en-US" altLang="en-US" sz="2400"/>
              <a:t>Pervasive Computing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23C32321-CEDE-4A84-B0E4-F067C3CC52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Parallel Computing</a:t>
            </a:r>
          </a:p>
        </p:txBody>
      </p:sp>
      <p:pic>
        <p:nvPicPr>
          <p:cNvPr id="19459" name="Picture 1">
            <a:extLst>
              <a:ext uri="{FF2B5EF4-FFF2-40B4-BE49-F238E27FC236}">
                <a16:creationId xmlns:a16="http://schemas.microsoft.com/office/drawing/2014/main" id="{1CFC3834-F850-468F-8440-EDEB16354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00" y="1639888"/>
            <a:ext cx="3817938" cy="336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0" name="Picture 2">
            <a:extLst>
              <a:ext uri="{FF2B5EF4-FFF2-40B4-BE49-F238E27FC236}">
                <a16:creationId xmlns:a16="http://schemas.microsoft.com/office/drawing/2014/main" id="{A1B5DD10-FCC9-4BF2-9668-E2C15C545B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4950" y="1639888"/>
            <a:ext cx="5046663" cy="336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1" name="Rectangle 3">
            <a:extLst>
              <a:ext uri="{FF2B5EF4-FFF2-40B4-BE49-F238E27FC236}">
                <a16:creationId xmlns:a16="http://schemas.microsoft.com/office/drawing/2014/main" id="{90C60284-6BA6-4FA6-9214-995B9DD121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1925" y="1143000"/>
            <a:ext cx="56753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spcBef>
                <a:spcPct val="20000"/>
              </a:spcBef>
              <a:buClr>
                <a:schemeClr val="accent2"/>
              </a:buCl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>
              <a:spcBef>
                <a:spcPct val="0"/>
              </a:spcBef>
              <a:buClrTx/>
            </a:pPr>
            <a:r>
              <a:rPr lang="en-US" altLang="en-US" sz="2000"/>
              <a:t>Multiprocessor vs. multicomputer</a:t>
            </a:r>
          </a:p>
        </p:txBody>
      </p:sp>
      <p:sp>
        <p:nvSpPr>
          <p:cNvPr id="19462" name="Rectangle 4">
            <a:extLst>
              <a:ext uri="{FF2B5EF4-FFF2-40B4-BE49-F238E27FC236}">
                <a16:creationId xmlns:a16="http://schemas.microsoft.com/office/drawing/2014/main" id="{9F9E7106-AB04-4B2E-90E5-A1E0507404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575" y="5410200"/>
            <a:ext cx="883285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spcBef>
                <a:spcPct val="20000"/>
              </a:spcBef>
              <a:buClr>
                <a:schemeClr val="accent2"/>
              </a:buCl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>
              <a:spcBef>
                <a:spcPct val="0"/>
              </a:spcBef>
              <a:buClrTx/>
            </a:pPr>
            <a:r>
              <a:rPr lang="en-US" altLang="en-US" sz="2400"/>
              <a:t>Multiprocessors are relatively easy to program in comparison to multicomputers, yet have problems when increasing the number of processors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030653BF-DDA2-4AD8-ABA6-B8A04035ED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Cluster Computing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C44D524-5D7C-428C-B66C-5F863DC7D0C8}"/>
              </a:ext>
            </a:extLst>
          </p:cNvPr>
          <p:cNvSpPr/>
          <p:nvPr/>
        </p:nvSpPr>
        <p:spPr>
          <a:xfrm>
            <a:off x="249238" y="1212850"/>
            <a:ext cx="8543925" cy="1200150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dirty="0">
                <a:solidFill>
                  <a:srgbClr val="04064C"/>
                </a:solidFill>
                <a:latin typeface="NimbusSanL-Regu"/>
              </a:rPr>
              <a:t>Essentially a group of high-end systems connected through a LAN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000000"/>
                </a:solidFill>
                <a:latin typeface="NimbusSanL-Regu"/>
              </a:rPr>
              <a:t>Homogeneous: same OS, near-identical hardware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000000"/>
                </a:solidFill>
                <a:latin typeface="NimbusSanL-Regu"/>
              </a:rPr>
              <a:t>Single managing node</a:t>
            </a:r>
            <a:endParaRPr lang="en-US" dirty="0"/>
          </a:p>
        </p:txBody>
      </p:sp>
      <p:pic>
        <p:nvPicPr>
          <p:cNvPr id="20484" name="Picture 3">
            <a:extLst>
              <a:ext uri="{FF2B5EF4-FFF2-40B4-BE49-F238E27FC236}">
                <a16:creationId xmlns:a16="http://schemas.microsoft.com/office/drawing/2014/main" id="{D91623CC-561F-4F10-93C9-436495AD71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75" y="2771775"/>
            <a:ext cx="8782050" cy="3348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BD7FADF5-1EEF-4129-A0F7-490ED37B62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Grid Computing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3126E22-6EF7-4108-A3B3-A19F54BAF30A}"/>
              </a:ext>
            </a:extLst>
          </p:cNvPr>
          <p:cNvSpPr/>
          <p:nvPr/>
        </p:nvSpPr>
        <p:spPr>
          <a:xfrm>
            <a:off x="420688" y="2209800"/>
            <a:ext cx="8302625" cy="1631950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2800" dirty="0"/>
              <a:t>The next step: lots of nodes from everywhere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  <a:defRPr/>
            </a:pPr>
            <a:r>
              <a:rPr lang="en-US" dirty="0"/>
              <a:t>Heterogeneous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  <a:defRPr/>
            </a:pPr>
            <a:r>
              <a:rPr lang="en-US" dirty="0"/>
              <a:t>Dispersed across several organizations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  <a:defRPr/>
            </a:pPr>
            <a:r>
              <a:rPr lang="en-US" dirty="0"/>
              <a:t>Can easily span a wide-area network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ADC50C54-B32E-4698-A37A-4002B0A57C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Cloud Computing (1)</a:t>
            </a:r>
          </a:p>
        </p:txBody>
      </p:sp>
      <p:pic>
        <p:nvPicPr>
          <p:cNvPr id="22531" name="Picture 2">
            <a:extLst>
              <a:ext uri="{FF2B5EF4-FFF2-40B4-BE49-F238E27FC236}">
                <a16:creationId xmlns:a16="http://schemas.microsoft.com/office/drawing/2014/main" id="{150EB383-80EE-45E5-BF38-A553741B9B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19213"/>
            <a:ext cx="9144000" cy="421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F923BA50-6C75-4D6A-9890-C1EE0102AB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Cloud Computing (2)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856B1F-A8A9-4F17-95AD-661F13E496DA}"/>
              </a:ext>
            </a:extLst>
          </p:cNvPr>
          <p:cNvSpPr/>
          <p:nvPr/>
        </p:nvSpPr>
        <p:spPr>
          <a:xfrm>
            <a:off x="230188" y="1382713"/>
            <a:ext cx="8683625" cy="3908425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3200" dirty="0">
                <a:solidFill>
                  <a:srgbClr val="04064C"/>
                </a:solidFill>
                <a:latin typeface="NimbusSanL-Regu"/>
              </a:rPr>
              <a:t>Make a distinction among four layers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FB0000"/>
                </a:solidFill>
                <a:latin typeface="NimbusSanL-Regu"/>
              </a:rPr>
              <a:t>Hardware</a:t>
            </a:r>
            <a:r>
              <a:rPr lang="en-US" dirty="0">
                <a:solidFill>
                  <a:srgbClr val="000000"/>
                </a:solidFill>
                <a:latin typeface="NimbusSanL-Regu"/>
              </a:rPr>
              <a:t>: Processors, routers, power and cooling systems. Customers normally never get to see these.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FB0000"/>
                </a:solidFill>
                <a:latin typeface="NimbusSanL-Regu"/>
              </a:rPr>
              <a:t>Infrastructure</a:t>
            </a:r>
            <a:r>
              <a:rPr lang="en-US" dirty="0">
                <a:solidFill>
                  <a:srgbClr val="000000"/>
                </a:solidFill>
                <a:latin typeface="NimbusSanL-Regu"/>
              </a:rPr>
              <a:t>: Deploys virtualization techniques. Evolves around allocating and managing virtual storage devices and virtual servers.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FB0000"/>
                </a:solidFill>
                <a:latin typeface="NimbusSanL-Regu"/>
              </a:rPr>
              <a:t>Platform</a:t>
            </a:r>
            <a:r>
              <a:rPr lang="en-US" dirty="0">
                <a:solidFill>
                  <a:srgbClr val="000000"/>
                </a:solidFill>
                <a:latin typeface="NimbusSanL-Regu"/>
              </a:rPr>
              <a:t>: Provides higher-level abstractions for storage and such. 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FB0000"/>
                </a:solidFill>
                <a:latin typeface="NimbusSanL-Regu"/>
              </a:rPr>
              <a:t>Application</a:t>
            </a:r>
            <a:r>
              <a:rPr lang="en-US" dirty="0">
                <a:solidFill>
                  <a:srgbClr val="000000"/>
                </a:solidFill>
                <a:latin typeface="NimbusSanL-Regu"/>
              </a:rPr>
              <a:t>: Actual applications, such as office suites (text processors, spreadsheet applications, presentation applications). Comparable to the suite of apps shipped with OSes.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833CCDE2-C20E-4A0D-966F-B7875D5B22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Pervasive Computing (1)</a:t>
            </a: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59CCF3FE-8D8C-45FD-9D8C-853ABFE7C5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600" y="1304925"/>
            <a:ext cx="8451850" cy="526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algn="ctr">
              <a:spcBef>
                <a:spcPct val="20000"/>
              </a:spcBef>
              <a:buClr>
                <a:schemeClr val="accent2"/>
              </a:buCl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800100" indent="-342900">
              <a:spcBef>
                <a:spcPct val="20000"/>
              </a:spcBef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Char char="•"/>
            </a:pPr>
            <a:r>
              <a:rPr lang="en-US" altLang="en-US" sz="2400">
                <a:solidFill>
                  <a:srgbClr val="000000"/>
                </a:solidFill>
                <a:latin typeface="NimbusSanL-Regu"/>
              </a:rPr>
              <a:t>Emerging next-generation of distributed systems in which nodes are small, mobile, and often embedded in a larger system, characterized by the fact that the system </a:t>
            </a:r>
            <a:r>
              <a:rPr lang="en-US" altLang="en-US" sz="2400">
                <a:solidFill>
                  <a:srgbClr val="FB0000"/>
                </a:solidFill>
                <a:latin typeface="NimbusSanL-Regu"/>
              </a:rPr>
              <a:t>naturally blends into the user’s environment</a:t>
            </a:r>
            <a:r>
              <a:rPr lang="en-US" altLang="en-US" sz="2400">
                <a:solidFill>
                  <a:srgbClr val="000000"/>
                </a:solidFill>
                <a:latin typeface="NimbusSanL-Regu"/>
              </a:rPr>
              <a:t>.</a:t>
            </a:r>
          </a:p>
          <a:p>
            <a:pPr algn="l" eaLnBrk="1" hangingPunct="1">
              <a:spcBef>
                <a:spcPct val="0"/>
              </a:spcBef>
              <a:buClrTx/>
              <a:buFontTx/>
              <a:buChar char="•"/>
            </a:pPr>
            <a:endParaRPr lang="en-US" altLang="en-US" sz="2400">
              <a:solidFill>
                <a:srgbClr val="000000"/>
              </a:solidFill>
              <a:latin typeface="NimbusSanL-Regu"/>
            </a:endParaRPr>
          </a:p>
          <a:p>
            <a:pPr algn="l" eaLnBrk="1" hangingPunct="1">
              <a:spcBef>
                <a:spcPct val="0"/>
              </a:spcBef>
              <a:buClrTx/>
              <a:buFontTx/>
              <a:buChar char="•"/>
            </a:pPr>
            <a:r>
              <a:rPr lang="en-US" altLang="en-US" sz="2400">
                <a:solidFill>
                  <a:srgbClr val="04064C"/>
                </a:solidFill>
                <a:latin typeface="NimbusSanL-Regu"/>
              </a:rPr>
              <a:t>Three (overlapping) subtypes</a:t>
            </a:r>
          </a:p>
          <a:p>
            <a:pPr lvl="1" eaLnBrk="1" hangingPunct="1"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US" altLang="en-US" sz="2400">
                <a:solidFill>
                  <a:srgbClr val="0000FB"/>
                </a:solidFill>
                <a:latin typeface="NimbusSanL-Regu"/>
              </a:rPr>
              <a:t>Ubiquitous computing systems</a:t>
            </a:r>
            <a:r>
              <a:rPr lang="en-US" altLang="en-US" sz="2400">
                <a:solidFill>
                  <a:srgbClr val="000000"/>
                </a:solidFill>
                <a:latin typeface="NimbusSanL-Regu"/>
              </a:rPr>
              <a:t>: pervasive and </a:t>
            </a:r>
            <a:r>
              <a:rPr lang="en-US" altLang="en-US" sz="2400">
                <a:solidFill>
                  <a:srgbClr val="FB0000"/>
                </a:solidFill>
                <a:latin typeface="NimbusSanL-Regu"/>
              </a:rPr>
              <a:t>continuously present</a:t>
            </a:r>
            <a:r>
              <a:rPr lang="en-US" altLang="en-US" sz="2400">
                <a:solidFill>
                  <a:srgbClr val="000000"/>
                </a:solidFill>
                <a:latin typeface="NimbusSanL-Regu"/>
              </a:rPr>
              <a:t>, i.e., there is a continuous interaction between system and user.</a:t>
            </a:r>
          </a:p>
          <a:p>
            <a:pPr lvl="1" eaLnBrk="1" hangingPunct="1"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US" altLang="en-US" sz="2400">
                <a:solidFill>
                  <a:srgbClr val="0000FB"/>
                </a:solidFill>
                <a:latin typeface="NimbusSanL-Regu"/>
              </a:rPr>
              <a:t>Mobile computing systems</a:t>
            </a:r>
            <a:r>
              <a:rPr lang="en-US" altLang="en-US" sz="2400">
                <a:solidFill>
                  <a:srgbClr val="000000"/>
                </a:solidFill>
                <a:latin typeface="NimbusSanL-Regu"/>
              </a:rPr>
              <a:t>: pervasive, but emphasis is on the fact that devices are </a:t>
            </a:r>
            <a:r>
              <a:rPr lang="en-US" altLang="en-US" sz="2400">
                <a:solidFill>
                  <a:srgbClr val="FB0000"/>
                </a:solidFill>
                <a:latin typeface="NimbusSanL-Regu"/>
              </a:rPr>
              <a:t>inherently mobile</a:t>
            </a:r>
            <a:r>
              <a:rPr lang="en-US" altLang="en-US" sz="2400">
                <a:solidFill>
                  <a:srgbClr val="000000"/>
                </a:solidFill>
                <a:latin typeface="NimbusSanL-Regu"/>
              </a:rPr>
              <a:t>.</a:t>
            </a:r>
          </a:p>
          <a:p>
            <a:pPr lvl="1" eaLnBrk="1" hangingPunct="1"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US" altLang="en-US" sz="2400">
                <a:solidFill>
                  <a:srgbClr val="0000FB"/>
                </a:solidFill>
                <a:latin typeface="NimbusSanL-Regu"/>
              </a:rPr>
              <a:t>Sensor (and actuator) networks</a:t>
            </a:r>
            <a:r>
              <a:rPr lang="en-US" altLang="en-US" sz="2400">
                <a:solidFill>
                  <a:srgbClr val="000000"/>
                </a:solidFill>
                <a:latin typeface="NimbusSanL-Regu"/>
              </a:rPr>
              <a:t>: pervasive, with emphasis on the actual (collaborative) </a:t>
            </a:r>
            <a:r>
              <a:rPr lang="en-US" altLang="en-US" sz="2400">
                <a:solidFill>
                  <a:srgbClr val="FB0000"/>
                </a:solidFill>
                <a:latin typeface="NimbusSanL-Regu"/>
              </a:rPr>
              <a:t>sensing </a:t>
            </a:r>
            <a:r>
              <a:rPr lang="en-US" altLang="en-US" sz="2400">
                <a:solidFill>
                  <a:srgbClr val="000000"/>
                </a:solidFill>
                <a:latin typeface="NimbusSanL-Regu"/>
              </a:rPr>
              <a:t>and </a:t>
            </a:r>
            <a:r>
              <a:rPr lang="en-US" altLang="en-US" sz="2400">
                <a:solidFill>
                  <a:srgbClr val="FB0000"/>
                </a:solidFill>
                <a:latin typeface="NimbusSanL-Regu"/>
              </a:rPr>
              <a:t>actuation </a:t>
            </a:r>
            <a:r>
              <a:rPr lang="en-US" altLang="en-US" sz="2400">
                <a:solidFill>
                  <a:srgbClr val="000000"/>
                </a:solidFill>
                <a:latin typeface="NimbusSanL-Regu"/>
              </a:rPr>
              <a:t>of the environment.</a:t>
            </a:r>
            <a:endParaRPr lang="en-US" altLang="en-US" sz="24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id="{80E49688-7121-4B5C-AEDA-BA8A8D535B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Pervasive Computing (2)</a:t>
            </a:r>
          </a:p>
        </p:txBody>
      </p:sp>
      <p:grpSp>
        <p:nvGrpSpPr>
          <p:cNvPr id="25603" name="Group 99">
            <a:extLst>
              <a:ext uri="{FF2B5EF4-FFF2-40B4-BE49-F238E27FC236}">
                <a16:creationId xmlns:a16="http://schemas.microsoft.com/office/drawing/2014/main" id="{A892EF69-CE82-46F0-8195-54ECD42B44BF}"/>
              </a:ext>
            </a:extLst>
          </p:cNvPr>
          <p:cNvGrpSpPr>
            <a:grpSpLocks/>
          </p:cNvGrpSpPr>
          <p:nvPr/>
        </p:nvGrpSpPr>
        <p:grpSpPr bwMode="auto">
          <a:xfrm>
            <a:off x="155575" y="1846263"/>
            <a:ext cx="8812213" cy="4157662"/>
            <a:chOff x="353" y="1169"/>
            <a:chExt cx="5662" cy="2591"/>
          </a:xfrm>
        </p:grpSpPr>
        <p:sp>
          <p:nvSpPr>
            <p:cNvPr id="25604" name="Line 4">
              <a:extLst>
                <a:ext uri="{FF2B5EF4-FFF2-40B4-BE49-F238E27FC236}">
                  <a16:creationId xmlns:a16="http://schemas.microsoft.com/office/drawing/2014/main" id="{7CD44BA9-7773-40E6-B195-EE70AD4F24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82" y="1700"/>
              <a:ext cx="299" cy="515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05" name="Line 5">
              <a:extLst>
                <a:ext uri="{FF2B5EF4-FFF2-40B4-BE49-F238E27FC236}">
                  <a16:creationId xmlns:a16="http://schemas.microsoft.com/office/drawing/2014/main" id="{AE3EA4AF-0ADB-43D8-869F-CDACD7BC44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6" y="2597"/>
              <a:ext cx="216" cy="797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06" name="Line 6">
              <a:extLst>
                <a:ext uri="{FF2B5EF4-FFF2-40B4-BE49-F238E27FC236}">
                  <a16:creationId xmlns:a16="http://schemas.microsoft.com/office/drawing/2014/main" id="{6AD714BC-801B-41E9-ACF0-0D16648FFB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23" y="1717"/>
              <a:ext cx="34" cy="332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07" name="Line 7">
              <a:extLst>
                <a:ext uri="{FF2B5EF4-FFF2-40B4-BE49-F238E27FC236}">
                  <a16:creationId xmlns:a16="http://schemas.microsoft.com/office/drawing/2014/main" id="{0E1E738D-CD69-4E47-BA91-C592842243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87" y="1667"/>
              <a:ext cx="398" cy="564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08" name="Freeform 8">
              <a:extLst>
                <a:ext uri="{FF2B5EF4-FFF2-40B4-BE49-F238E27FC236}">
                  <a16:creationId xmlns:a16="http://schemas.microsoft.com/office/drawing/2014/main" id="{8E55B1DE-1773-441A-B401-E84A2BBA57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3" y="1169"/>
              <a:ext cx="3819" cy="597"/>
            </a:xfrm>
            <a:custGeom>
              <a:avLst/>
              <a:gdLst>
                <a:gd name="T0" fmla="*/ 99 w 3819"/>
                <a:gd name="T1" fmla="*/ 132 h 597"/>
                <a:gd name="T2" fmla="*/ 166 w 3819"/>
                <a:gd name="T3" fmla="*/ 99 h 597"/>
                <a:gd name="T4" fmla="*/ 382 w 3819"/>
                <a:gd name="T5" fmla="*/ 66 h 597"/>
                <a:gd name="T6" fmla="*/ 598 w 3819"/>
                <a:gd name="T7" fmla="*/ 33 h 597"/>
                <a:gd name="T8" fmla="*/ 764 w 3819"/>
                <a:gd name="T9" fmla="*/ 49 h 597"/>
                <a:gd name="T10" fmla="*/ 896 w 3819"/>
                <a:gd name="T11" fmla="*/ 33 h 597"/>
                <a:gd name="T12" fmla="*/ 1129 w 3819"/>
                <a:gd name="T13" fmla="*/ 33 h 597"/>
                <a:gd name="T14" fmla="*/ 1428 w 3819"/>
                <a:gd name="T15" fmla="*/ 49 h 597"/>
                <a:gd name="T16" fmla="*/ 1727 w 3819"/>
                <a:gd name="T17" fmla="*/ 49 h 597"/>
                <a:gd name="T18" fmla="*/ 2009 w 3819"/>
                <a:gd name="T19" fmla="*/ 49 h 597"/>
                <a:gd name="T20" fmla="*/ 2158 w 3819"/>
                <a:gd name="T21" fmla="*/ 33 h 597"/>
                <a:gd name="T22" fmla="*/ 2308 w 3819"/>
                <a:gd name="T23" fmla="*/ 0 h 597"/>
                <a:gd name="T24" fmla="*/ 2524 w 3819"/>
                <a:gd name="T25" fmla="*/ 0 h 597"/>
                <a:gd name="T26" fmla="*/ 2740 w 3819"/>
                <a:gd name="T27" fmla="*/ 0 h 597"/>
                <a:gd name="T28" fmla="*/ 2922 w 3819"/>
                <a:gd name="T29" fmla="*/ 0 h 597"/>
                <a:gd name="T30" fmla="*/ 3072 w 3819"/>
                <a:gd name="T31" fmla="*/ 16 h 597"/>
                <a:gd name="T32" fmla="*/ 3171 w 3819"/>
                <a:gd name="T33" fmla="*/ 33 h 597"/>
                <a:gd name="T34" fmla="*/ 3337 w 3819"/>
                <a:gd name="T35" fmla="*/ 49 h 597"/>
                <a:gd name="T36" fmla="*/ 3537 w 3819"/>
                <a:gd name="T37" fmla="*/ 99 h 597"/>
                <a:gd name="T38" fmla="*/ 3752 w 3819"/>
                <a:gd name="T39" fmla="*/ 182 h 597"/>
                <a:gd name="T40" fmla="*/ 3802 w 3819"/>
                <a:gd name="T41" fmla="*/ 299 h 597"/>
                <a:gd name="T42" fmla="*/ 3819 w 3819"/>
                <a:gd name="T43" fmla="*/ 365 h 597"/>
                <a:gd name="T44" fmla="*/ 3786 w 3819"/>
                <a:gd name="T45" fmla="*/ 431 h 597"/>
                <a:gd name="T46" fmla="*/ 3686 w 3819"/>
                <a:gd name="T47" fmla="*/ 531 h 597"/>
                <a:gd name="T48" fmla="*/ 3470 w 3819"/>
                <a:gd name="T49" fmla="*/ 581 h 597"/>
                <a:gd name="T50" fmla="*/ 3221 w 3819"/>
                <a:gd name="T51" fmla="*/ 597 h 597"/>
                <a:gd name="T52" fmla="*/ 2939 w 3819"/>
                <a:gd name="T53" fmla="*/ 597 h 597"/>
                <a:gd name="T54" fmla="*/ 2657 w 3819"/>
                <a:gd name="T55" fmla="*/ 581 h 597"/>
                <a:gd name="T56" fmla="*/ 2408 w 3819"/>
                <a:gd name="T57" fmla="*/ 564 h 597"/>
                <a:gd name="T58" fmla="*/ 2158 w 3819"/>
                <a:gd name="T59" fmla="*/ 564 h 597"/>
                <a:gd name="T60" fmla="*/ 1909 w 3819"/>
                <a:gd name="T61" fmla="*/ 548 h 597"/>
                <a:gd name="T62" fmla="*/ 1677 w 3819"/>
                <a:gd name="T63" fmla="*/ 564 h 597"/>
                <a:gd name="T64" fmla="*/ 1478 w 3819"/>
                <a:gd name="T65" fmla="*/ 564 h 597"/>
                <a:gd name="T66" fmla="*/ 1278 w 3819"/>
                <a:gd name="T67" fmla="*/ 581 h 597"/>
                <a:gd name="T68" fmla="*/ 1096 w 3819"/>
                <a:gd name="T69" fmla="*/ 581 h 597"/>
                <a:gd name="T70" fmla="*/ 913 w 3819"/>
                <a:gd name="T71" fmla="*/ 581 h 597"/>
                <a:gd name="T72" fmla="*/ 747 w 3819"/>
                <a:gd name="T73" fmla="*/ 581 h 597"/>
                <a:gd name="T74" fmla="*/ 581 w 3819"/>
                <a:gd name="T75" fmla="*/ 581 h 597"/>
                <a:gd name="T76" fmla="*/ 448 w 3819"/>
                <a:gd name="T77" fmla="*/ 564 h 597"/>
                <a:gd name="T78" fmla="*/ 332 w 3819"/>
                <a:gd name="T79" fmla="*/ 548 h 597"/>
                <a:gd name="T80" fmla="*/ 282 w 3819"/>
                <a:gd name="T81" fmla="*/ 548 h 597"/>
                <a:gd name="T82" fmla="*/ 232 w 3819"/>
                <a:gd name="T83" fmla="*/ 531 h 597"/>
                <a:gd name="T84" fmla="*/ 149 w 3819"/>
                <a:gd name="T85" fmla="*/ 465 h 597"/>
                <a:gd name="T86" fmla="*/ 50 w 3819"/>
                <a:gd name="T87" fmla="*/ 398 h 597"/>
                <a:gd name="T88" fmla="*/ 16 w 3819"/>
                <a:gd name="T89" fmla="*/ 348 h 597"/>
                <a:gd name="T90" fmla="*/ 0 w 3819"/>
                <a:gd name="T91" fmla="*/ 299 h 597"/>
                <a:gd name="T92" fmla="*/ 33 w 3819"/>
                <a:gd name="T93" fmla="*/ 232 h 597"/>
                <a:gd name="T94" fmla="*/ 66 w 3819"/>
                <a:gd name="T95" fmla="*/ 182 h 597"/>
                <a:gd name="T96" fmla="*/ 99 w 3819"/>
                <a:gd name="T97" fmla="*/ 132 h 597"/>
                <a:gd name="T98" fmla="*/ 99 w 3819"/>
                <a:gd name="T99" fmla="*/ 132 h 597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3819"/>
                <a:gd name="T151" fmla="*/ 0 h 597"/>
                <a:gd name="T152" fmla="*/ 3819 w 3819"/>
                <a:gd name="T153" fmla="*/ 597 h 597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3819" h="597">
                  <a:moveTo>
                    <a:pt x="99" y="132"/>
                  </a:moveTo>
                  <a:lnTo>
                    <a:pt x="166" y="99"/>
                  </a:lnTo>
                  <a:lnTo>
                    <a:pt x="382" y="66"/>
                  </a:lnTo>
                  <a:lnTo>
                    <a:pt x="598" y="33"/>
                  </a:lnTo>
                  <a:lnTo>
                    <a:pt x="764" y="49"/>
                  </a:lnTo>
                  <a:lnTo>
                    <a:pt x="896" y="33"/>
                  </a:lnTo>
                  <a:lnTo>
                    <a:pt x="1129" y="33"/>
                  </a:lnTo>
                  <a:lnTo>
                    <a:pt x="1428" y="49"/>
                  </a:lnTo>
                  <a:lnTo>
                    <a:pt x="1727" y="49"/>
                  </a:lnTo>
                  <a:lnTo>
                    <a:pt x="2009" y="49"/>
                  </a:lnTo>
                  <a:lnTo>
                    <a:pt x="2158" y="33"/>
                  </a:lnTo>
                  <a:lnTo>
                    <a:pt x="2308" y="0"/>
                  </a:lnTo>
                  <a:lnTo>
                    <a:pt x="2524" y="0"/>
                  </a:lnTo>
                  <a:lnTo>
                    <a:pt x="2740" y="0"/>
                  </a:lnTo>
                  <a:lnTo>
                    <a:pt x="2922" y="0"/>
                  </a:lnTo>
                  <a:lnTo>
                    <a:pt x="3072" y="16"/>
                  </a:lnTo>
                  <a:lnTo>
                    <a:pt x="3171" y="33"/>
                  </a:lnTo>
                  <a:lnTo>
                    <a:pt x="3337" y="49"/>
                  </a:lnTo>
                  <a:lnTo>
                    <a:pt x="3537" y="99"/>
                  </a:lnTo>
                  <a:lnTo>
                    <a:pt x="3752" y="182"/>
                  </a:lnTo>
                  <a:lnTo>
                    <a:pt x="3802" y="299"/>
                  </a:lnTo>
                  <a:lnTo>
                    <a:pt x="3819" y="365"/>
                  </a:lnTo>
                  <a:lnTo>
                    <a:pt x="3786" y="431"/>
                  </a:lnTo>
                  <a:lnTo>
                    <a:pt x="3686" y="531"/>
                  </a:lnTo>
                  <a:lnTo>
                    <a:pt x="3470" y="581"/>
                  </a:lnTo>
                  <a:lnTo>
                    <a:pt x="3221" y="597"/>
                  </a:lnTo>
                  <a:lnTo>
                    <a:pt x="2939" y="597"/>
                  </a:lnTo>
                  <a:lnTo>
                    <a:pt x="2657" y="581"/>
                  </a:lnTo>
                  <a:lnTo>
                    <a:pt x="2408" y="564"/>
                  </a:lnTo>
                  <a:lnTo>
                    <a:pt x="2158" y="564"/>
                  </a:lnTo>
                  <a:lnTo>
                    <a:pt x="1909" y="548"/>
                  </a:lnTo>
                  <a:lnTo>
                    <a:pt x="1677" y="564"/>
                  </a:lnTo>
                  <a:lnTo>
                    <a:pt x="1478" y="564"/>
                  </a:lnTo>
                  <a:lnTo>
                    <a:pt x="1278" y="581"/>
                  </a:lnTo>
                  <a:lnTo>
                    <a:pt x="1096" y="581"/>
                  </a:lnTo>
                  <a:lnTo>
                    <a:pt x="913" y="581"/>
                  </a:lnTo>
                  <a:lnTo>
                    <a:pt x="747" y="581"/>
                  </a:lnTo>
                  <a:lnTo>
                    <a:pt x="581" y="581"/>
                  </a:lnTo>
                  <a:lnTo>
                    <a:pt x="448" y="564"/>
                  </a:lnTo>
                  <a:lnTo>
                    <a:pt x="332" y="548"/>
                  </a:lnTo>
                  <a:lnTo>
                    <a:pt x="282" y="548"/>
                  </a:lnTo>
                  <a:lnTo>
                    <a:pt x="232" y="531"/>
                  </a:lnTo>
                  <a:lnTo>
                    <a:pt x="149" y="465"/>
                  </a:lnTo>
                  <a:lnTo>
                    <a:pt x="50" y="398"/>
                  </a:lnTo>
                  <a:lnTo>
                    <a:pt x="16" y="348"/>
                  </a:lnTo>
                  <a:lnTo>
                    <a:pt x="0" y="299"/>
                  </a:lnTo>
                  <a:lnTo>
                    <a:pt x="33" y="232"/>
                  </a:lnTo>
                  <a:lnTo>
                    <a:pt x="66" y="182"/>
                  </a:lnTo>
                  <a:lnTo>
                    <a:pt x="99" y="132"/>
                  </a:lnTo>
                  <a:close/>
                </a:path>
              </a:pathLst>
            </a:custGeom>
            <a:solidFill>
              <a:srgbClr val="FFDC99"/>
            </a:solidFill>
            <a:ln w="26988">
              <a:solidFill>
                <a:srgbClr val="FFDC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609" name="Rectangle 9">
              <a:extLst>
                <a:ext uri="{FF2B5EF4-FFF2-40B4-BE49-F238E27FC236}">
                  <a16:creationId xmlns:a16="http://schemas.microsoft.com/office/drawing/2014/main" id="{E7D59A13-D5D6-422D-9A3B-6626C0F951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3" y="3394"/>
              <a:ext cx="432" cy="1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r>
                <a:rPr lang="en-US" altLang="zh-TW" sz="1700">
                  <a:solidFill>
                    <a:srgbClr val="000000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Laptop</a:t>
              </a:r>
              <a:endParaRPr lang="en-US" altLang="zh-TW" sz="2400">
                <a:ea typeface="新細明體" panose="02020500000000000000" pitchFamily="18" charset="-120"/>
              </a:endParaRPr>
            </a:p>
          </p:txBody>
        </p:sp>
        <p:sp>
          <p:nvSpPr>
            <p:cNvPr id="25610" name="Rectangle 10">
              <a:extLst>
                <a:ext uri="{FF2B5EF4-FFF2-40B4-BE49-F238E27FC236}">
                  <a16:creationId xmlns:a16="http://schemas.microsoft.com/office/drawing/2014/main" id="{9A357EB0-906E-4766-915A-14F3DB0ECE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7" y="3045"/>
              <a:ext cx="448" cy="1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r>
                <a:rPr lang="en-US" altLang="zh-TW" sz="1700">
                  <a:solidFill>
                    <a:srgbClr val="000000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Mobile</a:t>
              </a:r>
              <a:endParaRPr lang="en-US" altLang="zh-TW" sz="2400">
                <a:ea typeface="新細明體" panose="02020500000000000000" pitchFamily="18" charset="-120"/>
              </a:endParaRPr>
            </a:p>
          </p:txBody>
        </p:sp>
        <p:sp>
          <p:nvSpPr>
            <p:cNvPr id="25611" name="Rectangle 11">
              <a:extLst>
                <a:ext uri="{FF2B5EF4-FFF2-40B4-BE49-F238E27FC236}">
                  <a16:creationId xmlns:a16="http://schemas.microsoft.com/office/drawing/2014/main" id="{18E48CB9-3D9C-4FCA-988F-5B26B8CF46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0" y="3361"/>
              <a:ext cx="448" cy="1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r>
                <a:rPr lang="en-US" altLang="zh-TW" sz="1700">
                  <a:solidFill>
                    <a:srgbClr val="000000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Printer</a:t>
              </a:r>
              <a:endParaRPr lang="en-US" altLang="zh-TW" sz="2400">
                <a:ea typeface="新細明體" panose="02020500000000000000" pitchFamily="18" charset="-120"/>
              </a:endParaRPr>
            </a:p>
          </p:txBody>
        </p:sp>
        <p:sp>
          <p:nvSpPr>
            <p:cNvPr id="25612" name="Rectangle 12">
              <a:extLst>
                <a:ext uri="{FF2B5EF4-FFF2-40B4-BE49-F238E27FC236}">
                  <a16:creationId xmlns:a16="http://schemas.microsoft.com/office/drawing/2014/main" id="{3D61E25A-E957-4229-9B64-2267A0CC75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0" y="3527"/>
              <a:ext cx="515" cy="1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r>
                <a:rPr lang="en-US" altLang="zh-TW" sz="1700">
                  <a:solidFill>
                    <a:srgbClr val="000000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Camera</a:t>
              </a:r>
              <a:endParaRPr lang="en-US" altLang="zh-TW" sz="2400">
                <a:ea typeface="新細明體" panose="02020500000000000000" pitchFamily="18" charset="-120"/>
              </a:endParaRPr>
            </a:p>
          </p:txBody>
        </p:sp>
        <p:sp>
          <p:nvSpPr>
            <p:cNvPr id="25613" name="Rectangle 13">
              <a:extLst>
                <a:ext uri="{FF2B5EF4-FFF2-40B4-BE49-F238E27FC236}">
                  <a16:creationId xmlns:a16="http://schemas.microsoft.com/office/drawing/2014/main" id="{0BEAB491-7469-4DAC-AD24-0C3D5500D2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3" y="1368"/>
              <a:ext cx="482" cy="1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r>
                <a:rPr lang="en-US" altLang="zh-TW" sz="1700">
                  <a:solidFill>
                    <a:srgbClr val="000000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Internet</a:t>
              </a:r>
              <a:endParaRPr lang="en-US" altLang="zh-TW" sz="2400">
                <a:ea typeface="新細明體" panose="02020500000000000000" pitchFamily="18" charset="-120"/>
              </a:endParaRPr>
            </a:p>
          </p:txBody>
        </p:sp>
        <p:sp>
          <p:nvSpPr>
            <p:cNvPr id="25614" name="Rectangle 14">
              <a:extLst>
                <a:ext uri="{FF2B5EF4-FFF2-40B4-BE49-F238E27FC236}">
                  <a16:creationId xmlns:a16="http://schemas.microsoft.com/office/drawing/2014/main" id="{1A1488B3-4D9B-4131-AF3C-E1E9A12911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4" y="1999"/>
              <a:ext cx="216" cy="232"/>
            </a:xfrm>
            <a:prstGeom prst="rect">
              <a:avLst/>
            </a:prstGeom>
            <a:solidFill>
              <a:srgbClr val="D9AA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5615" name="Rectangle 15">
              <a:extLst>
                <a:ext uri="{FF2B5EF4-FFF2-40B4-BE49-F238E27FC236}">
                  <a16:creationId xmlns:a16="http://schemas.microsoft.com/office/drawing/2014/main" id="{9FA787BA-3908-4AA4-8568-484FD1C50E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2" y="2007"/>
              <a:ext cx="216" cy="233"/>
            </a:xfrm>
            <a:prstGeom prst="rect">
              <a:avLst/>
            </a:prstGeom>
            <a:noFill/>
            <a:ln w="26988">
              <a:solidFill>
                <a:srgbClr val="D9AA7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5616" name="Freeform 16">
              <a:extLst>
                <a:ext uri="{FF2B5EF4-FFF2-40B4-BE49-F238E27FC236}">
                  <a16:creationId xmlns:a16="http://schemas.microsoft.com/office/drawing/2014/main" id="{C873A5B8-B894-4C39-AAB7-02112BDC5D7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" y="2099"/>
              <a:ext cx="1395" cy="581"/>
            </a:xfrm>
            <a:custGeom>
              <a:avLst/>
              <a:gdLst>
                <a:gd name="T0" fmla="*/ 50 w 1395"/>
                <a:gd name="T1" fmla="*/ 132 h 581"/>
                <a:gd name="T2" fmla="*/ 66 w 1395"/>
                <a:gd name="T3" fmla="*/ 99 h 581"/>
                <a:gd name="T4" fmla="*/ 149 w 1395"/>
                <a:gd name="T5" fmla="*/ 66 h 581"/>
                <a:gd name="T6" fmla="*/ 232 w 1395"/>
                <a:gd name="T7" fmla="*/ 33 h 581"/>
                <a:gd name="T8" fmla="*/ 282 w 1395"/>
                <a:gd name="T9" fmla="*/ 49 h 581"/>
                <a:gd name="T10" fmla="*/ 332 w 1395"/>
                <a:gd name="T11" fmla="*/ 33 h 581"/>
                <a:gd name="T12" fmla="*/ 415 w 1395"/>
                <a:gd name="T13" fmla="*/ 33 h 581"/>
                <a:gd name="T14" fmla="*/ 515 w 1395"/>
                <a:gd name="T15" fmla="*/ 49 h 581"/>
                <a:gd name="T16" fmla="*/ 631 w 1395"/>
                <a:gd name="T17" fmla="*/ 49 h 581"/>
                <a:gd name="T18" fmla="*/ 730 w 1395"/>
                <a:gd name="T19" fmla="*/ 49 h 581"/>
                <a:gd name="T20" fmla="*/ 780 w 1395"/>
                <a:gd name="T21" fmla="*/ 33 h 581"/>
                <a:gd name="T22" fmla="*/ 847 w 1395"/>
                <a:gd name="T23" fmla="*/ 16 h 581"/>
                <a:gd name="T24" fmla="*/ 913 w 1395"/>
                <a:gd name="T25" fmla="*/ 0 h 581"/>
                <a:gd name="T26" fmla="*/ 996 w 1395"/>
                <a:gd name="T27" fmla="*/ 0 h 581"/>
                <a:gd name="T28" fmla="*/ 1063 w 1395"/>
                <a:gd name="T29" fmla="*/ 0 h 581"/>
                <a:gd name="T30" fmla="*/ 1112 w 1395"/>
                <a:gd name="T31" fmla="*/ 16 h 581"/>
                <a:gd name="T32" fmla="*/ 1162 w 1395"/>
                <a:gd name="T33" fmla="*/ 33 h 581"/>
                <a:gd name="T34" fmla="*/ 1212 w 1395"/>
                <a:gd name="T35" fmla="*/ 49 h 581"/>
                <a:gd name="T36" fmla="*/ 1295 w 1395"/>
                <a:gd name="T37" fmla="*/ 99 h 581"/>
                <a:gd name="T38" fmla="*/ 1361 w 1395"/>
                <a:gd name="T39" fmla="*/ 182 h 581"/>
                <a:gd name="T40" fmla="*/ 1378 w 1395"/>
                <a:gd name="T41" fmla="*/ 299 h 581"/>
                <a:gd name="T42" fmla="*/ 1395 w 1395"/>
                <a:gd name="T43" fmla="*/ 365 h 581"/>
                <a:gd name="T44" fmla="*/ 1378 w 1395"/>
                <a:gd name="T45" fmla="*/ 415 h 581"/>
                <a:gd name="T46" fmla="*/ 1345 w 1395"/>
                <a:gd name="T47" fmla="*/ 514 h 581"/>
                <a:gd name="T48" fmla="*/ 1262 w 1395"/>
                <a:gd name="T49" fmla="*/ 564 h 581"/>
                <a:gd name="T50" fmla="*/ 1179 w 1395"/>
                <a:gd name="T51" fmla="*/ 581 h 581"/>
                <a:gd name="T52" fmla="*/ 1063 w 1395"/>
                <a:gd name="T53" fmla="*/ 581 h 581"/>
                <a:gd name="T54" fmla="*/ 963 w 1395"/>
                <a:gd name="T55" fmla="*/ 564 h 581"/>
                <a:gd name="T56" fmla="*/ 880 w 1395"/>
                <a:gd name="T57" fmla="*/ 548 h 581"/>
                <a:gd name="T58" fmla="*/ 797 w 1395"/>
                <a:gd name="T59" fmla="*/ 548 h 581"/>
                <a:gd name="T60" fmla="*/ 697 w 1395"/>
                <a:gd name="T61" fmla="*/ 548 h 581"/>
                <a:gd name="T62" fmla="*/ 614 w 1395"/>
                <a:gd name="T63" fmla="*/ 548 h 581"/>
                <a:gd name="T64" fmla="*/ 531 w 1395"/>
                <a:gd name="T65" fmla="*/ 548 h 581"/>
                <a:gd name="T66" fmla="*/ 465 w 1395"/>
                <a:gd name="T67" fmla="*/ 564 h 581"/>
                <a:gd name="T68" fmla="*/ 398 w 1395"/>
                <a:gd name="T69" fmla="*/ 564 h 581"/>
                <a:gd name="T70" fmla="*/ 332 w 1395"/>
                <a:gd name="T71" fmla="*/ 564 h 581"/>
                <a:gd name="T72" fmla="*/ 282 w 1395"/>
                <a:gd name="T73" fmla="*/ 564 h 581"/>
                <a:gd name="T74" fmla="*/ 216 w 1395"/>
                <a:gd name="T75" fmla="*/ 564 h 581"/>
                <a:gd name="T76" fmla="*/ 166 w 1395"/>
                <a:gd name="T77" fmla="*/ 564 h 581"/>
                <a:gd name="T78" fmla="*/ 116 w 1395"/>
                <a:gd name="T79" fmla="*/ 548 h 581"/>
                <a:gd name="T80" fmla="*/ 99 w 1395"/>
                <a:gd name="T81" fmla="*/ 531 h 581"/>
                <a:gd name="T82" fmla="*/ 83 w 1395"/>
                <a:gd name="T83" fmla="*/ 514 h 581"/>
                <a:gd name="T84" fmla="*/ 66 w 1395"/>
                <a:gd name="T85" fmla="*/ 465 h 581"/>
                <a:gd name="T86" fmla="*/ 33 w 1395"/>
                <a:gd name="T87" fmla="*/ 398 h 581"/>
                <a:gd name="T88" fmla="*/ 16 w 1395"/>
                <a:gd name="T89" fmla="*/ 332 h 581"/>
                <a:gd name="T90" fmla="*/ 0 w 1395"/>
                <a:gd name="T91" fmla="*/ 282 h 581"/>
                <a:gd name="T92" fmla="*/ 16 w 1395"/>
                <a:gd name="T93" fmla="*/ 232 h 581"/>
                <a:gd name="T94" fmla="*/ 33 w 1395"/>
                <a:gd name="T95" fmla="*/ 166 h 581"/>
                <a:gd name="T96" fmla="*/ 50 w 1395"/>
                <a:gd name="T97" fmla="*/ 132 h 581"/>
                <a:gd name="T98" fmla="*/ 50 w 1395"/>
                <a:gd name="T99" fmla="*/ 132 h 581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395"/>
                <a:gd name="T151" fmla="*/ 0 h 581"/>
                <a:gd name="T152" fmla="*/ 1395 w 1395"/>
                <a:gd name="T153" fmla="*/ 581 h 581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395" h="581">
                  <a:moveTo>
                    <a:pt x="50" y="132"/>
                  </a:moveTo>
                  <a:lnTo>
                    <a:pt x="66" y="99"/>
                  </a:lnTo>
                  <a:lnTo>
                    <a:pt x="149" y="66"/>
                  </a:lnTo>
                  <a:lnTo>
                    <a:pt x="232" y="33"/>
                  </a:lnTo>
                  <a:lnTo>
                    <a:pt x="282" y="49"/>
                  </a:lnTo>
                  <a:lnTo>
                    <a:pt x="332" y="33"/>
                  </a:lnTo>
                  <a:lnTo>
                    <a:pt x="415" y="33"/>
                  </a:lnTo>
                  <a:lnTo>
                    <a:pt x="515" y="49"/>
                  </a:lnTo>
                  <a:lnTo>
                    <a:pt x="631" y="49"/>
                  </a:lnTo>
                  <a:lnTo>
                    <a:pt x="730" y="49"/>
                  </a:lnTo>
                  <a:lnTo>
                    <a:pt x="780" y="33"/>
                  </a:lnTo>
                  <a:lnTo>
                    <a:pt x="847" y="16"/>
                  </a:lnTo>
                  <a:lnTo>
                    <a:pt x="913" y="0"/>
                  </a:lnTo>
                  <a:lnTo>
                    <a:pt x="996" y="0"/>
                  </a:lnTo>
                  <a:lnTo>
                    <a:pt x="1063" y="0"/>
                  </a:lnTo>
                  <a:lnTo>
                    <a:pt x="1112" y="16"/>
                  </a:lnTo>
                  <a:lnTo>
                    <a:pt x="1162" y="33"/>
                  </a:lnTo>
                  <a:lnTo>
                    <a:pt x="1212" y="49"/>
                  </a:lnTo>
                  <a:lnTo>
                    <a:pt x="1295" y="99"/>
                  </a:lnTo>
                  <a:lnTo>
                    <a:pt x="1361" y="182"/>
                  </a:lnTo>
                  <a:lnTo>
                    <a:pt x="1378" y="299"/>
                  </a:lnTo>
                  <a:lnTo>
                    <a:pt x="1395" y="365"/>
                  </a:lnTo>
                  <a:lnTo>
                    <a:pt x="1378" y="415"/>
                  </a:lnTo>
                  <a:lnTo>
                    <a:pt x="1345" y="514"/>
                  </a:lnTo>
                  <a:lnTo>
                    <a:pt x="1262" y="564"/>
                  </a:lnTo>
                  <a:lnTo>
                    <a:pt x="1179" y="581"/>
                  </a:lnTo>
                  <a:lnTo>
                    <a:pt x="1063" y="581"/>
                  </a:lnTo>
                  <a:lnTo>
                    <a:pt x="963" y="564"/>
                  </a:lnTo>
                  <a:lnTo>
                    <a:pt x="880" y="548"/>
                  </a:lnTo>
                  <a:lnTo>
                    <a:pt x="797" y="548"/>
                  </a:lnTo>
                  <a:lnTo>
                    <a:pt x="697" y="548"/>
                  </a:lnTo>
                  <a:lnTo>
                    <a:pt x="614" y="548"/>
                  </a:lnTo>
                  <a:lnTo>
                    <a:pt x="531" y="548"/>
                  </a:lnTo>
                  <a:lnTo>
                    <a:pt x="465" y="564"/>
                  </a:lnTo>
                  <a:lnTo>
                    <a:pt x="398" y="564"/>
                  </a:lnTo>
                  <a:lnTo>
                    <a:pt x="332" y="564"/>
                  </a:lnTo>
                  <a:lnTo>
                    <a:pt x="282" y="564"/>
                  </a:lnTo>
                  <a:lnTo>
                    <a:pt x="216" y="564"/>
                  </a:lnTo>
                  <a:lnTo>
                    <a:pt x="166" y="564"/>
                  </a:lnTo>
                  <a:lnTo>
                    <a:pt x="116" y="548"/>
                  </a:lnTo>
                  <a:lnTo>
                    <a:pt x="99" y="531"/>
                  </a:lnTo>
                  <a:lnTo>
                    <a:pt x="83" y="514"/>
                  </a:lnTo>
                  <a:lnTo>
                    <a:pt x="66" y="465"/>
                  </a:lnTo>
                  <a:lnTo>
                    <a:pt x="33" y="398"/>
                  </a:lnTo>
                  <a:lnTo>
                    <a:pt x="16" y="332"/>
                  </a:lnTo>
                  <a:lnTo>
                    <a:pt x="0" y="282"/>
                  </a:lnTo>
                  <a:lnTo>
                    <a:pt x="16" y="232"/>
                  </a:lnTo>
                  <a:lnTo>
                    <a:pt x="33" y="166"/>
                  </a:lnTo>
                  <a:lnTo>
                    <a:pt x="50" y="132"/>
                  </a:lnTo>
                  <a:close/>
                </a:path>
              </a:pathLst>
            </a:custGeom>
            <a:solidFill>
              <a:srgbClr val="FFDC99"/>
            </a:solidFill>
            <a:ln w="26988">
              <a:solidFill>
                <a:srgbClr val="FFDC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617" name="Freeform 17">
              <a:extLst>
                <a:ext uri="{FF2B5EF4-FFF2-40B4-BE49-F238E27FC236}">
                  <a16:creationId xmlns:a16="http://schemas.microsoft.com/office/drawing/2014/main" id="{292B38E3-F926-4809-B5E2-B27BCF075DE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0" y="2082"/>
              <a:ext cx="1395" cy="714"/>
            </a:xfrm>
            <a:custGeom>
              <a:avLst/>
              <a:gdLst>
                <a:gd name="T0" fmla="*/ 50 w 1395"/>
                <a:gd name="T1" fmla="*/ 166 h 714"/>
                <a:gd name="T2" fmla="*/ 66 w 1395"/>
                <a:gd name="T3" fmla="*/ 133 h 714"/>
                <a:gd name="T4" fmla="*/ 149 w 1395"/>
                <a:gd name="T5" fmla="*/ 83 h 714"/>
                <a:gd name="T6" fmla="*/ 232 w 1395"/>
                <a:gd name="T7" fmla="*/ 50 h 714"/>
                <a:gd name="T8" fmla="*/ 282 w 1395"/>
                <a:gd name="T9" fmla="*/ 66 h 714"/>
                <a:gd name="T10" fmla="*/ 332 w 1395"/>
                <a:gd name="T11" fmla="*/ 50 h 714"/>
                <a:gd name="T12" fmla="*/ 415 w 1395"/>
                <a:gd name="T13" fmla="*/ 50 h 714"/>
                <a:gd name="T14" fmla="*/ 515 w 1395"/>
                <a:gd name="T15" fmla="*/ 66 h 714"/>
                <a:gd name="T16" fmla="*/ 631 w 1395"/>
                <a:gd name="T17" fmla="*/ 66 h 714"/>
                <a:gd name="T18" fmla="*/ 731 w 1395"/>
                <a:gd name="T19" fmla="*/ 66 h 714"/>
                <a:gd name="T20" fmla="*/ 780 w 1395"/>
                <a:gd name="T21" fmla="*/ 50 h 714"/>
                <a:gd name="T22" fmla="*/ 847 w 1395"/>
                <a:gd name="T23" fmla="*/ 17 h 714"/>
                <a:gd name="T24" fmla="*/ 913 w 1395"/>
                <a:gd name="T25" fmla="*/ 17 h 714"/>
                <a:gd name="T26" fmla="*/ 996 w 1395"/>
                <a:gd name="T27" fmla="*/ 0 h 714"/>
                <a:gd name="T28" fmla="*/ 1063 w 1395"/>
                <a:gd name="T29" fmla="*/ 17 h 714"/>
                <a:gd name="T30" fmla="*/ 1113 w 1395"/>
                <a:gd name="T31" fmla="*/ 33 h 714"/>
                <a:gd name="T32" fmla="*/ 1162 w 1395"/>
                <a:gd name="T33" fmla="*/ 50 h 714"/>
                <a:gd name="T34" fmla="*/ 1212 w 1395"/>
                <a:gd name="T35" fmla="*/ 66 h 714"/>
                <a:gd name="T36" fmla="*/ 1295 w 1395"/>
                <a:gd name="T37" fmla="*/ 133 h 714"/>
                <a:gd name="T38" fmla="*/ 1362 w 1395"/>
                <a:gd name="T39" fmla="*/ 233 h 714"/>
                <a:gd name="T40" fmla="*/ 1378 w 1395"/>
                <a:gd name="T41" fmla="*/ 349 h 714"/>
                <a:gd name="T42" fmla="*/ 1395 w 1395"/>
                <a:gd name="T43" fmla="*/ 432 h 714"/>
                <a:gd name="T44" fmla="*/ 1378 w 1395"/>
                <a:gd name="T45" fmla="*/ 498 h 714"/>
                <a:gd name="T46" fmla="*/ 1345 w 1395"/>
                <a:gd name="T47" fmla="*/ 615 h 714"/>
                <a:gd name="T48" fmla="*/ 1262 w 1395"/>
                <a:gd name="T49" fmla="*/ 681 h 714"/>
                <a:gd name="T50" fmla="*/ 1179 w 1395"/>
                <a:gd name="T51" fmla="*/ 714 h 714"/>
                <a:gd name="T52" fmla="*/ 1063 w 1395"/>
                <a:gd name="T53" fmla="*/ 698 h 714"/>
                <a:gd name="T54" fmla="*/ 963 w 1395"/>
                <a:gd name="T55" fmla="*/ 681 h 714"/>
                <a:gd name="T56" fmla="*/ 880 w 1395"/>
                <a:gd name="T57" fmla="*/ 664 h 714"/>
                <a:gd name="T58" fmla="*/ 797 w 1395"/>
                <a:gd name="T59" fmla="*/ 648 h 714"/>
                <a:gd name="T60" fmla="*/ 697 w 1395"/>
                <a:gd name="T61" fmla="*/ 648 h 714"/>
                <a:gd name="T62" fmla="*/ 614 w 1395"/>
                <a:gd name="T63" fmla="*/ 648 h 714"/>
                <a:gd name="T64" fmla="*/ 531 w 1395"/>
                <a:gd name="T65" fmla="*/ 664 h 714"/>
                <a:gd name="T66" fmla="*/ 465 w 1395"/>
                <a:gd name="T67" fmla="*/ 681 h 714"/>
                <a:gd name="T68" fmla="*/ 399 w 1395"/>
                <a:gd name="T69" fmla="*/ 681 h 714"/>
                <a:gd name="T70" fmla="*/ 332 w 1395"/>
                <a:gd name="T71" fmla="*/ 698 h 714"/>
                <a:gd name="T72" fmla="*/ 282 w 1395"/>
                <a:gd name="T73" fmla="*/ 698 h 714"/>
                <a:gd name="T74" fmla="*/ 216 w 1395"/>
                <a:gd name="T75" fmla="*/ 681 h 714"/>
                <a:gd name="T76" fmla="*/ 166 w 1395"/>
                <a:gd name="T77" fmla="*/ 664 h 714"/>
                <a:gd name="T78" fmla="*/ 133 w 1395"/>
                <a:gd name="T79" fmla="*/ 648 h 714"/>
                <a:gd name="T80" fmla="*/ 100 w 1395"/>
                <a:gd name="T81" fmla="*/ 631 h 714"/>
                <a:gd name="T82" fmla="*/ 100 w 1395"/>
                <a:gd name="T83" fmla="*/ 615 h 714"/>
                <a:gd name="T84" fmla="*/ 66 w 1395"/>
                <a:gd name="T85" fmla="*/ 548 h 714"/>
                <a:gd name="T86" fmla="*/ 33 w 1395"/>
                <a:gd name="T87" fmla="*/ 482 h 714"/>
                <a:gd name="T88" fmla="*/ 17 w 1395"/>
                <a:gd name="T89" fmla="*/ 415 h 714"/>
                <a:gd name="T90" fmla="*/ 0 w 1395"/>
                <a:gd name="T91" fmla="*/ 349 h 714"/>
                <a:gd name="T92" fmla="*/ 17 w 1395"/>
                <a:gd name="T93" fmla="*/ 282 h 714"/>
                <a:gd name="T94" fmla="*/ 33 w 1395"/>
                <a:gd name="T95" fmla="*/ 216 h 714"/>
                <a:gd name="T96" fmla="*/ 50 w 1395"/>
                <a:gd name="T97" fmla="*/ 166 h 714"/>
                <a:gd name="T98" fmla="*/ 50 w 1395"/>
                <a:gd name="T99" fmla="*/ 166 h 714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395"/>
                <a:gd name="T151" fmla="*/ 0 h 714"/>
                <a:gd name="T152" fmla="*/ 1395 w 1395"/>
                <a:gd name="T153" fmla="*/ 714 h 714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395" h="714">
                  <a:moveTo>
                    <a:pt x="50" y="166"/>
                  </a:moveTo>
                  <a:lnTo>
                    <a:pt x="66" y="133"/>
                  </a:lnTo>
                  <a:lnTo>
                    <a:pt x="149" y="83"/>
                  </a:lnTo>
                  <a:lnTo>
                    <a:pt x="232" y="50"/>
                  </a:lnTo>
                  <a:lnTo>
                    <a:pt x="282" y="66"/>
                  </a:lnTo>
                  <a:lnTo>
                    <a:pt x="332" y="50"/>
                  </a:lnTo>
                  <a:lnTo>
                    <a:pt x="415" y="50"/>
                  </a:lnTo>
                  <a:lnTo>
                    <a:pt x="515" y="66"/>
                  </a:lnTo>
                  <a:lnTo>
                    <a:pt x="631" y="66"/>
                  </a:lnTo>
                  <a:lnTo>
                    <a:pt x="731" y="66"/>
                  </a:lnTo>
                  <a:lnTo>
                    <a:pt x="780" y="50"/>
                  </a:lnTo>
                  <a:lnTo>
                    <a:pt x="847" y="17"/>
                  </a:lnTo>
                  <a:lnTo>
                    <a:pt x="913" y="17"/>
                  </a:lnTo>
                  <a:lnTo>
                    <a:pt x="996" y="0"/>
                  </a:lnTo>
                  <a:lnTo>
                    <a:pt x="1063" y="17"/>
                  </a:lnTo>
                  <a:lnTo>
                    <a:pt x="1113" y="33"/>
                  </a:lnTo>
                  <a:lnTo>
                    <a:pt x="1162" y="50"/>
                  </a:lnTo>
                  <a:lnTo>
                    <a:pt x="1212" y="66"/>
                  </a:lnTo>
                  <a:lnTo>
                    <a:pt x="1295" y="133"/>
                  </a:lnTo>
                  <a:lnTo>
                    <a:pt x="1362" y="233"/>
                  </a:lnTo>
                  <a:lnTo>
                    <a:pt x="1378" y="349"/>
                  </a:lnTo>
                  <a:lnTo>
                    <a:pt x="1395" y="432"/>
                  </a:lnTo>
                  <a:lnTo>
                    <a:pt x="1378" y="498"/>
                  </a:lnTo>
                  <a:lnTo>
                    <a:pt x="1345" y="615"/>
                  </a:lnTo>
                  <a:lnTo>
                    <a:pt x="1262" y="681"/>
                  </a:lnTo>
                  <a:lnTo>
                    <a:pt x="1179" y="714"/>
                  </a:lnTo>
                  <a:lnTo>
                    <a:pt x="1063" y="698"/>
                  </a:lnTo>
                  <a:lnTo>
                    <a:pt x="963" y="681"/>
                  </a:lnTo>
                  <a:lnTo>
                    <a:pt x="880" y="664"/>
                  </a:lnTo>
                  <a:lnTo>
                    <a:pt x="797" y="648"/>
                  </a:lnTo>
                  <a:lnTo>
                    <a:pt x="697" y="648"/>
                  </a:lnTo>
                  <a:lnTo>
                    <a:pt x="614" y="648"/>
                  </a:lnTo>
                  <a:lnTo>
                    <a:pt x="531" y="664"/>
                  </a:lnTo>
                  <a:lnTo>
                    <a:pt x="465" y="681"/>
                  </a:lnTo>
                  <a:lnTo>
                    <a:pt x="399" y="681"/>
                  </a:lnTo>
                  <a:lnTo>
                    <a:pt x="332" y="698"/>
                  </a:lnTo>
                  <a:lnTo>
                    <a:pt x="282" y="698"/>
                  </a:lnTo>
                  <a:lnTo>
                    <a:pt x="216" y="681"/>
                  </a:lnTo>
                  <a:lnTo>
                    <a:pt x="166" y="664"/>
                  </a:lnTo>
                  <a:lnTo>
                    <a:pt x="133" y="648"/>
                  </a:lnTo>
                  <a:lnTo>
                    <a:pt x="100" y="631"/>
                  </a:lnTo>
                  <a:lnTo>
                    <a:pt x="100" y="615"/>
                  </a:lnTo>
                  <a:lnTo>
                    <a:pt x="66" y="548"/>
                  </a:lnTo>
                  <a:lnTo>
                    <a:pt x="33" y="482"/>
                  </a:lnTo>
                  <a:lnTo>
                    <a:pt x="17" y="415"/>
                  </a:lnTo>
                  <a:lnTo>
                    <a:pt x="0" y="349"/>
                  </a:lnTo>
                  <a:lnTo>
                    <a:pt x="17" y="282"/>
                  </a:lnTo>
                  <a:lnTo>
                    <a:pt x="33" y="216"/>
                  </a:lnTo>
                  <a:lnTo>
                    <a:pt x="50" y="166"/>
                  </a:lnTo>
                  <a:close/>
                </a:path>
              </a:pathLst>
            </a:custGeom>
            <a:solidFill>
              <a:srgbClr val="FFDC99"/>
            </a:solidFill>
            <a:ln w="26988">
              <a:solidFill>
                <a:srgbClr val="FFDC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618" name="Freeform 18">
              <a:extLst>
                <a:ext uri="{FF2B5EF4-FFF2-40B4-BE49-F238E27FC236}">
                  <a16:creationId xmlns:a16="http://schemas.microsoft.com/office/drawing/2014/main" id="{C1E727DA-DB0F-46C7-B4F5-41DF2099E1C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1" y="2464"/>
              <a:ext cx="266" cy="316"/>
            </a:xfrm>
            <a:custGeom>
              <a:avLst/>
              <a:gdLst>
                <a:gd name="T0" fmla="*/ 0 w 266"/>
                <a:gd name="T1" fmla="*/ 50 h 316"/>
                <a:gd name="T2" fmla="*/ 83 w 266"/>
                <a:gd name="T3" fmla="*/ 0 h 316"/>
                <a:gd name="T4" fmla="*/ 266 w 266"/>
                <a:gd name="T5" fmla="*/ 249 h 316"/>
                <a:gd name="T6" fmla="*/ 183 w 266"/>
                <a:gd name="T7" fmla="*/ 316 h 316"/>
                <a:gd name="T8" fmla="*/ 0 w 266"/>
                <a:gd name="T9" fmla="*/ 50 h 3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6"/>
                <a:gd name="T16" fmla="*/ 0 h 316"/>
                <a:gd name="T17" fmla="*/ 266 w 266"/>
                <a:gd name="T18" fmla="*/ 316 h 3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6" h="316">
                  <a:moveTo>
                    <a:pt x="0" y="50"/>
                  </a:moveTo>
                  <a:lnTo>
                    <a:pt x="83" y="0"/>
                  </a:lnTo>
                  <a:lnTo>
                    <a:pt x="266" y="249"/>
                  </a:lnTo>
                  <a:lnTo>
                    <a:pt x="183" y="316"/>
                  </a:lnTo>
                  <a:lnTo>
                    <a:pt x="0" y="50"/>
                  </a:lnTo>
                  <a:close/>
                </a:path>
              </a:pathLst>
            </a:custGeom>
            <a:solidFill>
              <a:srgbClr val="FFDC99"/>
            </a:solidFill>
            <a:ln w="26988">
              <a:solidFill>
                <a:srgbClr val="FFDC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619" name="Rectangle 19">
              <a:extLst>
                <a:ext uri="{FF2B5EF4-FFF2-40B4-BE49-F238E27FC236}">
                  <a16:creationId xmlns:a16="http://schemas.microsoft.com/office/drawing/2014/main" id="{38A3DB09-6A5C-4155-A364-D9B5370969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5" y="3328"/>
              <a:ext cx="199" cy="215"/>
            </a:xfrm>
            <a:prstGeom prst="rect">
              <a:avLst/>
            </a:prstGeom>
            <a:solidFill>
              <a:srgbClr val="D9AA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5620" name="Rectangle 20">
              <a:extLst>
                <a:ext uri="{FF2B5EF4-FFF2-40B4-BE49-F238E27FC236}">
                  <a16:creationId xmlns:a16="http://schemas.microsoft.com/office/drawing/2014/main" id="{97C2B9E0-3AC6-432C-A280-3BCA616BFC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3" y="3336"/>
              <a:ext cx="200" cy="216"/>
            </a:xfrm>
            <a:prstGeom prst="rect">
              <a:avLst/>
            </a:prstGeom>
            <a:noFill/>
            <a:ln w="26988">
              <a:solidFill>
                <a:srgbClr val="D9AA7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5621" name="Rectangle 21">
              <a:extLst>
                <a:ext uri="{FF2B5EF4-FFF2-40B4-BE49-F238E27FC236}">
                  <a16:creationId xmlns:a16="http://schemas.microsoft.com/office/drawing/2014/main" id="{ABD17CF9-2165-405D-B261-24D06BDACB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9" y="3344"/>
              <a:ext cx="83" cy="150"/>
            </a:xfrm>
            <a:prstGeom prst="rect">
              <a:avLst/>
            </a:prstGeom>
            <a:solidFill>
              <a:srgbClr val="D9AA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5622" name="Rectangle 22">
              <a:extLst>
                <a:ext uri="{FF2B5EF4-FFF2-40B4-BE49-F238E27FC236}">
                  <a16:creationId xmlns:a16="http://schemas.microsoft.com/office/drawing/2014/main" id="{B5923D06-73B6-4A48-A76F-B52CD176C9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7" y="3352"/>
              <a:ext cx="84" cy="150"/>
            </a:xfrm>
            <a:prstGeom prst="rect">
              <a:avLst/>
            </a:prstGeom>
            <a:noFill/>
            <a:ln w="26988">
              <a:solidFill>
                <a:srgbClr val="D9AA7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5623" name="Rectangle 23">
              <a:extLst>
                <a:ext uri="{FF2B5EF4-FFF2-40B4-BE49-F238E27FC236}">
                  <a16:creationId xmlns:a16="http://schemas.microsoft.com/office/drawing/2014/main" id="{CBA33CD9-7383-4084-B903-0F23728B35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1" y="3394"/>
              <a:ext cx="266" cy="66"/>
            </a:xfrm>
            <a:prstGeom prst="rect">
              <a:avLst/>
            </a:prstGeom>
            <a:solidFill>
              <a:srgbClr val="D9AA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5624" name="Rectangle 24">
              <a:extLst>
                <a:ext uri="{FF2B5EF4-FFF2-40B4-BE49-F238E27FC236}">
                  <a16:creationId xmlns:a16="http://schemas.microsoft.com/office/drawing/2014/main" id="{2268C2FB-F53B-4675-8DC3-B1CEE22A87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9" y="3402"/>
              <a:ext cx="267" cy="67"/>
            </a:xfrm>
            <a:prstGeom prst="rect">
              <a:avLst/>
            </a:prstGeom>
            <a:noFill/>
            <a:ln w="26988">
              <a:solidFill>
                <a:srgbClr val="D9AA7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5625" name="Oval 25">
              <a:extLst>
                <a:ext uri="{FF2B5EF4-FFF2-40B4-BE49-F238E27FC236}">
                  <a16:creationId xmlns:a16="http://schemas.microsoft.com/office/drawing/2014/main" id="{FAA9A5DB-CA09-4E14-8211-C98A6ECB7E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9" y="2987"/>
              <a:ext cx="183" cy="183"/>
            </a:xfrm>
            <a:prstGeom prst="ellipse">
              <a:avLst/>
            </a:prstGeom>
            <a:solidFill>
              <a:srgbClr val="FFFFFF"/>
            </a:solidFill>
            <a:ln w="269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5626" name="Oval 26">
              <a:extLst>
                <a:ext uri="{FF2B5EF4-FFF2-40B4-BE49-F238E27FC236}">
                  <a16:creationId xmlns:a16="http://schemas.microsoft.com/office/drawing/2014/main" id="{036CB6ED-AB68-4F4E-81B8-CD198BBAB0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9" y="3053"/>
              <a:ext cx="1" cy="1"/>
            </a:xfrm>
            <a:prstGeom prst="ellipse">
              <a:avLst/>
            </a:prstGeom>
            <a:solidFill>
              <a:srgbClr val="FFFFFF"/>
            </a:solidFill>
            <a:ln w="269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5627" name="Oval 27">
              <a:extLst>
                <a:ext uri="{FF2B5EF4-FFF2-40B4-BE49-F238E27FC236}">
                  <a16:creationId xmlns:a16="http://schemas.microsoft.com/office/drawing/2014/main" id="{02727521-4368-4CC5-9FF8-24CF404DD2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2" y="3037"/>
              <a:ext cx="1" cy="17"/>
            </a:xfrm>
            <a:prstGeom prst="ellipse">
              <a:avLst/>
            </a:prstGeom>
            <a:solidFill>
              <a:srgbClr val="FFFFFF"/>
            </a:solidFill>
            <a:ln w="269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5628" name="Line 28">
              <a:extLst>
                <a:ext uri="{FF2B5EF4-FFF2-40B4-BE49-F238E27FC236}">
                  <a16:creationId xmlns:a16="http://schemas.microsoft.com/office/drawing/2014/main" id="{F136E949-E586-4E95-B0C8-CB3DC3F3C4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4" y="3112"/>
              <a:ext cx="50" cy="1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29" name="Rectangle 29">
              <a:extLst>
                <a:ext uri="{FF2B5EF4-FFF2-40B4-BE49-F238E27FC236}">
                  <a16:creationId xmlns:a16="http://schemas.microsoft.com/office/drawing/2014/main" id="{CD6F544B-AC54-4352-84D6-8C89EE3E44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7" y="3112"/>
              <a:ext cx="33" cy="116"/>
            </a:xfrm>
            <a:prstGeom prst="rect">
              <a:avLst/>
            </a:prstGeom>
            <a:solidFill>
              <a:srgbClr val="D9AA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5630" name="Rectangle 30">
              <a:extLst>
                <a:ext uri="{FF2B5EF4-FFF2-40B4-BE49-F238E27FC236}">
                  <a16:creationId xmlns:a16="http://schemas.microsoft.com/office/drawing/2014/main" id="{F2E3DF7E-3211-4728-AC55-0B494882F7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5" y="3120"/>
              <a:ext cx="34" cy="117"/>
            </a:xfrm>
            <a:prstGeom prst="rect">
              <a:avLst/>
            </a:prstGeom>
            <a:noFill/>
            <a:ln w="26988">
              <a:solidFill>
                <a:srgbClr val="D9AA7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5631" name="Freeform 31">
              <a:extLst>
                <a:ext uri="{FF2B5EF4-FFF2-40B4-BE49-F238E27FC236}">
                  <a16:creationId xmlns:a16="http://schemas.microsoft.com/office/drawing/2014/main" id="{21DD1AA8-C438-4BB3-83C2-EE484B28173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3" y="2215"/>
              <a:ext cx="714" cy="847"/>
            </a:xfrm>
            <a:custGeom>
              <a:avLst/>
              <a:gdLst>
                <a:gd name="T0" fmla="*/ 0 w 714"/>
                <a:gd name="T1" fmla="*/ 847 h 847"/>
                <a:gd name="T2" fmla="*/ 332 w 714"/>
                <a:gd name="T3" fmla="*/ 349 h 847"/>
                <a:gd name="T4" fmla="*/ 432 w 714"/>
                <a:gd name="T5" fmla="*/ 482 h 847"/>
                <a:gd name="T6" fmla="*/ 714 w 714"/>
                <a:gd name="T7" fmla="*/ 0 h 84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14"/>
                <a:gd name="T13" fmla="*/ 0 h 847"/>
                <a:gd name="T14" fmla="*/ 714 w 714"/>
                <a:gd name="T15" fmla="*/ 847 h 84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14" h="847">
                  <a:moveTo>
                    <a:pt x="0" y="847"/>
                  </a:moveTo>
                  <a:lnTo>
                    <a:pt x="332" y="349"/>
                  </a:lnTo>
                  <a:lnTo>
                    <a:pt x="432" y="482"/>
                  </a:lnTo>
                  <a:lnTo>
                    <a:pt x="714" y="0"/>
                  </a:lnTo>
                </a:path>
              </a:pathLst>
            </a:custGeom>
            <a:noFill/>
            <a:ln w="2698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32" name="Rectangle 32">
              <a:extLst>
                <a:ext uri="{FF2B5EF4-FFF2-40B4-BE49-F238E27FC236}">
                  <a16:creationId xmlns:a16="http://schemas.microsoft.com/office/drawing/2014/main" id="{3D38D209-B6C5-4DA5-9D52-3D424EF695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4" y="2331"/>
              <a:ext cx="780" cy="1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r>
                <a:rPr lang="en-US" altLang="zh-TW" sz="1700">
                  <a:solidFill>
                    <a:srgbClr val="000000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Host intranet</a:t>
              </a:r>
              <a:endParaRPr lang="en-US" altLang="zh-TW" sz="2400">
                <a:ea typeface="新細明體" panose="02020500000000000000" pitchFamily="18" charset="-120"/>
              </a:endParaRPr>
            </a:p>
          </p:txBody>
        </p:sp>
        <p:sp>
          <p:nvSpPr>
            <p:cNvPr id="25633" name="Rectangle 33">
              <a:extLst>
                <a:ext uri="{FF2B5EF4-FFF2-40B4-BE49-F238E27FC236}">
                  <a16:creationId xmlns:a16="http://schemas.microsoft.com/office/drawing/2014/main" id="{1FDA4EDB-32D9-4D02-9B68-253CB346C1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19" y="2381"/>
              <a:ext cx="847" cy="1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r>
                <a:rPr lang="en-US" altLang="zh-TW" sz="1700">
                  <a:solidFill>
                    <a:srgbClr val="000000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Home intranet</a:t>
              </a:r>
              <a:endParaRPr lang="en-US" altLang="zh-TW" sz="2400">
                <a:ea typeface="新細明體" panose="02020500000000000000" pitchFamily="18" charset="-120"/>
              </a:endParaRPr>
            </a:p>
          </p:txBody>
        </p:sp>
        <p:sp>
          <p:nvSpPr>
            <p:cNvPr id="25634" name="Freeform 34">
              <a:extLst>
                <a:ext uri="{FF2B5EF4-FFF2-40B4-BE49-F238E27FC236}">
                  <a16:creationId xmlns:a16="http://schemas.microsoft.com/office/drawing/2014/main" id="{3C17E866-7BBC-4C34-9AE5-F0FECDEE4F0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9" y="3128"/>
              <a:ext cx="299" cy="216"/>
            </a:xfrm>
            <a:custGeom>
              <a:avLst/>
              <a:gdLst>
                <a:gd name="T0" fmla="*/ 299 w 299"/>
                <a:gd name="T1" fmla="*/ 216 h 216"/>
                <a:gd name="T2" fmla="*/ 166 w 299"/>
                <a:gd name="T3" fmla="*/ 100 h 216"/>
                <a:gd name="T4" fmla="*/ 117 w 299"/>
                <a:gd name="T5" fmla="*/ 133 h 216"/>
                <a:gd name="T6" fmla="*/ 0 w 299"/>
                <a:gd name="T7" fmla="*/ 0 h 2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9"/>
                <a:gd name="T13" fmla="*/ 0 h 216"/>
                <a:gd name="T14" fmla="*/ 299 w 299"/>
                <a:gd name="T15" fmla="*/ 216 h 2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9" h="216">
                  <a:moveTo>
                    <a:pt x="299" y="216"/>
                  </a:moveTo>
                  <a:lnTo>
                    <a:pt x="166" y="100"/>
                  </a:lnTo>
                  <a:lnTo>
                    <a:pt x="117" y="133"/>
                  </a:lnTo>
                  <a:lnTo>
                    <a:pt x="0" y="0"/>
                  </a:lnTo>
                </a:path>
              </a:pathLst>
            </a:custGeom>
            <a:noFill/>
            <a:ln w="2698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35" name="Freeform 35">
              <a:extLst>
                <a:ext uri="{FF2B5EF4-FFF2-40B4-BE49-F238E27FC236}">
                  <a16:creationId xmlns:a16="http://schemas.microsoft.com/office/drawing/2014/main" id="{184593A1-64EE-490D-BE9F-7CD29F7DF3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4" y="3361"/>
              <a:ext cx="365" cy="50"/>
            </a:xfrm>
            <a:custGeom>
              <a:avLst/>
              <a:gdLst>
                <a:gd name="T0" fmla="*/ 365 w 365"/>
                <a:gd name="T1" fmla="*/ 16 h 50"/>
                <a:gd name="T2" fmla="*/ 166 w 365"/>
                <a:gd name="T3" fmla="*/ 0 h 50"/>
                <a:gd name="T4" fmla="*/ 166 w 365"/>
                <a:gd name="T5" fmla="*/ 50 h 50"/>
                <a:gd name="T6" fmla="*/ 0 w 365"/>
                <a:gd name="T7" fmla="*/ 0 h 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65"/>
                <a:gd name="T13" fmla="*/ 0 h 50"/>
                <a:gd name="T14" fmla="*/ 365 w 365"/>
                <a:gd name="T15" fmla="*/ 50 h 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65" h="50">
                  <a:moveTo>
                    <a:pt x="365" y="16"/>
                  </a:moveTo>
                  <a:lnTo>
                    <a:pt x="166" y="0"/>
                  </a:lnTo>
                  <a:lnTo>
                    <a:pt x="166" y="50"/>
                  </a:lnTo>
                  <a:lnTo>
                    <a:pt x="0" y="0"/>
                  </a:lnTo>
                </a:path>
              </a:pathLst>
            </a:custGeom>
            <a:noFill/>
            <a:ln w="2698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36" name="Rectangle 36">
              <a:extLst>
                <a:ext uri="{FF2B5EF4-FFF2-40B4-BE49-F238E27FC236}">
                  <a16:creationId xmlns:a16="http://schemas.microsoft.com/office/drawing/2014/main" id="{28B9373E-8792-4531-9332-1DD821EB6C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7" y="2298"/>
              <a:ext cx="77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r>
                <a:rPr lang="en-US" altLang="zh-TW" sz="1700">
                  <a:solidFill>
                    <a:srgbClr val="000000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GSM/GPRS </a:t>
              </a:r>
              <a:endParaRPr lang="en-US" altLang="zh-TW" sz="2400">
                <a:ea typeface="新細明體" panose="02020500000000000000" pitchFamily="18" charset="-120"/>
              </a:endParaRPr>
            </a:p>
          </p:txBody>
        </p:sp>
        <p:sp>
          <p:nvSpPr>
            <p:cNvPr id="25637" name="Rectangle 37">
              <a:extLst>
                <a:ext uri="{FF2B5EF4-FFF2-40B4-BE49-F238E27FC236}">
                  <a16:creationId xmlns:a16="http://schemas.microsoft.com/office/drawing/2014/main" id="{0B0C9CFC-1EC3-4C7C-8A40-AD2216348D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7" y="2431"/>
              <a:ext cx="847" cy="1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r>
                <a:rPr lang="en-US" altLang="zh-TW" sz="1700">
                  <a:solidFill>
                    <a:srgbClr val="000000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Wireless LAN</a:t>
              </a:r>
              <a:endParaRPr lang="en-US" altLang="zh-TW" sz="2400">
                <a:ea typeface="新細明體" panose="02020500000000000000" pitchFamily="18" charset="-120"/>
              </a:endParaRPr>
            </a:p>
          </p:txBody>
        </p:sp>
        <p:sp>
          <p:nvSpPr>
            <p:cNvPr id="25638" name="Freeform 38">
              <a:extLst>
                <a:ext uri="{FF2B5EF4-FFF2-40B4-BE49-F238E27FC236}">
                  <a16:creationId xmlns:a16="http://schemas.microsoft.com/office/drawing/2014/main" id="{5A013DC1-4A45-41D9-B068-55A6AA3CEB2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" y="1982"/>
              <a:ext cx="49" cy="67"/>
            </a:xfrm>
            <a:custGeom>
              <a:avLst/>
              <a:gdLst>
                <a:gd name="T0" fmla="*/ 0 w 49"/>
                <a:gd name="T1" fmla="*/ 67 h 67"/>
                <a:gd name="T2" fmla="*/ 0 w 49"/>
                <a:gd name="T3" fmla="*/ 0 h 67"/>
                <a:gd name="T4" fmla="*/ 49 w 49"/>
                <a:gd name="T5" fmla="*/ 0 h 67"/>
                <a:gd name="T6" fmla="*/ 0 60000 65536"/>
                <a:gd name="T7" fmla="*/ 0 60000 65536"/>
                <a:gd name="T8" fmla="*/ 0 60000 65536"/>
                <a:gd name="T9" fmla="*/ 0 w 49"/>
                <a:gd name="T10" fmla="*/ 0 h 67"/>
                <a:gd name="T11" fmla="*/ 49 w 49"/>
                <a:gd name="T12" fmla="*/ 67 h 6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9" h="67">
                  <a:moveTo>
                    <a:pt x="0" y="67"/>
                  </a:moveTo>
                  <a:lnTo>
                    <a:pt x="0" y="0"/>
                  </a:lnTo>
                  <a:lnTo>
                    <a:pt x="49" y="0"/>
                  </a:lnTo>
                </a:path>
              </a:pathLst>
            </a:custGeom>
            <a:noFill/>
            <a:ln w="2698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39" name="Line 39">
              <a:extLst>
                <a:ext uri="{FF2B5EF4-FFF2-40B4-BE49-F238E27FC236}">
                  <a16:creationId xmlns:a16="http://schemas.microsoft.com/office/drawing/2014/main" id="{0C217C76-CB5E-4F5B-AA2E-F71FCFC0B8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9" y="1982"/>
              <a:ext cx="116" cy="1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40" name="Line 40">
              <a:extLst>
                <a:ext uri="{FF2B5EF4-FFF2-40B4-BE49-F238E27FC236}">
                  <a16:creationId xmlns:a16="http://schemas.microsoft.com/office/drawing/2014/main" id="{B74890D8-5CCF-4D8A-9BE8-CE26F67895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1" y="1982"/>
              <a:ext cx="116" cy="1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41" name="Line 41">
              <a:extLst>
                <a:ext uri="{FF2B5EF4-FFF2-40B4-BE49-F238E27FC236}">
                  <a16:creationId xmlns:a16="http://schemas.microsoft.com/office/drawing/2014/main" id="{1F4C7409-F856-4882-B8C4-BBFC0C3A70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4" y="1982"/>
              <a:ext cx="116" cy="1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42" name="Line 42">
              <a:extLst>
                <a:ext uri="{FF2B5EF4-FFF2-40B4-BE49-F238E27FC236}">
                  <a16:creationId xmlns:a16="http://schemas.microsoft.com/office/drawing/2014/main" id="{44C55B05-2B20-4295-863A-983AB7DADC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16" y="1982"/>
              <a:ext cx="116" cy="1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43" name="Line 43">
              <a:extLst>
                <a:ext uri="{FF2B5EF4-FFF2-40B4-BE49-F238E27FC236}">
                  <a16:creationId xmlns:a16="http://schemas.microsoft.com/office/drawing/2014/main" id="{86270387-5050-411B-8AAF-4EAA2F91F8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9" y="1982"/>
              <a:ext cx="116" cy="1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44" name="Line 44">
              <a:extLst>
                <a:ext uri="{FF2B5EF4-FFF2-40B4-BE49-F238E27FC236}">
                  <a16:creationId xmlns:a16="http://schemas.microsoft.com/office/drawing/2014/main" id="{5F92E0C2-DEB4-498D-9708-4E30B6AE16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1" y="1982"/>
              <a:ext cx="116" cy="1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45" name="Line 45">
              <a:extLst>
                <a:ext uri="{FF2B5EF4-FFF2-40B4-BE49-F238E27FC236}">
                  <a16:creationId xmlns:a16="http://schemas.microsoft.com/office/drawing/2014/main" id="{6A8DD5FC-23E2-4F57-B024-61CBA4AB75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13" y="1982"/>
              <a:ext cx="117" cy="1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46" name="Line 46">
              <a:extLst>
                <a:ext uri="{FF2B5EF4-FFF2-40B4-BE49-F238E27FC236}">
                  <a16:creationId xmlns:a16="http://schemas.microsoft.com/office/drawing/2014/main" id="{1E88C2B0-DC90-4B16-9F60-1B6F50426E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6" y="1982"/>
              <a:ext cx="116" cy="1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47" name="Line 47">
              <a:extLst>
                <a:ext uri="{FF2B5EF4-FFF2-40B4-BE49-F238E27FC236}">
                  <a16:creationId xmlns:a16="http://schemas.microsoft.com/office/drawing/2014/main" id="{7A2AC734-0BFD-44EE-B268-91005A0F0C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78" y="1982"/>
              <a:ext cx="117" cy="1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48" name="Line 48">
              <a:extLst>
                <a:ext uri="{FF2B5EF4-FFF2-40B4-BE49-F238E27FC236}">
                  <a16:creationId xmlns:a16="http://schemas.microsoft.com/office/drawing/2014/main" id="{0EA04DED-C90E-4EB7-8251-7E4A5317CF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11" y="1982"/>
              <a:ext cx="116" cy="1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49" name="Line 49">
              <a:extLst>
                <a:ext uri="{FF2B5EF4-FFF2-40B4-BE49-F238E27FC236}">
                  <a16:creationId xmlns:a16="http://schemas.microsoft.com/office/drawing/2014/main" id="{D87AF3AC-D78C-4437-9CA8-487DF8D86D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43" y="1982"/>
              <a:ext cx="117" cy="1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50" name="Line 50">
              <a:extLst>
                <a:ext uri="{FF2B5EF4-FFF2-40B4-BE49-F238E27FC236}">
                  <a16:creationId xmlns:a16="http://schemas.microsoft.com/office/drawing/2014/main" id="{64C3E021-6225-45D4-8D3F-12A6CBB490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6" y="1982"/>
              <a:ext cx="116" cy="1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51" name="Freeform 51">
              <a:extLst>
                <a:ext uri="{FF2B5EF4-FFF2-40B4-BE49-F238E27FC236}">
                  <a16:creationId xmlns:a16="http://schemas.microsoft.com/office/drawing/2014/main" id="{EB084728-946F-478F-A7B0-7EE0B813D3F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8" y="1982"/>
              <a:ext cx="50" cy="67"/>
            </a:xfrm>
            <a:custGeom>
              <a:avLst/>
              <a:gdLst>
                <a:gd name="T0" fmla="*/ 0 w 50"/>
                <a:gd name="T1" fmla="*/ 0 h 67"/>
                <a:gd name="T2" fmla="*/ 50 w 50"/>
                <a:gd name="T3" fmla="*/ 0 h 67"/>
                <a:gd name="T4" fmla="*/ 50 w 50"/>
                <a:gd name="T5" fmla="*/ 67 h 67"/>
                <a:gd name="T6" fmla="*/ 0 60000 65536"/>
                <a:gd name="T7" fmla="*/ 0 60000 65536"/>
                <a:gd name="T8" fmla="*/ 0 60000 65536"/>
                <a:gd name="T9" fmla="*/ 0 w 50"/>
                <a:gd name="T10" fmla="*/ 0 h 67"/>
                <a:gd name="T11" fmla="*/ 50 w 50"/>
                <a:gd name="T12" fmla="*/ 67 h 6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0" h="67">
                  <a:moveTo>
                    <a:pt x="0" y="0"/>
                  </a:moveTo>
                  <a:lnTo>
                    <a:pt x="50" y="0"/>
                  </a:lnTo>
                  <a:lnTo>
                    <a:pt x="50" y="67"/>
                  </a:lnTo>
                </a:path>
              </a:pathLst>
            </a:custGeom>
            <a:noFill/>
            <a:ln w="2698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52" name="Line 52">
              <a:extLst>
                <a:ext uri="{FF2B5EF4-FFF2-40B4-BE49-F238E27FC236}">
                  <a16:creationId xmlns:a16="http://schemas.microsoft.com/office/drawing/2014/main" id="{0B3F4D79-5A12-4DED-A27D-9A027B8A0A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8" y="2148"/>
              <a:ext cx="1" cy="117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53" name="Line 53">
              <a:extLst>
                <a:ext uri="{FF2B5EF4-FFF2-40B4-BE49-F238E27FC236}">
                  <a16:creationId xmlns:a16="http://schemas.microsoft.com/office/drawing/2014/main" id="{5A251CC8-1F06-42A3-A191-3E6B220BDE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8" y="2364"/>
              <a:ext cx="1" cy="117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54" name="Line 54">
              <a:extLst>
                <a:ext uri="{FF2B5EF4-FFF2-40B4-BE49-F238E27FC236}">
                  <a16:creationId xmlns:a16="http://schemas.microsoft.com/office/drawing/2014/main" id="{08BAC9AC-6752-4280-9898-2589734579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8" y="2580"/>
              <a:ext cx="1" cy="117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55" name="Line 55">
              <a:extLst>
                <a:ext uri="{FF2B5EF4-FFF2-40B4-BE49-F238E27FC236}">
                  <a16:creationId xmlns:a16="http://schemas.microsoft.com/office/drawing/2014/main" id="{4B533761-F4BE-4018-BD21-0DEAE30C3F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8" y="2813"/>
              <a:ext cx="1" cy="116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56" name="Line 56">
              <a:extLst>
                <a:ext uri="{FF2B5EF4-FFF2-40B4-BE49-F238E27FC236}">
                  <a16:creationId xmlns:a16="http://schemas.microsoft.com/office/drawing/2014/main" id="{5EF5AA4F-74AC-4E02-BBF6-26EA787B0A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8" y="3029"/>
              <a:ext cx="1" cy="116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57" name="Line 57">
              <a:extLst>
                <a:ext uri="{FF2B5EF4-FFF2-40B4-BE49-F238E27FC236}">
                  <a16:creationId xmlns:a16="http://schemas.microsoft.com/office/drawing/2014/main" id="{BFC8D716-8369-4897-82ED-E94D3B1012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8" y="3245"/>
              <a:ext cx="1" cy="116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58" name="Line 58">
              <a:extLst>
                <a:ext uri="{FF2B5EF4-FFF2-40B4-BE49-F238E27FC236}">
                  <a16:creationId xmlns:a16="http://schemas.microsoft.com/office/drawing/2014/main" id="{CC55E499-422E-44BA-B81F-9DE74EB648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8" y="3477"/>
              <a:ext cx="1" cy="116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59" name="Freeform 59">
              <a:extLst>
                <a:ext uri="{FF2B5EF4-FFF2-40B4-BE49-F238E27FC236}">
                  <a16:creationId xmlns:a16="http://schemas.microsoft.com/office/drawing/2014/main" id="{6B8C428D-2AC4-4772-9B26-044E8EC50E2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8" y="3693"/>
              <a:ext cx="50" cy="66"/>
            </a:xfrm>
            <a:custGeom>
              <a:avLst/>
              <a:gdLst>
                <a:gd name="T0" fmla="*/ 50 w 50"/>
                <a:gd name="T1" fmla="*/ 0 h 66"/>
                <a:gd name="T2" fmla="*/ 50 w 50"/>
                <a:gd name="T3" fmla="*/ 66 h 66"/>
                <a:gd name="T4" fmla="*/ 0 w 50"/>
                <a:gd name="T5" fmla="*/ 66 h 66"/>
                <a:gd name="T6" fmla="*/ 0 60000 65536"/>
                <a:gd name="T7" fmla="*/ 0 60000 65536"/>
                <a:gd name="T8" fmla="*/ 0 60000 65536"/>
                <a:gd name="T9" fmla="*/ 0 w 50"/>
                <a:gd name="T10" fmla="*/ 0 h 66"/>
                <a:gd name="T11" fmla="*/ 50 w 50"/>
                <a:gd name="T12" fmla="*/ 66 h 6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0" h="66">
                  <a:moveTo>
                    <a:pt x="50" y="0"/>
                  </a:moveTo>
                  <a:lnTo>
                    <a:pt x="50" y="66"/>
                  </a:lnTo>
                  <a:lnTo>
                    <a:pt x="0" y="66"/>
                  </a:lnTo>
                </a:path>
              </a:pathLst>
            </a:custGeom>
            <a:noFill/>
            <a:ln w="2698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60" name="Line 60">
              <a:extLst>
                <a:ext uri="{FF2B5EF4-FFF2-40B4-BE49-F238E27FC236}">
                  <a16:creationId xmlns:a16="http://schemas.microsoft.com/office/drawing/2014/main" id="{7D3A0923-BEBF-4497-841F-09DDD61E98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76" y="3759"/>
              <a:ext cx="116" cy="1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61" name="Line 61">
              <a:extLst>
                <a:ext uri="{FF2B5EF4-FFF2-40B4-BE49-F238E27FC236}">
                  <a16:creationId xmlns:a16="http://schemas.microsoft.com/office/drawing/2014/main" id="{26E7DC36-C136-4D8C-9D8E-C0F5BB234F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43" y="3759"/>
              <a:ext cx="117" cy="1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62" name="Line 62">
              <a:extLst>
                <a:ext uri="{FF2B5EF4-FFF2-40B4-BE49-F238E27FC236}">
                  <a16:creationId xmlns:a16="http://schemas.microsoft.com/office/drawing/2014/main" id="{7393ED3E-8133-4744-9399-3E704E28F5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11" y="3759"/>
              <a:ext cx="116" cy="1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63" name="Line 63">
              <a:extLst>
                <a:ext uri="{FF2B5EF4-FFF2-40B4-BE49-F238E27FC236}">
                  <a16:creationId xmlns:a16="http://schemas.microsoft.com/office/drawing/2014/main" id="{CA3A5490-8698-4864-8A81-DE860750B6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78" y="3759"/>
              <a:ext cx="117" cy="1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64" name="Line 64">
              <a:extLst>
                <a:ext uri="{FF2B5EF4-FFF2-40B4-BE49-F238E27FC236}">
                  <a16:creationId xmlns:a16="http://schemas.microsoft.com/office/drawing/2014/main" id="{202FB117-2035-4BE9-A02F-B53966DA10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46" y="3759"/>
              <a:ext cx="116" cy="1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65" name="Line 65">
              <a:extLst>
                <a:ext uri="{FF2B5EF4-FFF2-40B4-BE49-F238E27FC236}">
                  <a16:creationId xmlns:a16="http://schemas.microsoft.com/office/drawing/2014/main" id="{E2A088C2-4168-4132-A079-01B3F8296A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13" y="3759"/>
              <a:ext cx="117" cy="1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66" name="Line 66">
              <a:extLst>
                <a:ext uri="{FF2B5EF4-FFF2-40B4-BE49-F238E27FC236}">
                  <a16:creationId xmlns:a16="http://schemas.microsoft.com/office/drawing/2014/main" id="{128F7674-7B83-45A8-A7EE-E1F37483C0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81" y="3759"/>
              <a:ext cx="116" cy="1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67" name="Line 67">
              <a:extLst>
                <a:ext uri="{FF2B5EF4-FFF2-40B4-BE49-F238E27FC236}">
                  <a16:creationId xmlns:a16="http://schemas.microsoft.com/office/drawing/2014/main" id="{81B1E09F-A0B2-4CAE-A7CD-BDF12BF3BC4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49" y="3759"/>
              <a:ext cx="116" cy="1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68" name="Line 68">
              <a:extLst>
                <a:ext uri="{FF2B5EF4-FFF2-40B4-BE49-F238E27FC236}">
                  <a16:creationId xmlns:a16="http://schemas.microsoft.com/office/drawing/2014/main" id="{8A2A7393-43DE-4013-AF42-8D1CD091D2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16" y="3759"/>
              <a:ext cx="116" cy="1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69" name="Line 69">
              <a:extLst>
                <a:ext uri="{FF2B5EF4-FFF2-40B4-BE49-F238E27FC236}">
                  <a16:creationId xmlns:a16="http://schemas.microsoft.com/office/drawing/2014/main" id="{D548E626-C5C6-4275-947E-F5F7A210F3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84" y="3759"/>
              <a:ext cx="116" cy="1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70" name="Line 70">
              <a:extLst>
                <a:ext uri="{FF2B5EF4-FFF2-40B4-BE49-F238E27FC236}">
                  <a16:creationId xmlns:a16="http://schemas.microsoft.com/office/drawing/2014/main" id="{19AFA427-F390-448D-837C-746F1B1771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51" y="3759"/>
              <a:ext cx="116" cy="1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71" name="Line 71">
              <a:extLst>
                <a:ext uri="{FF2B5EF4-FFF2-40B4-BE49-F238E27FC236}">
                  <a16:creationId xmlns:a16="http://schemas.microsoft.com/office/drawing/2014/main" id="{23EC5DA2-DB2F-4920-8423-F14002D870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19" y="3759"/>
              <a:ext cx="116" cy="1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72" name="Freeform 72">
              <a:extLst>
                <a:ext uri="{FF2B5EF4-FFF2-40B4-BE49-F238E27FC236}">
                  <a16:creationId xmlns:a16="http://schemas.microsoft.com/office/drawing/2014/main" id="{3438E348-01A6-40D9-A15C-B397055F6B2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" y="3693"/>
              <a:ext cx="49" cy="66"/>
            </a:xfrm>
            <a:custGeom>
              <a:avLst/>
              <a:gdLst>
                <a:gd name="T0" fmla="*/ 49 w 49"/>
                <a:gd name="T1" fmla="*/ 66 h 66"/>
                <a:gd name="T2" fmla="*/ 0 w 49"/>
                <a:gd name="T3" fmla="*/ 66 h 66"/>
                <a:gd name="T4" fmla="*/ 0 w 49"/>
                <a:gd name="T5" fmla="*/ 0 h 66"/>
                <a:gd name="T6" fmla="*/ 0 60000 65536"/>
                <a:gd name="T7" fmla="*/ 0 60000 65536"/>
                <a:gd name="T8" fmla="*/ 0 60000 65536"/>
                <a:gd name="T9" fmla="*/ 0 w 49"/>
                <a:gd name="T10" fmla="*/ 0 h 66"/>
                <a:gd name="T11" fmla="*/ 49 w 49"/>
                <a:gd name="T12" fmla="*/ 66 h 6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9" h="66">
                  <a:moveTo>
                    <a:pt x="49" y="66"/>
                  </a:moveTo>
                  <a:lnTo>
                    <a:pt x="0" y="66"/>
                  </a:lnTo>
                  <a:lnTo>
                    <a:pt x="0" y="0"/>
                  </a:lnTo>
                </a:path>
              </a:pathLst>
            </a:custGeom>
            <a:noFill/>
            <a:ln w="2698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73" name="Line 73">
              <a:extLst>
                <a:ext uri="{FF2B5EF4-FFF2-40B4-BE49-F238E27FC236}">
                  <a16:creationId xmlns:a16="http://schemas.microsoft.com/office/drawing/2014/main" id="{1116A06B-0A29-4FF7-B7AE-66F9CE2244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3" y="3477"/>
              <a:ext cx="1" cy="116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74" name="Line 74">
              <a:extLst>
                <a:ext uri="{FF2B5EF4-FFF2-40B4-BE49-F238E27FC236}">
                  <a16:creationId xmlns:a16="http://schemas.microsoft.com/office/drawing/2014/main" id="{6B0EB53C-04B3-4E35-8D68-5F5C1F5601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3" y="3245"/>
              <a:ext cx="1" cy="116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75" name="Line 75">
              <a:extLst>
                <a:ext uri="{FF2B5EF4-FFF2-40B4-BE49-F238E27FC236}">
                  <a16:creationId xmlns:a16="http://schemas.microsoft.com/office/drawing/2014/main" id="{35589450-1987-4920-B736-75307D435D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3" y="3029"/>
              <a:ext cx="1" cy="116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76" name="Line 76">
              <a:extLst>
                <a:ext uri="{FF2B5EF4-FFF2-40B4-BE49-F238E27FC236}">
                  <a16:creationId xmlns:a16="http://schemas.microsoft.com/office/drawing/2014/main" id="{EC38E62A-98EA-4FC0-8074-BDBD63F03A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3" y="2813"/>
              <a:ext cx="1" cy="116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77" name="Line 77">
              <a:extLst>
                <a:ext uri="{FF2B5EF4-FFF2-40B4-BE49-F238E27FC236}">
                  <a16:creationId xmlns:a16="http://schemas.microsoft.com/office/drawing/2014/main" id="{5D60F431-1842-465C-B1DE-8927C98C18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3" y="2580"/>
              <a:ext cx="1" cy="117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78" name="Line 78">
              <a:extLst>
                <a:ext uri="{FF2B5EF4-FFF2-40B4-BE49-F238E27FC236}">
                  <a16:creationId xmlns:a16="http://schemas.microsoft.com/office/drawing/2014/main" id="{C818B393-A07C-4379-82D1-F8BD13C626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3" y="2364"/>
              <a:ext cx="1" cy="117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79" name="Line 79">
              <a:extLst>
                <a:ext uri="{FF2B5EF4-FFF2-40B4-BE49-F238E27FC236}">
                  <a16:creationId xmlns:a16="http://schemas.microsoft.com/office/drawing/2014/main" id="{33975F52-23F7-4747-8DB5-6C2D45045C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3" y="2148"/>
              <a:ext cx="1" cy="117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80" name="Rectangle 80">
              <a:extLst>
                <a:ext uri="{FF2B5EF4-FFF2-40B4-BE49-F238E27FC236}">
                  <a16:creationId xmlns:a16="http://schemas.microsoft.com/office/drawing/2014/main" id="{3196C64C-B9FB-4CED-A28E-E68AA07875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7" y="3195"/>
              <a:ext cx="399" cy="1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r>
                <a:rPr lang="en-US" altLang="zh-TW" sz="1700">
                  <a:solidFill>
                    <a:srgbClr val="000000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phone</a:t>
              </a:r>
              <a:endParaRPr lang="en-US" altLang="zh-TW" sz="2400">
                <a:ea typeface="新細明體" panose="02020500000000000000" pitchFamily="18" charset="-120"/>
              </a:endParaRPr>
            </a:p>
          </p:txBody>
        </p:sp>
        <p:sp>
          <p:nvSpPr>
            <p:cNvPr id="25681" name="Rectangle 81">
              <a:extLst>
                <a:ext uri="{FF2B5EF4-FFF2-40B4-BE49-F238E27FC236}">
                  <a16:creationId xmlns:a16="http://schemas.microsoft.com/office/drawing/2014/main" id="{8988DAAA-15D7-420D-A6F5-E9EBAA8D0A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7" y="2447"/>
              <a:ext cx="515" cy="1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r>
                <a:rPr lang="en-US" altLang="zh-TW" sz="1700">
                  <a:solidFill>
                    <a:srgbClr val="000000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gateway</a:t>
              </a:r>
              <a:endParaRPr lang="en-US" altLang="zh-TW" sz="2400">
                <a:ea typeface="新細明體" panose="02020500000000000000" pitchFamily="18" charset="-120"/>
              </a:endParaRPr>
            </a:p>
          </p:txBody>
        </p:sp>
        <p:sp>
          <p:nvSpPr>
            <p:cNvPr id="25682" name="Rectangle 82">
              <a:extLst>
                <a:ext uri="{FF2B5EF4-FFF2-40B4-BE49-F238E27FC236}">
                  <a16:creationId xmlns:a16="http://schemas.microsoft.com/office/drawing/2014/main" id="{E6E16573-C8AE-4D63-87D9-FEB78853C1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1" y="3510"/>
              <a:ext cx="565" cy="1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r>
                <a:rPr lang="en-US" altLang="zh-TW" sz="1700">
                  <a:solidFill>
                    <a:srgbClr val="000000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Host site</a:t>
              </a:r>
              <a:endParaRPr lang="en-US" altLang="zh-TW" sz="2400">
                <a:ea typeface="新細明體" panose="02020500000000000000" pitchFamily="18" charset="-120"/>
              </a:endParaRPr>
            </a:p>
          </p:txBody>
        </p:sp>
        <p:sp>
          <p:nvSpPr>
            <p:cNvPr id="25683" name="Oval 83">
              <a:extLst>
                <a:ext uri="{FF2B5EF4-FFF2-40B4-BE49-F238E27FC236}">
                  <a16:creationId xmlns:a16="http://schemas.microsoft.com/office/drawing/2014/main" id="{54E349C4-80F8-4BF0-866E-54CE40D714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6" y="2862"/>
              <a:ext cx="151" cy="151"/>
            </a:xfrm>
            <a:prstGeom prst="ellipse">
              <a:avLst/>
            </a:prstGeom>
            <a:noFill/>
            <a:ln w="52388">
              <a:solidFill>
                <a:srgbClr val="FFDC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5684" name="Oval 84">
              <a:extLst>
                <a:ext uri="{FF2B5EF4-FFF2-40B4-BE49-F238E27FC236}">
                  <a16:creationId xmlns:a16="http://schemas.microsoft.com/office/drawing/2014/main" id="{4F764EBF-84EA-439C-8C0D-82CB9CF2A7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6" y="2812"/>
              <a:ext cx="251" cy="250"/>
            </a:xfrm>
            <a:prstGeom prst="ellipse">
              <a:avLst/>
            </a:prstGeom>
            <a:noFill/>
            <a:ln w="52388">
              <a:solidFill>
                <a:srgbClr val="FFDC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5685" name="Oval 85">
              <a:extLst>
                <a:ext uri="{FF2B5EF4-FFF2-40B4-BE49-F238E27FC236}">
                  <a16:creationId xmlns:a16="http://schemas.microsoft.com/office/drawing/2014/main" id="{C3E35E15-4647-4495-A66F-72821560F1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0" y="2762"/>
              <a:ext cx="366" cy="367"/>
            </a:xfrm>
            <a:prstGeom prst="ellipse">
              <a:avLst/>
            </a:prstGeom>
            <a:noFill/>
            <a:ln w="52388">
              <a:solidFill>
                <a:srgbClr val="FFDC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5686" name="Oval 86">
              <a:extLst>
                <a:ext uri="{FF2B5EF4-FFF2-40B4-BE49-F238E27FC236}">
                  <a16:creationId xmlns:a16="http://schemas.microsoft.com/office/drawing/2014/main" id="{70EA8E22-3E41-46BE-9A83-98596F4AF6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7" y="2696"/>
              <a:ext cx="449" cy="483"/>
            </a:xfrm>
            <a:prstGeom prst="ellipse">
              <a:avLst/>
            </a:prstGeom>
            <a:noFill/>
            <a:ln w="52388">
              <a:solidFill>
                <a:srgbClr val="FFDC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5687" name="Freeform 87">
              <a:extLst>
                <a:ext uri="{FF2B5EF4-FFF2-40B4-BE49-F238E27FC236}">
                  <a16:creationId xmlns:a16="http://schemas.microsoft.com/office/drawing/2014/main" id="{8F529C22-BE5B-403D-B85E-EE151AB765E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7" y="2780"/>
              <a:ext cx="33" cy="33"/>
            </a:xfrm>
            <a:custGeom>
              <a:avLst/>
              <a:gdLst>
                <a:gd name="T0" fmla="*/ 33 w 33"/>
                <a:gd name="T1" fmla="*/ 0 h 33"/>
                <a:gd name="T2" fmla="*/ 17 w 33"/>
                <a:gd name="T3" fmla="*/ 0 h 33"/>
                <a:gd name="T4" fmla="*/ 0 w 33"/>
                <a:gd name="T5" fmla="*/ 16 h 33"/>
                <a:gd name="T6" fmla="*/ 17 w 33"/>
                <a:gd name="T7" fmla="*/ 33 h 33"/>
                <a:gd name="T8" fmla="*/ 33 w 33"/>
                <a:gd name="T9" fmla="*/ 0 h 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3"/>
                <a:gd name="T16" fmla="*/ 0 h 33"/>
                <a:gd name="T17" fmla="*/ 33 w 33"/>
                <a:gd name="T18" fmla="*/ 33 h 3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3" h="33">
                  <a:moveTo>
                    <a:pt x="33" y="0"/>
                  </a:moveTo>
                  <a:lnTo>
                    <a:pt x="17" y="0"/>
                  </a:lnTo>
                  <a:lnTo>
                    <a:pt x="0" y="16"/>
                  </a:lnTo>
                  <a:lnTo>
                    <a:pt x="17" y="33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88" name="Freeform 88">
              <a:extLst>
                <a:ext uri="{FF2B5EF4-FFF2-40B4-BE49-F238E27FC236}">
                  <a16:creationId xmlns:a16="http://schemas.microsoft.com/office/drawing/2014/main" id="{1D652F72-C82C-4E83-87AF-DC94301F3DFE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2" y="3095"/>
              <a:ext cx="34" cy="50"/>
            </a:xfrm>
            <a:custGeom>
              <a:avLst/>
              <a:gdLst>
                <a:gd name="T0" fmla="*/ 17 w 34"/>
                <a:gd name="T1" fmla="*/ 0 h 50"/>
                <a:gd name="T2" fmla="*/ 34 w 34"/>
                <a:gd name="T3" fmla="*/ 17 h 50"/>
                <a:gd name="T4" fmla="*/ 0 w 34"/>
                <a:gd name="T5" fmla="*/ 50 h 50"/>
                <a:gd name="T6" fmla="*/ 0 w 34"/>
                <a:gd name="T7" fmla="*/ 33 h 50"/>
                <a:gd name="T8" fmla="*/ 17 w 34"/>
                <a:gd name="T9" fmla="*/ 0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50"/>
                <a:gd name="T17" fmla="*/ 34 w 34"/>
                <a:gd name="T18" fmla="*/ 50 h 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50">
                  <a:moveTo>
                    <a:pt x="17" y="0"/>
                  </a:moveTo>
                  <a:lnTo>
                    <a:pt x="34" y="17"/>
                  </a:lnTo>
                  <a:lnTo>
                    <a:pt x="0" y="50"/>
                  </a:lnTo>
                  <a:lnTo>
                    <a:pt x="0" y="33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89" name="Freeform 89">
              <a:extLst>
                <a:ext uri="{FF2B5EF4-FFF2-40B4-BE49-F238E27FC236}">
                  <a16:creationId xmlns:a16="http://schemas.microsoft.com/office/drawing/2014/main" id="{4BF96DB9-964E-4D68-9E46-389411A720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4" y="2780"/>
              <a:ext cx="415" cy="348"/>
            </a:xfrm>
            <a:custGeom>
              <a:avLst/>
              <a:gdLst>
                <a:gd name="T0" fmla="*/ 16 w 415"/>
                <a:gd name="T1" fmla="*/ 0 h 348"/>
                <a:gd name="T2" fmla="*/ 0 w 415"/>
                <a:gd name="T3" fmla="*/ 33 h 348"/>
                <a:gd name="T4" fmla="*/ 398 w 415"/>
                <a:gd name="T5" fmla="*/ 348 h 348"/>
                <a:gd name="T6" fmla="*/ 415 w 415"/>
                <a:gd name="T7" fmla="*/ 315 h 348"/>
                <a:gd name="T8" fmla="*/ 16 w 415"/>
                <a:gd name="T9" fmla="*/ 0 h 3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15"/>
                <a:gd name="T16" fmla="*/ 0 h 348"/>
                <a:gd name="T17" fmla="*/ 415 w 415"/>
                <a:gd name="T18" fmla="*/ 348 h 34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15" h="348">
                  <a:moveTo>
                    <a:pt x="16" y="0"/>
                  </a:moveTo>
                  <a:lnTo>
                    <a:pt x="0" y="33"/>
                  </a:lnTo>
                  <a:lnTo>
                    <a:pt x="398" y="348"/>
                  </a:lnTo>
                  <a:lnTo>
                    <a:pt x="415" y="315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90" name="Freeform 90">
              <a:extLst>
                <a:ext uri="{FF2B5EF4-FFF2-40B4-BE49-F238E27FC236}">
                  <a16:creationId xmlns:a16="http://schemas.microsoft.com/office/drawing/2014/main" id="{6B234114-E484-455A-8749-A9DF0031A7C3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6" y="2763"/>
              <a:ext cx="33" cy="33"/>
            </a:xfrm>
            <a:custGeom>
              <a:avLst/>
              <a:gdLst>
                <a:gd name="T0" fmla="*/ 16 w 33"/>
                <a:gd name="T1" fmla="*/ 33 h 33"/>
                <a:gd name="T2" fmla="*/ 33 w 33"/>
                <a:gd name="T3" fmla="*/ 17 h 33"/>
                <a:gd name="T4" fmla="*/ 0 w 33"/>
                <a:gd name="T5" fmla="*/ 0 h 33"/>
                <a:gd name="T6" fmla="*/ 0 w 33"/>
                <a:gd name="T7" fmla="*/ 0 h 33"/>
                <a:gd name="T8" fmla="*/ 16 w 33"/>
                <a:gd name="T9" fmla="*/ 33 h 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3"/>
                <a:gd name="T16" fmla="*/ 0 h 33"/>
                <a:gd name="T17" fmla="*/ 33 w 33"/>
                <a:gd name="T18" fmla="*/ 33 h 3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3" h="33">
                  <a:moveTo>
                    <a:pt x="16" y="33"/>
                  </a:moveTo>
                  <a:lnTo>
                    <a:pt x="33" y="17"/>
                  </a:lnTo>
                  <a:lnTo>
                    <a:pt x="0" y="0"/>
                  </a:lnTo>
                  <a:lnTo>
                    <a:pt x="16" y="3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91" name="Freeform 91">
              <a:extLst>
                <a:ext uri="{FF2B5EF4-FFF2-40B4-BE49-F238E27FC236}">
                  <a16:creationId xmlns:a16="http://schemas.microsoft.com/office/drawing/2014/main" id="{5A487C7B-F145-491D-A729-4933FC43FC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7" y="3095"/>
              <a:ext cx="33" cy="50"/>
            </a:xfrm>
            <a:custGeom>
              <a:avLst/>
              <a:gdLst>
                <a:gd name="T0" fmla="*/ 33 w 33"/>
                <a:gd name="T1" fmla="*/ 33 h 50"/>
                <a:gd name="T2" fmla="*/ 17 w 33"/>
                <a:gd name="T3" fmla="*/ 50 h 50"/>
                <a:gd name="T4" fmla="*/ 0 w 33"/>
                <a:gd name="T5" fmla="*/ 17 h 50"/>
                <a:gd name="T6" fmla="*/ 17 w 33"/>
                <a:gd name="T7" fmla="*/ 0 h 50"/>
                <a:gd name="T8" fmla="*/ 33 w 33"/>
                <a:gd name="T9" fmla="*/ 33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3"/>
                <a:gd name="T16" fmla="*/ 0 h 50"/>
                <a:gd name="T17" fmla="*/ 33 w 33"/>
                <a:gd name="T18" fmla="*/ 50 h 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3" h="50">
                  <a:moveTo>
                    <a:pt x="33" y="33"/>
                  </a:moveTo>
                  <a:lnTo>
                    <a:pt x="17" y="50"/>
                  </a:lnTo>
                  <a:lnTo>
                    <a:pt x="0" y="17"/>
                  </a:lnTo>
                  <a:lnTo>
                    <a:pt x="17" y="0"/>
                  </a:lnTo>
                  <a:lnTo>
                    <a:pt x="33" y="3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92" name="Freeform 92">
              <a:extLst>
                <a:ext uri="{FF2B5EF4-FFF2-40B4-BE49-F238E27FC236}">
                  <a16:creationId xmlns:a16="http://schemas.microsoft.com/office/drawing/2014/main" id="{3D8DB8DE-40B2-4926-B370-9627C5CDE29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4" y="2763"/>
              <a:ext cx="398" cy="365"/>
            </a:xfrm>
            <a:custGeom>
              <a:avLst/>
              <a:gdLst>
                <a:gd name="T0" fmla="*/ 398 w 398"/>
                <a:gd name="T1" fmla="*/ 33 h 365"/>
                <a:gd name="T2" fmla="*/ 382 w 398"/>
                <a:gd name="T3" fmla="*/ 0 h 365"/>
                <a:gd name="T4" fmla="*/ 0 w 398"/>
                <a:gd name="T5" fmla="*/ 332 h 365"/>
                <a:gd name="T6" fmla="*/ 16 w 398"/>
                <a:gd name="T7" fmla="*/ 365 h 365"/>
                <a:gd name="T8" fmla="*/ 398 w 398"/>
                <a:gd name="T9" fmla="*/ 33 h 36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98"/>
                <a:gd name="T16" fmla="*/ 0 h 365"/>
                <a:gd name="T17" fmla="*/ 398 w 398"/>
                <a:gd name="T18" fmla="*/ 365 h 36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98" h="365">
                  <a:moveTo>
                    <a:pt x="398" y="33"/>
                  </a:moveTo>
                  <a:lnTo>
                    <a:pt x="382" y="0"/>
                  </a:lnTo>
                  <a:lnTo>
                    <a:pt x="0" y="332"/>
                  </a:lnTo>
                  <a:lnTo>
                    <a:pt x="16" y="365"/>
                  </a:lnTo>
                  <a:lnTo>
                    <a:pt x="398" y="3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93" name="Rectangle 93">
              <a:extLst>
                <a:ext uri="{FF2B5EF4-FFF2-40B4-BE49-F238E27FC236}">
                  <a16:creationId xmlns:a16="http://schemas.microsoft.com/office/drawing/2014/main" id="{68879C33-B5DB-4072-A170-948062BC82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6" y="2663"/>
              <a:ext cx="34" cy="1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5694" name="Rectangle 94">
              <a:extLst>
                <a:ext uri="{FF2B5EF4-FFF2-40B4-BE49-F238E27FC236}">
                  <a16:creationId xmlns:a16="http://schemas.microsoft.com/office/drawing/2014/main" id="{F12D0188-BAE3-4DA6-89DC-EFD739E8AB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6" y="3195"/>
              <a:ext cx="34" cy="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5695" name="Rectangle 95">
              <a:extLst>
                <a:ext uri="{FF2B5EF4-FFF2-40B4-BE49-F238E27FC236}">
                  <a16:creationId xmlns:a16="http://schemas.microsoft.com/office/drawing/2014/main" id="{26F3E00B-180F-4E0C-BEF6-6F700D9882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6" y="2680"/>
              <a:ext cx="34" cy="5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5696" name="Rectangle 96">
              <a:extLst>
                <a:ext uri="{FF2B5EF4-FFF2-40B4-BE49-F238E27FC236}">
                  <a16:creationId xmlns:a16="http://schemas.microsoft.com/office/drawing/2014/main" id="{B7669935-9E39-464B-93C4-174F7E923E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62" y="2912"/>
              <a:ext cx="17" cy="3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5697" name="Rectangle 97">
              <a:extLst>
                <a:ext uri="{FF2B5EF4-FFF2-40B4-BE49-F238E27FC236}">
                  <a16:creationId xmlns:a16="http://schemas.microsoft.com/office/drawing/2014/main" id="{9D0B0BC6-24C2-4393-A14F-750F35F96C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7" y="2912"/>
              <a:ext cx="17" cy="3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5698" name="Rectangle 98">
              <a:extLst>
                <a:ext uri="{FF2B5EF4-FFF2-40B4-BE49-F238E27FC236}">
                  <a16:creationId xmlns:a16="http://schemas.microsoft.com/office/drawing/2014/main" id="{6E36860A-E476-4B14-BBCC-53BBC22159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4" y="2912"/>
              <a:ext cx="498" cy="3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Google Shape;2876;p84">
            <a:extLst>
              <a:ext uri="{FF2B5EF4-FFF2-40B4-BE49-F238E27FC236}">
                <a16:creationId xmlns:a16="http://schemas.microsoft.com/office/drawing/2014/main" id="{76F7F081-1FA7-4FA7-B0E0-B8412CF07F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63" y="255588"/>
            <a:ext cx="9131300" cy="638175"/>
          </a:xfrm>
          <a:solidFill>
            <a:schemeClr val="bg1"/>
          </a:solidFill>
        </p:spPr>
        <p:txBody>
          <a:bodyPr tIns="123308"/>
          <a:lstStyle/>
          <a:p>
            <a:pPr marL="212725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440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  <a:sym typeface="Arial" panose="020B0604020202020204" pitchFamily="34" charset="0"/>
              </a:rPr>
              <a:t>Pervasive Computing (3)</a:t>
            </a:r>
          </a:p>
        </p:txBody>
      </p:sp>
      <p:sp>
        <p:nvSpPr>
          <p:cNvPr id="26627" name="Google Shape;2878;p84">
            <a:extLst>
              <a:ext uri="{FF2B5EF4-FFF2-40B4-BE49-F238E27FC236}">
                <a16:creationId xmlns:a16="http://schemas.microsoft.com/office/drawing/2014/main" id="{837C6B3F-DF84-445C-A25E-3DB2CFD7D6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063" y="1250950"/>
            <a:ext cx="4225925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3879" rIns="0" bIns="0"/>
          <a:lstStyle>
            <a:lvl1pPr marL="2381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Sensor networks: Two types</a:t>
            </a:r>
            <a:endParaRPr lang="en-US" altLang="en-US" sz="200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880" name="Google Shape;2880;p84">
            <a:extLst>
              <a:ext uri="{FF2B5EF4-FFF2-40B4-BE49-F238E27FC236}">
                <a16:creationId xmlns:a16="http://schemas.microsoft.com/office/drawing/2014/main" id="{1158567D-40DA-4E13-A785-28BA6ED08CE7}"/>
              </a:ext>
            </a:extLst>
          </p:cNvPr>
          <p:cNvSpPr/>
          <p:nvPr/>
        </p:nvSpPr>
        <p:spPr>
          <a:xfrm>
            <a:off x="279400" y="6129338"/>
            <a:ext cx="200025" cy="20161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 sz="350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885" name="Google Shape;2885;p84">
            <a:extLst>
              <a:ext uri="{FF2B5EF4-FFF2-40B4-BE49-F238E27FC236}">
                <a16:creationId xmlns:a16="http://schemas.microsoft.com/office/drawing/2014/main" id="{225193DB-2A43-4A95-9CA0-973FB65AC045}"/>
              </a:ext>
            </a:extLst>
          </p:cNvPr>
          <p:cNvSpPr/>
          <p:nvPr/>
        </p:nvSpPr>
        <p:spPr>
          <a:xfrm>
            <a:off x="8961438" y="1408113"/>
            <a:ext cx="0" cy="25400"/>
          </a:xfrm>
          <a:custGeom>
            <a:avLst/>
            <a:gdLst/>
            <a:ahLst/>
            <a:cxnLst/>
            <a:rect l="l" t="t" r="r" b="b"/>
            <a:pathLst>
              <a:path w="120000" h="12700" extrusionOk="0">
                <a:moveTo>
                  <a:pt x="0" y="12700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rgbClr val="AFAF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lIns="0" tIns="0" rIns="0" bIns="0"/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sz="35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6" name="Google Shape;2886;p84">
            <a:extLst>
              <a:ext uri="{FF2B5EF4-FFF2-40B4-BE49-F238E27FC236}">
                <a16:creationId xmlns:a16="http://schemas.microsoft.com/office/drawing/2014/main" id="{701DEDDB-4667-491B-9B11-F90B527C6968}"/>
              </a:ext>
            </a:extLst>
          </p:cNvPr>
          <p:cNvSpPr/>
          <p:nvPr/>
        </p:nvSpPr>
        <p:spPr>
          <a:xfrm>
            <a:off x="8961438" y="1382713"/>
            <a:ext cx="0" cy="25400"/>
          </a:xfrm>
          <a:custGeom>
            <a:avLst/>
            <a:gdLst/>
            <a:ahLst/>
            <a:cxnLst/>
            <a:rect l="l" t="t" r="r" b="b"/>
            <a:pathLst>
              <a:path w="120000" h="12700" extrusionOk="0">
                <a:moveTo>
                  <a:pt x="0" y="12700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rgbClr val="CECE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lIns="0" tIns="0" rIns="0" bIns="0"/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sz="35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7" name="Google Shape;2887;p84">
            <a:extLst>
              <a:ext uri="{FF2B5EF4-FFF2-40B4-BE49-F238E27FC236}">
                <a16:creationId xmlns:a16="http://schemas.microsoft.com/office/drawing/2014/main" id="{7C6BAD24-7C63-48E0-9367-E3B9404C3F88}"/>
              </a:ext>
            </a:extLst>
          </p:cNvPr>
          <p:cNvSpPr/>
          <p:nvPr/>
        </p:nvSpPr>
        <p:spPr>
          <a:xfrm>
            <a:off x="8961438" y="1357313"/>
            <a:ext cx="0" cy="25400"/>
          </a:xfrm>
          <a:custGeom>
            <a:avLst/>
            <a:gdLst/>
            <a:ahLst/>
            <a:cxnLst/>
            <a:rect l="l" t="t" r="r" b="b"/>
            <a:pathLst>
              <a:path w="120000" h="12700" extrusionOk="0">
                <a:moveTo>
                  <a:pt x="0" y="12700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rgbClr val="EFEF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lIns="0" tIns="0" rIns="0" bIns="0"/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sz="35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8" name="Google Shape;2888;p84">
            <a:extLst>
              <a:ext uri="{FF2B5EF4-FFF2-40B4-BE49-F238E27FC236}">
                <a16:creationId xmlns:a16="http://schemas.microsoft.com/office/drawing/2014/main" id="{49C3A2F6-B97D-45BC-9F27-314A6BD7D08E}"/>
              </a:ext>
            </a:extLst>
          </p:cNvPr>
          <p:cNvSpPr/>
          <p:nvPr/>
        </p:nvSpPr>
        <p:spPr>
          <a:xfrm>
            <a:off x="3108325" y="2003425"/>
            <a:ext cx="4476750" cy="1693863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 sz="350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889" name="Google Shape;2889;p84">
            <a:extLst>
              <a:ext uri="{FF2B5EF4-FFF2-40B4-BE49-F238E27FC236}">
                <a16:creationId xmlns:a16="http://schemas.microsoft.com/office/drawing/2014/main" id="{2BC02C52-9C20-4FC9-929A-7F0C60C793D2}"/>
              </a:ext>
            </a:extLst>
          </p:cNvPr>
          <p:cNvSpPr/>
          <p:nvPr/>
        </p:nvSpPr>
        <p:spPr>
          <a:xfrm>
            <a:off x="2165350" y="2787650"/>
            <a:ext cx="768350" cy="463550"/>
          </a:xfrm>
          <a:custGeom>
            <a:avLst/>
            <a:gdLst/>
            <a:ahLst/>
            <a:cxnLst/>
            <a:rect l="l" t="t" r="r" b="b"/>
            <a:pathLst>
              <a:path w="387350" h="234314" extrusionOk="0">
                <a:moveTo>
                  <a:pt x="386871" y="0"/>
                </a:moveTo>
                <a:lnTo>
                  <a:pt x="0" y="0"/>
                </a:lnTo>
                <a:lnTo>
                  <a:pt x="0" y="187050"/>
                </a:lnTo>
                <a:lnTo>
                  <a:pt x="16646" y="207507"/>
                </a:lnTo>
                <a:lnTo>
                  <a:pt x="60510" y="222119"/>
                </a:lnTo>
                <a:lnTo>
                  <a:pt x="122478" y="230886"/>
                </a:lnTo>
                <a:lnTo>
                  <a:pt x="193435" y="233808"/>
                </a:lnTo>
                <a:lnTo>
                  <a:pt x="264393" y="230886"/>
                </a:lnTo>
                <a:lnTo>
                  <a:pt x="326361" y="222119"/>
                </a:lnTo>
                <a:lnTo>
                  <a:pt x="370225" y="207507"/>
                </a:lnTo>
                <a:lnTo>
                  <a:pt x="386871" y="187050"/>
                </a:lnTo>
                <a:lnTo>
                  <a:pt x="386871" y="0"/>
                </a:lnTo>
                <a:close/>
              </a:path>
            </a:pathLst>
          </a:custGeom>
          <a:solidFill>
            <a:srgbClr val="BCBEC0"/>
          </a:solidFill>
          <a:ln>
            <a:noFill/>
          </a:ln>
        </p:spPr>
        <p:txBody>
          <a:bodyPr spcFirstLastPara="1" lIns="0" tIns="0" rIns="0" bIns="0"/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sz="35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0" name="Google Shape;2890;p84">
            <a:extLst>
              <a:ext uri="{FF2B5EF4-FFF2-40B4-BE49-F238E27FC236}">
                <a16:creationId xmlns:a16="http://schemas.microsoft.com/office/drawing/2014/main" id="{976B8BCB-9C40-48F3-A358-0928C9596A13}"/>
              </a:ext>
            </a:extLst>
          </p:cNvPr>
          <p:cNvSpPr/>
          <p:nvPr/>
        </p:nvSpPr>
        <p:spPr>
          <a:xfrm>
            <a:off x="2165350" y="2787650"/>
            <a:ext cx="768350" cy="463550"/>
          </a:xfrm>
          <a:custGeom>
            <a:avLst/>
            <a:gdLst/>
            <a:ahLst/>
            <a:cxnLst/>
            <a:rect l="l" t="t" r="r" b="b"/>
            <a:pathLst>
              <a:path w="387350" h="234314" extrusionOk="0">
                <a:moveTo>
                  <a:pt x="0" y="0"/>
                </a:moveTo>
                <a:lnTo>
                  <a:pt x="386871" y="0"/>
                </a:lnTo>
                <a:lnTo>
                  <a:pt x="386871" y="29825"/>
                </a:lnTo>
                <a:lnTo>
                  <a:pt x="386871" y="93308"/>
                </a:lnTo>
                <a:lnTo>
                  <a:pt x="386871" y="156900"/>
                </a:lnTo>
                <a:lnTo>
                  <a:pt x="386871" y="187050"/>
                </a:lnTo>
                <a:lnTo>
                  <a:pt x="370225" y="207507"/>
                </a:lnTo>
                <a:lnTo>
                  <a:pt x="326361" y="222119"/>
                </a:lnTo>
                <a:lnTo>
                  <a:pt x="264393" y="230886"/>
                </a:lnTo>
                <a:lnTo>
                  <a:pt x="193435" y="233808"/>
                </a:lnTo>
                <a:lnTo>
                  <a:pt x="122478" y="230886"/>
                </a:lnTo>
                <a:lnTo>
                  <a:pt x="60510" y="222119"/>
                </a:lnTo>
                <a:lnTo>
                  <a:pt x="16646" y="207507"/>
                </a:lnTo>
                <a:lnTo>
                  <a:pt x="0" y="187050"/>
                </a:lnTo>
                <a:lnTo>
                  <a:pt x="0" y="156558"/>
                </a:lnTo>
                <a:lnTo>
                  <a:pt x="0" y="92400"/>
                </a:lnTo>
                <a:lnTo>
                  <a:pt x="0" y="28804"/>
                </a:lnTo>
                <a:lnTo>
                  <a:pt x="0" y="0"/>
                </a:lnTo>
                <a:close/>
              </a:path>
            </a:pathLst>
          </a:custGeom>
          <a:noFill/>
          <a:ln w="9525" cap="flat" cmpd="sng">
            <a:solidFill>
              <a:srgbClr val="231F2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lIns="0" tIns="0" rIns="0" bIns="0"/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sz="35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1" name="Google Shape;2891;p84">
            <a:extLst>
              <a:ext uri="{FF2B5EF4-FFF2-40B4-BE49-F238E27FC236}">
                <a16:creationId xmlns:a16="http://schemas.microsoft.com/office/drawing/2014/main" id="{538FF1C5-5DCB-475F-BCD7-2C58E33A7A4D}"/>
              </a:ext>
            </a:extLst>
          </p:cNvPr>
          <p:cNvSpPr/>
          <p:nvPr/>
        </p:nvSpPr>
        <p:spPr>
          <a:xfrm>
            <a:off x="2165350" y="2724150"/>
            <a:ext cx="768350" cy="127000"/>
          </a:xfrm>
          <a:custGeom>
            <a:avLst/>
            <a:gdLst/>
            <a:ahLst/>
            <a:cxnLst/>
            <a:rect l="l" t="t" r="r" b="b"/>
            <a:pathLst>
              <a:path w="387350" h="64134" extrusionOk="0">
                <a:moveTo>
                  <a:pt x="193435" y="0"/>
                </a:moveTo>
                <a:lnTo>
                  <a:pt x="118265" y="2507"/>
                </a:lnTo>
                <a:lnTo>
                  <a:pt x="56766" y="9338"/>
                </a:lnTo>
                <a:lnTo>
                  <a:pt x="15242" y="19455"/>
                </a:lnTo>
                <a:lnTo>
                  <a:pt x="0" y="31820"/>
                </a:lnTo>
                <a:lnTo>
                  <a:pt x="15242" y="44187"/>
                </a:lnTo>
                <a:lnTo>
                  <a:pt x="56766" y="54303"/>
                </a:lnTo>
                <a:lnTo>
                  <a:pt x="118265" y="61134"/>
                </a:lnTo>
                <a:lnTo>
                  <a:pt x="193435" y="63641"/>
                </a:lnTo>
                <a:lnTo>
                  <a:pt x="268607" y="61134"/>
                </a:lnTo>
                <a:lnTo>
                  <a:pt x="330106" y="54303"/>
                </a:lnTo>
                <a:lnTo>
                  <a:pt x="371629" y="44187"/>
                </a:lnTo>
                <a:lnTo>
                  <a:pt x="386871" y="31820"/>
                </a:lnTo>
                <a:lnTo>
                  <a:pt x="371629" y="19455"/>
                </a:lnTo>
                <a:lnTo>
                  <a:pt x="330106" y="9338"/>
                </a:lnTo>
                <a:lnTo>
                  <a:pt x="268607" y="2507"/>
                </a:lnTo>
                <a:lnTo>
                  <a:pt x="19343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lIns="0" tIns="0" rIns="0" bIns="0"/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sz="35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2" name="Google Shape;2892;p84">
            <a:extLst>
              <a:ext uri="{FF2B5EF4-FFF2-40B4-BE49-F238E27FC236}">
                <a16:creationId xmlns:a16="http://schemas.microsoft.com/office/drawing/2014/main" id="{E0E3C651-B497-46C8-9117-08E8CB938047}"/>
              </a:ext>
            </a:extLst>
          </p:cNvPr>
          <p:cNvSpPr/>
          <p:nvPr/>
        </p:nvSpPr>
        <p:spPr>
          <a:xfrm>
            <a:off x="2165350" y="2724150"/>
            <a:ext cx="768350" cy="127000"/>
          </a:xfrm>
          <a:custGeom>
            <a:avLst/>
            <a:gdLst/>
            <a:ahLst/>
            <a:cxnLst/>
            <a:rect l="l" t="t" r="r" b="b"/>
            <a:pathLst>
              <a:path w="387350" h="64134" extrusionOk="0">
                <a:moveTo>
                  <a:pt x="193435" y="0"/>
                </a:moveTo>
                <a:lnTo>
                  <a:pt x="268607" y="2507"/>
                </a:lnTo>
                <a:lnTo>
                  <a:pt x="330106" y="9338"/>
                </a:lnTo>
                <a:lnTo>
                  <a:pt x="371629" y="19455"/>
                </a:lnTo>
                <a:lnTo>
                  <a:pt x="386871" y="31820"/>
                </a:lnTo>
                <a:lnTo>
                  <a:pt x="371629" y="44187"/>
                </a:lnTo>
                <a:lnTo>
                  <a:pt x="330106" y="54303"/>
                </a:lnTo>
                <a:lnTo>
                  <a:pt x="268607" y="61134"/>
                </a:lnTo>
                <a:lnTo>
                  <a:pt x="193435" y="63641"/>
                </a:lnTo>
                <a:lnTo>
                  <a:pt x="118265" y="61134"/>
                </a:lnTo>
                <a:lnTo>
                  <a:pt x="56766" y="54303"/>
                </a:lnTo>
                <a:lnTo>
                  <a:pt x="15242" y="44187"/>
                </a:lnTo>
                <a:lnTo>
                  <a:pt x="0" y="31820"/>
                </a:lnTo>
                <a:lnTo>
                  <a:pt x="15242" y="19455"/>
                </a:lnTo>
                <a:lnTo>
                  <a:pt x="56766" y="9338"/>
                </a:lnTo>
                <a:lnTo>
                  <a:pt x="118265" y="2507"/>
                </a:lnTo>
                <a:lnTo>
                  <a:pt x="193435" y="0"/>
                </a:lnTo>
                <a:close/>
              </a:path>
            </a:pathLst>
          </a:custGeom>
          <a:noFill/>
          <a:ln w="9525" cap="flat" cmpd="sng">
            <a:solidFill>
              <a:srgbClr val="231F2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lIns="0" tIns="0" rIns="0" bIns="0"/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sz="35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3" name="Google Shape;2893;p84">
            <a:extLst>
              <a:ext uri="{FF2B5EF4-FFF2-40B4-BE49-F238E27FC236}">
                <a16:creationId xmlns:a16="http://schemas.microsoft.com/office/drawing/2014/main" id="{0147940B-CBE3-4E10-A59A-5E5A2880FB3D}"/>
              </a:ext>
            </a:extLst>
          </p:cNvPr>
          <p:cNvSpPr/>
          <p:nvPr/>
        </p:nvSpPr>
        <p:spPr>
          <a:xfrm>
            <a:off x="1570038" y="2441575"/>
            <a:ext cx="1504950" cy="1082675"/>
          </a:xfrm>
          <a:custGeom>
            <a:avLst/>
            <a:gdLst/>
            <a:ahLst/>
            <a:cxnLst/>
            <a:rect l="l" t="t" r="r" b="b"/>
            <a:pathLst>
              <a:path w="759460" h="546100" extrusionOk="0">
                <a:moveTo>
                  <a:pt x="0" y="545496"/>
                </a:moveTo>
                <a:lnTo>
                  <a:pt x="758951" y="545496"/>
                </a:lnTo>
                <a:lnTo>
                  <a:pt x="758951" y="0"/>
                </a:lnTo>
                <a:lnTo>
                  <a:pt x="0" y="0"/>
                </a:lnTo>
                <a:lnTo>
                  <a:pt x="0" y="545496"/>
                </a:lnTo>
                <a:close/>
              </a:path>
            </a:pathLst>
          </a:custGeom>
          <a:noFill/>
          <a:ln w="9525" cap="flat" cmpd="sng">
            <a:solidFill>
              <a:srgbClr val="231F2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lIns="0" tIns="0" rIns="0" bIns="0"/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sz="35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4" name="Google Shape;2894;p84">
            <a:extLst>
              <a:ext uri="{FF2B5EF4-FFF2-40B4-BE49-F238E27FC236}">
                <a16:creationId xmlns:a16="http://schemas.microsoft.com/office/drawing/2014/main" id="{861B801A-5D87-4FC6-9611-1407D34F81F1}"/>
              </a:ext>
            </a:extLst>
          </p:cNvPr>
          <p:cNvSpPr txBox="1"/>
          <p:nvPr/>
        </p:nvSpPr>
        <p:spPr>
          <a:xfrm>
            <a:off x="1779588" y="2155825"/>
            <a:ext cx="1131887" cy="252413"/>
          </a:xfrm>
          <a:prstGeom prst="rect">
            <a:avLst/>
          </a:prstGeom>
          <a:noFill/>
          <a:ln>
            <a:noFill/>
          </a:ln>
        </p:spPr>
        <p:txBody>
          <a:bodyPr lIns="0" tIns="27644" rIns="0" bIns="0"/>
          <a:lstStyle>
            <a:lvl1pPr marL="2381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20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Operator's site</a:t>
            </a:r>
            <a:endParaRPr lang="en-US" altLang="en-US" sz="12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895" name="Google Shape;2895;p84">
            <a:extLst>
              <a:ext uri="{FF2B5EF4-FFF2-40B4-BE49-F238E27FC236}">
                <a16:creationId xmlns:a16="http://schemas.microsoft.com/office/drawing/2014/main" id="{5F20E797-4628-446A-8EA3-4E995E4ED13A}"/>
              </a:ext>
            </a:extLst>
          </p:cNvPr>
          <p:cNvSpPr txBox="1"/>
          <p:nvPr/>
        </p:nvSpPr>
        <p:spPr>
          <a:xfrm>
            <a:off x="5376863" y="1666875"/>
            <a:ext cx="1212850" cy="252413"/>
          </a:xfrm>
          <a:prstGeom prst="rect">
            <a:avLst/>
          </a:prstGeom>
          <a:noFill/>
          <a:ln>
            <a:noFill/>
          </a:ln>
        </p:spPr>
        <p:txBody>
          <a:bodyPr lIns="0" tIns="27644" rIns="0" bIns="0"/>
          <a:lstStyle>
            <a:lvl1pPr marL="2381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20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Sensor network</a:t>
            </a:r>
            <a:endParaRPr lang="en-US" altLang="en-US" sz="12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896" name="Google Shape;2896;p84">
            <a:extLst>
              <a:ext uri="{FF2B5EF4-FFF2-40B4-BE49-F238E27FC236}">
                <a16:creationId xmlns:a16="http://schemas.microsoft.com/office/drawing/2014/main" id="{E6FB83BE-FC9C-4780-BD00-30BE832EE224}"/>
              </a:ext>
            </a:extLst>
          </p:cNvPr>
          <p:cNvSpPr/>
          <p:nvPr/>
        </p:nvSpPr>
        <p:spPr>
          <a:xfrm>
            <a:off x="3148013" y="5011738"/>
            <a:ext cx="1111250" cy="0"/>
          </a:xfrm>
          <a:custGeom>
            <a:avLst/>
            <a:gdLst/>
            <a:ahLst/>
            <a:cxnLst/>
            <a:rect l="l" t="t" r="r" b="b"/>
            <a:pathLst>
              <a:path w="560705" h="120000" extrusionOk="0">
                <a:moveTo>
                  <a:pt x="0" y="0"/>
                </a:moveTo>
                <a:lnTo>
                  <a:pt x="560216" y="0"/>
                </a:lnTo>
              </a:path>
            </a:pathLst>
          </a:custGeom>
          <a:noFill/>
          <a:ln w="9525" cap="flat" cmpd="sng">
            <a:solidFill>
              <a:srgbClr val="231F2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lIns="0" tIns="0" rIns="0" bIns="0"/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sz="35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7" name="Google Shape;2897;p84">
            <a:extLst>
              <a:ext uri="{FF2B5EF4-FFF2-40B4-BE49-F238E27FC236}">
                <a16:creationId xmlns:a16="http://schemas.microsoft.com/office/drawing/2014/main" id="{4E4C6A9C-5D0C-45EC-9115-6996BA620E23}"/>
              </a:ext>
            </a:extLst>
          </p:cNvPr>
          <p:cNvSpPr/>
          <p:nvPr/>
        </p:nvSpPr>
        <p:spPr>
          <a:xfrm>
            <a:off x="4184650" y="4949825"/>
            <a:ext cx="147638" cy="125413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 sz="350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898" name="Google Shape;2898;p84">
            <a:extLst>
              <a:ext uri="{FF2B5EF4-FFF2-40B4-BE49-F238E27FC236}">
                <a16:creationId xmlns:a16="http://schemas.microsoft.com/office/drawing/2014/main" id="{66FF45DA-E294-413F-BEA0-15B026891261}"/>
              </a:ext>
            </a:extLst>
          </p:cNvPr>
          <p:cNvSpPr/>
          <p:nvPr/>
        </p:nvSpPr>
        <p:spPr>
          <a:xfrm>
            <a:off x="3206750" y="5367338"/>
            <a:ext cx="1125538" cy="1587"/>
          </a:xfrm>
          <a:custGeom>
            <a:avLst/>
            <a:gdLst/>
            <a:ahLst/>
            <a:cxnLst/>
            <a:rect l="l" t="t" r="r" b="b"/>
            <a:pathLst>
              <a:path w="568325" h="635" extrusionOk="0">
                <a:moveTo>
                  <a:pt x="-2635" y="126"/>
                </a:moveTo>
                <a:lnTo>
                  <a:pt x="570359" y="126"/>
                </a:lnTo>
              </a:path>
            </a:pathLst>
          </a:custGeom>
          <a:noFill/>
          <a:ln w="9525" cap="flat" cmpd="sng">
            <a:solidFill>
              <a:srgbClr val="231F2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lIns="0" tIns="0" rIns="0" bIns="0"/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sz="35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9" name="Google Shape;2899;p84">
            <a:extLst>
              <a:ext uri="{FF2B5EF4-FFF2-40B4-BE49-F238E27FC236}">
                <a16:creationId xmlns:a16="http://schemas.microsoft.com/office/drawing/2014/main" id="{CD505BB3-9C54-47CA-9240-BD59A05460F5}"/>
              </a:ext>
            </a:extLst>
          </p:cNvPr>
          <p:cNvSpPr/>
          <p:nvPr/>
        </p:nvSpPr>
        <p:spPr>
          <a:xfrm>
            <a:off x="3132138" y="5303838"/>
            <a:ext cx="147637" cy="1270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 sz="350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900" name="Google Shape;2900;p84">
            <a:extLst>
              <a:ext uri="{FF2B5EF4-FFF2-40B4-BE49-F238E27FC236}">
                <a16:creationId xmlns:a16="http://schemas.microsoft.com/office/drawing/2014/main" id="{028AA1E0-9CA5-4882-989B-398D52F59A2E}"/>
              </a:ext>
            </a:extLst>
          </p:cNvPr>
          <p:cNvSpPr/>
          <p:nvPr/>
        </p:nvSpPr>
        <p:spPr>
          <a:xfrm>
            <a:off x="3911600" y="5080000"/>
            <a:ext cx="433388" cy="574675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 sz="350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901" name="Google Shape;2901;p84">
            <a:extLst>
              <a:ext uri="{FF2B5EF4-FFF2-40B4-BE49-F238E27FC236}">
                <a16:creationId xmlns:a16="http://schemas.microsoft.com/office/drawing/2014/main" id="{D13F6152-191C-4F9E-8756-F84E03BA7836}"/>
              </a:ext>
            </a:extLst>
          </p:cNvPr>
          <p:cNvSpPr/>
          <p:nvPr/>
        </p:nvSpPr>
        <p:spPr>
          <a:xfrm>
            <a:off x="4400550" y="4238625"/>
            <a:ext cx="3163888" cy="1703388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 sz="350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902" name="Google Shape;2902;p84">
            <a:extLst>
              <a:ext uri="{FF2B5EF4-FFF2-40B4-BE49-F238E27FC236}">
                <a16:creationId xmlns:a16="http://schemas.microsoft.com/office/drawing/2014/main" id="{8CCB70F5-66B2-4AE5-8900-B52016F1787D}"/>
              </a:ext>
            </a:extLst>
          </p:cNvPr>
          <p:cNvSpPr/>
          <p:nvPr/>
        </p:nvSpPr>
        <p:spPr>
          <a:xfrm>
            <a:off x="1585913" y="4684713"/>
            <a:ext cx="1504950" cy="1082675"/>
          </a:xfrm>
          <a:custGeom>
            <a:avLst/>
            <a:gdLst/>
            <a:ahLst/>
            <a:cxnLst/>
            <a:rect l="l" t="t" r="r" b="b"/>
            <a:pathLst>
              <a:path w="759460" h="546100" extrusionOk="0">
                <a:moveTo>
                  <a:pt x="0" y="545492"/>
                </a:moveTo>
                <a:lnTo>
                  <a:pt x="758951" y="545492"/>
                </a:lnTo>
                <a:lnTo>
                  <a:pt x="758951" y="0"/>
                </a:lnTo>
                <a:lnTo>
                  <a:pt x="0" y="0"/>
                </a:lnTo>
                <a:lnTo>
                  <a:pt x="0" y="545492"/>
                </a:lnTo>
                <a:close/>
              </a:path>
            </a:pathLst>
          </a:custGeom>
          <a:noFill/>
          <a:ln w="9525" cap="flat" cmpd="sng">
            <a:solidFill>
              <a:srgbClr val="231F2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lIns="0" tIns="0" rIns="0" bIns="0"/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sz="35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3" name="Google Shape;2903;p84">
            <a:extLst>
              <a:ext uri="{FF2B5EF4-FFF2-40B4-BE49-F238E27FC236}">
                <a16:creationId xmlns:a16="http://schemas.microsoft.com/office/drawing/2014/main" id="{1350BD94-2058-4B7F-BCC5-76D69C615334}"/>
              </a:ext>
            </a:extLst>
          </p:cNvPr>
          <p:cNvSpPr txBox="1"/>
          <p:nvPr/>
        </p:nvSpPr>
        <p:spPr>
          <a:xfrm>
            <a:off x="1795463" y="4398963"/>
            <a:ext cx="1133475" cy="250825"/>
          </a:xfrm>
          <a:prstGeom prst="rect">
            <a:avLst/>
          </a:prstGeom>
          <a:noFill/>
          <a:ln>
            <a:noFill/>
          </a:ln>
        </p:spPr>
        <p:txBody>
          <a:bodyPr lIns="0" tIns="27644" rIns="0" bIns="0"/>
          <a:lstStyle>
            <a:lvl1pPr marL="2381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20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Operator's site</a:t>
            </a:r>
            <a:endParaRPr lang="en-US" altLang="en-US" sz="12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904" name="Google Shape;2904;p84">
            <a:extLst>
              <a:ext uri="{FF2B5EF4-FFF2-40B4-BE49-F238E27FC236}">
                <a16:creationId xmlns:a16="http://schemas.microsoft.com/office/drawing/2014/main" id="{005C67C6-B1CA-4DA0-8D9F-641EE5148C99}"/>
              </a:ext>
            </a:extLst>
          </p:cNvPr>
          <p:cNvSpPr txBox="1"/>
          <p:nvPr/>
        </p:nvSpPr>
        <p:spPr>
          <a:xfrm>
            <a:off x="5356225" y="3911600"/>
            <a:ext cx="1212850" cy="250825"/>
          </a:xfrm>
          <a:prstGeom prst="rect">
            <a:avLst/>
          </a:prstGeom>
          <a:noFill/>
          <a:ln>
            <a:noFill/>
          </a:ln>
        </p:spPr>
        <p:txBody>
          <a:bodyPr lIns="0" tIns="27644" rIns="0" bIns="0"/>
          <a:lstStyle>
            <a:lvl1pPr marL="2381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20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Sensor network</a:t>
            </a:r>
            <a:endParaRPr lang="en-US" altLang="en-US" sz="12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905" name="Google Shape;2905;p84">
            <a:extLst>
              <a:ext uri="{FF2B5EF4-FFF2-40B4-BE49-F238E27FC236}">
                <a16:creationId xmlns:a16="http://schemas.microsoft.com/office/drawing/2014/main" id="{E4C8A90A-46E6-4C1B-8F6F-D1A4E4880BA3}"/>
              </a:ext>
            </a:extLst>
          </p:cNvPr>
          <p:cNvSpPr txBox="1"/>
          <p:nvPr/>
        </p:nvSpPr>
        <p:spPr>
          <a:xfrm>
            <a:off x="3541713" y="4710113"/>
            <a:ext cx="506412" cy="252412"/>
          </a:xfrm>
          <a:prstGeom prst="rect">
            <a:avLst/>
          </a:prstGeom>
          <a:noFill/>
          <a:ln>
            <a:noFill/>
          </a:ln>
        </p:spPr>
        <p:txBody>
          <a:bodyPr lIns="0" tIns="27644" rIns="0" bIns="0"/>
          <a:lstStyle>
            <a:lvl1pPr marL="2381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20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Query</a:t>
            </a:r>
            <a:endParaRPr lang="en-US" altLang="en-US" sz="12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906" name="Google Shape;2906;p84">
            <a:extLst>
              <a:ext uri="{FF2B5EF4-FFF2-40B4-BE49-F238E27FC236}">
                <a16:creationId xmlns:a16="http://schemas.microsoft.com/office/drawing/2014/main" id="{125BAFA0-6CC7-4D52-80AC-644353AD1929}"/>
              </a:ext>
            </a:extLst>
          </p:cNvPr>
          <p:cNvSpPr txBox="1"/>
          <p:nvPr/>
        </p:nvSpPr>
        <p:spPr>
          <a:xfrm>
            <a:off x="3338513" y="5427663"/>
            <a:ext cx="766762" cy="647700"/>
          </a:xfrm>
          <a:prstGeom prst="rect">
            <a:avLst/>
          </a:prstGeom>
          <a:noFill/>
          <a:ln>
            <a:noFill/>
          </a:ln>
        </p:spPr>
        <p:txBody>
          <a:bodyPr lIns="0" tIns="27644" rIns="0" bIns="0"/>
          <a:lstStyle>
            <a:lvl1pPr marL="2381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120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Sensors  send only  answers</a:t>
            </a:r>
            <a:endParaRPr lang="en-US" altLang="en-US" sz="12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907" name="Google Shape;2907;p84">
            <a:extLst>
              <a:ext uri="{FF2B5EF4-FFF2-40B4-BE49-F238E27FC236}">
                <a16:creationId xmlns:a16="http://schemas.microsoft.com/office/drawing/2014/main" id="{B9A2F29A-6895-456E-B36B-1AABD236CA48}"/>
              </a:ext>
            </a:extLst>
          </p:cNvPr>
          <p:cNvSpPr txBox="1"/>
          <p:nvPr/>
        </p:nvSpPr>
        <p:spPr>
          <a:xfrm>
            <a:off x="3255963" y="3103563"/>
            <a:ext cx="1563687" cy="1304925"/>
          </a:xfrm>
          <a:prstGeom prst="rect">
            <a:avLst/>
          </a:prstGeom>
          <a:noFill/>
          <a:ln>
            <a:noFill/>
          </a:ln>
        </p:spPr>
        <p:txBody>
          <a:bodyPr lIns="0" tIns="42754" rIns="0" bIns="0"/>
          <a:lstStyle>
            <a:lvl1pPr marL="2381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114000"/>
              </a:lnSpc>
            </a:pPr>
            <a:r>
              <a:rPr lang="en-US" altLang="en-US" sz="120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Sensor data  is sent directly  to operator</a:t>
            </a:r>
            <a:endParaRPr lang="en-US" altLang="en-US" sz="12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ctr">
              <a:spcBef>
                <a:spcPts val="650"/>
              </a:spcBef>
            </a:pPr>
            <a:r>
              <a:rPr lang="en-US" altLang="en-US" sz="120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Each sensor  can process and  store data</a:t>
            </a:r>
            <a:endParaRPr lang="en-US" altLang="en-US" sz="12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>
    <p:fade thruBlk="1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>
            <a:extLst>
              <a:ext uri="{FF2B5EF4-FFF2-40B4-BE49-F238E27FC236}">
                <a16:creationId xmlns:a16="http://schemas.microsoft.com/office/drawing/2014/main" id="{9ABE4E4C-2E34-43A0-8C48-A9F3E2BE0A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Examples of Distributed Systems (1)</a:t>
            </a:r>
          </a:p>
        </p:txBody>
      </p:sp>
      <p:pic>
        <p:nvPicPr>
          <p:cNvPr id="28675" name="Picture 5">
            <a:extLst>
              <a:ext uri="{FF2B5EF4-FFF2-40B4-BE49-F238E27FC236}">
                <a16:creationId xmlns:a16="http://schemas.microsoft.com/office/drawing/2014/main" id="{7D3201F8-3A3B-41ED-9BE0-0C0E194761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738" y="1258888"/>
            <a:ext cx="8262937" cy="4821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6" name="TextBox 3">
            <a:extLst>
              <a:ext uri="{FF2B5EF4-FFF2-40B4-BE49-F238E27FC236}">
                <a16:creationId xmlns:a16="http://schemas.microsoft.com/office/drawing/2014/main" id="{BD3D398D-3DB1-46E9-8A70-39C4842E45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6080125"/>
            <a:ext cx="47386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spcBef>
                <a:spcPct val="20000"/>
              </a:spcBef>
              <a:buClr>
                <a:schemeClr val="accent2"/>
              </a:buCl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</a:pPr>
            <a:r>
              <a:rPr lang="en-US" altLang="en-US" sz="2400">
                <a:solidFill>
                  <a:srgbClr val="0070C0"/>
                </a:solidFill>
              </a:rPr>
              <a:t>Local Area Network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B04D83FD-36BA-4B61-8907-6E4EB5ECA5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Examples of Distributed Systems (2)</a:t>
            </a:r>
          </a:p>
        </p:txBody>
      </p:sp>
      <p:grpSp>
        <p:nvGrpSpPr>
          <p:cNvPr id="29699" name="Group 3">
            <a:extLst>
              <a:ext uri="{FF2B5EF4-FFF2-40B4-BE49-F238E27FC236}">
                <a16:creationId xmlns:a16="http://schemas.microsoft.com/office/drawing/2014/main" id="{DC8E3D7F-FB43-4942-89D1-122C6240B646}"/>
              </a:ext>
            </a:extLst>
          </p:cNvPr>
          <p:cNvGrpSpPr>
            <a:grpSpLocks/>
          </p:cNvGrpSpPr>
          <p:nvPr/>
        </p:nvGrpSpPr>
        <p:grpSpPr bwMode="auto">
          <a:xfrm>
            <a:off x="409575" y="1395413"/>
            <a:ext cx="8323263" cy="4314825"/>
            <a:chOff x="442" y="885"/>
            <a:chExt cx="5243" cy="2718"/>
          </a:xfrm>
        </p:grpSpPr>
        <p:grpSp>
          <p:nvGrpSpPr>
            <p:cNvPr id="29701" name="Group 4">
              <a:extLst>
                <a:ext uri="{FF2B5EF4-FFF2-40B4-BE49-F238E27FC236}">
                  <a16:creationId xmlns:a16="http://schemas.microsoft.com/office/drawing/2014/main" id="{64CC01C1-3A5B-49E2-A602-61DF6634E93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2" y="885"/>
              <a:ext cx="5243" cy="2525"/>
              <a:chOff x="442" y="885"/>
              <a:chExt cx="5243" cy="2525"/>
            </a:xfrm>
          </p:grpSpPr>
          <p:sp>
            <p:nvSpPr>
              <p:cNvPr id="30004" name="Freeform 5">
                <a:extLst>
                  <a:ext uri="{FF2B5EF4-FFF2-40B4-BE49-F238E27FC236}">
                    <a16:creationId xmlns:a16="http://schemas.microsoft.com/office/drawing/2014/main" id="{7D5613D8-451C-4759-8080-31A736189C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0" y="1561"/>
                <a:ext cx="359" cy="207"/>
              </a:xfrm>
              <a:custGeom>
                <a:avLst/>
                <a:gdLst>
                  <a:gd name="T0" fmla="*/ 359 w 359"/>
                  <a:gd name="T1" fmla="*/ 0 h 207"/>
                  <a:gd name="T2" fmla="*/ 345 w 359"/>
                  <a:gd name="T3" fmla="*/ 41 h 207"/>
                  <a:gd name="T4" fmla="*/ 290 w 359"/>
                  <a:gd name="T5" fmla="*/ 83 h 207"/>
                  <a:gd name="T6" fmla="*/ 165 w 359"/>
                  <a:gd name="T7" fmla="*/ 138 h 207"/>
                  <a:gd name="T8" fmla="*/ 69 w 359"/>
                  <a:gd name="T9" fmla="*/ 193 h 207"/>
                  <a:gd name="T10" fmla="*/ 0 w 359"/>
                  <a:gd name="T11" fmla="*/ 207 h 20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59"/>
                  <a:gd name="T19" fmla="*/ 0 h 207"/>
                  <a:gd name="T20" fmla="*/ 359 w 359"/>
                  <a:gd name="T21" fmla="*/ 207 h 20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59" h="207">
                    <a:moveTo>
                      <a:pt x="359" y="0"/>
                    </a:moveTo>
                    <a:lnTo>
                      <a:pt x="345" y="41"/>
                    </a:lnTo>
                    <a:lnTo>
                      <a:pt x="290" y="83"/>
                    </a:lnTo>
                    <a:lnTo>
                      <a:pt x="165" y="138"/>
                    </a:lnTo>
                    <a:lnTo>
                      <a:pt x="69" y="193"/>
                    </a:lnTo>
                    <a:lnTo>
                      <a:pt x="0" y="207"/>
                    </a:lnTo>
                  </a:path>
                </a:pathLst>
              </a:custGeom>
              <a:noFill/>
              <a:ln w="3175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005" name="Freeform 6">
                <a:extLst>
                  <a:ext uri="{FF2B5EF4-FFF2-40B4-BE49-F238E27FC236}">
                    <a16:creationId xmlns:a16="http://schemas.microsoft.com/office/drawing/2014/main" id="{7FBF2DCE-0B18-40AB-9144-0FB24A8656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5" y="1616"/>
                <a:ext cx="235" cy="442"/>
              </a:xfrm>
              <a:custGeom>
                <a:avLst/>
                <a:gdLst>
                  <a:gd name="T0" fmla="*/ 235 w 235"/>
                  <a:gd name="T1" fmla="*/ 0 h 442"/>
                  <a:gd name="T2" fmla="*/ 194 w 235"/>
                  <a:gd name="T3" fmla="*/ 166 h 442"/>
                  <a:gd name="T4" fmla="*/ 111 w 235"/>
                  <a:gd name="T5" fmla="*/ 290 h 442"/>
                  <a:gd name="T6" fmla="*/ 42 w 235"/>
                  <a:gd name="T7" fmla="*/ 400 h 442"/>
                  <a:gd name="T8" fmla="*/ 28 w 235"/>
                  <a:gd name="T9" fmla="*/ 442 h 442"/>
                  <a:gd name="T10" fmla="*/ 0 w 235"/>
                  <a:gd name="T11" fmla="*/ 414 h 44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35"/>
                  <a:gd name="T19" fmla="*/ 0 h 442"/>
                  <a:gd name="T20" fmla="*/ 235 w 235"/>
                  <a:gd name="T21" fmla="*/ 442 h 442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35" h="442">
                    <a:moveTo>
                      <a:pt x="235" y="0"/>
                    </a:moveTo>
                    <a:lnTo>
                      <a:pt x="194" y="166"/>
                    </a:lnTo>
                    <a:lnTo>
                      <a:pt x="111" y="290"/>
                    </a:lnTo>
                    <a:lnTo>
                      <a:pt x="42" y="400"/>
                    </a:lnTo>
                    <a:lnTo>
                      <a:pt x="28" y="442"/>
                    </a:lnTo>
                    <a:lnTo>
                      <a:pt x="0" y="414"/>
                    </a:lnTo>
                  </a:path>
                </a:pathLst>
              </a:custGeom>
              <a:noFill/>
              <a:ln w="3175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006" name="Freeform 7">
                <a:extLst>
                  <a:ext uri="{FF2B5EF4-FFF2-40B4-BE49-F238E27FC236}">
                    <a16:creationId xmlns:a16="http://schemas.microsoft.com/office/drawing/2014/main" id="{841B7F86-D681-4F3B-ADC1-E4E3DEE492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91" y="1520"/>
                <a:ext cx="69" cy="496"/>
              </a:xfrm>
              <a:custGeom>
                <a:avLst/>
                <a:gdLst>
                  <a:gd name="T0" fmla="*/ 0 w 69"/>
                  <a:gd name="T1" fmla="*/ 0 h 496"/>
                  <a:gd name="T2" fmla="*/ 13 w 69"/>
                  <a:gd name="T3" fmla="*/ 193 h 496"/>
                  <a:gd name="T4" fmla="*/ 41 w 69"/>
                  <a:gd name="T5" fmla="*/ 331 h 496"/>
                  <a:gd name="T6" fmla="*/ 55 w 69"/>
                  <a:gd name="T7" fmla="*/ 455 h 496"/>
                  <a:gd name="T8" fmla="*/ 69 w 69"/>
                  <a:gd name="T9" fmla="*/ 496 h 496"/>
                  <a:gd name="T10" fmla="*/ 69 w 69"/>
                  <a:gd name="T11" fmla="*/ 469 h 49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69"/>
                  <a:gd name="T19" fmla="*/ 0 h 496"/>
                  <a:gd name="T20" fmla="*/ 69 w 69"/>
                  <a:gd name="T21" fmla="*/ 496 h 49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69" h="496">
                    <a:moveTo>
                      <a:pt x="0" y="0"/>
                    </a:moveTo>
                    <a:lnTo>
                      <a:pt x="13" y="193"/>
                    </a:lnTo>
                    <a:lnTo>
                      <a:pt x="41" y="331"/>
                    </a:lnTo>
                    <a:lnTo>
                      <a:pt x="55" y="455"/>
                    </a:lnTo>
                    <a:lnTo>
                      <a:pt x="69" y="496"/>
                    </a:lnTo>
                    <a:lnTo>
                      <a:pt x="69" y="469"/>
                    </a:lnTo>
                  </a:path>
                </a:pathLst>
              </a:custGeom>
              <a:noFill/>
              <a:ln w="3175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007" name="Freeform 8">
                <a:extLst>
                  <a:ext uri="{FF2B5EF4-FFF2-40B4-BE49-F238E27FC236}">
                    <a16:creationId xmlns:a16="http://schemas.microsoft.com/office/drawing/2014/main" id="{D2C268E0-7C47-4FD6-8BA4-586D2F274D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1" y="1588"/>
                <a:ext cx="97" cy="483"/>
              </a:xfrm>
              <a:custGeom>
                <a:avLst/>
                <a:gdLst>
                  <a:gd name="T0" fmla="*/ 97 w 97"/>
                  <a:gd name="T1" fmla="*/ 0 h 483"/>
                  <a:gd name="T2" fmla="*/ 69 w 97"/>
                  <a:gd name="T3" fmla="*/ 180 h 483"/>
                  <a:gd name="T4" fmla="*/ 42 w 97"/>
                  <a:gd name="T5" fmla="*/ 318 h 483"/>
                  <a:gd name="T6" fmla="*/ 14 w 97"/>
                  <a:gd name="T7" fmla="*/ 442 h 483"/>
                  <a:gd name="T8" fmla="*/ 14 w 97"/>
                  <a:gd name="T9" fmla="*/ 483 h 483"/>
                  <a:gd name="T10" fmla="*/ 0 w 97"/>
                  <a:gd name="T11" fmla="*/ 456 h 48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97"/>
                  <a:gd name="T19" fmla="*/ 0 h 483"/>
                  <a:gd name="T20" fmla="*/ 97 w 97"/>
                  <a:gd name="T21" fmla="*/ 483 h 48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97" h="483">
                    <a:moveTo>
                      <a:pt x="97" y="0"/>
                    </a:moveTo>
                    <a:lnTo>
                      <a:pt x="69" y="180"/>
                    </a:lnTo>
                    <a:lnTo>
                      <a:pt x="42" y="318"/>
                    </a:lnTo>
                    <a:lnTo>
                      <a:pt x="14" y="442"/>
                    </a:lnTo>
                    <a:lnTo>
                      <a:pt x="14" y="483"/>
                    </a:lnTo>
                    <a:lnTo>
                      <a:pt x="0" y="456"/>
                    </a:lnTo>
                  </a:path>
                </a:pathLst>
              </a:custGeom>
              <a:noFill/>
              <a:ln w="3175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008" name="Freeform 9">
                <a:extLst>
                  <a:ext uri="{FF2B5EF4-FFF2-40B4-BE49-F238E27FC236}">
                    <a16:creationId xmlns:a16="http://schemas.microsoft.com/office/drawing/2014/main" id="{4ACF9300-1245-454C-8BA3-08A42E48BC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4" y="1244"/>
                <a:ext cx="165" cy="496"/>
              </a:xfrm>
              <a:custGeom>
                <a:avLst/>
                <a:gdLst>
                  <a:gd name="T0" fmla="*/ 165 w 165"/>
                  <a:gd name="T1" fmla="*/ 0 h 496"/>
                  <a:gd name="T2" fmla="*/ 137 w 165"/>
                  <a:gd name="T3" fmla="*/ 193 h 496"/>
                  <a:gd name="T4" fmla="*/ 82 w 165"/>
                  <a:gd name="T5" fmla="*/ 331 h 496"/>
                  <a:gd name="T6" fmla="*/ 27 w 165"/>
                  <a:gd name="T7" fmla="*/ 455 h 496"/>
                  <a:gd name="T8" fmla="*/ 13 w 165"/>
                  <a:gd name="T9" fmla="*/ 496 h 496"/>
                  <a:gd name="T10" fmla="*/ 0 w 165"/>
                  <a:gd name="T11" fmla="*/ 469 h 49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65"/>
                  <a:gd name="T19" fmla="*/ 0 h 496"/>
                  <a:gd name="T20" fmla="*/ 165 w 165"/>
                  <a:gd name="T21" fmla="*/ 496 h 49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65" h="496">
                    <a:moveTo>
                      <a:pt x="165" y="0"/>
                    </a:moveTo>
                    <a:lnTo>
                      <a:pt x="137" y="193"/>
                    </a:lnTo>
                    <a:lnTo>
                      <a:pt x="82" y="331"/>
                    </a:lnTo>
                    <a:lnTo>
                      <a:pt x="27" y="455"/>
                    </a:lnTo>
                    <a:lnTo>
                      <a:pt x="13" y="496"/>
                    </a:lnTo>
                    <a:lnTo>
                      <a:pt x="0" y="469"/>
                    </a:lnTo>
                  </a:path>
                </a:pathLst>
              </a:custGeom>
              <a:noFill/>
              <a:ln w="3175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009" name="Freeform 10">
                <a:extLst>
                  <a:ext uri="{FF2B5EF4-FFF2-40B4-BE49-F238E27FC236}">
                    <a16:creationId xmlns:a16="http://schemas.microsoft.com/office/drawing/2014/main" id="{14E1B1AC-8C2D-4463-BAEB-B513537BDB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5" y="1257"/>
                <a:ext cx="165" cy="497"/>
              </a:xfrm>
              <a:custGeom>
                <a:avLst/>
                <a:gdLst>
                  <a:gd name="T0" fmla="*/ 165 w 165"/>
                  <a:gd name="T1" fmla="*/ 0 h 497"/>
                  <a:gd name="T2" fmla="*/ 138 w 165"/>
                  <a:gd name="T3" fmla="*/ 194 h 497"/>
                  <a:gd name="T4" fmla="*/ 82 w 165"/>
                  <a:gd name="T5" fmla="*/ 345 h 497"/>
                  <a:gd name="T6" fmla="*/ 27 w 165"/>
                  <a:gd name="T7" fmla="*/ 469 h 497"/>
                  <a:gd name="T8" fmla="*/ 13 w 165"/>
                  <a:gd name="T9" fmla="*/ 497 h 497"/>
                  <a:gd name="T10" fmla="*/ 0 w 165"/>
                  <a:gd name="T11" fmla="*/ 483 h 4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65"/>
                  <a:gd name="T19" fmla="*/ 0 h 497"/>
                  <a:gd name="T20" fmla="*/ 165 w 165"/>
                  <a:gd name="T21" fmla="*/ 497 h 49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65" h="497">
                    <a:moveTo>
                      <a:pt x="165" y="0"/>
                    </a:moveTo>
                    <a:lnTo>
                      <a:pt x="138" y="194"/>
                    </a:lnTo>
                    <a:lnTo>
                      <a:pt x="82" y="345"/>
                    </a:lnTo>
                    <a:lnTo>
                      <a:pt x="27" y="469"/>
                    </a:lnTo>
                    <a:lnTo>
                      <a:pt x="13" y="497"/>
                    </a:lnTo>
                    <a:lnTo>
                      <a:pt x="0" y="483"/>
                    </a:lnTo>
                  </a:path>
                </a:pathLst>
              </a:custGeom>
              <a:noFill/>
              <a:ln w="3175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010" name="Freeform 11">
                <a:extLst>
                  <a:ext uri="{FF2B5EF4-FFF2-40B4-BE49-F238E27FC236}">
                    <a16:creationId xmlns:a16="http://schemas.microsoft.com/office/drawing/2014/main" id="{14860B79-C544-4B88-B5EE-B250E6A80C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33" y="2182"/>
                <a:ext cx="373" cy="69"/>
              </a:xfrm>
              <a:custGeom>
                <a:avLst/>
                <a:gdLst>
                  <a:gd name="T0" fmla="*/ 373 w 373"/>
                  <a:gd name="T1" fmla="*/ 0 h 69"/>
                  <a:gd name="T2" fmla="*/ 290 w 373"/>
                  <a:gd name="T3" fmla="*/ 27 h 69"/>
                  <a:gd name="T4" fmla="*/ 152 w 373"/>
                  <a:gd name="T5" fmla="*/ 55 h 69"/>
                  <a:gd name="T6" fmla="*/ 56 w 373"/>
                  <a:gd name="T7" fmla="*/ 69 h 69"/>
                  <a:gd name="T8" fmla="*/ 0 w 373"/>
                  <a:gd name="T9" fmla="*/ 69 h 6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73"/>
                  <a:gd name="T16" fmla="*/ 0 h 69"/>
                  <a:gd name="T17" fmla="*/ 373 w 373"/>
                  <a:gd name="T18" fmla="*/ 69 h 6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73" h="69">
                    <a:moveTo>
                      <a:pt x="373" y="0"/>
                    </a:moveTo>
                    <a:lnTo>
                      <a:pt x="290" y="27"/>
                    </a:lnTo>
                    <a:lnTo>
                      <a:pt x="152" y="55"/>
                    </a:lnTo>
                    <a:lnTo>
                      <a:pt x="56" y="69"/>
                    </a:lnTo>
                    <a:lnTo>
                      <a:pt x="0" y="69"/>
                    </a:lnTo>
                  </a:path>
                </a:pathLst>
              </a:custGeom>
              <a:noFill/>
              <a:ln w="3175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011" name="Freeform 12">
                <a:extLst>
                  <a:ext uri="{FF2B5EF4-FFF2-40B4-BE49-F238E27FC236}">
                    <a16:creationId xmlns:a16="http://schemas.microsoft.com/office/drawing/2014/main" id="{A58085C8-C51A-4868-8780-71C00ED4A1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33" y="1864"/>
                <a:ext cx="373" cy="318"/>
              </a:xfrm>
              <a:custGeom>
                <a:avLst/>
                <a:gdLst>
                  <a:gd name="T0" fmla="*/ 373 w 373"/>
                  <a:gd name="T1" fmla="*/ 0 h 318"/>
                  <a:gd name="T2" fmla="*/ 345 w 373"/>
                  <a:gd name="T3" fmla="*/ 56 h 318"/>
                  <a:gd name="T4" fmla="*/ 304 w 373"/>
                  <a:gd name="T5" fmla="*/ 125 h 318"/>
                  <a:gd name="T6" fmla="*/ 166 w 373"/>
                  <a:gd name="T7" fmla="*/ 207 h 318"/>
                  <a:gd name="T8" fmla="*/ 69 w 373"/>
                  <a:gd name="T9" fmla="*/ 290 h 318"/>
                  <a:gd name="T10" fmla="*/ 28 w 373"/>
                  <a:gd name="T11" fmla="*/ 318 h 318"/>
                  <a:gd name="T12" fmla="*/ 0 w 373"/>
                  <a:gd name="T13" fmla="*/ 304 h 31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73"/>
                  <a:gd name="T22" fmla="*/ 0 h 318"/>
                  <a:gd name="T23" fmla="*/ 373 w 373"/>
                  <a:gd name="T24" fmla="*/ 318 h 31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73" h="318">
                    <a:moveTo>
                      <a:pt x="373" y="0"/>
                    </a:moveTo>
                    <a:lnTo>
                      <a:pt x="345" y="56"/>
                    </a:lnTo>
                    <a:lnTo>
                      <a:pt x="304" y="125"/>
                    </a:lnTo>
                    <a:lnTo>
                      <a:pt x="166" y="207"/>
                    </a:lnTo>
                    <a:lnTo>
                      <a:pt x="69" y="290"/>
                    </a:lnTo>
                    <a:lnTo>
                      <a:pt x="28" y="318"/>
                    </a:lnTo>
                    <a:lnTo>
                      <a:pt x="0" y="304"/>
                    </a:lnTo>
                  </a:path>
                </a:pathLst>
              </a:custGeom>
              <a:noFill/>
              <a:ln w="3175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012" name="Freeform 13">
                <a:extLst>
                  <a:ext uri="{FF2B5EF4-FFF2-40B4-BE49-F238E27FC236}">
                    <a16:creationId xmlns:a16="http://schemas.microsoft.com/office/drawing/2014/main" id="{1A9D1A37-7399-469B-A48C-0C5B5C07C2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68" y="1768"/>
                <a:ext cx="165" cy="497"/>
              </a:xfrm>
              <a:custGeom>
                <a:avLst/>
                <a:gdLst>
                  <a:gd name="T0" fmla="*/ 165 w 165"/>
                  <a:gd name="T1" fmla="*/ 0 h 497"/>
                  <a:gd name="T2" fmla="*/ 138 w 165"/>
                  <a:gd name="T3" fmla="*/ 193 h 497"/>
                  <a:gd name="T4" fmla="*/ 83 w 165"/>
                  <a:gd name="T5" fmla="*/ 331 h 497"/>
                  <a:gd name="T6" fmla="*/ 28 w 165"/>
                  <a:gd name="T7" fmla="*/ 455 h 497"/>
                  <a:gd name="T8" fmla="*/ 14 w 165"/>
                  <a:gd name="T9" fmla="*/ 497 h 497"/>
                  <a:gd name="T10" fmla="*/ 0 w 165"/>
                  <a:gd name="T11" fmla="*/ 469 h 4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65"/>
                  <a:gd name="T19" fmla="*/ 0 h 497"/>
                  <a:gd name="T20" fmla="*/ 165 w 165"/>
                  <a:gd name="T21" fmla="*/ 497 h 49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65" h="497">
                    <a:moveTo>
                      <a:pt x="165" y="0"/>
                    </a:moveTo>
                    <a:lnTo>
                      <a:pt x="138" y="193"/>
                    </a:lnTo>
                    <a:lnTo>
                      <a:pt x="83" y="331"/>
                    </a:lnTo>
                    <a:lnTo>
                      <a:pt x="28" y="455"/>
                    </a:lnTo>
                    <a:lnTo>
                      <a:pt x="14" y="497"/>
                    </a:lnTo>
                    <a:lnTo>
                      <a:pt x="0" y="469"/>
                    </a:lnTo>
                  </a:path>
                </a:pathLst>
              </a:custGeom>
              <a:noFill/>
              <a:ln w="3175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013" name="Freeform 14">
                <a:extLst>
                  <a:ext uri="{FF2B5EF4-FFF2-40B4-BE49-F238E27FC236}">
                    <a16:creationId xmlns:a16="http://schemas.microsoft.com/office/drawing/2014/main" id="{0AB37857-F7DF-4311-865A-1888371664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3" y="1009"/>
                <a:ext cx="663" cy="538"/>
              </a:xfrm>
              <a:custGeom>
                <a:avLst/>
                <a:gdLst>
                  <a:gd name="T0" fmla="*/ 28 w 663"/>
                  <a:gd name="T1" fmla="*/ 124 h 538"/>
                  <a:gd name="T2" fmla="*/ 28 w 663"/>
                  <a:gd name="T3" fmla="*/ 97 h 538"/>
                  <a:gd name="T4" fmla="*/ 69 w 663"/>
                  <a:gd name="T5" fmla="*/ 55 h 538"/>
                  <a:gd name="T6" fmla="*/ 111 w 663"/>
                  <a:gd name="T7" fmla="*/ 28 h 538"/>
                  <a:gd name="T8" fmla="*/ 138 w 663"/>
                  <a:gd name="T9" fmla="*/ 41 h 538"/>
                  <a:gd name="T10" fmla="*/ 152 w 663"/>
                  <a:gd name="T11" fmla="*/ 28 h 538"/>
                  <a:gd name="T12" fmla="*/ 193 w 663"/>
                  <a:gd name="T13" fmla="*/ 28 h 538"/>
                  <a:gd name="T14" fmla="*/ 249 w 663"/>
                  <a:gd name="T15" fmla="*/ 41 h 538"/>
                  <a:gd name="T16" fmla="*/ 304 w 663"/>
                  <a:gd name="T17" fmla="*/ 41 h 538"/>
                  <a:gd name="T18" fmla="*/ 345 w 663"/>
                  <a:gd name="T19" fmla="*/ 55 h 538"/>
                  <a:gd name="T20" fmla="*/ 373 w 663"/>
                  <a:gd name="T21" fmla="*/ 28 h 538"/>
                  <a:gd name="T22" fmla="*/ 400 w 663"/>
                  <a:gd name="T23" fmla="*/ 0 h 538"/>
                  <a:gd name="T24" fmla="*/ 442 w 663"/>
                  <a:gd name="T25" fmla="*/ 0 h 538"/>
                  <a:gd name="T26" fmla="*/ 469 w 663"/>
                  <a:gd name="T27" fmla="*/ 0 h 538"/>
                  <a:gd name="T28" fmla="*/ 511 w 663"/>
                  <a:gd name="T29" fmla="*/ 0 h 538"/>
                  <a:gd name="T30" fmla="*/ 538 w 663"/>
                  <a:gd name="T31" fmla="*/ 14 h 538"/>
                  <a:gd name="T32" fmla="*/ 552 w 663"/>
                  <a:gd name="T33" fmla="*/ 28 h 538"/>
                  <a:gd name="T34" fmla="*/ 580 w 663"/>
                  <a:gd name="T35" fmla="*/ 41 h 538"/>
                  <a:gd name="T36" fmla="*/ 607 w 663"/>
                  <a:gd name="T37" fmla="*/ 97 h 538"/>
                  <a:gd name="T38" fmla="*/ 649 w 663"/>
                  <a:gd name="T39" fmla="*/ 166 h 538"/>
                  <a:gd name="T40" fmla="*/ 663 w 663"/>
                  <a:gd name="T41" fmla="*/ 262 h 538"/>
                  <a:gd name="T42" fmla="*/ 663 w 663"/>
                  <a:gd name="T43" fmla="*/ 331 h 538"/>
                  <a:gd name="T44" fmla="*/ 649 w 663"/>
                  <a:gd name="T45" fmla="*/ 386 h 538"/>
                  <a:gd name="T46" fmla="*/ 635 w 663"/>
                  <a:gd name="T47" fmla="*/ 469 h 538"/>
                  <a:gd name="T48" fmla="*/ 607 w 663"/>
                  <a:gd name="T49" fmla="*/ 524 h 538"/>
                  <a:gd name="T50" fmla="*/ 552 w 663"/>
                  <a:gd name="T51" fmla="*/ 538 h 538"/>
                  <a:gd name="T52" fmla="*/ 511 w 663"/>
                  <a:gd name="T53" fmla="*/ 538 h 538"/>
                  <a:gd name="T54" fmla="*/ 456 w 663"/>
                  <a:gd name="T55" fmla="*/ 524 h 538"/>
                  <a:gd name="T56" fmla="*/ 414 w 663"/>
                  <a:gd name="T57" fmla="*/ 511 h 538"/>
                  <a:gd name="T58" fmla="*/ 373 w 663"/>
                  <a:gd name="T59" fmla="*/ 497 h 538"/>
                  <a:gd name="T60" fmla="*/ 331 w 663"/>
                  <a:gd name="T61" fmla="*/ 497 h 538"/>
                  <a:gd name="T62" fmla="*/ 290 w 663"/>
                  <a:gd name="T63" fmla="*/ 497 h 538"/>
                  <a:gd name="T64" fmla="*/ 262 w 663"/>
                  <a:gd name="T65" fmla="*/ 511 h 538"/>
                  <a:gd name="T66" fmla="*/ 221 w 663"/>
                  <a:gd name="T67" fmla="*/ 511 h 538"/>
                  <a:gd name="T68" fmla="*/ 193 w 663"/>
                  <a:gd name="T69" fmla="*/ 524 h 538"/>
                  <a:gd name="T70" fmla="*/ 166 w 663"/>
                  <a:gd name="T71" fmla="*/ 524 h 538"/>
                  <a:gd name="T72" fmla="*/ 124 w 663"/>
                  <a:gd name="T73" fmla="*/ 524 h 538"/>
                  <a:gd name="T74" fmla="*/ 97 w 663"/>
                  <a:gd name="T75" fmla="*/ 524 h 538"/>
                  <a:gd name="T76" fmla="*/ 83 w 663"/>
                  <a:gd name="T77" fmla="*/ 511 h 538"/>
                  <a:gd name="T78" fmla="*/ 55 w 663"/>
                  <a:gd name="T79" fmla="*/ 497 h 538"/>
                  <a:gd name="T80" fmla="*/ 55 w 663"/>
                  <a:gd name="T81" fmla="*/ 483 h 538"/>
                  <a:gd name="T82" fmla="*/ 42 w 663"/>
                  <a:gd name="T83" fmla="*/ 469 h 538"/>
                  <a:gd name="T84" fmla="*/ 28 w 663"/>
                  <a:gd name="T85" fmla="*/ 428 h 538"/>
                  <a:gd name="T86" fmla="*/ 14 w 663"/>
                  <a:gd name="T87" fmla="*/ 359 h 538"/>
                  <a:gd name="T88" fmla="*/ 0 w 663"/>
                  <a:gd name="T89" fmla="*/ 317 h 538"/>
                  <a:gd name="T90" fmla="*/ 0 w 663"/>
                  <a:gd name="T91" fmla="*/ 262 h 538"/>
                  <a:gd name="T92" fmla="*/ 14 w 663"/>
                  <a:gd name="T93" fmla="*/ 207 h 538"/>
                  <a:gd name="T94" fmla="*/ 14 w 663"/>
                  <a:gd name="T95" fmla="*/ 152 h 538"/>
                  <a:gd name="T96" fmla="*/ 28 w 663"/>
                  <a:gd name="T97" fmla="*/ 124 h 538"/>
                  <a:gd name="T98" fmla="*/ 28 w 663"/>
                  <a:gd name="T99" fmla="*/ 124 h 538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w 663"/>
                  <a:gd name="T151" fmla="*/ 0 h 538"/>
                  <a:gd name="T152" fmla="*/ 663 w 663"/>
                  <a:gd name="T153" fmla="*/ 538 h 538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T150" t="T151" r="T152" b="T153"/>
                <a:pathLst>
                  <a:path w="663" h="538">
                    <a:moveTo>
                      <a:pt x="28" y="124"/>
                    </a:moveTo>
                    <a:lnTo>
                      <a:pt x="28" y="97"/>
                    </a:lnTo>
                    <a:lnTo>
                      <a:pt x="69" y="55"/>
                    </a:lnTo>
                    <a:lnTo>
                      <a:pt x="111" y="28"/>
                    </a:lnTo>
                    <a:lnTo>
                      <a:pt x="138" y="41"/>
                    </a:lnTo>
                    <a:lnTo>
                      <a:pt x="152" y="28"/>
                    </a:lnTo>
                    <a:lnTo>
                      <a:pt x="193" y="28"/>
                    </a:lnTo>
                    <a:lnTo>
                      <a:pt x="249" y="41"/>
                    </a:lnTo>
                    <a:lnTo>
                      <a:pt x="304" y="41"/>
                    </a:lnTo>
                    <a:lnTo>
                      <a:pt x="345" y="55"/>
                    </a:lnTo>
                    <a:lnTo>
                      <a:pt x="373" y="28"/>
                    </a:lnTo>
                    <a:lnTo>
                      <a:pt x="400" y="0"/>
                    </a:lnTo>
                    <a:lnTo>
                      <a:pt x="442" y="0"/>
                    </a:lnTo>
                    <a:lnTo>
                      <a:pt x="469" y="0"/>
                    </a:lnTo>
                    <a:lnTo>
                      <a:pt x="511" y="0"/>
                    </a:lnTo>
                    <a:lnTo>
                      <a:pt x="538" y="14"/>
                    </a:lnTo>
                    <a:lnTo>
                      <a:pt x="552" y="28"/>
                    </a:lnTo>
                    <a:lnTo>
                      <a:pt x="580" y="41"/>
                    </a:lnTo>
                    <a:lnTo>
                      <a:pt x="607" y="97"/>
                    </a:lnTo>
                    <a:lnTo>
                      <a:pt x="649" y="166"/>
                    </a:lnTo>
                    <a:lnTo>
                      <a:pt x="663" y="262"/>
                    </a:lnTo>
                    <a:lnTo>
                      <a:pt x="663" y="331"/>
                    </a:lnTo>
                    <a:lnTo>
                      <a:pt x="649" y="386"/>
                    </a:lnTo>
                    <a:lnTo>
                      <a:pt x="635" y="469"/>
                    </a:lnTo>
                    <a:lnTo>
                      <a:pt x="607" y="524"/>
                    </a:lnTo>
                    <a:lnTo>
                      <a:pt x="552" y="538"/>
                    </a:lnTo>
                    <a:lnTo>
                      <a:pt x="511" y="538"/>
                    </a:lnTo>
                    <a:lnTo>
                      <a:pt x="456" y="524"/>
                    </a:lnTo>
                    <a:lnTo>
                      <a:pt x="414" y="511"/>
                    </a:lnTo>
                    <a:lnTo>
                      <a:pt x="373" y="497"/>
                    </a:lnTo>
                    <a:lnTo>
                      <a:pt x="331" y="497"/>
                    </a:lnTo>
                    <a:lnTo>
                      <a:pt x="290" y="497"/>
                    </a:lnTo>
                    <a:lnTo>
                      <a:pt x="262" y="511"/>
                    </a:lnTo>
                    <a:lnTo>
                      <a:pt x="221" y="511"/>
                    </a:lnTo>
                    <a:lnTo>
                      <a:pt x="193" y="524"/>
                    </a:lnTo>
                    <a:lnTo>
                      <a:pt x="166" y="524"/>
                    </a:lnTo>
                    <a:lnTo>
                      <a:pt x="124" y="524"/>
                    </a:lnTo>
                    <a:lnTo>
                      <a:pt x="97" y="524"/>
                    </a:lnTo>
                    <a:lnTo>
                      <a:pt x="83" y="511"/>
                    </a:lnTo>
                    <a:lnTo>
                      <a:pt x="55" y="497"/>
                    </a:lnTo>
                    <a:lnTo>
                      <a:pt x="55" y="483"/>
                    </a:lnTo>
                    <a:lnTo>
                      <a:pt x="42" y="469"/>
                    </a:lnTo>
                    <a:lnTo>
                      <a:pt x="28" y="428"/>
                    </a:lnTo>
                    <a:lnTo>
                      <a:pt x="14" y="359"/>
                    </a:lnTo>
                    <a:lnTo>
                      <a:pt x="0" y="317"/>
                    </a:lnTo>
                    <a:lnTo>
                      <a:pt x="0" y="262"/>
                    </a:lnTo>
                    <a:lnTo>
                      <a:pt x="14" y="207"/>
                    </a:lnTo>
                    <a:lnTo>
                      <a:pt x="14" y="152"/>
                    </a:lnTo>
                    <a:lnTo>
                      <a:pt x="28" y="124"/>
                    </a:lnTo>
                    <a:close/>
                  </a:path>
                </a:pathLst>
              </a:custGeom>
              <a:solidFill>
                <a:srgbClr val="FFDC99"/>
              </a:solidFill>
              <a:ln w="31750">
                <a:solidFill>
                  <a:srgbClr val="FFDC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014" name="Rectangle 15">
                <a:extLst>
                  <a:ext uri="{FF2B5EF4-FFF2-40B4-BE49-F238E27FC236}">
                    <a16:creationId xmlns:a16="http://schemas.microsoft.com/office/drawing/2014/main" id="{45A9A9EA-238D-4F06-B3BF-D6DF3DAD2A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07" y="1291"/>
                <a:ext cx="414" cy="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ctr">
                  <a:spcBef>
                    <a:spcPct val="20000"/>
                  </a:spcBef>
                  <a:buClr>
                    <a:schemeClr val="accent2"/>
                  </a:buClr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</a:pPr>
                <a:r>
                  <a:rPr lang="en-GB" altLang="en-US" sz="1400">
                    <a:solidFill>
                      <a:srgbClr val="000000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rPr>
                  <a:t>intranet</a:t>
                </a:r>
                <a:endParaRPr lang="en-GB" altLang="en-US" sz="2400">
                  <a:latin typeface="Times" panose="02020603050405020304" pitchFamily="18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30015" name="Freeform 16">
                <a:extLst>
                  <a:ext uri="{FF2B5EF4-FFF2-40B4-BE49-F238E27FC236}">
                    <a16:creationId xmlns:a16="http://schemas.microsoft.com/office/drawing/2014/main" id="{C7BC5FC4-FCE9-4CFC-9D26-C4A1EA2226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70" y="1382"/>
                <a:ext cx="359" cy="358"/>
              </a:xfrm>
              <a:custGeom>
                <a:avLst/>
                <a:gdLst>
                  <a:gd name="T0" fmla="*/ 359 w 359"/>
                  <a:gd name="T1" fmla="*/ 331 h 358"/>
                  <a:gd name="T2" fmla="*/ 331 w 359"/>
                  <a:gd name="T3" fmla="*/ 358 h 358"/>
                  <a:gd name="T4" fmla="*/ 0 w 359"/>
                  <a:gd name="T5" fmla="*/ 27 h 358"/>
                  <a:gd name="T6" fmla="*/ 28 w 359"/>
                  <a:gd name="T7" fmla="*/ 0 h 358"/>
                  <a:gd name="T8" fmla="*/ 359 w 359"/>
                  <a:gd name="T9" fmla="*/ 331 h 35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9"/>
                  <a:gd name="T16" fmla="*/ 0 h 358"/>
                  <a:gd name="T17" fmla="*/ 359 w 359"/>
                  <a:gd name="T18" fmla="*/ 358 h 35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9" h="358">
                    <a:moveTo>
                      <a:pt x="359" y="331"/>
                    </a:moveTo>
                    <a:lnTo>
                      <a:pt x="331" y="358"/>
                    </a:lnTo>
                    <a:lnTo>
                      <a:pt x="0" y="27"/>
                    </a:lnTo>
                    <a:lnTo>
                      <a:pt x="28" y="0"/>
                    </a:lnTo>
                    <a:lnTo>
                      <a:pt x="359" y="331"/>
                    </a:lnTo>
                    <a:close/>
                  </a:path>
                </a:pathLst>
              </a:custGeom>
              <a:solidFill>
                <a:srgbClr val="FFDC99"/>
              </a:solidFill>
              <a:ln w="31750">
                <a:solidFill>
                  <a:srgbClr val="FFDC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016" name="Freeform 17">
                <a:extLst>
                  <a:ext uri="{FF2B5EF4-FFF2-40B4-BE49-F238E27FC236}">
                    <a16:creationId xmlns:a16="http://schemas.microsoft.com/office/drawing/2014/main" id="{9B24B4A0-C8B0-4E6E-9A0F-91C6A1AFCA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3" y="1299"/>
                <a:ext cx="2469" cy="2083"/>
              </a:xfrm>
              <a:custGeom>
                <a:avLst/>
                <a:gdLst>
                  <a:gd name="T0" fmla="*/ 2428 w 2469"/>
                  <a:gd name="T1" fmla="*/ 0 h 2083"/>
                  <a:gd name="T2" fmla="*/ 2469 w 2469"/>
                  <a:gd name="T3" fmla="*/ 55 h 2083"/>
                  <a:gd name="T4" fmla="*/ 41 w 2469"/>
                  <a:gd name="T5" fmla="*/ 2083 h 2083"/>
                  <a:gd name="T6" fmla="*/ 0 w 2469"/>
                  <a:gd name="T7" fmla="*/ 2042 h 2083"/>
                  <a:gd name="T8" fmla="*/ 2428 w 2469"/>
                  <a:gd name="T9" fmla="*/ 0 h 208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69"/>
                  <a:gd name="T16" fmla="*/ 0 h 2083"/>
                  <a:gd name="T17" fmla="*/ 2469 w 2469"/>
                  <a:gd name="T18" fmla="*/ 2083 h 208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69" h="2083">
                    <a:moveTo>
                      <a:pt x="2428" y="0"/>
                    </a:moveTo>
                    <a:lnTo>
                      <a:pt x="2469" y="55"/>
                    </a:lnTo>
                    <a:lnTo>
                      <a:pt x="41" y="2083"/>
                    </a:lnTo>
                    <a:lnTo>
                      <a:pt x="0" y="2042"/>
                    </a:lnTo>
                    <a:lnTo>
                      <a:pt x="2428" y="0"/>
                    </a:lnTo>
                    <a:close/>
                  </a:path>
                </a:pathLst>
              </a:custGeom>
              <a:solidFill>
                <a:srgbClr val="FFDC99"/>
              </a:solidFill>
              <a:ln w="31750">
                <a:solidFill>
                  <a:srgbClr val="FFDC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017" name="Freeform 18">
                <a:extLst>
                  <a:ext uri="{FF2B5EF4-FFF2-40B4-BE49-F238E27FC236}">
                    <a16:creationId xmlns:a16="http://schemas.microsoft.com/office/drawing/2014/main" id="{95533C85-89C8-4466-98EE-9EBC5B90CE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30" y="885"/>
                <a:ext cx="855" cy="510"/>
              </a:xfrm>
              <a:custGeom>
                <a:avLst/>
                <a:gdLst>
                  <a:gd name="T0" fmla="*/ 27 w 855"/>
                  <a:gd name="T1" fmla="*/ 124 h 510"/>
                  <a:gd name="T2" fmla="*/ 41 w 855"/>
                  <a:gd name="T3" fmla="*/ 83 h 510"/>
                  <a:gd name="T4" fmla="*/ 82 w 855"/>
                  <a:gd name="T5" fmla="*/ 55 h 510"/>
                  <a:gd name="T6" fmla="*/ 138 w 855"/>
                  <a:gd name="T7" fmla="*/ 27 h 510"/>
                  <a:gd name="T8" fmla="*/ 179 w 855"/>
                  <a:gd name="T9" fmla="*/ 41 h 510"/>
                  <a:gd name="T10" fmla="*/ 207 w 855"/>
                  <a:gd name="T11" fmla="*/ 27 h 510"/>
                  <a:gd name="T12" fmla="*/ 262 w 855"/>
                  <a:gd name="T13" fmla="*/ 27 h 510"/>
                  <a:gd name="T14" fmla="*/ 317 w 855"/>
                  <a:gd name="T15" fmla="*/ 41 h 510"/>
                  <a:gd name="T16" fmla="*/ 386 w 855"/>
                  <a:gd name="T17" fmla="*/ 41 h 510"/>
                  <a:gd name="T18" fmla="*/ 455 w 855"/>
                  <a:gd name="T19" fmla="*/ 41 h 510"/>
                  <a:gd name="T20" fmla="*/ 483 w 855"/>
                  <a:gd name="T21" fmla="*/ 27 h 510"/>
                  <a:gd name="T22" fmla="*/ 510 w 855"/>
                  <a:gd name="T23" fmla="*/ 14 h 510"/>
                  <a:gd name="T24" fmla="*/ 565 w 855"/>
                  <a:gd name="T25" fmla="*/ 0 h 510"/>
                  <a:gd name="T26" fmla="*/ 607 w 855"/>
                  <a:gd name="T27" fmla="*/ 0 h 510"/>
                  <a:gd name="T28" fmla="*/ 648 w 855"/>
                  <a:gd name="T29" fmla="*/ 0 h 510"/>
                  <a:gd name="T30" fmla="*/ 690 w 855"/>
                  <a:gd name="T31" fmla="*/ 14 h 510"/>
                  <a:gd name="T32" fmla="*/ 703 w 855"/>
                  <a:gd name="T33" fmla="*/ 27 h 510"/>
                  <a:gd name="T34" fmla="*/ 745 w 855"/>
                  <a:gd name="T35" fmla="*/ 41 h 510"/>
                  <a:gd name="T36" fmla="*/ 786 w 855"/>
                  <a:gd name="T37" fmla="*/ 83 h 510"/>
                  <a:gd name="T38" fmla="*/ 841 w 855"/>
                  <a:gd name="T39" fmla="*/ 165 h 510"/>
                  <a:gd name="T40" fmla="*/ 855 w 855"/>
                  <a:gd name="T41" fmla="*/ 248 h 510"/>
                  <a:gd name="T42" fmla="*/ 855 w 855"/>
                  <a:gd name="T43" fmla="*/ 317 h 510"/>
                  <a:gd name="T44" fmla="*/ 841 w 855"/>
                  <a:gd name="T45" fmla="*/ 359 h 510"/>
                  <a:gd name="T46" fmla="*/ 828 w 855"/>
                  <a:gd name="T47" fmla="*/ 455 h 510"/>
                  <a:gd name="T48" fmla="*/ 772 w 855"/>
                  <a:gd name="T49" fmla="*/ 497 h 510"/>
                  <a:gd name="T50" fmla="*/ 717 w 855"/>
                  <a:gd name="T51" fmla="*/ 510 h 510"/>
                  <a:gd name="T52" fmla="*/ 662 w 855"/>
                  <a:gd name="T53" fmla="*/ 497 h 510"/>
                  <a:gd name="T54" fmla="*/ 593 w 855"/>
                  <a:gd name="T55" fmla="*/ 497 h 510"/>
                  <a:gd name="T56" fmla="*/ 538 w 855"/>
                  <a:gd name="T57" fmla="*/ 483 h 510"/>
                  <a:gd name="T58" fmla="*/ 483 w 855"/>
                  <a:gd name="T59" fmla="*/ 469 h 510"/>
                  <a:gd name="T60" fmla="*/ 427 w 855"/>
                  <a:gd name="T61" fmla="*/ 469 h 510"/>
                  <a:gd name="T62" fmla="*/ 372 w 855"/>
                  <a:gd name="T63" fmla="*/ 469 h 510"/>
                  <a:gd name="T64" fmla="*/ 331 w 855"/>
                  <a:gd name="T65" fmla="*/ 483 h 510"/>
                  <a:gd name="T66" fmla="*/ 289 w 855"/>
                  <a:gd name="T67" fmla="*/ 483 h 510"/>
                  <a:gd name="T68" fmla="*/ 248 w 855"/>
                  <a:gd name="T69" fmla="*/ 497 h 510"/>
                  <a:gd name="T70" fmla="*/ 207 w 855"/>
                  <a:gd name="T71" fmla="*/ 497 h 510"/>
                  <a:gd name="T72" fmla="*/ 165 w 855"/>
                  <a:gd name="T73" fmla="*/ 497 h 510"/>
                  <a:gd name="T74" fmla="*/ 138 w 855"/>
                  <a:gd name="T75" fmla="*/ 497 h 510"/>
                  <a:gd name="T76" fmla="*/ 96 w 855"/>
                  <a:gd name="T77" fmla="*/ 483 h 510"/>
                  <a:gd name="T78" fmla="*/ 82 w 855"/>
                  <a:gd name="T79" fmla="*/ 469 h 510"/>
                  <a:gd name="T80" fmla="*/ 69 w 855"/>
                  <a:gd name="T81" fmla="*/ 455 h 510"/>
                  <a:gd name="T82" fmla="*/ 55 w 855"/>
                  <a:gd name="T83" fmla="*/ 441 h 510"/>
                  <a:gd name="T84" fmla="*/ 41 w 855"/>
                  <a:gd name="T85" fmla="*/ 400 h 510"/>
                  <a:gd name="T86" fmla="*/ 13 w 855"/>
                  <a:gd name="T87" fmla="*/ 345 h 510"/>
                  <a:gd name="T88" fmla="*/ 13 w 855"/>
                  <a:gd name="T89" fmla="*/ 290 h 510"/>
                  <a:gd name="T90" fmla="*/ 0 w 855"/>
                  <a:gd name="T91" fmla="*/ 248 h 510"/>
                  <a:gd name="T92" fmla="*/ 13 w 855"/>
                  <a:gd name="T93" fmla="*/ 193 h 510"/>
                  <a:gd name="T94" fmla="*/ 13 w 855"/>
                  <a:gd name="T95" fmla="*/ 152 h 510"/>
                  <a:gd name="T96" fmla="*/ 27 w 855"/>
                  <a:gd name="T97" fmla="*/ 124 h 510"/>
                  <a:gd name="T98" fmla="*/ 27 w 855"/>
                  <a:gd name="T99" fmla="*/ 124 h 510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w 855"/>
                  <a:gd name="T151" fmla="*/ 0 h 510"/>
                  <a:gd name="T152" fmla="*/ 855 w 855"/>
                  <a:gd name="T153" fmla="*/ 510 h 510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T150" t="T151" r="T152" b="T153"/>
                <a:pathLst>
                  <a:path w="855" h="510">
                    <a:moveTo>
                      <a:pt x="27" y="124"/>
                    </a:moveTo>
                    <a:lnTo>
                      <a:pt x="41" y="83"/>
                    </a:lnTo>
                    <a:lnTo>
                      <a:pt x="82" y="55"/>
                    </a:lnTo>
                    <a:lnTo>
                      <a:pt x="138" y="27"/>
                    </a:lnTo>
                    <a:lnTo>
                      <a:pt x="179" y="41"/>
                    </a:lnTo>
                    <a:lnTo>
                      <a:pt x="207" y="27"/>
                    </a:lnTo>
                    <a:lnTo>
                      <a:pt x="262" y="27"/>
                    </a:lnTo>
                    <a:lnTo>
                      <a:pt x="317" y="41"/>
                    </a:lnTo>
                    <a:lnTo>
                      <a:pt x="386" y="41"/>
                    </a:lnTo>
                    <a:lnTo>
                      <a:pt x="455" y="41"/>
                    </a:lnTo>
                    <a:lnTo>
                      <a:pt x="483" y="27"/>
                    </a:lnTo>
                    <a:lnTo>
                      <a:pt x="510" y="14"/>
                    </a:lnTo>
                    <a:lnTo>
                      <a:pt x="565" y="0"/>
                    </a:lnTo>
                    <a:lnTo>
                      <a:pt x="607" y="0"/>
                    </a:lnTo>
                    <a:lnTo>
                      <a:pt x="648" y="0"/>
                    </a:lnTo>
                    <a:lnTo>
                      <a:pt x="690" y="14"/>
                    </a:lnTo>
                    <a:lnTo>
                      <a:pt x="703" y="27"/>
                    </a:lnTo>
                    <a:lnTo>
                      <a:pt x="745" y="41"/>
                    </a:lnTo>
                    <a:lnTo>
                      <a:pt x="786" y="83"/>
                    </a:lnTo>
                    <a:lnTo>
                      <a:pt x="841" y="165"/>
                    </a:lnTo>
                    <a:lnTo>
                      <a:pt x="855" y="248"/>
                    </a:lnTo>
                    <a:lnTo>
                      <a:pt x="855" y="317"/>
                    </a:lnTo>
                    <a:lnTo>
                      <a:pt x="841" y="359"/>
                    </a:lnTo>
                    <a:lnTo>
                      <a:pt x="828" y="455"/>
                    </a:lnTo>
                    <a:lnTo>
                      <a:pt x="772" y="497"/>
                    </a:lnTo>
                    <a:lnTo>
                      <a:pt x="717" y="510"/>
                    </a:lnTo>
                    <a:lnTo>
                      <a:pt x="662" y="497"/>
                    </a:lnTo>
                    <a:lnTo>
                      <a:pt x="593" y="497"/>
                    </a:lnTo>
                    <a:lnTo>
                      <a:pt x="538" y="483"/>
                    </a:lnTo>
                    <a:lnTo>
                      <a:pt x="483" y="469"/>
                    </a:lnTo>
                    <a:lnTo>
                      <a:pt x="427" y="469"/>
                    </a:lnTo>
                    <a:lnTo>
                      <a:pt x="372" y="469"/>
                    </a:lnTo>
                    <a:lnTo>
                      <a:pt x="331" y="483"/>
                    </a:lnTo>
                    <a:lnTo>
                      <a:pt x="289" y="483"/>
                    </a:lnTo>
                    <a:lnTo>
                      <a:pt x="248" y="497"/>
                    </a:lnTo>
                    <a:lnTo>
                      <a:pt x="207" y="497"/>
                    </a:lnTo>
                    <a:lnTo>
                      <a:pt x="165" y="497"/>
                    </a:lnTo>
                    <a:lnTo>
                      <a:pt x="138" y="497"/>
                    </a:lnTo>
                    <a:lnTo>
                      <a:pt x="96" y="483"/>
                    </a:lnTo>
                    <a:lnTo>
                      <a:pt x="82" y="469"/>
                    </a:lnTo>
                    <a:lnTo>
                      <a:pt x="69" y="455"/>
                    </a:lnTo>
                    <a:lnTo>
                      <a:pt x="55" y="441"/>
                    </a:lnTo>
                    <a:lnTo>
                      <a:pt x="41" y="400"/>
                    </a:lnTo>
                    <a:lnTo>
                      <a:pt x="13" y="345"/>
                    </a:lnTo>
                    <a:lnTo>
                      <a:pt x="13" y="290"/>
                    </a:lnTo>
                    <a:lnTo>
                      <a:pt x="0" y="248"/>
                    </a:lnTo>
                    <a:lnTo>
                      <a:pt x="13" y="193"/>
                    </a:lnTo>
                    <a:lnTo>
                      <a:pt x="13" y="152"/>
                    </a:lnTo>
                    <a:lnTo>
                      <a:pt x="27" y="124"/>
                    </a:lnTo>
                    <a:close/>
                  </a:path>
                </a:pathLst>
              </a:custGeom>
              <a:solidFill>
                <a:srgbClr val="FFDC99"/>
              </a:solidFill>
              <a:ln w="31750">
                <a:solidFill>
                  <a:srgbClr val="FFDC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018" name="Freeform 19">
                <a:extLst>
                  <a:ext uri="{FF2B5EF4-FFF2-40B4-BE49-F238E27FC236}">
                    <a16:creationId xmlns:a16="http://schemas.microsoft.com/office/drawing/2014/main" id="{4B64FB7D-9155-4C43-A5AA-592F490A37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12" y="1561"/>
                <a:ext cx="662" cy="400"/>
              </a:xfrm>
              <a:custGeom>
                <a:avLst/>
                <a:gdLst>
                  <a:gd name="T0" fmla="*/ 27 w 662"/>
                  <a:gd name="T1" fmla="*/ 96 h 400"/>
                  <a:gd name="T2" fmla="*/ 41 w 662"/>
                  <a:gd name="T3" fmla="*/ 69 h 400"/>
                  <a:gd name="T4" fmla="*/ 69 w 662"/>
                  <a:gd name="T5" fmla="*/ 41 h 400"/>
                  <a:gd name="T6" fmla="*/ 110 w 662"/>
                  <a:gd name="T7" fmla="*/ 27 h 400"/>
                  <a:gd name="T8" fmla="*/ 138 w 662"/>
                  <a:gd name="T9" fmla="*/ 27 h 400"/>
                  <a:gd name="T10" fmla="*/ 165 w 662"/>
                  <a:gd name="T11" fmla="*/ 27 h 400"/>
                  <a:gd name="T12" fmla="*/ 193 w 662"/>
                  <a:gd name="T13" fmla="*/ 27 h 400"/>
                  <a:gd name="T14" fmla="*/ 248 w 662"/>
                  <a:gd name="T15" fmla="*/ 41 h 400"/>
                  <a:gd name="T16" fmla="*/ 303 w 662"/>
                  <a:gd name="T17" fmla="*/ 41 h 400"/>
                  <a:gd name="T18" fmla="*/ 345 w 662"/>
                  <a:gd name="T19" fmla="*/ 41 h 400"/>
                  <a:gd name="T20" fmla="*/ 372 w 662"/>
                  <a:gd name="T21" fmla="*/ 27 h 400"/>
                  <a:gd name="T22" fmla="*/ 400 w 662"/>
                  <a:gd name="T23" fmla="*/ 14 h 400"/>
                  <a:gd name="T24" fmla="*/ 441 w 662"/>
                  <a:gd name="T25" fmla="*/ 0 h 400"/>
                  <a:gd name="T26" fmla="*/ 483 w 662"/>
                  <a:gd name="T27" fmla="*/ 0 h 400"/>
                  <a:gd name="T28" fmla="*/ 510 w 662"/>
                  <a:gd name="T29" fmla="*/ 14 h 400"/>
                  <a:gd name="T30" fmla="*/ 538 w 662"/>
                  <a:gd name="T31" fmla="*/ 14 h 400"/>
                  <a:gd name="T32" fmla="*/ 552 w 662"/>
                  <a:gd name="T33" fmla="*/ 27 h 400"/>
                  <a:gd name="T34" fmla="*/ 579 w 662"/>
                  <a:gd name="T35" fmla="*/ 41 h 400"/>
                  <a:gd name="T36" fmla="*/ 621 w 662"/>
                  <a:gd name="T37" fmla="*/ 69 h 400"/>
                  <a:gd name="T38" fmla="*/ 648 w 662"/>
                  <a:gd name="T39" fmla="*/ 124 h 400"/>
                  <a:gd name="T40" fmla="*/ 662 w 662"/>
                  <a:gd name="T41" fmla="*/ 207 h 400"/>
                  <a:gd name="T42" fmla="*/ 662 w 662"/>
                  <a:gd name="T43" fmla="*/ 248 h 400"/>
                  <a:gd name="T44" fmla="*/ 662 w 662"/>
                  <a:gd name="T45" fmla="*/ 290 h 400"/>
                  <a:gd name="T46" fmla="*/ 634 w 662"/>
                  <a:gd name="T47" fmla="*/ 359 h 400"/>
                  <a:gd name="T48" fmla="*/ 607 w 662"/>
                  <a:gd name="T49" fmla="*/ 386 h 400"/>
                  <a:gd name="T50" fmla="*/ 565 w 662"/>
                  <a:gd name="T51" fmla="*/ 400 h 400"/>
                  <a:gd name="T52" fmla="*/ 510 w 662"/>
                  <a:gd name="T53" fmla="*/ 400 h 400"/>
                  <a:gd name="T54" fmla="*/ 469 w 662"/>
                  <a:gd name="T55" fmla="*/ 386 h 400"/>
                  <a:gd name="T56" fmla="*/ 414 w 662"/>
                  <a:gd name="T57" fmla="*/ 386 h 400"/>
                  <a:gd name="T58" fmla="*/ 372 w 662"/>
                  <a:gd name="T59" fmla="*/ 372 h 400"/>
                  <a:gd name="T60" fmla="*/ 331 w 662"/>
                  <a:gd name="T61" fmla="*/ 372 h 400"/>
                  <a:gd name="T62" fmla="*/ 289 w 662"/>
                  <a:gd name="T63" fmla="*/ 372 h 400"/>
                  <a:gd name="T64" fmla="*/ 262 w 662"/>
                  <a:gd name="T65" fmla="*/ 372 h 400"/>
                  <a:gd name="T66" fmla="*/ 221 w 662"/>
                  <a:gd name="T67" fmla="*/ 386 h 400"/>
                  <a:gd name="T68" fmla="*/ 193 w 662"/>
                  <a:gd name="T69" fmla="*/ 386 h 400"/>
                  <a:gd name="T70" fmla="*/ 165 w 662"/>
                  <a:gd name="T71" fmla="*/ 386 h 400"/>
                  <a:gd name="T72" fmla="*/ 138 w 662"/>
                  <a:gd name="T73" fmla="*/ 386 h 400"/>
                  <a:gd name="T74" fmla="*/ 110 w 662"/>
                  <a:gd name="T75" fmla="*/ 386 h 400"/>
                  <a:gd name="T76" fmla="*/ 83 w 662"/>
                  <a:gd name="T77" fmla="*/ 386 h 400"/>
                  <a:gd name="T78" fmla="*/ 55 w 662"/>
                  <a:gd name="T79" fmla="*/ 372 h 400"/>
                  <a:gd name="T80" fmla="*/ 55 w 662"/>
                  <a:gd name="T81" fmla="*/ 359 h 400"/>
                  <a:gd name="T82" fmla="*/ 41 w 662"/>
                  <a:gd name="T83" fmla="*/ 345 h 400"/>
                  <a:gd name="T84" fmla="*/ 27 w 662"/>
                  <a:gd name="T85" fmla="*/ 317 h 400"/>
                  <a:gd name="T86" fmla="*/ 14 w 662"/>
                  <a:gd name="T87" fmla="*/ 276 h 400"/>
                  <a:gd name="T88" fmla="*/ 14 w 662"/>
                  <a:gd name="T89" fmla="*/ 234 h 400"/>
                  <a:gd name="T90" fmla="*/ 0 w 662"/>
                  <a:gd name="T91" fmla="*/ 193 h 400"/>
                  <a:gd name="T92" fmla="*/ 14 w 662"/>
                  <a:gd name="T93" fmla="*/ 165 h 400"/>
                  <a:gd name="T94" fmla="*/ 14 w 662"/>
                  <a:gd name="T95" fmla="*/ 124 h 400"/>
                  <a:gd name="T96" fmla="*/ 27 w 662"/>
                  <a:gd name="T97" fmla="*/ 96 h 400"/>
                  <a:gd name="T98" fmla="*/ 27 w 662"/>
                  <a:gd name="T99" fmla="*/ 96 h 400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w 662"/>
                  <a:gd name="T151" fmla="*/ 0 h 400"/>
                  <a:gd name="T152" fmla="*/ 662 w 662"/>
                  <a:gd name="T153" fmla="*/ 400 h 400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T150" t="T151" r="T152" b="T153"/>
                <a:pathLst>
                  <a:path w="662" h="400">
                    <a:moveTo>
                      <a:pt x="27" y="96"/>
                    </a:moveTo>
                    <a:lnTo>
                      <a:pt x="41" y="69"/>
                    </a:lnTo>
                    <a:lnTo>
                      <a:pt x="69" y="41"/>
                    </a:lnTo>
                    <a:lnTo>
                      <a:pt x="110" y="27"/>
                    </a:lnTo>
                    <a:lnTo>
                      <a:pt x="138" y="27"/>
                    </a:lnTo>
                    <a:lnTo>
                      <a:pt x="165" y="27"/>
                    </a:lnTo>
                    <a:lnTo>
                      <a:pt x="193" y="27"/>
                    </a:lnTo>
                    <a:lnTo>
                      <a:pt x="248" y="41"/>
                    </a:lnTo>
                    <a:lnTo>
                      <a:pt x="303" y="41"/>
                    </a:lnTo>
                    <a:lnTo>
                      <a:pt x="345" y="41"/>
                    </a:lnTo>
                    <a:lnTo>
                      <a:pt x="372" y="27"/>
                    </a:lnTo>
                    <a:lnTo>
                      <a:pt x="400" y="14"/>
                    </a:lnTo>
                    <a:lnTo>
                      <a:pt x="441" y="0"/>
                    </a:lnTo>
                    <a:lnTo>
                      <a:pt x="483" y="0"/>
                    </a:lnTo>
                    <a:lnTo>
                      <a:pt x="510" y="14"/>
                    </a:lnTo>
                    <a:lnTo>
                      <a:pt x="538" y="14"/>
                    </a:lnTo>
                    <a:lnTo>
                      <a:pt x="552" y="27"/>
                    </a:lnTo>
                    <a:lnTo>
                      <a:pt x="579" y="41"/>
                    </a:lnTo>
                    <a:lnTo>
                      <a:pt x="621" y="69"/>
                    </a:lnTo>
                    <a:lnTo>
                      <a:pt x="648" y="124"/>
                    </a:lnTo>
                    <a:lnTo>
                      <a:pt x="662" y="207"/>
                    </a:lnTo>
                    <a:lnTo>
                      <a:pt x="662" y="248"/>
                    </a:lnTo>
                    <a:lnTo>
                      <a:pt x="662" y="290"/>
                    </a:lnTo>
                    <a:lnTo>
                      <a:pt x="634" y="359"/>
                    </a:lnTo>
                    <a:lnTo>
                      <a:pt x="607" y="386"/>
                    </a:lnTo>
                    <a:lnTo>
                      <a:pt x="565" y="400"/>
                    </a:lnTo>
                    <a:lnTo>
                      <a:pt x="510" y="400"/>
                    </a:lnTo>
                    <a:lnTo>
                      <a:pt x="469" y="386"/>
                    </a:lnTo>
                    <a:lnTo>
                      <a:pt x="414" y="386"/>
                    </a:lnTo>
                    <a:lnTo>
                      <a:pt x="372" y="372"/>
                    </a:lnTo>
                    <a:lnTo>
                      <a:pt x="331" y="372"/>
                    </a:lnTo>
                    <a:lnTo>
                      <a:pt x="289" y="372"/>
                    </a:lnTo>
                    <a:lnTo>
                      <a:pt x="262" y="372"/>
                    </a:lnTo>
                    <a:lnTo>
                      <a:pt x="221" y="386"/>
                    </a:lnTo>
                    <a:lnTo>
                      <a:pt x="193" y="386"/>
                    </a:lnTo>
                    <a:lnTo>
                      <a:pt x="165" y="386"/>
                    </a:lnTo>
                    <a:lnTo>
                      <a:pt x="138" y="386"/>
                    </a:lnTo>
                    <a:lnTo>
                      <a:pt x="110" y="386"/>
                    </a:lnTo>
                    <a:lnTo>
                      <a:pt x="83" y="386"/>
                    </a:lnTo>
                    <a:lnTo>
                      <a:pt x="55" y="372"/>
                    </a:lnTo>
                    <a:lnTo>
                      <a:pt x="55" y="359"/>
                    </a:lnTo>
                    <a:lnTo>
                      <a:pt x="41" y="345"/>
                    </a:lnTo>
                    <a:lnTo>
                      <a:pt x="27" y="317"/>
                    </a:lnTo>
                    <a:lnTo>
                      <a:pt x="14" y="276"/>
                    </a:lnTo>
                    <a:lnTo>
                      <a:pt x="14" y="234"/>
                    </a:lnTo>
                    <a:lnTo>
                      <a:pt x="0" y="193"/>
                    </a:lnTo>
                    <a:lnTo>
                      <a:pt x="14" y="165"/>
                    </a:lnTo>
                    <a:lnTo>
                      <a:pt x="14" y="124"/>
                    </a:lnTo>
                    <a:lnTo>
                      <a:pt x="27" y="96"/>
                    </a:lnTo>
                    <a:close/>
                  </a:path>
                </a:pathLst>
              </a:custGeom>
              <a:solidFill>
                <a:srgbClr val="FFDC99"/>
              </a:solidFill>
              <a:ln w="31750">
                <a:solidFill>
                  <a:srgbClr val="FFDC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019" name="Freeform 20">
                <a:extLst>
                  <a:ext uri="{FF2B5EF4-FFF2-40B4-BE49-F238E27FC236}">
                    <a16:creationId xmlns:a16="http://schemas.microsoft.com/office/drawing/2014/main" id="{40A08AB1-8B61-4406-BB50-2EB386545C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3" y="2002"/>
                <a:ext cx="649" cy="401"/>
              </a:xfrm>
              <a:custGeom>
                <a:avLst/>
                <a:gdLst>
                  <a:gd name="T0" fmla="*/ 14 w 649"/>
                  <a:gd name="T1" fmla="*/ 97 h 401"/>
                  <a:gd name="T2" fmla="*/ 28 w 649"/>
                  <a:gd name="T3" fmla="*/ 69 h 401"/>
                  <a:gd name="T4" fmla="*/ 55 w 649"/>
                  <a:gd name="T5" fmla="*/ 42 h 401"/>
                  <a:gd name="T6" fmla="*/ 97 w 649"/>
                  <a:gd name="T7" fmla="*/ 28 h 401"/>
                  <a:gd name="T8" fmla="*/ 124 w 649"/>
                  <a:gd name="T9" fmla="*/ 28 h 401"/>
                  <a:gd name="T10" fmla="*/ 152 w 649"/>
                  <a:gd name="T11" fmla="*/ 28 h 401"/>
                  <a:gd name="T12" fmla="*/ 193 w 649"/>
                  <a:gd name="T13" fmla="*/ 28 h 401"/>
                  <a:gd name="T14" fmla="*/ 235 w 649"/>
                  <a:gd name="T15" fmla="*/ 28 h 401"/>
                  <a:gd name="T16" fmla="*/ 290 w 649"/>
                  <a:gd name="T17" fmla="*/ 42 h 401"/>
                  <a:gd name="T18" fmla="*/ 345 w 649"/>
                  <a:gd name="T19" fmla="*/ 42 h 401"/>
                  <a:gd name="T20" fmla="*/ 373 w 649"/>
                  <a:gd name="T21" fmla="*/ 28 h 401"/>
                  <a:gd name="T22" fmla="*/ 387 w 649"/>
                  <a:gd name="T23" fmla="*/ 0 h 401"/>
                  <a:gd name="T24" fmla="*/ 428 w 649"/>
                  <a:gd name="T25" fmla="*/ 0 h 401"/>
                  <a:gd name="T26" fmla="*/ 469 w 649"/>
                  <a:gd name="T27" fmla="*/ 0 h 401"/>
                  <a:gd name="T28" fmla="*/ 497 w 649"/>
                  <a:gd name="T29" fmla="*/ 0 h 401"/>
                  <a:gd name="T30" fmla="*/ 525 w 649"/>
                  <a:gd name="T31" fmla="*/ 14 h 401"/>
                  <a:gd name="T32" fmla="*/ 538 w 649"/>
                  <a:gd name="T33" fmla="*/ 28 h 401"/>
                  <a:gd name="T34" fmla="*/ 566 w 649"/>
                  <a:gd name="T35" fmla="*/ 42 h 401"/>
                  <a:gd name="T36" fmla="*/ 607 w 649"/>
                  <a:gd name="T37" fmla="*/ 69 h 401"/>
                  <a:gd name="T38" fmla="*/ 635 w 649"/>
                  <a:gd name="T39" fmla="*/ 125 h 401"/>
                  <a:gd name="T40" fmla="*/ 649 w 649"/>
                  <a:gd name="T41" fmla="*/ 194 h 401"/>
                  <a:gd name="T42" fmla="*/ 649 w 649"/>
                  <a:gd name="T43" fmla="*/ 249 h 401"/>
                  <a:gd name="T44" fmla="*/ 649 w 649"/>
                  <a:gd name="T45" fmla="*/ 276 h 401"/>
                  <a:gd name="T46" fmla="*/ 635 w 649"/>
                  <a:gd name="T47" fmla="*/ 345 h 401"/>
                  <a:gd name="T48" fmla="*/ 594 w 649"/>
                  <a:gd name="T49" fmla="*/ 387 h 401"/>
                  <a:gd name="T50" fmla="*/ 552 w 649"/>
                  <a:gd name="T51" fmla="*/ 401 h 401"/>
                  <a:gd name="T52" fmla="*/ 497 w 649"/>
                  <a:gd name="T53" fmla="*/ 387 h 401"/>
                  <a:gd name="T54" fmla="*/ 456 w 649"/>
                  <a:gd name="T55" fmla="*/ 387 h 401"/>
                  <a:gd name="T56" fmla="*/ 414 w 649"/>
                  <a:gd name="T57" fmla="*/ 373 h 401"/>
                  <a:gd name="T58" fmla="*/ 373 w 649"/>
                  <a:gd name="T59" fmla="*/ 373 h 401"/>
                  <a:gd name="T60" fmla="*/ 318 w 649"/>
                  <a:gd name="T61" fmla="*/ 373 h 401"/>
                  <a:gd name="T62" fmla="*/ 276 w 649"/>
                  <a:gd name="T63" fmla="*/ 373 h 401"/>
                  <a:gd name="T64" fmla="*/ 249 w 649"/>
                  <a:gd name="T65" fmla="*/ 373 h 401"/>
                  <a:gd name="T66" fmla="*/ 221 w 649"/>
                  <a:gd name="T67" fmla="*/ 373 h 401"/>
                  <a:gd name="T68" fmla="*/ 180 w 649"/>
                  <a:gd name="T69" fmla="*/ 387 h 401"/>
                  <a:gd name="T70" fmla="*/ 152 w 649"/>
                  <a:gd name="T71" fmla="*/ 387 h 401"/>
                  <a:gd name="T72" fmla="*/ 124 w 649"/>
                  <a:gd name="T73" fmla="*/ 387 h 401"/>
                  <a:gd name="T74" fmla="*/ 97 w 649"/>
                  <a:gd name="T75" fmla="*/ 387 h 401"/>
                  <a:gd name="T76" fmla="*/ 69 w 649"/>
                  <a:gd name="T77" fmla="*/ 373 h 401"/>
                  <a:gd name="T78" fmla="*/ 55 w 649"/>
                  <a:gd name="T79" fmla="*/ 373 h 401"/>
                  <a:gd name="T80" fmla="*/ 42 w 649"/>
                  <a:gd name="T81" fmla="*/ 359 h 401"/>
                  <a:gd name="T82" fmla="*/ 42 w 649"/>
                  <a:gd name="T83" fmla="*/ 345 h 401"/>
                  <a:gd name="T84" fmla="*/ 28 w 649"/>
                  <a:gd name="T85" fmla="*/ 318 h 401"/>
                  <a:gd name="T86" fmla="*/ 0 w 649"/>
                  <a:gd name="T87" fmla="*/ 263 h 401"/>
                  <a:gd name="T88" fmla="*/ 0 w 649"/>
                  <a:gd name="T89" fmla="*/ 235 h 401"/>
                  <a:gd name="T90" fmla="*/ 0 w 649"/>
                  <a:gd name="T91" fmla="*/ 194 h 401"/>
                  <a:gd name="T92" fmla="*/ 0 w 649"/>
                  <a:gd name="T93" fmla="*/ 152 h 401"/>
                  <a:gd name="T94" fmla="*/ 0 w 649"/>
                  <a:gd name="T95" fmla="*/ 111 h 401"/>
                  <a:gd name="T96" fmla="*/ 14 w 649"/>
                  <a:gd name="T97" fmla="*/ 97 h 401"/>
                  <a:gd name="T98" fmla="*/ 14 w 649"/>
                  <a:gd name="T99" fmla="*/ 97 h 401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w 649"/>
                  <a:gd name="T151" fmla="*/ 0 h 401"/>
                  <a:gd name="T152" fmla="*/ 649 w 649"/>
                  <a:gd name="T153" fmla="*/ 401 h 401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T150" t="T151" r="T152" b="T153"/>
                <a:pathLst>
                  <a:path w="649" h="401">
                    <a:moveTo>
                      <a:pt x="14" y="97"/>
                    </a:moveTo>
                    <a:lnTo>
                      <a:pt x="28" y="69"/>
                    </a:lnTo>
                    <a:lnTo>
                      <a:pt x="55" y="42"/>
                    </a:lnTo>
                    <a:lnTo>
                      <a:pt x="97" y="28"/>
                    </a:lnTo>
                    <a:lnTo>
                      <a:pt x="124" y="28"/>
                    </a:lnTo>
                    <a:lnTo>
                      <a:pt x="152" y="28"/>
                    </a:lnTo>
                    <a:lnTo>
                      <a:pt x="193" y="28"/>
                    </a:lnTo>
                    <a:lnTo>
                      <a:pt x="235" y="28"/>
                    </a:lnTo>
                    <a:lnTo>
                      <a:pt x="290" y="42"/>
                    </a:lnTo>
                    <a:lnTo>
                      <a:pt x="345" y="42"/>
                    </a:lnTo>
                    <a:lnTo>
                      <a:pt x="373" y="28"/>
                    </a:lnTo>
                    <a:lnTo>
                      <a:pt x="387" y="0"/>
                    </a:lnTo>
                    <a:lnTo>
                      <a:pt x="428" y="0"/>
                    </a:lnTo>
                    <a:lnTo>
                      <a:pt x="469" y="0"/>
                    </a:lnTo>
                    <a:lnTo>
                      <a:pt x="497" y="0"/>
                    </a:lnTo>
                    <a:lnTo>
                      <a:pt x="525" y="14"/>
                    </a:lnTo>
                    <a:lnTo>
                      <a:pt x="538" y="28"/>
                    </a:lnTo>
                    <a:lnTo>
                      <a:pt x="566" y="42"/>
                    </a:lnTo>
                    <a:lnTo>
                      <a:pt x="607" y="69"/>
                    </a:lnTo>
                    <a:lnTo>
                      <a:pt x="635" y="125"/>
                    </a:lnTo>
                    <a:lnTo>
                      <a:pt x="649" y="194"/>
                    </a:lnTo>
                    <a:lnTo>
                      <a:pt x="649" y="249"/>
                    </a:lnTo>
                    <a:lnTo>
                      <a:pt x="649" y="276"/>
                    </a:lnTo>
                    <a:lnTo>
                      <a:pt x="635" y="345"/>
                    </a:lnTo>
                    <a:lnTo>
                      <a:pt x="594" y="387"/>
                    </a:lnTo>
                    <a:lnTo>
                      <a:pt x="552" y="401"/>
                    </a:lnTo>
                    <a:lnTo>
                      <a:pt x="497" y="387"/>
                    </a:lnTo>
                    <a:lnTo>
                      <a:pt x="456" y="387"/>
                    </a:lnTo>
                    <a:lnTo>
                      <a:pt x="414" y="373"/>
                    </a:lnTo>
                    <a:lnTo>
                      <a:pt x="373" y="373"/>
                    </a:lnTo>
                    <a:lnTo>
                      <a:pt x="318" y="373"/>
                    </a:lnTo>
                    <a:lnTo>
                      <a:pt x="276" y="373"/>
                    </a:lnTo>
                    <a:lnTo>
                      <a:pt x="249" y="373"/>
                    </a:lnTo>
                    <a:lnTo>
                      <a:pt x="221" y="373"/>
                    </a:lnTo>
                    <a:lnTo>
                      <a:pt x="180" y="387"/>
                    </a:lnTo>
                    <a:lnTo>
                      <a:pt x="152" y="387"/>
                    </a:lnTo>
                    <a:lnTo>
                      <a:pt x="124" y="387"/>
                    </a:lnTo>
                    <a:lnTo>
                      <a:pt x="97" y="387"/>
                    </a:lnTo>
                    <a:lnTo>
                      <a:pt x="69" y="373"/>
                    </a:lnTo>
                    <a:lnTo>
                      <a:pt x="55" y="373"/>
                    </a:lnTo>
                    <a:lnTo>
                      <a:pt x="42" y="359"/>
                    </a:lnTo>
                    <a:lnTo>
                      <a:pt x="42" y="345"/>
                    </a:lnTo>
                    <a:lnTo>
                      <a:pt x="28" y="318"/>
                    </a:lnTo>
                    <a:lnTo>
                      <a:pt x="0" y="263"/>
                    </a:lnTo>
                    <a:lnTo>
                      <a:pt x="0" y="235"/>
                    </a:lnTo>
                    <a:lnTo>
                      <a:pt x="0" y="194"/>
                    </a:lnTo>
                    <a:lnTo>
                      <a:pt x="0" y="152"/>
                    </a:lnTo>
                    <a:lnTo>
                      <a:pt x="0" y="111"/>
                    </a:lnTo>
                    <a:lnTo>
                      <a:pt x="14" y="97"/>
                    </a:lnTo>
                    <a:close/>
                  </a:path>
                </a:pathLst>
              </a:custGeom>
              <a:solidFill>
                <a:srgbClr val="FFDC99"/>
              </a:solidFill>
              <a:ln w="31750">
                <a:solidFill>
                  <a:srgbClr val="FFDC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020" name="Freeform 21">
                <a:extLst>
                  <a:ext uri="{FF2B5EF4-FFF2-40B4-BE49-F238E27FC236}">
                    <a16:creationId xmlns:a16="http://schemas.microsoft.com/office/drawing/2014/main" id="{8C8C8310-7ACB-40C2-890F-4417BD08BE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30" y="2651"/>
                <a:ext cx="855" cy="524"/>
              </a:xfrm>
              <a:custGeom>
                <a:avLst/>
                <a:gdLst>
                  <a:gd name="T0" fmla="*/ 28 w 855"/>
                  <a:gd name="T1" fmla="*/ 124 h 524"/>
                  <a:gd name="T2" fmla="*/ 41 w 855"/>
                  <a:gd name="T3" fmla="*/ 97 h 524"/>
                  <a:gd name="T4" fmla="*/ 97 w 855"/>
                  <a:gd name="T5" fmla="*/ 55 h 524"/>
                  <a:gd name="T6" fmla="*/ 138 w 855"/>
                  <a:gd name="T7" fmla="*/ 41 h 524"/>
                  <a:gd name="T8" fmla="*/ 179 w 855"/>
                  <a:gd name="T9" fmla="*/ 41 h 524"/>
                  <a:gd name="T10" fmla="*/ 207 w 855"/>
                  <a:gd name="T11" fmla="*/ 41 h 524"/>
                  <a:gd name="T12" fmla="*/ 262 w 855"/>
                  <a:gd name="T13" fmla="*/ 41 h 524"/>
                  <a:gd name="T14" fmla="*/ 317 w 855"/>
                  <a:gd name="T15" fmla="*/ 41 h 524"/>
                  <a:gd name="T16" fmla="*/ 386 w 855"/>
                  <a:gd name="T17" fmla="*/ 55 h 524"/>
                  <a:gd name="T18" fmla="*/ 455 w 855"/>
                  <a:gd name="T19" fmla="*/ 55 h 524"/>
                  <a:gd name="T20" fmla="*/ 483 w 855"/>
                  <a:gd name="T21" fmla="*/ 28 h 524"/>
                  <a:gd name="T22" fmla="*/ 510 w 855"/>
                  <a:gd name="T23" fmla="*/ 14 h 524"/>
                  <a:gd name="T24" fmla="*/ 566 w 855"/>
                  <a:gd name="T25" fmla="*/ 0 h 524"/>
                  <a:gd name="T26" fmla="*/ 621 w 855"/>
                  <a:gd name="T27" fmla="*/ 0 h 524"/>
                  <a:gd name="T28" fmla="*/ 648 w 855"/>
                  <a:gd name="T29" fmla="*/ 14 h 524"/>
                  <a:gd name="T30" fmla="*/ 690 w 855"/>
                  <a:gd name="T31" fmla="*/ 28 h 524"/>
                  <a:gd name="T32" fmla="*/ 704 w 855"/>
                  <a:gd name="T33" fmla="*/ 41 h 524"/>
                  <a:gd name="T34" fmla="*/ 745 w 855"/>
                  <a:gd name="T35" fmla="*/ 55 h 524"/>
                  <a:gd name="T36" fmla="*/ 786 w 855"/>
                  <a:gd name="T37" fmla="*/ 97 h 524"/>
                  <a:gd name="T38" fmla="*/ 842 w 855"/>
                  <a:gd name="T39" fmla="*/ 166 h 524"/>
                  <a:gd name="T40" fmla="*/ 855 w 855"/>
                  <a:gd name="T41" fmla="*/ 262 h 524"/>
                  <a:gd name="T42" fmla="*/ 855 w 855"/>
                  <a:gd name="T43" fmla="*/ 317 h 524"/>
                  <a:gd name="T44" fmla="*/ 842 w 855"/>
                  <a:gd name="T45" fmla="*/ 372 h 524"/>
                  <a:gd name="T46" fmla="*/ 828 w 855"/>
                  <a:gd name="T47" fmla="*/ 455 h 524"/>
                  <a:gd name="T48" fmla="*/ 773 w 855"/>
                  <a:gd name="T49" fmla="*/ 497 h 524"/>
                  <a:gd name="T50" fmla="*/ 717 w 855"/>
                  <a:gd name="T51" fmla="*/ 524 h 524"/>
                  <a:gd name="T52" fmla="*/ 662 w 855"/>
                  <a:gd name="T53" fmla="*/ 510 h 524"/>
                  <a:gd name="T54" fmla="*/ 593 w 855"/>
                  <a:gd name="T55" fmla="*/ 497 h 524"/>
                  <a:gd name="T56" fmla="*/ 538 w 855"/>
                  <a:gd name="T57" fmla="*/ 483 h 524"/>
                  <a:gd name="T58" fmla="*/ 483 w 855"/>
                  <a:gd name="T59" fmla="*/ 483 h 524"/>
                  <a:gd name="T60" fmla="*/ 428 w 855"/>
                  <a:gd name="T61" fmla="*/ 483 h 524"/>
                  <a:gd name="T62" fmla="*/ 372 w 855"/>
                  <a:gd name="T63" fmla="*/ 483 h 524"/>
                  <a:gd name="T64" fmla="*/ 331 w 855"/>
                  <a:gd name="T65" fmla="*/ 483 h 524"/>
                  <a:gd name="T66" fmla="*/ 290 w 855"/>
                  <a:gd name="T67" fmla="*/ 497 h 524"/>
                  <a:gd name="T68" fmla="*/ 248 w 855"/>
                  <a:gd name="T69" fmla="*/ 497 h 524"/>
                  <a:gd name="T70" fmla="*/ 207 w 855"/>
                  <a:gd name="T71" fmla="*/ 510 h 524"/>
                  <a:gd name="T72" fmla="*/ 166 w 855"/>
                  <a:gd name="T73" fmla="*/ 510 h 524"/>
                  <a:gd name="T74" fmla="*/ 138 w 855"/>
                  <a:gd name="T75" fmla="*/ 497 h 524"/>
                  <a:gd name="T76" fmla="*/ 110 w 855"/>
                  <a:gd name="T77" fmla="*/ 497 h 524"/>
                  <a:gd name="T78" fmla="*/ 83 w 855"/>
                  <a:gd name="T79" fmla="*/ 469 h 524"/>
                  <a:gd name="T80" fmla="*/ 69 w 855"/>
                  <a:gd name="T81" fmla="*/ 469 h 524"/>
                  <a:gd name="T82" fmla="*/ 55 w 855"/>
                  <a:gd name="T83" fmla="*/ 455 h 524"/>
                  <a:gd name="T84" fmla="*/ 41 w 855"/>
                  <a:gd name="T85" fmla="*/ 400 h 524"/>
                  <a:gd name="T86" fmla="*/ 14 w 855"/>
                  <a:gd name="T87" fmla="*/ 345 h 524"/>
                  <a:gd name="T88" fmla="*/ 14 w 855"/>
                  <a:gd name="T89" fmla="*/ 303 h 524"/>
                  <a:gd name="T90" fmla="*/ 0 w 855"/>
                  <a:gd name="T91" fmla="*/ 262 h 524"/>
                  <a:gd name="T92" fmla="*/ 14 w 855"/>
                  <a:gd name="T93" fmla="*/ 207 h 524"/>
                  <a:gd name="T94" fmla="*/ 14 w 855"/>
                  <a:gd name="T95" fmla="*/ 152 h 524"/>
                  <a:gd name="T96" fmla="*/ 28 w 855"/>
                  <a:gd name="T97" fmla="*/ 124 h 524"/>
                  <a:gd name="T98" fmla="*/ 28 w 855"/>
                  <a:gd name="T99" fmla="*/ 124 h 524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w 855"/>
                  <a:gd name="T151" fmla="*/ 0 h 524"/>
                  <a:gd name="T152" fmla="*/ 855 w 855"/>
                  <a:gd name="T153" fmla="*/ 524 h 524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T150" t="T151" r="T152" b="T153"/>
                <a:pathLst>
                  <a:path w="855" h="524">
                    <a:moveTo>
                      <a:pt x="28" y="124"/>
                    </a:moveTo>
                    <a:lnTo>
                      <a:pt x="41" y="97"/>
                    </a:lnTo>
                    <a:lnTo>
                      <a:pt x="97" y="55"/>
                    </a:lnTo>
                    <a:lnTo>
                      <a:pt x="138" y="41"/>
                    </a:lnTo>
                    <a:lnTo>
                      <a:pt x="179" y="41"/>
                    </a:lnTo>
                    <a:lnTo>
                      <a:pt x="207" y="41"/>
                    </a:lnTo>
                    <a:lnTo>
                      <a:pt x="262" y="41"/>
                    </a:lnTo>
                    <a:lnTo>
                      <a:pt x="317" y="41"/>
                    </a:lnTo>
                    <a:lnTo>
                      <a:pt x="386" y="55"/>
                    </a:lnTo>
                    <a:lnTo>
                      <a:pt x="455" y="55"/>
                    </a:lnTo>
                    <a:lnTo>
                      <a:pt x="483" y="28"/>
                    </a:lnTo>
                    <a:lnTo>
                      <a:pt x="510" y="14"/>
                    </a:lnTo>
                    <a:lnTo>
                      <a:pt x="566" y="0"/>
                    </a:lnTo>
                    <a:lnTo>
                      <a:pt x="621" y="0"/>
                    </a:lnTo>
                    <a:lnTo>
                      <a:pt x="648" y="14"/>
                    </a:lnTo>
                    <a:lnTo>
                      <a:pt x="690" y="28"/>
                    </a:lnTo>
                    <a:lnTo>
                      <a:pt x="704" y="41"/>
                    </a:lnTo>
                    <a:lnTo>
                      <a:pt x="745" y="55"/>
                    </a:lnTo>
                    <a:lnTo>
                      <a:pt x="786" y="97"/>
                    </a:lnTo>
                    <a:lnTo>
                      <a:pt x="842" y="166"/>
                    </a:lnTo>
                    <a:lnTo>
                      <a:pt x="855" y="262"/>
                    </a:lnTo>
                    <a:lnTo>
                      <a:pt x="855" y="317"/>
                    </a:lnTo>
                    <a:lnTo>
                      <a:pt x="842" y="372"/>
                    </a:lnTo>
                    <a:lnTo>
                      <a:pt x="828" y="455"/>
                    </a:lnTo>
                    <a:lnTo>
                      <a:pt x="773" y="497"/>
                    </a:lnTo>
                    <a:lnTo>
                      <a:pt x="717" y="524"/>
                    </a:lnTo>
                    <a:lnTo>
                      <a:pt x="662" y="510"/>
                    </a:lnTo>
                    <a:lnTo>
                      <a:pt x="593" y="497"/>
                    </a:lnTo>
                    <a:lnTo>
                      <a:pt x="538" y="483"/>
                    </a:lnTo>
                    <a:lnTo>
                      <a:pt x="483" y="483"/>
                    </a:lnTo>
                    <a:lnTo>
                      <a:pt x="428" y="483"/>
                    </a:lnTo>
                    <a:lnTo>
                      <a:pt x="372" y="483"/>
                    </a:lnTo>
                    <a:lnTo>
                      <a:pt x="331" y="483"/>
                    </a:lnTo>
                    <a:lnTo>
                      <a:pt x="290" y="497"/>
                    </a:lnTo>
                    <a:lnTo>
                      <a:pt x="248" y="497"/>
                    </a:lnTo>
                    <a:lnTo>
                      <a:pt x="207" y="510"/>
                    </a:lnTo>
                    <a:lnTo>
                      <a:pt x="166" y="510"/>
                    </a:lnTo>
                    <a:lnTo>
                      <a:pt x="138" y="497"/>
                    </a:lnTo>
                    <a:lnTo>
                      <a:pt x="110" y="497"/>
                    </a:lnTo>
                    <a:lnTo>
                      <a:pt x="83" y="469"/>
                    </a:lnTo>
                    <a:lnTo>
                      <a:pt x="69" y="469"/>
                    </a:lnTo>
                    <a:lnTo>
                      <a:pt x="55" y="455"/>
                    </a:lnTo>
                    <a:lnTo>
                      <a:pt x="41" y="400"/>
                    </a:lnTo>
                    <a:lnTo>
                      <a:pt x="14" y="345"/>
                    </a:lnTo>
                    <a:lnTo>
                      <a:pt x="14" y="303"/>
                    </a:lnTo>
                    <a:lnTo>
                      <a:pt x="0" y="262"/>
                    </a:lnTo>
                    <a:lnTo>
                      <a:pt x="14" y="207"/>
                    </a:lnTo>
                    <a:lnTo>
                      <a:pt x="14" y="152"/>
                    </a:lnTo>
                    <a:lnTo>
                      <a:pt x="28" y="124"/>
                    </a:lnTo>
                    <a:close/>
                  </a:path>
                </a:pathLst>
              </a:custGeom>
              <a:solidFill>
                <a:srgbClr val="FFDC99"/>
              </a:solidFill>
              <a:ln w="31750">
                <a:solidFill>
                  <a:srgbClr val="FFDC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021" name="Freeform 22">
                <a:extLst>
                  <a:ext uri="{FF2B5EF4-FFF2-40B4-BE49-F238E27FC236}">
                    <a16:creationId xmlns:a16="http://schemas.microsoft.com/office/drawing/2014/main" id="{55ED2CD2-6F35-4699-B95C-EF90BE66B5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89" y="2058"/>
                <a:ext cx="496" cy="427"/>
              </a:xfrm>
              <a:custGeom>
                <a:avLst/>
                <a:gdLst>
                  <a:gd name="T0" fmla="*/ 13 w 496"/>
                  <a:gd name="T1" fmla="*/ 96 h 427"/>
                  <a:gd name="T2" fmla="*/ 13 w 496"/>
                  <a:gd name="T3" fmla="*/ 82 h 427"/>
                  <a:gd name="T4" fmla="*/ 41 w 496"/>
                  <a:gd name="T5" fmla="*/ 41 h 427"/>
                  <a:gd name="T6" fmla="*/ 69 w 496"/>
                  <a:gd name="T7" fmla="*/ 27 h 427"/>
                  <a:gd name="T8" fmla="*/ 96 w 496"/>
                  <a:gd name="T9" fmla="*/ 27 h 427"/>
                  <a:gd name="T10" fmla="*/ 110 w 496"/>
                  <a:gd name="T11" fmla="*/ 27 h 427"/>
                  <a:gd name="T12" fmla="*/ 138 w 496"/>
                  <a:gd name="T13" fmla="*/ 27 h 427"/>
                  <a:gd name="T14" fmla="*/ 179 w 496"/>
                  <a:gd name="T15" fmla="*/ 41 h 427"/>
                  <a:gd name="T16" fmla="*/ 220 w 496"/>
                  <a:gd name="T17" fmla="*/ 41 h 427"/>
                  <a:gd name="T18" fmla="*/ 248 w 496"/>
                  <a:gd name="T19" fmla="*/ 41 h 427"/>
                  <a:gd name="T20" fmla="*/ 275 w 496"/>
                  <a:gd name="T21" fmla="*/ 27 h 427"/>
                  <a:gd name="T22" fmla="*/ 289 w 496"/>
                  <a:gd name="T23" fmla="*/ 13 h 427"/>
                  <a:gd name="T24" fmla="*/ 317 w 496"/>
                  <a:gd name="T25" fmla="*/ 0 h 427"/>
                  <a:gd name="T26" fmla="*/ 344 w 496"/>
                  <a:gd name="T27" fmla="*/ 0 h 427"/>
                  <a:gd name="T28" fmla="*/ 372 w 496"/>
                  <a:gd name="T29" fmla="*/ 0 h 427"/>
                  <a:gd name="T30" fmla="*/ 400 w 496"/>
                  <a:gd name="T31" fmla="*/ 13 h 427"/>
                  <a:gd name="T32" fmla="*/ 413 w 496"/>
                  <a:gd name="T33" fmla="*/ 27 h 427"/>
                  <a:gd name="T34" fmla="*/ 427 w 496"/>
                  <a:gd name="T35" fmla="*/ 41 h 427"/>
                  <a:gd name="T36" fmla="*/ 455 w 496"/>
                  <a:gd name="T37" fmla="*/ 82 h 427"/>
                  <a:gd name="T38" fmla="*/ 482 w 496"/>
                  <a:gd name="T39" fmla="*/ 138 h 427"/>
                  <a:gd name="T40" fmla="*/ 482 w 496"/>
                  <a:gd name="T41" fmla="*/ 220 h 427"/>
                  <a:gd name="T42" fmla="*/ 496 w 496"/>
                  <a:gd name="T43" fmla="*/ 262 h 427"/>
                  <a:gd name="T44" fmla="*/ 482 w 496"/>
                  <a:gd name="T45" fmla="*/ 303 h 427"/>
                  <a:gd name="T46" fmla="*/ 469 w 496"/>
                  <a:gd name="T47" fmla="*/ 372 h 427"/>
                  <a:gd name="T48" fmla="*/ 441 w 496"/>
                  <a:gd name="T49" fmla="*/ 414 h 427"/>
                  <a:gd name="T50" fmla="*/ 413 w 496"/>
                  <a:gd name="T51" fmla="*/ 427 h 427"/>
                  <a:gd name="T52" fmla="*/ 372 w 496"/>
                  <a:gd name="T53" fmla="*/ 427 h 427"/>
                  <a:gd name="T54" fmla="*/ 344 w 496"/>
                  <a:gd name="T55" fmla="*/ 414 h 427"/>
                  <a:gd name="T56" fmla="*/ 303 w 496"/>
                  <a:gd name="T57" fmla="*/ 400 h 427"/>
                  <a:gd name="T58" fmla="*/ 275 w 496"/>
                  <a:gd name="T59" fmla="*/ 400 h 427"/>
                  <a:gd name="T60" fmla="*/ 248 w 496"/>
                  <a:gd name="T61" fmla="*/ 400 h 427"/>
                  <a:gd name="T62" fmla="*/ 207 w 496"/>
                  <a:gd name="T63" fmla="*/ 400 h 427"/>
                  <a:gd name="T64" fmla="*/ 179 w 496"/>
                  <a:gd name="T65" fmla="*/ 400 h 427"/>
                  <a:gd name="T66" fmla="*/ 165 w 496"/>
                  <a:gd name="T67" fmla="*/ 414 h 427"/>
                  <a:gd name="T68" fmla="*/ 138 w 496"/>
                  <a:gd name="T69" fmla="*/ 414 h 427"/>
                  <a:gd name="T70" fmla="*/ 110 w 496"/>
                  <a:gd name="T71" fmla="*/ 414 h 427"/>
                  <a:gd name="T72" fmla="*/ 96 w 496"/>
                  <a:gd name="T73" fmla="*/ 414 h 427"/>
                  <a:gd name="T74" fmla="*/ 69 w 496"/>
                  <a:gd name="T75" fmla="*/ 414 h 427"/>
                  <a:gd name="T76" fmla="*/ 55 w 496"/>
                  <a:gd name="T77" fmla="*/ 414 h 427"/>
                  <a:gd name="T78" fmla="*/ 41 w 496"/>
                  <a:gd name="T79" fmla="*/ 400 h 427"/>
                  <a:gd name="T80" fmla="*/ 27 w 496"/>
                  <a:gd name="T81" fmla="*/ 386 h 427"/>
                  <a:gd name="T82" fmla="*/ 27 w 496"/>
                  <a:gd name="T83" fmla="*/ 372 h 427"/>
                  <a:gd name="T84" fmla="*/ 13 w 496"/>
                  <a:gd name="T85" fmla="*/ 345 h 427"/>
                  <a:gd name="T86" fmla="*/ 0 w 496"/>
                  <a:gd name="T87" fmla="*/ 289 h 427"/>
                  <a:gd name="T88" fmla="*/ 0 w 496"/>
                  <a:gd name="T89" fmla="*/ 248 h 427"/>
                  <a:gd name="T90" fmla="*/ 0 w 496"/>
                  <a:gd name="T91" fmla="*/ 207 h 427"/>
                  <a:gd name="T92" fmla="*/ 0 w 496"/>
                  <a:gd name="T93" fmla="*/ 165 h 427"/>
                  <a:gd name="T94" fmla="*/ 0 w 496"/>
                  <a:gd name="T95" fmla="*/ 124 h 427"/>
                  <a:gd name="T96" fmla="*/ 13 w 496"/>
                  <a:gd name="T97" fmla="*/ 96 h 427"/>
                  <a:gd name="T98" fmla="*/ 13 w 496"/>
                  <a:gd name="T99" fmla="*/ 96 h 427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w 496"/>
                  <a:gd name="T151" fmla="*/ 0 h 427"/>
                  <a:gd name="T152" fmla="*/ 496 w 496"/>
                  <a:gd name="T153" fmla="*/ 427 h 427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T150" t="T151" r="T152" b="T153"/>
                <a:pathLst>
                  <a:path w="496" h="427">
                    <a:moveTo>
                      <a:pt x="13" y="96"/>
                    </a:moveTo>
                    <a:lnTo>
                      <a:pt x="13" y="82"/>
                    </a:lnTo>
                    <a:lnTo>
                      <a:pt x="41" y="41"/>
                    </a:lnTo>
                    <a:lnTo>
                      <a:pt x="69" y="27"/>
                    </a:lnTo>
                    <a:lnTo>
                      <a:pt x="96" y="27"/>
                    </a:lnTo>
                    <a:lnTo>
                      <a:pt x="110" y="27"/>
                    </a:lnTo>
                    <a:lnTo>
                      <a:pt x="138" y="27"/>
                    </a:lnTo>
                    <a:lnTo>
                      <a:pt x="179" y="41"/>
                    </a:lnTo>
                    <a:lnTo>
                      <a:pt x="220" y="41"/>
                    </a:lnTo>
                    <a:lnTo>
                      <a:pt x="248" y="41"/>
                    </a:lnTo>
                    <a:lnTo>
                      <a:pt x="275" y="27"/>
                    </a:lnTo>
                    <a:lnTo>
                      <a:pt x="289" y="13"/>
                    </a:lnTo>
                    <a:lnTo>
                      <a:pt x="317" y="0"/>
                    </a:lnTo>
                    <a:lnTo>
                      <a:pt x="344" y="0"/>
                    </a:lnTo>
                    <a:lnTo>
                      <a:pt x="372" y="0"/>
                    </a:lnTo>
                    <a:lnTo>
                      <a:pt x="400" y="13"/>
                    </a:lnTo>
                    <a:lnTo>
                      <a:pt x="413" y="27"/>
                    </a:lnTo>
                    <a:lnTo>
                      <a:pt x="427" y="41"/>
                    </a:lnTo>
                    <a:lnTo>
                      <a:pt x="455" y="82"/>
                    </a:lnTo>
                    <a:lnTo>
                      <a:pt x="482" y="138"/>
                    </a:lnTo>
                    <a:lnTo>
                      <a:pt x="482" y="220"/>
                    </a:lnTo>
                    <a:lnTo>
                      <a:pt x="496" y="262"/>
                    </a:lnTo>
                    <a:lnTo>
                      <a:pt x="482" y="303"/>
                    </a:lnTo>
                    <a:lnTo>
                      <a:pt x="469" y="372"/>
                    </a:lnTo>
                    <a:lnTo>
                      <a:pt x="441" y="414"/>
                    </a:lnTo>
                    <a:lnTo>
                      <a:pt x="413" y="427"/>
                    </a:lnTo>
                    <a:lnTo>
                      <a:pt x="372" y="427"/>
                    </a:lnTo>
                    <a:lnTo>
                      <a:pt x="344" y="414"/>
                    </a:lnTo>
                    <a:lnTo>
                      <a:pt x="303" y="400"/>
                    </a:lnTo>
                    <a:lnTo>
                      <a:pt x="275" y="400"/>
                    </a:lnTo>
                    <a:lnTo>
                      <a:pt x="248" y="400"/>
                    </a:lnTo>
                    <a:lnTo>
                      <a:pt x="207" y="400"/>
                    </a:lnTo>
                    <a:lnTo>
                      <a:pt x="179" y="400"/>
                    </a:lnTo>
                    <a:lnTo>
                      <a:pt x="165" y="414"/>
                    </a:lnTo>
                    <a:lnTo>
                      <a:pt x="138" y="414"/>
                    </a:lnTo>
                    <a:lnTo>
                      <a:pt x="110" y="414"/>
                    </a:lnTo>
                    <a:lnTo>
                      <a:pt x="96" y="414"/>
                    </a:lnTo>
                    <a:lnTo>
                      <a:pt x="69" y="414"/>
                    </a:lnTo>
                    <a:lnTo>
                      <a:pt x="55" y="414"/>
                    </a:lnTo>
                    <a:lnTo>
                      <a:pt x="41" y="400"/>
                    </a:lnTo>
                    <a:lnTo>
                      <a:pt x="27" y="386"/>
                    </a:lnTo>
                    <a:lnTo>
                      <a:pt x="27" y="372"/>
                    </a:lnTo>
                    <a:lnTo>
                      <a:pt x="13" y="345"/>
                    </a:lnTo>
                    <a:lnTo>
                      <a:pt x="0" y="289"/>
                    </a:lnTo>
                    <a:lnTo>
                      <a:pt x="0" y="248"/>
                    </a:lnTo>
                    <a:lnTo>
                      <a:pt x="0" y="207"/>
                    </a:lnTo>
                    <a:lnTo>
                      <a:pt x="0" y="165"/>
                    </a:lnTo>
                    <a:lnTo>
                      <a:pt x="0" y="124"/>
                    </a:lnTo>
                    <a:lnTo>
                      <a:pt x="13" y="96"/>
                    </a:lnTo>
                    <a:close/>
                  </a:path>
                </a:pathLst>
              </a:custGeom>
              <a:solidFill>
                <a:srgbClr val="FFDC99"/>
              </a:solidFill>
              <a:ln w="31750">
                <a:solidFill>
                  <a:srgbClr val="FFDC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022" name="Freeform 23">
                <a:extLst>
                  <a:ext uri="{FF2B5EF4-FFF2-40B4-BE49-F238E27FC236}">
                    <a16:creationId xmlns:a16="http://schemas.microsoft.com/office/drawing/2014/main" id="{D20F3BFC-3825-4BA0-ACF1-0F1868FFF4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7" y="1368"/>
                <a:ext cx="386" cy="331"/>
              </a:xfrm>
              <a:custGeom>
                <a:avLst/>
                <a:gdLst>
                  <a:gd name="T0" fmla="*/ 0 w 386"/>
                  <a:gd name="T1" fmla="*/ 83 h 331"/>
                  <a:gd name="T2" fmla="*/ 14 w 386"/>
                  <a:gd name="T3" fmla="*/ 55 h 331"/>
                  <a:gd name="T4" fmla="*/ 28 w 386"/>
                  <a:gd name="T5" fmla="*/ 27 h 331"/>
                  <a:gd name="T6" fmla="*/ 55 w 386"/>
                  <a:gd name="T7" fmla="*/ 27 h 331"/>
                  <a:gd name="T8" fmla="*/ 69 w 386"/>
                  <a:gd name="T9" fmla="*/ 27 h 331"/>
                  <a:gd name="T10" fmla="*/ 83 w 386"/>
                  <a:gd name="T11" fmla="*/ 27 h 331"/>
                  <a:gd name="T12" fmla="*/ 111 w 386"/>
                  <a:gd name="T13" fmla="*/ 27 h 331"/>
                  <a:gd name="T14" fmla="*/ 138 w 386"/>
                  <a:gd name="T15" fmla="*/ 27 h 331"/>
                  <a:gd name="T16" fmla="*/ 166 w 386"/>
                  <a:gd name="T17" fmla="*/ 27 h 331"/>
                  <a:gd name="T18" fmla="*/ 193 w 386"/>
                  <a:gd name="T19" fmla="*/ 27 h 331"/>
                  <a:gd name="T20" fmla="*/ 207 w 386"/>
                  <a:gd name="T21" fmla="*/ 14 h 331"/>
                  <a:gd name="T22" fmla="*/ 221 w 386"/>
                  <a:gd name="T23" fmla="*/ 0 h 331"/>
                  <a:gd name="T24" fmla="*/ 249 w 386"/>
                  <a:gd name="T25" fmla="*/ 0 h 331"/>
                  <a:gd name="T26" fmla="*/ 276 w 386"/>
                  <a:gd name="T27" fmla="*/ 0 h 331"/>
                  <a:gd name="T28" fmla="*/ 290 w 386"/>
                  <a:gd name="T29" fmla="*/ 0 h 331"/>
                  <a:gd name="T30" fmla="*/ 304 w 386"/>
                  <a:gd name="T31" fmla="*/ 14 h 331"/>
                  <a:gd name="T32" fmla="*/ 317 w 386"/>
                  <a:gd name="T33" fmla="*/ 14 h 331"/>
                  <a:gd name="T34" fmla="*/ 331 w 386"/>
                  <a:gd name="T35" fmla="*/ 27 h 331"/>
                  <a:gd name="T36" fmla="*/ 359 w 386"/>
                  <a:gd name="T37" fmla="*/ 55 h 331"/>
                  <a:gd name="T38" fmla="*/ 373 w 386"/>
                  <a:gd name="T39" fmla="*/ 110 h 331"/>
                  <a:gd name="T40" fmla="*/ 386 w 386"/>
                  <a:gd name="T41" fmla="*/ 165 h 331"/>
                  <a:gd name="T42" fmla="*/ 386 w 386"/>
                  <a:gd name="T43" fmla="*/ 207 h 331"/>
                  <a:gd name="T44" fmla="*/ 373 w 386"/>
                  <a:gd name="T45" fmla="*/ 234 h 331"/>
                  <a:gd name="T46" fmla="*/ 373 w 386"/>
                  <a:gd name="T47" fmla="*/ 289 h 331"/>
                  <a:gd name="T48" fmla="*/ 345 w 386"/>
                  <a:gd name="T49" fmla="*/ 317 h 331"/>
                  <a:gd name="T50" fmla="*/ 317 w 386"/>
                  <a:gd name="T51" fmla="*/ 331 h 331"/>
                  <a:gd name="T52" fmla="*/ 290 w 386"/>
                  <a:gd name="T53" fmla="*/ 331 h 331"/>
                  <a:gd name="T54" fmla="*/ 262 w 386"/>
                  <a:gd name="T55" fmla="*/ 317 h 331"/>
                  <a:gd name="T56" fmla="*/ 235 w 386"/>
                  <a:gd name="T57" fmla="*/ 317 h 331"/>
                  <a:gd name="T58" fmla="*/ 207 w 386"/>
                  <a:gd name="T59" fmla="*/ 303 h 331"/>
                  <a:gd name="T60" fmla="*/ 193 w 386"/>
                  <a:gd name="T61" fmla="*/ 303 h 331"/>
                  <a:gd name="T62" fmla="*/ 166 w 386"/>
                  <a:gd name="T63" fmla="*/ 303 h 331"/>
                  <a:gd name="T64" fmla="*/ 138 w 386"/>
                  <a:gd name="T65" fmla="*/ 317 h 331"/>
                  <a:gd name="T66" fmla="*/ 124 w 386"/>
                  <a:gd name="T67" fmla="*/ 317 h 331"/>
                  <a:gd name="T68" fmla="*/ 111 w 386"/>
                  <a:gd name="T69" fmla="*/ 317 h 331"/>
                  <a:gd name="T70" fmla="*/ 83 w 386"/>
                  <a:gd name="T71" fmla="*/ 317 h 331"/>
                  <a:gd name="T72" fmla="*/ 69 w 386"/>
                  <a:gd name="T73" fmla="*/ 331 h 331"/>
                  <a:gd name="T74" fmla="*/ 55 w 386"/>
                  <a:gd name="T75" fmla="*/ 317 h 331"/>
                  <a:gd name="T76" fmla="*/ 42 w 386"/>
                  <a:gd name="T77" fmla="*/ 317 h 331"/>
                  <a:gd name="T78" fmla="*/ 28 w 386"/>
                  <a:gd name="T79" fmla="*/ 303 h 331"/>
                  <a:gd name="T80" fmla="*/ 28 w 386"/>
                  <a:gd name="T81" fmla="*/ 303 h 331"/>
                  <a:gd name="T82" fmla="*/ 14 w 386"/>
                  <a:gd name="T83" fmla="*/ 289 h 331"/>
                  <a:gd name="T84" fmla="*/ 14 w 386"/>
                  <a:gd name="T85" fmla="*/ 262 h 331"/>
                  <a:gd name="T86" fmla="*/ 0 w 386"/>
                  <a:gd name="T87" fmla="*/ 220 h 331"/>
                  <a:gd name="T88" fmla="*/ 0 w 386"/>
                  <a:gd name="T89" fmla="*/ 193 h 331"/>
                  <a:gd name="T90" fmla="*/ 0 w 386"/>
                  <a:gd name="T91" fmla="*/ 165 h 331"/>
                  <a:gd name="T92" fmla="*/ 0 w 386"/>
                  <a:gd name="T93" fmla="*/ 124 h 331"/>
                  <a:gd name="T94" fmla="*/ 0 w 386"/>
                  <a:gd name="T95" fmla="*/ 96 h 331"/>
                  <a:gd name="T96" fmla="*/ 0 w 386"/>
                  <a:gd name="T97" fmla="*/ 83 h 331"/>
                  <a:gd name="T98" fmla="*/ 0 w 386"/>
                  <a:gd name="T99" fmla="*/ 83 h 331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w 386"/>
                  <a:gd name="T151" fmla="*/ 0 h 331"/>
                  <a:gd name="T152" fmla="*/ 386 w 386"/>
                  <a:gd name="T153" fmla="*/ 331 h 331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T150" t="T151" r="T152" b="T153"/>
                <a:pathLst>
                  <a:path w="386" h="331">
                    <a:moveTo>
                      <a:pt x="0" y="83"/>
                    </a:moveTo>
                    <a:lnTo>
                      <a:pt x="14" y="55"/>
                    </a:lnTo>
                    <a:lnTo>
                      <a:pt x="28" y="27"/>
                    </a:lnTo>
                    <a:lnTo>
                      <a:pt x="55" y="27"/>
                    </a:lnTo>
                    <a:lnTo>
                      <a:pt x="69" y="27"/>
                    </a:lnTo>
                    <a:lnTo>
                      <a:pt x="83" y="27"/>
                    </a:lnTo>
                    <a:lnTo>
                      <a:pt x="111" y="27"/>
                    </a:lnTo>
                    <a:lnTo>
                      <a:pt x="138" y="27"/>
                    </a:lnTo>
                    <a:lnTo>
                      <a:pt x="166" y="27"/>
                    </a:lnTo>
                    <a:lnTo>
                      <a:pt x="193" y="27"/>
                    </a:lnTo>
                    <a:lnTo>
                      <a:pt x="207" y="14"/>
                    </a:lnTo>
                    <a:lnTo>
                      <a:pt x="221" y="0"/>
                    </a:lnTo>
                    <a:lnTo>
                      <a:pt x="249" y="0"/>
                    </a:lnTo>
                    <a:lnTo>
                      <a:pt x="276" y="0"/>
                    </a:lnTo>
                    <a:lnTo>
                      <a:pt x="290" y="0"/>
                    </a:lnTo>
                    <a:lnTo>
                      <a:pt x="304" y="14"/>
                    </a:lnTo>
                    <a:lnTo>
                      <a:pt x="317" y="14"/>
                    </a:lnTo>
                    <a:lnTo>
                      <a:pt x="331" y="27"/>
                    </a:lnTo>
                    <a:lnTo>
                      <a:pt x="359" y="55"/>
                    </a:lnTo>
                    <a:lnTo>
                      <a:pt x="373" y="110"/>
                    </a:lnTo>
                    <a:lnTo>
                      <a:pt x="386" y="165"/>
                    </a:lnTo>
                    <a:lnTo>
                      <a:pt x="386" y="207"/>
                    </a:lnTo>
                    <a:lnTo>
                      <a:pt x="373" y="234"/>
                    </a:lnTo>
                    <a:lnTo>
                      <a:pt x="373" y="289"/>
                    </a:lnTo>
                    <a:lnTo>
                      <a:pt x="345" y="317"/>
                    </a:lnTo>
                    <a:lnTo>
                      <a:pt x="317" y="331"/>
                    </a:lnTo>
                    <a:lnTo>
                      <a:pt x="290" y="331"/>
                    </a:lnTo>
                    <a:lnTo>
                      <a:pt x="262" y="317"/>
                    </a:lnTo>
                    <a:lnTo>
                      <a:pt x="235" y="317"/>
                    </a:lnTo>
                    <a:lnTo>
                      <a:pt x="207" y="303"/>
                    </a:lnTo>
                    <a:lnTo>
                      <a:pt x="193" y="303"/>
                    </a:lnTo>
                    <a:lnTo>
                      <a:pt x="166" y="303"/>
                    </a:lnTo>
                    <a:lnTo>
                      <a:pt x="138" y="317"/>
                    </a:lnTo>
                    <a:lnTo>
                      <a:pt x="124" y="317"/>
                    </a:lnTo>
                    <a:lnTo>
                      <a:pt x="111" y="317"/>
                    </a:lnTo>
                    <a:lnTo>
                      <a:pt x="83" y="317"/>
                    </a:lnTo>
                    <a:lnTo>
                      <a:pt x="69" y="331"/>
                    </a:lnTo>
                    <a:lnTo>
                      <a:pt x="55" y="317"/>
                    </a:lnTo>
                    <a:lnTo>
                      <a:pt x="42" y="317"/>
                    </a:lnTo>
                    <a:lnTo>
                      <a:pt x="28" y="303"/>
                    </a:lnTo>
                    <a:lnTo>
                      <a:pt x="14" y="289"/>
                    </a:lnTo>
                    <a:lnTo>
                      <a:pt x="14" y="262"/>
                    </a:lnTo>
                    <a:lnTo>
                      <a:pt x="0" y="220"/>
                    </a:lnTo>
                    <a:lnTo>
                      <a:pt x="0" y="193"/>
                    </a:lnTo>
                    <a:lnTo>
                      <a:pt x="0" y="165"/>
                    </a:lnTo>
                    <a:lnTo>
                      <a:pt x="0" y="124"/>
                    </a:lnTo>
                    <a:lnTo>
                      <a:pt x="0" y="96"/>
                    </a:lnTo>
                    <a:lnTo>
                      <a:pt x="0" y="83"/>
                    </a:lnTo>
                    <a:close/>
                  </a:path>
                </a:pathLst>
              </a:custGeom>
              <a:solidFill>
                <a:srgbClr val="FFDC99"/>
              </a:solidFill>
              <a:ln w="31750">
                <a:solidFill>
                  <a:srgbClr val="FFDC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023" name="Rectangle 24">
                <a:extLst>
                  <a:ext uri="{FF2B5EF4-FFF2-40B4-BE49-F238E27FC236}">
                    <a16:creationId xmlns:a16="http://schemas.microsoft.com/office/drawing/2014/main" id="{D5DBA214-1E1A-4D76-9AA4-F8191F66C2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" y="1498"/>
                <a:ext cx="221" cy="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ctr">
                  <a:spcBef>
                    <a:spcPct val="20000"/>
                  </a:spcBef>
                  <a:buClr>
                    <a:schemeClr val="accent2"/>
                  </a:buClr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</a:pPr>
                <a:r>
                  <a:rPr lang="en-GB" altLang="en-US" sz="1400">
                    <a:solidFill>
                      <a:srgbClr val="000000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rPr>
                  <a:t>ISP</a:t>
                </a:r>
                <a:endParaRPr lang="en-GB" altLang="en-US" sz="2400">
                  <a:latin typeface="Times" panose="02020603050405020304" pitchFamily="18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30024" name="Rectangle 25">
                <a:extLst>
                  <a:ext uri="{FF2B5EF4-FFF2-40B4-BE49-F238E27FC236}">
                    <a16:creationId xmlns:a16="http://schemas.microsoft.com/office/drawing/2014/main" id="{51CB34F2-88A0-4D77-BB0A-AE6BE0EEBC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25" y="1533"/>
                <a:ext cx="28" cy="594"/>
              </a:xfrm>
              <a:prstGeom prst="rect">
                <a:avLst/>
              </a:prstGeom>
              <a:solidFill>
                <a:srgbClr val="FFDC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algn="ctr">
                  <a:spcBef>
                    <a:spcPct val="20000"/>
                  </a:spcBef>
                  <a:buClr>
                    <a:schemeClr val="accent2"/>
                  </a:buClr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</a:pPr>
                <a:endParaRPr lang="sv-SE" altLang="en-US" sz="2400">
                  <a:ea typeface="MS PGothic" panose="020B0600070205080204" pitchFamily="34" charset="-128"/>
                </a:endParaRPr>
              </a:p>
            </p:txBody>
          </p:sp>
          <p:sp>
            <p:nvSpPr>
              <p:cNvPr id="30025" name="Rectangle 26">
                <a:extLst>
                  <a:ext uri="{FF2B5EF4-FFF2-40B4-BE49-F238E27FC236}">
                    <a16:creationId xmlns:a16="http://schemas.microsoft.com/office/drawing/2014/main" id="{5BE0500B-9489-42DB-8422-EEDE212745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25" y="1533"/>
                <a:ext cx="42" cy="607"/>
              </a:xfrm>
              <a:prstGeom prst="rect">
                <a:avLst/>
              </a:prstGeom>
              <a:noFill/>
              <a:ln w="31750">
                <a:solidFill>
                  <a:srgbClr val="FFDC99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algn="ctr">
                  <a:spcBef>
                    <a:spcPct val="20000"/>
                  </a:spcBef>
                  <a:buClr>
                    <a:schemeClr val="accent2"/>
                  </a:buClr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</a:pPr>
                <a:endParaRPr lang="sv-SE" altLang="en-US" sz="2400">
                  <a:ea typeface="MS PGothic" panose="020B0600070205080204" pitchFamily="34" charset="-128"/>
                </a:endParaRPr>
              </a:p>
            </p:txBody>
          </p:sp>
          <p:sp>
            <p:nvSpPr>
              <p:cNvPr id="30026" name="Freeform 27">
                <a:extLst>
                  <a:ext uri="{FF2B5EF4-FFF2-40B4-BE49-F238E27FC236}">
                    <a16:creationId xmlns:a16="http://schemas.microsoft.com/office/drawing/2014/main" id="{67F1320E-266B-4994-B94E-CFFD900CB4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3" y="2458"/>
                <a:ext cx="1021" cy="496"/>
              </a:xfrm>
              <a:custGeom>
                <a:avLst/>
                <a:gdLst>
                  <a:gd name="T0" fmla="*/ 1021 w 1021"/>
                  <a:gd name="T1" fmla="*/ 469 h 496"/>
                  <a:gd name="T2" fmla="*/ 1007 w 1021"/>
                  <a:gd name="T3" fmla="*/ 496 h 496"/>
                  <a:gd name="T4" fmla="*/ 0 w 1021"/>
                  <a:gd name="T5" fmla="*/ 27 h 496"/>
                  <a:gd name="T6" fmla="*/ 13 w 1021"/>
                  <a:gd name="T7" fmla="*/ 0 h 496"/>
                  <a:gd name="T8" fmla="*/ 1021 w 1021"/>
                  <a:gd name="T9" fmla="*/ 469 h 49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21"/>
                  <a:gd name="T16" fmla="*/ 0 h 496"/>
                  <a:gd name="T17" fmla="*/ 1021 w 1021"/>
                  <a:gd name="T18" fmla="*/ 496 h 49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21" h="496">
                    <a:moveTo>
                      <a:pt x="1021" y="469"/>
                    </a:moveTo>
                    <a:lnTo>
                      <a:pt x="1007" y="496"/>
                    </a:lnTo>
                    <a:lnTo>
                      <a:pt x="0" y="27"/>
                    </a:lnTo>
                    <a:lnTo>
                      <a:pt x="13" y="0"/>
                    </a:lnTo>
                    <a:lnTo>
                      <a:pt x="1021" y="469"/>
                    </a:lnTo>
                    <a:close/>
                  </a:path>
                </a:pathLst>
              </a:custGeom>
              <a:solidFill>
                <a:srgbClr val="FFDC99"/>
              </a:solidFill>
              <a:ln w="31750">
                <a:solidFill>
                  <a:srgbClr val="FFDC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027" name="Freeform 28">
                <a:extLst>
                  <a:ext uri="{FF2B5EF4-FFF2-40B4-BE49-F238E27FC236}">
                    <a16:creationId xmlns:a16="http://schemas.microsoft.com/office/drawing/2014/main" id="{925C7E1A-FE5E-4C01-A33E-50C48A852C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0" y="2044"/>
                <a:ext cx="663" cy="317"/>
              </a:xfrm>
              <a:custGeom>
                <a:avLst/>
                <a:gdLst>
                  <a:gd name="T0" fmla="*/ 663 w 663"/>
                  <a:gd name="T1" fmla="*/ 290 h 317"/>
                  <a:gd name="T2" fmla="*/ 649 w 663"/>
                  <a:gd name="T3" fmla="*/ 317 h 317"/>
                  <a:gd name="T4" fmla="*/ 0 w 663"/>
                  <a:gd name="T5" fmla="*/ 27 h 317"/>
                  <a:gd name="T6" fmla="*/ 28 w 663"/>
                  <a:gd name="T7" fmla="*/ 0 h 317"/>
                  <a:gd name="T8" fmla="*/ 663 w 663"/>
                  <a:gd name="T9" fmla="*/ 29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63"/>
                  <a:gd name="T16" fmla="*/ 0 h 317"/>
                  <a:gd name="T17" fmla="*/ 663 w 663"/>
                  <a:gd name="T18" fmla="*/ 317 h 3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63" h="317">
                    <a:moveTo>
                      <a:pt x="663" y="290"/>
                    </a:moveTo>
                    <a:lnTo>
                      <a:pt x="649" y="317"/>
                    </a:lnTo>
                    <a:lnTo>
                      <a:pt x="0" y="27"/>
                    </a:lnTo>
                    <a:lnTo>
                      <a:pt x="28" y="0"/>
                    </a:lnTo>
                    <a:lnTo>
                      <a:pt x="663" y="290"/>
                    </a:lnTo>
                    <a:close/>
                  </a:path>
                </a:pathLst>
              </a:custGeom>
              <a:solidFill>
                <a:srgbClr val="FFDC99"/>
              </a:solidFill>
              <a:ln w="31750">
                <a:solidFill>
                  <a:srgbClr val="FFDC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028" name="Freeform 29">
                <a:extLst>
                  <a:ext uri="{FF2B5EF4-FFF2-40B4-BE49-F238E27FC236}">
                    <a16:creationId xmlns:a16="http://schemas.microsoft.com/office/drawing/2014/main" id="{2045C085-0968-41E6-9FB3-653437FB8F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91" y="2223"/>
                <a:ext cx="497" cy="262"/>
              </a:xfrm>
              <a:custGeom>
                <a:avLst/>
                <a:gdLst>
                  <a:gd name="T0" fmla="*/ 497 w 497"/>
                  <a:gd name="T1" fmla="*/ 235 h 262"/>
                  <a:gd name="T2" fmla="*/ 483 w 497"/>
                  <a:gd name="T3" fmla="*/ 262 h 262"/>
                  <a:gd name="T4" fmla="*/ 0 w 497"/>
                  <a:gd name="T5" fmla="*/ 28 h 262"/>
                  <a:gd name="T6" fmla="*/ 14 w 497"/>
                  <a:gd name="T7" fmla="*/ 0 h 262"/>
                  <a:gd name="T8" fmla="*/ 497 w 497"/>
                  <a:gd name="T9" fmla="*/ 235 h 2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97"/>
                  <a:gd name="T16" fmla="*/ 0 h 262"/>
                  <a:gd name="T17" fmla="*/ 497 w 497"/>
                  <a:gd name="T18" fmla="*/ 262 h 26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97" h="262">
                    <a:moveTo>
                      <a:pt x="497" y="235"/>
                    </a:moveTo>
                    <a:lnTo>
                      <a:pt x="483" y="262"/>
                    </a:lnTo>
                    <a:lnTo>
                      <a:pt x="0" y="28"/>
                    </a:lnTo>
                    <a:lnTo>
                      <a:pt x="14" y="0"/>
                    </a:lnTo>
                    <a:lnTo>
                      <a:pt x="497" y="235"/>
                    </a:lnTo>
                    <a:close/>
                  </a:path>
                </a:pathLst>
              </a:custGeom>
              <a:solidFill>
                <a:srgbClr val="FFDC99"/>
              </a:solidFill>
              <a:ln w="31750">
                <a:solidFill>
                  <a:srgbClr val="FFDC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029" name="Freeform 30">
                <a:extLst>
                  <a:ext uri="{FF2B5EF4-FFF2-40B4-BE49-F238E27FC236}">
                    <a16:creationId xmlns:a16="http://schemas.microsoft.com/office/drawing/2014/main" id="{3F29F922-5CC6-439D-8A39-E165FF02DD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18" y="1533"/>
                <a:ext cx="621" cy="318"/>
              </a:xfrm>
              <a:custGeom>
                <a:avLst/>
                <a:gdLst>
                  <a:gd name="T0" fmla="*/ 621 w 621"/>
                  <a:gd name="T1" fmla="*/ 290 h 318"/>
                  <a:gd name="T2" fmla="*/ 621 w 621"/>
                  <a:gd name="T3" fmla="*/ 318 h 318"/>
                  <a:gd name="T4" fmla="*/ 0 w 621"/>
                  <a:gd name="T5" fmla="*/ 28 h 318"/>
                  <a:gd name="T6" fmla="*/ 14 w 621"/>
                  <a:gd name="T7" fmla="*/ 0 h 318"/>
                  <a:gd name="T8" fmla="*/ 621 w 621"/>
                  <a:gd name="T9" fmla="*/ 290 h 3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21"/>
                  <a:gd name="T16" fmla="*/ 0 h 318"/>
                  <a:gd name="T17" fmla="*/ 621 w 621"/>
                  <a:gd name="T18" fmla="*/ 318 h 31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21" h="318">
                    <a:moveTo>
                      <a:pt x="621" y="290"/>
                    </a:moveTo>
                    <a:lnTo>
                      <a:pt x="621" y="318"/>
                    </a:lnTo>
                    <a:lnTo>
                      <a:pt x="0" y="28"/>
                    </a:lnTo>
                    <a:lnTo>
                      <a:pt x="14" y="0"/>
                    </a:lnTo>
                    <a:lnTo>
                      <a:pt x="621" y="290"/>
                    </a:lnTo>
                    <a:close/>
                  </a:path>
                </a:pathLst>
              </a:custGeom>
              <a:solidFill>
                <a:srgbClr val="FFDC99"/>
              </a:solidFill>
              <a:ln w="31750">
                <a:solidFill>
                  <a:srgbClr val="FFDC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030" name="Freeform 31">
                <a:extLst>
                  <a:ext uri="{FF2B5EF4-FFF2-40B4-BE49-F238E27FC236}">
                    <a16:creationId xmlns:a16="http://schemas.microsoft.com/office/drawing/2014/main" id="{2ED9E4EA-097E-4936-84DA-AF3EAE1619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6" y="1271"/>
                <a:ext cx="248" cy="593"/>
              </a:xfrm>
              <a:custGeom>
                <a:avLst/>
                <a:gdLst>
                  <a:gd name="T0" fmla="*/ 248 w 248"/>
                  <a:gd name="T1" fmla="*/ 580 h 593"/>
                  <a:gd name="T2" fmla="*/ 220 w 248"/>
                  <a:gd name="T3" fmla="*/ 593 h 593"/>
                  <a:gd name="T4" fmla="*/ 0 w 248"/>
                  <a:gd name="T5" fmla="*/ 14 h 593"/>
                  <a:gd name="T6" fmla="*/ 27 w 248"/>
                  <a:gd name="T7" fmla="*/ 0 h 593"/>
                  <a:gd name="T8" fmla="*/ 248 w 248"/>
                  <a:gd name="T9" fmla="*/ 580 h 5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8"/>
                  <a:gd name="T16" fmla="*/ 0 h 593"/>
                  <a:gd name="T17" fmla="*/ 248 w 248"/>
                  <a:gd name="T18" fmla="*/ 593 h 5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8" h="593">
                    <a:moveTo>
                      <a:pt x="248" y="580"/>
                    </a:moveTo>
                    <a:lnTo>
                      <a:pt x="220" y="593"/>
                    </a:lnTo>
                    <a:lnTo>
                      <a:pt x="0" y="14"/>
                    </a:lnTo>
                    <a:lnTo>
                      <a:pt x="27" y="0"/>
                    </a:lnTo>
                    <a:lnTo>
                      <a:pt x="248" y="580"/>
                    </a:lnTo>
                    <a:close/>
                  </a:path>
                </a:pathLst>
              </a:custGeom>
              <a:solidFill>
                <a:srgbClr val="FFDC99"/>
              </a:solidFill>
              <a:ln w="31750">
                <a:solidFill>
                  <a:srgbClr val="FFDC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031" name="Rectangle 32">
                <a:extLst>
                  <a:ext uri="{FF2B5EF4-FFF2-40B4-BE49-F238E27FC236}">
                    <a16:creationId xmlns:a16="http://schemas.microsoft.com/office/drawing/2014/main" id="{F9C12EE1-C657-4124-85C0-B324E9B8EF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2" y="3071"/>
                <a:ext cx="952" cy="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ctr">
                  <a:spcBef>
                    <a:spcPct val="20000"/>
                  </a:spcBef>
                  <a:buClr>
                    <a:schemeClr val="accent2"/>
                  </a:buClr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</a:pPr>
                <a:r>
                  <a:rPr lang="en-GB" altLang="en-US" sz="1400">
                    <a:solidFill>
                      <a:srgbClr val="000000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rPr>
                  <a:t>desktop computer:</a:t>
                </a:r>
                <a:endParaRPr lang="en-GB" altLang="en-US" sz="2400">
                  <a:latin typeface="Times" panose="02020603050405020304" pitchFamily="18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30032" name="Freeform 33">
                <a:extLst>
                  <a:ext uri="{FF2B5EF4-FFF2-40B4-BE49-F238E27FC236}">
                    <a16:creationId xmlns:a16="http://schemas.microsoft.com/office/drawing/2014/main" id="{ECF3CD2D-4DC0-4DF9-9ABC-D30A1B172E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3" y="1782"/>
                <a:ext cx="41" cy="69"/>
              </a:xfrm>
              <a:custGeom>
                <a:avLst/>
                <a:gdLst>
                  <a:gd name="T0" fmla="*/ 0 w 41"/>
                  <a:gd name="T1" fmla="*/ 0 h 69"/>
                  <a:gd name="T2" fmla="*/ 41 w 41"/>
                  <a:gd name="T3" fmla="*/ 13 h 69"/>
                  <a:gd name="T4" fmla="*/ 41 w 41"/>
                  <a:gd name="T5" fmla="*/ 69 h 69"/>
                  <a:gd name="T6" fmla="*/ 0 60000 65536"/>
                  <a:gd name="T7" fmla="*/ 0 60000 65536"/>
                  <a:gd name="T8" fmla="*/ 0 60000 65536"/>
                  <a:gd name="T9" fmla="*/ 0 w 41"/>
                  <a:gd name="T10" fmla="*/ 0 h 69"/>
                  <a:gd name="T11" fmla="*/ 41 w 41"/>
                  <a:gd name="T12" fmla="*/ 69 h 6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1" h="69">
                    <a:moveTo>
                      <a:pt x="0" y="0"/>
                    </a:moveTo>
                    <a:lnTo>
                      <a:pt x="41" y="13"/>
                    </a:lnTo>
                    <a:lnTo>
                      <a:pt x="41" y="69"/>
                    </a:lnTo>
                  </a:path>
                </a:pathLst>
              </a:custGeom>
              <a:noFill/>
              <a:ln w="3175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033" name="AutoShape 34">
                <a:extLst>
                  <a:ext uri="{FF2B5EF4-FFF2-40B4-BE49-F238E27FC236}">
                    <a16:creationId xmlns:a16="http://schemas.microsoft.com/office/drawing/2014/main" id="{32442114-4462-432F-BC54-5F057725D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6" y="1685"/>
                <a:ext cx="110" cy="83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algn="ctr">
                  <a:spcBef>
                    <a:spcPct val="20000"/>
                  </a:spcBef>
                  <a:buClr>
                    <a:schemeClr val="accent2"/>
                  </a:buClr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</a:pPr>
                <a:endParaRPr lang="sv-SE" altLang="en-US" sz="2400">
                  <a:ea typeface="MS PGothic" panose="020B0600070205080204" pitchFamily="34" charset="-128"/>
                </a:endParaRPr>
              </a:p>
            </p:txBody>
          </p:sp>
          <p:sp>
            <p:nvSpPr>
              <p:cNvPr id="30034" name="AutoShape 35">
                <a:extLst>
                  <a:ext uri="{FF2B5EF4-FFF2-40B4-BE49-F238E27FC236}">
                    <a16:creationId xmlns:a16="http://schemas.microsoft.com/office/drawing/2014/main" id="{767AF5FE-31CA-47D5-BC00-11CD2E55E0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2" y="1671"/>
                <a:ext cx="138" cy="111"/>
              </a:xfrm>
              <a:prstGeom prst="roundRect">
                <a:avLst>
                  <a:gd name="adj" fmla="val 40088"/>
                </a:avLst>
              </a:prstGeom>
              <a:noFill/>
              <a:ln w="53975">
                <a:solidFill>
                  <a:srgbClr val="9999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algn="ctr">
                  <a:spcBef>
                    <a:spcPct val="20000"/>
                  </a:spcBef>
                  <a:buClr>
                    <a:schemeClr val="accent2"/>
                  </a:buClr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</a:pPr>
                <a:endParaRPr lang="sv-SE" altLang="en-US" sz="2400">
                  <a:ea typeface="MS PGothic" panose="020B0600070205080204" pitchFamily="34" charset="-128"/>
                </a:endParaRPr>
              </a:p>
            </p:txBody>
          </p:sp>
          <p:sp>
            <p:nvSpPr>
              <p:cNvPr id="30035" name="Rectangle 36">
                <a:extLst>
                  <a:ext uri="{FF2B5EF4-FFF2-40B4-BE49-F238E27FC236}">
                    <a16:creationId xmlns:a16="http://schemas.microsoft.com/office/drawing/2014/main" id="{EE2474E6-F178-47D1-AD59-25746DF614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0" y="1713"/>
                <a:ext cx="83" cy="4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algn="ctr">
                  <a:spcBef>
                    <a:spcPct val="20000"/>
                  </a:spcBef>
                  <a:buClr>
                    <a:schemeClr val="accent2"/>
                  </a:buClr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</a:pPr>
                <a:endParaRPr lang="sv-SE" altLang="en-US" sz="2400">
                  <a:ea typeface="MS PGothic" panose="020B0600070205080204" pitchFamily="34" charset="-128"/>
                </a:endParaRPr>
              </a:p>
            </p:txBody>
          </p:sp>
          <p:sp>
            <p:nvSpPr>
              <p:cNvPr id="30036" name="Rectangle 37">
                <a:extLst>
                  <a:ext uri="{FF2B5EF4-FFF2-40B4-BE49-F238E27FC236}">
                    <a16:creationId xmlns:a16="http://schemas.microsoft.com/office/drawing/2014/main" id="{AB9B43AA-418B-4DA1-AF9E-ED66080ED0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0" y="1713"/>
                <a:ext cx="96" cy="55"/>
              </a:xfrm>
              <a:prstGeom prst="rect">
                <a:avLst/>
              </a:prstGeom>
              <a:noFill/>
              <a:ln w="317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algn="ctr">
                  <a:spcBef>
                    <a:spcPct val="20000"/>
                  </a:spcBef>
                  <a:buClr>
                    <a:schemeClr val="accent2"/>
                  </a:buClr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</a:pPr>
                <a:endParaRPr lang="sv-SE" altLang="en-US" sz="2400">
                  <a:ea typeface="MS PGothic" panose="020B0600070205080204" pitchFamily="34" charset="-128"/>
                </a:endParaRPr>
              </a:p>
            </p:txBody>
          </p:sp>
          <p:sp>
            <p:nvSpPr>
              <p:cNvPr id="30037" name="Freeform 38">
                <a:extLst>
                  <a:ext uri="{FF2B5EF4-FFF2-40B4-BE49-F238E27FC236}">
                    <a16:creationId xmlns:a16="http://schemas.microsoft.com/office/drawing/2014/main" id="{3BEDF93B-C079-42F8-B5E2-759B7D3425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0" y="1837"/>
                <a:ext cx="28" cy="27"/>
              </a:xfrm>
              <a:custGeom>
                <a:avLst/>
                <a:gdLst>
                  <a:gd name="T0" fmla="*/ 14 w 28"/>
                  <a:gd name="T1" fmla="*/ 0 h 27"/>
                  <a:gd name="T2" fmla="*/ 14 w 28"/>
                  <a:gd name="T3" fmla="*/ 0 h 27"/>
                  <a:gd name="T4" fmla="*/ 28 w 28"/>
                  <a:gd name="T5" fmla="*/ 14 h 27"/>
                  <a:gd name="T6" fmla="*/ 28 w 28"/>
                  <a:gd name="T7" fmla="*/ 27 h 27"/>
                  <a:gd name="T8" fmla="*/ 14 w 28"/>
                  <a:gd name="T9" fmla="*/ 27 h 27"/>
                  <a:gd name="T10" fmla="*/ 14 w 28"/>
                  <a:gd name="T11" fmla="*/ 27 h 27"/>
                  <a:gd name="T12" fmla="*/ 0 w 28"/>
                  <a:gd name="T13" fmla="*/ 27 h 27"/>
                  <a:gd name="T14" fmla="*/ 0 w 28"/>
                  <a:gd name="T15" fmla="*/ 14 h 27"/>
                  <a:gd name="T16" fmla="*/ 0 w 28"/>
                  <a:gd name="T17" fmla="*/ 0 h 27"/>
                  <a:gd name="T18" fmla="*/ 14 w 28"/>
                  <a:gd name="T19" fmla="*/ 0 h 2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8"/>
                  <a:gd name="T31" fmla="*/ 0 h 27"/>
                  <a:gd name="T32" fmla="*/ 28 w 28"/>
                  <a:gd name="T33" fmla="*/ 27 h 27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8" h="27">
                    <a:moveTo>
                      <a:pt x="14" y="0"/>
                    </a:moveTo>
                    <a:lnTo>
                      <a:pt x="14" y="0"/>
                    </a:lnTo>
                    <a:lnTo>
                      <a:pt x="28" y="14"/>
                    </a:lnTo>
                    <a:lnTo>
                      <a:pt x="28" y="27"/>
                    </a:lnTo>
                    <a:lnTo>
                      <a:pt x="14" y="27"/>
                    </a:lnTo>
                    <a:lnTo>
                      <a:pt x="0" y="27"/>
                    </a:lnTo>
                    <a:lnTo>
                      <a:pt x="0" y="14"/>
                    </a:lnTo>
                    <a:lnTo>
                      <a:pt x="0" y="0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999999"/>
              </a:solidFill>
              <a:ln w="31750">
                <a:solidFill>
                  <a:srgbClr val="9999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30038" name="Picture 39">
                <a:extLst>
                  <a:ext uri="{FF2B5EF4-FFF2-40B4-BE49-F238E27FC236}">
                    <a16:creationId xmlns:a16="http://schemas.microsoft.com/office/drawing/2014/main" id="{C8AB1A32-C96A-41FF-BB7A-8A244EF8E60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70" y="1713"/>
                <a:ext cx="83" cy="4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0039" name="Freeform 40">
                <a:extLst>
                  <a:ext uri="{FF2B5EF4-FFF2-40B4-BE49-F238E27FC236}">
                    <a16:creationId xmlns:a16="http://schemas.microsoft.com/office/drawing/2014/main" id="{F56343A6-2439-4744-8A30-86484283FC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4" y="1851"/>
                <a:ext cx="1" cy="1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0 h 1"/>
                  <a:gd name="T4" fmla="*/ 0 w 1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"/>
                  <a:gd name="T11" fmla="*/ 1 w 1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noFill/>
              <a:ln w="3175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040" name="Line 41">
                <a:extLst>
                  <a:ext uri="{FF2B5EF4-FFF2-40B4-BE49-F238E27FC236}">
                    <a16:creationId xmlns:a16="http://schemas.microsoft.com/office/drawing/2014/main" id="{FF6A5897-BF99-4FBC-81D1-01D39D4970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8" y="1851"/>
                <a:ext cx="1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041" name="Rectangle 42">
                <a:extLst>
                  <a:ext uri="{FF2B5EF4-FFF2-40B4-BE49-F238E27FC236}">
                    <a16:creationId xmlns:a16="http://schemas.microsoft.com/office/drawing/2014/main" id="{C71C307A-0017-43C5-BD12-0A9011F5C3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6" y="1768"/>
                <a:ext cx="97" cy="27"/>
              </a:xfrm>
              <a:prstGeom prst="rect">
                <a:avLst/>
              </a:prstGeom>
              <a:solidFill>
                <a:srgbClr val="D9AA73"/>
              </a:solidFill>
              <a:ln w="31750">
                <a:solidFill>
                  <a:srgbClr val="D9AA73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algn="ctr">
                  <a:spcBef>
                    <a:spcPct val="20000"/>
                  </a:spcBef>
                  <a:buClr>
                    <a:schemeClr val="accent2"/>
                  </a:buClr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</a:pPr>
                <a:endParaRPr lang="sv-SE" altLang="en-US" sz="2400">
                  <a:ea typeface="MS PGothic" panose="020B0600070205080204" pitchFamily="34" charset="-128"/>
                </a:endParaRPr>
              </a:p>
            </p:txBody>
          </p:sp>
          <p:sp>
            <p:nvSpPr>
              <p:cNvPr id="30042" name="Freeform 43">
                <a:extLst>
                  <a:ext uri="{FF2B5EF4-FFF2-40B4-BE49-F238E27FC236}">
                    <a16:creationId xmlns:a16="http://schemas.microsoft.com/office/drawing/2014/main" id="{B8095C9E-1638-40B3-B7E8-934A32BDC6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2" y="1795"/>
                <a:ext cx="138" cy="14"/>
              </a:xfrm>
              <a:custGeom>
                <a:avLst/>
                <a:gdLst>
                  <a:gd name="T0" fmla="*/ 14 w 138"/>
                  <a:gd name="T1" fmla="*/ 0 h 14"/>
                  <a:gd name="T2" fmla="*/ 0 w 138"/>
                  <a:gd name="T3" fmla="*/ 14 h 14"/>
                  <a:gd name="T4" fmla="*/ 138 w 138"/>
                  <a:gd name="T5" fmla="*/ 14 h 14"/>
                  <a:gd name="T6" fmla="*/ 124 w 138"/>
                  <a:gd name="T7" fmla="*/ 0 h 14"/>
                  <a:gd name="T8" fmla="*/ 14 w 138"/>
                  <a:gd name="T9" fmla="*/ 0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8"/>
                  <a:gd name="T16" fmla="*/ 0 h 14"/>
                  <a:gd name="T17" fmla="*/ 138 w 138"/>
                  <a:gd name="T18" fmla="*/ 14 h 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8" h="14">
                    <a:moveTo>
                      <a:pt x="14" y="0"/>
                    </a:moveTo>
                    <a:lnTo>
                      <a:pt x="0" y="14"/>
                    </a:lnTo>
                    <a:lnTo>
                      <a:pt x="138" y="14"/>
                    </a:lnTo>
                    <a:lnTo>
                      <a:pt x="124" y="0"/>
                    </a:lnTo>
                    <a:lnTo>
                      <a:pt x="14" y="0"/>
                    </a:lnTo>
                    <a:close/>
                  </a:path>
                </a:pathLst>
              </a:custGeom>
              <a:noFill/>
              <a:ln w="31750">
                <a:solidFill>
                  <a:srgbClr val="D9AA7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043" name="Line 44">
                <a:extLst>
                  <a:ext uri="{FF2B5EF4-FFF2-40B4-BE49-F238E27FC236}">
                    <a16:creationId xmlns:a16="http://schemas.microsoft.com/office/drawing/2014/main" id="{72DBBA5D-696F-48E2-AC50-0CE91FC474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6" y="1809"/>
                <a:ext cx="28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044" name="Line 45">
                <a:extLst>
                  <a:ext uri="{FF2B5EF4-FFF2-40B4-BE49-F238E27FC236}">
                    <a16:creationId xmlns:a16="http://schemas.microsoft.com/office/drawing/2014/main" id="{CE89AEBE-3B2A-466F-888C-E8B1FC0F71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" y="1795"/>
                <a:ext cx="83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045" name="Line 46">
                <a:extLst>
                  <a:ext uri="{FF2B5EF4-FFF2-40B4-BE49-F238E27FC236}">
                    <a16:creationId xmlns:a16="http://schemas.microsoft.com/office/drawing/2014/main" id="{FBA63583-5205-4B55-9399-3ED98C7EDF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6" y="1795"/>
                <a:ext cx="69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046" name="Line 47">
                <a:extLst>
                  <a:ext uri="{FF2B5EF4-FFF2-40B4-BE49-F238E27FC236}">
                    <a16:creationId xmlns:a16="http://schemas.microsoft.com/office/drawing/2014/main" id="{5BE616CD-971A-4115-9C38-DFDEAB91B0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4" y="1809"/>
                <a:ext cx="55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047" name="Line 48">
                <a:extLst>
                  <a:ext uri="{FF2B5EF4-FFF2-40B4-BE49-F238E27FC236}">
                    <a16:creationId xmlns:a16="http://schemas.microsoft.com/office/drawing/2014/main" id="{BA530409-6F40-42BA-8567-F2298E3102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9" y="1795"/>
                <a:ext cx="27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048" name="Line 49">
                <a:extLst>
                  <a:ext uri="{FF2B5EF4-FFF2-40B4-BE49-F238E27FC236}">
                    <a16:creationId xmlns:a16="http://schemas.microsoft.com/office/drawing/2014/main" id="{581F7CFA-25C5-4093-BA4D-DBAB87FD16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53" y="1809"/>
                <a:ext cx="13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049" name="Rectangle 50">
                <a:extLst>
                  <a:ext uri="{FF2B5EF4-FFF2-40B4-BE49-F238E27FC236}">
                    <a16:creationId xmlns:a16="http://schemas.microsoft.com/office/drawing/2014/main" id="{734A9C7F-9C7F-4F82-8270-53EE88CFDB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7" y="1699"/>
                <a:ext cx="42" cy="4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algn="ctr">
                  <a:spcBef>
                    <a:spcPct val="20000"/>
                  </a:spcBef>
                  <a:buClr>
                    <a:schemeClr val="accent2"/>
                  </a:buClr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</a:pPr>
                <a:endParaRPr lang="sv-SE" altLang="en-US" sz="2400">
                  <a:ea typeface="MS PGothic" panose="020B0600070205080204" pitchFamily="34" charset="-128"/>
                </a:endParaRPr>
              </a:p>
            </p:txBody>
          </p:sp>
          <p:sp>
            <p:nvSpPr>
              <p:cNvPr id="30050" name="Rectangle 51">
                <a:extLst>
                  <a:ext uri="{FF2B5EF4-FFF2-40B4-BE49-F238E27FC236}">
                    <a16:creationId xmlns:a16="http://schemas.microsoft.com/office/drawing/2014/main" id="{AEEA6F25-879E-45AB-B515-49A532D07D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7" y="1699"/>
                <a:ext cx="56" cy="55"/>
              </a:xfrm>
              <a:prstGeom prst="rect">
                <a:avLst/>
              </a:prstGeom>
              <a:noFill/>
              <a:ln w="317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algn="ctr">
                  <a:spcBef>
                    <a:spcPct val="20000"/>
                  </a:spcBef>
                  <a:buClr>
                    <a:schemeClr val="accent2"/>
                  </a:buClr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</a:pPr>
                <a:endParaRPr lang="sv-SE" altLang="en-US" sz="2400">
                  <a:ea typeface="MS PGothic" panose="020B0600070205080204" pitchFamily="34" charset="-128"/>
                </a:endParaRPr>
              </a:p>
            </p:txBody>
          </p:sp>
          <p:sp>
            <p:nvSpPr>
              <p:cNvPr id="30051" name="Freeform 52">
                <a:extLst>
                  <a:ext uri="{FF2B5EF4-FFF2-40B4-BE49-F238E27FC236}">
                    <a16:creationId xmlns:a16="http://schemas.microsoft.com/office/drawing/2014/main" id="{1F3B46FA-6B88-4058-84DC-2E387DFB99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43" y="1299"/>
                <a:ext cx="1738" cy="1476"/>
              </a:xfrm>
              <a:custGeom>
                <a:avLst/>
                <a:gdLst>
                  <a:gd name="T0" fmla="*/ 1683 w 1738"/>
                  <a:gd name="T1" fmla="*/ 0 h 1476"/>
                  <a:gd name="T2" fmla="*/ 1738 w 1738"/>
                  <a:gd name="T3" fmla="*/ 55 h 1476"/>
                  <a:gd name="T4" fmla="*/ 41 w 1738"/>
                  <a:gd name="T5" fmla="*/ 1476 h 1476"/>
                  <a:gd name="T6" fmla="*/ 0 w 1738"/>
                  <a:gd name="T7" fmla="*/ 1421 h 1476"/>
                  <a:gd name="T8" fmla="*/ 1683 w 1738"/>
                  <a:gd name="T9" fmla="*/ 0 h 147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38"/>
                  <a:gd name="T16" fmla="*/ 0 h 1476"/>
                  <a:gd name="T17" fmla="*/ 1738 w 1738"/>
                  <a:gd name="T18" fmla="*/ 1476 h 147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38" h="1476">
                    <a:moveTo>
                      <a:pt x="1683" y="0"/>
                    </a:moveTo>
                    <a:lnTo>
                      <a:pt x="1738" y="55"/>
                    </a:lnTo>
                    <a:lnTo>
                      <a:pt x="41" y="1476"/>
                    </a:lnTo>
                    <a:lnTo>
                      <a:pt x="0" y="1421"/>
                    </a:lnTo>
                    <a:lnTo>
                      <a:pt x="1683" y="0"/>
                    </a:lnTo>
                    <a:close/>
                  </a:path>
                </a:pathLst>
              </a:custGeom>
              <a:solidFill>
                <a:srgbClr val="FFDC99"/>
              </a:solidFill>
              <a:ln w="31750">
                <a:solidFill>
                  <a:srgbClr val="FFDC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052" name="Freeform 53">
                <a:extLst>
                  <a:ext uri="{FF2B5EF4-FFF2-40B4-BE49-F238E27FC236}">
                    <a16:creationId xmlns:a16="http://schemas.microsoft.com/office/drawing/2014/main" id="{C8A86A30-2F7C-4B02-B7F6-E40A3E5BBF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08" y="2237"/>
                <a:ext cx="649" cy="759"/>
              </a:xfrm>
              <a:custGeom>
                <a:avLst/>
                <a:gdLst>
                  <a:gd name="T0" fmla="*/ 649 w 649"/>
                  <a:gd name="T1" fmla="*/ 717 h 759"/>
                  <a:gd name="T2" fmla="*/ 594 w 649"/>
                  <a:gd name="T3" fmla="*/ 759 h 759"/>
                  <a:gd name="T4" fmla="*/ 0 w 649"/>
                  <a:gd name="T5" fmla="*/ 41 h 759"/>
                  <a:gd name="T6" fmla="*/ 42 w 649"/>
                  <a:gd name="T7" fmla="*/ 0 h 759"/>
                  <a:gd name="T8" fmla="*/ 649 w 649"/>
                  <a:gd name="T9" fmla="*/ 717 h 7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49"/>
                  <a:gd name="T16" fmla="*/ 0 h 759"/>
                  <a:gd name="T17" fmla="*/ 649 w 649"/>
                  <a:gd name="T18" fmla="*/ 759 h 7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49" h="759">
                    <a:moveTo>
                      <a:pt x="649" y="717"/>
                    </a:moveTo>
                    <a:lnTo>
                      <a:pt x="594" y="759"/>
                    </a:lnTo>
                    <a:lnTo>
                      <a:pt x="0" y="41"/>
                    </a:lnTo>
                    <a:lnTo>
                      <a:pt x="42" y="0"/>
                    </a:lnTo>
                    <a:lnTo>
                      <a:pt x="649" y="717"/>
                    </a:lnTo>
                    <a:close/>
                  </a:path>
                </a:pathLst>
              </a:custGeom>
              <a:solidFill>
                <a:srgbClr val="FFDC99"/>
              </a:solidFill>
              <a:ln w="31750">
                <a:solidFill>
                  <a:srgbClr val="FFDC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053" name="Freeform 54">
                <a:extLst>
                  <a:ext uri="{FF2B5EF4-FFF2-40B4-BE49-F238E27FC236}">
                    <a16:creationId xmlns:a16="http://schemas.microsoft.com/office/drawing/2014/main" id="{2A8DF66B-D206-4143-A2A2-C1BCD23052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1" y="3051"/>
                <a:ext cx="704" cy="359"/>
              </a:xfrm>
              <a:custGeom>
                <a:avLst/>
                <a:gdLst>
                  <a:gd name="T0" fmla="*/ 704 w 704"/>
                  <a:gd name="T1" fmla="*/ 317 h 359"/>
                  <a:gd name="T2" fmla="*/ 690 w 704"/>
                  <a:gd name="T3" fmla="*/ 359 h 359"/>
                  <a:gd name="T4" fmla="*/ 0 w 704"/>
                  <a:gd name="T5" fmla="*/ 28 h 359"/>
                  <a:gd name="T6" fmla="*/ 14 w 704"/>
                  <a:gd name="T7" fmla="*/ 0 h 359"/>
                  <a:gd name="T8" fmla="*/ 704 w 704"/>
                  <a:gd name="T9" fmla="*/ 317 h 3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4"/>
                  <a:gd name="T16" fmla="*/ 0 h 359"/>
                  <a:gd name="T17" fmla="*/ 704 w 704"/>
                  <a:gd name="T18" fmla="*/ 359 h 3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4" h="359">
                    <a:moveTo>
                      <a:pt x="704" y="317"/>
                    </a:moveTo>
                    <a:lnTo>
                      <a:pt x="690" y="359"/>
                    </a:lnTo>
                    <a:lnTo>
                      <a:pt x="0" y="28"/>
                    </a:lnTo>
                    <a:lnTo>
                      <a:pt x="14" y="0"/>
                    </a:lnTo>
                    <a:lnTo>
                      <a:pt x="704" y="317"/>
                    </a:lnTo>
                    <a:close/>
                  </a:path>
                </a:pathLst>
              </a:custGeom>
              <a:solidFill>
                <a:srgbClr val="FFDC99"/>
              </a:solidFill>
              <a:ln w="31750">
                <a:solidFill>
                  <a:srgbClr val="FFDC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054" name="Freeform 55">
                <a:extLst>
                  <a:ext uri="{FF2B5EF4-FFF2-40B4-BE49-F238E27FC236}">
                    <a16:creationId xmlns:a16="http://schemas.microsoft.com/office/drawing/2014/main" id="{C983F8E3-E8F7-46E8-9B94-1D080465C2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53" y="1699"/>
                <a:ext cx="359" cy="359"/>
              </a:xfrm>
              <a:custGeom>
                <a:avLst/>
                <a:gdLst>
                  <a:gd name="T0" fmla="*/ 359 w 359"/>
                  <a:gd name="T1" fmla="*/ 331 h 359"/>
                  <a:gd name="T2" fmla="*/ 331 w 359"/>
                  <a:gd name="T3" fmla="*/ 359 h 359"/>
                  <a:gd name="T4" fmla="*/ 0 w 359"/>
                  <a:gd name="T5" fmla="*/ 14 h 359"/>
                  <a:gd name="T6" fmla="*/ 14 w 359"/>
                  <a:gd name="T7" fmla="*/ 0 h 359"/>
                  <a:gd name="T8" fmla="*/ 359 w 359"/>
                  <a:gd name="T9" fmla="*/ 331 h 3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9"/>
                  <a:gd name="T16" fmla="*/ 0 h 359"/>
                  <a:gd name="T17" fmla="*/ 359 w 359"/>
                  <a:gd name="T18" fmla="*/ 359 h 3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9" h="359">
                    <a:moveTo>
                      <a:pt x="359" y="331"/>
                    </a:moveTo>
                    <a:lnTo>
                      <a:pt x="331" y="359"/>
                    </a:lnTo>
                    <a:lnTo>
                      <a:pt x="0" y="14"/>
                    </a:lnTo>
                    <a:lnTo>
                      <a:pt x="14" y="0"/>
                    </a:lnTo>
                    <a:lnTo>
                      <a:pt x="359" y="331"/>
                    </a:lnTo>
                    <a:close/>
                  </a:path>
                </a:pathLst>
              </a:custGeom>
              <a:solidFill>
                <a:srgbClr val="FFDC99"/>
              </a:solidFill>
              <a:ln w="31750">
                <a:solidFill>
                  <a:srgbClr val="FFDC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055" name="Freeform 56">
                <a:extLst>
                  <a:ext uri="{FF2B5EF4-FFF2-40B4-BE49-F238E27FC236}">
                    <a16:creationId xmlns:a16="http://schemas.microsoft.com/office/drawing/2014/main" id="{094C3836-5168-48B2-A3A4-EB63D28FC1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4" y="2016"/>
                <a:ext cx="42" cy="69"/>
              </a:xfrm>
              <a:custGeom>
                <a:avLst/>
                <a:gdLst>
                  <a:gd name="T0" fmla="*/ 0 w 42"/>
                  <a:gd name="T1" fmla="*/ 0 h 69"/>
                  <a:gd name="T2" fmla="*/ 42 w 42"/>
                  <a:gd name="T3" fmla="*/ 14 h 69"/>
                  <a:gd name="T4" fmla="*/ 42 w 42"/>
                  <a:gd name="T5" fmla="*/ 69 h 69"/>
                  <a:gd name="T6" fmla="*/ 0 60000 65536"/>
                  <a:gd name="T7" fmla="*/ 0 60000 65536"/>
                  <a:gd name="T8" fmla="*/ 0 60000 65536"/>
                  <a:gd name="T9" fmla="*/ 0 w 42"/>
                  <a:gd name="T10" fmla="*/ 0 h 69"/>
                  <a:gd name="T11" fmla="*/ 42 w 42"/>
                  <a:gd name="T12" fmla="*/ 69 h 6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" h="69">
                    <a:moveTo>
                      <a:pt x="0" y="0"/>
                    </a:moveTo>
                    <a:lnTo>
                      <a:pt x="42" y="14"/>
                    </a:lnTo>
                    <a:lnTo>
                      <a:pt x="42" y="69"/>
                    </a:lnTo>
                  </a:path>
                </a:pathLst>
              </a:custGeom>
              <a:noFill/>
              <a:ln w="3175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056" name="AutoShape 57">
                <a:extLst>
                  <a:ext uri="{FF2B5EF4-FFF2-40B4-BE49-F238E27FC236}">
                    <a16:creationId xmlns:a16="http://schemas.microsoft.com/office/drawing/2014/main" id="{6C97C94C-5A59-40A8-BC27-CFB6561135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4" y="1933"/>
                <a:ext cx="110" cy="83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algn="ctr">
                  <a:spcBef>
                    <a:spcPct val="20000"/>
                  </a:spcBef>
                  <a:buClr>
                    <a:schemeClr val="accent2"/>
                  </a:buClr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</a:pPr>
                <a:endParaRPr lang="sv-SE" altLang="en-US" sz="2400">
                  <a:ea typeface="MS PGothic" panose="020B0600070205080204" pitchFamily="34" charset="-128"/>
                </a:endParaRPr>
              </a:p>
            </p:txBody>
          </p:sp>
          <p:sp>
            <p:nvSpPr>
              <p:cNvPr id="30057" name="AutoShape 58">
                <a:extLst>
                  <a:ext uri="{FF2B5EF4-FFF2-40B4-BE49-F238E27FC236}">
                    <a16:creationId xmlns:a16="http://schemas.microsoft.com/office/drawing/2014/main" id="{A7E24081-3ED1-433F-B5DF-99C4FEBF4E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0" y="1920"/>
                <a:ext cx="138" cy="110"/>
              </a:xfrm>
              <a:prstGeom prst="roundRect">
                <a:avLst>
                  <a:gd name="adj" fmla="val 40454"/>
                </a:avLst>
              </a:prstGeom>
              <a:noFill/>
              <a:ln w="53975">
                <a:solidFill>
                  <a:srgbClr val="9999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algn="ctr">
                  <a:spcBef>
                    <a:spcPct val="20000"/>
                  </a:spcBef>
                  <a:buClr>
                    <a:schemeClr val="accent2"/>
                  </a:buClr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</a:pPr>
                <a:endParaRPr lang="sv-SE" altLang="en-US" sz="2400">
                  <a:ea typeface="MS PGothic" panose="020B0600070205080204" pitchFamily="34" charset="-128"/>
                </a:endParaRPr>
              </a:p>
            </p:txBody>
          </p:sp>
          <p:sp>
            <p:nvSpPr>
              <p:cNvPr id="30058" name="Rectangle 59">
                <a:extLst>
                  <a:ext uri="{FF2B5EF4-FFF2-40B4-BE49-F238E27FC236}">
                    <a16:creationId xmlns:a16="http://schemas.microsoft.com/office/drawing/2014/main" id="{4D309902-F594-4D51-981A-8E928E0D66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8" y="1947"/>
                <a:ext cx="83" cy="4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algn="ctr">
                  <a:spcBef>
                    <a:spcPct val="20000"/>
                  </a:spcBef>
                  <a:buClr>
                    <a:schemeClr val="accent2"/>
                  </a:buClr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</a:pPr>
                <a:endParaRPr lang="sv-SE" altLang="en-US" sz="2400">
                  <a:ea typeface="MS PGothic" panose="020B0600070205080204" pitchFamily="34" charset="-128"/>
                </a:endParaRPr>
              </a:p>
            </p:txBody>
          </p:sp>
          <p:sp>
            <p:nvSpPr>
              <p:cNvPr id="30059" name="Rectangle 60">
                <a:extLst>
                  <a:ext uri="{FF2B5EF4-FFF2-40B4-BE49-F238E27FC236}">
                    <a16:creationId xmlns:a16="http://schemas.microsoft.com/office/drawing/2014/main" id="{DCF2D460-0853-4FD7-929B-AEC6CE622F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8" y="1947"/>
                <a:ext cx="96" cy="55"/>
              </a:xfrm>
              <a:prstGeom prst="rect">
                <a:avLst/>
              </a:prstGeom>
              <a:noFill/>
              <a:ln w="317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algn="ctr">
                  <a:spcBef>
                    <a:spcPct val="20000"/>
                  </a:spcBef>
                  <a:buClr>
                    <a:schemeClr val="accent2"/>
                  </a:buClr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</a:pPr>
                <a:endParaRPr lang="sv-SE" altLang="en-US" sz="2400">
                  <a:ea typeface="MS PGothic" panose="020B0600070205080204" pitchFamily="34" charset="-128"/>
                </a:endParaRPr>
              </a:p>
            </p:txBody>
          </p:sp>
          <p:sp>
            <p:nvSpPr>
              <p:cNvPr id="30060" name="Freeform 61">
                <a:extLst>
                  <a:ext uri="{FF2B5EF4-FFF2-40B4-BE49-F238E27FC236}">
                    <a16:creationId xmlns:a16="http://schemas.microsoft.com/office/drawing/2014/main" id="{5BC23EEE-50D5-45F0-A06F-4B8E68EE4A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2" y="2071"/>
                <a:ext cx="28" cy="42"/>
              </a:xfrm>
              <a:custGeom>
                <a:avLst/>
                <a:gdLst>
                  <a:gd name="T0" fmla="*/ 14 w 28"/>
                  <a:gd name="T1" fmla="*/ 0 h 42"/>
                  <a:gd name="T2" fmla="*/ 14 w 28"/>
                  <a:gd name="T3" fmla="*/ 0 h 42"/>
                  <a:gd name="T4" fmla="*/ 28 w 28"/>
                  <a:gd name="T5" fmla="*/ 14 h 42"/>
                  <a:gd name="T6" fmla="*/ 28 w 28"/>
                  <a:gd name="T7" fmla="*/ 28 h 42"/>
                  <a:gd name="T8" fmla="*/ 14 w 28"/>
                  <a:gd name="T9" fmla="*/ 42 h 42"/>
                  <a:gd name="T10" fmla="*/ 14 w 28"/>
                  <a:gd name="T11" fmla="*/ 42 h 42"/>
                  <a:gd name="T12" fmla="*/ 0 w 28"/>
                  <a:gd name="T13" fmla="*/ 28 h 42"/>
                  <a:gd name="T14" fmla="*/ 0 w 28"/>
                  <a:gd name="T15" fmla="*/ 14 h 42"/>
                  <a:gd name="T16" fmla="*/ 0 w 28"/>
                  <a:gd name="T17" fmla="*/ 0 h 42"/>
                  <a:gd name="T18" fmla="*/ 14 w 28"/>
                  <a:gd name="T19" fmla="*/ 0 h 4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8"/>
                  <a:gd name="T31" fmla="*/ 0 h 42"/>
                  <a:gd name="T32" fmla="*/ 28 w 28"/>
                  <a:gd name="T33" fmla="*/ 42 h 4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8" h="42">
                    <a:moveTo>
                      <a:pt x="14" y="0"/>
                    </a:moveTo>
                    <a:lnTo>
                      <a:pt x="14" y="0"/>
                    </a:lnTo>
                    <a:lnTo>
                      <a:pt x="28" y="14"/>
                    </a:lnTo>
                    <a:lnTo>
                      <a:pt x="28" y="28"/>
                    </a:lnTo>
                    <a:lnTo>
                      <a:pt x="14" y="42"/>
                    </a:lnTo>
                    <a:lnTo>
                      <a:pt x="0" y="28"/>
                    </a:lnTo>
                    <a:lnTo>
                      <a:pt x="0" y="14"/>
                    </a:lnTo>
                    <a:lnTo>
                      <a:pt x="0" y="0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999999"/>
              </a:solidFill>
              <a:ln w="31750">
                <a:solidFill>
                  <a:srgbClr val="9999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30061" name="Picture 62">
                <a:extLst>
                  <a:ext uri="{FF2B5EF4-FFF2-40B4-BE49-F238E27FC236}">
                    <a16:creationId xmlns:a16="http://schemas.microsoft.com/office/drawing/2014/main" id="{DA14B010-F5A8-4872-838F-DEE1200B71E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22" y="1961"/>
                <a:ext cx="69" cy="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0062" name="Line 63">
                <a:extLst>
                  <a:ext uri="{FF2B5EF4-FFF2-40B4-BE49-F238E27FC236}">
                    <a16:creationId xmlns:a16="http://schemas.microsoft.com/office/drawing/2014/main" id="{E70723A7-F299-4598-8702-6624635F6E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32" y="2085"/>
                <a:ext cx="1" cy="14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063" name="Line 64">
                <a:extLst>
                  <a:ext uri="{FF2B5EF4-FFF2-40B4-BE49-F238E27FC236}">
                    <a16:creationId xmlns:a16="http://schemas.microsoft.com/office/drawing/2014/main" id="{1FE24804-92DF-4657-BD4D-E20EDB3B18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46" y="2085"/>
                <a:ext cx="1" cy="14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064" name="Line 65">
                <a:extLst>
                  <a:ext uri="{FF2B5EF4-FFF2-40B4-BE49-F238E27FC236}">
                    <a16:creationId xmlns:a16="http://schemas.microsoft.com/office/drawing/2014/main" id="{883C1490-2F5F-4743-B9C9-E5D93643B5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46" y="2085"/>
                <a:ext cx="1" cy="14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065" name="Rectangle 66">
                <a:extLst>
                  <a:ext uri="{FF2B5EF4-FFF2-40B4-BE49-F238E27FC236}">
                    <a16:creationId xmlns:a16="http://schemas.microsoft.com/office/drawing/2014/main" id="{07D0C50A-41C3-4DD1-9255-AED0F52D0D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8" y="2016"/>
                <a:ext cx="96" cy="14"/>
              </a:xfrm>
              <a:prstGeom prst="rect">
                <a:avLst/>
              </a:prstGeom>
              <a:solidFill>
                <a:srgbClr val="D9AA73"/>
              </a:solidFill>
              <a:ln w="31750">
                <a:solidFill>
                  <a:srgbClr val="D9AA73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algn="ctr">
                  <a:spcBef>
                    <a:spcPct val="20000"/>
                  </a:spcBef>
                  <a:buClr>
                    <a:schemeClr val="accent2"/>
                  </a:buClr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</a:pPr>
                <a:endParaRPr lang="sv-SE" altLang="en-US" sz="2400">
                  <a:ea typeface="MS PGothic" panose="020B0600070205080204" pitchFamily="34" charset="-128"/>
                </a:endParaRPr>
              </a:p>
            </p:txBody>
          </p:sp>
          <p:sp>
            <p:nvSpPr>
              <p:cNvPr id="30066" name="Freeform 67">
                <a:extLst>
                  <a:ext uri="{FF2B5EF4-FFF2-40B4-BE49-F238E27FC236}">
                    <a16:creationId xmlns:a16="http://schemas.microsoft.com/office/drawing/2014/main" id="{4C6E7104-A879-434C-BDD3-AB8778FB88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4" y="2030"/>
                <a:ext cx="124" cy="28"/>
              </a:xfrm>
              <a:custGeom>
                <a:avLst/>
                <a:gdLst>
                  <a:gd name="T0" fmla="*/ 14 w 124"/>
                  <a:gd name="T1" fmla="*/ 0 h 28"/>
                  <a:gd name="T2" fmla="*/ 0 w 124"/>
                  <a:gd name="T3" fmla="*/ 28 h 28"/>
                  <a:gd name="T4" fmla="*/ 124 w 124"/>
                  <a:gd name="T5" fmla="*/ 28 h 28"/>
                  <a:gd name="T6" fmla="*/ 110 w 124"/>
                  <a:gd name="T7" fmla="*/ 0 h 28"/>
                  <a:gd name="T8" fmla="*/ 14 w 124"/>
                  <a:gd name="T9" fmla="*/ 0 h 2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4"/>
                  <a:gd name="T16" fmla="*/ 0 h 28"/>
                  <a:gd name="T17" fmla="*/ 124 w 124"/>
                  <a:gd name="T18" fmla="*/ 28 h 2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4" h="28">
                    <a:moveTo>
                      <a:pt x="14" y="0"/>
                    </a:moveTo>
                    <a:lnTo>
                      <a:pt x="0" y="28"/>
                    </a:lnTo>
                    <a:lnTo>
                      <a:pt x="124" y="28"/>
                    </a:lnTo>
                    <a:lnTo>
                      <a:pt x="110" y="0"/>
                    </a:lnTo>
                    <a:lnTo>
                      <a:pt x="14" y="0"/>
                    </a:lnTo>
                    <a:close/>
                  </a:path>
                </a:pathLst>
              </a:custGeom>
              <a:noFill/>
              <a:ln w="31750">
                <a:solidFill>
                  <a:srgbClr val="D9AA7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067" name="Line 68">
                <a:extLst>
                  <a:ext uri="{FF2B5EF4-FFF2-40B4-BE49-F238E27FC236}">
                    <a16:creationId xmlns:a16="http://schemas.microsoft.com/office/drawing/2014/main" id="{0FE37B29-B760-4C44-A55D-7EDEB09958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8" y="2044"/>
                <a:ext cx="14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068" name="Line 69">
                <a:extLst>
                  <a:ext uri="{FF2B5EF4-FFF2-40B4-BE49-F238E27FC236}">
                    <a16:creationId xmlns:a16="http://schemas.microsoft.com/office/drawing/2014/main" id="{63D544C9-0099-480E-BBD7-11949769DB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8" y="2030"/>
                <a:ext cx="96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069" name="Line 70">
                <a:extLst>
                  <a:ext uri="{FF2B5EF4-FFF2-40B4-BE49-F238E27FC236}">
                    <a16:creationId xmlns:a16="http://schemas.microsoft.com/office/drawing/2014/main" id="{1F1BBB40-82A8-48DF-872B-549D0B94B4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8" y="2044"/>
                <a:ext cx="55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070" name="Line 71">
                <a:extLst>
                  <a:ext uri="{FF2B5EF4-FFF2-40B4-BE49-F238E27FC236}">
                    <a16:creationId xmlns:a16="http://schemas.microsoft.com/office/drawing/2014/main" id="{A352A92C-BD55-4815-A3A6-1147951796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5" y="2044"/>
                <a:ext cx="56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071" name="Line 72">
                <a:extLst>
                  <a:ext uri="{FF2B5EF4-FFF2-40B4-BE49-F238E27FC236}">
                    <a16:creationId xmlns:a16="http://schemas.microsoft.com/office/drawing/2014/main" id="{D9058E35-1A4B-4182-9766-8AC49B74BF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7" y="2044"/>
                <a:ext cx="27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072" name="Line 73">
                <a:extLst>
                  <a:ext uri="{FF2B5EF4-FFF2-40B4-BE49-F238E27FC236}">
                    <a16:creationId xmlns:a16="http://schemas.microsoft.com/office/drawing/2014/main" id="{6E2F42A6-7745-4D85-8E7E-8E6A65842E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91" y="2044"/>
                <a:ext cx="27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073" name="Rectangle 74">
                <a:extLst>
                  <a:ext uri="{FF2B5EF4-FFF2-40B4-BE49-F238E27FC236}">
                    <a16:creationId xmlns:a16="http://schemas.microsoft.com/office/drawing/2014/main" id="{B5D0E480-584C-4622-9D15-1B152D1B89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9" y="1933"/>
                <a:ext cx="28" cy="4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algn="ctr">
                  <a:spcBef>
                    <a:spcPct val="20000"/>
                  </a:spcBef>
                  <a:buClr>
                    <a:schemeClr val="accent2"/>
                  </a:buClr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</a:pPr>
                <a:endParaRPr lang="sv-SE" altLang="en-US" sz="2400">
                  <a:ea typeface="MS PGothic" panose="020B0600070205080204" pitchFamily="34" charset="-128"/>
                </a:endParaRPr>
              </a:p>
            </p:txBody>
          </p:sp>
          <p:sp>
            <p:nvSpPr>
              <p:cNvPr id="30074" name="Rectangle 75">
                <a:extLst>
                  <a:ext uri="{FF2B5EF4-FFF2-40B4-BE49-F238E27FC236}">
                    <a16:creationId xmlns:a16="http://schemas.microsoft.com/office/drawing/2014/main" id="{E35D1206-054E-4442-BE3E-0273A8C4AC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9" y="1933"/>
                <a:ext cx="42" cy="56"/>
              </a:xfrm>
              <a:prstGeom prst="rect">
                <a:avLst/>
              </a:prstGeom>
              <a:noFill/>
              <a:ln w="317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algn="ctr">
                  <a:spcBef>
                    <a:spcPct val="20000"/>
                  </a:spcBef>
                  <a:buClr>
                    <a:schemeClr val="accent2"/>
                  </a:buClr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</a:pPr>
                <a:endParaRPr lang="sv-SE" altLang="en-US" sz="2400">
                  <a:ea typeface="MS PGothic" panose="020B0600070205080204" pitchFamily="34" charset="-128"/>
                </a:endParaRPr>
              </a:p>
            </p:txBody>
          </p:sp>
          <p:sp>
            <p:nvSpPr>
              <p:cNvPr id="30075" name="Freeform 76">
                <a:extLst>
                  <a:ext uri="{FF2B5EF4-FFF2-40B4-BE49-F238E27FC236}">
                    <a16:creationId xmlns:a16="http://schemas.microsoft.com/office/drawing/2014/main" id="{27F09D64-AD06-4FA4-B216-FD467008FD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56" y="1989"/>
                <a:ext cx="42" cy="69"/>
              </a:xfrm>
              <a:custGeom>
                <a:avLst/>
                <a:gdLst>
                  <a:gd name="T0" fmla="*/ 0 w 42"/>
                  <a:gd name="T1" fmla="*/ 0 h 69"/>
                  <a:gd name="T2" fmla="*/ 42 w 42"/>
                  <a:gd name="T3" fmla="*/ 13 h 69"/>
                  <a:gd name="T4" fmla="*/ 42 w 42"/>
                  <a:gd name="T5" fmla="*/ 69 h 69"/>
                  <a:gd name="T6" fmla="*/ 0 60000 65536"/>
                  <a:gd name="T7" fmla="*/ 0 60000 65536"/>
                  <a:gd name="T8" fmla="*/ 0 60000 65536"/>
                  <a:gd name="T9" fmla="*/ 0 w 42"/>
                  <a:gd name="T10" fmla="*/ 0 h 69"/>
                  <a:gd name="T11" fmla="*/ 42 w 42"/>
                  <a:gd name="T12" fmla="*/ 69 h 6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" h="69">
                    <a:moveTo>
                      <a:pt x="0" y="0"/>
                    </a:moveTo>
                    <a:lnTo>
                      <a:pt x="42" y="13"/>
                    </a:lnTo>
                    <a:lnTo>
                      <a:pt x="42" y="69"/>
                    </a:lnTo>
                  </a:path>
                </a:pathLst>
              </a:custGeom>
              <a:noFill/>
              <a:ln w="3175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076" name="AutoShape 77">
                <a:extLst>
                  <a:ext uri="{FF2B5EF4-FFF2-40B4-BE49-F238E27FC236}">
                    <a16:creationId xmlns:a16="http://schemas.microsoft.com/office/drawing/2014/main" id="{4B290911-857B-47AE-89BB-32FB4AD9E4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6" y="1906"/>
                <a:ext cx="110" cy="83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algn="ctr">
                  <a:spcBef>
                    <a:spcPct val="20000"/>
                  </a:spcBef>
                  <a:buClr>
                    <a:schemeClr val="accent2"/>
                  </a:buClr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</a:pPr>
                <a:endParaRPr lang="sv-SE" altLang="en-US" sz="2400">
                  <a:ea typeface="MS PGothic" panose="020B0600070205080204" pitchFamily="34" charset="-128"/>
                </a:endParaRPr>
              </a:p>
            </p:txBody>
          </p:sp>
          <p:sp>
            <p:nvSpPr>
              <p:cNvPr id="30077" name="AutoShape 78">
                <a:extLst>
                  <a:ext uri="{FF2B5EF4-FFF2-40B4-BE49-F238E27FC236}">
                    <a16:creationId xmlns:a16="http://schemas.microsoft.com/office/drawing/2014/main" id="{4F78E33B-7AEE-46C1-BC57-5D40D7FA21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2" y="1892"/>
                <a:ext cx="138" cy="110"/>
              </a:xfrm>
              <a:prstGeom prst="roundRect">
                <a:avLst>
                  <a:gd name="adj" fmla="val 40454"/>
                </a:avLst>
              </a:prstGeom>
              <a:noFill/>
              <a:ln w="53975">
                <a:solidFill>
                  <a:srgbClr val="9999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algn="ctr">
                  <a:spcBef>
                    <a:spcPct val="20000"/>
                  </a:spcBef>
                  <a:buClr>
                    <a:schemeClr val="accent2"/>
                  </a:buClr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</a:pPr>
                <a:endParaRPr lang="sv-SE" altLang="en-US" sz="2400">
                  <a:ea typeface="MS PGothic" panose="020B0600070205080204" pitchFamily="34" charset="-128"/>
                </a:endParaRPr>
              </a:p>
            </p:txBody>
          </p:sp>
          <p:sp>
            <p:nvSpPr>
              <p:cNvPr id="30078" name="Rectangle 79">
                <a:extLst>
                  <a:ext uri="{FF2B5EF4-FFF2-40B4-BE49-F238E27FC236}">
                    <a16:creationId xmlns:a16="http://schemas.microsoft.com/office/drawing/2014/main" id="{23B370BD-4400-4D4E-8067-BD5375D353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0" y="1920"/>
                <a:ext cx="82" cy="4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algn="ctr">
                  <a:spcBef>
                    <a:spcPct val="20000"/>
                  </a:spcBef>
                  <a:buClr>
                    <a:schemeClr val="accent2"/>
                  </a:buClr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</a:pPr>
                <a:endParaRPr lang="sv-SE" altLang="en-US" sz="2400">
                  <a:ea typeface="MS PGothic" panose="020B0600070205080204" pitchFamily="34" charset="-128"/>
                </a:endParaRPr>
              </a:p>
            </p:txBody>
          </p:sp>
          <p:sp>
            <p:nvSpPr>
              <p:cNvPr id="30079" name="Rectangle 80">
                <a:extLst>
                  <a:ext uri="{FF2B5EF4-FFF2-40B4-BE49-F238E27FC236}">
                    <a16:creationId xmlns:a16="http://schemas.microsoft.com/office/drawing/2014/main" id="{DBFD78E1-DDDB-441D-9A58-A88E34C408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0" y="1920"/>
                <a:ext cx="96" cy="55"/>
              </a:xfrm>
              <a:prstGeom prst="rect">
                <a:avLst/>
              </a:prstGeom>
              <a:noFill/>
              <a:ln w="317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algn="ctr">
                  <a:spcBef>
                    <a:spcPct val="20000"/>
                  </a:spcBef>
                  <a:buClr>
                    <a:schemeClr val="accent2"/>
                  </a:buClr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</a:pPr>
                <a:endParaRPr lang="sv-SE" altLang="en-US" sz="2400">
                  <a:ea typeface="MS PGothic" panose="020B0600070205080204" pitchFamily="34" charset="-128"/>
                </a:endParaRPr>
              </a:p>
            </p:txBody>
          </p:sp>
          <p:sp>
            <p:nvSpPr>
              <p:cNvPr id="30080" name="Freeform 81">
                <a:extLst>
                  <a:ext uri="{FF2B5EF4-FFF2-40B4-BE49-F238E27FC236}">
                    <a16:creationId xmlns:a16="http://schemas.microsoft.com/office/drawing/2014/main" id="{1A6C242C-93DC-4779-9233-1CF19745FE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84" y="2044"/>
                <a:ext cx="27" cy="41"/>
              </a:xfrm>
              <a:custGeom>
                <a:avLst/>
                <a:gdLst>
                  <a:gd name="T0" fmla="*/ 14 w 27"/>
                  <a:gd name="T1" fmla="*/ 0 h 41"/>
                  <a:gd name="T2" fmla="*/ 14 w 27"/>
                  <a:gd name="T3" fmla="*/ 0 h 41"/>
                  <a:gd name="T4" fmla="*/ 27 w 27"/>
                  <a:gd name="T5" fmla="*/ 14 h 41"/>
                  <a:gd name="T6" fmla="*/ 27 w 27"/>
                  <a:gd name="T7" fmla="*/ 27 h 41"/>
                  <a:gd name="T8" fmla="*/ 14 w 27"/>
                  <a:gd name="T9" fmla="*/ 41 h 41"/>
                  <a:gd name="T10" fmla="*/ 14 w 27"/>
                  <a:gd name="T11" fmla="*/ 41 h 41"/>
                  <a:gd name="T12" fmla="*/ 0 w 27"/>
                  <a:gd name="T13" fmla="*/ 27 h 41"/>
                  <a:gd name="T14" fmla="*/ 0 w 27"/>
                  <a:gd name="T15" fmla="*/ 14 h 41"/>
                  <a:gd name="T16" fmla="*/ 0 w 27"/>
                  <a:gd name="T17" fmla="*/ 0 h 41"/>
                  <a:gd name="T18" fmla="*/ 14 w 27"/>
                  <a:gd name="T19" fmla="*/ 0 h 4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7"/>
                  <a:gd name="T31" fmla="*/ 0 h 41"/>
                  <a:gd name="T32" fmla="*/ 27 w 27"/>
                  <a:gd name="T33" fmla="*/ 41 h 4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7" h="41">
                    <a:moveTo>
                      <a:pt x="14" y="0"/>
                    </a:moveTo>
                    <a:lnTo>
                      <a:pt x="14" y="0"/>
                    </a:lnTo>
                    <a:lnTo>
                      <a:pt x="27" y="14"/>
                    </a:lnTo>
                    <a:lnTo>
                      <a:pt x="27" y="27"/>
                    </a:lnTo>
                    <a:lnTo>
                      <a:pt x="14" y="41"/>
                    </a:lnTo>
                    <a:lnTo>
                      <a:pt x="0" y="27"/>
                    </a:lnTo>
                    <a:lnTo>
                      <a:pt x="0" y="14"/>
                    </a:lnTo>
                    <a:lnTo>
                      <a:pt x="0" y="0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999999"/>
              </a:solidFill>
              <a:ln w="31750">
                <a:solidFill>
                  <a:srgbClr val="9999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30081" name="Picture 82">
                <a:extLst>
                  <a:ext uri="{FF2B5EF4-FFF2-40B4-BE49-F238E27FC236}">
                    <a16:creationId xmlns:a16="http://schemas.microsoft.com/office/drawing/2014/main" id="{E3FB5BBC-C24B-4B0F-9FFA-6E5CAFE5A02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73" y="1933"/>
                <a:ext cx="69" cy="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0082" name="Line 83">
                <a:extLst>
                  <a:ext uri="{FF2B5EF4-FFF2-40B4-BE49-F238E27FC236}">
                    <a16:creationId xmlns:a16="http://schemas.microsoft.com/office/drawing/2014/main" id="{944BB75E-7CE2-44FC-AE99-A0A09B9D5D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84" y="2058"/>
                <a:ext cx="1" cy="13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083" name="Line 84">
                <a:extLst>
                  <a:ext uri="{FF2B5EF4-FFF2-40B4-BE49-F238E27FC236}">
                    <a16:creationId xmlns:a16="http://schemas.microsoft.com/office/drawing/2014/main" id="{03C5B6F7-CA9A-4AC0-91E4-2C984B9121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98" y="2058"/>
                <a:ext cx="1" cy="13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084" name="Line 85">
                <a:extLst>
                  <a:ext uri="{FF2B5EF4-FFF2-40B4-BE49-F238E27FC236}">
                    <a16:creationId xmlns:a16="http://schemas.microsoft.com/office/drawing/2014/main" id="{EAF94FA9-C283-4C61-BCE0-FB8C714074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98" y="2058"/>
                <a:ext cx="1" cy="13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085" name="Rectangle 86">
                <a:extLst>
                  <a:ext uri="{FF2B5EF4-FFF2-40B4-BE49-F238E27FC236}">
                    <a16:creationId xmlns:a16="http://schemas.microsoft.com/office/drawing/2014/main" id="{BBAE69B7-E759-4DF1-AD77-6F7D0D772A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0" y="1989"/>
                <a:ext cx="96" cy="13"/>
              </a:xfrm>
              <a:prstGeom prst="rect">
                <a:avLst/>
              </a:prstGeom>
              <a:solidFill>
                <a:srgbClr val="D9AA73"/>
              </a:solidFill>
              <a:ln w="31750">
                <a:solidFill>
                  <a:srgbClr val="D9AA73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algn="ctr">
                  <a:spcBef>
                    <a:spcPct val="20000"/>
                  </a:spcBef>
                  <a:buClr>
                    <a:schemeClr val="accent2"/>
                  </a:buClr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</a:pPr>
                <a:endParaRPr lang="sv-SE" altLang="en-US" sz="2400">
                  <a:ea typeface="MS PGothic" panose="020B0600070205080204" pitchFamily="34" charset="-128"/>
                </a:endParaRPr>
              </a:p>
            </p:txBody>
          </p:sp>
          <p:sp>
            <p:nvSpPr>
              <p:cNvPr id="30086" name="Freeform 87">
                <a:extLst>
                  <a:ext uri="{FF2B5EF4-FFF2-40B4-BE49-F238E27FC236}">
                    <a16:creationId xmlns:a16="http://schemas.microsoft.com/office/drawing/2014/main" id="{1356301E-C7D8-4BEA-A3E7-17BF645D75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46" y="2002"/>
                <a:ext cx="124" cy="28"/>
              </a:xfrm>
              <a:custGeom>
                <a:avLst/>
                <a:gdLst>
                  <a:gd name="T0" fmla="*/ 14 w 124"/>
                  <a:gd name="T1" fmla="*/ 0 h 28"/>
                  <a:gd name="T2" fmla="*/ 0 w 124"/>
                  <a:gd name="T3" fmla="*/ 28 h 28"/>
                  <a:gd name="T4" fmla="*/ 124 w 124"/>
                  <a:gd name="T5" fmla="*/ 28 h 28"/>
                  <a:gd name="T6" fmla="*/ 110 w 124"/>
                  <a:gd name="T7" fmla="*/ 0 h 28"/>
                  <a:gd name="T8" fmla="*/ 14 w 124"/>
                  <a:gd name="T9" fmla="*/ 0 h 2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4"/>
                  <a:gd name="T16" fmla="*/ 0 h 28"/>
                  <a:gd name="T17" fmla="*/ 124 w 124"/>
                  <a:gd name="T18" fmla="*/ 28 h 2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4" h="28">
                    <a:moveTo>
                      <a:pt x="14" y="0"/>
                    </a:moveTo>
                    <a:lnTo>
                      <a:pt x="0" y="28"/>
                    </a:lnTo>
                    <a:lnTo>
                      <a:pt x="124" y="28"/>
                    </a:lnTo>
                    <a:lnTo>
                      <a:pt x="110" y="0"/>
                    </a:lnTo>
                    <a:lnTo>
                      <a:pt x="14" y="0"/>
                    </a:lnTo>
                    <a:close/>
                  </a:path>
                </a:pathLst>
              </a:custGeom>
              <a:noFill/>
              <a:ln w="31750">
                <a:solidFill>
                  <a:srgbClr val="D9AA7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087" name="Line 88">
                <a:extLst>
                  <a:ext uri="{FF2B5EF4-FFF2-40B4-BE49-F238E27FC236}">
                    <a16:creationId xmlns:a16="http://schemas.microsoft.com/office/drawing/2014/main" id="{FD00D763-2A35-4410-9F56-93603721DB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60" y="2016"/>
                <a:ext cx="13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088" name="Line 89">
                <a:extLst>
                  <a:ext uri="{FF2B5EF4-FFF2-40B4-BE49-F238E27FC236}">
                    <a16:creationId xmlns:a16="http://schemas.microsoft.com/office/drawing/2014/main" id="{610CD29B-6044-40FA-883C-80D2BF1B7C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60" y="2002"/>
                <a:ext cx="96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089" name="Line 90">
                <a:extLst>
                  <a:ext uri="{FF2B5EF4-FFF2-40B4-BE49-F238E27FC236}">
                    <a16:creationId xmlns:a16="http://schemas.microsoft.com/office/drawing/2014/main" id="{52588D00-73E2-48E7-82E7-EA617DC1CF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60" y="2016"/>
                <a:ext cx="55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090" name="Line 91">
                <a:extLst>
                  <a:ext uri="{FF2B5EF4-FFF2-40B4-BE49-F238E27FC236}">
                    <a16:creationId xmlns:a16="http://schemas.microsoft.com/office/drawing/2014/main" id="{BA847E74-9CB2-4276-A643-CD11126AFC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87" y="2016"/>
                <a:ext cx="55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091" name="Line 92">
                <a:extLst>
                  <a:ext uri="{FF2B5EF4-FFF2-40B4-BE49-F238E27FC236}">
                    <a16:creationId xmlns:a16="http://schemas.microsoft.com/office/drawing/2014/main" id="{C47FB45C-C823-48E3-B56B-661D34DEA0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29" y="2016"/>
                <a:ext cx="27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092" name="Line 93">
                <a:extLst>
                  <a:ext uri="{FF2B5EF4-FFF2-40B4-BE49-F238E27FC236}">
                    <a16:creationId xmlns:a16="http://schemas.microsoft.com/office/drawing/2014/main" id="{4D48CD00-EB2E-4BE6-B519-D83946E22C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42" y="2016"/>
                <a:ext cx="28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093" name="Rectangle 94">
                <a:extLst>
                  <a:ext uri="{FF2B5EF4-FFF2-40B4-BE49-F238E27FC236}">
                    <a16:creationId xmlns:a16="http://schemas.microsoft.com/office/drawing/2014/main" id="{C26B4240-61F0-428A-A5C9-0F3CB247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1" y="1906"/>
                <a:ext cx="28" cy="4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algn="ctr">
                  <a:spcBef>
                    <a:spcPct val="20000"/>
                  </a:spcBef>
                  <a:buClr>
                    <a:schemeClr val="accent2"/>
                  </a:buClr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</a:pPr>
                <a:endParaRPr lang="sv-SE" altLang="en-US" sz="2400">
                  <a:ea typeface="MS PGothic" panose="020B0600070205080204" pitchFamily="34" charset="-128"/>
                </a:endParaRPr>
              </a:p>
            </p:txBody>
          </p:sp>
          <p:sp>
            <p:nvSpPr>
              <p:cNvPr id="30094" name="Rectangle 95">
                <a:extLst>
                  <a:ext uri="{FF2B5EF4-FFF2-40B4-BE49-F238E27FC236}">
                    <a16:creationId xmlns:a16="http://schemas.microsoft.com/office/drawing/2014/main" id="{CEEF9B5B-6213-4825-A9A1-2635EDBE78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1" y="1906"/>
                <a:ext cx="41" cy="55"/>
              </a:xfrm>
              <a:prstGeom prst="rect">
                <a:avLst/>
              </a:prstGeom>
              <a:noFill/>
              <a:ln w="317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algn="ctr">
                  <a:spcBef>
                    <a:spcPct val="20000"/>
                  </a:spcBef>
                  <a:buClr>
                    <a:schemeClr val="accent2"/>
                  </a:buClr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</a:pPr>
                <a:endParaRPr lang="sv-SE" altLang="en-US" sz="2400">
                  <a:ea typeface="MS PGothic" panose="020B0600070205080204" pitchFamily="34" charset="-128"/>
                </a:endParaRPr>
              </a:p>
            </p:txBody>
          </p:sp>
          <p:sp>
            <p:nvSpPr>
              <p:cNvPr id="30095" name="Freeform 96">
                <a:extLst>
                  <a:ext uri="{FF2B5EF4-FFF2-40B4-BE49-F238E27FC236}">
                    <a16:creationId xmlns:a16="http://schemas.microsoft.com/office/drawing/2014/main" id="{EC60E210-D1D6-4DEB-9634-FC74FDA7EB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0" y="2071"/>
                <a:ext cx="56" cy="69"/>
              </a:xfrm>
              <a:custGeom>
                <a:avLst/>
                <a:gdLst>
                  <a:gd name="T0" fmla="*/ 0 w 56"/>
                  <a:gd name="T1" fmla="*/ 0 h 69"/>
                  <a:gd name="T2" fmla="*/ 42 w 56"/>
                  <a:gd name="T3" fmla="*/ 14 h 69"/>
                  <a:gd name="T4" fmla="*/ 56 w 56"/>
                  <a:gd name="T5" fmla="*/ 69 h 69"/>
                  <a:gd name="T6" fmla="*/ 0 60000 65536"/>
                  <a:gd name="T7" fmla="*/ 0 60000 65536"/>
                  <a:gd name="T8" fmla="*/ 0 60000 65536"/>
                  <a:gd name="T9" fmla="*/ 0 w 56"/>
                  <a:gd name="T10" fmla="*/ 0 h 69"/>
                  <a:gd name="T11" fmla="*/ 56 w 56"/>
                  <a:gd name="T12" fmla="*/ 69 h 6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6" h="69">
                    <a:moveTo>
                      <a:pt x="0" y="0"/>
                    </a:moveTo>
                    <a:lnTo>
                      <a:pt x="42" y="14"/>
                    </a:lnTo>
                    <a:lnTo>
                      <a:pt x="56" y="69"/>
                    </a:lnTo>
                  </a:path>
                </a:pathLst>
              </a:custGeom>
              <a:noFill/>
              <a:ln w="3175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096" name="AutoShape 97">
                <a:extLst>
                  <a:ext uri="{FF2B5EF4-FFF2-40B4-BE49-F238E27FC236}">
                    <a16:creationId xmlns:a16="http://schemas.microsoft.com/office/drawing/2014/main" id="{6CDAC097-1A8B-4AD3-A586-AA4A2776FE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" y="1989"/>
                <a:ext cx="110" cy="82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algn="ctr">
                  <a:spcBef>
                    <a:spcPct val="20000"/>
                  </a:spcBef>
                  <a:buClr>
                    <a:schemeClr val="accent2"/>
                  </a:buClr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</a:pPr>
                <a:endParaRPr lang="sv-SE" altLang="en-US" sz="2400">
                  <a:ea typeface="MS PGothic" panose="020B0600070205080204" pitchFamily="34" charset="-128"/>
                </a:endParaRPr>
              </a:p>
            </p:txBody>
          </p:sp>
          <p:sp>
            <p:nvSpPr>
              <p:cNvPr id="30097" name="AutoShape 98">
                <a:extLst>
                  <a:ext uri="{FF2B5EF4-FFF2-40B4-BE49-F238E27FC236}">
                    <a16:creationId xmlns:a16="http://schemas.microsoft.com/office/drawing/2014/main" id="{0E3EE4E0-6A13-48B5-9E63-BA2024A6BB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0" y="1975"/>
                <a:ext cx="138" cy="110"/>
              </a:xfrm>
              <a:prstGeom prst="roundRect">
                <a:avLst>
                  <a:gd name="adj" fmla="val 40454"/>
                </a:avLst>
              </a:prstGeom>
              <a:noFill/>
              <a:ln w="53975">
                <a:solidFill>
                  <a:srgbClr val="9999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algn="ctr">
                  <a:spcBef>
                    <a:spcPct val="20000"/>
                  </a:spcBef>
                  <a:buClr>
                    <a:schemeClr val="accent2"/>
                  </a:buClr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</a:pPr>
                <a:endParaRPr lang="sv-SE" altLang="en-US" sz="2400">
                  <a:ea typeface="MS PGothic" panose="020B0600070205080204" pitchFamily="34" charset="-128"/>
                </a:endParaRPr>
              </a:p>
            </p:txBody>
          </p:sp>
          <p:sp>
            <p:nvSpPr>
              <p:cNvPr id="30098" name="Rectangle 99">
                <a:extLst>
                  <a:ext uri="{FF2B5EF4-FFF2-40B4-BE49-F238E27FC236}">
                    <a16:creationId xmlns:a16="http://schemas.microsoft.com/office/drawing/2014/main" id="{10DB3533-A548-4402-A020-C2DE91E059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8" y="2002"/>
                <a:ext cx="82" cy="4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algn="ctr">
                  <a:spcBef>
                    <a:spcPct val="20000"/>
                  </a:spcBef>
                  <a:buClr>
                    <a:schemeClr val="accent2"/>
                  </a:buClr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</a:pPr>
                <a:endParaRPr lang="sv-SE" altLang="en-US" sz="2400">
                  <a:ea typeface="MS PGothic" panose="020B0600070205080204" pitchFamily="34" charset="-128"/>
                </a:endParaRPr>
              </a:p>
            </p:txBody>
          </p:sp>
          <p:sp>
            <p:nvSpPr>
              <p:cNvPr id="30099" name="Rectangle 100">
                <a:extLst>
                  <a:ext uri="{FF2B5EF4-FFF2-40B4-BE49-F238E27FC236}">
                    <a16:creationId xmlns:a16="http://schemas.microsoft.com/office/drawing/2014/main" id="{895DD8DC-9F52-463E-8DEB-B494572EE9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8" y="2002"/>
                <a:ext cx="96" cy="56"/>
              </a:xfrm>
              <a:prstGeom prst="rect">
                <a:avLst/>
              </a:prstGeom>
              <a:noFill/>
              <a:ln w="317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algn="ctr">
                  <a:spcBef>
                    <a:spcPct val="20000"/>
                  </a:spcBef>
                  <a:buClr>
                    <a:schemeClr val="accent2"/>
                  </a:buClr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</a:pPr>
                <a:endParaRPr lang="sv-SE" altLang="en-US" sz="2400">
                  <a:ea typeface="MS PGothic" panose="020B0600070205080204" pitchFamily="34" charset="-128"/>
                </a:endParaRPr>
              </a:p>
            </p:txBody>
          </p:sp>
          <p:sp>
            <p:nvSpPr>
              <p:cNvPr id="30100" name="Freeform 101">
                <a:extLst>
                  <a:ext uri="{FF2B5EF4-FFF2-40B4-BE49-F238E27FC236}">
                    <a16:creationId xmlns:a16="http://schemas.microsoft.com/office/drawing/2014/main" id="{44A768D1-2278-491F-9F91-AAD71473CA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2" y="2127"/>
                <a:ext cx="14" cy="41"/>
              </a:xfrm>
              <a:custGeom>
                <a:avLst/>
                <a:gdLst>
                  <a:gd name="T0" fmla="*/ 0 w 14"/>
                  <a:gd name="T1" fmla="*/ 0 h 41"/>
                  <a:gd name="T2" fmla="*/ 14 w 14"/>
                  <a:gd name="T3" fmla="*/ 0 h 41"/>
                  <a:gd name="T4" fmla="*/ 14 w 14"/>
                  <a:gd name="T5" fmla="*/ 13 h 41"/>
                  <a:gd name="T6" fmla="*/ 14 w 14"/>
                  <a:gd name="T7" fmla="*/ 27 h 41"/>
                  <a:gd name="T8" fmla="*/ 14 w 14"/>
                  <a:gd name="T9" fmla="*/ 41 h 41"/>
                  <a:gd name="T10" fmla="*/ 0 w 14"/>
                  <a:gd name="T11" fmla="*/ 41 h 41"/>
                  <a:gd name="T12" fmla="*/ 0 w 14"/>
                  <a:gd name="T13" fmla="*/ 27 h 41"/>
                  <a:gd name="T14" fmla="*/ 0 w 14"/>
                  <a:gd name="T15" fmla="*/ 13 h 41"/>
                  <a:gd name="T16" fmla="*/ 0 w 14"/>
                  <a:gd name="T17" fmla="*/ 0 h 41"/>
                  <a:gd name="T18" fmla="*/ 0 w 14"/>
                  <a:gd name="T19" fmla="*/ 0 h 4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4"/>
                  <a:gd name="T31" fmla="*/ 0 h 41"/>
                  <a:gd name="T32" fmla="*/ 14 w 14"/>
                  <a:gd name="T33" fmla="*/ 41 h 4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4" h="41">
                    <a:moveTo>
                      <a:pt x="0" y="0"/>
                    </a:moveTo>
                    <a:lnTo>
                      <a:pt x="14" y="0"/>
                    </a:lnTo>
                    <a:lnTo>
                      <a:pt x="14" y="13"/>
                    </a:lnTo>
                    <a:lnTo>
                      <a:pt x="14" y="27"/>
                    </a:lnTo>
                    <a:lnTo>
                      <a:pt x="14" y="41"/>
                    </a:lnTo>
                    <a:lnTo>
                      <a:pt x="0" y="41"/>
                    </a:lnTo>
                    <a:lnTo>
                      <a:pt x="0" y="27"/>
                    </a:lnTo>
                    <a:lnTo>
                      <a:pt x="0" y="1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9999"/>
              </a:solidFill>
              <a:ln w="31750">
                <a:solidFill>
                  <a:srgbClr val="9999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30101" name="Picture 102">
                <a:extLst>
                  <a:ext uri="{FF2B5EF4-FFF2-40B4-BE49-F238E27FC236}">
                    <a16:creationId xmlns:a16="http://schemas.microsoft.com/office/drawing/2014/main" id="{2138B72B-4994-4285-AAF0-E0C4E0F0066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11" y="2016"/>
                <a:ext cx="69" cy="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0102" name="Line 103">
                <a:extLst>
                  <a:ext uri="{FF2B5EF4-FFF2-40B4-BE49-F238E27FC236}">
                    <a16:creationId xmlns:a16="http://schemas.microsoft.com/office/drawing/2014/main" id="{3C5A18AD-F8A9-4554-A986-98007E731D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22" y="2140"/>
                <a:ext cx="1" cy="14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103" name="Line 104">
                <a:extLst>
                  <a:ext uri="{FF2B5EF4-FFF2-40B4-BE49-F238E27FC236}">
                    <a16:creationId xmlns:a16="http://schemas.microsoft.com/office/drawing/2014/main" id="{D6C0A53F-B905-4E72-B670-04DC72C944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22" y="2140"/>
                <a:ext cx="1" cy="14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104" name="Line 105">
                <a:extLst>
                  <a:ext uri="{FF2B5EF4-FFF2-40B4-BE49-F238E27FC236}">
                    <a16:creationId xmlns:a16="http://schemas.microsoft.com/office/drawing/2014/main" id="{5F82A4CA-038E-47EC-B4F0-C3220974C8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36" y="2140"/>
                <a:ext cx="1" cy="14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105" name="Rectangle 106">
                <a:extLst>
                  <a:ext uri="{FF2B5EF4-FFF2-40B4-BE49-F238E27FC236}">
                    <a16:creationId xmlns:a16="http://schemas.microsoft.com/office/drawing/2014/main" id="{6E9709B6-C5C2-4679-931F-E09B58A32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" y="2071"/>
                <a:ext cx="110" cy="14"/>
              </a:xfrm>
              <a:prstGeom prst="rect">
                <a:avLst/>
              </a:prstGeom>
              <a:solidFill>
                <a:srgbClr val="D9AA73"/>
              </a:solidFill>
              <a:ln w="31750">
                <a:solidFill>
                  <a:srgbClr val="D9AA73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algn="ctr">
                  <a:spcBef>
                    <a:spcPct val="20000"/>
                  </a:spcBef>
                  <a:buClr>
                    <a:schemeClr val="accent2"/>
                  </a:buClr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</a:pPr>
                <a:endParaRPr lang="sv-SE" altLang="en-US" sz="2400">
                  <a:ea typeface="MS PGothic" panose="020B0600070205080204" pitchFamily="34" charset="-128"/>
                </a:endParaRPr>
              </a:p>
            </p:txBody>
          </p:sp>
          <p:sp>
            <p:nvSpPr>
              <p:cNvPr id="30106" name="Freeform 107">
                <a:extLst>
                  <a:ext uri="{FF2B5EF4-FFF2-40B4-BE49-F238E27FC236}">
                    <a16:creationId xmlns:a16="http://schemas.microsoft.com/office/drawing/2014/main" id="{ADB2B9A7-896A-4AA8-81AA-5DAED6B5CA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0" y="2085"/>
                <a:ext cx="138" cy="28"/>
              </a:xfrm>
              <a:custGeom>
                <a:avLst/>
                <a:gdLst>
                  <a:gd name="T0" fmla="*/ 14 w 138"/>
                  <a:gd name="T1" fmla="*/ 0 h 28"/>
                  <a:gd name="T2" fmla="*/ 0 w 138"/>
                  <a:gd name="T3" fmla="*/ 28 h 28"/>
                  <a:gd name="T4" fmla="*/ 138 w 138"/>
                  <a:gd name="T5" fmla="*/ 28 h 28"/>
                  <a:gd name="T6" fmla="*/ 124 w 138"/>
                  <a:gd name="T7" fmla="*/ 0 h 28"/>
                  <a:gd name="T8" fmla="*/ 14 w 138"/>
                  <a:gd name="T9" fmla="*/ 0 h 2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8"/>
                  <a:gd name="T16" fmla="*/ 0 h 28"/>
                  <a:gd name="T17" fmla="*/ 138 w 138"/>
                  <a:gd name="T18" fmla="*/ 28 h 2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8" h="28">
                    <a:moveTo>
                      <a:pt x="14" y="0"/>
                    </a:moveTo>
                    <a:lnTo>
                      <a:pt x="0" y="28"/>
                    </a:lnTo>
                    <a:lnTo>
                      <a:pt x="138" y="28"/>
                    </a:lnTo>
                    <a:lnTo>
                      <a:pt x="124" y="0"/>
                    </a:lnTo>
                    <a:lnTo>
                      <a:pt x="14" y="0"/>
                    </a:lnTo>
                    <a:close/>
                  </a:path>
                </a:pathLst>
              </a:custGeom>
              <a:noFill/>
              <a:ln w="31750">
                <a:solidFill>
                  <a:srgbClr val="D9AA7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107" name="Line 108">
                <a:extLst>
                  <a:ext uri="{FF2B5EF4-FFF2-40B4-BE49-F238E27FC236}">
                    <a16:creationId xmlns:a16="http://schemas.microsoft.com/office/drawing/2014/main" id="{3B35B002-31A7-4616-965C-C30EA296E3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84" y="2099"/>
                <a:ext cx="27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108" name="Line 109">
                <a:extLst>
                  <a:ext uri="{FF2B5EF4-FFF2-40B4-BE49-F238E27FC236}">
                    <a16:creationId xmlns:a16="http://schemas.microsoft.com/office/drawing/2014/main" id="{CAA883A3-EA9B-422D-BB83-0167F349A8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98" y="2085"/>
                <a:ext cx="82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109" name="Line 110">
                <a:extLst>
                  <a:ext uri="{FF2B5EF4-FFF2-40B4-BE49-F238E27FC236}">
                    <a16:creationId xmlns:a16="http://schemas.microsoft.com/office/drawing/2014/main" id="{210D1298-7EF6-492E-BCBD-E09A8580BA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84" y="2099"/>
                <a:ext cx="69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110" name="Freeform 111">
                <a:extLst>
                  <a:ext uri="{FF2B5EF4-FFF2-40B4-BE49-F238E27FC236}">
                    <a16:creationId xmlns:a16="http://schemas.microsoft.com/office/drawing/2014/main" id="{73B2E7F3-0F85-4506-9F4E-9144CB38E8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5" y="2099"/>
                <a:ext cx="69" cy="1"/>
              </a:xfrm>
              <a:custGeom>
                <a:avLst/>
                <a:gdLst>
                  <a:gd name="T0" fmla="*/ 0 w 69"/>
                  <a:gd name="T1" fmla="*/ 0 h 1"/>
                  <a:gd name="T2" fmla="*/ 42 w 69"/>
                  <a:gd name="T3" fmla="*/ 0 h 1"/>
                  <a:gd name="T4" fmla="*/ 69 w 69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69"/>
                  <a:gd name="T10" fmla="*/ 0 h 1"/>
                  <a:gd name="T11" fmla="*/ 69 w 69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9" h="1">
                    <a:moveTo>
                      <a:pt x="0" y="0"/>
                    </a:moveTo>
                    <a:lnTo>
                      <a:pt x="42" y="0"/>
                    </a:lnTo>
                    <a:lnTo>
                      <a:pt x="69" y="0"/>
                    </a:lnTo>
                  </a:path>
                </a:pathLst>
              </a:custGeom>
              <a:noFill/>
              <a:ln w="3175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111" name="Line 112">
                <a:extLst>
                  <a:ext uri="{FF2B5EF4-FFF2-40B4-BE49-F238E27FC236}">
                    <a16:creationId xmlns:a16="http://schemas.microsoft.com/office/drawing/2014/main" id="{07D13DA9-A22A-4EAA-B2A8-6DFA629DF3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80" y="2099"/>
                <a:ext cx="14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112" name="Rectangle 113">
                <a:extLst>
                  <a:ext uri="{FF2B5EF4-FFF2-40B4-BE49-F238E27FC236}">
                    <a16:creationId xmlns:a16="http://schemas.microsoft.com/office/drawing/2014/main" id="{93477FA1-2A92-4FC2-A01A-4CBA71F3B2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9" y="1989"/>
                <a:ext cx="28" cy="4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algn="ctr">
                  <a:spcBef>
                    <a:spcPct val="20000"/>
                  </a:spcBef>
                  <a:buClr>
                    <a:schemeClr val="accent2"/>
                  </a:buClr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</a:pPr>
                <a:endParaRPr lang="sv-SE" altLang="en-US" sz="2400">
                  <a:ea typeface="MS PGothic" panose="020B0600070205080204" pitchFamily="34" charset="-128"/>
                </a:endParaRPr>
              </a:p>
            </p:txBody>
          </p:sp>
          <p:sp>
            <p:nvSpPr>
              <p:cNvPr id="30113" name="Rectangle 114">
                <a:extLst>
                  <a:ext uri="{FF2B5EF4-FFF2-40B4-BE49-F238E27FC236}">
                    <a16:creationId xmlns:a16="http://schemas.microsoft.com/office/drawing/2014/main" id="{482DC387-2B53-4971-B247-14C886D0B8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9" y="1989"/>
                <a:ext cx="41" cy="55"/>
              </a:xfrm>
              <a:prstGeom prst="rect">
                <a:avLst/>
              </a:prstGeom>
              <a:noFill/>
              <a:ln w="317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algn="ctr">
                  <a:spcBef>
                    <a:spcPct val="20000"/>
                  </a:spcBef>
                  <a:buClr>
                    <a:schemeClr val="accent2"/>
                  </a:buClr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</a:pPr>
                <a:endParaRPr lang="sv-SE" altLang="en-US" sz="2400">
                  <a:ea typeface="MS PGothic" panose="020B0600070205080204" pitchFamily="34" charset="-128"/>
                </a:endParaRPr>
              </a:p>
            </p:txBody>
          </p:sp>
          <p:sp>
            <p:nvSpPr>
              <p:cNvPr id="30114" name="Freeform 115">
                <a:extLst>
                  <a:ext uri="{FF2B5EF4-FFF2-40B4-BE49-F238E27FC236}">
                    <a16:creationId xmlns:a16="http://schemas.microsoft.com/office/drawing/2014/main" id="{F4CB0F04-112E-4881-A024-A9EDDD86BF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4" y="1244"/>
                <a:ext cx="42" cy="55"/>
              </a:xfrm>
              <a:custGeom>
                <a:avLst/>
                <a:gdLst>
                  <a:gd name="T0" fmla="*/ 0 w 42"/>
                  <a:gd name="T1" fmla="*/ 0 h 55"/>
                  <a:gd name="T2" fmla="*/ 42 w 42"/>
                  <a:gd name="T3" fmla="*/ 0 h 55"/>
                  <a:gd name="T4" fmla="*/ 42 w 42"/>
                  <a:gd name="T5" fmla="*/ 55 h 55"/>
                  <a:gd name="T6" fmla="*/ 0 60000 65536"/>
                  <a:gd name="T7" fmla="*/ 0 60000 65536"/>
                  <a:gd name="T8" fmla="*/ 0 60000 65536"/>
                  <a:gd name="T9" fmla="*/ 0 w 42"/>
                  <a:gd name="T10" fmla="*/ 0 h 55"/>
                  <a:gd name="T11" fmla="*/ 42 w 42"/>
                  <a:gd name="T12" fmla="*/ 55 h 5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" h="55">
                    <a:moveTo>
                      <a:pt x="0" y="0"/>
                    </a:moveTo>
                    <a:lnTo>
                      <a:pt x="42" y="0"/>
                    </a:lnTo>
                    <a:lnTo>
                      <a:pt x="42" y="55"/>
                    </a:lnTo>
                  </a:path>
                </a:pathLst>
              </a:custGeom>
              <a:noFill/>
              <a:ln w="3175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115" name="AutoShape 116">
                <a:extLst>
                  <a:ext uri="{FF2B5EF4-FFF2-40B4-BE49-F238E27FC236}">
                    <a16:creationId xmlns:a16="http://schemas.microsoft.com/office/drawing/2014/main" id="{C863C9C3-DAAF-4464-BC7C-E5C6055CDD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88" y="1147"/>
                <a:ext cx="110" cy="83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algn="ctr">
                  <a:spcBef>
                    <a:spcPct val="20000"/>
                  </a:spcBef>
                  <a:buClr>
                    <a:schemeClr val="accent2"/>
                  </a:buClr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</a:pPr>
                <a:endParaRPr lang="sv-SE" altLang="en-US" sz="2400">
                  <a:ea typeface="MS PGothic" panose="020B0600070205080204" pitchFamily="34" charset="-128"/>
                </a:endParaRPr>
              </a:p>
            </p:txBody>
          </p:sp>
          <p:sp>
            <p:nvSpPr>
              <p:cNvPr id="30116" name="AutoShape 117">
                <a:extLst>
                  <a:ext uri="{FF2B5EF4-FFF2-40B4-BE49-F238E27FC236}">
                    <a16:creationId xmlns:a16="http://schemas.microsoft.com/office/drawing/2014/main" id="{3B2FE7C7-637B-48F9-9B74-0C88C23B3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74" y="1133"/>
                <a:ext cx="138" cy="111"/>
              </a:xfrm>
              <a:prstGeom prst="roundRect">
                <a:avLst>
                  <a:gd name="adj" fmla="val 40088"/>
                </a:avLst>
              </a:prstGeom>
              <a:noFill/>
              <a:ln w="53975">
                <a:solidFill>
                  <a:srgbClr val="9999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algn="ctr">
                  <a:spcBef>
                    <a:spcPct val="20000"/>
                  </a:spcBef>
                  <a:buClr>
                    <a:schemeClr val="accent2"/>
                  </a:buClr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</a:pPr>
                <a:endParaRPr lang="sv-SE" altLang="en-US" sz="2400">
                  <a:ea typeface="MS PGothic" panose="020B0600070205080204" pitchFamily="34" charset="-128"/>
                </a:endParaRPr>
              </a:p>
            </p:txBody>
          </p:sp>
          <p:sp>
            <p:nvSpPr>
              <p:cNvPr id="30117" name="Rectangle 118">
                <a:extLst>
                  <a:ext uri="{FF2B5EF4-FFF2-40B4-BE49-F238E27FC236}">
                    <a16:creationId xmlns:a16="http://schemas.microsoft.com/office/drawing/2014/main" id="{321FB941-F11C-4661-A079-DDAD82FA18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1" y="1175"/>
                <a:ext cx="83" cy="4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algn="ctr">
                  <a:spcBef>
                    <a:spcPct val="20000"/>
                  </a:spcBef>
                  <a:buClr>
                    <a:schemeClr val="accent2"/>
                  </a:buClr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</a:pPr>
                <a:endParaRPr lang="sv-SE" altLang="en-US" sz="2400">
                  <a:ea typeface="MS PGothic" panose="020B0600070205080204" pitchFamily="34" charset="-128"/>
                </a:endParaRPr>
              </a:p>
            </p:txBody>
          </p:sp>
          <p:sp>
            <p:nvSpPr>
              <p:cNvPr id="30118" name="Rectangle 119">
                <a:extLst>
                  <a:ext uri="{FF2B5EF4-FFF2-40B4-BE49-F238E27FC236}">
                    <a16:creationId xmlns:a16="http://schemas.microsoft.com/office/drawing/2014/main" id="{EB1E20DC-9A13-4DB1-AFCA-3F03F9D4FC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1" y="1175"/>
                <a:ext cx="97" cy="55"/>
              </a:xfrm>
              <a:prstGeom prst="rect">
                <a:avLst/>
              </a:prstGeom>
              <a:noFill/>
              <a:ln w="317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algn="ctr">
                  <a:spcBef>
                    <a:spcPct val="20000"/>
                  </a:spcBef>
                  <a:buClr>
                    <a:schemeClr val="accent2"/>
                  </a:buClr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</a:pPr>
                <a:endParaRPr lang="sv-SE" altLang="en-US" sz="2400">
                  <a:ea typeface="MS PGothic" panose="020B0600070205080204" pitchFamily="34" charset="-128"/>
                </a:endParaRPr>
              </a:p>
            </p:txBody>
          </p:sp>
          <p:sp>
            <p:nvSpPr>
              <p:cNvPr id="30119" name="Freeform 120">
                <a:extLst>
                  <a:ext uri="{FF2B5EF4-FFF2-40B4-BE49-F238E27FC236}">
                    <a16:creationId xmlns:a16="http://schemas.microsoft.com/office/drawing/2014/main" id="{020A4FE4-1726-4B36-8D7C-75CF5A5A79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12" y="1299"/>
                <a:ext cx="27" cy="27"/>
              </a:xfrm>
              <a:custGeom>
                <a:avLst/>
                <a:gdLst>
                  <a:gd name="T0" fmla="*/ 14 w 27"/>
                  <a:gd name="T1" fmla="*/ 0 h 27"/>
                  <a:gd name="T2" fmla="*/ 14 w 27"/>
                  <a:gd name="T3" fmla="*/ 0 h 27"/>
                  <a:gd name="T4" fmla="*/ 27 w 27"/>
                  <a:gd name="T5" fmla="*/ 0 h 27"/>
                  <a:gd name="T6" fmla="*/ 27 w 27"/>
                  <a:gd name="T7" fmla="*/ 14 h 27"/>
                  <a:gd name="T8" fmla="*/ 14 w 27"/>
                  <a:gd name="T9" fmla="*/ 27 h 27"/>
                  <a:gd name="T10" fmla="*/ 14 w 27"/>
                  <a:gd name="T11" fmla="*/ 27 h 27"/>
                  <a:gd name="T12" fmla="*/ 0 w 27"/>
                  <a:gd name="T13" fmla="*/ 14 h 27"/>
                  <a:gd name="T14" fmla="*/ 0 w 27"/>
                  <a:gd name="T15" fmla="*/ 0 h 27"/>
                  <a:gd name="T16" fmla="*/ 0 w 27"/>
                  <a:gd name="T17" fmla="*/ 0 h 27"/>
                  <a:gd name="T18" fmla="*/ 14 w 27"/>
                  <a:gd name="T19" fmla="*/ 0 h 2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7"/>
                  <a:gd name="T31" fmla="*/ 0 h 27"/>
                  <a:gd name="T32" fmla="*/ 27 w 27"/>
                  <a:gd name="T33" fmla="*/ 27 h 27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7" h="27">
                    <a:moveTo>
                      <a:pt x="14" y="0"/>
                    </a:moveTo>
                    <a:lnTo>
                      <a:pt x="14" y="0"/>
                    </a:lnTo>
                    <a:lnTo>
                      <a:pt x="27" y="0"/>
                    </a:lnTo>
                    <a:lnTo>
                      <a:pt x="27" y="14"/>
                    </a:lnTo>
                    <a:lnTo>
                      <a:pt x="14" y="27"/>
                    </a:lnTo>
                    <a:lnTo>
                      <a:pt x="0" y="14"/>
                    </a:lnTo>
                    <a:lnTo>
                      <a:pt x="0" y="0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999999"/>
              </a:solidFill>
              <a:ln w="31750">
                <a:solidFill>
                  <a:srgbClr val="9999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30120" name="Picture 121">
                <a:extLst>
                  <a:ext uri="{FF2B5EF4-FFF2-40B4-BE49-F238E27FC236}">
                    <a16:creationId xmlns:a16="http://schemas.microsoft.com/office/drawing/2014/main" id="{E5259612-0EB6-43BE-9C89-10466FA530A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01" y="1175"/>
                <a:ext cx="83" cy="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0121" name="Line 122">
                <a:extLst>
                  <a:ext uri="{FF2B5EF4-FFF2-40B4-BE49-F238E27FC236}">
                    <a16:creationId xmlns:a16="http://schemas.microsoft.com/office/drawing/2014/main" id="{4A0E1A8A-CE08-4C66-A916-9B20E613FD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26" y="1299"/>
                <a:ext cx="1" cy="14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122" name="Line 123">
                <a:extLst>
                  <a:ext uri="{FF2B5EF4-FFF2-40B4-BE49-F238E27FC236}">
                    <a16:creationId xmlns:a16="http://schemas.microsoft.com/office/drawing/2014/main" id="{AB8BECB9-FE5B-4083-9E78-26867A0620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26" y="1299"/>
                <a:ext cx="1" cy="14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123" name="Line 124">
                <a:extLst>
                  <a:ext uri="{FF2B5EF4-FFF2-40B4-BE49-F238E27FC236}">
                    <a16:creationId xmlns:a16="http://schemas.microsoft.com/office/drawing/2014/main" id="{FE82CC62-27CC-4DDD-97D9-0252876739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39" y="1299"/>
                <a:ext cx="1" cy="14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124" name="Rectangle 125">
                <a:extLst>
                  <a:ext uri="{FF2B5EF4-FFF2-40B4-BE49-F238E27FC236}">
                    <a16:creationId xmlns:a16="http://schemas.microsoft.com/office/drawing/2014/main" id="{2BA10034-1AD2-41B7-A90B-02FABF45C0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88" y="1230"/>
                <a:ext cx="96" cy="14"/>
              </a:xfrm>
              <a:prstGeom prst="rect">
                <a:avLst/>
              </a:prstGeom>
              <a:solidFill>
                <a:srgbClr val="D9AA73"/>
              </a:solidFill>
              <a:ln w="31750">
                <a:solidFill>
                  <a:srgbClr val="D9AA73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algn="ctr">
                  <a:spcBef>
                    <a:spcPct val="20000"/>
                  </a:spcBef>
                  <a:buClr>
                    <a:schemeClr val="accent2"/>
                  </a:buClr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</a:pPr>
                <a:endParaRPr lang="sv-SE" altLang="en-US" sz="2400">
                  <a:ea typeface="MS PGothic" panose="020B0600070205080204" pitchFamily="34" charset="-128"/>
                </a:endParaRPr>
              </a:p>
            </p:txBody>
          </p:sp>
          <p:sp>
            <p:nvSpPr>
              <p:cNvPr id="30125" name="Freeform 126">
                <a:extLst>
                  <a:ext uri="{FF2B5EF4-FFF2-40B4-BE49-F238E27FC236}">
                    <a16:creationId xmlns:a16="http://schemas.microsoft.com/office/drawing/2014/main" id="{2DA2A88C-2B94-4A60-8678-2D2BC4114E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4" y="1244"/>
                <a:ext cx="138" cy="27"/>
              </a:xfrm>
              <a:custGeom>
                <a:avLst/>
                <a:gdLst>
                  <a:gd name="T0" fmla="*/ 14 w 138"/>
                  <a:gd name="T1" fmla="*/ 0 h 27"/>
                  <a:gd name="T2" fmla="*/ 0 w 138"/>
                  <a:gd name="T3" fmla="*/ 27 h 27"/>
                  <a:gd name="T4" fmla="*/ 138 w 138"/>
                  <a:gd name="T5" fmla="*/ 27 h 27"/>
                  <a:gd name="T6" fmla="*/ 124 w 138"/>
                  <a:gd name="T7" fmla="*/ 0 h 27"/>
                  <a:gd name="T8" fmla="*/ 14 w 138"/>
                  <a:gd name="T9" fmla="*/ 0 h 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8"/>
                  <a:gd name="T16" fmla="*/ 0 h 27"/>
                  <a:gd name="T17" fmla="*/ 138 w 138"/>
                  <a:gd name="T18" fmla="*/ 27 h 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8" h="27">
                    <a:moveTo>
                      <a:pt x="14" y="0"/>
                    </a:moveTo>
                    <a:lnTo>
                      <a:pt x="0" y="27"/>
                    </a:lnTo>
                    <a:lnTo>
                      <a:pt x="138" y="27"/>
                    </a:lnTo>
                    <a:lnTo>
                      <a:pt x="124" y="0"/>
                    </a:lnTo>
                    <a:lnTo>
                      <a:pt x="14" y="0"/>
                    </a:lnTo>
                    <a:close/>
                  </a:path>
                </a:pathLst>
              </a:custGeom>
              <a:noFill/>
              <a:ln w="31750">
                <a:solidFill>
                  <a:srgbClr val="D9AA7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126" name="Line 127">
                <a:extLst>
                  <a:ext uri="{FF2B5EF4-FFF2-40B4-BE49-F238E27FC236}">
                    <a16:creationId xmlns:a16="http://schemas.microsoft.com/office/drawing/2014/main" id="{830BE2E8-38F6-4432-873D-44D84510F2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88" y="1271"/>
                <a:ext cx="27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127" name="Line 128">
                <a:extLst>
                  <a:ext uri="{FF2B5EF4-FFF2-40B4-BE49-F238E27FC236}">
                    <a16:creationId xmlns:a16="http://schemas.microsoft.com/office/drawing/2014/main" id="{B3C6E1B7-4F89-4E95-8F45-3BF911C3C4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01" y="1257"/>
                <a:ext cx="83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128" name="Line 129">
                <a:extLst>
                  <a:ext uri="{FF2B5EF4-FFF2-40B4-BE49-F238E27FC236}">
                    <a16:creationId xmlns:a16="http://schemas.microsoft.com/office/drawing/2014/main" id="{F815B4CA-4E30-4160-AFB3-E344A4862F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88" y="1257"/>
                <a:ext cx="69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129" name="Freeform 130">
                <a:extLst>
                  <a:ext uri="{FF2B5EF4-FFF2-40B4-BE49-F238E27FC236}">
                    <a16:creationId xmlns:a16="http://schemas.microsoft.com/office/drawing/2014/main" id="{6F8BB7EF-FC80-42B6-B395-B98C5108E1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15" y="1257"/>
                <a:ext cx="83" cy="1"/>
              </a:xfrm>
              <a:custGeom>
                <a:avLst/>
                <a:gdLst>
                  <a:gd name="T0" fmla="*/ 0 w 83"/>
                  <a:gd name="T1" fmla="*/ 0 h 1"/>
                  <a:gd name="T2" fmla="*/ 55 w 83"/>
                  <a:gd name="T3" fmla="*/ 0 h 1"/>
                  <a:gd name="T4" fmla="*/ 83 w 83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83"/>
                  <a:gd name="T10" fmla="*/ 0 h 1"/>
                  <a:gd name="T11" fmla="*/ 83 w 83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3" h="1">
                    <a:moveTo>
                      <a:pt x="0" y="0"/>
                    </a:moveTo>
                    <a:lnTo>
                      <a:pt x="55" y="0"/>
                    </a:lnTo>
                    <a:lnTo>
                      <a:pt x="83" y="0"/>
                    </a:lnTo>
                  </a:path>
                </a:pathLst>
              </a:custGeom>
              <a:noFill/>
              <a:ln w="3175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130" name="Line 131">
                <a:extLst>
                  <a:ext uri="{FF2B5EF4-FFF2-40B4-BE49-F238E27FC236}">
                    <a16:creationId xmlns:a16="http://schemas.microsoft.com/office/drawing/2014/main" id="{680CA858-27D5-47A4-9432-3D36815F6F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84" y="1257"/>
                <a:ext cx="14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131" name="Rectangle 132">
                <a:extLst>
                  <a:ext uri="{FF2B5EF4-FFF2-40B4-BE49-F238E27FC236}">
                    <a16:creationId xmlns:a16="http://schemas.microsoft.com/office/drawing/2014/main" id="{7E6D604F-5A7B-4528-9E81-CDA4FE0E23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29" y="1161"/>
                <a:ext cx="41" cy="27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algn="ctr">
                  <a:spcBef>
                    <a:spcPct val="20000"/>
                  </a:spcBef>
                  <a:buClr>
                    <a:schemeClr val="accent2"/>
                  </a:buClr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</a:pPr>
                <a:endParaRPr lang="sv-SE" altLang="en-US" sz="2400">
                  <a:ea typeface="MS PGothic" panose="020B0600070205080204" pitchFamily="34" charset="-128"/>
                </a:endParaRPr>
              </a:p>
            </p:txBody>
          </p:sp>
          <p:sp>
            <p:nvSpPr>
              <p:cNvPr id="30132" name="Rectangle 133">
                <a:extLst>
                  <a:ext uri="{FF2B5EF4-FFF2-40B4-BE49-F238E27FC236}">
                    <a16:creationId xmlns:a16="http://schemas.microsoft.com/office/drawing/2014/main" id="{90DA6B82-6379-4A18-A22B-68D8B0AD6D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29" y="1161"/>
                <a:ext cx="55" cy="41"/>
              </a:xfrm>
              <a:prstGeom prst="rect">
                <a:avLst/>
              </a:prstGeom>
              <a:noFill/>
              <a:ln w="317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algn="ctr">
                  <a:spcBef>
                    <a:spcPct val="20000"/>
                  </a:spcBef>
                  <a:buClr>
                    <a:schemeClr val="accent2"/>
                  </a:buClr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</a:pPr>
                <a:endParaRPr lang="sv-SE" altLang="en-US" sz="2400">
                  <a:ea typeface="MS PGothic" panose="020B0600070205080204" pitchFamily="34" charset="-128"/>
                </a:endParaRPr>
              </a:p>
            </p:txBody>
          </p:sp>
          <p:sp>
            <p:nvSpPr>
              <p:cNvPr id="30133" name="Freeform 134">
                <a:extLst>
                  <a:ext uri="{FF2B5EF4-FFF2-40B4-BE49-F238E27FC236}">
                    <a16:creationId xmlns:a16="http://schemas.microsoft.com/office/drawing/2014/main" id="{A522FB66-0912-43DA-A5C9-0C61ABAB53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5" y="1313"/>
                <a:ext cx="42" cy="69"/>
              </a:xfrm>
              <a:custGeom>
                <a:avLst/>
                <a:gdLst>
                  <a:gd name="T0" fmla="*/ 0 w 42"/>
                  <a:gd name="T1" fmla="*/ 0 h 69"/>
                  <a:gd name="T2" fmla="*/ 42 w 42"/>
                  <a:gd name="T3" fmla="*/ 13 h 69"/>
                  <a:gd name="T4" fmla="*/ 42 w 42"/>
                  <a:gd name="T5" fmla="*/ 69 h 69"/>
                  <a:gd name="T6" fmla="*/ 0 60000 65536"/>
                  <a:gd name="T7" fmla="*/ 0 60000 65536"/>
                  <a:gd name="T8" fmla="*/ 0 60000 65536"/>
                  <a:gd name="T9" fmla="*/ 0 w 42"/>
                  <a:gd name="T10" fmla="*/ 0 h 69"/>
                  <a:gd name="T11" fmla="*/ 42 w 42"/>
                  <a:gd name="T12" fmla="*/ 69 h 6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" h="69">
                    <a:moveTo>
                      <a:pt x="0" y="0"/>
                    </a:moveTo>
                    <a:lnTo>
                      <a:pt x="42" y="13"/>
                    </a:lnTo>
                    <a:lnTo>
                      <a:pt x="42" y="69"/>
                    </a:lnTo>
                  </a:path>
                </a:pathLst>
              </a:custGeom>
              <a:noFill/>
              <a:ln w="3175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134" name="AutoShape 135">
                <a:extLst>
                  <a:ext uri="{FF2B5EF4-FFF2-40B4-BE49-F238E27FC236}">
                    <a16:creationId xmlns:a16="http://schemas.microsoft.com/office/drawing/2014/main" id="{D1B0FA62-4117-4BA3-8608-BA9A8D7C2F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19" y="1216"/>
                <a:ext cx="110" cy="83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algn="ctr">
                  <a:spcBef>
                    <a:spcPct val="20000"/>
                  </a:spcBef>
                  <a:buClr>
                    <a:schemeClr val="accent2"/>
                  </a:buClr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</a:pPr>
                <a:endParaRPr lang="sv-SE" altLang="en-US" sz="2400">
                  <a:ea typeface="MS PGothic" panose="020B0600070205080204" pitchFamily="34" charset="-128"/>
                </a:endParaRPr>
              </a:p>
            </p:txBody>
          </p:sp>
          <p:sp>
            <p:nvSpPr>
              <p:cNvPr id="30135" name="AutoShape 136">
                <a:extLst>
                  <a:ext uri="{FF2B5EF4-FFF2-40B4-BE49-F238E27FC236}">
                    <a16:creationId xmlns:a16="http://schemas.microsoft.com/office/drawing/2014/main" id="{C7916FA1-281A-43DB-AE0D-3C77E04C72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05" y="1202"/>
                <a:ext cx="138" cy="111"/>
              </a:xfrm>
              <a:prstGeom prst="roundRect">
                <a:avLst>
                  <a:gd name="adj" fmla="val 40088"/>
                </a:avLst>
              </a:prstGeom>
              <a:noFill/>
              <a:ln w="53975">
                <a:solidFill>
                  <a:srgbClr val="9999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algn="ctr">
                  <a:spcBef>
                    <a:spcPct val="20000"/>
                  </a:spcBef>
                  <a:buClr>
                    <a:schemeClr val="accent2"/>
                  </a:buClr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</a:pPr>
                <a:endParaRPr lang="sv-SE" altLang="en-US" sz="2400">
                  <a:ea typeface="MS PGothic" panose="020B0600070205080204" pitchFamily="34" charset="-128"/>
                </a:endParaRPr>
              </a:p>
            </p:txBody>
          </p:sp>
          <p:sp>
            <p:nvSpPr>
              <p:cNvPr id="30136" name="Rectangle 137">
                <a:extLst>
                  <a:ext uri="{FF2B5EF4-FFF2-40B4-BE49-F238E27FC236}">
                    <a16:creationId xmlns:a16="http://schemas.microsoft.com/office/drawing/2014/main" id="{F08E1FFD-D477-4B75-BD55-F1AB96D032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3" y="1244"/>
                <a:ext cx="82" cy="4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algn="ctr">
                  <a:spcBef>
                    <a:spcPct val="20000"/>
                  </a:spcBef>
                  <a:buClr>
                    <a:schemeClr val="accent2"/>
                  </a:buClr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</a:pPr>
                <a:endParaRPr lang="sv-SE" altLang="en-US" sz="2400">
                  <a:ea typeface="MS PGothic" panose="020B0600070205080204" pitchFamily="34" charset="-128"/>
                </a:endParaRPr>
              </a:p>
            </p:txBody>
          </p:sp>
          <p:sp>
            <p:nvSpPr>
              <p:cNvPr id="30137" name="Rectangle 138">
                <a:extLst>
                  <a:ext uri="{FF2B5EF4-FFF2-40B4-BE49-F238E27FC236}">
                    <a16:creationId xmlns:a16="http://schemas.microsoft.com/office/drawing/2014/main" id="{BD08F4F7-3124-4152-A31D-A2584D02C7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3" y="1244"/>
                <a:ext cx="96" cy="55"/>
              </a:xfrm>
              <a:prstGeom prst="rect">
                <a:avLst/>
              </a:prstGeom>
              <a:noFill/>
              <a:ln w="317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algn="ctr">
                  <a:spcBef>
                    <a:spcPct val="20000"/>
                  </a:spcBef>
                  <a:buClr>
                    <a:schemeClr val="accent2"/>
                  </a:buClr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</a:pPr>
                <a:endParaRPr lang="sv-SE" altLang="en-US" sz="2400">
                  <a:ea typeface="MS PGothic" panose="020B0600070205080204" pitchFamily="34" charset="-128"/>
                </a:endParaRPr>
              </a:p>
            </p:txBody>
          </p:sp>
          <p:sp>
            <p:nvSpPr>
              <p:cNvPr id="30138" name="Freeform 139">
                <a:extLst>
                  <a:ext uri="{FF2B5EF4-FFF2-40B4-BE49-F238E27FC236}">
                    <a16:creationId xmlns:a16="http://schemas.microsoft.com/office/drawing/2014/main" id="{0C969E7A-DD4F-47FC-B931-17B2ED4557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3" y="1368"/>
                <a:ext cx="28" cy="27"/>
              </a:xfrm>
              <a:custGeom>
                <a:avLst/>
                <a:gdLst>
                  <a:gd name="T0" fmla="*/ 14 w 28"/>
                  <a:gd name="T1" fmla="*/ 0 h 27"/>
                  <a:gd name="T2" fmla="*/ 14 w 28"/>
                  <a:gd name="T3" fmla="*/ 0 h 27"/>
                  <a:gd name="T4" fmla="*/ 28 w 28"/>
                  <a:gd name="T5" fmla="*/ 14 h 27"/>
                  <a:gd name="T6" fmla="*/ 28 w 28"/>
                  <a:gd name="T7" fmla="*/ 27 h 27"/>
                  <a:gd name="T8" fmla="*/ 14 w 28"/>
                  <a:gd name="T9" fmla="*/ 27 h 27"/>
                  <a:gd name="T10" fmla="*/ 14 w 28"/>
                  <a:gd name="T11" fmla="*/ 27 h 27"/>
                  <a:gd name="T12" fmla="*/ 0 w 28"/>
                  <a:gd name="T13" fmla="*/ 27 h 27"/>
                  <a:gd name="T14" fmla="*/ 0 w 28"/>
                  <a:gd name="T15" fmla="*/ 14 h 27"/>
                  <a:gd name="T16" fmla="*/ 0 w 28"/>
                  <a:gd name="T17" fmla="*/ 0 h 27"/>
                  <a:gd name="T18" fmla="*/ 14 w 28"/>
                  <a:gd name="T19" fmla="*/ 0 h 2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8"/>
                  <a:gd name="T31" fmla="*/ 0 h 27"/>
                  <a:gd name="T32" fmla="*/ 28 w 28"/>
                  <a:gd name="T33" fmla="*/ 27 h 27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8" h="27">
                    <a:moveTo>
                      <a:pt x="14" y="0"/>
                    </a:moveTo>
                    <a:lnTo>
                      <a:pt x="14" y="0"/>
                    </a:lnTo>
                    <a:lnTo>
                      <a:pt x="28" y="14"/>
                    </a:lnTo>
                    <a:lnTo>
                      <a:pt x="28" y="27"/>
                    </a:lnTo>
                    <a:lnTo>
                      <a:pt x="14" y="27"/>
                    </a:lnTo>
                    <a:lnTo>
                      <a:pt x="0" y="27"/>
                    </a:lnTo>
                    <a:lnTo>
                      <a:pt x="0" y="14"/>
                    </a:lnTo>
                    <a:lnTo>
                      <a:pt x="0" y="0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999999"/>
              </a:solidFill>
              <a:ln w="31750">
                <a:solidFill>
                  <a:srgbClr val="9999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30139" name="Picture 140">
                <a:extLst>
                  <a:ext uri="{FF2B5EF4-FFF2-40B4-BE49-F238E27FC236}">
                    <a16:creationId xmlns:a16="http://schemas.microsoft.com/office/drawing/2014/main" id="{4967CCA3-AABD-4829-A807-75F4E566D1B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33" y="1244"/>
                <a:ext cx="82" cy="4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0140" name="Freeform 141">
                <a:extLst>
                  <a:ext uri="{FF2B5EF4-FFF2-40B4-BE49-F238E27FC236}">
                    <a16:creationId xmlns:a16="http://schemas.microsoft.com/office/drawing/2014/main" id="{976E9D09-86C0-4FBC-9DE2-AA68536A79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7" y="1382"/>
                <a:ext cx="1" cy="1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0 h 1"/>
                  <a:gd name="T4" fmla="*/ 0 w 1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"/>
                  <a:gd name="T11" fmla="*/ 1 w 1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noFill/>
              <a:ln w="3175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141" name="Line 142">
                <a:extLst>
                  <a:ext uri="{FF2B5EF4-FFF2-40B4-BE49-F238E27FC236}">
                    <a16:creationId xmlns:a16="http://schemas.microsoft.com/office/drawing/2014/main" id="{6D61639A-EC16-41F6-AE3E-4134F3364A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71" y="1382"/>
                <a:ext cx="1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142" name="Rectangle 143">
                <a:extLst>
                  <a:ext uri="{FF2B5EF4-FFF2-40B4-BE49-F238E27FC236}">
                    <a16:creationId xmlns:a16="http://schemas.microsoft.com/office/drawing/2014/main" id="{51649595-B85D-4179-B8F3-355CC5EF4E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19" y="1299"/>
                <a:ext cx="96" cy="27"/>
              </a:xfrm>
              <a:prstGeom prst="rect">
                <a:avLst/>
              </a:prstGeom>
              <a:solidFill>
                <a:srgbClr val="D9AA73"/>
              </a:solidFill>
              <a:ln w="31750">
                <a:solidFill>
                  <a:srgbClr val="D9AA73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algn="ctr">
                  <a:spcBef>
                    <a:spcPct val="20000"/>
                  </a:spcBef>
                  <a:buClr>
                    <a:schemeClr val="accent2"/>
                  </a:buClr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</a:pPr>
                <a:endParaRPr lang="sv-SE" altLang="en-US" sz="2400">
                  <a:ea typeface="MS PGothic" panose="020B0600070205080204" pitchFamily="34" charset="-128"/>
                </a:endParaRPr>
              </a:p>
            </p:txBody>
          </p:sp>
          <p:sp>
            <p:nvSpPr>
              <p:cNvPr id="30143" name="Freeform 144">
                <a:extLst>
                  <a:ext uri="{FF2B5EF4-FFF2-40B4-BE49-F238E27FC236}">
                    <a16:creationId xmlns:a16="http://schemas.microsoft.com/office/drawing/2014/main" id="{E5A4148D-2817-4A7E-B069-9103445320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05" y="1326"/>
                <a:ext cx="138" cy="14"/>
              </a:xfrm>
              <a:custGeom>
                <a:avLst/>
                <a:gdLst>
                  <a:gd name="T0" fmla="*/ 14 w 138"/>
                  <a:gd name="T1" fmla="*/ 0 h 14"/>
                  <a:gd name="T2" fmla="*/ 0 w 138"/>
                  <a:gd name="T3" fmla="*/ 14 h 14"/>
                  <a:gd name="T4" fmla="*/ 138 w 138"/>
                  <a:gd name="T5" fmla="*/ 14 h 14"/>
                  <a:gd name="T6" fmla="*/ 124 w 138"/>
                  <a:gd name="T7" fmla="*/ 0 h 14"/>
                  <a:gd name="T8" fmla="*/ 14 w 138"/>
                  <a:gd name="T9" fmla="*/ 0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8"/>
                  <a:gd name="T16" fmla="*/ 0 h 14"/>
                  <a:gd name="T17" fmla="*/ 138 w 138"/>
                  <a:gd name="T18" fmla="*/ 14 h 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8" h="14">
                    <a:moveTo>
                      <a:pt x="14" y="0"/>
                    </a:moveTo>
                    <a:lnTo>
                      <a:pt x="0" y="14"/>
                    </a:lnTo>
                    <a:lnTo>
                      <a:pt x="138" y="14"/>
                    </a:lnTo>
                    <a:lnTo>
                      <a:pt x="124" y="0"/>
                    </a:lnTo>
                    <a:lnTo>
                      <a:pt x="14" y="0"/>
                    </a:lnTo>
                    <a:close/>
                  </a:path>
                </a:pathLst>
              </a:custGeom>
              <a:noFill/>
              <a:ln w="31750">
                <a:solidFill>
                  <a:srgbClr val="D9AA7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144" name="Line 145">
                <a:extLst>
                  <a:ext uri="{FF2B5EF4-FFF2-40B4-BE49-F238E27FC236}">
                    <a16:creationId xmlns:a16="http://schemas.microsoft.com/office/drawing/2014/main" id="{DB124984-5725-4418-8EBC-EF24289218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19" y="1340"/>
                <a:ext cx="27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145" name="Line 146">
                <a:extLst>
                  <a:ext uri="{FF2B5EF4-FFF2-40B4-BE49-F238E27FC236}">
                    <a16:creationId xmlns:a16="http://schemas.microsoft.com/office/drawing/2014/main" id="{8124560D-6CAC-42AD-8A5E-EF3C0B7D5C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33" y="1326"/>
                <a:ext cx="82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146" name="Line 147">
                <a:extLst>
                  <a:ext uri="{FF2B5EF4-FFF2-40B4-BE49-F238E27FC236}">
                    <a16:creationId xmlns:a16="http://schemas.microsoft.com/office/drawing/2014/main" id="{8D0F82CD-5E89-471F-8C33-90E23CF9F1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19" y="1326"/>
                <a:ext cx="69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147" name="Line 148">
                <a:extLst>
                  <a:ext uri="{FF2B5EF4-FFF2-40B4-BE49-F238E27FC236}">
                    <a16:creationId xmlns:a16="http://schemas.microsoft.com/office/drawing/2014/main" id="{6BF626A8-D1C3-46A1-A7C2-AF1998FB6E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46" y="1340"/>
                <a:ext cx="56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148" name="Line 149">
                <a:extLst>
                  <a:ext uri="{FF2B5EF4-FFF2-40B4-BE49-F238E27FC236}">
                    <a16:creationId xmlns:a16="http://schemas.microsoft.com/office/drawing/2014/main" id="{58C29B45-3CA3-4B11-B908-368F71BF61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02" y="1326"/>
                <a:ext cx="27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149" name="Line 150">
                <a:extLst>
                  <a:ext uri="{FF2B5EF4-FFF2-40B4-BE49-F238E27FC236}">
                    <a16:creationId xmlns:a16="http://schemas.microsoft.com/office/drawing/2014/main" id="{43EEA23D-A4C0-47C2-9B2B-5022613DFB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15" y="1340"/>
                <a:ext cx="14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150" name="Rectangle 151">
                <a:extLst>
                  <a:ext uri="{FF2B5EF4-FFF2-40B4-BE49-F238E27FC236}">
                    <a16:creationId xmlns:a16="http://schemas.microsoft.com/office/drawing/2014/main" id="{3C4CB20B-B8B9-43E2-9E09-535F3B4302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60" y="1230"/>
                <a:ext cx="42" cy="4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algn="ctr">
                  <a:spcBef>
                    <a:spcPct val="20000"/>
                  </a:spcBef>
                  <a:buClr>
                    <a:schemeClr val="accent2"/>
                  </a:buClr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</a:pPr>
                <a:endParaRPr lang="sv-SE" altLang="en-US" sz="2400">
                  <a:ea typeface="MS PGothic" panose="020B0600070205080204" pitchFamily="34" charset="-128"/>
                </a:endParaRPr>
              </a:p>
            </p:txBody>
          </p:sp>
          <p:sp>
            <p:nvSpPr>
              <p:cNvPr id="30151" name="Rectangle 152">
                <a:extLst>
                  <a:ext uri="{FF2B5EF4-FFF2-40B4-BE49-F238E27FC236}">
                    <a16:creationId xmlns:a16="http://schemas.microsoft.com/office/drawing/2014/main" id="{64A0FDF5-DB04-4A5B-AD9D-5F231204E5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60" y="1230"/>
                <a:ext cx="55" cy="55"/>
              </a:xfrm>
              <a:prstGeom prst="rect">
                <a:avLst/>
              </a:prstGeom>
              <a:noFill/>
              <a:ln w="317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algn="ctr">
                  <a:spcBef>
                    <a:spcPct val="20000"/>
                  </a:spcBef>
                  <a:buClr>
                    <a:schemeClr val="accent2"/>
                  </a:buClr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</a:pPr>
                <a:endParaRPr lang="sv-SE" altLang="en-US" sz="2400">
                  <a:ea typeface="MS PGothic" panose="020B0600070205080204" pitchFamily="34" charset="-128"/>
                </a:endParaRPr>
              </a:p>
            </p:txBody>
          </p:sp>
          <p:sp>
            <p:nvSpPr>
              <p:cNvPr id="30152" name="Rectangle 153">
                <a:extLst>
                  <a:ext uri="{FF2B5EF4-FFF2-40B4-BE49-F238E27FC236}">
                    <a16:creationId xmlns:a16="http://schemas.microsoft.com/office/drawing/2014/main" id="{0E8FAA2E-8193-4B17-A252-30E5F33AEB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53" y="2229"/>
                <a:ext cx="524" cy="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ctr">
                  <a:spcBef>
                    <a:spcPct val="20000"/>
                  </a:spcBef>
                  <a:buClr>
                    <a:schemeClr val="accent2"/>
                  </a:buClr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</a:pPr>
                <a:r>
                  <a:rPr lang="en-GB" altLang="en-US" sz="1400">
                    <a:solidFill>
                      <a:srgbClr val="000000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rPr>
                  <a:t>backbone</a:t>
                </a:r>
                <a:endParaRPr lang="en-GB" altLang="en-US" sz="2400">
                  <a:latin typeface="Times" panose="02020603050405020304" pitchFamily="18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30153" name="Rectangle 154">
                <a:extLst>
                  <a:ext uri="{FF2B5EF4-FFF2-40B4-BE49-F238E27FC236}">
                    <a16:creationId xmlns:a16="http://schemas.microsoft.com/office/drawing/2014/main" id="{A7053994-28D6-4C30-944B-7C799C0DF0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63" y="2809"/>
                <a:ext cx="621" cy="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ctr">
                  <a:spcBef>
                    <a:spcPct val="20000"/>
                  </a:spcBef>
                  <a:buClr>
                    <a:schemeClr val="accent2"/>
                  </a:buClr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</a:pPr>
                <a:r>
                  <a:rPr lang="en-GB" altLang="en-US" sz="1400">
                    <a:solidFill>
                      <a:srgbClr val="000000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rPr>
                  <a:t>satellite link</a:t>
                </a:r>
                <a:endParaRPr lang="en-GB" altLang="en-US" sz="2400">
                  <a:latin typeface="Times" panose="02020603050405020304" pitchFamily="18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30154" name="Rectangle 155">
                <a:extLst>
                  <a:ext uri="{FF2B5EF4-FFF2-40B4-BE49-F238E27FC236}">
                    <a16:creationId xmlns:a16="http://schemas.microsoft.com/office/drawing/2014/main" id="{626E2C57-2B27-4307-A1D3-9CF3F3021C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64" y="1671"/>
                <a:ext cx="82" cy="69"/>
              </a:xfrm>
              <a:prstGeom prst="rect">
                <a:avLst/>
              </a:prstGeom>
              <a:solidFill>
                <a:srgbClr val="CF92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algn="ctr">
                  <a:spcBef>
                    <a:spcPct val="20000"/>
                  </a:spcBef>
                  <a:buClr>
                    <a:schemeClr val="accent2"/>
                  </a:buClr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</a:pPr>
                <a:endParaRPr lang="sv-SE" altLang="en-US" sz="2400">
                  <a:ea typeface="MS PGothic" panose="020B0600070205080204" pitchFamily="34" charset="-128"/>
                </a:endParaRPr>
              </a:p>
            </p:txBody>
          </p:sp>
          <p:sp>
            <p:nvSpPr>
              <p:cNvPr id="30155" name="Rectangle 156">
                <a:extLst>
                  <a:ext uri="{FF2B5EF4-FFF2-40B4-BE49-F238E27FC236}">
                    <a16:creationId xmlns:a16="http://schemas.microsoft.com/office/drawing/2014/main" id="{3D770F5C-181F-485C-8A65-5B448E8EF1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64" y="1671"/>
                <a:ext cx="96" cy="83"/>
              </a:xfrm>
              <a:prstGeom prst="rect">
                <a:avLst/>
              </a:prstGeom>
              <a:noFill/>
              <a:ln w="31750">
                <a:solidFill>
                  <a:srgbClr val="CF924C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algn="ctr">
                  <a:spcBef>
                    <a:spcPct val="20000"/>
                  </a:spcBef>
                  <a:buClr>
                    <a:schemeClr val="accent2"/>
                  </a:buClr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</a:pPr>
                <a:endParaRPr lang="sv-SE" altLang="en-US" sz="2400">
                  <a:ea typeface="MS PGothic" panose="020B0600070205080204" pitchFamily="34" charset="-128"/>
                </a:endParaRPr>
              </a:p>
            </p:txBody>
          </p:sp>
          <p:sp>
            <p:nvSpPr>
              <p:cNvPr id="30156" name="Rectangle 157">
                <a:extLst>
                  <a:ext uri="{FF2B5EF4-FFF2-40B4-BE49-F238E27FC236}">
                    <a16:creationId xmlns:a16="http://schemas.microsoft.com/office/drawing/2014/main" id="{25A79126-6D47-4014-A851-14288B2280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67" y="1795"/>
                <a:ext cx="83" cy="83"/>
              </a:xfrm>
              <a:prstGeom prst="rect">
                <a:avLst/>
              </a:prstGeom>
              <a:solidFill>
                <a:srgbClr val="CF92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algn="ctr">
                  <a:spcBef>
                    <a:spcPct val="20000"/>
                  </a:spcBef>
                  <a:buClr>
                    <a:schemeClr val="accent2"/>
                  </a:buClr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</a:pPr>
                <a:endParaRPr lang="sv-SE" altLang="en-US" sz="2400">
                  <a:ea typeface="MS PGothic" panose="020B0600070205080204" pitchFamily="34" charset="-128"/>
                </a:endParaRPr>
              </a:p>
            </p:txBody>
          </p:sp>
          <p:sp>
            <p:nvSpPr>
              <p:cNvPr id="30157" name="Rectangle 158">
                <a:extLst>
                  <a:ext uri="{FF2B5EF4-FFF2-40B4-BE49-F238E27FC236}">
                    <a16:creationId xmlns:a16="http://schemas.microsoft.com/office/drawing/2014/main" id="{7B818094-65BF-47F2-865A-9FFF1BFA8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67" y="1795"/>
                <a:ext cx="97" cy="97"/>
              </a:xfrm>
              <a:prstGeom prst="rect">
                <a:avLst/>
              </a:prstGeom>
              <a:noFill/>
              <a:ln w="31750">
                <a:solidFill>
                  <a:srgbClr val="CF924C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algn="ctr">
                  <a:spcBef>
                    <a:spcPct val="20000"/>
                  </a:spcBef>
                  <a:buClr>
                    <a:schemeClr val="accent2"/>
                  </a:buClr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</a:pPr>
                <a:endParaRPr lang="sv-SE" altLang="en-US" sz="2400">
                  <a:ea typeface="MS PGothic" panose="020B0600070205080204" pitchFamily="34" charset="-128"/>
                </a:endParaRPr>
              </a:p>
            </p:txBody>
          </p:sp>
          <p:sp>
            <p:nvSpPr>
              <p:cNvPr id="30158" name="Rectangle 159">
                <a:extLst>
                  <a:ext uri="{FF2B5EF4-FFF2-40B4-BE49-F238E27FC236}">
                    <a16:creationId xmlns:a16="http://schemas.microsoft.com/office/drawing/2014/main" id="{31895AFC-794A-4886-B0A1-A40789C524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9" y="1795"/>
                <a:ext cx="82" cy="83"/>
              </a:xfrm>
              <a:prstGeom prst="rect">
                <a:avLst/>
              </a:prstGeom>
              <a:solidFill>
                <a:srgbClr val="CF92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algn="ctr">
                  <a:spcBef>
                    <a:spcPct val="20000"/>
                  </a:spcBef>
                  <a:buClr>
                    <a:schemeClr val="accent2"/>
                  </a:buClr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</a:pPr>
                <a:endParaRPr lang="sv-SE" altLang="en-US" sz="2400">
                  <a:ea typeface="MS PGothic" panose="020B0600070205080204" pitchFamily="34" charset="-128"/>
                </a:endParaRPr>
              </a:p>
            </p:txBody>
          </p:sp>
          <p:sp>
            <p:nvSpPr>
              <p:cNvPr id="30159" name="Rectangle 160">
                <a:extLst>
                  <a:ext uri="{FF2B5EF4-FFF2-40B4-BE49-F238E27FC236}">
                    <a16:creationId xmlns:a16="http://schemas.microsoft.com/office/drawing/2014/main" id="{6026FEF8-9483-480D-A826-A44ADD3F45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9" y="1795"/>
                <a:ext cx="96" cy="97"/>
              </a:xfrm>
              <a:prstGeom prst="rect">
                <a:avLst/>
              </a:prstGeom>
              <a:noFill/>
              <a:ln w="31750">
                <a:solidFill>
                  <a:srgbClr val="CF924C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algn="ctr">
                  <a:spcBef>
                    <a:spcPct val="20000"/>
                  </a:spcBef>
                  <a:buClr>
                    <a:schemeClr val="accent2"/>
                  </a:buClr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</a:pPr>
                <a:endParaRPr lang="sv-SE" altLang="en-US" sz="2400">
                  <a:ea typeface="MS PGothic" panose="020B0600070205080204" pitchFamily="34" charset="-128"/>
                </a:endParaRPr>
              </a:p>
            </p:txBody>
          </p:sp>
          <p:sp>
            <p:nvSpPr>
              <p:cNvPr id="30160" name="Rectangle 161">
                <a:extLst>
                  <a:ext uri="{FF2B5EF4-FFF2-40B4-BE49-F238E27FC236}">
                    <a16:creationId xmlns:a16="http://schemas.microsoft.com/office/drawing/2014/main" id="{1A7833B2-C70B-4CD4-AE6D-BECA5518D3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87" y="1409"/>
                <a:ext cx="83" cy="69"/>
              </a:xfrm>
              <a:prstGeom prst="rect">
                <a:avLst/>
              </a:prstGeom>
              <a:solidFill>
                <a:srgbClr val="CF92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algn="ctr">
                  <a:spcBef>
                    <a:spcPct val="20000"/>
                  </a:spcBef>
                  <a:buClr>
                    <a:schemeClr val="accent2"/>
                  </a:buClr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</a:pPr>
                <a:endParaRPr lang="sv-SE" altLang="en-US" sz="2400">
                  <a:ea typeface="MS PGothic" panose="020B0600070205080204" pitchFamily="34" charset="-128"/>
                </a:endParaRPr>
              </a:p>
            </p:txBody>
          </p:sp>
          <p:sp>
            <p:nvSpPr>
              <p:cNvPr id="30161" name="Rectangle 162">
                <a:extLst>
                  <a:ext uri="{FF2B5EF4-FFF2-40B4-BE49-F238E27FC236}">
                    <a16:creationId xmlns:a16="http://schemas.microsoft.com/office/drawing/2014/main" id="{F2EA8F1E-3B35-4882-960D-2DE8E5F9D0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87" y="1409"/>
                <a:ext cx="97" cy="83"/>
              </a:xfrm>
              <a:prstGeom prst="rect">
                <a:avLst/>
              </a:prstGeom>
              <a:noFill/>
              <a:ln w="31750">
                <a:solidFill>
                  <a:srgbClr val="CF924C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algn="ctr">
                  <a:spcBef>
                    <a:spcPct val="20000"/>
                  </a:spcBef>
                  <a:buClr>
                    <a:schemeClr val="accent2"/>
                  </a:buClr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</a:pPr>
                <a:endParaRPr lang="sv-SE" altLang="en-US" sz="2400">
                  <a:ea typeface="MS PGothic" panose="020B0600070205080204" pitchFamily="34" charset="-128"/>
                </a:endParaRPr>
              </a:p>
            </p:txBody>
          </p:sp>
          <p:sp>
            <p:nvSpPr>
              <p:cNvPr id="30162" name="Rectangle 163">
                <a:extLst>
                  <a:ext uri="{FF2B5EF4-FFF2-40B4-BE49-F238E27FC236}">
                    <a16:creationId xmlns:a16="http://schemas.microsoft.com/office/drawing/2014/main" id="{AF573417-319F-4052-91C0-323A47BE4C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05" y="1409"/>
                <a:ext cx="83" cy="69"/>
              </a:xfrm>
              <a:prstGeom prst="rect">
                <a:avLst/>
              </a:prstGeom>
              <a:solidFill>
                <a:srgbClr val="CF92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algn="ctr">
                  <a:spcBef>
                    <a:spcPct val="20000"/>
                  </a:spcBef>
                  <a:buClr>
                    <a:schemeClr val="accent2"/>
                  </a:buClr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</a:pPr>
                <a:endParaRPr lang="sv-SE" altLang="en-US" sz="2400">
                  <a:ea typeface="MS PGothic" panose="020B0600070205080204" pitchFamily="34" charset="-128"/>
                </a:endParaRPr>
              </a:p>
            </p:txBody>
          </p:sp>
          <p:sp>
            <p:nvSpPr>
              <p:cNvPr id="30163" name="Rectangle 164">
                <a:extLst>
                  <a:ext uri="{FF2B5EF4-FFF2-40B4-BE49-F238E27FC236}">
                    <a16:creationId xmlns:a16="http://schemas.microsoft.com/office/drawing/2014/main" id="{BEB95AD8-209A-42EC-811E-3CD40CEF09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05" y="1409"/>
                <a:ext cx="96" cy="83"/>
              </a:xfrm>
              <a:prstGeom prst="rect">
                <a:avLst/>
              </a:prstGeom>
              <a:noFill/>
              <a:ln w="31750">
                <a:solidFill>
                  <a:srgbClr val="CF924C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algn="ctr">
                  <a:spcBef>
                    <a:spcPct val="20000"/>
                  </a:spcBef>
                  <a:buClr>
                    <a:schemeClr val="accent2"/>
                  </a:buClr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</a:pPr>
                <a:endParaRPr lang="sv-SE" altLang="en-US" sz="2400">
                  <a:ea typeface="MS PGothic" panose="020B0600070205080204" pitchFamily="34" charset="-128"/>
                </a:endParaRPr>
              </a:p>
            </p:txBody>
          </p:sp>
          <p:sp>
            <p:nvSpPr>
              <p:cNvPr id="30164" name="Freeform 165">
                <a:extLst>
                  <a:ext uri="{FF2B5EF4-FFF2-40B4-BE49-F238E27FC236}">
                    <a16:creationId xmlns:a16="http://schemas.microsoft.com/office/drawing/2014/main" id="{297ACFB8-3E7C-48D7-B1ED-ADD3FC2F5D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02" y="1754"/>
                <a:ext cx="56" cy="69"/>
              </a:xfrm>
              <a:custGeom>
                <a:avLst/>
                <a:gdLst>
                  <a:gd name="T0" fmla="*/ 0 w 56"/>
                  <a:gd name="T1" fmla="*/ 0 h 69"/>
                  <a:gd name="T2" fmla="*/ 42 w 56"/>
                  <a:gd name="T3" fmla="*/ 14 h 69"/>
                  <a:gd name="T4" fmla="*/ 56 w 56"/>
                  <a:gd name="T5" fmla="*/ 69 h 69"/>
                  <a:gd name="T6" fmla="*/ 0 60000 65536"/>
                  <a:gd name="T7" fmla="*/ 0 60000 65536"/>
                  <a:gd name="T8" fmla="*/ 0 60000 65536"/>
                  <a:gd name="T9" fmla="*/ 0 w 56"/>
                  <a:gd name="T10" fmla="*/ 0 h 69"/>
                  <a:gd name="T11" fmla="*/ 56 w 56"/>
                  <a:gd name="T12" fmla="*/ 69 h 6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6" h="69">
                    <a:moveTo>
                      <a:pt x="0" y="0"/>
                    </a:moveTo>
                    <a:lnTo>
                      <a:pt x="42" y="14"/>
                    </a:lnTo>
                    <a:lnTo>
                      <a:pt x="56" y="69"/>
                    </a:lnTo>
                  </a:path>
                </a:pathLst>
              </a:custGeom>
              <a:noFill/>
              <a:ln w="3175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165" name="AutoShape 166">
                <a:extLst>
                  <a:ext uri="{FF2B5EF4-FFF2-40B4-BE49-F238E27FC236}">
                    <a16:creationId xmlns:a16="http://schemas.microsoft.com/office/drawing/2014/main" id="{3B2A190C-765F-467C-AE00-4DD447E0E4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06" y="1657"/>
                <a:ext cx="110" cy="83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algn="ctr">
                  <a:spcBef>
                    <a:spcPct val="20000"/>
                  </a:spcBef>
                  <a:buClr>
                    <a:schemeClr val="accent2"/>
                  </a:buClr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</a:pPr>
                <a:endParaRPr lang="sv-SE" altLang="en-US" sz="2400">
                  <a:ea typeface="MS PGothic" panose="020B0600070205080204" pitchFamily="34" charset="-128"/>
                </a:endParaRPr>
              </a:p>
            </p:txBody>
          </p:sp>
          <p:sp>
            <p:nvSpPr>
              <p:cNvPr id="30166" name="AutoShape 167">
                <a:extLst>
                  <a:ext uri="{FF2B5EF4-FFF2-40B4-BE49-F238E27FC236}">
                    <a16:creationId xmlns:a16="http://schemas.microsoft.com/office/drawing/2014/main" id="{031837E3-9934-4931-81D2-F426FCC6F4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92" y="1644"/>
                <a:ext cx="138" cy="110"/>
              </a:xfrm>
              <a:prstGeom prst="roundRect">
                <a:avLst>
                  <a:gd name="adj" fmla="val 40454"/>
                </a:avLst>
              </a:prstGeom>
              <a:noFill/>
              <a:ln w="53975">
                <a:solidFill>
                  <a:srgbClr val="9999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algn="ctr">
                  <a:spcBef>
                    <a:spcPct val="20000"/>
                  </a:spcBef>
                  <a:buClr>
                    <a:schemeClr val="accent2"/>
                  </a:buClr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</a:pPr>
                <a:endParaRPr lang="sv-SE" altLang="en-US" sz="2400">
                  <a:ea typeface="MS PGothic" panose="020B0600070205080204" pitchFamily="34" charset="-128"/>
                </a:endParaRPr>
              </a:p>
            </p:txBody>
          </p:sp>
          <p:sp>
            <p:nvSpPr>
              <p:cNvPr id="30167" name="Rectangle 168">
                <a:extLst>
                  <a:ext uri="{FF2B5EF4-FFF2-40B4-BE49-F238E27FC236}">
                    <a16:creationId xmlns:a16="http://schemas.microsoft.com/office/drawing/2014/main" id="{8EF98693-5A1A-4E8B-A164-AC764A23C9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20" y="1685"/>
                <a:ext cx="82" cy="4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algn="ctr">
                  <a:spcBef>
                    <a:spcPct val="20000"/>
                  </a:spcBef>
                  <a:buClr>
                    <a:schemeClr val="accent2"/>
                  </a:buClr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</a:pPr>
                <a:endParaRPr lang="sv-SE" altLang="en-US" sz="2400">
                  <a:ea typeface="MS PGothic" panose="020B0600070205080204" pitchFamily="34" charset="-128"/>
                </a:endParaRPr>
              </a:p>
            </p:txBody>
          </p:sp>
          <p:sp>
            <p:nvSpPr>
              <p:cNvPr id="30168" name="Rectangle 169">
                <a:extLst>
                  <a:ext uri="{FF2B5EF4-FFF2-40B4-BE49-F238E27FC236}">
                    <a16:creationId xmlns:a16="http://schemas.microsoft.com/office/drawing/2014/main" id="{FB8006AB-A8D5-45EF-8C6E-712A6527CC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20" y="1685"/>
                <a:ext cx="96" cy="55"/>
              </a:xfrm>
              <a:prstGeom prst="rect">
                <a:avLst/>
              </a:prstGeom>
              <a:noFill/>
              <a:ln w="317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algn="ctr">
                  <a:spcBef>
                    <a:spcPct val="20000"/>
                  </a:spcBef>
                  <a:buClr>
                    <a:schemeClr val="accent2"/>
                  </a:buClr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</a:pPr>
                <a:endParaRPr lang="sv-SE" altLang="en-US" sz="2400">
                  <a:ea typeface="MS PGothic" panose="020B0600070205080204" pitchFamily="34" charset="-128"/>
                </a:endParaRPr>
              </a:p>
            </p:txBody>
          </p:sp>
          <p:sp>
            <p:nvSpPr>
              <p:cNvPr id="30169" name="Freeform 170">
                <a:extLst>
                  <a:ext uri="{FF2B5EF4-FFF2-40B4-BE49-F238E27FC236}">
                    <a16:creationId xmlns:a16="http://schemas.microsoft.com/office/drawing/2014/main" id="{115A2D6E-CB72-489C-940B-520B524FDC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44" y="1809"/>
                <a:ext cx="14" cy="28"/>
              </a:xfrm>
              <a:custGeom>
                <a:avLst/>
                <a:gdLst>
                  <a:gd name="T0" fmla="*/ 0 w 14"/>
                  <a:gd name="T1" fmla="*/ 0 h 28"/>
                  <a:gd name="T2" fmla="*/ 14 w 14"/>
                  <a:gd name="T3" fmla="*/ 0 h 28"/>
                  <a:gd name="T4" fmla="*/ 14 w 14"/>
                  <a:gd name="T5" fmla="*/ 14 h 28"/>
                  <a:gd name="T6" fmla="*/ 14 w 14"/>
                  <a:gd name="T7" fmla="*/ 28 h 28"/>
                  <a:gd name="T8" fmla="*/ 14 w 14"/>
                  <a:gd name="T9" fmla="*/ 28 h 28"/>
                  <a:gd name="T10" fmla="*/ 0 w 14"/>
                  <a:gd name="T11" fmla="*/ 28 h 28"/>
                  <a:gd name="T12" fmla="*/ 0 w 14"/>
                  <a:gd name="T13" fmla="*/ 28 h 28"/>
                  <a:gd name="T14" fmla="*/ 0 w 14"/>
                  <a:gd name="T15" fmla="*/ 14 h 28"/>
                  <a:gd name="T16" fmla="*/ 0 w 14"/>
                  <a:gd name="T17" fmla="*/ 0 h 28"/>
                  <a:gd name="T18" fmla="*/ 0 w 14"/>
                  <a:gd name="T19" fmla="*/ 0 h 2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4"/>
                  <a:gd name="T31" fmla="*/ 0 h 28"/>
                  <a:gd name="T32" fmla="*/ 14 w 14"/>
                  <a:gd name="T33" fmla="*/ 28 h 28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4" h="28">
                    <a:moveTo>
                      <a:pt x="0" y="0"/>
                    </a:moveTo>
                    <a:lnTo>
                      <a:pt x="14" y="0"/>
                    </a:lnTo>
                    <a:lnTo>
                      <a:pt x="14" y="14"/>
                    </a:lnTo>
                    <a:lnTo>
                      <a:pt x="14" y="28"/>
                    </a:lnTo>
                    <a:lnTo>
                      <a:pt x="0" y="28"/>
                    </a:lnTo>
                    <a:lnTo>
                      <a:pt x="0" y="1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9999"/>
              </a:solidFill>
              <a:ln w="31750">
                <a:solidFill>
                  <a:srgbClr val="9999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30170" name="Picture 171">
                <a:extLst>
                  <a:ext uri="{FF2B5EF4-FFF2-40B4-BE49-F238E27FC236}">
                    <a16:creationId xmlns:a16="http://schemas.microsoft.com/office/drawing/2014/main" id="{F2A68853-5CF4-4BC8-AB41-0BA16D057CD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133" y="1685"/>
                <a:ext cx="69" cy="4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0171" name="Freeform 172">
                <a:extLst>
                  <a:ext uri="{FF2B5EF4-FFF2-40B4-BE49-F238E27FC236}">
                    <a16:creationId xmlns:a16="http://schemas.microsoft.com/office/drawing/2014/main" id="{B0E89FC6-55AF-4EAC-BA7B-56D66DD6D2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44" y="1823"/>
                <a:ext cx="1" cy="1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0 h 1"/>
                  <a:gd name="T4" fmla="*/ 0 w 1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"/>
                  <a:gd name="T11" fmla="*/ 1 w 1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noFill/>
              <a:ln w="3175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172" name="Line 173">
                <a:extLst>
                  <a:ext uri="{FF2B5EF4-FFF2-40B4-BE49-F238E27FC236}">
                    <a16:creationId xmlns:a16="http://schemas.microsoft.com/office/drawing/2014/main" id="{FE952656-216C-458E-81D7-0F07C3871B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58" y="1823"/>
                <a:ext cx="1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173" name="Rectangle 174">
                <a:extLst>
                  <a:ext uri="{FF2B5EF4-FFF2-40B4-BE49-F238E27FC236}">
                    <a16:creationId xmlns:a16="http://schemas.microsoft.com/office/drawing/2014/main" id="{E0F0A9BD-8942-4846-9878-5A4D23441A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06" y="1740"/>
                <a:ext cx="110" cy="28"/>
              </a:xfrm>
              <a:prstGeom prst="rect">
                <a:avLst/>
              </a:prstGeom>
              <a:solidFill>
                <a:srgbClr val="D9AA73"/>
              </a:solidFill>
              <a:ln w="31750">
                <a:solidFill>
                  <a:srgbClr val="D9AA73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algn="ctr">
                  <a:spcBef>
                    <a:spcPct val="20000"/>
                  </a:spcBef>
                  <a:buClr>
                    <a:schemeClr val="accent2"/>
                  </a:buClr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</a:pPr>
                <a:endParaRPr lang="sv-SE" altLang="en-US" sz="2400">
                  <a:ea typeface="MS PGothic" panose="020B0600070205080204" pitchFamily="34" charset="-128"/>
                </a:endParaRPr>
              </a:p>
            </p:txBody>
          </p:sp>
          <p:sp>
            <p:nvSpPr>
              <p:cNvPr id="30174" name="Freeform 175">
                <a:extLst>
                  <a:ext uri="{FF2B5EF4-FFF2-40B4-BE49-F238E27FC236}">
                    <a16:creationId xmlns:a16="http://schemas.microsoft.com/office/drawing/2014/main" id="{7454F050-CDB6-402B-AD7B-842F43EEBA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92" y="1768"/>
                <a:ext cx="138" cy="14"/>
              </a:xfrm>
              <a:custGeom>
                <a:avLst/>
                <a:gdLst>
                  <a:gd name="T0" fmla="*/ 14 w 138"/>
                  <a:gd name="T1" fmla="*/ 0 h 14"/>
                  <a:gd name="T2" fmla="*/ 0 w 138"/>
                  <a:gd name="T3" fmla="*/ 14 h 14"/>
                  <a:gd name="T4" fmla="*/ 138 w 138"/>
                  <a:gd name="T5" fmla="*/ 14 h 14"/>
                  <a:gd name="T6" fmla="*/ 124 w 138"/>
                  <a:gd name="T7" fmla="*/ 0 h 14"/>
                  <a:gd name="T8" fmla="*/ 14 w 138"/>
                  <a:gd name="T9" fmla="*/ 0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8"/>
                  <a:gd name="T16" fmla="*/ 0 h 14"/>
                  <a:gd name="T17" fmla="*/ 138 w 138"/>
                  <a:gd name="T18" fmla="*/ 14 h 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8" h="14">
                    <a:moveTo>
                      <a:pt x="14" y="0"/>
                    </a:moveTo>
                    <a:lnTo>
                      <a:pt x="0" y="14"/>
                    </a:lnTo>
                    <a:lnTo>
                      <a:pt x="138" y="14"/>
                    </a:lnTo>
                    <a:lnTo>
                      <a:pt x="124" y="0"/>
                    </a:lnTo>
                    <a:lnTo>
                      <a:pt x="14" y="0"/>
                    </a:lnTo>
                    <a:close/>
                  </a:path>
                </a:pathLst>
              </a:custGeom>
              <a:noFill/>
              <a:ln w="31750">
                <a:solidFill>
                  <a:srgbClr val="D9AA7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175" name="Line 176">
                <a:extLst>
                  <a:ext uri="{FF2B5EF4-FFF2-40B4-BE49-F238E27FC236}">
                    <a16:creationId xmlns:a16="http://schemas.microsoft.com/office/drawing/2014/main" id="{4AC313C0-4074-47F5-9278-A347B7FE39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06" y="1782"/>
                <a:ext cx="27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176" name="Line 177">
                <a:extLst>
                  <a:ext uri="{FF2B5EF4-FFF2-40B4-BE49-F238E27FC236}">
                    <a16:creationId xmlns:a16="http://schemas.microsoft.com/office/drawing/2014/main" id="{88F95101-0E96-4AB5-9DF3-9D8E0B9197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20" y="1768"/>
                <a:ext cx="82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177" name="Line 178">
                <a:extLst>
                  <a:ext uri="{FF2B5EF4-FFF2-40B4-BE49-F238E27FC236}">
                    <a16:creationId xmlns:a16="http://schemas.microsoft.com/office/drawing/2014/main" id="{37470373-E62D-40B9-977F-39CE60377C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06" y="1768"/>
                <a:ext cx="69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178" name="Line 179">
                <a:extLst>
                  <a:ext uri="{FF2B5EF4-FFF2-40B4-BE49-F238E27FC236}">
                    <a16:creationId xmlns:a16="http://schemas.microsoft.com/office/drawing/2014/main" id="{CF4ADBF4-3F51-451B-9768-64E909D117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47" y="1782"/>
                <a:ext cx="42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179" name="Line 180">
                <a:extLst>
                  <a:ext uri="{FF2B5EF4-FFF2-40B4-BE49-F238E27FC236}">
                    <a16:creationId xmlns:a16="http://schemas.microsoft.com/office/drawing/2014/main" id="{1D9D8428-9988-4A0D-A644-AA2F0860D4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89" y="1768"/>
                <a:ext cx="27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180" name="Line 181">
                <a:extLst>
                  <a:ext uri="{FF2B5EF4-FFF2-40B4-BE49-F238E27FC236}">
                    <a16:creationId xmlns:a16="http://schemas.microsoft.com/office/drawing/2014/main" id="{B20F0771-169B-4DD0-A8B9-B1C3F53D1A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02" y="1782"/>
                <a:ext cx="14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181" name="Rectangle 182">
                <a:extLst>
                  <a:ext uri="{FF2B5EF4-FFF2-40B4-BE49-F238E27FC236}">
                    <a16:creationId xmlns:a16="http://schemas.microsoft.com/office/drawing/2014/main" id="{3960EB31-8071-4FEC-9C66-9C9F78426C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61" y="1671"/>
                <a:ext cx="28" cy="4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algn="ctr">
                  <a:spcBef>
                    <a:spcPct val="20000"/>
                  </a:spcBef>
                  <a:buClr>
                    <a:schemeClr val="accent2"/>
                  </a:buClr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</a:pPr>
                <a:endParaRPr lang="sv-SE" altLang="en-US" sz="2400">
                  <a:ea typeface="MS PGothic" panose="020B0600070205080204" pitchFamily="34" charset="-128"/>
                </a:endParaRPr>
              </a:p>
            </p:txBody>
          </p:sp>
          <p:sp>
            <p:nvSpPr>
              <p:cNvPr id="30182" name="Rectangle 183">
                <a:extLst>
                  <a:ext uri="{FF2B5EF4-FFF2-40B4-BE49-F238E27FC236}">
                    <a16:creationId xmlns:a16="http://schemas.microsoft.com/office/drawing/2014/main" id="{5CC572C4-B74B-4DCC-8488-EE83460CEC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61" y="1671"/>
                <a:ext cx="41" cy="55"/>
              </a:xfrm>
              <a:prstGeom prst="rect">
                <a:avLst/>
              </a:prstGeom>
              <a:noFill/>
              <a:ln w="317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algn="ctr">
                  <a:spcBef>
                    <a:spcPct val="20000"/>
                  </a:spcBef>
                  <a:buClr>
                    <a:schemeClr val="accent2"/>
                  </a:buClr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</a:pPr>
                <a:endParaRPr lang="sv-SE" altLang="en-US" sz="2400">
                  <a:ea typeface="MS PGothic" panose="020B0600070205080204" pitchFamily="34" charset="-128"/>
                </a:endParaRPr>
              </a:p>
            </p:txBody>
          </p:sp>
          <p:sp>
            <p:nvSpPr>
              <p:cNvPr id="30183" name="Freeform 184">
                <a:extLst>
                  <a:ext uri="{FF2B5EF4-FFF2-40B4-BE49-F238E27FC236}">
                    <a16:creationId xmlns:a16="http://schemas.microsoft.com/office/drawing/2014/main" id="{C5838E42-4CF8-480D-8BEA-831B94629D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89" y="1878"/>
                <a:ext cx="41" cy="69"/>
              </a:xfrm>
              <a:custGeom>
                <a:avLst/>
                <a:gdLst>
                  <a:gd name="T0" fmla="*/ 0 w 41"/>
                  <a:gd name="T1" fmla="*/ 0 h 69"/>
                  <a:gd name="T2" fmla="*/ 41 w 41"/>
                  <a:gd name="T3" fmla="*/ 14 h 69"/>
                  <a:gd name="T4" fmla="*/ 41 w 41"/>
                  <a:gd name="T5" fmla="*/ 69 h 69"/>
                  <a:gd name="T6" fmla="*/ 0 60000 65536"/>
                  <a:gd name="T7" fmla="*/ 0 60000 65536"/>
                  <a:gd name="T8" fmla="*/ 0 60000 65536"/>
                  <a:gd name="T9" fmla="*/ 0 w 41"/>
                  <a:gd name="T10" fmla="*/ 0 h 69"/>
                  <a:gd name="T11" fmla="*/ 41 w 41"/>
                  <a:gd name="T12" fmla="*/ 69 h 6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1" h="69">
                    <a:moveTo>
                      <a:pt x="0" y="0"/>
                    </a:moveTo>
                    <a:lnTo>
                      <a:pt x="41" y="14"/>
                    </a:lnTo>
                    <a:lnTo>
                      <a:pt x="41" y="69"/>
                    </a:lnTo>
                  </a:path>
                </a:pathLst>
              </a:custGeom>
              <a:noFill/>
              <a:ln w="3175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184" name="AutoShape 185">
                <a:extLst>
                  <a:ext uri="{FF2B5EF4-FFF2-40B4-BE49-F238E27FC236}">
                    <a16:creationId xmlns:a16="http://schemas.microsoft.com/office/drawing/2014/main" id="{C0837A05-1BA8-4369-9F80-85E2F09890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78" y="1795"/>
                <a:ext cx="111" cy="83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algn="ctr">
                  <a:spcBef>
                    <a:spcPct val="20000"/>
                  </a:spcBef>
                  <a:buClr>
                    <a:schemeClr val="accent2"/>
                  </a:buClr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</a:pPr>
                <a:endParaRPr lang="sv-SE" altLang="en-US" sz="2400">
                  <a:ea typeface="MS PGothic" panose="020B0600070205080204" pitchFamily="34" charset="-128"/>
                </a:endParaRPr>
              </a:p>
            </p:txBody>
          </p:sp>
          <p:sp>
            <p:nvSpPr>
              <p:cNvPr id="30185" name="AutoShape 186">
                <a:extLst>
                  <a:ext uri="{FF2B5EF4-FFF2-40B4-BE49-F238E27FC236}">
                    <a16:creationId xmlns:a16="http://schemas.microsoft.com/office/drawing/2014/main" id="{5D963A22-C3E0-4720-9775-4F37B3193C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65" y="1782"/>
                <a:ext cx="138" cy="110"/>
              </a:xfrm>
              <a:prstGeom prst="roundRect">
                <a:avLst>
                  <a:gd name="adj" fmla="val 40454"/>
                </a:avLst>
              </a:prstGeom>
              <a:noFill/>
              <a:ln w="53975">
                <a:solidFill>
                  <a:srgbClr val="9999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algn="ctr">
                  <a:spcBef>
                    <a:spcPct val="20000"/>
                  </a:spcBef>
                  <a:buClr>
                    <a:schemeClr val="accent2"/>
                  </a:buClr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</a:pPr>
                <a:endParaRPr lang="sv-SE" altLang="en-US" sz="2400">
                  <a:ea typeface="MS PGothic" panose="020B0600070205080204" pitchFamily="34" charset="-128"/>
                </a:endParaRPr>
              </a:p>
            </p:txBody>
          </p:sp>
          <p:sp>
            <p:nvSpPr>
              <p:cNvPr id="30186" name="Rectangle 187">
                <a:extLst>
                  <a:ext uri="{FF2B5EF4-FFF2-40B4-BE49-F238E27FC236}">
                    <a16:creationId xmlns:a16="http://schemas.microsoft.com/office/drawing/2014/main" id="{D45D88F0-3DB8-4A42-A69B-C5428A7796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92" y="1809"/>
                <a:ext cx="83" cy="4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algn="ctr">
                  <a:spcBef>
                    <a:spcPct val="20000"/>
                  </a:spcBef>
                  <a:buClr>
                    <a:schemeClr val="accent2"/>
                  </a:buClr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</a:pPr>
                <a:endParaRPr lang="sv-SE" altLang="en-US" sz="2400">
                  <a:ea typeface="MS PGothic" panose="020B0600070205080204" pitchFamily="34" charset="-128"/>
                </a:endParaRPr>
              </a:p>
            </p:txBody>
          </p:sp>
          <p:sp>
            <p:nvSpPr>
              <p:cNvPr id="30187" name="Rectangle 188">
                <a:extLst>
                  <a:ext uri="{FF2B5EF4-FFF2-40B4-BE49-F238E27FC236}">
                    <a16:creationId xmlns:a16="http://schemas.microsoft.com/office/drawing/2014/main" id="{5A53D616-928E-4449-9E78-0C5AEDDA15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92" y="1809"/>
                <a:ext cx="97" cy="55"/>
              </a:xfrm>
              <a:prstGeom prst="rect">
                <a:avLst/>
              </a:prstGeom>
              <a:noFill/>
              <a:ln w="317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algn="ctr">
                  <a:spcBef>
                    <a:spcPct val="20000"/>
                  </a:spcBef>
                  <a:buClr>
                    <a:schemeClr val="accent2"/>
                  </a:buClr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</a:pPr>
                <a:endParaRPr lang="sv-SE" altLang="en-US" sz="2400">
                  <a:ea typeface="MS PGothic" panose="020B0600070205080204" pitchFamily="34" charset="-128"/>
                </a:endParaRPr>
              </a:p>
            </p:txBody>
          </p:sp>
          <p:sp>
            <p:nvSpPr>
              <p:cNvPr id="30188" name="Freeform 189">
                <a:extLst>
                  <a:ext uri="{FF2B5EF4-FFF2-40B4-BE49-F238E27FC236}">
                    <a16:creationId xmlns:a16="http://schemas.microsoft.com/office/drawing/2014/main" id="{1A713DEA-458D-44AB-9FD4-823D53569D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16" y="1933"/>
                <a:ext cx="28" cy="42"/>
              </a:xfrm>
              <a:custGeom>
                <a:avLst/>
                <a:gdLst>
                  <a:gd name="T0" fmla="*/ 14 w 28"/>
                  <a:gd name="T1" fmla="*/ 0 h 42"/>
                  <a:gd name="T2" fmla="*/ 14 w 28"/>
                  <a:gd name="T3" fmla="*/ 0 h 42"/>
                  <a:gd name="T4" fmla="*/ 28 w 28"/>
                  <a:gd name="T5" fmla="*/ 14 h 42"/>
                  <a:gd name="T6" fmla="*/ 28 w 28"/>
                  <a:gd name="T7" fmla="*/ 28 h 42"/>
                  <a:gd name="T8" fmla="*/ 14 w 28"/>
                  <a:gd name="T9" fmla="*/ 42 h 42"/>
                  <a:gd name="T10" fmla="*/ 14 w 28"/>
                  <a:gd name="T11" fmla="*/ 42 h 42"/>
                  <a:gd name="T12" fmla="*/ 0 w 28"/>
                  <a:gd name="T13" fmla="*/ 28 h 42"/>
                  <a:gd name="T14" fmla="*/ 0 w 28"/>
                  <a:gd name="T15" fmla="*/ 14 h 42"/>
                  <a:gd name="T16" fmla="*/ 0 w 28"/>
                  <a:gd name="T17" fmla="*/ 0 h 42"/>
                  <a:gd name="T18" fmla="*/ 14 w 28"/>
                  <a:gd name="T19" fmla="*/ 0 h 4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8"/>
                  <a:gd name="T31" fmla="*/ 0 h 42"/>
                  <a:gd name="T32" fmla="*/ 28 w 28"/>
                  <a:gd name="T33" fmla="*/ 42 h 4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8" h="42">
                    <a:moveTo>
                      <a:pt x="14" y="0"/>
                    </a:moveTo>
                    <a:lnTo>
                      <a:pt x="14" y="0"/>
                    </a:lnTo>
                    <a:lnTo>
                      <a:pt x="28" y="14"/>
                    </a:lnTo>
                    <a:lnTo>
                      <a:pt x="28" y="28"/>
                    </a:lnTo>
                    <a:lnTo>
                      <a:pt x="14" y="42"/>
                    </a:lnTo>
                    <a:lnTo>
                      <a:pt x="0" y="28"/>
                    </a:lnTo>
                    <a:lnTo>
                      <a:pt x="0" y="14"/>
                    </a:lnTo>
                    <a:lnTo>
                      <a:pt x="0" y="0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999999"/>
              </a:solidFill>
              <a:ln w="31750">
                <a:solidFill>
                  <a:srgbClr val="9999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30189" name="Picture 190">
                <a:extLst>
                  <a:ext uri="{FF2B5EF4-FFF2-40B4-BE49-F238E27FC236}">
                    <a16:creationId xmlns:a16="http://schemas.microsoft.com/office/drawing/2014/main" id="{A965E643-557E-4879-9BA0-9176AC2DA61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506" y="1823"/>
                <a:ext cx="69" cy="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0190" name="Line 191">
                <a:extLst>
                  <a:ext uri="{FF2B5EF4-FFF2-40B4-BE49-F238E27FC236}">
                    <a16:creationId xmlns:a16="http://schemas.microsoft.com/office/drawing/2014/main" id="{C999046D-9E2B-47E6-B07B-78921BF74F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16" y="1947"/>
                <a:ext cx="1" cy="14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191" name="Line 192">
                <a:extLst>
                  <a:ext uri="{FF2B5EF4-FFF2-40B4-BE49-F238E27FC236}">
                    <a16:creationId xmlns:a16="http://schemas.microsoft.com/office/drawing/2014/main" id="{9B7A5E8E-4358-4A30-807F-5C0D1A8EFF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30" y="1947"/>
                <a:ext cx="1" cy="14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192" name="Line 193">
                <a:extLst>
                  <a:ext uri="{FF2B5EF4-FFF2-40B4-BE49-F238E27FC236}">
                    <a16:creationId xmlns:a16="http://schemas.microsoft.com/office/drawing/2014/main" id="{46D5337C-AF63-4C43-B49B-EC0A6CF935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30" y="1947"/>
                <a:ext cx="1" cy="14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193" name="Rectangle 194">
                <a:extLst>
                  <a:ext uri="{FF2B5EF4-FFF2-40B4-BE49-F238E27FC236}">
                    <a16:creationId xmlns:a16="http://schemas.microsoft.com/office/drawing/2014/main" id="{A9A0CB6A-37F9-42FF-8D19-4C3D60E9B7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92" y="1878"/>
                <a:ext cx="97" cy="14"/>
              </a:xfrm>
              <a:prstGeom prst="rect">
                <a:avLst/>
              </a:prstGeom>
              <a:solidFill>
                <a:srgbClr val="D9AA73"/>
              </a:solidFill>
              <a:ln w="31750">
                <a:solidFill>
                  <a:srgbClr val="D9AA73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algn="ctr">
                  <a:spcBef>
                    <a:spcPct val="20000"/>
                  </a:spcBef>
                  <a:buClr>
                    <a:schemeClr val="accent2"/>
                  </a:buClr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</a:pPr>
                <a:endParaRPr lang="sv-SE" altLang="en-US" sz="2400">
                  <a:ea typeface="MS PGothic" panose="020B0600070205080204" pitchFamily="34" charset="-128"/>
                </a:endParaRPr>
              </a:p>
            </p:txBody>
          </p:sp>
          <p:sp>
            <p:nvSpPr>
              <p:cNvPr id="30194" name="Freeform 195">
                <a:extLst>
                  <a:ext uri="{FF2B5EF4-FFF2-40B4-BE49-F238E27FC236}">
                    <a16:creationId xmlns:a16="http://schemas.microsoft.com/office/drawing/2014/main" id="{6AA4ECBA-F229-47D3-B5CC-BFE59FBE78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78" y="1892"/>
                <a:ext cx="125" cy="28"/>
              </a:xfrm>
              <a:custGeom>
                <a:avLst/>
                <a:gdLst>
                  <a:gd name="T0" fmla="*/ 14 w 125"/>
                  <a:gd name="T1" fmla="*/ 0 h 28"/>
                  <a:gd name="T2" fmla="*/ 0 w 125"/>
                  <a:gd name="T3" fmla="*/ 28 h 28"/>
                  <a:gd name="T4" fmla="*/ 125 w 125"/>
                  <a:gd name="T5" fmla="*/ 28 h 28"/>
                  <a:gd name="T6" fmla="*/ 111 w 125"/>
                  <a:gd name="T7" fmla="*/ 0 h 28"/>
                  <a:gd name="T8" fmla="*/ 14 w 125"/>
                  <a:gd name="T9" fmla="*/ 0 h 2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5"/>
                  <a:gd name="T16" fmla="*/ 0 h 28"/>
                  <a:gd name="T17" fmla="*/ 125 w 125"/>
                  <a:gd name="T18" fmla="*/ 28 h 2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5" h="28">
                    <a:moveTo>
                      <a:pt x="14" y="0"/>
                    </a:moveTo>
                    <a:lnTo>
                      <a:pt x="0" y="28"/>
                    </a:lnTo>
                    <a:lnTo>
                      <a:pt x="125" y="28"/>
                    </a:lnTo>
                    <a:lnTo>
                      <a:pt x="111" y="0"/>
                    </a:lnTo>
                    <a:lnTo>
                      <a:pt x="14" y="0"/>
                    </a:lnTo>
                    <a:close/>
                  </a:path>
                </a:pathLst>
              </a:custGeom>
              <a:noFill/>
              <a:ln w="31750">
                <a:solidFill>
                  <a:srgbClr val="D9AA7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195" name="Line 196">
                <a:extLst>
                  <a:ext uri="{FF2B5EF4-FFF2-40B4-BE49-F238E27FC236}">
                    <a16:creationId xmlns:a16="http://schemas.microsoft.com/office/drawing/2014/main" id="{B42B1902-3346-43FA-81DE-FBDC475A66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492" y="1906"/>
                <a:ext cx="14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196" name="Line 197">
                <a:extLst>
                  <a:ext uri="{FF2B5EF4-FFF2-40B4-BE49-F238E27FC236}">
                    <a16:creationId xmlns:a16="http://schemas.microsoft.com/office/drawing/2014/main" id="{09626C7D-D230-499B-B741-29E3C4101D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492" y="1892"/>
                <a:ext cx="97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197" name="Line 198">
                <a:extLst>
                  <a:ext uri="{FF2B5EF4-FFF2-40B4-BE49-F238E27FC236}">
                    <a16:creationId xmlns:a16="http://schemas.microsoft.com/office/drawing/2014/main" id="{B4EBFFB0-4FB4-4BD3-B75C-341A1202CB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492" y="1906"/>
                <a:ext cx="55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198" name="Line 199">
                <a:extLst>
                  <a:ext uri="{FF2B5EF4-FFF2-40B4-BE49-F238E27FC236}">
                    <a16:creationId xmlns:a16="http://schemas.microsoft.com/office/drawing/2014/main" id="{649C2E80-D74E-4516-BF3B-4D9B87969A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520" y="1906"/>
                <a:ext cx="55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199" name="Line 200">
                <a:extLst>
                  <a:ext uri="{FF2B5EF4-FFF2-40B4-BE49-F238E27FC236}">
                    <a16:creationId xmlns:a16="http://schemas.microsoft.com/office/drawing/2014/main" id="{AE5F8828-D4F0-4C98-80D4-3A8D82217A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561" y="1906"/>
                <a:ext cx="28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200" name="Line 201">
                <a:extLst>
                  <a:ext uri="{FF2B5EF4-FFF2-40B4-BE49-F238E27FC236}">
                    <a16:creationId xmlns:a16="http://schemas.microsoft.com/office/drawing/2014/main" id="{80331D84-D127-4744-BFE7-F731F4B191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575" y="1906"/>
                <a:ext cx="28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201" name="Rectangle 202">
                <a:extLst>
                  <a:ext uri="{FF2B5EF4-FFF2-40B4-BE49-F238E27FC236}">
                    <a16:creationId xmlns:a16="http://schemas.microsoft.com/office/drawing/2014/main" id="{A3CE5C56-6890-4442-A870-AFDA30C4A9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34" y="1795"/>
                <a:ext cx="27" cy="4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algn="ctr">
                  <a:spcBef>
                    <a:spcPct val="20000"/>
                  </a:spcBef>
                  <a:buClr>
                    <a:schemeClr val="accent2"/>
                  </a:buClr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</a:pPr>
                <a:endParaRPr lang="sv-SE" altLang="en-US" sz="2400">
                  <a:ea typeface="MS PGothic" panose="020B0600070205080204" pitchFamily="34" charset="-128"/>
                </a:endParaRPr>
              </a:p>
            </p:txBody>
          </p:sp>
          <p:sp>
            <p:nvSpPr>
              <p:cNvPr id="30202" name="Rectangle 203">
                <a:extLst>
                  <a:ext uri="{FF2B5EF4-FFF2-40B4-BE49-F238E27FC236}">
                    <a16:creationId xmlns:a16="http://schemas.microsoft.com/office/drawing/2014/main" id="{4B439EB7-5142-4508-AA1A-E5ED9E7600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34" y="1795"/>
                <a:ext cx="41" cy="56"/>
              </a:xfrm>
              <a:prstGeom prst="rect">
                <a:avLst/>
              </a:prstGeom>
              <a:noFill/>
              <a:ln w="317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algn="ctr">
                  <a:spcBef>
                    <a:spcPct val="20000"/>
                  </a:spcBef>
                  <a:buClr>
                    <a:schemeClr val="accent2"/>
                  </a:buClr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</a:pPr>
                <a:endParaRPr lang="sv-SE" altLang="en-US" sz="2400">
                  <a:ea typeface="MS PGothic" panose="020B0600070205080204" pitchFamily="34" charset="-128"/>
                </a:endParaRPr>
              </a:p>
            </p:txBody>
          </p:sp>
          <p:sp>
            <p:nvSpPr>
              <p:cNvPr id="30203" name="Freeform 204">
                <a:extLst>
                  <a:ext uri="{FF2B5EF4-FFF2-40B4-BE49-F238E27FC236}">
                    <a16:creationId xmlns:a16="http://schemas.microsoft.com/office/drawing/2014/main" id="{3B156B1D-73ED-4B63-AAE7-9A8A868AC4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47" y="2237"/>
                <a:ext cx="42" cy="55"/>
              </a:xfrm>
              <a:custGeom>
                <a:avLst/>
                <a:gdLst>
                  <a:gd name="T0" fmla="*/ 0 w 42"/>
                  <a:gd name="T1" fmla="*/ 0 h 55"/>
                  <a:gd name="T2" fmla="*/ 42 w 42"/>
                  <a:gd name="T3" fmla="*/ 0 h 55"/>
                  <a:gd name="T4" fmla="*/ 42 w 42"/>
                  <a:gd name="T5" fmla="*/ 55 h 55"/>
                  <a:gd name="T6" fmla="*/ 0 60000 65536"/>
                  <a:gd name="T7" fmla="*/ 0 60000 65536"/>
                  <a:gd name="T8" fmla="*/ 0 60000 65536"/>
                  <a:gd name="T9" fmla="*/ 0 w 42"/>
                  <a:gd name="T10" fmla="*/ 0 h 55"/>
                  <a:gd name="T11" fmla="*/ 42 w 42"/>
                  <a:gd name="T12" fmla="*/ 55 h 5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" h="55">
                    <a:moveTo>
                      <a:pt x="0" y="0"/>
                    </a:moveTo>
                    <a:lnTo>
                      <a:pt x="42" y="0"/>
                    </a:lnTo>
                    <a:lnTo>
                      <a:pt x="42" y="55"/>
                    </a:lnTo>
                  </a:path>
                </a:pathLst>
              </a:custGeom>
              <a:noFill/>
              <a:ln w="3175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9702" name="AutoShape 205">
              <a:extLst>
                <a:ext uri="{FF2B5EF4-FFF2-40B4-BE49-F238E27FC236}">
                  <a16:creationId xmlns:a16="http://schemas.microsoft.com/office/drawing/2014/main" id="{8AD6B0F6-A7DD-4FA5-88F7-E9C6857211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51" y="2140"/>
              <a:ext cx="110" cy="83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703" name="AutoShape 206">
              <a:extLst>
                <a:ext uri="{FF2B5EF4-FFF2-40B4-BE49-F238E27FC236}">
                  <a16:creationId xmlns:a16="http://schemas.microsoft.com/office/drawing/2014/main" id="{2068E647-75CC-4716-8613-D705C29BB1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37" y="2127"/>
              <a:ext cx="138" cy="110"/>
            </a:xfrm>
            <a:prstGeom prst="roundRect">
              <a:avLst>
                <a:gd name="adj" fmla="val 40454"/>
              </a:avLst>
            </a:prstGeom>
            <a:noFill/>
            <a:ln w="53975">
              <a:solidFill>
                <a:srgbClr val="9999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704" name="Rectangle 207">
              <a:extLst>
                <a:ext uri="{FF2B5EF4-FFF2-40B4-BE49-F238E27FC236}">
                  <a16:creationId xmlns:a16="http://schemas.microsoft.com/office/drawing/2014/main" id="{13442EC9-3638-4F89-9CA6-84EE38840D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65" y="2168"/>
              <a:ext cx="82" cy="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705" name="Rectangle 208">
              <a:extLst>
                <a:ext uri="{FF2B5EF4-FFF2-40B4-BE49-F238E27FC236}">
                  <a16:creationId xmlns:a16="http://schemas.microsoft.com/office/drawing/2014/main" id="{E34EEBA6-B1F5-4830-BC89-480686C853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65" y="2168"/>
              <a:ext cx="96" cy="55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706" name="Freeform 209">
              <a:extLst>
                <a:ext uri="{FF2B5EF4-FFF2-40B4-BE49-F238E27FC236}">
                  <a16:creationId xmlns:a16="http://schemas.microsoft.com/office/drawing/2014/main" id="{C8E93FEF-AB68-45F7-8C38-55748D726A43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5" y="2292"/>
              <a:ext cx="28" cy="28"/>
            </a:xfrm>
            <a:custGeom>
              <a:avLst/>
              <a:gdLst>
                <a:gd name="T0" fmla="*/ 14 w 28"/>
                <a:gd name="T1" fmla="*/ 0 h 28"/>
                <a:gd name="T2" fmla="*/ 14 w 28"/>
                <a:gd name="T3" fmla="*/ 0 h 28"/>
                <a:gd name="T4" fmla="*/ 28 w 28"/>
                <a:gd name="T5" fmla="*/ 0 h 28"/>
                <a:gd name="T6" fmla="*/ 28 w 28"/>
                <a:gd name="T7" fmla="*/ 14 h 28"/>
                <a:gd name="T8" fmla="*/ 14 w 28"/>
                <a:gd name="T9" fmla="*/ 28 h 28"/>
                <a:gd name="T10" fmla="*/ 14 w 28"/>
                <a:gd name="T11" fmla="*/ 28 h 28"/>
                <a:gd name="T12" fmla="*/ 0 w 28"/>
                <a:gd name="T13" fmla="*/ 14 h 28"/>
                <a:gd name="T14" fmla="*/ 0 w 28"/>
                <a:gd name="T15" fmla="*/ 0 h 28"/>
                <a:gd name="T16" fmla="*/ 0 w 28"/>
                <a:gd name="T17" fmla="*/ 0 h 28"/>
                <a:gd name="T18" fmla="*/ 14 w 28"/>
                <a:gd name="T19" fmla="*/ 0 h 2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8"/>
                <a:gd name="T31" fmla="*/ 0 h 28"/>
                <a:gd name="T32" fmla="*/ 28 w 28"/>
                <a:gd name="T33" fmla="*/ 28 h 28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8" h="28">
                  <a:moveTo>
                    <a:pt x="14" y="0"/>
                  </a:moveTo>
                  <a:lnTo>
                    <a:pt x="14" y="0"/>
                  </a:lnTo>
                  <a:lnTo>
                    <a:pt x="28" y="0"/>
                  </a:lnTo>
                  <a:lnTo>
                    <a:pt x="28" y="14"/>
                  </a:lnTo>
                  <a:lnTo>
                    <a:pt x="14" y="28"/>
                  </a:lnTo>
                  <a:lnTo>
                    <a:pt x="0" y="14"/>
                  </a:lnTo>
                  <a:lnTo>
                    <a:pt x="0" y="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999999"/>
            </a:solidFill>
            <a:ln w="31750">
              <a:solidFill>
                <a:srgbClr val="9999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9707" name="Picture 210">
              <a:extLst>
                <a:ext uri="{FF2B5EF4-FFF2-40B4-BE49-F238E27FC236}">
                  <a16:creationId xmlns:a16="http://schemas.microsoft.com/office/drawing/2014/main" id="{D17665E6-5D29-411C-8377-1851AED25D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65" y="2168"/>
              <a:ext cx="82" cy="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708" name="Line 211">
              <a:extLst>
                <a:ext uri="{FF2B5EF4-FFF2-40B4-BE49-F238E27FC236}">
                  <a16:creationId xmlns:a16="http://schemas.microsoft.com/office/drawing/2014/main" id="{9BAC498A-3E03-4F01-9803-9F376FE8D1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89" y="2292"/>
              <a:ext cx="1" cy="14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09" name="Line 212">
              <a:extLst>
                <a:ext uri="{FF2B5EF4-FFF2-40B4-BE49-F238E27FC236}">
                  <a16:creationId xmlns:a16="http://schemas.microsoft.com/office/drawing/2014/main" id="{810FD205-1EB7-4CF8-B299-4F9CEE345C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89" y="2292"/>
              <a:ext cx="1" cy="14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10" name="Line 213">
              <a:extLst>
                <a:ext uri="{FF2B5EF4-FFF2-40B4-BE49-F238E27FC236}">
                  <a16:creationId xmlns:a16="http://schemas.microsoft.com/office/drawing/2014/main" id="{B5A8C201-AA1D-4E7D-970A-CB6FCD1F06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03" y="2292"/>
              <a:ext cx="1" cy="14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11" name="Rectangle 214">
              <a:extLst>
                <a:ext uri="{FF2B5EF4-FFF2-40B4-BE49-F238E27FC236}">
                  <a16:creationId xmlns:a16="http://schemas.microsoft.com/office/drawing/2014/main" id="{3D425ED1-4FDB-4ECC-8121-E0040CDD2A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51" y="2223"/>
              <a:ext cx="96" cy="14"/>
            </a:xfrm>
            <a:prstGeom prst="rect">
              <a:avLst/>
            </a:prstGeom>
            <a:solidFill>
              <a:srgbClr val="D9AA73"/>
            </a:solidFill>
            <a:ln w="31750">
              <a:solidFill>
                <a:srgbClr val="D9AA73"/>
              </a:solidFill>
              <a:miter lim="800000"/>
              <a:headEnd/>
              <a:tailEnd/>
            </a:ln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712" name="Freeform 215">
              <a:extLst>
                <a:ext uri="{FF2B5EF4-FFF2-40B4-BE49-F238E27FC236}">
                  <a16:creationId xmlns:a16="http://schemas.microsoft.com/office/drawing/2014/main" id="{C187D27C-4F3F-486D-A2DD-E5F9D69C531E}"/>
                </a:ext>
              </a:extLst>
            </p:cNvPr>
            <p:cNvSpPr>
              <a:spLocks/>
            </p:cNvSpPr>
            <p:nvPr/>
          </p:nvSpPr>
          <p:spPr bwMode="auto">
            <a:xfrm>
              <a:off x="5437" y="2237"/>
              <a:ext cx="138" cy="28"/>
            </a:xfrm>
            <a:custGeom>
              <a:avLst/>
              <a:gdLst>
                <a:gd name="T0" fmla="*/ 14 w 138"/>
                <a:gd name="T1" fmla="*/ 0 h 28"/>
                <a:gd name="T2" fmla="*/ 0 w 138"/>
                <a:gd name="T3" fmla="*/ 28 h 28"/>
                <a:gd name="T4" fmla="*/ 138 w 138"/>
                <a:gd name="T5" fmla="*/ 28 h 28"/>
                <a:gd name="T6" fmla="*/ 124 w 138"/>
                <a:gd name="T7" fmla="*/ 0 h 28"/>
                <a:gd name="T8" fmla="*/ 14 w 138"/>
                <a:gd name="T9" fmla="*/ 0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8"/>
                <a:gd name="T16" fmla="*/ 0 h 28"/>
                <a:gd name="T17" fmla="*/ 138 w 138"/>
                <a:gd name="T18" fmla="*/ 28 h 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8" h="28">
                  <a:moveTo>
                    <a:pt x="14" y="0"/>
                  </a:moveTo>
                  <a:lnTo>
                    <a:pt x="0" y="28"/>
                  </a:lnTo>
                  <a:lnTo>
                    <a:pt x="138" y="28"/>
                  </a:lnTo>
                  <a:lnTo>
                    <a:pt x="124" y="0"/>
                  </a:lnTo>
                  <a:lnTo>
                    <a:pt x="14" y="0"/>
                  </a:lnTo>
                  <a:close/>
                </a:path>
              </a:pathLst>
            </a:custGeom>
            <a:noFill/>
            <a:ln w="31750">
              <a:solidFill>
                <a:srgbClr val="D9AA7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13" name="Line 216">
              <a:extLst>
                <a:ext uri="{FF2B5EF4-FFF2-40B4-BE49-F238E27FC236}">
                  <a16:creationId xmlns:a16="http://schemas.microsoft.com/office/drawing/2014/main" id="{DA64CD24-3323-4F0B-872F-14531E7779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51" y="2265"/>
              <a:ext cx="27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14" name="Line 217">
              <a:extLst>
                <a:ext uri="{FF2B5EF4-FFF2-40B4-BE49-F238E27FC236}">
                  <a16:creationId xmlns:a16="http://schemas.microsoft.com/office/drawing/2014/main" id="{DC9C8CB6-8DEC-4F9A-AA25-FC6CE7272C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65" y="2251"/>
              <a:ext cx="82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15" name="Line 218">
              <a:extLst>
                <a:ext uri="{FF2B5EF4-FFF2-40B4-BE49-F238E27FC236}">
                  <a16:creationId xmlns:a16="http://schemas.microsoft.com/office/drawing/2014/main" id="{DBAC6206-3030-4F82-998A-546141A86C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51" y="2251"/>
              <a:ext cx="69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16" name="Freeform 219">
              <a:extLst>
                <a:ext uri="{FF2B5EF4-FFF2-40B4-BE49-F238E27FC236}">
                  <a16:creationId xmlns:a16="http://schemas.microsoft.com/office/drawing/2014/main" id="{6E86F4C9-CF18-4096-A6B1-63EA897BCDFF}"/>
                </a:ext>
              </a:extLst>
            </p:cNvPr>
            <p:cNvSpPr>
              <a:spLocks/>
            </p:cNvSpPr>
            <p:nvPr/>
          </p:nvSpPr>
          <p:spPr bwMode="auto">
            <a:xfrm>
              <a:off x="5478" y="2251"/>
              <a:ext cx="83" cy="1"/>
            </a:xfrm>
            <a:custGeom>
              <a:avLst/>
              <a:gdLst>
                <a:gd name="T0" fmla="*/ 0 w 83"/>
                <a:gd name="T1" fmla="*/ 0 h 1"/>
                <a:gd name="T2" fmla="*/ 56 w 83"/>
                <a:gd name="T3" fmla="*/ 0 h 1"/>
                <a:gd name="T4" fmla="*/ 83 w 83"/>
                <a:gd name="T5" fmla="*/ 0 h 1"/>
                <a:gd name="T6" fmla="*/ 0 60000 65536"/>
                <a:gd name="T7" fmla="*/ 0 60000 65536"/>
                <a:gd name="T8" fmla="*/ 0 60000 65536"/>
                <a:gd name="T9" fmla="*/ 0 w 83"/>
                <a:gd name="T10" fmla="*/ 0 h 1"/>
                <a:gd name="T11" fmla="*/ 83 w 8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3" h="1">
                  <a:moveTo>
                    <a:pt x="0" y="0"/>
                  </a:moveTo>
                  <a:lnTo>
                    <a:pt x="56" y="0"/>
                  </a:lnTo>
                  <a:lnTo>
                    <a:pt x="83" y="0"/>
                  </a:lnTo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17" name="Line 220">
              <a:extLst>
                <a:ext uri="{FF2B5EF4-FFF2-40B4-BE49-F238E27FC236}">
                  <a16:creationId xmlns:a16="http://schemas.microsoft.com/office/drawing/2014/main" id="{A06AB1D4-9D90-4E7A-9DBF-8BFD2F26C9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47" y="2251"/>
              <a:ext cx="14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18" name="Rectangle 221">
              <a:extLst>
                <a:ext uri="{FF2B5EF4-FFF2-40B4-BE49-F238E27FC236}">
                  <a16:creationId xmlns:a16="http://schemas.microsoft.com/office/drawing/2014/main" id="{A0690D7B-A4DF-4AED-83B4-7E1F846ADB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92" y="2154"/>
              <a:ext cx="42" cy="2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719" name="Rectangle 222">
              <a:extLst>
                <a:ext uri="{FF2B5EF4-FFF2-40B4-BE49-F238E27FC236}">
                  <a16:creationId xmlns:a16="http://schemas.microsoft.com/office/drawing/2014/main" id="{26703BEC-F88D-4E0E-9CA7-B468E4B43A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92" y="2154"/>
              <a:ext cx="55" cy="42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720" name="Rectangle 223">
              <a:extLst>
                <a:ext uri="{FF2B5EF4-FFF2-40B4-BE49-F238E27FC236}">
                  <a16:creationId xmlns:a16="http://schemas.microsoft.com/office/drawing/2014/main" id="{40EC231D-177A-4E2D-8DE7-2F31D63592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5" y="1188"/>
              <a:ext cx="83" cy="83"/>
            </a:xfrm>
            <a:prstGeom prst="rect">
              <a:avLst/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721" name="Rectangle 224">
              <a:extLst>
                <a:ext uri="{FF2B5EF4-FFF2-40B4-BE49-F238E27FC236}">
                  <a16:creationId xmlns:a16="http://schemas.microsoft.com/office/drawing/2014/main" id="{F93E3392-1E3F-4F71-9107-4CB6A19A47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5" y="1188"/>
              <a:ext cx="97" cy="97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722" name="Rectangle 225">
              <a:extLst>
                <a:ext uri="{FF2B5EF4-FFF2-40B4-BE49-F238E27FC236}">
                  <a16:creationId xmlns:a16="http://schemas.microsoft.com/office/drawing/2014/main" id="{AE48E23A-1579-4206-9686-E0676CC6F5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2" y="1216"/>
              <a:ext cx="83" cy="69"/>
            </a:xfrm>
            <a:prstGeom prst="rect">
              <a:avLst/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723" name="Rectangle 226">
              <a:extLst>
                <a:ext uri="{FF2B5EF4-FFF2-40B4-BE49-F238E27FC236}">
                  <a16:creationId xmlns:a16="http://schemas.microsoft.com/office/drawing/2014/main" id="{946808B1-57E9-4939-A6B1-1ABFB25835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2" y="1216"/>
              <a:ext cx="97" cy="83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724" name="Rectangle 227">
              <a:extLst>
                <a:ext uri="{FF2B5EF4-FFF2-40B4-BE49-F238E27FC236}">
                  <a16:creationId xmlns:a16="http://schemas.microsoft.com/office/drawing/2014/main" id="{DECA0A8E-31AD-4893-B531-FD676F1D14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9" y="1230"/>
              <a:ext cx="83" cy="69"/>
            </a:xfrm>
            <a:prstGeom prst="rect">
              <a:avLst/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725" name="Rectangle 228">
              <a:extLst>
                <a:ext uri="{FF2B5EF4-FFF2-40B4-BE49-F238E27FC236}">
                  <a16:creationId xmlns:a16="http://schemas.microsoft.com/office/drawing/2014/main" id="{F6D4D5A0-5B64-44DC-8A5C-2065D4FB54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9" y="1230"/>
              <a:ext cx="97" cy="83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726" name="Rectangle 229">
              <a:extLst>
                <a:ext uri="{FF2B5EF4-FFF2-40B4-BE49-F238E27FC236}">
                  <a16:creationId xmlns:a16="http://schemas.microsoft.com/office/drawing/2014/main" id="{F2E28359-D920-4210-927B-5B0E0AD1B3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9" y="2265"/>
              <a:ext cx="83" cy="69"/>
            </a:xfrm>
            <a:prstGeom prst="rect">
              <a:avLst/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727" name="Rectangle 230">
              <a:extLst>
                <a:ext uri="{FF2B5EF4-FFF2-40B4-BE49-F238E27FC236}">
                  <a16:creationId xmlns:a16="http://schemas.microsoft.com/office/drawing/2014/main" id="{B770D6F0-F9D2-4749-B0DE-D9E3AE9F5C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9" y="2265"/>
              <a:ext cx="97" cy="82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728" name="Rectangle 231">
              <a:extLst>
                <a:ext uri="{FF2B5EF4-FFF2-40B4-BE49-F238E27FC236}">
                  <a16:creationId xmlns:a16="http://schemas.microsoft.com/office/drawing/2014/main" id="{2E1E0CC4-3DEF-42BA-BBC9-B9CBD420A7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4" y="2265"/>
              <a:ext cx="83" cy="82"/>
            </a:xfrm>
            <a:prstGeom prst="rect">
              <a:avLst/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729" name="Rectangle 232">
              <a:extLst>
                <a:ext uri="{FF2B5EF4-FFF2-40B4-BE49-F238E27FC236}">
                  <a16:creationId xmlns:a16="http://schemas.microsoft.com/office/drawing/2014/main" id="{4538806A-5BCD-4D6C-B743-47D59D5CF0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4" y="2265"/>
              <a:ext cx="97" cy="96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730" name="Rectangle 233">
              <a:extLst>
                <a:ext uri="{FF2B5EF4-FFF2-40B4-BE49-F238E27FC236}">
                  <a16:creationId xmlns:a16="http://schemas.microsoft.com/office/drawing/2014/main" id="{D597DF9A-F490-48A3-93DE-9EE1B72237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5" y="3010"/>
              <a:ext cx="83" cy="69"/>
            </a:xfrm>
            <a:prstGeom prst="rect">
              <a:avLst/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731" name="Rectangle 234">
              <a:extLst>
                <a:ext uri="{FF2B5EF4-FFF2-40B4-BE49-F238E27FC236}">
                  <a16:creationId xmlns:a16="http://schemas.microsoft.com/office/drawing/2014/main" id="{4E779502-CE93-4655-AD4E-D9F6B71C62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5" y="3010"/>
              <a:ext cx="97" cy="82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732" name="Rectangle 235">
              <a:extLst>
                <a:ext uri="{FF2B5EF4-FFF2-40B4-BE49-F238E27FC236}">
                  <a16:creationId xmlns:a16="http://schemas.microsoft.com/office/drawing/2014/main" id="{D264DC01-39C5-461B-9C7C-C625C75A84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9" y="2982"/>
              <a:ext cx="83" cy="83"/>
            </a:xfrm>
            <a:prstGeom prst="rect">
              <a:avLst/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733" name="Rectangle 236">
              <a:extLst>
                <a:ext uri="{FF2B5EF4-FFF2-40B4-BE49-F238E27FC236}">
                  <a16:creationId xmlns:a16="http://schemas.microsoft.com/office/drawing/2014/main" id="{F37808E4-CFFC-4BE4-BB9B-A7BD33B8BE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9" y="2982"/>
              <a:ext cx="97" cy="97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734" name="Rectangle 237">
              <a:extLst>
                <a:ext uri="{FF2B5EF4-FFF2-40B4-BE49-F238E27FC236}">
                  <a16:creationId xmlns:a16="http://schemas.microsoft.com/office/drawing/2014/main" id="{5B53817A-F77B-4D33-AF95-DA7B53D4C6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7" y="2954"/>
              <a:ext cx="83" cy="69"/>
            </a:xfrm>
            <a:prstGeom prst="rect">
              <a:avLst/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735" name="Rectangle 238">
              <a:extLst>
                <a:ext uri="{FF2B5EF4-FFF2-40B4-BE49-F238E27FC236}">
                  <a16:creationId xmlns:a16="http://schemas.microsoft.com/office/drawing/2014/main" id="{23DCDE2C-CCBF-4ED0-A51A-3F1AC247ED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7" y="2954"/>
              <a:ext cx="97" cy="83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736" name="Rectangle 239">
              <a:extLst>
                <a:ext uri="{FF2B5EF4-FFF2-40B4-BE49-F238E27FC236}">
                  <a16:creationId xmlns:a16="http://schemas.microsoft.com/office/drawing/2014/main" id="{24C508FB-8F64-4A45-8999-3FDDF3A335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8" y="2982"/>
              <a:ext cx="83" cy="83"/>
            </a:xfrm>
            <a:prstGeom prst="rect">
              <a:avLst/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737" name="Rectangle 240">
              <a:extLst>
                <a:ext uri="{FF2B5EF4-FFF2-40B4-BE49-F238E27FC236}">
                  <a16:creationId xmlns:a16="http://schemas.microsoft.com/office/drawing/2014/main" id="{0C410D3B-AFF5-4805-B098-7648E7AC52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8" y="2982"/>
              <a:ext cx="97" cy="97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738" name="Rectangle 241">
              <a:extLst>
                <a:ext uri="{FF2B5EF4-FFF2-40B4-BE49-F238E27FC236}">
                  <a16:creationId xmlns:a16="http://schemas.microsoft.com/office/drawing/2014/main" id="{579013ED-DF7A-4508-BA1D-1910E132C5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3" y="3250"/>
              <a:ext cx="341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r>
                <a:rPr lang="en-GB" altLang="en-US" sz="14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server:</a:t>
              </a:r>
              <a:endParaRPr lang="en-GB" altLang="en-US" sz="2400">
                <a:latin typeface="Times" panose="02020603050405020304" pitchFamily="18" charset="0"/>
                <a:ea typeface="MS PGothic" panose="020B0600070205080204" pitchFamily="34" charset="-128"/>
              </a:endParaRPr>
            </a:p>
          </p:txBody>
        </p:sp>
        <p:sp>
          <p:nvSpPr>
            <p:cNvPr id="29739" name="Freeform 242">
              <a:extLst>
                <a:ext uri="{FF2B5EF4-FFF2-40B4-BE49-F238E27FC236}">
                  <a16:creationId xmlns:a16="http://schemas.microsoft.com/office/drawing/2014/main" id="{C4FE7690-CB36-400A-9C5E-7BEF41ABC57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7" y="3120"/>
              <a:ext cx="41" cy="69"/>
            </a:xfrm>
            <a:custGeom>
              <a:avLst/>
              <a:gdLst>
                <a:gd name="T0" fmla="*/ 0 w 41"/>
                <a:gd name="T1" fmla="*/ 0 h 69"/>
                <a:gd name="T2" fmla="*/ 41 w 41"/>
                <a:gd name="T3" fmla="*/ 14 h 69"/>
                <a:gd name="T4" fmla="*/ 41 w 41"/>
                <a:gd name="T5" fmla="*/ 69 h 69"/>
                <a:gd name="T6" fmla="*/ 0 60000 65536"/>
                <a:gd name="T7" fmla="*/ 0 60000 65536"/>
                <a:gd name="T8" fmla="*/ 0 60000 65536"/>
                <a:gd name="T9" fmla="*/ 0 w 41"/>
                <a:gd name="T10" fmla="*/ 0 h 69"/>
                <a:gd name="T11" fmla="*/ 41 w 41"/>
                <a:gd name="T12" fmla="*/ 69 h 6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" h="69">
                  <a:moveTo>
                    <a:pt x="0" y="0"/>
                  </a:moveTo>
                  <a:lnTo>
                    <a:pt x="41" y="14"/>
                  </a:lnTo>
                  <a:lnTo>
                    <a:pt x="41" y="69"/>
                  </a:lnTo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40" name="AutoShape 243">
              <a:extLst>
                <a:ext uri="{FF2B5EF4-FFF2-40B4-BE49-F238E27FC236}">
                  <a16:creationId xmlns:a16="http://schemas.microsoft.com/office/drawing/2014/main" id="{D9121E9B-AB1F-4F39-96D5-102C197BAC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0" y="3037"/>
              <a:ext cx="111" cy="83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741" name="AutoShape 244">
              <a:extLst>
                <a:ext uri="{FF2B5EF4-FFF2-40B4-BE49-F238E27FC236}">
                  <a16:creationId xmlns:a16="http://schemas.microsoft.com/office/drawing/2014/main" id="{B9AA8DC3-F8B0-40EE-A08D-D06E35DF4C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7" y="3023"/>
              <a:ext cx="138" cy="111"/>
            </a:xfrm>
            <a:prstGeom prst="roundRect">
              <a:avLst>
                <a:gd name="adj" fmla="val 40088"/>
              </a:avLst>
            </a:prstGeom>
            <a:noFill/>
            <a:ln w="53975">
              <a:solidFill>
                <a:srgbClr val="9999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742" name="Rectangle 245">
              <a:extLst>
                <a:ext uri="{FF2B5EF4-FFF2-40B4-BE49-F238E27FC236}">
                  <a16:creationId xmlns:a16="http://schemas.microsoft.com/office/drawing/2014/main" id="{B183076A-1DB8-48D6-AE09-FF513A02B8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4" y="3051"/>
              <a:ext cx="83" cy="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743" name="Rectangle 246">
              <a:extLst>
                <a:ext uri="{FF2B5EF4-FFF2-40B4-BE49-F238E27FC236}">
                  <a16:creationId xmlns:a16="http://schemas.microsoft.com/office/drawing/2014/main" id="{5A1454EE-0CDB-44FC-9189-A0810FF550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4" y="3051"/>
              <a:ext cx="97" cy="55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744" name="Freeform 247">
              <a:extLst>
                <a:ext uri="{FF2B5EF4-FFF2-40B4-BE49-F238E27FC236}">
                  <a16:creationId xmlns:a16="http://schemas.microsoft.com/office/drawing/2014/main" id="{96162BA5-00A6-4614-B009-63F8E153EAC1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5" y="3189"/>
              <a:ext cx="27" cy="28"/>
            </a:xfrm>
            <a:custGeom>
              <a:avLst/>
              <a:gdLst>
                <a:gd name="T0" fmla="*/ 13 w 27"/>
                <a:gd name="T1" fmla="*/ 0 h 28"/>
                <a:gd name="T2" fmla="*/ 27 w 27"/>
                <a:gd name="T3" fmla="*/ 0 h 28"/>
                <a:gd name="T4" fmla="*/ 27 w 27"/>
                <a:gd name="T5" fmla="*/ 0 h 28"/>
                <a:gd name="T6" fmla="*/ 27 w 27"/>
                <a:gd name="T7" fmla="*/ 14 h 28"/>
                <a:gd name="T8" fmla="*/ 27 w 27"/>
                <a:gd name="T9" fmla="*/ 28 h 28"/>
                <a:gd name="T10" fmla="*/ 13 w 27"/>
                <a:gd name="T11" fmla="*/ 28 h 28"/>
                <a:gd name="T12" fmla="*/ 0 w 27"/>
                <a:gd name="T13" fmla="*/ 14 h 28"/>
                <a:gd name="T14" fmla="*/ 0 w 27"/>
                <a:gd name="T15" fmla="*/ 0 h 28"/>
                <a:gd name="T16" fmla="*/ 0 w 27"/>
                <a:gd name="T17" fmla="*/ 0 h 28"/>
                <a:gd name="T18" fmla="*/ 13 w 27"/>
                <a:gd name="T19" fmla="*/ 0 h 2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7"/>
                <a:gd name="T31" fmla="*/ 0 h 28"/>
                <a:gd name="T32" fmla="*/ 27 w 27"/>
                <a:gd name="T33" fmla="*/ 28 h 28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7" h="28">
                  <a:moveTo>
                    <a:pt x="13" y="0"/>
                  </a:moveTo>
                  <a:lnTo>
                    <a:pt x="27" y="0"/>
                  </a:lnTo>
                  <a:lnTo>
                    <a:pt x="27" y="14"/>
                  </a:lnTo>
                  <a:lnTo>
                    <a:pt x="27" y="28"/>
                  </a:lnTo>
                  <a:lnTo>
                    <a:pt x="13" y="28"/>
                  </a:lnTo>
                  <a:lnTo>
                    <a:pt x="0" y="14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999999"/>
            </a:solidFill>
            <a:ln w="31750">
              <a:solidFill>
                <a:srgbClr val="9999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9745" name="Picture 248">
              <a:extLst>
                <a:ext uri="{FF2B5EF4-FFF2-40B4-BE49-F238E27FC236}">
                  <a16:creationId xmlns:a16="http://schemas.microsoft.com/office/drawing/2014/main" id="{2BB082DC-97BB-483B-8502-1877A76EFD4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84" y="3065"/>
              <a:ext cx="83" cy="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746" name="Line 249">
              <a:extLst>
                <a:ext uri="{FF2B5EF4-FFF2-40B4-BE49-F238E27FC236}">
                  <a16:creationId xmlns:a16="http://schemas.microsoft.com/office/drawing/2014/main" id="{ADEF4A3C-EC8D-406F-8625-B055021582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3189"/>
              <a:ext cx="1" cy="14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47" name="Line 250">
              <a:extLst>
                <a:ext uri="{FF2B5EF4-FFF2-40B4-BE49-F238E27FC236}">
                  <a16:creationId xmlns:a16="http://schemas.microsoft.com/office/drawing/2014/main" id="{3D3E7322-23D8-4E99-BD13-26D4E70D9B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3189"/>
              <a:ext cx="1" cy="14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48" name="Line 251">
              <a:extLst>
                <a:ext uri="{FF2B5EF4-FFF2-40B4-BE49-F238E27FC236}">
                  <a16:creationId xmlns:a16="http://schemas.microsoft.com/office/drawing/2014/main" id="{2CA7C518-D144-4146-96A6-D154BA7B8D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22" y="3189"/>
              <a:ext cx="1" cy="14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49" name="Rectangle 252">
              <a:extLst>
                <a:ext uri="{FF2B5EF4-FFF2-40B4-BE49-F238E27FC236}">
                  <a16:creationId xmlns:a16="http://schemas.microsoft.com/office/drawing/2014/main" id="{FDA10990-69DB-4EEF-A67F-15531CEE72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0" y="3120"/>
              <a:ext cx="97" cy="14"/>
            </a:xfrm>
            <a:prstGeom prst="rect">
              <a:avLst/>
            </a:prstGeom>
            <a:solidFill>
              <a:srgbClr val="D9AA73"/>
            </a:solidFill>
            <a:ln w="31750">
              <a:solidFill>
                <a:srgbClr val="D9AA73"/>
              </a:solidFill>
              <a:miter lim="800000"/>
              <a:headEnd/>
              <a:tailEnd/>
            </a:ln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750" name="Freeform 253">
              <a:extLst>
                <a:ext uri="{FF2B5EF4-FFF2-40B4-BE49-F238E27FC236}">
                  <a16:creationId xmlns:a16="http://schemas.microsoft.com/office/drawing/2014/main" id="{5AFB8C7D-6565-4F02-BA81-F964D425AF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7" y="3134"/>
              <a:ext cx="138" cy="27"/>
            </a:xfrm>
            <a:custGeom>
              <a:avLst/>
              <a:gdLst>
                <a:gd name="T0" fmla="*/ 13 w 138"/>
                <a:gd name="T1" fmla="*/ 0 h 27"/>
                <a:gd name="T2" fmla="*/ 0 w 138"/>
                <a:gd name="T3" fmla="*/ 27 h 27"/>
                <a:gd name="T4" fmla="*/ 138 w 138"/>
                <a:gd name="T5" fmla="*/ 27 h 27"/>
                <a:gd name="T6" fmla="*/ 124 w 138"/>
                <a:gd name="T7" fmla="*/ 0 h 27"/>
                <a:gd name="T8" fmla="*/ 13 w 138"/>
                <a:gd name="T9" fmla="*/ 0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8"/>
                <a:gd name="T16" fmla="*/ 0 h 27"/>
                <a:gd name="T17" fmla="*/ 138 w 138"/>
                <a:gd name="T18" fmla="*/ 27 h 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8" h="27">
                  <a:moveTo>
                    <a:pt x="13" y="0"/>
                  </a:moveTo>
                  <a:lnTo>
                    <a:pt x="0" y="27"/>
                  </a:lnTo>
                  <a:lnTo>
                    <a:pt x="138" y="27"/>
                  </a:lnTo>
                  <a:lnTo>
                    <a:pt x="124" y="0"/>
                  </a:lnTo>
                  <a:lnTo>
                    <a:pt x="13" y="0"/>
                  </a:lnTo>
                  <a:close/>
                </a:path>
              </a:pathLst>
            </a:custGeom>
            <a:noFill/>
            <a:ln w="31750">
              <a:solidFill>
                <a:srgbClr val="D9AA7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51" name="Line 254">
              <a:extLst>
                <a:ext uri="{FF2B5EF4-FFF2-40B4-BE49-F238E27FC236}">
                  <a16:creationId xmlns:a16="http://schemas.microsoft.com/office/drawing/2014/main" id="{AA33DDD0-3148-4678-A3C9-AA5AFDFFD0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0" y="3148"/>
              <a:ext cx="28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52" name="Line 255">
              <a:extLst>
                <a:ext uri="{FF2B5EF4-FFF2-40B4-BE49-F238E27FC236}">
                  <a16:creationId xmlns:a16="http://schemas.microsoft.com/office/drawing/2014/main" id="{E03B3E97-1688-43E8-B627-8A708DDA69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84" y="3134"/>
              <a:ext cx="83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53" name="Line 256">
              <a:extLst>
                <a:ext uri="{FF2B5EF4-FFF2-40B4-BE49-F238E27FC236}">
                  <a16:creationId xmlns:a16="http://schemas.microsoft.com/office/drawing/2014/main" id="{DC93C1D3-6B1E-4494-BF34-6CE2CDB9BA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0" y="3148"/>
              <a:ext cx="69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54" name="Freeform 257">
              <a:extLst>
                <a:ext uri="{FF2B5EF4-FFF2-40B4-BE49-F238E27FC236}">
                  <a16:creationId xmlns:a16="http://schemas.microsoft.com/office/drawing/2014/main" id="{3BAEA872-347B-4EFD-86A5-3E3B2C0DDD2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8" y="3148"/>
              <a:ext cx="83" cy="1"/>
            </a:xfrm>
            <a:custGeom>
              <a:avLst/>
              <a:gdLst>
                <a:gd name="T0" fmla="*/ 0 w 83"/>
                <a:gd name="T1" fmla="*/ 0 h 1"/>
                <a:gd name="T2" fmla="*/ 55 w 83"/>
                <a:gd name="T3" fmla="*/ 0 h 1"/>
                <a:gd name="T4" fmla="*/ 83 w 83"/>
                <a:gd name="T5" fmla="*/ 0 h 1"/>
                <a:gd name="T6" fmla="*/ 0 60000 65536"/>
                <a:gd name="T7" fmla="*/ 0 60000 65536"/>
                <a:gd name="T8" fmla="*/ 0 60000 65536"/>
                <a:gd name="T9" fmla="*/ 0 w 83"/>
                <a:gd name="T10" fmla="*/ 0 h 1"/>
                <a:gd name="T11" fmla="*/ 83 w 8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3" h="1">
                  <a:moveTo>
                    <a:pt x="0" y="0"/>
                  </a:moveTo>
                  <a:lnTo>
                    <a:pt x="55" y="0"/>
                  </a:lnTo>
                  <a:lnTo>
                    <a:pt x="83" y="0"/>
                  </a:lnTo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55" name="Line 258">
              <a:extLst>
                <a:ext uri="{FF2B5EF4-FFF2-40B4-BE49-F238E27FC236}">
                  <a16:creationId xmlns:a16="http://schemas.microsoft.com/office/drawing/2014/main" id="{C11C9616-237E-4689-8FCB-23DC6E2519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7" y="3148"/>
              <a:ext cx="14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56" name="Rectangle 259">
              <a:extLst>
                <a:ext uri="{FF2B5EF4-FFF2-40B4-BE49-F238E27FC236}">
                  <a16:creationId xmlns:a16="http://schemas.microsoft.com/office/drawing/2014/main" id="{0CB45A63-5EA0-4086-A2F5-078F0992CA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6" y="3037"/>
              <a:ext cx="27" cy="4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757" name="Rectangle 260">
              <a:extLst>
                <a:ext uri="{FF2B5EF4-FFF2-40B4-BE49-F238E27FC236}">
                  <a16:creationId xmlns:a16="http://schemas.microsoft.com/office/drawing/2014/main" id="{3136F4AE-605F-4E04-8489-B90160B3E8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6" y="3037"/>
              <a:ext cx="41" cy="55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758" name="Rectangle 261">
              <a:extLst>
                <a:ext uri="{FF2B5EF4-FFF2-40B4-BE49-F238E27FC236}">
                  <a16:creationId xmlns:a16="http://schemas.microsoft.com/office/drawing/2014/main" id="{5B976BCE-C261-4AAA-99A6-5466C6ECF3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9" y="2265"/>
              <a:ext cx="82" cy="82"/>
            </a:xfrm>
            <a:prstGeom prst="rect">
              <a:avLst/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759" name="Rectangle 262">
              <a:extLst>
                <a:ext uri="{FF2B5EF4-FFF2-40B4-BE49-F238E27FC236}">
                  <a16:creationId xmlns:a16="http://schemas.microsoft.com/office/drawing/2014/main" id="{56E42B92-431E-4746-8E48-52714145A8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9" y="2265"/>
              <a:ext cx="96" cy="96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760" name="Rectangle 263">
              <a:extLst>
                <a:ext uri="{FF2B5EF4-FFF2-40B4-BE49-F238E27FC236}">
                  <a16:creationId xmlns:a16="http://schemas.microsoft.com/office/drawing/2014/main" id="{68A8DD6D-B080-4013-8664-9755408ABD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0" y="2278"/>
              <a:ext cx="83" cy="69"/>
            </a:xfrm>
            <a:prstGeom prst="rect">
              <a:avLst/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761" name="Rectangle 264">
              <a:extLst>
                <a:ext uri="{FF2B5EF4-FFF2-40B4-BE49-F238E27FC236}">
                  <a16:creationId xmlns:a16="http://schemas.microsoft.com/office/drawing/2014/main" id="{C5369727-E73E-4C64-9EED-C99C419849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0" y="2278"/>
              <a:ext cx="96" cy="83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762" name="Rectangle 265">
              <a:extLst>
                <a:ext uri="{FF2B5EF4-FFF2-40B4-BE49-F238E27FC236}">
                  <a16:creationId xmlns:a16="http://schemas.microsoft.com/office/drawing/2014/main" id="{1878A5E4-2BA8-47AB-BC44-8FF206D538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0" y="3244"/>
              <a:ext cx="83" cy="83"/>
            </a:xfrm>
            <a:prstGeom prst="rect">
              <a:avLst/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763" name="Rectangle 266">
              <a:extLst>
                <a:ext uri="{FF2B5EF4-FFF2-40B4-BE49-F238E27FC236}">
                  <a16:creationId xmlns:a16="http://schemas.microsoft.com/office/drawing/2014/main" id="{E97E10F8-0EF9-4D5A-B837-45FCF8558D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0" y="3244"/>
              <a:ext cx="97" cy="97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764" name="Rectangle 267">
              <a:extLst>
                <a:ext uri="{FF2B5EF4-FFF2-40B4-BE49-F238E27FC236}">
                  <a16:creationId xmlns:a16="http://schemas.microsoft.com/office/drawing/2014/main" id="{5D4426B0-B2D8-4AEA-97D3-0429D4A4CE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2" y="1416"/>
              <a:ext cx="83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r>
                <a:rPr lang="en-GB" altLang="en-US" sz="1400">
                  <a:solidFill>
                    <a:srgbClr val="000000"/>
                  </a:solidFill>
                  <a:latin typeface="Zapf Dingbats" charset="2"/>
                  <a:ea typeface="MS PGothic" panose="020B0600070205080204" pitchFamily="34" charset="-128"/>
                </a:rPr>
                <a:t>%</a:t>
              </a:r>
              <a:endParaRPr lang="en-GB" altLang="en-US" sz="2400">
                <a:latin typeface="Zapf Dingbats" charset="2"/>
                <a:ea typeface="MS PGothic" panose="020B0600070205080204" pitchFamily="34" charset="-128"/>
              </a:endParaRPr>
            </a:p>
          </p:txBody>
        </p:sp>
        <p:sp>
          <p:nvSpPr>
            <p:cNvPr id="29765" name="Rectangle 268">
              <a:extLst>
                <a:ext uri="{FF2B5EF4-FFF2-40B4-BE49-F238E27FC236}">
                  <a16:creationId xmlns:a16="http://schemas.microsoft.com/office/drawing/2014/main" id="{3FBDA49E-DBAD-4713-B717-4A1F238B7B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" y="2996"/>
              <a:ext cx="1365" cy="607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766" name="Freeform 269">
              <a:extLst>
                <a:ext uri="{FF2B5EF4-FFF2-40B4-BE49-F238E27FC236}">
                  <a16:creationId xmlns:a16="http://schemas.microsoft.com/office/drawing/2014/main" id="{EF1182DF-8A08-4352-8B82-58394356828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0" y="1713"/>
              <a:ext cx="55" cy="55"/>
            </a:xfrm>
            <a:custGeom>
              <a:avLst/>
              <a:gdLst>
                <a:gd name="T0" fmla="*/ 0 w 55"/>
                <a:gd name="T1" fmla="*/ 0 h 55"/>
                <a:gd name="T2" fmla="*/ 41 w 55"/>
                <a:gd name="T3" fmla="*/ 13 h 55"/>
                <a:gd name="T4" fmla="*/ 55 w 55"/>
                <a:gd name="T5" fmla="*/ 55 h 55"/>
                <a:gd name="T6" fmla="*/ 0 60000 65536"/>
                <a:gd name="T7" fmla="*/ 0 60000 65536"/>
                <a:gd name="T8" fmla="*/ 0 60000 65536"/>
                <a:gd name="T9" fmla="*/ 0 w 55"/>
                <a:gd name="T10" fmla="*/ 0 h 55"/>
                <a:gd name="T11" fmla="*/ 55 w 55"/>
                <a:gd name="T12" fmla="*/ 55 h 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5" h="55">
                  <a:moveTo>
                    <a:pt x="0" y="0"/>
                  </a:moveTo>
                  <a:lnTo>
                    <a:pt x="41" y="13"/>
                  </a:lnTo>
                  <a:lnTo>
                    <a:pt x="55" y="55"/>
                  </a:lnTo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67" name="AutoShape 270">
              <a:extLst>
                <a:ext uri="{FF2B5EF4-FFF2-40B4-BE49-F238E27FC236}">
                  <a16:creationId xmlns:a16="http://schemas.microsoft.com/office/drawing/2014/main" id="{4DD93318-633F-406C-9BC9-55DFFA9F24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3" y="1616"/>
              <a:ext cx="111" cy="83"/>
            </a:xfrm>
            <a:prstGeom prst="roundRect">
              <a:avLst>
                <a:gd name="adj" fmla="val 50000"/>
              </a:avLst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768" name="AutoShape 271">
              <a:extLst>
                <a:ext uri="{FF2B5EF4-FFF2-40B4-BE49-F238E27FC236}">
                  <a16:creationId xmlns:a16="http://schemas.microsoft.com/office/drawing/2014/main" id="{6EEABD96-133A-42CC-8EA6-24D69CCD2E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39" y="1602"/>
              <a:ext cx="138" cy="111"/>
            </a:xfrm>
            <a:prstGeom prst="roundRect">
              <a:avLst>
                <a:gd name="adj" fmla="val 40088"/>
              </a:avLst>
            </a:prstGeom>
            <a:noFill/>
            <a:ln w="53975">
              <a:solidFill>
                <a:srgbClr val="CF924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769" name="Rectangle 272">
              <a:extLst>
                <a:ext uri="{FF2B5EF4-FFF2-40B4-BE49-F238E27FC236}">
                  <a16:creationId xmlns:a16="http://schemas.microsoft.com/office/drawing/2014/main" id="{4331E5A4-67AF-4E37-B0D9-FF24EC1515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7" y="1644"/>
              <a:ext cx="83" cy="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770" name="Rectangle 273">
              <a:extLst>
                <a:ext uri="{FF2B5EF4-FFF2-40B4-BE49-F238E27FC236}">
                  <a16:creationId xmlns:a16="http://schemas.microsoft.com/office/drawing/2014/main" id="{1E6F59EA-ED3B-4F5F-92E1-339D64A099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7" y="1644"/>
              <a:ext cx="97" cy="55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771" name="Freeform 274">
              <a:extLst>
                <a:ext uri="{FF2B5EF4-FFF2-40B4-BE49-F238E27FC236}">
                  <a16:creationId xmlns:a16="http://schemas.microsoft.com/office/drawing/2014/main" id="{837BFB5D-2F3C-475C-90A9-BD290291157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1" y="1768"/>
              <a:ext cx="14" cy="27"/>
            </a:xfrm>
            <a:custGeom>
              <a:avLst/>
              <a:gdLst>
                <a:gd name="T0" fmla="*/ 0 w 14"/>
                <a:gd name="T1" fmla="*/ 0 h 27"/>
                <a:gd name="T2" fmla="*/ 14 w 14"/>
                <a:gd name="T3" fmla="*/ 0 h 27"/>
                <a:gd name="T4" fmla="*/ 14 w 14"/>
                <a:gd name="T5" fmla="*/ 0 h 27"/>
                <a:gd name="T6" fmla="*/ 14 w 14"/>
                <a:gd name="T7" fmla="*/ 14 h 27"/>
                <a:gd name="T8" fmla="*/ 14 w 14"/>
                <a:gd name="T9" fmla="*/ 27 h 27"/>
                <a:gd name="T10" fmla="*/ 0 w 14"/>
                <a:gd name="T11" fmla="*/ 27 h 27"/>
                <a:gd name="T12" fmla="*/ 0 w 14"/>
                <a:gd name="T13" fmla="*/ 14 h 27"/>
                <a:gd name="T14" fmla="*/ 0 w 14"/>
                <a:gd name="T15" fmla="*/ 0 h 27"/>
                <a:gd name="T16" fmla="*/ 0 w 14"/>
                <a:gd name="T17" fmla="*/ 0 h 27"/>
                <a:gd name="T18" fmla="*/ 0 w 14"/>
                <a:gd name="T19" fmla="*/ 0 h 2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4"/>
                <a:gd name="T31" fmla="*/ 0 h 27"/>
                <a:gd name="T32" fmla="*/ 14 w 14"/>
                <a:gd name="T33" fmla="*/ 27 h 2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4" h="27">
                  <a:moveTo>
                    <a:pt x="0" y="0"/>
                  </a:moveTo>
                  <a:lnTo>
                    <a:pt x="14" y="0"/>
                  </a:lnTo>
                  <a:lnTo>
                    <a:pt x="14" y="14"/>
                  </a:lnTo>
                  <a:lnTo>
                    <a:pt x="14" y="27"/>
                  </a:lnTo>
                  <a:lnTo>
                    <a:pt x="0" y="27"/>
                  </a:lnTo>
                  <a:lnTo>
                    <a:pt x="0" y="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F924C"/>
            </a:solidFill>
            <a:ln w="31750">
              <a:solidFill>
                <a:srgbClr val="CF924C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9772" name="Picture 275">
              <a:extLst>
                <a:ext uri="{FF2B5EF4-FFF2-40B4-BE49-F238E27FC236}">
                  <a16:creationId xmlns:a16="http://schemas.microsoft.com/office/drawing/2014/main" id="{8C14C14E-92D9-4542-B345-2006C9F3775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81" y="1644"/>
              <a:ext cx="69" cy="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773" name="Line 276">
              <a:extLst>
                <a:ext uri="{FF2B5EF4-FFF2-40B4-BE49-F238E27FC236}">
                  <a16:creationId xmlns:a16="http://schemas.microsoft.com/office/drawing/2014/main" id="{0712094A-5673-4535-AB3C-280BB1CCC2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91" y="1768"/>
              <a:ext cx="1" cy="14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74" name="Line 277">
              <a:extLst>
                <a:ext uri="{FF2B5EF4-FFF2-40B4-BE49-F238E27FC236}">
                  <a16:creationId xmlns:a16="http://schemas.microsoft.com/office/drawing/2014/main" id="{983E74BE-74A7-4275-AD14-E6707E54DD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91" y="1768"/>
              <a:ext cx="1" cy="14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75" name="Line 278">
              <a:extLst>
                <a:ext uri="{FF2B5EF4-FFF2-40B4-BE49-F238E27FC236}">
                  <a16:creationId xmlns:a16="http://schemas.microsoft.com/office/drawing/2014/main" id="{298D316A-ECC9-41CA-BFA4-C03B2EEC36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05" y="1768"/>
              <a:ext cx="1" cy="14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76" name="Rectangle 279">
              <a:extLst>
                <a:ext uri="{FF2B5EF4-FFF2-40B4-BE49-F238E27FC236}">
                  <a16:creationId xmlns:a16="http://schemas.microsoft.com/office/drawing/2014/main" id="{EB5C28AE-7BBA-4BFF-A134-14D3FC3F54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3" y="1699"/>
              <a:ext cx="111" cy="14"/>
            </a:xfrm>
            <a:prstGeom prst="rect">
              <a:avLst/>
            </a:prstGeom>
            <a:solidFill>
              <a:srgbClr val="CF924C"/>
            </a:solidFill>
            <a:ln w="31750">
              <a:solidFill>
                <a:srgbClr val="CF924C"/>
              </a:solidFill>
              <a:miter lim="800000"/>
              <a:headEnd/>
              <a:tailEnd/>
            </a:ln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777" name="Freeform 280">
              <a:extLst>
                <a:ext uri="{FF2B5EF4-FFF2-40B4-BE49-F238E27FC236}">
                  <a16:creationId xmlns:a16="http://schemas.microsoft.com/office/drawing/2014/main" id="{9AFBE27C-287A-4BC3-AB86-93A7C19B41A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9" y="1726"/>
              <a:ext cx="138" cy="14"/>
            </a:xfrm>
            <a:custGeom>
              <a:avLst/>
              <a:gdLst>
                <a:gd name="T0" fmla="*/ 14 w 138"/>
                <a:gd name="T1" fmla="*/ 0 h 14"/>
                <a:gd name="T2" fmla="*/ 0 w 138"/>
                <a:gd name="T3" fmla="*/ 14 h 14"/>
                <a:gd name="T4" fmla="*/ 138 w 138"/>
                <a:gd name="T5" fmla="*/ 14 h 14"/>
                <a:gd name="T6" fmla="*/ 125 w 138"/>
                <a:gd name="T7" fmla="*/ 0 h 14"/>
                <a:gd name="T8" fmla="*/ 14 w 138"/>
                <a:gd name="T9" fmla="*/ 0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8"/>
                <a:gd name="T16" fmla="*/ 0 h 14"/>
                <a:gd name="T17" fmla="*/ 138 w 138"/>
                <a:gd name="T18" fmla="*/ 14 h 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8" h="14">
                  <a:moveTo>
                    <a:pt x="14" y="0"/>
                  </a:moveTo>
                  <a:lnTo>
                    <a:pt x="0" y="14"/>
                  </a:lnTo>
                  <a:lnTo>
                    <a:pt x="138" y="14"/>
                  </a:lnTo>
                  <a:lnTo>
                    <a:pt x="125" y="0"/>
                  </a:lnTo>
                  <a:lnTo>
                    <a:pt x="14" y="0"/>
                  </a:lnTo>
                  <a:close/>
                </a:path>
              </a:pathLst>
            </a:custGeom>
            <a:noFill/>
            <a:ln w="31750">
              <a:solidFill>
                <a:srgbClr val="D9AA7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78" name="Line 281">
              <a:extLst>
                <a:ext uri="{FF2B5EF4-FFF2-40B4-BE49-F238E27FC236}">
                  <a16:creationId xmlns:a16="http://schemas.microsoft.com/office/drawing/2014/main" id="{5A06E569-AB2C-48F5-993E-6833C763FD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53" y="1740"/>
              <a:ext cx="28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79" name="Line 282">
              <a:extLst>
                <a:ext uri="{FF2B5EF4-FFF2-40B4-BE49-F238E27FC236}">
                  <a16:creationId xmlns:a16="http://schemas.microsoft.com/office/drawing/2014/main" id="{87A605F4-ABAB-4D7C-BBFC-C20D5E7FC4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67" y="1726"/>
              <a:ext cx="83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80" name="Line 283">
              <a:extLst>
                <a:ext uri="{FF2B5EF4-FFF2-40B4-BE49-F238E27FC236}">
                  <a16:creationId xmlns:a16="http://schemas.microsoft.com/office/drawing/2014/main" id="{FB5D4D43-2F90-4216-856A-00459859E7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53" y="1726"/>
              <a:ext cx="69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81" name="Line 284">
              <a:extLst>
                <a:ext uri="{FF2B5EF4-FFF2-40B4-BE49-F238E27FC236}">
                  <a16:creationId xmlns:a16="http://schemas.microsoft.com/office/drawing/2014/main" id="{A716FFC9-E842-4975-B011-E32E316175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5" y="1740"/>
              <a:ext cx="41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82" name="Line 285">
              <a:extLst>
                <a:ext uri="{FF2B5EF4-FFF2-40B4-BE49-F238E27FC236}">
                  <a16:creationId xmlns:a16="http://schemas.microsoft.com/office/drawing/2014/main" id="{E7F5F812-7451-4980-98FA-3C84FD1EEA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36" y="1726"/>
              <a:ext cx="28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83" name="Line 286">
              <a:extLst>
                <a:ext uri="{FF2B5EF4-FFF2-40B4-BE49-F238E27FC236}">
                  <a16:creationId xmlns:a16="http://schemas.microsoft.com/office/drawing/2014/main" id="{A8ADAA1F-2642-4754-8FEB-45B95F3BDB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50" y="1740"/>
              <a:ext cx="14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84" name="Rectangle 287">
              <a:extLst>
                <a:ext uri="{FF2B5EF4-FFF2-40B4-BE49-F238E27FC236}">
                  <a16:creationId xmlns:a16="http://schemas.microsoft.com/office/drawing/2014/main" id="{64D02FCA-B160-4344-AB58-B5E6D5E027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8" y="1630"/>
              <a:ext cx="28" cy="2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785" name="Rectangle 288">
              <a:extLst>
                <a:ext uri="{FF2B5EF4-FFF2-40B4-BE49-F238E27FC236}">
                  <a16:creationId xmlns:a16="http://schemas.microsoft.com/office/drawing/2014/main" id="{7BFF8FD4-68E8-4EED-815D-7A50FF0615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8" y="1630"/>
              <a:ext cx="42" cy="41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786" name="Freeform 289">
              <a:extLst>
                <a:ext uri="{FF2B5EF4-FFF2-40B4-BE49-F238E27FC236}">
                  <a16:creationId xmlns:a16="http://schemas.microsoft.com/office/drawing/2014/main" id="{FCE93E03-90D4-4674-8D0A-1BA6E423EF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6" y="1175"/>
              <a:ext cx="42" cy="69"/>
            </a:xfrm>
            <a:custGeom>
              <a:avLst/>
              <a:gdLst>
                <a:gd name="T0" fmla="*/ 0 w 42"/>
                <a:gd name="T1" fmla="*/ 0 h 69"/>
                <a:gd name="T2" fmla="*/ 42 w 42"/>
                <a:gd name="T3" fmla="*/ 13 h 69"/>
                <a:gd name="T4" fmla="*/ 42 w 42"/>
                <a:gd name="T5" fmla="*/ 69 h 69"/>
                <a:gd name="T6" fmla="*/ 0 60000 65536"/>
                <a:gd name="T7" fmla="*/ 0 60000 65536"/>
                <a:gd name="T8" fmla="*/ 0 60000 65536"/>
                <a:gd name="T9" fmla="*/ 0 w 42"/>
                <a:gd name="T10" fmla="*/ 0 h 69"/>
                <a:gd name="T11" fmla="*/ 42 w 42"/>
                <a:gd name="T12" fmla="*/ 69 h 6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2" h="69">
                  <a:moveTo>
                    <a:pt x="0" y="0"/>
                  </a:moveTo>
                  <a:lnTo>
                    <a:pt x="42" y="13"/>
                  </a:lnTo>
                  <a:lnTo>
                    <a:pt x="42" y="69"/>
                  </a:lnTo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87" name="AutoShape 290">
              <a:extLst>
                <a:ext uri="{FF2B5EF4-FFF2-40B4-BE49-F238E27FC236}">
                  <a16:creationId xmlns:a16="http://schemas.microsoft.com/office/drawing/2014/main" id="{DBAC4DC0-76AD-4EF8-B025-A20D346331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6" y="1092"/>
              <a:ext cx="124" cy="69"/>
            </a:xfrm>
            <a:prstGeom prst="roundRect">
              <a:avLst>
                <a:gd name="adj" fmla="val 50000"/>
              </a:avLst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788" name="AutoShape 291">
              <a:extLst>
                <a:ext uri="{FF2B5EF4-FFF2-40B4-BE49-F238E27FC236}">
                  <a16:creationId xmlns:a16="http://schemas.microsoft.com/office/drawing/2014/main" id="{6DF49B38-E0E1-4BF9-9E47-5CC3094A5F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2" y="1078"/>
              <a:ext cx="152" cy="97"/>
            </a:xfrm>
            <a:prstGeom prst="roundRect">
              <a:avLst>
                <a:gd name="adj" fmla="val 38662"/>
              </a:avLst>
            </a:prstGeom>
            <a:noFill/>
            <a:ln w="53975">
              <a:solidFill>
                <a:srgbClr val="CF924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789" name="Rectangle 292">
              <a:extLst>
                <a:ext uri="{FF2B5EF4-FFF2-40B4-BE49-F238E27FC236}">
                  <a16:creationId xmlns:a16="http://schemas.microsoft.com/office/drawing/2014/main" id="{EA1D06DA-B712-4DA1-BEFB-98107A792B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4" y="1106"/>
              <a:ext cx="82" cy="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790" name="Rectangle 293">
              <a:extLst>
                <a:ext uri="{FF2B5EF4-FFF2-40B4-BE49-F238E27FC236}">
                  <a16:creationId xmlns:a16="http://schemas.microsoft.com/office/drawing/2014/main" id="{D72B90F7-6B42-441A-831D-C88597F5A4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4" y="1106"/>
              <a:ext cx="96" cy="55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791" name="Freeform 294">
              <a:extLst>
                <a:ext uri="{FF2B5EF4-FFF2-40B4-BE49-F238E27FC236}">
                  <a16:creationId xmlns:a16="http://schemas.microsoft.com/office/drawing/2014/main" id="{AB7B913C-34E8-47A5-8AC2-C2DD33873B8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4" y="1230"/>
              <a:ext cx="28" cy="41"/>
            </a:xfrm>
            <a:custGeom>
              <a:avLst/>
              <a:gdLst>
                <a:gd name="T0" fmla="*/ 14 w 28"/>
                <a:gd name="T1" fmla="*/ 0 h 41"/>
                <a:gd name="T2" fmla="*/ 14 w 28"/>
                <a:gd name="T3" fmla="*/ 0 h 41"/>
                <a:gd name="T4" fmla="*/ 28 w 28"/>
                <a:gd name="T5" fmla="*/ 14 h 41"/>
                <a:gd name="T6" fmla="*/ 28 w 28"/>
                <a:gd name="T7" fmla="*/ 27 h 41"/>
                <a:gd name="T8" fmla="*/ 14 w 28"/>
                <a:gd name="T9" fmla="*/ 41 h 41"/>
                <a:gd name="T10" fmla="*/ 14 w 28"/>
                <a:gd name="T11" fmla="*/ 41 h 41"/>
                <a:gd name="T12" fmla="*/ 0 w 28"/>
                <a:gd name="T13" fmla="*/ 27 h 41"/>
                <a:gd name="T14" fmla="*/ 0 w 28"/>
                <a:gd name="T15" fmla="*/ 14 h 41"/>
                <a:gd name="T16" fmla="*/ 0 w 28"/>
                <a:gd name="T17" fmla="*/ 0 h 41"/>
                <a:gd name="T18" fmla="*/ 14 w 28"/>
                <a:gd name="T19" fmla="*/ 0 h 4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8"/>
                <a:gd name="T31" fmla="*/ 0 h 41"/>
                <a:gd name="T32" fmla="*/ 28 w 28"/>
                <a:gd name="T33" fmla="*/ 41 h 41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8" h="41">
                  <a:moveTo>
                    <a:pt x="14" y="0"/>
                  </a:moveTo>
                  <a:lnTo>
                    <a:pt x="14" y="0"/>
                  </a:lnTo>
                  <a:lnTo>
                    <a:pt x="28" y="14"/>
                  </a:lnTo>
                  <a:lnTo>
                    <a:pt x="28" y="27"/>
                  </a:lnTo>
                  <a:lnTo>
                    <a:pt x="14" y="41"/>
                  </a:lnTo>
                  <a:lnTo>
                    <a:pt x="0" y="27"/>
                  </a:lnTo>
                  <a:lnTo>
                    <a:pt x="0" y="14"/>
                  </a:lnTo>
                  <a:lnTo>
                    <a:pt x="0" y="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CF924C"/>
            </a:solidFill>
            <a:ln w="31750">
              <a:solidFill>
                <a:srgbClr val="CF924C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9792" name="Picture 295">
              <a:extLst>
                <a:ext uri="{FF2B5EF4-FFF2-40B4-BE49-F238E27FC236}">
                  <a16:creationId xmlns:a16="http://schemas.microsoft.com/office/drawing/2014/main" id="{73C83158-F7A3-48E9-A24D-72E063D6784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74" y="1106"/>
              <a:ext cx="69" cy="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793" name="Line 296">
              <a:extLst>
                <a:ext uri="{FF2B5EF4-FFF2-40B4-BE49-F238E27FC236}">
                  <a16:creationId xmlns:a16="http://schemas.microsoft.com/office/drawing/2014/main" id="{F0BD1ABA-9A3C-4238-9B31-CFF0253B0C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4" y="1244"/>
              <a:ext cx="1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94" name="Freeform 297">
              <a:extLst>
                <a:ext uri="{FF2B5EF4-FFF2-40B4-BE49-F238E27FC236}">
                  <a16:creationId xmlns:a16="http://schemas.microsoft.com/office/drawing/2014/main" id="{E38B510C-9496-4D41-8C99-2260C2B44A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8" y="1244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60000 65536"/>
                <a:gd name="T7" fmla="*/ 0 60000 65536"/>
                <a:gd name="T8" fmla="*/ 0 60000 65536"/>
                <a:gd name="T9" fmla="*/ 0 w 1"/>
                <a:gd name="T10" fmla="*/ 0 h 1"/>
                <a:gd name="T11" fmla="*/ 1 w 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95" name="Rectangle 298">
              <a:extLst>
                <a:ext uri="{FF2B5EF4-FFF2-40B4-BE49-F238E27FC236}">
                  <a16:creationId xmlns:a16="http://schemas.microsoft.com/office/drawing/2014/main" id="{B5E5BC71-2AAD-4112-848D-4D06BC0E4C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0" y="1161"/>
              <a:ext cx="96" cy="27"/>
            </a:xfrm>
            <a:prstGeom prst="rect">
              <a:avLst/>
            </a:prstGeom>
            <a:solidFill>
              <a:srgbClr val="CF924C"/>
            </a:solidFill>
            <a:ln w="31750">
              <a:solidFill>
                <a:srgbClr val="CF924C"/>
              </a:solidFill>
              <a:miter lim="800000"/>
              <a:headEnd/>
              <a:tailEnd/>
            </a:ln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796" name="Freeform 299">
              <a:extLst>
                <a:ext uri="{FF2B5EF4-FFF2-40B4-BE49-F238E27FC236}">
                  <a16:creationId xmlns:a16="http://schemas.microsoft.com/office/drawing/2014/main" id="{338B4E99-C853-4769-BC93-981F86E015B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6" y="1188"/>
              <a:ext cx="124" cy="28"/>
            </a:xfrm>
            <a:custGeom>
              <a:avLst/>
              <a:gdLst>
                <a:gd name="T0" fmla="*/ 14 w 124"/>
                <a:gd name="T1" fmla="*/ 0 h 28"/>
                <a:gd name="T2" fmla="*/ 0 w 124"/>
                <a:gd name="T3" fmla="*/ 28 h 28"/>
                <a:gd name="T4" fmla="*/ 124 w 124"/>
                <a:gd name="T5" fmla="*/ 28 h 28"/>
                <a:gd name="T6" fmla="*/ 124 w 124"/>
                <a:gd name="T7" fmla="*/ 0 h 28"/>
                <a:gd name="T8" fmla="*/ 14 w 124"/>
                <a:gd name="T9" fmla="*/ 0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4"/>
                <a:gd name="T16" fmla="*/ 0 h 28"/>
                <a:gd name="T17" fmla="*/ 124 w 124"/>
                <a:gd name="T18" fmla="*/ 28 h 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4" h="28">
                  <a:moveTo>
                    <a:pt x="14" y="0"/>
                  </a:moveTo>
                  <a:lnTo>
                    <a:pt x="0" y="28"/>
                  </a:lnTo>
                  <a:lnTo>
                    <a:pt x="124" y="28"/>
                  </a:lnTo>
                  <a:lnTo>
                    <a:pt x="124" y="0"/>
                  </a:lnTo>
                  <a:lnTo>
                    <a:pt x="14" y="0"/>
                  </a:lnTo>
                  <a:close/>
                </a:path>
              </a:pathLst>
            </a:custGeom>
            <a:noFill/>
            <a:ln w="31750">
              <a:solidFill>
                <a:srgbClr val="D9AA7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97" name="Line 300">
              <a:extLst>
                <a:ext uri="{FF2B5EF4-FFF2-40B4-BE49-F238E27FC236}">
                  <a16:creationId xmlns:a16="http://schemas.microsoft.com/office/drawing/2014/main" id="{9D12139A-7617-4588-97FF-E6A1B393E5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0" y="1202"/>
              <a:ext cx="14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98" name="Line 301">
              <a:extLst>
                <a:ext uri="{FF2B5EF4-FFF2-40B4-BE49-F238E27FC236}">
                  <a16:creationId xmlns:a16="http://schemas.microsoft.com/office/drawing/2014/main" id="{32BFFE72-A004-41FC-9910-77234137BC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74" y="1188"/>
              <a:ext cx="82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99" name="Line 302">
              <a:extLst>
                <a:ext uri="{FF2B5EF4-FFF2-40B4-BE49-F238E27FC236}">
                  <a16:creationId xmlns:a16="http://schemas.microsoft.com/office/drawing/2014/main" id="{354E08C3-2B3C-458F-BB16-6261218D78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0" y="1202"/>
              <a:ext cx="69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00" name="Line 303">
              <a:extLst>
                <a:ext uri="{FF2B5EF4-FFF2-40B4-BE49-F238E27FC236}">
                  <a16:creationId xmlns:a16="http://schemas.microsoft.com/office/drawing/2014/main" id="{71FDA141-5C8F-44E2-AC54-C1C3823699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7" y="1202"/>
              <a:ext cx="56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01" name="Freeform 304">
              <a:extLst>
                <a:ext uri="{FF2B5EF4-FFF2-40B4-BE49-F238E27FC236}">
                  <a16:creationId xmlns:a16="http://schemas.microsoft.com/office/drawing/2014/main" id="{88233C5D-F4B3-43AC-AE70-BFD3E84F60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9" y="1202"/>
              <a:ext cx="41" cy="1"/>
            </a:xfrm>
            <a:custGeom>
              <a:avLst/>
              <a:gdLst>
                <a:gd name="T0" fmla="*/ 0 w 41"/>
                <a:gd name="T1" fmla="*/ 0 h 1"/>
                <a:gd name="T2" fmla="*/ 27 w 41"/>
                <a:gd name="T3" fmla="*/ 0 h 1"/>
                <a:gd name="T4" fmla="*/ 41 w 41"/>
                <a:gd name="T5" fmla="*/ 0 h 1"/>
                <a:gd name="T6" fmla="*/ 0 60000 65536"/>
                <a:gd name="T7" fmla="*/ 0 60000 65536"/>
                <a:gd name="T8" fmla="*/ 0 60000 65536"/>
                <a:gd name="T9" fmla="*/ 0 w 41"/>
                <a:gd name="T10" fmla="*/ 0 h 1"/>
                <a:gd name="T11" fmla="*/ 41 w 4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" h="1">
                  <a:moveTo>
                    <a:pt x="0" y="0"/>
                  </a:moveTo>
                  <a:lnTo>
                    <a:pt x="27" y="0"/>
                  </a:lnTo>
                  <a:lnTo>
                    <a:pt x="41" y="0"/>
                  </a:lnTo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02" name="Rectangle 305">
              <a:extLst>
                <a:ext uri="{FF2B5EF4-FFF2-40B4-BE49-F238E27FC236}">
                  <a16:creationId xmlns:a16="http://schemas.microsoft.com/office/drawing/2014/main" id="{EA024C04-AB1E-4677-AF67-9F7C5F11D8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1" y="1092"/>
              <a:ext cx="28" cy="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803" name="Rectangle 306">
              <a:extLst>
                <a:ext uri="{FF2B5EF4-FFF2-40B4-BE49-F238E27FC236}">
                  <a16:creationId xmlns:a16="http://schemas.microsoft.com/office/drawing/2014/main" id="{33AEC79E-37AA-450B-9F18-F7763D5E3C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1" y="1092"/>
              <a:ext cx="42" cy="55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804" name="Freeform 307">
              <a:extLst>
                <a:ext uri="{FF2B5EF4-FFF2-40B4-BE49-F238E27FC236}">
                  <a16:creationId xmlns:a16="http://schemas.microsoft.com/office/drawing/2014/main" id="{8F43C88E-BD01-4E9E-9800-615CC430B2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6" y="1175"/>
              <a:ext cx="41" cy="69"/>
            </a:xfrm>
            <a:custGeom>
              <a:avLst/>
              <a:gdLst>
                <a:gd name="T0" fmla="*/ 0 w 41"/>
                <a:gd name="T1" fmla="*/ 0 h 69"/>
                <a:gd name="T2" fmla="*/ 41 w 41"/>
                <a:gd name="T3" fmla="*/ 13 h 69"/>
                <a:gd name="T4" fmla="*/ 41 w 41"/>
                <a:gd name="T5" fmla="*/ 69 h 69"/>
                <a:gd name="T6" fmla="*/ 0 60000 65536"/>
                <a:gd name="T7" fmla="*/ 0 60000 65536"/>
                <a:gd name="T8" fmla="*/ 0 60000 65536"/>
                <a:gd name="T9" fmla="*/ 0 w 41"/>
                <a:gd name="T10" fmla="*/ 0 h 69"/>
                <a:gd name="T11" fmla="*/ 41 w 41"/>
                <a:gd name="T12" fmla="*/ 69 h 6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" h="69">
                  <a:moveTo>
                    <a:pt x="0" y="0"/>
                  </a:moveTo>
                  <a:lnTo>
                    <a:pt x="41" y="13"/>
                  </a:lnTo>
                  <a:lnTo>
                    <a:pt x="41" y="69"/>
                  </a:lnTo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05" name="AutoShape 308">
              <a:extLst>
                <a:ext uri="{FF2B5EF4-FFF2-40B4-BE49-F238E27FC236}">
                  <a16:creationId xmlns:a16="http://schemas.microsoft.com/office/drawing/2014/main" id="{C4DF351D-F7D2-4D3D-894C-330487E134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5" y="1092"/>
              <a:ext cx="125" cy="69"/>
            </a:xfrm>
            <a:prstGeom prst="roundRect">
              <a:avLst>
                <a:gd name="adj" fmla="val 50000"/>
              </a:avLst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806" name="AutoShape 309">
              <a:extLst>
                <a:ext uri="{FF2B5EF4-FFF2-40B4-BE49-F238E27FC236}">
                  <a16:creationId xmlns:a16="http://schemas.microsoft.com/office/drawing/2014/main" id="{C6C29077-3F41-4124-AC24-C3EEB7BBBC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2" y="1078"/>
              <a:ext cx="151" cy="97"/>
            </a:xfrm>
            <a:prstGeom prst="roundRect">
              <a:avLst>
                <a:gd name="adj" fmla="val 38662"/>
              </a:avLst>
            </a:prstGeom>
            <a:noFill/>
            <a:ln w="53975">
              <a:solidFill>
                <a:srgbClr val="CF924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807" name="Rectangle 310">
              <a:extLst>
                <a:ext uri="{FF2B5EF4-FFF2-40B4-BE49-F238E27FC236}">
                  <a16:creationId xmlns:a16="http://schemas.microsoft.com/office/drawing/2014/main" id="{CC7D8330-E1FD-4FA2-96DE-6DA381004D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3" y="1106"/>
              <a:ext cx="83" cy="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808" name="Rectangle 311">
              <a:extLst>
                <a:ext uri="{FF2B5EF4-FFF2-40B4-BE49-F238E27FC236}">
                  <a16:creationId xmlns:a16="http://schemas.microsoft.com/office/drawing/2014/main" id="{ACE7FECB-2B5C-4CBF-B3A3-9DF418929E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3" y="1106"/>
              <a:ext cx="97" cy="55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809" name="Freeform 312">
              <a:extLst>
                <a:ext uri="{FF2B5EF4-FFF2-40B4-BE49-F238E27FC236}">
                  <a16:creationId xmlns:a16="http://schemas.microsoft.com/office/drawing/2014/main" id="{0DEBC008-787B-4F0F-A3B4-2BB6183196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3" y="1230"/>
              <a:ext cx="28" cy="41"/>
            </a:xfrm>
            <a:custGeom>
              <a:avLst/>
              <a:gdLst>
                <a:gd name="T0" fmla="*/ 14 w 28"/>
                <a:gd name="T1" fmla="*/ 0 h 41"/>
                <a:gd name="T2" fmla="*/ 14 w 28"/>
                <a:gd name="T3" fmla="*/ 0 h 41"/>
                <a:gd name="T4" fmla="*/ 28 w 28"/>
                <a:gd name="T5" fmla="*/ 14 h 41"/>
                <a:gd name="T6" fmla="*/ 28 w 28"/>
                <a:gd name="T7" fmla="*/ 27 h 41"/>
                <a:gd name="T8" fmla="*/ 14 w 28"/>
                <a:gd name="T9" fmla="*/ 41 h 41"/>
                <a:gd name="T10" fmla="*/ 14 w 28"/>
                <a:gd name="T11" fmla="*/ 41 h 41"/>
                <a:gd name="T12" fmla="*/ 0 w 28"/>
                <a:gd name="T13" fmla="*/ 27 h 41"/>
                <a:gd name="T14" fmla="*/ 0 w 28"/>
                <a:gd name="T15" fmla="*/ 14 h 41"/>
                <a:gd name="T16" fmla="*/ 0 w 28"/>
                <a:gd name="T17" fmla="*/ 0 h 41"/>
                <a:gd name="T18" fmla="*/ 14 w 28"/>
                <a:gd name="T19" fmla="*/ 0 h 4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8"/>
                <a:gd name="T31" fmla="*/ 0 h 41"/>
                <a:gd name="T32" fmla="*/ 28 w 28"/>
                <a:gd name="T33" fmla="*/ 41 h 41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8" h="41">
                  <a:moveTo>
                    <a:pt x="14" y="0"/>
                  </a:moveTo>
                  <a:lnTo>
                    <a:pt x="14" y="0"/>
                  </a:lnTo>
                  <a:lnTo>
                    <a:pt x="28" y="14"/>
                  </a:lnTo>
                  <a:lnTo>
                    <a:pt x="28" y="27"/>
                  </a:lnTo>
                  <a:lnTo>
                    <a:pt x="14" y="41"/>
                  </a:lnTo>
                  <a:lnTo>
                    <a:pt x="0" y="27"/>
                  </a:lnTo>
                  <a:lnTo>
                    <a:pt x="0" y="14"/>
                  </a:lnTo>
                  <a:lnTo>
                    <a:pt x="0" y="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CF924C"/>
            </a:solidFill>
            <a:ln w="31750">
              <a:solidFill>
                <a:srgbClr val="CF924C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9810" name="Picture 313">
              <a:extLst>
                <a:ext uri="{FF2B5EF4-FFF2-40B4-BE49-F238E27FC236}">
                  <a16:creationId xmlns:a16="http://schemas.microsoft.com/office/drawing/2014/main" id="{3A2DB425-3DA4-478E-BAF7-1BE33781A63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53" y="1106"/>
              <a:ext cx="69" cy="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811" name="Line 314">
              <a:extLst>
                <a:ext uri="{FF2B5EF4-FFF2-40B4-BE49-F238E27FC236}">
                  <a16:creationId xmlns:a16="http://schemas.microsoft.com/office/drawing/2014/main" id="{8191903C-79E4-468D-9CA5-4634541810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3" y="1244"/>
              <a:ext cx="1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12" name="Freeform 315">
              <a:extLst>
                <a:ext uri="{FF2B5EF4-FFF2-40B4-BE49-F238E27FC236}">
                  <a16:creationId xmlns:a16="http://schemas.microsoft.com/office/drawing/2014/main" id="{7417FA71-53FF-44FF-BB4D-A54F646DD7E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7" y="1244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60000 65536"/>
                <a:gd name="T7" fmla="*/ 0 60000 65536"/>
                <a:gd name="T8" fmla="*/ 0 60000 65536"/>
                <a:gd name="T9" fmla="*/ 0 w 1"/>
                <a:gd name="T10" fmla="*/ 0 h 1"/>
                <a:gd name="T11" fmla="*/ 1 w 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13" name="Rectangle 316">
              <a:extLst>
                <a:ext uri="{FF2B5EF4-FFF2-40B4-BE49-F238E27FC236}">
                  <a16:creationId xmlns:a16="http://schemas.microsoft.com/office/drawing/2014/main" id="{CCDE20F8-D0F3-425E-AF2E-EBA82B9E88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9" y="1161"/>
              <a:ext cx="97" cy="27"/>
            </a:xfrm>
            <a:prstGeom prst="rect">
              <a:avLst/>
            </a:prstGeom>
            <a:solidFill>
              <a:srgbClr val="CF924C"/>
            </a:solidFill>
            <a:ln w="31750">
              <a:solidFill>
                <a:srgbClr val="CF924C"/>
              </a:solidFill>
              <a:miter lim="800000"/>
              <a:headEnd/>
              <a:tailEnd/>
            </a:ln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814" name="Freeform 317">
              <a:extLst>
                <a:ext uri="{FF2B5EF4-FFF2-40B4-BE49-F238E27FC236}">
                  <a16:creationId xmlns:a16="http://schemas.microsoft.com/office/drawing/2014/main" id="{B1FB396A-3AC3-40AD-8337-3E1436B6C43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5" y="1188"/>
              <a:ext cx="125" cy="28"/>
            </a:xfrm>
            <a:custGeom>
              <a:avLst/>
              <a:gdLst>
                <a:gd name="T0" fmla="*/ 14 w 125"/>
                <a:gd name="T1" fmla="*/ 0 h 28"/>
                <a:gd name="T2" fmla="*/ 0 w 125"/>
                <a:gd name="T3" fmla="*/ 28 h 28"/>
                <a:gd name="T4" fmla="*/ 125 w 125"/>
                <a:gd name="T5" fmla="*/ 28 h 28"/>
                <a:gd name="T6" fmla="*/ 125 w 125"/>
                <a:gd name="T7" fmla="*/ 0 h 28"/>
                <a:gd name="T8" fmla="*/ 14 w 125"/>
                <a:gd name="T9" fmla="*/ 0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5"/>
                <a:gd name="T16" fmla="*/ 0 h 28"/>
                <a:gd name="T17" fmla="*/ 125 w 125"/>
                <a:gd name="T18" fmla="*/ 28 h 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5" h="28">
                  <a:moveTo>
                    <a:pt x="14" y="0"/>
                  </a:moveTo>
                  <a:lnTo>
                    <a:pt x="0" y="28"/>
                  </a:lnTo>
                  <a:lnTo>
                    <a:pt x="125" y="28"/>
                  </a:lnTo>
                  <a:lnTo>
                    <a:pt x="125" y="0"/>
                  </a:lnTo>
                  <a:lnTo>
                    <a:pt x="14" y="0"/>
                  </a:lnTo>
                  <a:close/>
                </a:path>
              </a:pathLst>
            </a:custGeom>
            <a:noFill/>
            <a:ln w="31750">
              <a:solidFill>
                <a:srgbClr val="D9AA7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15" name="Line 318">
              <a:extLst>
                <a:ext uri="{FF2B5EF4-FFF2-40B4-BE49-F238E27FC236}">
                  <a16:creationId xmlns:a16="http://schemas.microsoft.com/office/drawing/2014/main" id="{AAEEC451-A2BB-4796-9C0A-C6E3238CA4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39" y="1202"/>
              <a:ext cx="14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16" name="Line 319">
              <a:extLst>
                <a:ext uri="{FF2B5EF4-FFF2-40B4-BE49-F238E27FC236}">
                  <a16:creationId xmlns:a16="http://schemas.microsoft.com/office/drawing/2014/main" id="{96523240-E61A-44A0-B2CF-A1CE183647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53" y="1188"/>
              <a:ext cx="83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17" name="Line 320">
              <a:extLst>
                <a:ext uri="{FF2B5EF4-FFF2-40B4-BE49-F238E27FC236}">
                  <a16:creationId xmlns:a16="http://schemas.microsoft.com/office/drawing/2014/main" id="{249C873D-DBAA-487A-BAC9-2F2DBA1704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39" y="1202"/>
              <a:ext cx="69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18" name="Line 321">
              <a:extLst>
                <a:ext uri="{FF2B5EF4-FFF2-40B4-BE49-F238E27FC236}">
                  <a16:creationId xmlns:a16="http://schemas.microsoft.com/office/drawing/2014/main" id="{0B195D7D-0C65-48ED-B871-F6B3175113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7" y="1202"/>
              <a:ext cx="55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19" name="Freeform 322">
              <a:extLst>
                <a:ext uri="{FF2B5EF4-FFF2-40B4-BE49-F238E27FC236}">
                  <a16:creationId xmlns:a16="http://schemas.microsoft.com/office/drawing/2014/main" id="{A5ECA84E-2D00-4D8B-A55A-CFA9C2E60B1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8" y="1202"/>
              <a:ext cx="42" cy="1"/>
            </a:xfrm>
            <a:custGeom>
              <a:avLst/>
              <a:gdLst>
                <a:gd name="T0" fmla="*/ 0 w 42"/>
                <a:gd name="T1" fmla="*/ 0 h 1"/>
                <a:gd name="T2" fmla="*/ 28 w 42"/>
                <a:gd name="T3" fmla="*/ 0 h 1"/>
                <a:gd name="T4" fmla="*/ 42 w 42"/>
                <a:gd name="T5" fmla="*/ 0 h 1"/>
                <a:gd name="T6" fmla="*/ 0 60000 65536"/>
                <a:gd name="T7" fmla="*/ 0 60000 65536"/>
                <a:gd name="T8" fmla="*/ 0 60000 65536"/>
                <a:gd name="T9" fmla="*/ 0 w 42"/>
                <a:gd name="T10" fmla="*/ 0 h 1"/>
                <a:gd name="T11" fmla="*/ 42 w 42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2" h="1">
                  <a:moveTo>
                    <a:pt x="0" y="0"/>
                  </a:moveTo>
                  <a:lnTo>
                    <a:pt x="28" y="0"/>
                  </a:lnTo>
                  <a:lnTo>
                    <a:pt x="42" y="0"/>
                  </a:lnTo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20" name="Rectangle 323">
              <a:extLst>
                <a:ext uri="{FF2B5EF4-FFF2-40B4-BE49-F238E27FC236}">
                  <a16:creationId xmlns:a16="http://schemas.microsoft.com/office/drawing/2014/main" id="{901D8FCE-9C01-4881-A761-15EE104D08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1" y="1092"/>
              <a:ext cx="27" cy="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821" name="Rectangle 324">
              <a:extLst>
                <a:ext uri="{FF2B5EF4-FFF2-40B4-BE49-F238E27FC236}">
                  <a16:creationId xmlns:a16="http://schemas.microsoft.com/office/drawing/2014/main" id="{F4EBAC96-8ADB-415B-9C84-05E4746C9B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1" y="1092"/>
              <a:ext cx="41" cy="55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822" name="Freeform 325">
              <a:extLst>
                <a:ext uri="{FF2B5EF4-FFF2-40B4-BE49-F238E27FC236}">
                  <a16:creationId xmlns:a16="http://schemas.microsoft.com/office/drawing/2014/main" id="{55F409DC-A203-4C58-BF4C-5F5F06E8D4B5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5" y="1175"/>
              <a:ext cx="42" cy="69"/>
            </a:xfrm>
            <a:custGeom>
              <a:avLst/>
              <a:gdLst>
                <a:gd name="T0" fmla="*/ 0 w 42"/>
                <a:gd name="T1" fmla="*/ 0 h 69"/>
                <a:gd name="T2" fmla="*/ 42 w 42"/>
                <a:gd name="T3" fmla="*/ 13 h 69"/>
                <a:gd name="T4" fmla="*/ 42 w 42"/>
                <a:gd name="T5" fmla="*/ 69 h 69"/>
                <a:gd name="T6" fmla="*/ 0 60000 65536"/>
                <a:gd name="T7" fmla="*/ 0 60000 65536"/>
                <a:gd name="T8" fmla="*/ 0 60000 65536"/>
                <a:gd name="T9" fmla="*/ 0 w 42"/>
                <a:gd name="T10" fmla="*/ 0 h 69"/>
                <a:gd name="T11" fmla="*/ 42 w 42"/>
                <a:gd name="T12" fmla="*/ 69 h 6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2" h="69">
                  <a:moveTo>
                    <a:pt x="0" y="0"/>
                  </a:moveTo>
                  <a:lnTo>
                    <a:pt x="42" y="13"/>
                  </a:lnTo>
                  <a:lnTo>
                    <a:pt x="42" y="69"/>
                  </a:lnTo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23" name="AutoShape 326">
              <a:extLst>
                <a:ext uri="{FF2B5EF4-FFF2-40B4-BE49-F238E27FC236}">
                  <a16:creationId xmlns:a16="http://schemas.microsoft.com/office/drawing/2014/main" id="{1070FE67-49AD-4034-A007-1EF0BD7E77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5" y="1092"/>
              <a:ext cx="124" cy="69"/>
            </a:xfrm>
            <a:prstGeom prst="roundRect">
              <a:avLst>
                <a:gd name="adj" fmla="val 50000"/>
              </a:avLst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824" name="AutoShape 327">
              <a:extLst>
                <a:ext uri="{FF2B5EF4-FFF2-40B4-BE49-F238E27FC236}">
                  <a16:creationId xmlns:a16="http://schemas.microsoft.com/office/drawing/2014/main" id="{FCD1096F-2BC9-4240-878F-3B7F8FAA55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1" y="1078"/>
              <a:ext cx="152" cy="97"/>
            </a:xfrm>
            <a:prstGeom prst="roundRect">
              <a:avLst>
                <a:gd name="adj" fmla="val 38662"/>
              </a:avLst>
            </a:prstGeom>
            <a:noFill/>
            <a:ln w="53975">
              <a:solidFill>
                <a:srgbClr val="CF924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825" name="Rectangle 328">
              <a:extLst>
                <a:ext uri="{FF2B5EF4-FFF2-40B4-BE49-F238E27FC236}">
                  <a16:creationId xmlns:a16="http://schemas.microsoft.com/office/drawing/2014/main" id="{4214DE8D-2A8B-41C3-BB27-86FDBC4B87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2" y="1106"/>
              <a:ext cx="83" cy="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826" name="Rectangle 329">
              <a:extLst>
                <a:ext uri="{FF2B5EF4-FFF2-40B4-BE49-F238E27FC236}">
                  <a16:creationId xmlns:a16="http://schemas.microsoft.com/office/drawing/2014/main" id="{8B5EAB85-9631-4E03-827A-E489D9BC24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2" y="1106"/>
              <a:ext cx="97" cy="55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827" name="Freeform 330">
              <a:extLst>
                <a:ext uri="{FF2B5EF4-FFF2-40B4-BE49-F238E27FC236}">
                  <a16:creationId xmlns:a16="http://schemas.microsoft.com/office/drawing/2014/main" id="{B196E63D-772B-4014-8E27-E3F2B5B4D72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3" y="1230"/>
              <a:ext cx="27" cy="41"/>
            </a:xfrm>
            <a:custGeom>
              <a:avLst/>
              <a:gdLst>
                <a:gd name="T0" fmla="*/ 14 w 27"/>
                <a:gd name="T1" fmla="*/ 0 h 41"/>
                <a:gd name="T2" fmla="*/ 14 w 27"/>
                <a:gd name="T3" fmla="*/ 0 h 41"/>
                <a:gd name="T4" fmla="*/ 27 w 27"/>
                <a:gd name="T5" fmla="*/ 14 h 41"/>
                <a:gd name="T6" fmla="*/ 27 w 27"/>
                <a:gd name="T7" fmla="*/ 27 h 41"/>
                <a:gd name="T8" fmla="*/ 14 w 27"/>
                <a:gd name="T9" fmla="*/ 41 h 41"/>
                <a:gd name="T10" fmla="*/ 14 w 27"/>
                <a:gd name="T11" fmla="*/ 41 h 41"/>
                <a:gd name="T12" fmla="*/ 0 w 27"/>
                <a:gd name="T13" fmla="*/ 27 h 41"/>
                <a:gd name="T14" fmla="*/ 0 w 27"/>
                <a:gd name="T15" fmla="*/ 14 h 41"/>
                <a:gd name="T16" fmla="*/ 0 w 27"/>
                <a:gd name="T17" fmla="*/ 0 h 41"/>
                <a:gd name="T18" fmla="*/ 14 w 27"/>
                <a:gd name="T19" fmla="*/ 0 h 4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7"/>
                <a:gd name="T31" fmla="*/ 0 h 41"/>
                <a:gd name="T32" fmla="*/ 27 w 27"/>
                <a:gd name="T33" fmla="*/ 41 h 41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7" h="41">
                  <a:moveTo>
                    <a:pt x="14" y="0"/>
                  </a:moveTo>
                  <a:lnTo>
                    <a:pt x="14" y="0"/>
                  </a:lnTo>
                  <a:lnTo>
                    <a:pt x="27" y="14"/>
                  </a:lnTo>
                  <a:lnTo>
                    <a:pt x="27" y="27"/>
                  </a:lnTo>
                  <a:lnTo>
                    <a:pt x="14" y="41"/>
                  </a:lnTo>
                  <a:lnTo>
                    <a:pt x="0" y="27"/>
                  </a:lnTo>
                  <a:lnTo>
                    <a:pt x="0" y="14"/>
                  </a:lnTo>
                  <a:lnTo>
                    <a:pt x="0" y="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CF924C"/>
            </a:solidFill>
            <a:ln w="31750">
              <a:solidFill>
                <a:srgbClr val="CF924C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9828" name="Picture 331">
              <a:extLst>
                <a:ext uri="{FF2B5EF4-FFF2-40B4-BE49-F238E27FC236}">
                  <a16:creationId xmlns:a16="http://schemas.microsoft.com/office/drawing/2014/main" id="{671A15F4-040C-416E-8C60-7B3DBDD380D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32" y="1106"/>
              <a:ext cx="69" cy="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829" name="Line 332">
              <a:extLst>
                <a:ext uri="{FF2B5EF4-FFF2-40B4-BE49-F238E27FC236}">
                  <a16:creationId xmlns:a16="http://schemas.microsoft.com/office/drawing/2014/main" id="{1582E2F1-8689-4378-AFA6-C05FC3ED5C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3" y="1244"/>
              <a:ext cx="1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30" name="Freeform 333">
              <a:extLst>
                <a:ext uri="{FF2B5EF4-FFF2-40B4-BE49-F238E27FC236}">
                  <a16:creationId xmlns:a16="http://schemas.microsoft.com/office/drawing/2014/main" id="{DDDEE941-A761-4D68-A61B-51F76F64FFEC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7" y="1244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60000 65536"/>
                <a:gd name="T7" fmla="*/ 0 60000 65536"/>
                <a:gd name="T8" fmla="*/ 0 60000 65536"/>
                <a:gd name="T9" fmla="*/ 0 w 1"/>
                <a:gd name="T10" fmla="*/ 0 h 1"/>
                <a:gd name="T11" fmla="*/ 1 w 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31" name="Rectangle 334">
              <a:extLst>
                <a:ext uri="{FF2B5EF4-FFF2-40B4-BE49-F238E27FC236}">
                  <a16:creationId xmlns:a16="http://schemas.microsoft.com/office/drawing/2014/main" id="{E1EB52E4-7CE4-4F25-A73F-968A3D084A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9" y="1161"/>
              <a:ext cx="96" cy="27"/>
            </a:xfrm>
            <a:prstGeom prst="rect">
              <a:avLst/>
            </a:prstGeom>
            <a:solidFill>
              <a:srgbClr val="CF924C"/>
            </a:solidFill>
            <a:ln w="31750">
              <a:solidFill>
                <a:srgbClr val="CF924C"/>
              </a:solidFill>
              <a:miter lim="800000"/>
              <a:headEnd/>
              <a:tailEnd/>
            </a:ln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832" name="Freeform 335">
              <a:extLst>
                <a:ext uri="{FF2B5EF4-FFF2-40B4-BE49-F238E27FC236}">
                  <a16:creationId xmlns:a16="http://schemas.microsoft.com/office/drawing/2014/main" id="{85F0C0A2-F8A5-4D68-980F-5F740C908B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5" y="1188"/>
              <a:ext cx="124" cy="28"/>
            </a:xfrm>
            <a:custGeom>
              <a:avLst/>
              <a:gdLst>
                <a:gd name="T0" fmla="*/ 14 w 124"/>
                <a:gd name="T1" fmla="*/ 0 h 28"/>
                <a:gd name="T2" fmla="*/ 0 w 124"/>
                <a:gd name="T3" fmla="*/ 28 h 28"/>
                <a:gd name="T4" fmla="*/ 124 w 124"/>
                <a:gd name="T5" fmla="*/ 28 h 28"/>
                <a:gd name="T6" fmla="*/ 124 w 124"/>
                <a:gd name="T7" fmla="*/ 0 h 28"/>
                <a:gd name="T8" fmla="*/ 14 w 124"/>
                <a:gd name="T9" fmla="*/ 0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4"/>
                <a:gd name="T16" fmla="*/ 0 h 28"/>
                <a:gd name="T17" fmla="*/ 124 w 124"/>
                <a:gd name="T18" fmla="*/ 28 h 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4" h="28">
                  <a:moveTo>
                    <a:pt x="14" y="0"/>
                  </a:moveTo>
                  <a:lnTo>
                    <a:pt x="0" y="28"/>
                  </a:lnTo>
                  <a:lnTo>
                    <a:pt x="124" y="28"/>
                  </a:lnTo>
                  <a:lnTo>
                    <a:pt x="124" y="0"/>
                  </a:lnTo>
                  <a:lnTo>
                    <a:pt x="14" y="0"/>
                  </a:lnTo>
                  <a:close/>
                </a:path>
              </a:pathLst>
            </a:custGeom>
            <a:noFill/>
            <a:ln w="31750">
              <a:solidFill>
                <a:srgbClr val="D9AA7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33" name="Line 336">
              <a:extLst>
                <a:ext uri="{FF2B5EF4-FFF2-40B4-BE49-F238E27FC236}">
                  <a16:creationId xmlns:a16="http://schemas.microsoft.com/office/drawing/2014/main" id="{6A0E6CAB-1A75-4EB6-920E-E8F91EB68F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19" y="1202"/>
              <a:ext cx="13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34" name="Line 337">
              <a:extLst>
                <a:ext uri="{FF2B5EF4-FFF2-40B4-BE49-F238E27FC236}">
                  <a16:creationId xmlns:a16="http://schemas.microsoft.com/office/drawing/2014/main" id="{B4A551B0-162B-4643-B3DC-3DAAA58B8E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2" y="1188"/>
              <a:ext cx="83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35" name="Line 338">
              <a:extLst>
                <a:ext uri="{FF2B5EF4-FFF2-40B4-BE49-F238E27FC236}">
                  <a16:creationId xmlns:a16="http://schemas.microsoft.com/office/drawing/2014/main" id="{86D649C2-9A83-44D7-93A6-8ED237D49D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19" y="1202"/>
              <a:ext cx="69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36" name="Line 339">
              <a:extLst>
                <a:ext uri="{FF2B5EF4-FFF2-40B4-BE49-F238E27FC236}">
                  <a16:creationId xmlns:a16="http://schemas.microsoft.com/office/drawing/2014/main" id="{B079D987-F46B-41CE-8458-9F7A3A1FCF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46" y="1202"/>
              <a:ext cx="55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37" name="Freeform 340">
              <a:extLst>
                <a:ext uri="{FF2B5EF4-FFF2-40B4-BE49-F238E27FC236}">
                  <a16:creationId xmlns:a16="http://schemas.microsoft.com/office/drawing/2014/main" id="{656F89F8-79F2-4AF0-B1E4-6607864B40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8" y="1202"/>
              <a:ext cx="41" cy="1"/>
            </a:xfrm>
            <a:custGeom>
              <a:avLst/>
              <a:gdLst>
                <a:gd name="T0" fmla="*/ 0 w 41"/>
                <a:gd name="T1" fmla="*/ 0 h 1"/>
                <a:gd name="T2" fmla="*/ 27 w 41"/>
                <a:gd name="T3" fmla="*/ 0 h 1"/>
                <a:gd name="T4" fmla="*/ 41 w 41"/>
                <a:gd name="T5" fmla="*/ 0 h 1"/>
                <a:gd name="T6" fmla="*/ 0 60000 65536"/>
                <a:gd name="T7" fmla="*/ 0 60000 65536"/>
                <a:gd name="T8" fmla="*/ 0 60000 65536"/>
                <a:gd name="T9" fmla="*/ 0 w 41"/>
                <a:gd name="T10" fmla="*/ 0 h 1"/>
                <a:gd name="T11" fmla="*/ 41 w 4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" h="1">
                  <a:moveTo>
                    <a:pt x="0" y="0"/>
                  </a:moveTo>
                  <a:lnTo>
                    <a:pt x="27" y="0"/>
                  </a:lnTo>
                  <a:lnTo>
                    <a:pt x="41" y="0"/>
                  </a:lnTo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38" name="Rectangle 341">
              <a:extLst>
                <a:ext uri="{FF2B5EF4-FFF2-40B4-BE49-F238E27FC236}">
                  <a16:creationId xmlns:a16="http://schemas.microsoft.com/office/drawing/2014/main" id="{84E2A060-E558-4F58-AFF0-A11F45C437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0" y="1092"/>
              <a:ext cx="28" cy="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839" name="Rectangle 342">
              <a:extLst>
                <a:ext uri="{FF2B5EF4-FFF2-40B4-BE49-F238E27FC236}">
                  <a16:creationId xmlns:a16="http://schemas.microsoft.com/office/drawing/2014/main" id="{1FC9F1C1-7419-4CA6-B64D-9A10FF7BD6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0" y="1092"/>
              <a:ext cx="41" cy="55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840" name="Freeform 343">
              <a:extLst>
                <a:ext uri="{FF2B5EF4-FFF2-40B4-BE49-F238E27FC236}">
                  <a16:creationId xmlns:a16="http://schemas.microsoft.com/office/drawing/2014/main" id="{B43FD0F4-06FF-4D48-825F-30A645FBF8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9" y="2168"/>
              <a:ext cx="41" cy="55"/>
            </a:xfrm>
            <a:custGeom>
              <a:avLst/>
              <a:gdLst>
                <a:gd name="T0" fmla="*/ 0 w 41"/>
                <a:gd name="T1" fmla="*/ 0 h 55"/>
                <a:gd name="T2" fmla="*/ 41 w 41"/>
                <a:gd name="T3" fmla="*/ 14 h 55"/>
                <a:gd name="T4" fmla="*/ 41 w 41"/>
                <a:gd name="T5" fmla="*/ 55 h 55"/>
                <a:gd name="T6" fmla="*/ 0 60000 65536"/>
                <a:gd name="T7" fmla="*/ 0 60000 65536"/>
                <a:gd name="T8" fmla="*/ 0 60000 65536"/>
                <a:gd name="T9" fmla="*/ 0 w 41"/>
                <a:gd name="T10" fmla="*/ 0 h 55"/>
                <a:gd name="T11" fmla="*/ 41 w 41"/>
                <a:gd name="T12" fmla="*/ 55 h 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" h="55">
                  <a:moveTo>
                    <a:pt x="0" y="0"/>
                  </a:moveTo>
                  <a:lnTo>
                    <a:pt x="41" y="14"/>
                  </a:lnTo>
                  <a:lnTo>
                    <a:pt x="41" y="55"/>
                  </a:lnTo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41" name="AutoShape 344">
              <a:extLst>
                <a:ext uri="{FF2B5EF4-FFF2-40B4-BE49-F238E27FC236}">
                  <a16:creationId xmlns:a16="http://schemas.microsoft.com/office/drawing/2014/main" id="{B1C08DC7-B2E4-4873-B036-1F0A4DBB00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8" y="2071"/>
              <a:ext cx="125" cy="83"/>
            </a:xfrm>
            <a:prstGeom prst="roundRect">
              <a:avLst>
                <a:gd name="adj" fmla="val 50000"/>
              </a:avLst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842" name="AutoShape 345">
              <a:extLst>
                <a:ext uri="{FF2B5EF4-FFF2-40B4-BE49-F238E27FC236}">
                  <a16:creationId xmlns:a16="http://schemas.microsoft.com/office/drawing/2014/main" id="{86693184-E7EA-4565-846C-5B65885839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5" y="2058"/>
              <a:ext cx="151" cy="110"/>
            </a:xfrm>
            <a:prstGeom prst="roundRect">
              <a:avLst>
                <a:gd name="adj" fmla="val 40454"/>
              </a:avLst>
            </a:prstGeom>
            <a:noFill/>
            <a:ln w="53975">
              <a:solidFill>
                <a:srgbClr val="CF924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843" name="Rectangle 346">
              <a:extLst>
                <a:ext uri="{FF2B5EF4-FFF2-40B4-BE49-F238E27FC236}">
                  <a16:creationId xmlns:a16="http://schemas.microsoft.com/office/drawing/2014/main" id="{41B04913-DB07-4849-A7C8-AF5B3B2ED1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6" y="2099"/>
              <a:ext cx="83" cy="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844" name="Rectangle 347">
              <a:extLst>
                <a:ext uri="{FF2B5EF4-FFF2-40B4-BE49-F238E27FC236}">
                  <a16:creationId xmlns:a16="http://schemas.microsoft.com/office/drawing/2014/main" id="{3BECD554-BF4B-4BE7-9B18-6A744DF334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6" y="2099"/>
              <a:ext cx="97" cy="55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845" name="Freeform 348">
              <a:extLst>
                <a:ext uri="{FF2B5EF4-FFF2-40B4-BE49-F238E27FC236}">
                  <a16:creationId xmlns:a16="http://schemas.microsoft.com/office/drawing/2014/main" id="{D1F73DC8-8EE0-4E2F-BDDC-E030995D64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6" y="2223"/>
              <a:ext cx="28" cy="28"/>
            </a:xfrm>
            <a:custGeom>
              <a:avLst/>
              <a:gdLst>
                <a:gd name="T0" fmla="*/ 14 w 28"/>
                <a:gd name="T1" fmla="*/ 0 h 28"/>
                <a:gd name="T2" fmla="*/ 14 w 28"/>
                <a:gd name="T3" fmla="*/ 0 h 28"/>
                <a:gd name="T4" fmla="*/ 28 w 28"/>
                <a:gd name="T5" fmla="*/ 0 h 28"/>
                <a:gd name="T6" fmla="*/ 28 w 28"/>
                <a:gd name="T7" fmla="*/ 14 h 28"/>
                <a:gd name="T8" fmla="*/ 14 w 28"/>
                <a:gd name="T9" fmla="*/ 28 h 28"/>
                <a:gd name="T10" fmla="*/ 14 w 28"/>
                <a:gd name="T11" fmla="*/ 28 h 28"/>
                <a:gd name="T12" fmla="*/ 0 w 28"/>
                <a:gd name="T13" fmla="*/ 14 h 28"/>
                <a:gd name="T14" fmla="*/ 0 w 28"/>
                <a:gd name="T15" fmla="*/ 0 h 28"/>
                <a:gd name="T16" fmla="*/ 0 w 28"/>
                <a:gd name="T17" fmla="*/ 0 h 28"/>
                <a:gd name="T18" fmla="*/ 14 w 28"/>
                <a:gd name="T19" fmla="*/ 0 h 2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8"/>
                <a:gd name="T31" fmla="*/ 0 h 28"/>
                <a:gd name="T32" fmla="*/ 28 w 28"/>
                <a:gd name="T33" fmla="*/ 28 h 28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8" h="28">
                  <a:moveTo>
                    <a:pt x="14" y="0"/>
                  </a:moveTo>
                  <a:lnTo>
                    <a:pt x="14" y="0"/>
                  </a:lnTo>
                  <a:lnTo>
                    <a:pt x="28" y="0"/>
                  </a:lnTo>
                  <a:lnTo>
                    <a:pt x="28" y="14"/>
                  </a:lnTo>
                  <a:lnTo>
                    <a:pt x="14" y="28"/>
                  </a:lnTo>
                  <a:lnTo>
                    <a:pt x="0" y="14"/>
                  </a:lnTo>
                  <a:lnTo>
                    <a:pt x="0" y="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CF924C"/>
            </a:solidFill>
            <a:ln w="31750">
              <a:solidFill>
                <a:srgbClr val="CF924C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9846" name="Picture 349">
              <a:extLst>
                <a:ext uri="{FF2B5EF4-FFF2-40B4-BE49-F238E27FC236}">
                  <a16:creationId xmlns:a16="http://schemas.microsoft.com/office/drawing/2014/main" id="{97B1095F-199B-4B0C-8631-7E757D7210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46" y="2099"/>
              <a:ext cx="69" cy="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847" name="Line 350">
              <a:extLst>
                <a:ext uri="{FF2B5EF4-FFF2-40B4-BE49-F238E27FC236}">
                  <a16:creationId xmlns:a16="http://schemas.microsoft.com/office/drawing/2014/main" id="{B3F71D08-E37B-4A94-B015-B2B857E924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56" y="2223"/>
              <a:ext cx="1" cy="14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48" name="Line 351">
              <a:extLst>
                <a:ext uri="{FF2B5EF4-FFF2-40B4-BE49-F238E27FC236}">
                  <a16:creationId xmlns:a16="http://schemas.microsoft.com/office/drawing/2014/main" id="{8882EA09-225E-403B-8949-9F13F63D4E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70" y="2223"/>
              <a:ext cx="1" cy="14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49" name="Line 352">
              <a:extLst>
                <a:ext uri="{FF2B5EF4-FFF2-40B4-BE49-F238E27FC236}">
                  <a16:creationId xmlns:a16="http://schemas.microsoft.com/office/drawing/2014/main" id="{E13E81DD-CA68-4757-AEA4-CBDDE020A5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70" y="2223"/>
              <a:ext cx="1" cy="14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50" name="Rectangle 353">
              <a:extLst>
                <a:ext uri="{FF2B5EF4-FFF2-40B4-BE49-F238E27FC236}">
                  <a16:creationId xmlns:a16="http://schemas.microsoft.com/office/drawing/2014/main" id="{D1FE3F7C-CBAC-4BE7-9E52-0AB52A9D3F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2" y="2154"/>
              <a:ext cx="97" cy="14"/>
            </a:xfrm>
            <a:prstGeom prst="rect">
              <a:avLst/>
            </a:prstGeom>
            <a:solidFill>
              <a:srgbClr val="CF924C"/>
            </a:solidFill>
            <a:ln w="31750">
              <a:solidFill>
                <a:srgbClr val="CF924C"/>
              </a:solidFill>
              <a:miter lim="800000"/>
              <a:headEnd/>
              <a:tailEnd/>
            </a:ln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851" name="Freeform 354">
              <a:extLst>
                <a:ext uri="{FF2B5EF4-FFF2-40B4-BE49-F238E27FC236}">
                  <a16:creationId xmlns:a16="http://schemas.microsoft.com/office/drawing/2014/main" id="{1C91DB85-9EC6-4401-939A-89D42238C7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8" y="2182"/>
              <a:ext cx="125" cy="14"/>
            </a:xfrm>
            <a:custGeom>
              <a:avLst/>
              <a:gdLst>
                <a:gd name="T0" fmla="*/ 14 w 125"/>
                <a:gd name="T1" fmla="*/ 0 h 14"/>
                <a:gd name="T2" fmla="*/ 0 w 125"/>
                <a:gd name="T3" fmla="*/ 14 h 14"/>
                <a:gd name="T4" fmla="*/ 125 w 125"/>
                <a:gd name="T5" fmla="*/ 14 h 14"/>
                <a:gd name="T6" fmla="*/ 125 w 125"/>
                <a:gd name="T7" fmla="*/ 0 h 14"/>
                <a:gd name="T8" fmla="*/ 14 w 125"/>
                <a:gd name="T9" fmla="*/ 0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5"/>
                <a:gd name="T16" fmla="*/ 0 h 14"/>
                <a:gd name="T17" fmla="*/ 125 w 125"/>
                <a:gd name="T18" fmla="*/ 14 h 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5" h="14">
                  <a:moveTo>
                    <a:pt x="14" y="0"/>
                  </a:moveTo>
                  <a:lnTo>
                    <a:pt x="0" y="14"/>
                  </a:lnTo>
                  <a:lnTo>
                    <a:pt x="125" y="14"/>
                  </a:lnTo>
                  <a:lnTo>
                    <a:pt x="125" y="0"/>
                  </a:lnTo>
                  <a:lnTo>
                    <a:pt x="14" y="0"/>
                  </a:lnTo>
                  <a:close/>
                </a:path>
              </a:pathLst>
            </a:custGeom>
            <a:noFill/>
            <a:ln w="31750">
              <a:solidFill>
                <a:srgbClr val="D9AA7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52" name="Line 355">
              <a:extLst>
                <a:ext uri="{FF2B5EF4-FFF2-40B4-BE49-F238E27FC236}">
                  <a16:creationId xmlns:a16="http://schemas.microsoft.com/office/drawing/2014/main" id="{15C95F93-CF18-43D8-BF9F-5261A60838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2" y="2196"/>
              <a:ext cx="14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53" name="Line 356">
              <a:extLst>
                <a:ext uri="{FF2B5EF4-FFF2-40B4-BE49-F238E27FC236}">
                  <a16:creationId xmlns:a16="http://schemas.microsoft.com/office/drawing/2014/main" id="{F0FB1F55-E036-44A5-91CD-A52C520207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46" y="2182"/>
              <a:ext cx="83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54" name="Line 357">
              <a:extLst>
                <a:ext uri="{FF2B5EF4-FFF2-40B4-BE49-F238E27FC236}">
                  <a16:creationId xmlns:a16="http://schemas.microsoft.com/office/drawing/2014/main" id="{E29B5C5D-B74D-4519-AFD5-855C32B1BA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2" y="2182"/>
              <a:ext cx="69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55" name="Line 358">
              <a:extLst>
                <a:ext uri="{FF2B5EF4-FFF2-40B4-BE49-F238E27FC236}">
                  <a16:creationId xmlns:a16="http://schemas.microsoft.com/office/drawing/2014/main" id="{E06C23A4-C6D5-407B-B4BA-7F2A20F7AE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0" y="2196"/>
              <a:ext cx="55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56" name="Line 359">
              <a:extLst>
                <a:ext uri="{FF2B5EF4-FFF2-40B4-BE49-F238E27FC236}">
                  <a16:creationId xmlns:a16="http://schemas.microsoft.com/office/drawing/2014/main" id="{C8E1D6A8-FEA5-4F5D-826B-276785A5FB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01" y="2182"/>
              <a:ext cx="28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57" name="Line 360">
              <a:extLst>
                <a:ext uri="{FF2B5EF4-FFF2-40B4-BE49-F238E27FC236}">
                  <a16:creationId xmlns:a16="http://schemas.microsoft.com/office/drawing/2014/main" id="{D59FA66F-DA12-4433-A48E-1C00652931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9" y="2196"/>
              <a:ext cx="14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58" name="Rectangle 361">
              <a:extLst>
                <a:ext uri="{FF2B5EF4-FFF2-40B4-BE49-F238E27FC236}">
                  <a16:creationId xmlns:a16="http://schemas.microsoft.com/office/drawing/2014/main" id="{CC040FC5-B008-4D23-B1E9-AD941B4785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4" y="2085"/>
              <a:ext cx="27" cy="2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859" name="Rectangle 362">
              <a:extLst>
                <a:ext uri="{FF2B5EF4-FFF2-40B4-BE49-F238E27FC236}">
                  <a16:creationId xmlns:a16="http://schemas.microsoft.com/office/drawing/2014/main" id="{166841FD-D019-48CE-92A5-38B0CC8019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4" y="2085"/>
              <a:ext cx="41" cy="42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860" name="Freeform 363">
              <a:extLst>
                <a:ext uri="{FF2B5EF4-FFF2-40B4-BE49-F238E27FC236}">
                  <a16:creationId xmlns:a16="http://schemas.microsoft.com/office/drawing/2014/main" id="{34D1B1DD-DE76-46CC-BECA-4609EAE72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8" y="2168"/>
              <a:ext cx="42" cy="55"/>
            </a:xfrm>
            <a:custGeom>
              <a:avLst/>
              <a:gdLst>
                <a:gd name="T0" fmla="*/ 0 w 42"/>
                <a:gd name="T1" fmla="*/ 0 h 55"/>
                <a:gd name="T2" fmla="*/ 42 w 42"/>
                <a:gd name="T3" fmla="*/ 14 h 55"/>
                <a:gd name="T4" fmla="*/ 42 w 42"/>
                <a:gd name="T5" fmla="*/ 55 h 55"/>
                <a:gd name="T6" fmla="*/ 0 60000 65536"/>
                <a:gd name="T7" fmla="*/ 0 60000 65536"/>
                <a:gd name="T8" fmla="*/ 0 60000 65536"/>
                <a:gd name="T9" fmla="*/ 0 w 42"/>
                <a:gd name="T10" fmla="*/ 0 h 55"/>
                <a:gd name="T11" fmla="*/ 42 w 42"/>
                <a:gd name="T12" fmla="*/ 55 h 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2" h="55">
                  <a:moveTo>
                    <a:pt x="0" y="0"/>
                  </a:moveTo>
                  <a:lnTo>
                    <a:pt x="42" y="14"/>
                  </a:lnTo>
                  <a:lnTo>
                    <a:pt x="42" y="55"/>
                  </a:lnTo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61" name="AutoShape 364">
              <a:extLst>
                <a:ext uri="{FF2B5EF4-FFF2-40B4-BE49-F238E27FC236}">
                  <a16:creationId xmlns:a16="http://schemas.microsoft.com/office/drawing/2014/main" id="{35EE7C52-7CCB-4397-A99A-A3C79465EC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8" y="2071"/>
              <a:ext cx="124" cy="83"/>
            </a:xfrm>
            <a:prstGeom prst="roundRect">
              <a:avLst>
                <a:gd name="adj" fmla="val 50000"/>
              </a:avLst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862" name="AutoShape 365">
              <a:extLst>
                <a:ext uri="{FF2B5EF4-FFF2-40B4-BE49-F238E27FC236}">
                  <a16:creationId xmlns:a16="http://schemas.microsoft.com/office/drawing/2014/main" id="{82E2BB8A-2423-43DB-80AB-85331952A2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4" y="2058"/>
              <a:ext cx="152" cy="110"/>
            </a:xfrm>
            <a:prstGeom prst="roundRect">
              <a:avLst>
                <a:gd name="adj" fmla="val 40454"/>
              </a:avLst>
            </a:prstGeom>
            <a:noFill/>
            <a:ln w="53975">
              <a:solidFill>
                <a:srgbClr val="CF924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863" name="Rectangle 366">
              <a:extLst>
                <a:ext uri="{FF2B5EF4-FFF2-40B4-BE49-F238E27FC236}">
                  <a16:creationId xmlns:a16="http://schemas.microsoft.com/office/drawing/2014/main" id="{3A30924F-618B-4FE3-B521-57D69ED525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5" y="2099"/>
              <a:ext cx="83" cy="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864" name="Rectangle 367">
              <a:extLst>
                <a:ext uri="{FF2B5EF4-FFF2-40B4-BE49-F238E27FC236}">
                  <a16:creationId xmlns:a16="http://schemas.microsoft.com/office/drawing/2014/main" id="{7EE78BC2-75C1-4E62-B728-4BA8B6C2A5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5" y="2099"/>
              <a:ext cx="97" cy="55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865" name="Freeform 368">
              <a:extLst>
                <a:ext uri="{FF2B5EF4-FFF2-40B4-BE49-F238E27FC236}">
                  <a16:creationId xmlns:a16="http://schemas.microsoft.com/office/drawing/2014/main" id="{2EEEE3F1-9F25-4FE9-923C-8A5BF5B5C4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6" y="2223"/>
              <a:ext cx="27" cy="28"/>
            </a:xfrm>
            <a:custGeom>
              <a:avLst/>
              <a:gdLst>
                <a:gd name="T0" fmla="*/ 14 w 27"/>
                <a:gd name="T1" fmla="*/ 0 h 28"/>
                <a:gd name="T2" fmla="*/ 14 w 27"/>
                <a:gd name="T3" fmla="*/ 0 h 28"/>
                <a:gd name="T4" fmla="*/ 27 w 27"/>
                <a:gd name="T5" fmla="*/ 0 h 28"/>
                <a:gd name="T6" fmla="*/ 27 w 27"/>
                <a:gd name="T7" fmla="*/ 14 h 28"/>
                <a:gd name="T8" fmla="*/ 14 w 27"/>
                <a:gd name="T9" fmla="*/ 28 h 28"/>
                <a:gd name="T10" fmla="*/ 14 w 27"/>
                <a:gd name="T11" fmla="*/ 28 h 28"/>
                <a:gd name="T12" fmla="*/ 0 w 27"/>
                <a:gd name="T13" fmla="*/ 14 h 28"/>
                <a:gd name="T14" fmla="*/ 0 w 27"/>
                <a:gd name="T15" fmla="*/ 0 h 28"/>
                <a:gd name="T16" fmla="*/ 0 w 27"/>
                <a:gd name="T17" fmla="*/ 0 h 28"/>
                <a:gd name="T18" fmla="*/ 14 w 27"/>
                <a:gd name="T19" fmla="*/ 0 h 2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7"/>
                <a:gd name="T31" fmla="*/ 0 h 28"/>
                <a:gd name="T32" fmla="*/ 27 w 27"/>
                <a:gd name="T33" fmla="*/ 28 h 28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7" h="28">
                  <a:moveTo>
                    <a:pt x="14" y="0"/>
                  </a:moveTo>
                  <a:lnTo>
                    <a:pt x="14" y="0"/>
                  </a:lnTo>
                  <a:lnTo>
                    <a:pt x="27" y="0"/>
                  </a:lnTo>
                  <a:lnTo>
                    <a:pt x="27" y="14"/>
                  </a:lnTo>
                  <a:lnTo>
                    <a:pt x="14" y="28"/>
                  </a:lnTo>
                  <a:lnTo>
                    <a:pt x="0" y="14"/>
                  </a:lnTo>
                  <a:lnTo>
                    <a:pt x="0" y="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CF924C"/>
            </a:solidFill>
            <a:ln w="31750">
              <a:solidFill>
                <a:srgbClr val="CF924C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9866" name="Picture 369">
              <a:extLst>
                <a:ext uri="{FF2B5EF4-FFF2-40B4-BE49-F238E27FC236}">
                  <a16:creationId xmlns:a16="http://schemas.microsoft.com/office/drawing/2014/main" id="{9A8DBB82-8283-4E37-8083-98C3DEA58A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25" y="2099"/>
              <a:ext cx="69" cy="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867" name="Line 370">
              <a:extLst>
                <a:ext uri="{FF2B5EF4-FFF2-40B4-BE49-F238E27FC236}">
                  <a16:creationId xmlns:a16="http://schemas.microsoft.com/office/drawing/2014/main" id="{9B11E0B7-9D0C-4E85-8B33-058C27405C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6" y="2223"/>
              <a:ext cx="1" cy="14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68" name="Line 371">
              <a:extLst>
                <a:ext uri="{FF2B5EF4-FFF2-40B4-BE49-F238E27FC236}">
                  <a16:creationId xmlns:a16="http://schemas.microsoft.com/office/drawing/2014/main" id="{CD0531A9-7B52-42E9-A3F1-05C27BF1E4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50" y="2223"/>
              <a:ext cx="1" cy="14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69" name="Line 372">
              <a:extLst>
                <a:ext uri="{FF2B5EF4-FFF2-40B4-BE49-F238E27FC236}">
                  <a16:creationId xmlns:a16="http://schemas.microsoft.com/office/drawing/2014/main" id="{190C5CD1-BD95-46A7-9628-58E7D2C89C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50" y="2223"/>
              <a:ext cx="1" cy="14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70" name="Rectangle 373">
              <a:extLst>
                <a:ext uri="{FF2B5EF4-FFF2-40B4-BE49-F238E27FC236}">
                  <a16:creationId xmlns:a16="http://schemas.microsoft.com/office/drawing/2014/main" id="{D329CF7C-055C-48A9-A4D8-BBAB16484B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2" y="2154"/>
              <a:ext cx="96" cy="14"/>
            </a:xfrm>
            <a:prstGeom prst="rect">
              <a:avLst/>
            </a:prstGeom>
            <a:solidFill>
              <a:srgbClr val="CF924C"/>
            </a:solidFill>
            <a:ln w="31750">
              <a:solidFill>
                <a:srgbClr val="CF924C"/>
              </a:solidFill>
              <a:miter lim="800000"/>
              <a:headEnd/>
              <a:tailEnd/>
            </a:ln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871" name="Freeform 374">
              <a:extLst>
                <a:ext uri="{FF2B5EF4-FFF2-40B4-BE49-F238E27FC236}">
                  <a16:creationId xmlns:a16="http://schemas.microsoft.com/office/drawing/2014/main" id="{5173736D-6826-4D65-8CE0-91CA49F9C28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8" y="2182"/>
              <a:ext cx="124" cy="14"/>
            </a:xfrm>
            <a:custGeom>
              <a:avLst/>
              <a:gdLst>
                <a:gd name="T0" fmla="*/ 14 w 124"/>
                <a:gd name="T1" fmla="*/ 0 h 14"/>
                <a:gd name="T2" fmla="*/ 0 w 124"/>
                <a:gd name="T3" fmla="*/ 14 h 14"/>
                <a:gd name="T4" fmla="*/ 124 w 124"/>
                <a:gd name="T5" fmla="*/ 14 h 14"/>
                <a:gd name="T6" fmla="*/ 124 w 124"/>
                <a:gd name="T7" fmla="*/ 0 h 14"/>
                <a:gd name="T8" fmla="*/ 14 w 124"/>
                <a:gd name="T9" fmla="*/ 0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4"/>
                <a:gd name="T16" fmla="*/ 0 h 14"/>
                <a:gd name="T17" fmla="*/ 124 w 124"/>
                <a:gd name="T18" fmla="*/ 14 h 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4" h="14">
                  <a:moveTo>
                    <a:pt x="14" y="0"/>
                  </a:moveTo>
                  <a:lnTo>
                    <a:pt x="0" y="14"/>
                  </a:lnTo>
                  <a:lnTo>
                    <a:pt x="124" y="14"/>
                  </a:lnTo>
                  <a:lnTo>
                    <a:pt x="124" y="0"/>
                  </a:lnTo>
                  <a:lnTo>
                    <a:pt x="14" y="0"/>
                  </a:lnTo>
                  <a:close/>
                </a:path>
              </a:pathLst>
            </a:custGeom>
            <a:noFill/>
            <a:ln w="31750">
              <a:solidFill>
                <a:srgbClr val="D9AA7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72" name="Line 375">
              <a:extLst>
                <a:ext uri="{FF2B5EF4-FFF2-40B4-BE49-F238E27FC236}">
                  <a16:creationId xmlns:a16="http://schemas.microsoft.com/office/drawing/2014/main" id="{6E1BFAAC-962B-4AA5-B817-4A22B0737A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2" y="2196"/>
              <a:ext cx="13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73" name="Line 376">
              <a:extLst>
                <a:ext uri="{FF2B5EF4-FFF2-40B4-BE49-F238E27FC236}">
                  <a16:creationId xmlns:a16="http://schemas.microsoft.com/office/drawing/2014/main" id="{A608621B-1CE7-4B46-A219-5F46676467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5" y="2182"/>
              <a:ext cx="83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74" name="Line 377">
              <a:extLst>
                <a:ext uri="{FF2B5EF4-FFF2-40B4-BE49-F238E27FC236}">
                  <a16:creationId xmlns:a16="http://schemas.microsoft.com/office/drawing/2014/main" id="{DD477E35-102A-4650-B7CC-A2FDFE6D56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2" y="2182"/>
              <a:ext cx="69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75" name="Line 378">
              <a:extLst>
                <a:ext uri="{FF2B5EF4-FFF2-40B4-BE49-F238E27FC236}">
                  <a16:creationId xmlns:a16="http://schemas.microsoft.com/office/drawing/2014/main" id="{413BCFEC-95C4-44F5-A149-4A20E5DA1B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39" y="2196"/>
              <a:ext cx="55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76" name="Line 379">
              <a:extLst>
                <a:ext uri="{FF2B5EF4-FFF2-40B4-BE49-F238E27FC236}">
                  <a16:creationId xmlns:a16="http://schemas.microsoft.com/office/drawing/2014/main" id="{62CE3CB5-9B1F-4AD9-B379-675504B7AC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81" y="2182"/>
              <a:ext cx="27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77" name="Line 380">
              <a:extLst>
                <a:ext uri="{FF2B5EF4-FFF2-40B4-BE49-F238E27FC236}">
                  <a16:creationId xmlns:a16="http://schemas.microsoft.com/office/drawing/2014/main" id="{80FDE36B-884F-43BE-AC05-6A0F3D104D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08" y="2196"/>
              <a:ext cx="14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78" name="Rectangle 381">
              <a:extLst>
                <a:ext uri="{FF2B5EF4-FFF2-40B4-BE49-F238E27FC236}">
                  <a16:creationId xmlns:a16="http://schemas.microsoft.com/office/drawing/2014/main" id="{6A341326-70B1-4F6F-AB57-828ED65F41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3" y="2085"/>
              <a:ext cx="28" cy="2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879" name="Rectangle 382">
              <a:extLst>
                <a:ext uri="{FF2B5EF4-FFF2-40B4-BE49-F238E27FC236}">
                  <a16:creationId xmlns:a16="http://schemas.microsoft.com/office/drawing/2014/main" id="{85AD05C4-7A12-4949-BED1-1B578F86DC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3" y="2085"/>
              <a:ext cx="41" cy="42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880" name="Freeform 383">
              <a:extLst>
                <a:ext uri="{FF2B5EF4-FFF2-40B4-BE49-F238E27FC236}">
                  <a16:creationId xmlns:a16="http://schemas.microsoft.com/office/drawing/2014/main" id="{02F3C100-A906-41B1-AF23-86260DBB4E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8" y="2168"/>
              <a:ext cx="41" cy="55"/>
            </a:xfrm>
            <a:custGeom>
              <a:avLst/>
              <a:gdLst>
                <a:gd name="T0" fmla="*/ 0 w 41"/>
                <a:gd name="T1" fmla="*/ 0 h 55"/>
                <a:gd name="T2" fmla="*/ 41 w 41"/>
                <a:gd name="T3" fmla="*/ 14 h 55"/>
                <a:gd name="T4" fmla="*/ 41 w 41"/>
                <a:gd name="T5" fmla="*/ 55 h 55"/>
                <a:gd name="T6" fmla="*/ 0 60000 65536"/>
                <a:gd name="T7" fmla="*/ 0 60000 65536"/>
                <a:gd name="T8" fmla="*/ 0 60000 65536"/>
                <a:gd name="T9" fmla="*/ 0 w 41"/>
                <a:gd name="T10" fmla="*/ 0 h 55"/>
                <a:gd name="T11" fmla="*/ 41 w 41"/>
                <a:gd name="T12" fmla="*/ 55 h 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" h="55">
                  <a:moveTo>
                    <a:pt x="0" y="0"/>
                  </a:moveTo>
                  <a:lnTo>
                    <a:pt x="41" y="14"/>
                  </a:lnTo>
                  <a:lnTo>
                    <a:pt x="41" y="55"/>
                  </a:lnTo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81" name="AutoShape 384">
              <a:extLst>
                <a:ext uri="{FF2B5EF4-FFF2-40B4-BE49-F238E27FC236}">
                  <a16:creationId xmlns:a16="http://schemas.microsoft.com/office/drawing/2014/main" id="{4B65C136-0F81-416F-98C7-00749F9F92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7" y="2071"/>
              <a:ext cx="124" cy="83"/>
            </a:xfrm>
            <a:prstGeom prst="roundRect">
              <a:avLst>
                <a:gd name="adj" fmla="val 50000"/>
              </a:avLst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882" name="AutoShape 385">
              <a:extLst>
                <a:ext uri="{FF2B5EF4-FFF2-40B4-BE49-F238E27FC236}">
                  <a16:creationId xmlns:a16="http://schemas.microsoft.com/office/drawing/2014/main" id="{920D3FD1-FD17-472D-8771-6DD0483FB3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3" y="2058"/>
              <a:ext cx="152" cy="110"/>
            </a:xfrm>
            <a:prstGeom prst="roundRect">
              <a:avLst>
                <a:gd name="adj" fmla="val 40454"/>
              </a:avLst>
            </a:prstGeom>
            <a:noFill/>
            <a:ln w="53975">
              <a:solidFill>
                <a:srgbClr val="CF924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883" name="Rectangle 386">
              <a:extLst>
                <a:ext uri="{FF2B5EF4-FFF2-40B4-BE49-F238E27FC236}">
                  <a16:creationId xmlns:a16="http://schemas.microsoft.com/office/drawing/2014/main" id="{AD011C23-00E0-41A8-9497-195FC9E120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5" y="2099"/>
              <a:ext cx="83" cy="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884" name="Rectangle 387">
              <a:extLst>
                <a:ext uri="{FF2B5EF4-FFF2-40B4-BE49-F238E27FC236}">
                  <a16:creationId xmlns:a16="http://schemas.microsoft.com/office/drawing/2014/main" id="{E8840F64-BA26-40A4-A976-FB6AC23CA2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5" y="2099"/>
              <a:ext cx="96" cy="55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885" name="Freeform 388">
              <a:extLst>
                <a:ext uri="{FF2B5EF4-FFF2-40B4-BE49-F238E27FC236}">
                  <a16:creationId xmlns:a16="http://schemas.microsoft.com/office/drawing/2014/main" id="{AB8BA034-1DE9-4D10-99C4-6A10BE3F446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5" y="2223"/>
              <a:ext cx="28" cy="28"/>
            </a:xfrm>
            <a:custGeom>
              <a:avLst/>
              <a:gdLst>
                <a:gd name="T0" fmla="*/ 14 w 28"/>
                <a:gd name="T1" fmla="*/ 0 h 28"/>
                <a:gd name="T2" fmla="*/ 14 w 28"/>
                <a:gd name="T3" fmla="*/ 0 h 28"/>
                <a:gd name="T4" fmla="*/ 28 w 28"/>
                <a:gd name="T5" fmla="*/ 0 h 28"/>
                <a:gd name="T6" fmla="*/ 28 w 28"/>
                <a:gd name="T7" fmla="*/ 14 h 28"/>
                <a:gd name="T8" fmla="*/ 14 w 28"/>
                <a:gd name="T9" fmla="*/ 28 h 28"/>
                <a:gd name="T10" fmla="*/ 14 w 28"/>
                <a:gd name="T11" fmla="*/ 28 h 28"/>
                <a:gd name="T12" fmla="*/ 0 w 28"/>
                <a:gd name="T13" fmla="*/ 14 h 28"/>
                <a:gd name="T14" fmla="*/ 0 w 28"/>
                <a:gd name="T15" fmla="*/ 0 h 28"/>
                <a:gd name="T16" fmla="*/ 0 w 28"/>
                <a:gd name="T17" fmla="*/ 0 h 28"/>
                <a:gd name="T18" fmla="*/ 14 w 28"/>
                <a:gd name="T19" fmla="*/ 0 h 2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8"/>
                <a:gd name="T31" fmla="*/ 0 h 28"/>
                <a:gd name="T32" fmla="*/ 28 w 28"/>
                <a:gd name="T33" fmla="*/ 28 h 28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8" h="28">
                  <a:moveTo>
                    <a:pt x="14" y="0"/>
                  </a:moveTo>
                  <a:lnTo>
                    <a:pt x="14" y="0"/>
                  </a:lnTo>
                  <a:lnTo>
                    <a:pt x="28" y="0"/>
                  </a:lnTo>
                  <a:lnTo>
                    <a:pt x="28" y="14"/>
                  </a:lnTo>
                  <a:lnTo>
                    <a:pt x="14" y="28"/>
                  </a:lnTo>
                  <a:lnTo>
                    <a:pt x="0" y="14"/>
                  </a:lnTo>
                  <a:lnTo>
                    <a:pt x="0" y="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CF924C"/>
            </a:solidFill>
            <a:ln w="31750">
              <a:solidFill>
                <a:srgbClr val="CF924C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9886" name="Picture 389">
              <a:extLst>
                <a:ext uri="{FF2B5EF4-FFF2-40B4-BE49-F238E27FC236}">
                  <a16:creationId xmlns:a16="http://schemas.microsoft.com/office/drawing/2014/main" id="{BDF77B45-F6F7-40BD-BB28-F8D03218E6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05" y="2099"/>
              <a:ext cx="69" cy="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887" name="Line 390">
              <a:extLst>
                <a:ext uri="{FF2B5EF4-FFF2-40B4-BE49-F238E27FC236}">
                  <a16:creationId xmlns:a16="http://schemas.microsoft.com/office/drawing/2014/main" id="{AB7AE5F0-0DD9-4584-82D4-BBBDA7108F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5" y="2223"/>
              <a:ext cx="1" cy="14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88" name="Line 391">
              <a:extLst>
                <a:ext uri="{FF2B5EF4-FFF2-40B4-BE49-F238E27FC236}">
                  <a16:creationId xmlns:a16="http://schemas.microsoft.com/office/drawing/2014/main" id="{4ECE9B88-DA88-47C3-BFEB-C8C25A6368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29" y="2223"/>
              <a:ext cx="1" cy="14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89" name="Line 392">
              <a:extLst>
                <a:ext uri="{FF2B5EF4-FFF2-40B4-BE49-F238E27FC236}">
                  <a16:creationId xmlns:a16="http://schemas.microsoft.com/office/drawing/2014/main" id="{C2E7009E-4C26-468C-B346-A6C47DE6FA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29" y="2223"/>
              <a:ext cx="1" cy="14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90" name="Rectangle 393">
              <a:extLst>
                <a:ext uri="{FF2B5EF4-FFF2-40B4-BE49-F238E27FC236}">
                  <a16:creationId xmlns:a16="http://schemas.microsoft.com/office/drawing/2014/main" id="{4C4B7131-5053-4544-BFE6-A75FD45FBC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1" y="2154"/>
              <a:ext cx="97" cy="14"/>
            </a:xfrm>
            <a:prstGeom prst="rect">
              <a:avLst/>
            </a:prstGeom>
            <a:solidFill>
              <a:srgbClr val="CF924C"/>
            </a:solidFill>
            <a:ln w="31750">
              <a:solidFill>
                <a:srgbClr val="CF924C"/>
              </a:solidFill>
              <a:miter lim="800000"/>
              <a:headEnd/>
              <a:tailEnd/>
            </a:ln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891" name="Freeform 394">
              <a:extLst>
                <a:ext uri="{FF2B5EF4-FFF2-40B4-BE49-F238E27FC236}">
                  <a16:creationId xmlns:a16="http://schemas.microsoft.com/office/drawing/2014/main" id="{83C4020A-2C36-4082-9271-E24BD2E064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7" y="2182"/>
              <a:ext cx="124" cy="14"/>
            </a:xfrm>
            <a:custGeom>
              <a:avLst/>
              <a:gdLst>
                <a:gd name="T0" fmla="*/ 14 w 124"/>
                <a:gd name="T1" fmla="*/ 0 h 14"/>
                <a:gd name="T2" fmla="*/ 0 w 124"/>
                <a:gd name="T3" fmla="*/ 14 h 14"/>
                <a:gd name="T4" fmla="*/ 124 w 124"/>
                <a:gd name="T5" fmla="*/ 14 h 14"/>
                <a:gd name="T6" fmla="*/ 124 w 124"/>
                <a:gd name="T7" fmla="*/ 0 h 14"/>
                <a:gd name="T8" fmla="*/ 14 w 124"/>
                <a:gd name="T9" fmla="*/ 0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4"/>
                <a:gd name="T16" fmla="*/ 0 h 14"/>
                <a:gd name="T17" fmla="*/ 124 w 124"/>
                <a:gd name="T18" fmla="*/ 14 h 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4" h="14">
                  <a:moveTo>
                    <a:pt x="14" y="0"/>
                  </a:moveTo>
                  <a:lnTo>
                    <a:pt x="0" y="14"/>
                  </a:lnTo>
                  <a:lnTo>
                    <a:pt x="124" y="14"/>
                  </a:lnTo>
                  <a:lnTo>
                    <a:pt x="124" y="0"/>
                  </a:lnTo>
                  <a:lnTo>
                    <a:pt x="14" y="0"/>
                  </a:lnTo>
                  <a:close/>
                </a:path>
              </a:pathLst>
            </a:custGeom>
            <a:noFill/>
            <a:ln w="31750">
              <a:solidFill>
                <a:srgbClr val="D9AA7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92" name="Line 395">
              <a:extLst>
                <a:ext uri="{FF2B5EF4-FFF2-40B4-BE49-F238E27FC236}">
                  <a16:creationId xmlns:a16="http://schemas.microsoft.com/office/drawing/2014/main" id="{51DB5763-4E9D-415B-B028-ABE0EE7208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91" y="2196"/>
              <a:ext cx="14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93" name="Line 396">
              <a:extLst>
                <a:ext uri="{FF2B5EF4-FFF2-40B4-BE49-F238E27FC236}">
                  <a16:creationId xmlns:a16="http://schemas.microsoft.com/office/drawing/2014/main" id="{853E3FDB-53C5-47A5-B6C9-B9832DFCBB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5" y="2182"/>
              <a:ext cx="83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94" name="Line 397">
              <a:extLst>
                <a:ext uri="{FF2B5EF4-FFF2-40B4-BE49-F238E27FC236}">
                  <a16:creationId xmlns:a16="http://schemas.microsoft.com/office/drawing/2014/main" id="{5000F12D-36D5-48A5-87E6-4050FF23D9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91" y="2182"/>
              <a:ext cx="69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95" name="Line 398">
              <a:extLst>
                <a:ext uri="{FF2B5EF4-FFF2-40B4-BE49-F238E27FC236}">
                  <a16:creationId xmlns:a16="http://schemas.microsoft.com/office/drawing/2014/main" id="{8110740D-CE95-43C4-BFDA-F35D545E83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19" y="2196"/>
              <a:ext cx="55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96" name="Line 399">
              <a:extLst>
                <a:ext uri="{FF2B5EF4-FFF2-40B4-BE49-F238E27FC236}">
                  <a16:creationId xmlns:a16="http://schemas.microsoft.com/office/drawing/2014/main" id="{C9ECCFD5-084D-40A8-8727-03A399D44F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0" y="2182"/>
              <a:ext cx="28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97" name="Line 400">
              <a:extLst>
                <a:ext uri="{FF2B5EF4-FFF2-40B4-BE49-F238E27FC236}">
                  <a16:creationId xmlns:a16="http://schemas.microsoft.com/office/drawing/2014/main" id="{36639E8C-1075-43E4-B9D9-43F4ADE8A0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88" y="2196"/>
              <a:ext cx="13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98" name="Rectangle 401">
              <a:extLst>
                <a:ext uri="{FF2B5EF4-FFF2-40B4-BE49-F238E27FC236}">
                  <a16:creationId xmlns:a16="http://schemas.microsoft.com/office/drawing/2014/main" id="{94623C24-1F99-442E-9353-32A2B9E714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2" y="2085"/>
              <a:ext cx="28" cy="2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899" name="Rectangle 402">
              <a:extLst>
                <a:ext uri="{FF2B5EF4-FFF2-40B4-BE49-F238E27FC236}">
                  <a16:creationId xmlns:a16="http://schemas.microsoft.com/office/drawing/2014/main" id="{EABEFBB9-EF88-424D-A7C9-9BFB465864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2" y="2085"/>
              <a:ext cx="42" cy="42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900" name="Freeform 403">
              <a:extLst>
                <a:ext uri="{FF2B5EF4-FFF2-40B4-BE49-F238E27FC236}">
                  <a16:creationId xmlns:a16="http://schemas.microsoft.com/office/drawing/2014/main" id="{E86B2DE5-D236-41E1-B3CA-DD250B59C16F}"/>
                </a:ext>
              </a:extLst>
            </p:cNvPr>
            <p:cNvSpPr>
              <a:spLocks/>
            </p:cNvSpPr>
            <p:nvPr/>
          </p:nvSpPr>
          <p:spPr bwMode="auto">
            <a:xfrm>
              <a:off x="5120" y="2830"/>
              <a:ext cx="41" cy="69"/>
            </a:xfrm>
            <a:custGeom>
              <a:avLst/>
              <a:gdLst>
                <a:gd name="T0" fmla="*/ 0 w 41"/>
                <a:gd name="T1" fmla="*/ 0 h 69"/>
                <a:gd name="T2" fmla="*/ 41 w 41"/>
                <a:gd name="T3" fmla="*/ 14 h 69"/>
                <a:gd name="T4" fmla="*/ 41 w 41"/>
                <a:gd name="T5" fmla="*/ 69 h 69"/>
                <a:gd name="T6" fmla="*/ 0 60000 65536"/>
                <a:gd name="T7" fmla="*/ 0 60000 65536"/>
                <a:gd name="T8" fmla="*/ 0 60000 65536"/>
                <a:gd name="T9" fmla="*/ 0 w 41"/>
                <a:gd name="T10" fmla="*/ 0 h 69"/>
                <a:gd name="T11" fmla="*/ 41 w 41"/>
                <a:gd name="T12" fmla="*/ 69 h 6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" h="69">
                  <a:moveTo>
                    <a:pt x="0" y="0"/>
                  </a:moveTo>
                  <a:lnTo>
                    <a:pt x="41" y="14"/>
                  </a:lnTo>
                  <a:lnTo>
                    <a:pt x="41" y="69"/>
                  </a:lnTo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901" name="AutoShape 404">
              <a:extLst>
                <a:ext uri="{FF2B5EF4-FFF2-40B4-BE49-F238E27FC236}">
                  <a16:creationId xmlns:a16="http://schemas.microsoft.com/office/drawing/2014/main" id="{D93DD85B-96F2-4B83-9EC0-2070DD56DE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9" y="2748"/>
              <a:ext cx="124" cy="69"/>
            </a:xfrm>
            <a:prstGeom prst="roundRect">
              <a:avLst>
                <a:gd name="adj" fmla="val 50000"/>
              </a:avLst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902" name="AutoShape 405">
              <a:extLst>
                <a:ext uri="{FF2B5EF4-FFF2-40B4-BE49-F238E27FC236}">
                  <a16:creationId xmlns:a16="http://schemas.microsoft.com/office/drawing/2014/main" id="{05F72A17-CAAB-4D2F-A8F2-6BAC5D1F5A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6" y="2734"/>
              <a:ext cx="151" cy="96"/>
            </a:xfrm>
            <a:prstGeom prst="roundRect">
              <a:avLst>
                <a:gd name="adj" fmla="val 39065"/>
              </a:avLst>
            </a:prstGeom>
            <a:noFill/>
            <a:ln w="53975">
              <a:solidFill>
                <a:srgbClr val="CF924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903" name="Rectangle 406">
              <a:extLst>
                <a:ext uri="{FF2B5EF4-FFF2-40B4-BE49-F238E27FC236}">
                  <a16:creationId xmlns:a16="http://schemas.microsoft.com/office/drawing/2014/main" id="{6CB95135-C511-4172-85A5-965E782423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7" y="2761"/>
              <a:ext cx="83" cy="4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904" name="Rectangle 407">
              <a:extLst>
                <a:ext uri="{FF2B5EF4-FFF2-40B4-BE49-F238E27FC236}">
                  <a16:creationId xmlns:a16="http://schemas.microsoft.com/office/drawing/2014/main" id="{F185A117-A622-400E-B09A-EB78A1F00F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7" y="2761"/>
              <a:ext cx="96" cy="56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905" name="Freeform 408">
              <a:extLst>
                <a:ext uri="{FF2B5EF4-FFF2-40B4-BE49-F238E27FC236}">
                  <a16:creationId xmlns:a16="http://schemas.microsoft.com/office/drawing/2014/main" id="{010AFC43-893B-4310-8000-81397566F517}"/>
                </a:ext>
              </a:extLst>
            </p:cNvPr>
            <p:cNvSpPr>
              <a:spLocks/>
            </p:cNvSpPr>
            <p:nvPr/>
          </p:nvSpPr>
          <p:spPr bwMode="auto">
            <a:xfrm>
              <a:off x="5147" y="2886"/>
              <a:ext cx="28" cy="41"/>
            </a:xfrm>
            <a:custGeom>
              <a:avLst/>
              <a:gdLst>
                <a:gd name="T0" fmla="*/ 14 w 28"/>
                <a:gd name="T1" fmla="*/ 0 h 41"/>
                <a:gd name="T2" fmla="*/ 14 w 28"/>
                <a:gd name="T3" fmla="*/ 0 h 41"/>
                <a:gd name="T4" fmla="*/ 28 w 28"/>
                <a:gd name="T5" fmla="*/ 13 h 41"/>
                <a:gd name="T6" fmla="*/ 28 w 28"/>
                <a:gd name="T7" fmla="*/ 27 h 41"/>
                <a:gd name="T8" fmla="*/ 14 w 28"/>
                <a:gd name="T9" fmla="*/ 41 h 41"/>
                <a:gd name="T10" fmla="*/ 14 w 28"/>
                <a:gd name="T11" fmla="*/ 41 h 41"/>
                <a:gd name="T12" fmla="*/ 0 w 28"/>
                <a:gd name="T13" fmla="*/ 27 h 41"/>
                <a:gd name="T14" fmla="*/ 0 w 28"/>
                <a:gd name="T15" fmla="*/ 13 h 41"/>
                <a:gd name="T16" fmla="*/ 0 w 28"/>
                <a:gd name="T17" fmla="*/ 0 h 41"/>
                <a:gd name="T18" fmla="*/ 14 w 28"/>
                <a:gd name="T19" fmla="*/ 0 h 4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8"/>
                <a:gd name="T31" fmla="*/ 0 h 41"/>
                <a:gd name="T32" fmla="*/ 28 w 28"/>
                <a:gd name="T33" fmla="*/ 41 h 41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8" h="41">
                  <a:moveTo>
                    <a:pt x="14" y="0"/>
                  </a:moveTo>
                  <a:lnTo>
                    <a:pt x="14" y="0"/>
                  </a:lnTo>
                  <a:lnTo>
                    <a:pt x="28" y="13"/>
                  </a:lnTo>
                  <a:lnTo>
                    <a:pt x="28" y="27"/>
                  </a:lnTo>
                  <a:lnTo>
                    <a:pt x="14" y="41"/>
                  </a:lnTo>
                  <a:lnTo>
                    <a:pt x="0" y="27"/>
                  </a:lnTo>
                  <a:lnTo>
                    <a:pt x="0" y="13"/>
                  </a:lnTo>
                  <a:lnTo>
                    <a:pt x="0" y="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CF924C"/>
            </a:solidFill>
            <a:ln w="31750">
              <a:solidFill>
                <a:srgbClr val="CF924C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9906" name="Picture 409">
              <a:extLst>
                <a:ext uri="{FF2B5EF4-FFF2-40B4-BE49-F238E27FC236}">
                  <a16:creationId xmlns:a16="http://schemas.microsoft.com/office/drawing/2014/main" id="{4D4C70B3-B0BE-4347-BC48-CBB230E55B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37" y="2761"/>
              <a:ext cx="69" cy="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907" name="Line 410">
              <a:extLst>
                <a:ext uri="{FF2B5EF4-FFF2-40B4-BE49-F238E27FC236}">
                  <a16:creationId xmlns:a16="http://schemas.microsoft.com/office/drawing/2014/main" id="{BD5A75EC-89AB-498D-82A6-58F607B050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47" y="2899"/>
              <a:ext cx="1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908" name="Freeform 411">
              <a:extLst>
                <a:ext uri="{FF2B5EF4-FFF2-40B4-BE49-F238E27FC236}">
                  <a16:creationId xmlns:a16="http://schemas.microsoft.com/office/drawing/2014/main" id="{C2D93115-FD64-47A8-BC54-28FFEF006746}"/>
                </a:ext>
              </a:extLst>
            </p:cNvPr>
            <p:cNvSpPr>
              <a:spLocks/>
            </p:cNvSpPr>
            <p:nvPr/>
          </p:nvSpPr>
          <p:spPr bwMode="auto">
            <a:xfrm>
              <a:off x="5161" y="2899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60000 65536"/>
                <a:gd name="T7" fmla="*/ 0 60000 65536"/>
                <a:gd name="T8" fmla="*/ 0 60000 65536"/>
                <a:gd name="T9" fmla="*/ 0 w 1"/>
                <a:gd name="T10" fmla="*/ 0 h 1"/>
                <a:gd name="T11" fmla="*/ 1 w 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909" name="Rectangle 412">
              <a:extLst>
                <a:ext uri="{FF2B5EF4-FFF2-40B4-BE49-F238E27FC236}">
                  <a16:creationId xmlns:a16="http://schemas.microsoft.com/office/drawing/2014/main" id="{2FB5A4C5-9AF9-42E9-9891-16F2062AC7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3" y="2817"/>
              <a:ext cx="97" cy="27"/>
            </a:xfrm>
            <a:prstGeom prst="rect">
              <a:avLst/>
            </a:prstGeom>
            <a:solidFill>
              <a:srgbClr val="CF924C"/>
            </a:solidFill>
            <a:ln w="31750">
              <a:solidFill>
                <a:srgbClr val="CF924C"/>
              </a:solidFill>
              <a:miter lim="800000"/>
              <a:headEnd/>
              <a:tailEnd/>
            </a:ln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910" name="Freeform 413">
              <a:extLst>
                <a:ext uri="{FF2B5EF4-FFF2-40B4-BE49-F238E27FC236}">
                  <a16:creationId xmlns:a16="http://schemas.microsoft.com/office/drawing/2014/main" id="{C6A8778D-7A79-4EF5-95C5-7BE4047A17F6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" y="2844"/>
              <a:ext cx="124" cy="28"/>
            </a:xfrm>
            <a:custGeom>
              <a:avLst/>
              <a:gdLst>
                <a:gd name="T0" fmla="*/ 14 w 124"/>
                <a:gd name="T1" fmla="*/ 0 h 28"/>
                <a:gd name="T2" fmla="*/ 0 w 124"/>
                <a:gd name="T3" fmla="*/ 28 h 28"/>
                <a:gd name="T4" fmla="*/ 124 w 124"/>
                <a:gd name="T5" fmla="*/ 28 h 28"/>
                <a:gd name="T6" fmla="*/ 124 w 124"/>
                <a:gd name="T7" fmla="*/ 0 h 28"/>
                <a:gd name="T8" fmla="*/ 14 w 124"/>
                <a:gd name="T9" fmla="*/ 0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4"/>
                <a:gd name="T16" fmla="*/ 0 h 28"/>
                <a:gd name="T17" fmla="*/ 124 w 124"/>
                <a:gd name="T18" fmla="*/ 28 h 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4" h="28">
                  <a:moveTo>
                    <a:pt x="14" y="0"/>
                  </a:moveTo>
                  <a:lnTo>
                    <a:pt x="0" y="28"/>
                  </a:lnTo>
                  <a:lnTo>
                    <a:pt x="124" y="28"/>
                  </a:lnTo>
                  <a:lnTo>
                    <a:pt x="124" y="0"/>
                  </a:lnTo>
                  <a:lnTo>
                    <a:pt x="14" y="0"/>
                  </a:lnTo>
                  <a:close/>
                </a:path>
              </a:pathLst>
            </a:custGeom>
            <a:noFill/>
            <a:ln w="31750">
              <a:solidFill>
                <a:srgbClr val="D9AA7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911" name="Line 414">
              <a:extLst>
                <a:ext uri="{FF2B5EF4-FFF2-40B4-BE49-F238E27FC236}">
                  <a16:creationId xmlns:a16="http://schemas.microsoft.com/office/drawing/2014/main" id="{2F0777AE-524D-413A-BA9B-673767A783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3" y="2858"/>
              <a:ext cx="14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912" name="Line 415">
              <a:extLst>
                <a:ext uri="{FF2B5EF4-FFF2-40B4-BE49-F238E27FC236}">
                  <a16:creationId xmlns:a16="http://schemas.microsoft.com/office/drawing/2014/main" id="{359173ED-9E8F-4CC6-836C-83ED5D804F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37" y="2844"/>
              <a:ext cx="83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913" name="Line 416">
              <a:extLst>
                <a:ext uri="{FF2B5EF4-FFF2-40B4-BE49-F238E27FC236}">
                  <a16:creationId xmlns:a16="http://schemas.microsoft.com/office/drawing/2014/main" id="{114DF356-276D-4230-B351-76BE26C807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3" y="2858"/>
              <a:ext cx="69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914" name="Line 417">
              <a:extLst>
                <a:ext uri="{FF2B5EF4-FFF2-40B4-BE49-F238E27FC236}">
                  <a16:creationId xmlns:a16="http://schemas.microsoft.com/office/drawing/2014/main" id="{BF70D513-879C-405F-BCF8-0E0165769D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51" y="2858"/>
              <a:ext cx="55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915" name="Freeform 418">
              <a:extLst>
                <a:ext uri="{FF2B5EF4-FFF2-40B4-BE49-F238E27FC236}">
                  <a16:creationId xmlns:a16="http://schemas.microsoft.com/office/drawing/2014/main" id="{5128ABB7-CE20-4CEA-8E17-805DFB00BA7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92" y="2858"/>
              <a:ext cx="41" cy="1"/>
            </a:xfrm>
            <a:custGeom>
              <a:avLst/>
              <a:gdLst>
                <a:gd name="T0" fmla="*/ 0 w 41"/>
                <a:gd name="T1" fmla="*/ 0 h 1"/>
                <a:gd name="T2" fmla="*/ 28 w 41"/>
                <a:gd name="T3" fmla="*/ 0 h 1"/>
                <a:gd name="T4" fmla="*/ 41 w 41"/>
                <a:gd name="T5" fmla="*/ 0 h 1"/>
                <a:gd name="T6" fmla="*/ 0 60000 65536"/>
                <a:gd name="T7" fmla="*/ 0 60000 65536"/>
                <a:gd name="T8" fmla="*/ 0 60000 65536"/>
                <a:gd name="T9" fmla="*/ 0 w 41"/>
                <a:gd name="T10" fmla="*/ 0 h 1"/>
                <a:gd name="T11" fmla="*/ 41 w 4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" h="1">
                  <a:moveTo>
                    <a:pt x="0" y="0"/>
                  </a:moveTo>
                  <a:lnTo>
                    <a:pt x="28" y="0"/>
                  </a:lnTo>
                  <a:lnTo>
                    <a:pt x="41" y="0"/>
                  </a:lnTo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916" name="Rectangle 419">
              <a:extLst>
                <a:ext uri="{FF2B5EF4-FFF2-40B4-BE49-F238E27FC236}">
                  <a16:creationId xmlns:a16="http://schemas.microsoft.com/office/drawing/2014/main" id="{DA80CB43-57EF-4144-B232-C56AD15C43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4" y="2748"/>
              <a:ext cx="28" cy="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917" name="Rectangle 420">
              <a:extLst>
                <a:ext uri="{FF2B5EF4-FFF2-40B4-BE49-F238E27FC236}">
                  <a16:creationId xmlns:a16="http://schemas.microsoft.com/office/drawing/2014/main" id="{0720F4B8-1E23-47F6-A412-4A017402EB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4" y="2748"/>
              <a:ext cx="42" cy="55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918" name="Freeform 421">
              <a:extLst>
                <a:ext uri="{FF2B5EF4-FFF2-40B4-BE49-F238E27FC236}">
                  <a16:creationId xmlns:a16="http://schemas.microsoft.com/office/drawing/2014/main" id="{73601669-733A-4E25-913D-704009662D1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99" y="2830"/>
              <a:ext cx="41" cy="69"/>
            </a:xfrm>
            <a:custGeom>
              <a:avLst/>
              <a:gdLst>
                <a:gd name="T0" fmla="*/ 0 w 41"/>
                <a:gd name="T1" fmla="*/ 0 h 69"/>
                <a:gd name="T2" fmla="*/ 41 w 41"/>
                <a:gd name="T3" fmla="*/ 14 h 69"/>
                <a:gd name="T4" fmla="*/ 41 w 41"/>
                <a:gd name="T5" fmla="*/ 69 h 69"/>
                <a:gd name="T6" fmla="*/ 0 60000 65536"/>
                <a:gd name="T7" fmla="*/ 0 60000 65536"/>
                <a:gd name="T8" fmla="*/ 0 60000 65536"/>
                <a:gd name="T9" fmla="*/ 0 w 41"/>
                <a:gd name="T10" fmla="*/ 0 h 69"/>
                <a:gd name="T11" fmla="*/ 41 w 41"/>
                <a:gd name="T12" fmla="*/ 69 h 6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" h="69">
                  <a:moveTo>
                    <a:pt x="0" y="0"/>
                  </a:moveTo>
                  <a:lnTo>
                    <a:pt x="41" y="14"/>
                  </a:lnTo>
                  <a:lnTo>
                    <a:pt x="41" y="69"/>
                  </a:lnTo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919" name="AutoShape 422">
              <a:extLst>
                <a:ext uri="{FF2B5EF4-FFF2-40B4-BE49-F238E27FC236}">
                  <a16:creationId xmlns:a16="http://schemas.microsoft.com/office/drawing/2014/main" id="{25C31C4F-8EA5-495A-A4FB-2C6B834338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9" y="2748"/>
              <a:ext cx="124" cy="69"/>
            </a:xfrm>
            <a:prstGeom prst="roundRect">
              <a:avLst>
                <a:gd name="adj" fmla="val 50000"/>
              </a:avLst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920" name="AutoShape 423">
              <a:extLst>
                <a:ext uri="{FF2B5EF4-FFF2-40B4-BE49-F238E27FC236}">
                  <a16:creationId xmlns:a16="http://schemas.microsoft.com/office/drawing/2014/main" id="{AA949DA3-4B7B-428F-93D9-2C3C1BE796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5" y="2734"/>
              <a:ext cx="152" cy="96"/>
            </a:xfrm>
            <a:prstGeom prst="roundRect">
              <a:avLst>
                <a:gd name="adj" fmla="val 39065"/>
              </a:avLst>
            </a:prstGeom>
            <a:noFill/>
            <a:ln w="53975">
              <a:solidFill>
                <a:srgbClr val="CF924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921" name="Rectangle 424">
              <a:extLst>
                <a:ext uri="{FF2B5EF4-FFF2-40B4-BE49-F238E27FC236}">
                  <a16:creationId xmlns:a16="http://schemas.microsoft.com/office/drawing/2014/main" id="{C3831081-3E2F-49BB-9C32-8DCCEF443E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6" y="2761"/>
              <a:ext cx="83" cy="4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922" name="Rectangle 425">
              <a:extLst>
                <a:ext uri="{FF2B5EF4-FFF2-40B4-BE49-F238E27FC236}">
                  <a16:creationId xmlns:a16="http://schemas.microsoft.com/office/drawing/2014/main" id="{0D0C9C33-8C2C-402F-92DB-25CC2EBC2C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6" y="2761"/>
              <a:ext cx="97" cy="56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923" name="Freeform 426">
              <a:extLst>
                <a:ext uri="{FF2B5EF4-FFF2-40B4-BE49-F238E27FC236}">
                  <a16:creationId xmlns:a16="http://schemas.microsoft.com/office/drawing/2014/main" id="{A3D00B96-2F59-4277-B555-BE0DF5BE528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7" y="2886"/>
              <a:ext cx="27" cy="41"/>
            </a:xfrm>
            <a:custGeom>
              <a:avLst/>
              <a:gdLst>
                <a:gd name="T0" fmla="*/ 13 w 27"/>
                <a:gd name="T1" fmla="*/ 0 h 41"/>
                <a:gd name="T2" fmla="*/ 13 w 27"/>
                <a:gd name="T3" fmla="*/ 0 h 41"/>
                <a:gd name="T4" fmla="*/ 27 w 27"/>
                <a:gd name="T5" fmla="*/ 13 h 41"/>
                <a:gd name="T6" fmla="*/ 27 w 27"/>
                <a:gd name="T7" fmla="*/ 27 h 41"/>
                <a:gd name="T8" fmla="*/ 13 w 27"/>
                <a:gd name="T9" fmla="*/ 41 h 41"/>
                <a:gd name="T10" fmla="*/ 13 w 27"/>
                <a:gd name="T11" fmla="*/ 41 h 41"/>
                <a:gd name="T12" fmla="*/ 0 w 27"/>
                <a:gd name="T13" fmla="*/ 27 h 41"/>
                <a:gd name="T14" fmla="*/ 0 w 27"/>
                <a:gd name="T15" fmla="*/ 13 h 41"/>
                <a:gd name="T16" fmla="*/ 0 w 27"/>
                <a:gd name="T17" fmla="*/ 0 h 41"/>
                <a:gd name="T18" fmla="*/ 13 w 27"/>
                <a:gd name="T19" fmla="*/ 0 h 4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7"/>
                <a:gd name="T31" fmla="*/ 0 h 41"/>
                <a:gd name="T32" fmla="*/ 27 w 27"/>
                <a:gd name="T33" fmla="*/ 41 h 41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7" h="41">
                  <a:moveTo>
                    <a:pt x="13" y="0"/>
                  </a:moveTo>
                  <a:lnTo>
                    <a:pt x="13" y="0"/>
                  </a:lnTo>
                  <a:lnTo>
                    <a:pt x="27" y="13"/>
                  </a:lnTo>
                  <a:lnTo>
                    <a:pt x="27" y="27"/>
                  </a:lnTo>
                  <a:lnTo>
                    <a:pt x="13" y="41"/>
                  </a:lnTo>
                  <a:lnTo>
                    <a:pt x="0" y="27"/>
                  </a:lnTo>
                  <a:lnTo>
                    <a:pt x="0" y="13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CF924C"/>
            </a:solidFill>
            <a:ln w="31750">
              <a:solidFill>
                <a:srgbClr val="CF924C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9924" name="Picture 427">
              <a:extLst>
                <a:ext uri="{FF2B5EF4-FFF2-40B4-BE49-F238E27FC236}">
                  <a16:creationId xmlns:a16="http://schemas.microsoft.com/office/drawing/2014/main" id="{EB50ED3F-BC68-4CC9-B1BE-D0C81931BE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16" y="2761"/>
              <a:ext cx="69" cy="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925" name="Line 428">
              <a:extLst>
                <a:ext uri="{FF2B5EF4-FFF2-40B4-BE49-F238E27FC236}">
                  <a16:creationId xmlns:a16="http://schemas.microsoft.com/office/drawing/2014/main" id="{E73529E4-B1BF-49F5-9CC7-4BD2426F95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27" y="2899"/>
              <a:ext cx="1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926" name="Freeform 429">
              <a:extLst>
                <a:ext uri="{FF2B5EF4-FFF2-40B4-BE49-F238E27FC236}">
                  <a16:creationId xmlns:a16="http://schemas.microsoft.com/office/drawing/2014/main" id="{032CF32B-CA41-414A-A5BD-7437554C5D5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40" y="2899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60000 65536"/>
                <a:gd name="T7" fmla="*/ 0 60000 65536"/>
                <a:gd name="T8" fmla="*/ 0 60000 65536"/>
                <a:gd name="T9" fmla="*/ 0 w 1"/>
                <a:gd name="T10" fmla="*/ 0 h 1"/>
                <a:gd name="T11" fmla="*/ 1 w 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927" name="Rectangle 430">
              <a:extLst>
                <a:ext uri="{FF2B5EF4-FFF2-40B4-BE49-F238E27FC236}">
                  <a16:creationId xmlns:a16="http://schemas.microsoft.com/office/drawing/2014/main" id="{452B91EE-E395-4BA6-A083-4B156AAC16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2" y="2817"/>
              <a:ext cx="97" cy="27"/>
            </a:xfrm>
            <a:prstGeom prst="rect">
              <a:avLst/>
            </a:prstGeom>
            <a:solidFill>
              <a:srgbClr val="CF924C"/>
            </a:solidFill>
            <a:ln w="31750">
              <a:solidFill>
                <a:srgbClr val="CF924C"/>
              </a:solidFill>
              <a:miter lim="800000"/>
              <a:headEnd/>
              <a:tailEnd/>
            </a:ln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928" name="Freeform 431">
              <a:extLst>
                <a:ext uri="{FF2B5EF4-FFF2-40B4-BE49-F238E27FC236}">
                  <a16:creationId xmlns:a16="http://schemas.microsoft.com/office/drawing/2014/main" id="{E5510BE3-2D95-4E04-99F5-48BDBDD59E95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9" y="2844"/>
              <a:ext cx="124" cy="28"/>
            </a:xfrm>
            <a:custGeom>
              <a:avLst/>
              <a:gdLst>
                <a:gd name="T0" fmla="*/ 13 w 124"/>
                <a:gd name="T1" fmla="*/ 0 h 28"/>
                <a:gd name="T2" fmla="*/ 0 w 124"/>
                <a:gd name="T3" fmla="*/ 28 h 28"/>
                <a:gd name="T4" fmla="*/ 124 w 124"/>
                <a:gd name="T5" fmla="*/ 28 h 28"/>
                <a:gd name="T6" fmla="*/ 124 w 124"/>
                <a:gd name="T7" fmla="*/ 0 h 28"/>
                <a:gd name="T8" fmla="*/ 13 w 124"/>
                <a:gd name="T9" fmla="*/ 0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4"/>
                <a:gd name="T16" fmla="*/ 0 h 28"/>
                <a:gd name="T17" fmla="*/ 124 w 124"/>
                <a:gd name="T18" fmla="*/ 28 h 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4" h="28">
                  <a:moveTo>
                    <a:pt x="13" y="0"/>
                  </a:moveTo>
                  <a:lnTo>
                    <a:pt x="0" y="28"/>
                  </a:lnTo>
                  <a:lnTo>
                    <a:pt x="124" y="28"/>
                  </a:lnTo>
                  <a:lnTo>
                    <a:pt x="124" y="0"/>
                  </a:lnTo>
                  <a:lnTo>
                    <a:pt x="13" y="0"/>
                  </a:lnTo>
                  <a:close/>
                </a:path>
              </a:pathLst>
            </a:custGeom>
            <a:noFill/>
            <a:ln w="31750">
              <a:solidFill>
                <a:srgbClr val="D9AA7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929" name="Line 432">
              <a:extLst>
                <a:ext uri="{FF2B5EF4-FFF2-40B4-BE49-F238E27FC236}">
                  <a16:creationId xmlns:a16="http://schemas.microsoft.com/office/drawing/2014/main" id="{BE0939AF-4A09-49B6-B7FC-1FC5DB9FAE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02" y="2858"/>
              <a:ext cx="14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930" name="Line 433">
              <a:extLst>
                <a:ext uri="{FF2B5EF4-FFF2-40B4-BE49-F238E27FC236}">
                  <a16:creationId xmlns:a16="http://schemas.microsoft.com/office/drawing/2014/main" id="{D8F19F08-102D-4E93-B3CC-068FE25FAE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16" y="2844"/>
              <a:ext cx="83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931" name="Line 434">
              <a:extLst>
                <a:ext uri="{FF2B5EF4-FFF2-40B4-BE49-F238E27FC236}">
                  <a16:creationId xmlns:a16="http://schemas.microsoft.com/office/drawing/2014/main" id="{8030AC0A-688F-4933-988A-A40D1352AE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02" y="2858"/>
              <a:ext cx="69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932" name="Line 435">
              <a:extLst>
                <a:ext uri="{FF2B5EF4-FFF2-40B4-BE49-F238E27FC236}">
                  <a16:creationId xmlns:a16="http://schemas.microsoft.com/office/drawing/2014/main" id="{C3D475D1-55BE-4D0E-ABB8-AFDAB3EEE0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30" y="2858"/>
              <a:ext cx="55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933" name="Freeform 436">
              <a:extLst>
                <a:ext uri="{FF2B5EF4-FFF2-40B4-BE49-F238E27FC236}">
                  <a16:creationId xmlns:a16="http://schemas.microsoft.com/office/drawing/2014/main" id="{F2E85642-619D-40FB-AFEC-9EF2CDA260A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1" y="2858"/>
              <a:ext cx="42" cy="1"/>
            </a:xfrm>
            <a:custGeom>
              <a:avLst/>
              <a:gdLst>
                <a:gd name="T0" fmla="*/ 0 w 42"/>
                <a:gd name="T1" fmla="*/ 0 h 1"/>
                <a:gd name="T2" fmla="*/ 28 w 42"/>
                <a:gd name="T3" fmla="*/ 0 h 1"/>
                <a:gd name="T4" fmla="*/ 42 w 42"/>
                <a:gd name="T5" fmla="*/ 0 h 1"/>
                <a:gd name="T6" fmla="*/ 0 60000 65536"/>
                <a:gd name="T7" fmla="*/ 0 60000 65536"/>
                <a:gd name="T8" fmla="*/ 0 60000 65536"/>
                <a:gd name="T9" fmla="*/ 0 w 42"/>
                <a:gd name="T10" fmla="*/ 0 h 1"/>
                <a:gd name="T11" fmla="*/ 42 w 42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2" h="1">
                  <a:moveTo>
                    <a:pt x="0" y="0"/>
                  </a:moveTo>
                  <a:lnTo>
                    <a:pt x="28" y="0"/>
                  </a:lnTo>
                  <a:lnTo>
                    <a:pt x="42" y="0"/>
                  </a:lnTo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934" name="Rectangle 437">
              <a:extLst>
                <a:ext uri="{FF2B5EF4-FFF2-40B4-BE49-F238E27FC236}">
                  <a16:creationId xmlns:a16="http://schemas.microsoft.com/office/drawing/2014/main" id="{4C275582-8B97-407E-A405-CCA567F128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4" y="2748"/>
              <a:ext cx="27" cy="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935" name="Rectangle 438">
              <a:extLst>
                <a:ext uri="{FF2B5EF4-FFF2-40B4-BE49-F238E27FC236}">
                  <a16:creationId xmlns:a16="http://schemas.microsoft.com/office/drawing/2014/main" id="{DEA13352-EA56-4FB5-865B-F2C6D68817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4" y="2748"/>
              <a:ext cx="41" cy="55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936" name="Freeform 439">
              <a:extLst>
                <a:ext uri="{FF2B5EF4-FFF2-40B4-BE49-F238E27FC236}">
                  <a16:creationId xmlns:a16="http://schemas.microsoft.com/office/drawing/2014/main" id="{27DF083C-FF03-4452-9ED4-A6656218D3C0}"/>
                </a:ext>
              </a:extLst>
            </p:cNvPr>
            <p:cNvSpPr>
              <a:spLocks/>
            </p:cNvSpPr>
            <p:nvPr/>
          </p:nvSpPr>
          <p:spPr bwMode="auto">
            <a:xfrm>
              <a:off x="5478" y="2830"/>
              <a:ext cx="42" cy="69"/>
            </a:xfrm>
            <a:custGeom>
              <a:avLst/>
              <a:gdLst>
                <a:gd name="T0" fmla="*/ 0 w 42"/>
                <a:gd name="T1" fmla="*/ 0 h 69"/>
                <a:gd name="T2" fmla="*/ 42 w 42"/>
                <a:gd name="T3" fmla="*/ 14 h 69"/>
                <a:gd name="T4" fmla="*/ 42 w 42"/>
                <a:gd name="T5" fmla="*/ 69 h 69"/>
                <a:gd name="T6" fmla="*/ 0 60000 65536"/>
                <a:gd name="T7" fmla="*/ 0 60000 65536"/>
                <a:gd name="T8" fmla="*/ 0 60000 65536"/>
                <a:gd name="T9" fmla="*/ 0 w 42"/>
                <a:gd name="T10" fmla="*/ 0 h 69"/>
                <a:gd name="T11" fmla="*/ 42 w 42"/>
                <a:gd name="T12" fmla="*/ 69 h 6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2" h="69">
                  <a:moveTo>
                    <a:pt x="0" y="0"/>
                  </a:moveTo>
                  <a:lnTo>
                    <a:pt x="42" y="14"/>
                  </a:lnTo>
                  <a:lnTo>
                    <a:pt x="42" y="69"/>
                  </a:lnTo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937" name="AutoShape 440">
              <a:extLst>
                <a:ext uri="{FF2B5EF4-FFF2-40B4-BE49-F238E27FC236}">
                  <a16:creationId xmlns:a16="http://schemas.microsoft.com/office/drawing/2014/main" id="{F15D9538-6F56-436B-80F6-9BCAB9F07B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8" y="2748"/>
              <a:ext cx="124" cy="69"/>
            </a:xfrm>
            <a:prstGeom prst="roundRect">
              <a:avLst>
                <a:gd name="adj" fmla="val 50000"/>
              </a:avLst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938" name="AutoShape 441">
              <a:extLst>
                <a:ext uri="{FF2B5EF4-FFF2-40B4-BE49-F238E27FC236}">
                  <a16:creationId xmlns:a16="http://schemas.microsoft.com/office/drawing/2014/main" id="{7772CF67-5BC3-4B2C-9261-79E5E48140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4" y="2734"/>
              <a:ext cx="152" cy="96"/>
            </a:xfrm>
            <a:prstGeom prst="roundRect">
              <a:avLst>
                <a:gd name="adj" fmla="val 39065"/>
              </a:avLst>
            </a:prstGeom>
            <a:noFill/>
            <a:ln w="53975">
              <a:solidFill>
                <a:srgbClr val="CF924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939" name="Rectangle 442">
              <a:extLst>
                <a:ext uri="{FF2B5EF4-FFF2-40B4-BE49-F238E27FC236}">
                  <a16:creationId xmlns:a16="http://schemas.microsoft.com/office/drawing/2014/main" id="{09E4A1E3-A767-4EC9-8C1B-F442B8D334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6" y="2761"/>
              <a:ext cx="82" cy="4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940" name="Rectangle 443">
              <a:extLst>
                <a:ext uri="{FF2B5EF4-FFF2-40B4-BE49-F238E27FC236}">
                  <a16:creationId xmlns:a16="http://schemas.microsoft.com/office/drawing/2014/main" id="{CB70818A-5A4B-4338-B34D-75248E04F5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6" y="2761"/>
              <a:ext cx="96" cy="56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941" name="Freeform 444">
              <a:extLst>
                <a:ext uri="{FF2B5EF4-FFF2-40B4-BE49-F238E27FC236}">
                  <a16:creationId xmlns:a16="http://schemas.microsoft.com/office/drawing/2014/main" id="{261B4328-6E38-4014-BDC4-A5FC44F70B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506" y="2886"/>
              <a:ext cx="28" cy="41"/>
            </a:xfrm>
            <a:custGeom>
              <a:avLst/>
              <a:gdLst>
                <a:gd name="T0" fmla="*/ 14 w 28"/>
                <a:gd name="T1" fmla="*/ 0 h 41"/>
                <a:gd name="T2" fmla="*/ 14 w 28"/>
                <a:gd name="T3" fmla="*/ 0 h 41"/>
                <a:gd name="T4" fmla="*/ 28 w 28"/>
                <a:gd name="T5" fmla="*/ 13 h 41"/>
                <a:gd name="T6" fmla="*/ 28 w 28"/>
                <a:gd name="T7" fmla="*/ 27 h 41"/>
                <a:gd name="T8" fmla="*/ 14 w 28"/>
                <a:gd name="T9" fmla="*/ 41 h 41"/>
                <a:gd name="T10" fmla="*/ 14 w 28"/>
                <a:gd name="T11" fmla="*/ 41 h 41"/>
                <a:gd name="T12" fmla="*/ 0 w 28"/>
                <a:gd name="T13" fmla="*/ 27 h 41"/>
                <a:gd name="T14" fmla="*/ 0 w 28"/>
                <a:gd name="T15" fmla="*/ 13 h 41"/>
                <a:gd name="T16" fmla="*/ 0 w 28"/>
                <a:gd name="T17" fmla="*/ 0 h 41"/>
                <a:gd name="T18" fmla="*/ 14 w 28"/>
                <a:gd name="T19" fmla="*/ 0 h 4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8"/>
                <a:gd name="T31" fmla="*/ 0 h 41"/>
                <a:gd name="T32" fmla="*/ 28 w 28"/>
                <a:gd name="T33" fmla="*/ 41 h 41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8" h="41">
                  <a:moveTo>
                    <a:pt x="14" y="0"/>
                  </a:moveTo>
                  <a:lnTo>
                    <a:pt x="14" y="0"/>
                  </a:lnTo>
                  <a:lnTo>
                    <a:pt x="28" y="13"/>
                  </a:lnTo>
                  <a:lnTo>
                    <a:pt x="28" y="27"/>
                  </a:lnTo>
                  <a:lnTo>
                    <a:pt x="14" y="41"/>
                  </a:lnTo>
                  <a:lnTo>
                    <a:pt x="0" y="27"/>
                  </a:lnTo>
                  <a:lnTo>
                    <a:pt x="0" y="13"/>
                  </a:lnTo>
                  <a:lnTo>
                    <a:pt x="0" y="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CF924C"/>
            </a:solidFill>
            <a:ln w="31750">
              <a:solidFill>
                <a:srgbClr val="CF924C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9942" name="Picture 445">
              <a:extLst>
                <a:ext uri="{FF2B5EF4-FFF2-40B4-BE49-F238E27FC236}">
                  <a16:creationId xmlns:a16="http://schemas.microsoft.com/office/drawing/2014/main" id="{BE886075-734D-4FDB-9012-CA7C5DC453F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96" y="2761"/>
              <a:ext cx="69" cy="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943" name="Line 446">
              <a:extLst>
                <a:ext uri="{FF2B5EF4-FFF2-40B4-BE49-F238E27FC236}">
                  <a16:creationId xmlns:a16="http://schemas.microsoft.com/office/drawing/2014/main" id="{30D865FF-6075-4632-B7DE-E357EF6C43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06" y="2899"/>
              <a:ext cx="1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944" name="Freeform 447">
              <a:extLst>
                <a:ext uri="{FF2B5EF4-FFF2-40B4-BE49-F238E27FC236}">
                  <a16:creationId xmlns:a16="http://schemas.microsoft.com/office/drawing/2014/main" id="{28A4CB90-16B0-4A1A-9003-D743C0ADB3B9}"/>
                </a:ext>
              </a:extLst>
            </p:cNvPr>
            <p:cNvSpPr>
              <a:spLocks/>
            </p:cNvSpPr>
            <p:nvPr/>
          </p:nvSpPr>
          <p:spPr bwMode="auto">
            <a:xfrm>
              <a:off x="5520" y="2899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60000 65536"/>
                <a:gd name="T7" fmla="*/ 0 60000 65536"/>
                <a:gd name="T8" fmla="*/ 0 60000 65536"/>
                <a:gd name="T9" fmla="*/ 0 w 1"/>
                <a:gd name="T10" fmla="*/ 0 h 1"/>
                <a:gd name="T11" fmla="*/ 1 w 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945" name="Rectangle 448">
              <a:extLst>
                <a:ext uri="{FF2B5EF4-FFF2-40B4-BE49-F238E27FC236}">
                  <a16:creationId xmlns:a16="http://schemas.microsoft.com/office/drawing/2014/main" id="{EEBC1B73-2225-4478-BD79-241117D9A4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2" y="2817"/>
              <a:ext cx="96" cy="27"/>
            </a:xfrm>
            <a:prstGeom prst="rect">
              <a:avLst/>
            </a:prstGeom>
            <a:solidFill>
              <a:srgbClr val="CF924C"/>
            </a:solidFill>
            <a:ln w="31750">
              <a:solidFill>
                <a:srgbClr val="CF924C"/>
              </a:solidFill>
              <a:miter lim="800000"/>
              <a:headEnd/>
              <a:tailEnd/>
            </a:ln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946" name="Freeform 449">
              <a:extLst>
                <a:ext uri="{FF2B5EF4-FFF2-40B4-BE49-F238E27FC236}">
                  <a16:creationId xmlns:a16="http://schemas.microsoft.com/office/drawing/2014/main" id="{92F6F7D3-B5D4-4B6B-A91F-C7E758B664C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68" y="2844"/>
              <a:ext cx="124" cy="28"/>
            </a:xfrm>
            <a:custGeom>
              <a:avLst/>
              <a:gdLst>
                <a:gd name="T0" fmla="*/ 14 w 124"/>
                <a:gd name="T1" fmla="*/ 0 h 28"/>
                <a:gd name="T2" fmla="*/ 0 w 124"/>
                <a:gd name="T3" fmla="*/ 28 h 28"/>
                <a:gd name="T4" fmla="*/ 124 w 124"/>
                <a:gd name="T5" fmla="*/ 28 h 28"/>
                <a:gd name="T6" fmla="*/ 124 w 124"/>
                <a:gd name="T7" fmla="*/ 0 h 28"/>
                <a:gd name="T8" fmla="*/ 14 w 124"/>
                <a:gd name="T9" fmla="*/ 0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4"/>
                <a:gd name="T16" fmla="*/ 0 h 28"/>
                <a:gd name="T17" fmla="*/ 124 w 124"/>
                <a:gd name="T18" fmla="*/ 28 h 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4" h="28">
                  <a:moveTo>
                    <a:pt x="14" y="0"/>
                  </a:moveTo>
                  <a:lnTo>
                    <a:pt x="0" y="28"/>
                  </a:lnTo>
                  <a:lnTo>
                    <a:pt x="124" y="28"/>
                  </a:lnTo>
                  <a:lnTo>
                    <a:pt x="124" y="0"/>
                  </a:lnTo>
                  <a:lnTo>
                    <a:pt x="14" y="0"/>
                  </a:lnTo>
                  <a:close/>
                </a:path>
              </a:pathLst>
            </a:custGeom>
            <a:noFill/>
            <a:ln w="31750">
              <a:solidFill>
                <a:srgbClr val="D9AA7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947" name="Line 450">
              <a:extLst>
                <a:ext uri="{FF2B5EF4-FFF2-40B4-BE49-F238E27FC236}">
                  <a16:creationId xmlns:a16="http://schemas.microsoft.com/office/drawing/2014/main" id="{EB336D57-FE35-45C1-AB62-A452F0F9A5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82" y="2858"/>
              <a:ext cx="14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948" name="Line 451">
              <a:extLst>
                <a:ext uri="{FF2B5EF4-FFF2-40B4-BE49-F238E27FC236}">
                  <a16:creationId xmlns:a16="http://schemas.microsoft.com/office/drawing/2014/main" id="{59C76432-D237-406F-8DD2-43588872E3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96" y="2844"/>
              <a:ext cx="82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949" name="Line 452">
              <a:extLst>
                <a:ext uri="{FF2B5EF4-FFF2-40B4-BE49-F238E27FC236}">
                  <a16:creationId xmlns:a16="http://schemas.microsoft.com/office/drawing/2014/main" id="{A8FDD88F-95CC-4A7C-A926-DA1F503365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82" y="2858"/>
              <a:ext cx="69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950" name="Line 453">
              <a:extLst>
                <a:ext uri="{FF2B5EF4-FFF2-40B4-BE49-F238E27FC236}">
                  <a16:creationId xmlns:a16="http://schemas.microsoft.com/office/drawing/2014/main" id="{BB54E4F7-ADFA-4399-8E04-41E0A3A890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09" y="2858"/>
              <a:ext cx="56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951" name="Freeform 454">
              <a:extLst>
                <a:ext uri="{FF2B5EF4-FFF2-40B4-BE49-F238E27FC236}">
                  <a16:creationId xmlns:a16="http://schemas.microsoft.com/office/drawing/2014/main" id="{EB26F266-8F4D-4C6F-9D4C-7251B0B83138}"/>
                </a:ext>
              </a:extLst>
            </p:cNvPr>
            <p:cNvSpPr>
              <a:spLocks/>
            </p:cNvSpPr>
            <p:nvPr/>
          </p:nvSpPr>
          <p:spPr bwMode="auto">
            <a:xfrm>
              <a:off x="5451" y="2858"/>
              <a:ext cx="41" cy="1"/>
            </a:xfrm>
            <a:custGeom>
              <a:avLst/>
              <a:gdLst>
                <a:gd name="T0" fmla="*/ 0 w 41"/>
                <a:gd name="T1" fmla="*/ 0 h 1"/>
                <a:gd name="T2" fmla="*/ 27 w 41"/>
                <a:gd name="T3" fmla="*/ 0 h 1"/>
                <a:gd name="T4" fmla="*/ 41 w 41"/>
                <a:gd name="T5" fmla="*/ 0 h 1"/>
                <a:gd name="T6" fmla="*/ 0 60000 65536"/>
                <a:gd name="T7" fmla="*/ 0 60000 65536"/>
                <a:gd name="T8" fmla="*/ 0 60000 65536"/>
                <a:gd name="T9" fmla="*/ 0 w 41"/>
                <a:gd name="T10" fmla="*/ 0 h 1"/>
                <a:gd name="T11" fmla="*/ 41 w 4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" h="1">
                  <a:moveTo>
                    <a:pt x="0" y="0"/>
                  </a:moveTo>
                  <a:lnTo>
                    <a:pt x="27" y="0"/>
                  </a:lnTo>
                  <a:lnTo>
                    <a:pt x="41" y="0"/>
                  </a:lnTo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952" name="Rectangle 455">
              <a:extLst>
                <a:ext uri="{FF2B5EF4-FFF2-40B4-BE49-F238E27FC236}">
                  <a16:creationId xmlns:a16="http://schemas.microsoft.com/office/drawing/2014/main" id="{D57FA553-0E04-47CB-8264-B0368A4AC0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3" y="2748"/>
              <a:ext cx="28" cy="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953" name="Rectangle 456">
              <a:extLst>
                <a:ext uri="{FF2B5EF4-FFF2-40B4-BE49-F238E27FC236}">
                  <a16:creationId xmlns:a16="http://schemas.microsoft.com/office/drawing/2014/main" id="{4DDDDAF3-7E91-464C-8B1F-D08E908D7F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3" y="2748"/>
              <a:ext cx="42" cy="55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954" name="Freeform 457">
              <a:extLst>
                <a:ext uri="{FF2B5EF4-FFF2-40B4-BE49-F238E27FC236}">
                  <a16:creationId xmlns:a16="http://schemas.microsoft.com/office/drawing/2014/main" id="{F0F6A77F-16F8-4652-9C8A-991B946A02F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9" y="1064"/>
              <a:ext cx="42" cy="69"/>
            </a:xfrm>
            <a:custGeom>
              <a:avLst/>
              <a:gdLst>
                <a:gd name="T0" fmla="*/ 0 w 42"/>
                <a:gd name="T1" fmla="*/ 0 h 69"/>
                <a:gd name="T2" fmla="*/ 42 w 42"/>
                <a:gd name="T3" fmla="*/ 14 h 69"/>
                <a:gd name="T4" fmla="*/ 42 w 42"/>
                <a:gd name="T5" fmla="*/ 69 h 69"/>
                <a:gd name="T6" fmla="*/ 0 60000 65536"/>
                <a:gd name="T7" fmla="*/ 0 60000 65536"/>
                <a:gd name="T8" fmla="*/ 0 60000 65536"/>
                <a:gd name="T9" fmla="*/ 0 w 42"/>
                <a:gd name="T10" fmla="*/ 0 h 69"/>
                <a:gd name="T11" fmla="*/ 42 w 42"/>
                <a:gd name="T12" fmla="*/ 69 h 6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2" h="69">
                  <a:moveTo>
                    <a:pt x="0" y="0"/>
                  </a:moveTo>
                  <a:lnTo>
                    <a:pt x="42" y="14"/>
                  </a:lnTo>
                  <a:lnTo>
                    <a:pt x="42" y="69"/>
                  </a:lnTo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955" name="AutoShape 458">
              <a:extLst>
                <a:ext uri="{FF2B5EF4-FFF2-40B4-BE49-F238E27FC236}">
                  <a16:creationId xmlns:a16="http://schemas.microsoft.com/office/drawing/2014/main" id="{83C74961-C784-4D22-B363-F560B3B635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981"/>
              <a:ext cx="124" cy="69"/>
            </a:xfrm>
            <a:prstGeom prst="roundRect">
              <a:avLst>
                <a:gd name="adj" fmla="val 50000"/>
              </a:avLst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956" name="AutoShape 459">
              <a:extLst>
                <a:ext uri="{FF2B5EF4-FFF2-40B4-BE49-F238E27FC236}">
                  <a16:creationId xmlns:a16="http://schemas.microsoft.com/office/drawing/2014/main" id="{DC140EFA-7753-4AC4-8F05-F848D20D13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5" y="968"/>
              <a:ext cx="152" cy="96"/>
            </a:xfrm>
            <a:prstGeom prst="roundRect">
              <a:avLst>
                <a:gd name="adj" fmla="val 39065"/>
              </a:avLst>
            </a:prstGeom>
            <a:noFill/>
            <a:ln w="53975">
              <a:solidFill>
                <a:srgbClr val="CF924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957" name="Rectangle 460">
              <a:extLst>
                <a:ext uri="{FF2B5EF4-FFF2-40B4-BE49-F238E27FC236}">
                  <a16:creationId xmlns:a16="http://schemas.microsoft.com/office/drawing/2014/main" id="{ED37E465-5019-40AB-A249-D9378A2BEA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7" y="995"/>
              <a:ext cx="82" cy="4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958" name="Rectangle 461">
              <a:extLst>
                <a:ext uri="{FF2B5EF4-FFF2-40B4-BE49-F238E27FC236}">
                  <a16:creationId xmlns:a16="http://schemas.microsoft.com/office/drawing/2014/main" id="{A366CC4F-FB4E-4E5F-828B-EC00B9C34F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7" y="995"/>
              <a:ext cx="96" cy="55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959" name="Freeform 462">
              <a:extLst>
                <a:ext uri="{FF2B5EF4-FFF2-40B4-BE49-F238E27FC236}">
                  <a16:creationId xmlns:a16="http://schemas.microsoft.com/office/drawing/2014/main" id="{BEFA8C8E-2E30-4A63-B923-22DF12DEC9D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7" y="1119"/>
              <a:ext cx="28" cy="42"/>
            </a:xfrm>
            <a:custGeom>
              <a:avLst/>
              <a:gdLst>
                <a:gd name="T0" fmla="*/ 14 w 28"/>
                <a:gd name="T1" fmla="*/ 0 h 42"/>
                <a:gd name="T2" fmla="*/ 14 w 28"/>
                <a:gd name="T3" fmla="*/ 0 h 42"/>
                <a:gd name="T4" fmla="*/ 28 w 28"/>
                <a:gd name="T5" fmla="*/ 14 h 42"/>
                <a:gd name="T6" fmla="*/ 28 w 28"/>
                <a:gd name="T7" fmla="*/ 28 h 42"/>
                <a:gd name="T8" fmla="*/ 14 w 28"/>
                <a:gd name="T9" fmla="*/ 42 h 42"/>
                <a:gd name="T10" fmla="*/ 14 w 28"/>
                <a:gd name="T11" fmla="*/ 42 h 42"/>
                <a:gd name="T12" fmla="*/ 0 w 28"/>
                <a:gd name="T13" fmla="*/ 28 h 42"/>
                <a:gd name="T14" fmla="*/ 0 w 28"/>
                <a:gd name="T15" fmla="*/ 14 h 42"/>
                <a:gd name="T16" fmla="*/ 0 w 28"/>
                <a:gd name="T17" fmla="*/ 0 h 42"/>
                <a:gd name="T18" fmla="*/ 14 w 28"/>
                <a:gd name="T19" fmla="*/ 0 h 4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8"/>
                <a:gd name="T31" fmla="*/ 0 h 42"/>
                <a:gd name="T32" fmla="*/ 28 w 28"/>
                <a:gd name="T33" fmla="*/ 42 h 42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8" h="42">
                  <a:moveTo>
                    <a:pt x="14" y="0"/>
                  </a:moveTo>
                  <a:lnTo>
                    <a:pt x="14" y="0"/>
                  </a:lnTo>
                  <a:lnTo>
                    <a:pt x="28" y="14"/>
                  </a:lnTo>
                  <a:lnTo>
                    <a:pt x="28" y="28"/>
                  </a:lnTo>
                  <a:lnTo>
                    <a:pt x="14" y="42"/>
                  </a:lnTo>
                  <a:lnTo>
                    <a:pt x="0" y="28"/>
                  </a:lnTo>
                  <a:lnTo>
                    <a:pt x="0" y="14"/>
                  </a:lnTo>
                  <a:lnTo>
                    <a:pt x="0" y="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CF924C"/>
            </a:solidFill>
            <a:ln w="31750">
              <a:solidFill>
                <a:srgbClr val="CF924C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9960" name="Picture 463">
              <a:extLst>
                <a:ext uri="{FF2B5EF4-FFF2-40B4-BE49-F238E27FC236}">
                  <a16:creationId xmlns:a16="http://schemas.microsoft.com/office/drawing/2014/main" id="{57C61C4F-63B8-440C-A309-37B6168D34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37" y="995"/>
              <a:ext cx="69" cy="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961" name="Line 464">
              <a:extLst>
                <a:ext uri="{FF2B5EF4-FFF2-40B4-BE49-F238E27FC236}">
                  <a16:creationId xmlns:a16="http://schemas.microsoft.com/office/drawing/2014/main" id="{8AE28B4C-EE67-4DB2-9B19-A185E64307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7" y="1133"/>
              <a:ext cx="1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962" name="Freeform 465">
              <a:extLst>
                <a:ext uri="{FF2B5EF4-FFF2-40B4-BE49-F238E27FC236}">
                  <a16:creationId xmlns:a16="http://schemas.microsoft.com/office/drawing/2014/main" id="{CB9DBC04-7DD3-4A2D-B6B2-C3922DD08EA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1" y="1133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60000 65536"/>
                <a:gd name="T7" fmla="*/ 0 60000 65536"/>
                <a:gd name="T8" fmla="*/ 0 60000 65536"/>
                <a:gd name="T9" fmla="*/ 0 w 1"/>
                <a:gd name="T10" fmla="*/ 0 h 1"/>
                <a:gd name="T11" fmla="*/ 1 w 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963" name="Rectangle 466">
              <a:extLst>
                <a:ext uri="{FF2B5EF4-FFF2-40B4-BE49-F238E27FC236}">
                  <a16:creationId xmlns:a16="http://schemas.microsoft.com/office/drawing/2014/main" id="{E5C74C29-9F6A-4864-B0B2-AE4065DA28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3" y="1050"/>
              <a:ext cx="96" cy="28"/>
            </a:xfrm>
            <a:prstGeom prst="rect">
              <a:avLst/>
            </a:prstGeom>
            <a:solidFill>
              <a:srgbClr val="CF924C"/>
            </a:solidFill>
            <a:ln w="31750">
              <a:solidFill>
                <a:srgbClr val="CF924C"/>
              </a:solidFill>
              <a:miter lim="800000"/>
              <a:headEnd/>
              <a:tailEnd/>
            </a:ln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964" name="Freeform 467">
              <a:extLst>
                <a:ext uri="{FF2B5EF4-FFF2-40B4-BE49-F238E27FC236}">
                  <a16:creationId xmlns:a16="http://schemas.microsoft.com/office/drawing/2014/main" id="{D83B3272-24BF-4962-8D91-20F1CC918E9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9" y="1078"/>
              <a:ext cx="124" cy="28"/>
            </a:xfrm>
            <a:custGeom>
              <a:avLst/>
              <a:gdLst>
                <a:gd name="T0" fmla="*/ 14 w 124"/>
                <a:gd name="T1" fmla="*/ 0 h 28"/>
                <a:gd name="T2" fmla="*/ 0 w 124"/>
                <a:gd name="T3" fmla="*/ 28 h 28"/>
                <a:gd name="T4" fmla="*/ 124 w 124"/>
                <a:gd name="T5" fmla="*/ 28 h 28"/>
                <a:gd name="T6" fmla="*/ 124 w 124"/>
                <a:gd name="T7" fmla="*/ 0 h 28"/>
                <a:gd name="T8" fmla="*/ 14 w 124"/>
                <a:gd name="T9" fmla="*/ 0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4"/>
                <a:gd name="T16" fmla="*/ 0 h 28"/>
                <a:gd name="T17" fmla="*/ 124 w 124"/>
                <a:gd name="T18" fmla="*/ 28 h 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4" h="28">
                  <a:moveTo>
                    <a:pt x="14" y="0"/>
                  </a:moveTo>
                  <a:lnTo>
                    <a:pt x="0" y="28"/>
                  </a:lnTo>
                  <a:lnTo>
                    <a:pt x="124" y="28"/>
                  </a:lnTo>
                  <a:lnTo>
                    <a:pt x="124" y="0"/>
                  </a:lnTo>
                  <a:lnTo>
                    <a:pt x="14" y="0"/>
                  </a:lnTo>
                  <a:close/>
                </a:path>
              </a:pathLst>
            </a:custGeom>
            <a:noFill/>
            <a:ln w="31750">
              <a:solidFill>
                <a:srgbClr val="D9AA7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965" name="Line 468">
              <a:extLst>
                <a:ext uri="{FF2B5EF4-FFF2-40B4-BE49-F238E27FC236}">
                  <a16:creationId xmlns:a16="http://schemas.microsoft.com/office/drawing/2014/main" id="{09A6A1AB-FE99-427E-97D7-EB08F72DDF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3" y="1092"/>
              <a:ext cx="14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966" name="Line 469">
              <a:extLst>
                <a:ext uri="{FF2B5EF4-FFF2-40B4-BE49-F238E27FC236}">
                  <a16:creationId xmlns:a16="http://schemas.microsoft.com/office/drawing/2014/main" id="{F8292330-C952-4930-858B-86318EEE72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37" y="1078"/>
              <a:ext cx="82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967" name="Line 470">
              <a:extLst>
                <a:ext uri="{FF2B5EF4-FFF2-40B4-BE49-F238E27FC236}">
                  <a16:creationId xmlns:a16="http://schemas.microsoft.com/office/drawing/2014/main" id="{94DF62E1-4B52-4533-B3E5-C24FD0B4EC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3" y="1092"/>
              <a:ext cx="69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968" name="Line 471">
              <a:extLst>
                <a:ext uri="{FF2B5EF4-FFF2-40B4-BE49-F238E27FC236}">
                  <a16:creationId xmlns:a16="http://schemas.microsoft.com/office/drawing/2014/main" id="{24439B39-F3E3-4875-B879-0F791E476F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0" y="1092"/>
              <a:ext cx="56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969" name="Freeform 472">
              <a:extLst>
                <a:ext uri="{FF2B5EF4-FFF2-40B4-BE49-F238E27FC236}">
                  <a16:creationId xmlns:a16="http://schemas.microsoft.com/office/drawing/2014/main" id="{29AFECD3-00AD-44DF-940A-7563B7F3D8B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2" y="1092"/>
              <a:ext cx="41" cy="1"/>
            </a:xfrm>
            <a:custGeom>
              <a:avLst/>
              <a:gdLst>
                <a:gd name="T0" fmla="*/ 0 w 41"/>
                <a:gd name="T1" fmla="*/ 0 h 1"/>
                <a:gd name="T2" fmla="*/ 27 w 41"/>
                <a:gd name="T3" fmla="*/ 0 h 1"/>
                <a:gd name="T4" fmla="*/ 41 w 41"/>
                <a:gd name="T5" fmla="*/ 0 h 1"/>
                <a:gd name="T6" fmla="*/ 0 60000 65536"/>
                <a:gd name="T7" fmla="*/ 0 60000 65536"/>
                <a:gd name="T8" fmla="*/ 0 60000 65536"/>
                <a:gd name="T9" fmla="*/ 0 w 41"/>
                <a:gd name="T10" fmla="*/ 0 h 1"/>
                <a:gd name="T11" fmla="*/ 41 w 4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" h="1">
                  <a:moveTo>
                    <a:pt x="0" y="0"/>
                  </a:moveTo>
                  <a:lnTo>
                    <a:pt x="27" y="0"/>
                  </a:lnTo>
                  <a:lnTo>
                    <a:pt x="41" y="0"/>
                  </a:lnTo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970" name="Rectangle 473">
              <a:extLst>
                <a:ext uri="{FF2B5EF4-FFF2-40B4-BE49-F238E27FC236}">
                  <a16:creationId xmlns:a16="http://schemas.microsoft.com/office/drawing/2014/main" id="{B9784CF5-65AC-45A1-8219-9907527FE8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4" y="981"/>
              <a:ext cx="28" cy="4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971" name="Rectangle 474">
              <a:extLst>
                <a:ext uri="{FF2B5EF4-FFF2-40B4-BE49-F238E27FC236}">
                  <a16:creationId xmlns:a16="http://schemas.microsoft.com/office/drawing/2014/main" id="{50A4C3E9-5854-414B-9D1D-F1B44CDEB0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4" y="981"/>
              <a:ext cx="42" cy="56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972" name="Freeform 475">
              <a:extLst>
                <a:ext uri="{FF2B5EF4-FFF2-40B4-BE49-F238E27FC236}">
                  <a16:creationId xmlns:a16="http://schemas.microsoft.com/office/drawing/2014/main" id="{DB5E1708-F1E7-41EE-82AA-B4F513973D6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8" y="1064"/>
              <a:ext cx="42" cy="69"/>
            </a:xfrm>
            <a:custGeom>
              <a:avLst/>
              <a:gdLst>
                <a:gd name="T0" fmla="*/ 0 w 42"/>
                <a:gd name="T1" fmla="*/ 0 h 69"/>
                <a:gd name="T2" fmla="*/ 42 w 42"/>
                <a:gd name="T3" fmla="*/ 14 h 69"/>
                <a:gd name="T4" fmla="*/ 42 w 42"/>
                <a:gd name="T5" fmla="*/ 69 h 69"/>
                <a:gd name="T6" fmla="*/ 0 60000 65536"/>
                <a:gd name="T7" fmla="*/ 0 60000 65536"/>
                <a:gd name="T8" fmla="*/ 0 60000 65536"/>
                <a:gd name="T9" fmla="*/ 0 w 42"/>
                <a:gd name="T10" fmla="*/ 0 h 69"/>
                <a:gd name="T11" fmla="*/ 42 w 42"/>
                <a:gd name="T12" fmla="*/ 69 h 6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2" h="69">
                  <a:moveTo>
                    <a:pt x="0" y="0"/>
                  </a:moveTo>
                  <a:lnTo>
                    <a:pt x="42" y="14"/>
                  </a:lnTo>
                  <a:lnTo>
                    <a:pt x="42" y="69"/>
                  </a:lnTo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973" name="AutoShape 476">
              <a:extLst>
                <a:ext uri="{FF2B5EF4-FFF2-40B4-BE49-F238E27FC236}">
                  <a16:creationId xmlns:a16="http://schemas.microsoft.com/office/drawing/2014/main" id="{F7C2F402-9888-4433-9D77-438C4DE5F7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8" y="981"/>
              <a:ext cx="124" cy="69"/>
            </a:xfrm>
            <a:prstGeom prst="roundRect">
              <a:avLst>
                <a:gd name="adj" fmla="val 50000"/>
              </a:avLst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974" name="AutoShape 477">
              <a:extLst>
                <a:ext uri="{FF2B5EF4-FFF2-40B4-BE49-F238E27FC236}">
                  <a16:creationId xmlns:a16="http://schemas.microsoft.com/office/drawing/2014/main" id="{D6891ACD-3755-46DB-A624-FF5A60060F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4" y="968"/>
              <a:ext cx="152" cy="96"/>
            </a:xfrm>
            <a:prstGeom prst="roundRect">
              <a:avLst>
                <a:gd name="adj" fmla="val 39065"/>
              </a:avLst>
            </a:prstGeom>
            <a:noFill/>
            <a:ln w="53975">
              <a:solidFill>
                <a:srgbClr val="CF924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975" name="Rectangle 478">
              <a:extLst>
                <a:ext uri="{FF2B5EF4-FFF2-40B4-BE49-F238E27FC236}">
                  <a16:creationId xmlns:a16="http://schemas.microsoft.com/office/drawing/2014/main" id="{85430BF4-F0BC-461A-ADA7-5DFF34A616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5" y="995"/>
              <a:ext cx="83" cy="4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976" name="Rectangle 479">
              <a:extLst>
                <a:ext uri="{FF2B5EF4-FFF2-40B4-BE49-F238E27FC236}">
                  <a16:creationId xmlns:a16="http://schemas.microsoft.com/office/drawing/2014/main" id="{2A8B585F-A47F-446C-8B18-74E55E017D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5" y="995"/>
              <a:ext cx="97" cy="55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977" name="Freeform 480">
              <a:extLst>
                <a:ext uri="{FF2B5EF4-FFF2-40B4-BE49-F238E27FC236}">
                  <a16:creationId xmlns:a16="http://schemas.microsoft.com/office/drawing/2014/main" id="{378F0879-F09E-43F3-9E0A-1C09FD186101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6" y="1119"/>
              <a:ext cx="27" cy="42"/>
            </a:xfrm>
            <a:custGeom>
              <a:avLst/>
              <a:gdLst>
                <a:gd name="T0" fmla="*/ 14 w 27"/>
                <a:gd name="T1" fmla="*/ 0 h 42"/>
                <a:gd name="T2" fmla="*/ 14 w 27"/>
                <a:gd name="T3" fmla="*/ 0 h 42"/>
                <a:gd name="T4" fmla="*/ 27 w 27"/>
                <a:gd name="T5" fmla="*/ 14 h 42"/>
                <a:gd name="T6" fmla="*/ 27 w 27"/>
                <a:gd name="T7" fmla="*/ 28 h 42"/>
                <a:gd name="T8" fmla="*/ 14 w 27"/>
                <a:gd name="T9" fmla="*/ 42 h 42"/>
                <a:gd name="T10" fmla="*/ 14 w 27"/>
                <a:gd name="T11" fmla="*/ 42 h 42"/>
                <a:gd name="T12" fmla="*/ 0 w 27"/>
                <a:gd name="T13" fmla="*/ 28 h 42"/>
                <a:gd name="T14" fmla="*/ 0 w 27"/>
                <a:gd name="T15" fmla="*/ 14 h 42"/>
                <a:gd name="T16" fmla="*/ 0 w 27"/>
                <a:gd name="T17" fmla="*/ 0 h 42"/>
                <a:gd name="T18" fmla="*/ 14 w 27"/>
                <a:gd name="T19" fmla="*/ 0 h 4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7"/>
                <a:gd name="T31" fmla="*/ 0 h 42"/>
                <a:gd name="T32" fmla="*/ 27 w 27"/>
                <a:gd name="T33" fmla="*/ 42 h 42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7" h="42">
                  <a:moveTo>
                    <a:pt x="14" y="0"/>
                  </a:moveTo>
                  <a:lnTo>
                    <a:pt x="14" y="0"/>
                  </a:lnTo>
                  <a:lnTo>
                    <a:pt x="27" y="14"/>
                  </a:lnTo>
                  <a:lnTo>
                    <a:pt x="27" y="28"/>
                  </a:lnTo>
                  <a:lnTo>
                    <a:pt x="14" y="42"/>
                  </a:lnTo>
                  <a:lnTo>
                    <a:pt x="0" y="28"/>
                  </a:lnTo>
                  <a:lnTo>
                    <a:pt x="0" y="14"/>
                  </a:lnTo>
                  <a:lnTo>
                    <a:pt x="0" y="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CF924C"/>
            </a:solidFill>
            <a:ln w="31750">
              <a:solidFill>
                <a:srgbClr val="CF924C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9978" name="Picture 481">
              <a:extLst>
                <a:ext uri="{FF2B5EF4-FFF2-40B4-BE49-F238E27FC236}">
                  <a16:creationId xmlns:a16="http://schemas.microsoft.com/office/drawing/2014/main" id="{E265D247-5EF9-44E3-95D4-751B4C7729B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95" y="995"/>
              <a:ext cx="69" cy="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979" name="Line 482">
              <a:extLst>
                <a:ext uri="{FF2B5EF4-FFF2-40B4-BE49-F238E27FC236}">
                  <a16:creationId xmlns:a16="http://schemas.microsoft.com/office/drawing/2014/main" id="{5D10C20B-0C8D-46D3-BB51-EE171F371E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6" y="1133"/>
              <a:ext cx="1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980" name="Freeform 483">
              <a:extLst>
                <a:ext uri="{FF2B5EF4-FFF2-40B4-BE49-F238E27FC236}">
                  <a16:creationId xmlns:a16="http://schemas.microsoft.com/office/drawing/2014/main" id="{6D5F5A49-4FD9-413E-BCF5-5EA236EB0482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0" y="1133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60000 65536"/>
                <a:gd name="T7" fmla="*/ 0 60000 65536"/>
                <a:gd name="T8" fmla="*/ 0 60000 65536"/>
                <a:gd name="T9" fmla="*/ 0 w 1"/>
                <a:gd name="T10" fmla="*/ 0 h 1"/>
                <a:gd name="T11" fmla="*/ 1 w 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981" name="Rectangle 484">
              <a:extLst>
                <a:ext uri="{FF2B5EF4-FFF2-40B4-BE49-F238E27FC236}">
                  <a16:creationId xmlns:a16="http://schemas.microsoft.com/office/drawing/2014/main" id="{74E30786-BCB8-4B2E-84AD-48D22738BD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2" y="1050"/>
              <a:ext cx="96" cy="28"/>
            </a:xfrm>
            <a:prstGeom prst="rect">
              <a:avLst/>
            </a:prstGeom>
            <a:solidFill>
              <a:srgbClr val="CF924C"/>
            </a:solidFill>
            <a:ln w="31750">
              <a:solidFill>
                <a:srgbClr val="CF924C"/>
              </a:solidFill>
              <a:miter lim="800000"/>
              <a:headEnd/>
              <a:tailEnd/>
            </a:ln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982" name="Freeform 485">
              <a:extLst>
                <a:ext uri="{FF2B5EF4-FFF2-40B4-BE49-F238E27FC236}">
                  <a16:creationId xmlns:a16="http://schemas.microsoft.com/office/drawing/2014/main" id="{B4FEBDE1-A576-4D24-8EBB-A17FFB7F27D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8" y="1078"/>
              <a:ext cx="124" cy="28"/>
            </a:xfrm>
            <a:custGeom>
              <a:avLst/>
              <a:gdLst>
                <a:gd name="T0" fmla="*/ 14 w 124"/>
                <a:gd name="T1" fmla="*/ 0 h 28"/>
                <a:gd name="T2" fmla="*/ 0 w 124"/>
                <a:gd name="T3" fmla="*/ 28 h 28"/>
                <a:gd name="T4" fmla="*/ 124 w 124"/>
                <a:gd name="T5" fmla="*/ 28 h 28"/>
                <a:gd name="T6" fmla="*/ 124 w 124"/>
                <a:gd name="T7" fmla="*/ 0 h 28"/>
                <a:gd name="T8" fmla="*/ 14 w 124"/>
                <a:gd name="T9" fmla="*/ 0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4"/>
                <a:gd name="T16" fmla="*/ 0 h 28"/>
                <a:gd name="T17" fmla="*/ 124 w 124"/>
                <a:gd name="T18" fmla="*/ 28 h 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4" h="28">
                  <a:moveTo>
                    <a:pt x="14" y="0"/>
                  </a:moveTo>
                  <a:lnTo>
                    <a:pt x="0" y="28"/>
                  </a:lnTo>
                  <a:lnTo>
                    <a:pt x="124" y="28"/>
                  </a:lnTo>
                  <a:lnTo>
                    <a:pt x="124" y="0"/>
                  </a:lnTo>
                  <a:lnTo>
                    <a:pt x="14" y="0"/>
                  </a:lnTo>
                  <a:close/>
                </a:path>
              </a:pathLst>
            </a:custGeom>
            <a:noFill/>
            <a:ln w="31750">
              <a:solidFill>
                <a:srgbClr val="D9AA7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983" name="Line 486">
              <a:extLst>
                <a:ext uri="{FF2B5EF4-FFF2-40B4-BE49-F238E27FC236}">
                  <a16:creationId xmlns:a16="http://schemas.microsoft.com/office/drawing/2014/main" id="{222E2927-84CC-400B-8966-67AB0CDD5D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82" y="1092"/>
              <a:ext cx="13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984" name="Line 487">
              <a:extLst>
                <a:ext uri="{FF2B5EF4-FFF2-40B4-BE49-F238E27FC236}">
                  <a16:creationId xmlns:a16="http://schemas.microsoft.com/office/drawing/2014/main" id="{BAF1B39F-5B21-49F2-B9DA-8F4E970AC7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95" y="1078"/>
              <a:ext cx="83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985" name="Line 488">
              <a:extLst>
                <a:ext uri="{FF2B5EF4-FFF2-40B4-BE49-F238E27FC236}">
                  <a16:creationId xmlns:a16="http://schemas.microsoft.com/office/drawing/2014/main" id="{C57582A5-9474-44A3-9E5B-805733BC79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82" y="1092"/>
              <a:ext cx="69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986" name="Line 489">
              <a:extLst>
                <a:ext uri="{FF2B5EF4-FFF2-40B4-BE49-F238E27FC236}">
                  <a16:creationId xmlns:a16="http://schemas.microsoft.com/office/drawing/2014/main" id="{086EA327-D7E6-4B76-8D4A-DBCE8D8C2D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9" y="1092"/>
              <a:ext cx="55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987" name="Freeform 490">
              <a:extLst>
                <a:ext uri="{FF2B5EF4-FFF2-40B4-BE49-F238E27FC236}">
                  <a16:creationId xmlns:a16="http://schemas.microsoft.com/office/drawing/2014/main" id="{EB282F7C-9589-4552-B693-E8F6D3551F0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1" y="1092"/>
              <a:ext cx="41" cy="1"/>
            </a:xfrm>
            <a:custGeom>
              <a:avLst/>
              <a:gdLst>
                <a:gd name="T0" fmla="*/ 0 w 41"/>
                <a:gd name="T1" fmla="*/ 0 h 1"/>
                <a:gd name="T2" fmla="*/ 27 w 41"/>
                <a:gd name="T3" fmla="*/ 0 h 1"/>
                <a:gd name="T4" fmla="*/ 41 w 41"/>
                <a:gd name="T5" fmla="*/ 0 h 1"/>
                <a:gd name="T6" fmla="*/ 0 60000 65536"/>
                <a:gd name="T7" fmla="*/ 0 60000 65536"/>
                <a:gd name="T8" fmla="*/ 0 60000 65536"/>
                <a:gd name="T9" fmla="*/ 0 w 41"/>
                <a:gd name="T10" fmla="*/ 0 h 1"/>
                <a:gd name="T11" fmla="*/ 41 w 4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" h="1">
                  <a:moveTo>
                    <a:pt x="0" y="0"/>
                  </a:moveTo>
                  <a:lnTo>
                    <a:pt x="27" y="0"/>
                  </a:lnTo>
                  <a:lnTo>
                    <a:pt x="41" y="0"/>
                  </a:lnTo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988" name="Rectangle 491">
              <a:extLst>
                <a:ext uri="{FF2B5EF4-FFF2-40B4-BE49-F238E27FC236}">
                  <a16:creationId xmlns:a16="http://schemas.microsoft.com/office/drawing/2014/main" id="{6DDB2F9B-4325-4537-A3C8-E8B6C71CFD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3" y="981"/>
              <a:ext cx="28" cy="4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989" name="Rectangle 492">
              <a:extLst>
                <a:ext uri="{FF2B5EF4-FFF2-40B4-BE49-F238E27FC236}">
                  <a16:creationId xmlns:a16="http://schemas.microsoft.com/office/drawing/2014/main" id="{6D03C62A-E767-4189-857C-BEF420F53A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3" y="981"/>
              <a:ext cx="41" cy="56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990" name="Rectangle 493">
              <a:extLst>
                <a:ext uri="{FF2B5EF4-FFF2-40B4-BE49-F238E27FC236}">
                  <a16:creationId xmlns:a16="http://schemas.microsoft.com/office/drawing/2014/main" id="{1FEC2EE7-C65A-4FE1-8C35-6BE35F7820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7" y="3416"/>
              <a:ext cx="6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r>
                <a:rPr lang="en-GB" altLang="en-US" sz="14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network link:</a:t>
              </a:r>
              <a:endParaRPr lang="en-GB" altLang="en-US" sz="2400">
                <a:latin typeface="Times" panose="02020603050405020304" pitchFamily="18" charset="0"/>
                <a:ea typeface="MS PGothic" panose="020B0600070205080204" pitchFamily="34" charset="-128"/>
              </a:endParaRPr>
            </a:p>
          </p:txBody>
        </p:sp>
        <p:sp>
          <p:nvSpPr>
            <p:cNvPr id="29991" name="Rectangle 494">
              <a:extLst>
                <a:ext uri="{FF2B5EF4-FFF2-40B4-BE49-F238E27FC236}">
                  <a16:creationId xmlns:a16="http://schemas.microsoft.com/office/drawing/2014/main" id="{7C8BD9D5-DD52-41A7-9362-0E41EA7C74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0" y="3451"/>
              <a:ext cx="249" cy="28"/>
            </a:xfrm>
            <a:prstGeom prst="rect">
              <a:avLst/>
            </a:prstGeom>
            <a:solidFill>
              <a:srgbClr val="FFD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992" name="Rectangle 495">
              <a:extLst>
                <a:ext uri="{FF2B5EF4-FFF2-40B4-BE49-F238E27FC236}">
                  <a16:creationId xmlns:a16="http://schemas.microsoft.com/office/drawing/2014/main" id="{811CC415-6FAA-42BF-A5E0-45F289E7AF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0" y="3451"/>
              <a:ext cx="263" cy="42"/>
            </a:xfrm>
            <a:prstGeom prst="rect">
              <a:avLst/>
            </a:prstGeom>
            <a:noFill/>
            <a:ln w="31750">
              <a:solidFill>
                <a:srgbClr val="FFDC99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29993" name="Freeform 496">
              <a:extLst>
                <a:ext uri="{FF2B5EF4-FFF2-40B4-BE49-F238E27FC236}">
                  <a16:creationId xmlns:a16="http://schemas.microsoft.com/office/drawing/2014/main" id="{E2E65983-FFCF-4B35-A0DB-3E2147CF9E7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8" y="1837"/>
              <a:ext cx="69" cy="83"/>
            </a:xfrm>
            <a:custGeom>
              <a:avLst/>
              <a:gdLst>
                <a:gd name="T0" fmla="*/ 28 w 69"/>
                <a:gd name="T1" fmla="*/ 69 h 83"/>
                <a:gd name="T2" fmla="*/ 0 w 69"/>
                <a:gd name="T3" fmla="*/ 83 h 83"/>
                <a:gd name="T4" fmla="*/ 0 w 69"/>
                <a:gd name="T5" fmla="*/ 0 h 83"/>
                <a:gd name="T6" fmla="*/ 69 w 69"/>
                <a:gd name="T7" fmla="*/ 55 h 83"/>
                <a:gd name="T8" fmla="*/ 28 w 69"/>
                <a:gd name="T9" fmla="*/ 69 h 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9"/>
                <a:gd name="T16" fmla="*/ 0 h 83"/>
                <a:gd name="T17" fmla="*/ 69 w 69"/>
                <a:gd name="T18" fmla="*/ 83 h 8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9" h="83">
                  <a:moveTo>
                    <a:pt x="28" y="69"/>
                  </a:moveTo>
                  <a:lnTo>
                    <a:pt x="0" y="83"/>
                  </a:lnTo>
                  <a:lnTo>
                    <a:pt x="0" y="0"/>
                  </a:lnTo>
                  <a:lnTo>
                    <a:pt x="69" y="55"/>
                  </a:lnTo>
                  <a:lnTo>
                    <a:pt x="28" y="69"/>
                  </a:lnTo>
                  <a:close/>
                </a:path>
              </a:pathLst>
            </a:custGeom>
            <a:solidFill>
              <a:srgbClr val="000000"/>
            </a:solidFill>
            <a:ln w="317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994" name="Line 497">
              <a:extLst>
                <a:ext uri="{FF2B5EF4-FFF2-40B4-BE49-F238E27FC236}">
                  <a16:creationId xmlns:a16="http://schemas.microsoft.com/office/drawing/2014/main" id="{165F0852-C686-49BF-8AAB-E43E8E1F5D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216" y="1906"/>
              <a:ext cx="110" cy="262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995" name="Freeform 498">
              <a:extLst>
                <a:ext uri="{FF2B5EF4-FFF2-40B4-BE49-F238E27FC236}">
                  <a16:creationId xmlns:a16="http://schemas.microsoft.com/office/drawing/2014/main" id="{C716BF1D-C922-472B-87C0-55FE3CF72E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9" y="2527"/>
              <a:ext cx="69" cy="83"/>
            </a:xfrm>
            <a:custGeom>
              <a:avLst/>
              <a:gdLst>
                <a:gd name="T0" fmla="*/ 42 w 69"/>
                <a:gd name="T1" fmla="*/ 27 h 83"/>
                <a:gd name="T2" fmla="*/ 69 w 69"/>
                <a:gd name="T3" fmla="*/ 0 h 83"/>
                <a:gd name="T4" fmla="*/ 69 w 69"/>
                <a:gd name="T5" fmla="*/ 83 h 83"/>
                <a:gd name="T6" fmla="*/ 0 w 69"/>
                <a:gd name="T7" fmla="*/ 41 h 83"/>
                <a:gd name="T8" fmla="*/ 42 w 69"/>
                <a:gd name="T9" fmla="*/ 27 h 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9"/>
                <a:gd name="T16" fmla="*/ 0 h 83"/>
                <a:gd name="T17" fmla="*/ 69 w 69"/>
                <a:gd name="T18" fmla="*/ 83 h 8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9" h="83">
                  <a:moveTo>
                    <a:pt x="42" y="27"/>
                  </a:moveTo>
                  <a:lnTo>
                    <a:pt x="69" y="0"/>
                  </a:lnTo>
                  <a:lnTo>
                    <a:pt x="69" y="83"/>
                  </a:lnTo>
                  <a:lnTo>
                    <a:pt x="0" y="41"/>
                  </a:lnTo>
                  <a:lnTo>
                    <a:pt x="42" y="27"/>
                  </a:lnTo>
                  <a:close/>
                </a:path>
              </a:pathLst>
            </a:custGeom>
            <a:solidFill>
              <a:srgbClr val="000000"/>
            </a:solidFill>
            <a:ln w="317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996" name="Line 499">
              <a:extLst>
                <a:ext uri="{FF2B5EF4-FFF2-40B4-BE49-F238E27FC236}">
                  <a16:creationId xmlns:a16="http://schemas.microsoft.com/office/drawing/2014/main" id="{CE62F4B4-49B2-4CF3-8752-23B7FE0DF1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3" y="2361"/>
              <a:ext cx="124" cy="180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997" name="Freeform 500">
              <a:extLst>
                <a:ext uri="{FF2B5EF4-FFF2-40B4-BE49-F238E27FC236}">
                  <a16:creationId xmlns:a16="http://schemas.microsoft.com/office/drawing/2014/main" id="{08CB0911-F71F-47C5-9698-6226327B807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3" y="2485"/>
              <a:ext cx="69" cy="69"/>
            </a:xfrm>
            <a:custGeom>
              <a:avLst/>
              <a:gdLst>
                <a:gd name="T0" fmla="*/ 42 w 69"/>
                <a:gd name="T1" fmla="*/ 28 h 69"/>
                <a:gd name="T2" fmla="*/ 69 w 69"/>
                <a:gd name="T3" fmla="*/ 56 h 69"/>
                <a:gd name="T4" fmla="*/ 0 w 69"/>
                <a:gd name="T5" fmla="*/ 69 h 69"/>
                <a:gd name="T6" fmla="*/ 28 w 69"/>
                <a:gd name="T7" fmla="*/ 0 h 69"/>
                <a:gd name="T8" fmla="*/ 42 w 69"/>
                <a:gd name="T9" fmla="*/ 28 h 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9"/>
                <a:gd name="T16" fmla="*/ 0 h 69"/>
                <a:gd name="T17" fmla="*/ 69 w 69"/>
                <a:gd name="T18" fmla="*/ 69 h 6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9" h="69">
                  <a:moveTo>
                    <a:pt x="42" y="28"/>
                  </a:moveTo>
                  <a:lnTo>
                    <a:pt x="69" y="56"/>
                  </a:lnTo>
                  <a:lnTo>
                    <a:pt x="0" y="69"/>
                  </a:lnTo>
                  <a:lnTo>
                    <a:pt x="28" y="0"/>
                  </a:lnTo>
                  <a:lnTo>
                    <a:pt x="42" y="28"/>
                  </a:lnTo>
                  <a:close/>
                </a:path>
              </a:pathLst>
            </a:custGeom>
            <a:solidFill>
              <a:srgbClr val="000000"/>
            </a:solidFill>
            <a:ln w="317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998" name="Line 501">
              <a:extLst>
                <a:ext uri="{FF2B5EF4-FFF2-40B4-BE49-F238E27FC236}">
                  <a16:creationId xmlns:a16="http://schemas.microsoft.com/office/drawing/2014/main" id="{62B4934E-6F90-4A56-9642-72090C5E2C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09" y="2347"/>
              <a:ext cx="179" cy="152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999" name="Freeform 502">
              <a:extLst>
                <a:ext uri="{FF2B5EF4-FFF2-40B4-BE49-F238E27FC236}">
                  <a16:creationId xmlns:a16="http://schemas.microsoft.com/office/drawing/2014/main" id="{B8BBA4AA-06CB-43E1-972D-2FD38DED9A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6" y="2513"/>
              <a:ext cx="69" cy="83"/>
            </a:xfrm>
            <a:custGeom>
              <a:avLst/>
              <a:gdLst>
                <a:gd name="T0" fmla="*/ 42 w 69"/>
                <a:gd name="T1" fmla="*/ 55 h 83"/>
                <a:gd name="T2" fmla="*/ 0 w 69"/>
                <a:gd name="T3" fmla="*/ 41 h 83"/>
                <a:gd name="T4" fmla="*/ 69 w 69"/>
                <a:gd name="T5" fmla="*/ 0 h 83"/>
                <a:gd name="T6" fmla="*/ 69 w 69"/>
                <a:gd name="T7" fmla="*/ 83 h 83"/>
                <a:gd name="T8" fmla="*/ 42 w 69"/>
                <a:gd name="T9" fmla="*/ 55 h 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9"/>
                <a:gd name="T16" fmla="*/ 0 h 83"/>
                <a:gd name="T17" fmla="*/ 69 w 69"/>
                <a:gd name="T18" fmla="*/ 83 h 8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9" h="83">
                  <a:moveTo>
                    <a:pt x="42" y="55"/>
                  </a:moveTo>
                  <a:lnTo>
                    <a:pt x="0" y="41"/>
                  </a:lnTo>
                  <a:lnTo>
                    <a:pt x="69" y="0"/>
                  </a:lnTo>
                  <a:lnTo>
                    <a:pt x="69" y="83"/>
                  </a:lnTo>
                  <a:lnTo>
                    <a:pt x="42" y="55"/>
                  </a:lnTo>
                  <a:close/>
                </a:path>
              </a:pathLst>
            </a:custGeom>
            <a:solidFill>
              <a:srgbClr val="000000"/>
            </a:solidFill>
            <a:ln w="317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000" name="Line 503">
              <a:extLst>
                <a:ext uri="{FF2B5EF4-FFF2-40B4-BE49-F238E27FC236}">
                  <a16:creationId xmlns:a16="http://schemas.microsoft.com/office/drawing/2014/main" id="{7BC654E1-FACA-4853-91D2-78B8605D84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64" y="2582"/>
              <a:ext cx="110" cy="22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001" name="Rectangle 504">
              <a:extLst>
                <a:ext uri="{FF2B5EF4-FFF2-40B4-BE49-F238E27FC236}">
                  <a16:creationId xmlns:a16="http://schemas.microsoft.com/office/drawing/2014/main" id="{23F0AE5B-9D31-449D-8FC6-FA2A362754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6" y="1333"/>
              <a:ext cx="83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r>
                <a:rPr lang="en-GB" altLang="en-US" sz="1400">
                  <a:solidFill>
                    <a:srgbClr val="000000"/>
                  </a:solidFill>
                  <a:latin typeface="Zapf Dingbats" charset="2"/>
                  <a:ea typeface="MS PGothic" panose="020B0600070205080204" pitchFamily="34" charset="-128"/>
                </a:rPr>
                <a:t>%</a:t>
              </a:r>
              <a:endParaRPr lang="en-GB" altLang="en-US" sz="2400">
                <a:latin typeface="Zapf Dingbats" charset="2"/>
                <a:ea typeface="MS PGothic" panose="020B0600070205080204" pitchFamily="34" charset="-128"/>
              </a:endParaRPr>
            </a:p>
          </p:txBody>
        </p:sp>
        <p:sp>
          <p:nvSpPr>
            <p:cNvPr id="30002" name="Rectangle 505">
              <a:extLst>
                <a:ext uri="{FF2B5EF4-FFF2-40B4-BE49-F238E27FC236}">
                  <a16:creationId xmlns:a16="http://schemas.microsoft.com/office/drawing/2014/main" id="{D3BDB6F1-1BEA-45EC-B4DC-3E795F35C5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6" y="1754"/>
              <a:ext cx="83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r>
                <a:rPr lang="en-GB" altLang="en-US" sz="1400">
                  <a:solidFill>
                    <a:srgbClr val="000000"/>
                  </a:solidFill>
                  <a:latin typeface="Zapf Dingbats" charset="2"/>
                  <a:ea typeface="MS PGothic" panose="020B0600070205080204" pitchFamily="34" charset="-128"/>
                </a:rPr>
                <a:t>%</a:t>
              </a:r>
              <a:endParaRPr lang="en-GB" altLang="en-US" sz="2400">
                <a:latin typeface="Zapf Dingbats" charset="2"/>
                <a:ea typeface="MS PGothic" panose="020B0600070205080204" pitchFamily="34" charset="-128"/>
              </a:endParaRPr>
            </a:p>
          </p:txBody>
        </p:sp>
        <p:sp>
          <p:nvSpPr>
            <p:cNvPr id="30003" name="Rectangle 506">
              <a:extLst>
                <a:ext uri="{FF2B5EF4-FFF2-40B4-BE49-F238E27FC236}">
                  <a16:creationId xmlns:a16="http://schemas.microsoft.com/office/drawing/2014/main" id="{B0EC2F43-D2AE-48DC-B92B-9B433A1C2A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2" y="1534"/>
              <a:ext cx="83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r>
                <a:rPr lang="en-GB" altLang="en-US" sz="1400">
                  <a:solidFill>
                    <a:srgbClr val="000000"/>
                  </a:solidFill>
                  <a:latin typeface="Zapf Dingbats" charset="2"/>
                  <a:ea typeface="MS PGothic" panose="020B0600070205080204" pitchFamily="34" charset="-128"/>
                </a:rPr>
                <a:t>%</a:t>
              </a:r>
              <a:endParaRPr lang="en-GB" altLang="en-US" sz="2400">
                <a:latin typeface="Zapf Dingbats" charset="2"/>
                <a:ea typeface="MS PGothic" panose="020B0600070205080204" pitchFamily="34" charset="-128"/>
              </a:endParaRPr>
            </a:p>
          </p:txBody>
        </p:sp>
      </p:grpSp>
      <p:sp>
        <p:nvSpPr>
          <p:cNvPr id="29700" name="TextBox 506">
            <a:extLst>
              <a:ext uri="{FF2B5EF4-FFF2-40B4-BE49-F238E27FC236}">
                <a16:creationId xmlns:a16="http://schemas.microsoft.com/office/drawing/2014/main" id="{3898505A-0C24-4773-8099-6CBC1FFAB4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5900" y="6073775"/>
            <a:ext cx="4108450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spcBef>
                <a:spcPct val="20000"/>
              </a:spcBef>
              <a:buClr>
                <a:schemeClr val="accent2"/>
              </a:buCl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</a:pPr>
            <a:r>
              <a:rPr lang="en-US" altLang="en-US" sz="2400">
                <a:solidFill>
                  <a:srgbClr val="0070C0"/>
                </a:solidFill>
              </a:rPr>
              <a:t>Internet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>
            <a:extLst>
              <a:ext uri="{FF2B5EF4-FFF2-40B4-BE49-F238E27FC236}">
                <a16:creationId xmlns:a16="http://schemas.microsoft.com/office/drawing/2014/main" id="{62CF740F-5617-4BE4-A0AB-1326B177A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Examples of Distributed Systems (3)</a:t>
            </a:r>
          </a:p>
        </p:txBody>
      </p:sp>
      <p:grpSp>
        <p:nvGrpSpPr>
          <p:cNvPr id="30723" name="Group 93">
            <a:extLst>
              <a:ext uri="{FF2B5EF4-FFF2-40B4-BE49-F238E27FC236}">
                <a16:creationId xmlns:a16="http://schemas.microsoft.com/office/drawing/2014/main" id="{9501C5C2-EDC1-4783-B361-A1C3AD342382}"/>
              </a:ext>
            </a:extLst>
          </p:cNvPr>
          <p:cNvGrpSpPr>
            <a:grpSpLocks/>
          </p:cNvGrpSpPr>
          <p:nvPr/>
        </p:nvGrpSpPr>
        <p:grpSpPr bwMode="auto">
          <a:xfrm>
            <a:off x="227013" y="1697038"/>
            <a:ext cx="8666162" cy="4168775"/>
            <a:chOff x="480" y="1104"/>
            <a:chExt cx="5459" cy="2626"/>
          </a:xfrm>
        </p:grpSpPr>
        <p:sp>
          <p:nvSpPr>
            <p:cNvPr id="30725" name="Line 4">
              <a:extLst>
                <a:ext uri="{FF2B5EF4-FFF2-40B4-BE49-F238E27FC236}">
                  <a16:creationId xmlns:a16="http://schemas.microsoft.com/office/drawing/2014/main" id="{434F0DD5-5DB2-41F2-ABC0-EE6D55F1A1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92" y="1401"/>
              <a:ext cx="151" cy="13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26" name="Line 5">
              <a:extLst>
                <a:ext uri="{FF2B5EF4-FFF2-40B4-BE49-F238E27FC236}">
                  <a16:creationId xmlns:a16="http://schemas.microsoft.com/office/drawing/2014/main" id="{287C872F-DC55-491C-819B-200BE7B26F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593" y="2012"/>
              <a:ext cx="251" cy="1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27" name="Line 6">
              <a:extLst>
                <a:ext uri="{FF2B5EF4-FFF2-40B4-BE49-F238E27FC236}">
                  <a16:creationId xmlns:a16="http://schemas.microsoft.com/office/drawing/2014/main" id="{E520E1F3-5E1F-4F5C-8DA6-99C25CE0FA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442" y="2546"/>
              <a:ext cx="285" cy="15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28" name="Line 7">
              <a:extLst>
                <a:ext uri="{FF2B5EF4-FFF2-40B4-BE49-F238E27FC236}">
                  <a16:creationId xmlns:a16="http://schemas.microsoft.com/office/drawing/2014/main" id="{4ECBB5A4-3487-44F9-9543-E18A59BDD0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151" y="1344"/>
              <a:ext cx="469" cy="24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29" name="Line 8">
              <a:extLst>
                <a:ext uri="{FF2B5EF4-FFF2-40B4-BE49-F238E27FC236}">
                  <a16:creationId xmlns:a16="http://schemas.microsoft.com/office/drawing/2014/main" id="{CFF5207E-262B-48C3-8B32-AD9905D0B0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17" y="2107"/>
              <a:ext cx="502" cy="3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30" name="Line 9">
              <a:extLst>
                <a:ext uri="{FF2B5EF4-FFF2-40B4-BE49-F238E27FC236}">
                  <a16:creationId xmlns:a16="http://schemas.microsoft.com/office/drawing/2014/main" id="{DE32C836-F39B-438C-A0DA-3B263A3DE1A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18" y="2565"/>
              <a:ext cx="484" cy="7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31" name="Freeform 10">
              <a:extLst>
                <a:ext uri="{FF2B5EF4-FFF2-40B4-BE49-F238E27FC236}">
                  <a16:creationId xmlns:a16="http://schemas.microsoft.com/office/drawing/2014/main" id="{97CB5949-D498-447C-B6A5-03742CC8B42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9" y="1287"/>
              <a:ext cx="2174" cy="1430"/>
            </a:xfrm>
            <a:custGeom>
              <a:avLst/>
              <a:gdLst>
                <a:gd name="T0" fmla="*/ 56 w 2131"/>
                <a:gd name="T1" fmla="*/ 801 h 1229"/>
                <a:gd name="T2" fmla="*/ 112 w 2131"/>
                <a:gd name="T3" fmla="*/ 616 h 1229"/>
                <a:gd name="T4" fmla="*/ 245 w 2131"/>
                <a:gd name="T5" fmla="*/ 378 h 1229"/>
                <a:gd name="T6" fmla="*/ 377 w 2131"/>
                <a:gd name="T7" fmla="*/ 237 h 1229"/>
                <a:gd name="T8" fmla="*/ 491 w 2131"/>
                <a:gd name="T9" fmla="*/ 237 h 1229"/>
                <a:gd name="T10" fmla="*/ 566 w 2131"/>
                <a:gd name="T11" fmla="*/ 237 h 1229"/>
                <a:gd name="T12" fmla="*/ 717 w 2131"/>
                <a:gd name="T13" fmla="*/ 237 h 1229"/>
                <a:gd name="T14" fmla="*/ 906 w 2131"/>
                <a:gd name="T15" fmla="*/ 283 h 1229"/>
                <a:gd name="T16" fmla="*/ 1094 w 2131"/>
                <a:gd name="T17" fmla="*/ 329 h 1229"/>
                <a:gd name="T18" fmla="*/ 1280 w 2131"/>
                <a:gd name="T19" fmla="*/ 329 h 1229"/>
                <a:gd name="T20" fmla="*/ 1376 w 2131"/>
                <a:gd name="T21" fmla="*/ 187 h 1229"/>
                <a:gd name="T22" fmla="*/ 1469 w 2131"/>
                <a:gd name="T23" fmla="*/ 48 h 1229"/>
                <a:gd name="T24" fmla="*/ 1602 w 2131"/>
                <a:gd name="T25" fmla="*/ 0 h 1229"/>
                <a:gd name="T26" fmla="*/ 1753 w 2131"/>
                <a:gd name="T27" fmla="*/ 0 h 1229"/>
                <a:gd name="T28" fmla="*/ 1866 w 2131"/>
                <a:gd name="T29" fmla="*/ 48 h 1229"/>
                <a:gd name="T30" fmla="*/ 1961 w 2131"/>
                <a:gd name="T31" fmla="*/ 142 h 1229"/>
                <a:gd name="T32" fmla="*/ 2035 w 2131"/>
                <a:gd name="T33" fmla="*/ 237 h 1229"/>
                <a:gd name="T34" fmla="*/ 2129 w 2131"/>
                <a:gd name="T35" fmla="*/ 329 h 1229"/>
                <a:gd name="T36" fmla="*/ 2262 w 2131"/>
                <a:gd name="T37" fmla="*/ 616 h 1229"/>
                <a:gd name="T38" fmla="*/ 2337 w 2131"/>
                <a:gd name="T39" fmla="*/ 851 h 1229"/>
                <a:gd name="T40" fmla="*/ 2395 w 2131"/>
                <a:gd name="T41" fmla="*/ 1134 h 1229"/>
                <a:gd name="T42" fmla="*/ 2431 w 2131"/>
                <a:gd name="T43" fmla="*/ 1749 h 1229"/>
                <a:gd name="T44" fmla="*/ 2453 w 2131"/>
                <a:gd name="T45" fmla="*/ 2128 h 1229"/>
                <a:gd name="T46" fmla="*/ 2413 w 2131"/>
                <a:gd name="T47" fmla="*/ 2506 h 1229"/>
                <a:gd name="T48" fmla="*/ 2357 w 2131"/>
                <a:gd name="T49" fmla="*/ 3074 h 1229"/>
                <a:gd name="T50" fmla="*/ 2224 w 2131"/>
                <a:gd name="T51" fmla="*/ 3360 h 1229"/>
                <a:gd name="T52" fmla="*/ 2055 w 2131"/>
                <a:gd name="T53" fmla="*/ 3549 h 1229"/>
                <a:gd name="T54" fmla="*/ 1866 w 2131"/>
                <a:gd name="T55" fmla="*/ 3455 h 1229"/>
                <a:gd name="T56" fmla="*/ 1697 w 2131"/>
                <a:gd name="T57" fmla="*/ 3408 h 1229"/>
                <a:gd name="T58" fmla="*/ 1546 w 2131"/>
                <a:gd name="T59" fmla="*/ 3313 h 1229"/>
                <a:gd name="T60" fmla="*/ 1376 w 2131"/>
                <a:gd name="T61" fmla="*/ 3264 h 1229"/>
                <a:gd name="T62" fmla="*/ 1224 w 2131"/>
                <a:gd name="T63" fmla="*/ 3264 h 1229"/>
                <a:gd name="T64" fmla="*/ 1056 w 2131"/>
                <a:gd name="T65" fmla="*/ 3264 h 1229"/>
                <a:gd name="T66" fmla="*/ 943 w 2131"/>
                <a:gd name="T67" fmla="*/ 3313 h 1229"/>
                <a:gd name="T68" fmla="*/ 811 w 2131"/>
                <a:gd name="T69" fmla="*/ 3360 h 1229"/>
                <a:gd name="T70" fmla="*/ 696 w 2131"/>
                <a:gd name="T71" fmla="*/ 3408 h 1229"/>
                <a:gd name="T72" fmla="*/ 584 w 2131"/>
                <a:gd name="T73" fmla="*/ 3455 h 1229"/>
                <a:gd name="T74" fmla="*/ 471 w 2131"/>
                <a:gd name="T75" fmla="*/ 3455 h 1229"/>
                <a:gd name="T76" fmla="*/ 358 w 2131"/>
                <a:gd name="T77" fmla="*/ 3408 h 1229"/>
                <a:gd name="T78" fmla="*/ 282 w 2131"/>
                <a:gd name="T79" fmla="*/ 3360 h 1229"/>
                <a:gd name="T80" fmla="*/ 208 w 2131"/>
                <a:gd name="T81" fmla="*/ 3217 h 1229"/>
                <a:gd name="T82" fmla="*/ 168 w 2131"/>
                <a:gd name="T83" fmla="*/ 3171 h 1229"/>
                <a:gd name="T84" fmla="*/ 152 w 2131"/>
                <a:gd name="T85" fmla="*/ 3074 h 1229"/>
                <a:gd name="T86" fmla="*/ 96 w 2131"/>
                <a:gd name="T87" fmla="*/ 2742 h 1229"/>
                <a:gd name="T88" fmla="*/ 40 w 2131"/>
                <a:gd name="T89" fmla="*/ 2364 h 1229"/>
                <a:gd name="T90" fmla="*/ 16 w 2131"/>
                <a:gd name="T91" fmla="*/ 2035 h 1229"/>
                <a:gd name="T92" fmla="*/ 0 w 2131"/>
                <a:gd name="T93" fmla="*/ 1749 h 1229"/>
                <a:gd name="T94" fmla="*/ 16 w 2131"/>
                <a:gd name="T95" fmla="*/ 1371 h 1229"/>
                <a:gd name="T96" fmla="*/ 40 w 2131"/>
                <a:gd name="T97" fmla="*/ 1041 h 1229"/>
                <a:gd name="T98" fmla="*/ 56 w 2131"/>
                <a:gd name="T99" fmla="*/ 801 h 1229"/>
                <a:gd name="T100" fmla="*/ 56 w 2131"/>
                <a:gd name="T101" fmla="*/ 801 h 12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2131"/>
                <a:gd name="T154" fmla="*/ 0 h 1229"/>
                <a:gd name="T155" fmla="*/ 2131 w 2131"/>
                <a:gd name="T156" fmla="*/ 1229 h 12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2131" h="1229">
                  <a:moveTo>
                    <a:pt x="49" y="278"/>
                  </a:moveTo>
                  <a:lnTo>
                    <a:pt x="98" y="213"/>
                  </a:lnTo>
                  <a:lnTo>
                    <a:pt x="213" y="131"/>
                  </a:lnTo>
                  <a:lnTo>
                    <a:pt x="328" y="82"/>
                  </a:lnTo>
                  <a:lnTo>
                    <a:pt x="426" y="82"/>
                  </a:lnTo>
                  <a:lnTo>
                    <a:pt x="492" y="82"/>
                  </a:lnTo>
                  <a:lnTo>
                    <a:pt x="623" y="82"/>
                  </a:lnTo>
                  <a:lnTo>
                    <a:pt x="787" y="98"/>
                  </a:lnTo>
                  <a:lnTo>
                    <a:pt x="951" y="114"/>
                  </a:lnTo>
                  <a:lnTo>
                    <a:pt x="1114" y="114"/>
                  </a:lnTo>
                  <a:lnTo>
                    <a:pt x="1196" y="65"/>
                  </a:lnTo>
                  <a:lnTo>
                    <a:pt x="1278" y="16"/>
                  </a:lnTo>
                  <a:lnTo>
                    <a:pt x="1393" y="0"/>
                  </a:lnTo>
                  <a:lnTo>
                    <a:pt x="1524" y="0"/>
                  </a:lnTo>
                  <a:lnTo>
                    <a:pt x="1623" y="16"/>
                  </a:lnTo>
                  <a:lnTo>
                    <a:pt x="1705" y="49"/>
                  </a:lnTo>
                  <a:lnTo>
                    <a:pt x="1770" y="82"/>
                  </a:lnTo>
                  <a:lnTo>
                    <a:pt x="1852" y="114"/>
                  </a:lnTo>
                  <a:lnTo>
                    <a:pt x="1967" y="213"/>
                  </a:lnTo>
                  <a:lnTo>
                    <a:pt x="2032" y="295"/>
                  </a:lnTo>
                  <a:lnTo>
                    <a:pt x="2082" y="393"/>
                  </a:lnTo>
                  <a:lnTo>
                    <a:pt x="2114" y="606"/>
                  </a:lnTo>
                  <a:lnTo>
                    <a:pt x="2131" y="737"/>
                  </a:lnTo>
                  <a:lnTo>
                    <a:pt x="2098" y="868"/>
                  </a:lnTo>
                  <a:lnTo>
                    <a:pt x="2049" y="1065"/>
                  </a:lnTo>
                  <a:lnTo>
                    <a:pt x="1934" y="1164"/>
                  </a:lnTo>
                  <a:lnTo>
                    <a:pt x="1786" y="1229"/>
                  </a:lnTo>
                  <a:lnTo>
                    <a:pt x="1623" y="1196"/>
                  </a:lnTo>
                  <a:lnTo>
                    <a:pt x="1475" y="1180"/>
                  </a:lnTo>
                  <a:lnTo>
                    <a:pt x="1344" y="1147"/>
                  </a:lnTo>
                  <a:lnTo>
                    <a:pt x="1196" y="1131"/>
                  </a:lnTo>
                  <a:lnTo>
                    <a:pt x="1065" y="1131"/>
                  </a:lnTo>
                  <a:lnTo>
                    <a:pt x="918" y="1131"/>
                  </a:lnTo>
                  <a:lnTo>
                    <a:pt x="819" y="1147"/>
                  </a:lnTo>
                  <a:lnTo>
                    <a:pt x="705" y="1164"/>
                  </a:lnTo>
                  <a:lnTo>
                    <a:pt x="606" y="1180"/>
                  </a:lnTo>
                  <a:lnTo>
                    <a:pt x="508" y="1196"/>
                  </a:lnTo>
                  <a:lnTo>
                    <a:pt x="410" y="1196"/>
                  </a:lnTo>
                  <a:lnTo>
                    <a:pt x="311" y="1180"/>
                  </a:lnTo>
                  <a:lnTo>
                    <a:pt x="246" y="1164"/>
                  </a:lnTo>
                  <a:lnTo>
                    <a:pt x="180" y="1114"/>
                  </a:lnTo>
                  <a:lnTo>
                    <a:pt x="147" y="1098"/>
                  </a:lnTo>
                  <a:lnTo>
                    <a:pt x="131" y="1065"/>
                  </a:lnTo>
                  <a:lnTo>
                    <a:pt x="82" y="950"/>
                  </a:lnTo>
                  <a:lnTo>
                    <a:pt x="33" y="819"/>
                  </a:lnTo>
                  <a:lnTo>
                    <a:pt x="16" y="705"/>
                  </a:lnTo>
                  <a:lnTo>
                    <a:pt x="0" y="606"/>
                  </a:lnTo>
                  <a:lnTo>
                    <a:pt x="16" y="475"/>
                  </a:lnTo>
                  <a:lnTo>
                    <a:pt x="33" y="360"/>
                  </a:lnTo>
                  <a:lnTo>
                    <a:pt x="49" y="278"/>
                  </a:lnTo>
                  <a:close/>
                </a:path>
              </a:pathLst>
            </a:custGeom>
            <a:solidFill>
              <a:srgbClr val="FFDC99"/>
            </a:solidFill>
            <a:ln w="25400">
              <a:solidFill>
                <a:srgbClr val="FFDC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32" name="Rectangle 11">
              <a:extLst>
                <a:ext uri="{FF2B5EF4-FFF2-40B4-BE49-F238E27FC236}">
                  <a16:creationId xmlns:a16="http://schemas.microsoft.com/office/drawing/2014/main" id="{B9F1CAF9-E54B-43A8-8FDC-A99669FF76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0" y="2001"/>
              <a:ext cx="463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r>
                <a:rPr lang="en-GB" altLang="en-US" sz="17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Internet</a:t>
              </a:r>
              <a:endParaRPr lang="en-GB" altLang="en-US" sz="2400">
                <a:latin typeface="Times" panose="02020603050405020304" pitchFamily="18" charset="0"/>
                <a:ea typeface="MS PGothic" panose="020B0600070205080204" pitchFamily="34" charset="-128"/>
              </a:endParaRPr>
            </a:p>
          </p:txBody>
        </p:sp>
        <p:sp>
          <p:nvSpPr>
            <p:cNvPr id="30733" name="Rectangle 12">
              <a:extLst>
                <a:ext uri="{FF2B5EF4-FFF2-40B4-BE49-F238E27FC236}">
                  <a16:creationId xmlns:a16="http://schemas.microsoft.com/office/drawing/2014/main" id="{8D17C1E6-09A4-4BE4-AC9D-C0CCCEAF9E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0" y="1581"/>
              <a:ext cx="567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r>
                <a:rPr lang="en-GB" altLang="en-US" sz="17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Browsers</a:t>
              </a:r>
              <a:endParaRPr lang="en-GB" altLang="en-US" sz="2400">
                <a:latin typeface="Times" panose="02020603050405020304" pitchFamily="18" charset="0"/>
                <a:ea typeface="MS PGothic" panose="020B0600070205080204" pitchFamily="34" charset="-128"/>
              </a:endParaRPr>
            </a:p>
          </p:txBody>
        </p:sp>
        <p:sp>
          <p:nvSpPr>
            <p:cNvPr id="30734" name="Rectangle 13">
              <a:extLst>
                <a:ext uri="{FF2B5EF4-FFF2-40B4-BE49-F238E27FC236}">
                  <a16:creationId xmlns:a16="http://schemas.microsoft.com/office/drawing/2014/main" id="{6D9B486A-5865-458F-BEFB-7C78BC95DA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7" y="1172"/>
              <a:ext cx="201" cy="267"/>
            </a:xfrm>
            <a:prstGeom prst="rect">
              <a:avLst/>
            </a:prstGeom>
            <a:solidFill>
              <a:srgbClr val="D9AA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30735" name="Rectangle 14">
              <a:extLst>
                <a:ext uri="{FF2B5EF4-FFF2-40B4-BE49-F238E27FC236}">
                  <a16:creationId xmlns:a16="http://schemas.microsoft.com/office/drawing/2014/main" id="{D2481D7E-4FE7-44E6-97FC-2F7CA323F8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7" y="1172"/>
              <a:ext cx="218" cy="286"/>
            </a:xfrm>
            <a:prstGeom prst="rect">
              <a:avLst/>
            </a:prstGeom>
            <a:noFill/>
            <a:ln w="25400">
              <a:solidFill>
                <a:srgbClr val="D9AA7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30736" name="Rectangle 15">
              <a:extLst>
                <a:ext uri="{FF2B5EF4-FFF2-40B4-BE49-F238E27FC236}">
                  <a16:creationId xmlns:a16="http://schemas.microsoft.com/office/drawing/2014/main" id="{F083733B-0E3B-471E-8C0F-973B70F48A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2" y="1658"/>
              <a:ext cx="765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r>
                <a:rPr lang="en-GB" altLang="en-US" sz="17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Web servers</a:t>
              </a:r>
              <a:endParaRPr lang="en-GB" altLang="en-US" sz="2400">
                <a:latin typeface="Times" panose="02020603050405020304" pitchFamily="18" charset="0"/>
                <a:ea typeface="MS PGothic" panose="020B0600070205080204" pitchFamily="34" charset="-128"/>
              </a:endParaRPr>
            </a:p>
          </p:txBody>
        </p:sp>
        <p:sp>
          <p:nvSpPr>
            <p:cNvPr id="30737" name="Rectangle 16">
              <a:extLst>
                <a:ext uri="{FF2B5EF4-FFF2-40B4-BE49-F238E27FC236}">
                  <a16:creationId xmlns:a16="http://schemas.microsoft.com/office/drawing/2014/main" id="{9F4B79AA-B3F4-4F5D-B4FE-A122F91D97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3" y="1219"/>
              <a:ext cx="1037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r>
                <a:rPr lang="en-GB" altLang="en-US" sz="17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www.google.com</a:t>
              </a:r>
              <a:endParaRPr lang="en-GB" altLang="en-US" sz="2400">
                <a:latin typeface="Times" panose="02020603050405020304" pitchFamily="18" charset="0"/>
                <a:ea typeface="MS PGothic" panose="020B0600070205080204" pitchFamily="34" charset="-128"/>
              </a:endParaRPr>
            </a:p>
          </p:txBody>
        </p:sp>
        <p:sp>
          <p:nvSpPr>
            <p:cNvPr id="30738" name="Rectangle 17">
              <a:extLst>
                <a:ext uri="{FF2B5EF4-FFF2-40B4-BE49-F238E27FC236}">
                  <a16:creationId xmlns:a16="http://schemas.microsoft.com/office/drawing/2014/main" id="{CDB65493-6402-472A-A0DC-EF5FEE7B85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2064"/>
              <a:ext cx="665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r>
                <a:rPr lang="en-GB" altLang="en-US" sz="17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www.uu.se</a:t>
              </a:r>
              <a:endParaRPr lang="en-GB" altLang="en-US" sz="2400">
                <a:latin typeface="Times" panose="02020603050405020304" pitchFamily="18" charset="0"/>
                <a:ea typeface="MS PGothic" panose="020B0600070205080204" pitchFamily="34" charset="-128"/>
              </a:endParaRPr>
            </a:p>
          </p:txBody>
        </p:sp>
        <p:sp>
          <p:nvSpPr>
            <p:cNvPr id="30739" name="Rectangle 18">
              <a:extLst>
                <a:ext uri="{FF2B5EF4-FFF2-40B4-BE49-F238E27FC236}">
                  <a16:creationId xmlns:a16="http://schemas.microsoft.com/office/drawing/2014/main" id="{AD5CD069-18B2-4792-8B26-94299ECF0B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5" y="2573"/>
              <a:ext cx="810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r>
                <a:rPr lang="en-GB" altLang="en-US" sz="17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www.w3c.org</a:t>
              </a:r>
              <a:endParaRPr lang="en-GB" altLang="en-US" sz="2400">
                <a:latin typeface="Times" panose="02020603050405020304" pitchFamily="18" charset="0"/>
                <a:ea typeface="MS PGothic" panose="020B0600070205080204" pitchFamily="34" charset="-128"/>
              </a:endParaRPr>
            </a:p>
          </p:txBody>
        </p:sp>
        <p:sp>
          <p:nvSpPr>
            <p:cNvPr id="30740" name="Line 19">
              <a:extLst>
                <a:ext uri="{FF2B5EF4-FFF2-40B4-BE49-F238E27FC236}">
                  <a16:creationId xmlns:a16="http://schemas.microsoft.com/office/drawing/2014/main" id="{30D3F5F4-A755-4E11-AF9D-5EABE6B24F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34" y="2813"/>
              <a:ext cx="50" cy="28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41" name="Rectangle 20">
              <a:extLst>
                <a:ext uri="{FF2B5EF4-FFF2-40B4-BE49-F238E27FC236}">
                  <a16:creationId xmlns:a16="http://schemas.microsoft.com/office/drawing/2014/main" id="{A84337A2-BC11-44B7-AF40-0B0E9EF4E0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7" y="3107"/>
              <a:ext cx="569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r>
                <a:rPr lang="en-GB" altLang="en-US" sz="17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Protocols</a:t>
              </a:r>
              <a:endParaRPr lang="en-GB" altLang="en-US" sz="2400">
                <a:latin typeface="Times" panose="02020603050405020304" pitchFamily="18" charset="0"/>
                <a:ea typeface="MS PGothic" panose="020B0600070205080204" pitchFamily="34" charset="-128"/>
              </a:endParaRPr>
            </a:p>
          </p:txBody>
        </p:sp>
        <p:sp>
          <p:nvSpPr>
            <p:cNvPr id="30742" name="Line 21">
              <a:extLst>
                <a:ext uri="{FF2B5EF4-FFF2-40B4-BE49-F238E27FC236}">
                  <a16:creationId xmlns:a16="http://schemas.microsoft.com/office/drawing/2014/main" id="{6DEC7CB7-0440-42C2-8180-162A7EDFC3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16" y="3252"/>
              <a:ext cx="301" cy="26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43" name="Rectangle 22">
              <a:extLst>
                <a:ext uri="{FF2B5EF4-FFF2-40B4-BE49-F238E27FC236}">
                  <a16:creationId xmlns:a16="http://schemas.microsoft.com/office/drawing/2014/main" id="{C03965B5-911D-4B3E-B751-A6439F697E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4" y="3546"/>
              <a:ext cx="727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r>
                <a:rPr lang="en-GB" altLang="en-US" sz="17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Activity.html</a:t>
              </a:r>
              <a:endParaRPr lang="en-GB" altLang="en-US" sz="2400">
                <a:latin typeface="Times" panose="02020603050405020304" pitchFamily="18" charset="0"/>
                <a:ea typeface="MS PGothic" panose="020B0600070205080204" pitchFamily="34" charset="-128"/>
              </a:endParaRPr>
            </a:p>
          </p:txBody>
        </p:sp>
        <p:sp>
          <p:nvSpPr>
            <p:cNvPr id="30744" name="Rectangle 23">
              <a:extLst>
                <a:ext uri="{FF2B5EF4-FFF2-40B4-BE49-F238E27FC236}">
                  <a16:creationId xmlns:a16="http://schemas.microsoft.com/office/drawing/2014/main" id="{728F61CF-ECD6-4D83-85F1-DED8CC771B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0" y="2936"/>
              <a:ext cx="2521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r>
                <a:rPr lang="en-GB" altLang="en-US" sz="17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http://www.w3c.org/Protocols/Activity.html</a:t>
              </a:r>
              <a:endParaRPr lang="en-GB" altLang="en-US" sz="2400">
                <a:latin typeface="Times" panose="02020603050405020304" pitchFamily="18" charset="0"/>
                <a:ea typeface="MS PGothic" panose="020B0600070205080204" pitchFamily="34" charset="-128"/>
              </a:endParaRPr>
            </a:p>
          </p:txBody>
        </p:sp>
        <p:sp>
          <p:nvSpPr>
            <p:cNvPr id="30745" name="Rectangle 24">
              <a:extLst>
                <a:ext uri="{FF2B5EF4-FFF2-40B4-BE49-F238E27FC236}">
                  <a16:creationId xmlns:a16="http://schemas.microsoft.com/office/drawing/2014/main" id="{280F55B3-9F66-4C1B-923A-B395C1BC67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4" y="1104"/>
              <a:ext cx="1385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r>
                <a:rPr lang="en-GB" altLang="en-US" sz="17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http://www.google.com</a:t>
              </a:r>
              <a:endParaRPr lang="en-GB" altLang="en-US" sz="2400">
                <a:latin typeface="Times" panose="02020603050405020304" pitchFamily="18" charset="0"/>
                <a:ea typeface="MS PGothic" panose="020B0600070205080204" pitchFamily="34" charset="-128"/>
              </a:endParaRPr>
            </a:p>
          </p:txBody>
        </p:sp>
        <p:sp>
          <p:nvSpPr>
            <p:cNvPr id="30746" name="Rectangle 25">
              <a:extLst>
                <a:ext uri="{FF2B5EF4-FFF2-40B4-BE49-F238E27FC236}">
                  <a16:creationId xmlns:a16="http://schemas.microsoft.com/office/drawing/2014/main" id="{10FD79B1-9673-4B2F-8359-FC9593EE7B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8" y="2112"/>
              <a:ext cx="1271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r>
                <a:rPr lang="en-GB" altLang="en-US" sz="17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http://www.gvsu.edu/</a:t>
              </a:r>
              <a:endParaRPr lang="en-GB" altLang="en-US" sz="2400">
                <a:latin typeface="Times" panose="02020603050405020304" pitchFamily="18" charset="0"/>
                <a:ea typeface="MS PGothic" panose="020B0600070205080204" pitchFamily="34" charset="-128"/>
              </a:endParaRPr>
            </a:p>
          </p:txBody>
        </p:sp>
        <p:sp>
          <p:nvSpPr>
            <p:cNvPr id="30747" name="Freeform 26">
              <a:extLst>
                <a:ext uri="{FF2B5EF4-FFF2-40B4-BE49-F238E27FC236}">
                  <a16:creationId xmlns:a16="http://schemas.microsoft.com/office/drawing/2014/main" id="{CE649B1C-2EDC-4515-9EEC-B03A60237D2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4" y="2794"/>
              <a:ext cx="16" cy="1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0 h 1"/>
                <a:gd name="T6" fmla="*/ 0 60000 65536"/>
                <a:gd name="T7" fmla="*/ 0 60000 65536"/>
                <a:gd name="T8" fmla="*/ 0 60000 65536"/>
                <a:gd name="T9" fmla="*/ 0 w 16"/>
                <a:gd name="T10" fmla="*/ 0 h 1"/>
                <a:gd name="T11" fmla="*/ 16 w 16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lnTo>
                    <a:pt x="0" y="0"/>
                  </a:lnTo>
                </a:path>
              </a:pathLst>
            </a:custGeom>
            <a:noFill/>
            <a:ln w="254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48" name="Line 27">
              <a:extLst>
                <a:ext uri="{FF2B5EF4-FFF2-40B4-BE49-F238E27FC236}">
                  <a16:creationId xmlns:a16="http://schemas.microsoft.com/office/drawing/2014/main" id="{6AA7DAA6-5353-4C78-AACA-89D3B1AA43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00" y="2851"/>
              <a:ext cx="34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49" name="Line 28">
              <a:extLst>
                <a:ext uri="{FF2B5EF4-FFF2-40B4-BE49-F238E27FC236}">
                  <a16:creationId xmlns:a16="http://schemas.microsoft.com/office/drawing/2014/main" id="{0092564F-8BD6-45DA-A5E3-41F7C9EE8E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33" y="2908"/>
              <a:ext cx="17" cy="1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50" name="Line 29">
              <a:extLst>
                <a:ext uri="{FF2B5EF4-FFF2-40B4-BE49-F238E27FC236}">
                  <a16:creationId xmlns:a16="http://schemas.microsoft.com/office/drawing/2014/main" id="{FFCBC004-262C-4E4E-A94E-9D37223990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50" y="2965"/>
              <a:ext cx="17" cy="2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51" name="Line 30">
              <a:extLst>
                <a:ext uri="{FF2B5EF4-FFF2-40B4-BE49-F238E27FC236}">
                  <a16:creationId xmlns:a16="http://schemas.microsoft.com/office/drawing/2014/main" id="{5D42A758-F7AA-4242-81D9-E34BB37209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67" y="3042"/>
              <a:ext cx="16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52" name="Line 31">
              <a:extLst>
                <a:ext uri="{FF2B5EF4-FFF2-40B4-BE49-F238E27FC236}">
                  <a16:creationId xmlns:a16="http://schemas.microsoft.com/office/drawing/2014/main" id="{99A81B72-26A7-4592-A5E8-933E41B682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83" y="3099"/>
              <a:ext cx="16" cy="1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53" name="Line 32">
              <a:extLst>
                <a:ext uri="{FF2B5EF4-FFF2-40B4-BE49-F238E27FC236}">
                  <a16:creationId xmlns:a16="http://schemas.microsoft.com/office/drawing/2014/main" id="{A544F73D-BD05-43D8-80C3-19C7C19821C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99" y="3156"/>
              <a:ext cx="17" cy="1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54" name="Line 33">
              <a:extLst>
                <a:ext uri="{FF2B5EF4-FFF2-40B4-BE49-F238E27FC236}">
                  <a16:creationId xmlns:a16="http://schemas.microsoft.com/office/drawing/2014/main" id="{5E578D71-5E05-4276-9D18-67236F75D0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16" y="3213"/>
              <a:ext cx="32" cy="2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55" name="Line 34">
              <a:extLst>
                <a:ext uri="{FF2B5EF4-FFF2-40B4-BE49-F238E27FC236}">
                  <a16:creationId xmlns:a16="http://schemas.microsoft.com/office/drawing/2014/main" id="{C32E5197-9DA1-47C6-B70F-5AE37132C1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32" y="3290"/>
              <a:ext cx="33" cy="1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56" name="Line 35">
              <a:extLst>
                <a:ext uri="{FF2B5EF4-FFF2-40B4-BE49-F238E27FC236}">
                  <a16:creationId xmlns:a16="http://schemas.microsoft.com/office/drawing/2014/main" id="{EBCC4FC4-4594-4917-A5BB-BAC1AA0E6F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65" y="3347"/>
              <a:ext cx="17" cy="1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57" name="Line 36">
              <a:extLst>
                <a:ext uri="{FF2B5EF4-FFF2-40B4-BE49-F238E27FC236}">
                  <a16:creationId xmlns:a16="http://schemas.microsoft.com/office/drawing/2014/main" id="{08502D41-AC5A-483D-94FA-197F8E5C24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81" y="3404"/>
              <a:ext cx="17" cy="2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58" name="Line 37">
              <a:extLst>
                <a:ext uri="{FF2B5EF4-FFF2-40B4-BE49-F238E27FC236}">
                  <a16:creationId xmlns:a16="http://schemas.microsoft.com/office/drawing/2014/main" id="{18D886E4-9102-48B2-B28A-C3E5FAD1BA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7" y="3481"/>
              <a:ext cx="18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59" name="Line 38">
              <a:extLst>
                <a:ext uri="{FF2B5EF4-FFF2-40B4-BE49-F238E27FC236}">
                  <a16:creationId xmlns:a16="http://schemas.microsoft.com/office/drawing/2014/main" id="{BB379F95-151E-46C3-9EA5-6D4325DB33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14" y="3538"/>
              <a:ext cx="17" cy="1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60" name="Line 39">
              <a:extLst>
                <a:ext uri="{FF2B5EF4-FFF2-40B4-BE49-F238E27FC236}">
                  <a16:creationId xmlns:a16="http://schemas.microsoft.com/office/drawing/2014/main" id="{53855988-62B4-4035-AA39-16FBB46B56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30" y="3595"/>
              <a:ext cx="17" cy="1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61" name="Line 40">
              <a:extLst>
                <a:ext uri="{FF2B5EF4-FFF2-40B4-BE49-F238E27FC236}">
                  <a16:creationId xmlns:a16="http://schemas.microsoft.com/office/drawing/2014/main" id="{29619EB6-571B-4E4B-A1F1-684579A101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46" y="3652"/>
              <a:ext cx="34" cy="2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62" name="Freeform 41">
              <a:extLst>
                <a:ext uri="{FF2B5EF4-FFF2-40B4-BE49-F238E27FC236}">
                  <a16:creationId xmlns:a16="http://schemas.microsoft.com/office/drawing/2014/main" id="{6D273E01-AE69-45D8-8FAE-AFC043EC49B6}"/>
                </a:ext>
              </a:extLst>
            </p:cNvPr>
            <p:cNvSpPr>
              <a:spLocks/>
            </p:cNvSpPr>
            <p:nvPr/>
          </p:nvSpPr>
          <p:spPr bwMode="auto">
            <a:xfrm>
              <a:off x="880" y="3729"/>
              <a:ext cx="16" cy="1"/>
            </a:xfrm>
            <a:custGeom>
              <a:avLst/>
              <a:gdLst>
                <a:gd name="T0" fmla="*/ 16 w 16"/>
                <a:gd name="T1" fmla="*/ 0 h 1"/>
                <a:gd name="T2" fmla="*/ 0 w 16"/>
                <a:gd name="T3" fmla="*/ 0 h 1"/>
                <a:gd name="T4" fmla="*/ 16 w 16"/>
                <a:gd name="T5" fmla="*/ 0 h 1"/>
                <a:gd name="T6" fmla="*/ 0 60000 65536"/>
                <a:gd name="T7" fmla="*/ 0 60000 65536"/>
                <a:gd name="T8" fmla="*/ 0 60000 65536"/>
                <a:gd name="T9" fmla="*/ 0 w 16"/>
                <a:gd name="T10" fmla="*/ 0 h 1"/>
                <a:gd name="T11" fmla="*/ 16 w 16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" h="1">
                  <a:moveTo>
                    <a:pt x="16" y="0"/>
                  </a:moveTo>
                  <a:lnTo>
                    <a:pt x="0" y="0"/>
                  </a:lnTo>
                  <a:lnTo>
                    <a:pt x="16" y="0"/>
                  </a:lnTo>
                  <a:close/>
                </a:path>
              </a:pathLst>
            </a:custGeom>
            <a:noFill/>
            <a:ln w="254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63" name="Line 42">
              <a:extLst>
                <a:ext uri="{FF2B5EF4-FFF2-40B4-BE49-F238E27FC236}">
                  <a16:creationId xmlns:a16="http://schemas.microsoft.com/office/drawing/2014/main" id="{8C8E1841-9963-4EFB-B1B9-A546BCD424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4" y="3729"/>
              <a:ext cx="33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64" name="Line 43">
              <a:extLst>
                <a:ext uri="{FF2B5EF4-FFF2-40B4-BE49-F238E27FC236}">
                  <a16:creationId xmlns:a16="http://schemas.microsoft.com/office/drawing/2014/main" id="{3D442C8C-FE99-48A7-A5FF-90A124347B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4" y="3729"/>
              <a:ext cx="33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65" name="Line 44">
              <a:extLst>
                <a:ext uri="{FF2B5EF4-FFF2-40B4-BE49-F238E27FC236}">
                  <a16:creationId xmlns:a16="http://schemas.microsoft.com/office/drawing/2014/main" id="{5E767C11-F846-4026-8733-5B460EE98A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4" y="3729"/>
              <a:ext cx="33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66" name="Line 45">
              <a:extLst>
                <a:ext uri="{FF2B5EF4-FFF2-40B4-BE49-F238E27FC236}">
                  <a16:creationId xmlns:a16="http://schemas.microsoft.com/office/drawing/2014/main" id="{3A716456-30E4-4B1B-9AF2-CC8CD8A2C3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65" y="3729"/>
              <a:ext cx="16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67" name="Line 46">
              <a:extLst>
                <a:ext uri="{FF2B5EF4-FFF2-40B4-BE49-F238E27FC236}">
                  <a16:creationId xmlns:a16="http://schemas.microsoft.com/office/drawing/2014/main" id="{8F41D336-1329-4BF1-8AEC-35B1A3D133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65" y="3729"/>
              <a:ext cx="17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68" name="Line 47">
              <a:extLst>
                <a:ext uri="{FF2B5EF4-FFF2-40B4-BE49-F238E27FC236}">
                  <a16:creationId xmlns:a16="http://schemas.microsoft.com/office/drawing/2014/main" id="{8A36A278-E00E-4394-BE0A-6CF01249C4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5" y="3729"/>
              <a:ext cx="17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69" name="Line 48">
              <a:extLst>
                <a:ext uri="{FF2B5EF4-FFF2-40B4-BE49-F238E27FC236}">
                  <a16:creationId xmlns:a16="http://schemas.microsoft.com/office/drawing/2014/main" id="{EC32CD85-C0E9-4868-A69D-E2C9089230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6" y="3729"/>
              <a:ext cx="16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70" name="Line 49">
              <a:extLst>
                <a:ext uri="{FF2B5EF4-FFF2-40B4-BE49-F238E27FC236}">
                  <a16:creationId xmlns:a16="http://schemas.microsoft.com/office/drawing/2014/main" id="{8EEA5E8C-FF33-4574-B0D7-6088EE283C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66" y="3729"/>
              <a:ext cx="17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71" name="Line 50">
              <a:extLst>
                <a:ext uri="{FF2B5EF4-FFF2-40B4-BE49-F238E27FC236}">
                  <a16:creationId xmlns:a16="http://schemas.microsoft.com/office/drawing/2014/main" id="{D9B36438-3C01-413B-88DC-BC7188F35E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9" y="3729"/>
              <a:ext cx="34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72" name="Line 51">
              <a:extLst>
                <a:ext uri="{FF2B5EF4-FFF2-40B4-BE49-F238E27FC236}">
                  <a16:creationId xmlns:a16="http://schemas.microsoft.com/office/drawing/2014/main" id="{504FEC9E-0762-4B1E-AEA8-4037DEBFD9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50" y="3729"/>
              <a:ext cx="33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73" name="Line 52">
              <a:extLst>
                <a:ext uri="{FF2B5EF4-FFF2-40B4-BE49-F238E27FC236}">
                  <a16:creationId xmlns:a16="http://schemas.microsoft.com/office/drawing/2014/main" id="{300219B1-6F05-44B5-BF64-2FC746E74D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50" y="3729"/>
              <a:ext cx="34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74" name="Line 53">
              <a:extLst>
                <a:ext uri="{FF2B5EF4-FFF2-40B4-BE49-F238E27FC236}">
                  <a16:creationId xmlns:a16="http://schemas.microsoft.com/office/drawing/2014/main" id="{7457963B-69FB-4D15-BF3D-E5959C177F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50" y="3729"/>
              <a:ext cx="34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75" name="Line 54">
              <a:extLst>
                <a:ext uri="{FF2B5EF4-FFF2-40B4-BE49-F238E27FC236}">
                  <a16:creationId xmlns:a16="http://schemas.microsoft.com/office/drawing/2014/main" id="{6287EC2D-ACD2-4A6F-B462-16506204A2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51" y="3729"/>
              <a:ext cx="33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76" name="Line 55">
              <a:extLst>
                <a:ext uri="{FF2B5EF4-FFF2-40B4-BE49-F238E27FC236}">
                  <a16:creationId xmlns:a16="http://schemas.microsoft.com/office/drawing/2014/main" id="{3C7BD263-E1B8-4CA3-BC90-F938E426F1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1" y="3729"/>
              <a:ext cx="17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77" name="Line 56">
              <a:extLst>
                <a:ext uri="{FF2B5EF4-FFF2-40B4-BE49-F238E27FC236}">
                  <a16:creationId xmlns:a16="http://schemas.microsoft.com/office/drawing/2014/main" id="{9F5E3465-552E-42E9-90E7-650A08CC5C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1" y="3729"/>
              <a:ext cx="18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78" name="Line 57">
              <a:extLst>
                <a:ext uri="{FF2B5EF4-FFF2-40B4-BE49-F238E27FC236}">
                  <a16:creationId xmlns:a16="http://schemas.microsoft.com/office/drawing/2014/main" id="{730123D1-5522-4CA1-94A6-F119033E9F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52" y="3729"/>
              <a:ext cx="17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79" name="Line 58">
              <a:extLst>
                <a:ext uri="{FF2B5EF4-FFF2-40B4-BE49-F238E27FC236}">
                  <a16:creationId xmlns:a16="http://schemas.microsoft.com/office/drawing/2014/main" id="{F456E4D8-C634-4499-A1FA-0B0134C538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52" y="3729"/>
              <a:ext cx="17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80" name="Line 59">
              <a:extLst>
                <a:ext uri="{FF2B5EF4-FFF2-40B4-BE49-F238E27FC236}">
                  <a16:creationId xmlns:a16="http://schemas.microsoft.com/office/drawing/2014/main" id="{26A1CF2E-10A9-4047-95C5-55CECFAB55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36" y="3729"/>
              <a:ext cx="34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81" name="Line 60">
              <a:extLst>
                <a:ext uri="{FF2B5EF4-FFF2-40B4-BE49-F238E27FC236}">
                  <a16:creationId xmlns:a16="http://schemas.microsoft.com/office/drawing/2014/main" id="{8A9C5120-DED9-4E89-B2DE-D839603B90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3729"/>
              <a:ext cx="34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82" name="Line 61">
              <a:extLst>
                <a:ext uri="{FF2B5EF4-FFF2-40B4-BE49-F238E27FC236}">
                  <a16:creationId xmlns:a16="http://schemas.microsoft.com/office/drawing/2014/main" id="{16DC6111-4D51-4168-B248-C2F932BC68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7" y="3729"/>
              <a:ext cx="33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83" name="Line 62">
              <a:extLst>
                <a:ext uri="{FF2B5EF4-FFF2-40B4-BE49-F238E27FC236}">
                  <a16:creationId xmlns:a16="http://schemas.microsoft.com/office/drawing/2014/main" id="{2A928042-DD75-4068-8139-7A7B189E78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37" y="3729"/>
              <a:ext cx="34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84" name="Line 63">
              <a:extLst>
                <a:ext uri="{FF2B5EF4-FFF2-40B4-BE49-F238E27FC236}">
                  <a16:creationId xmlns:a16="http://schemas.microsoft.com/office/drawing/2014/main" id="{9AEC201D-4549-47C5-BE53-B22C782CFD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37" y="3729"/>
              <a:ext cx="34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85" name="Line 64">
              <a:extLst>
                <a:ext uri="{FF2B5EF4-FFF2-40B4-BE49-F238E27FC236}">
                  <a16:creationId xmlns:a16="http://schemas.microsoft.com/office/drawing/2014/main" id="{F728B435-716B-481B-93D0-A8AD843D23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8" y="3729"/>
              <a:ext cx="16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86" name="Line 65">
              <a:extLst>
                <a:ext uri="{FF2B5EF4-FFF2-40B4-BE49-F238E27FC236}">
                  <a16:creationId xmlns:a16="http://schemas.microsoft.com/office/drawing/2014/main" id="{364C2AA8-A43A-4258-ACC1-3FDCF00469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" y="3729"/>
              <a:ext cx="16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87" name="Freeform 66">
              <a:extLst>
                <a:ext uri="{FF2B5EF4-FFF2-40B4-BE49-F238E27FC236}">
                  <a16:creationId xmlns:a16="http://schemas.microsoft.com/office/drawing/2014/main" id="{6E1F12D6-BCF5-4B20-9281-8D481AE4C77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8" y="3729"/>
              <a:ext cx="17" cy="1"/>
            </a:xfrm>
            <a:custGeom>
              <a:avLst/>
              <a:gdLst>
                <a:gd name="T0" fmla="*/ 0 w 17"/>
                <a:gd name="T1" fmla="*/ 0 h 1"/>
                <a:gd name="T2" fmla="*/ 17 w 17"/>
                <a:gd name="T3" fmla="*/ 0 h 1"/>
                <a:gd name="T4" fmla="*/ 0 w 17"/>
                <a:gd name="T5" fmla="*/ 0 h 1"/>
                <a:gd name="T6" fmla="*/ 0 60000 65536"/>
                <a:gd name="T7" fmla="*/ 0 60000 65536"/>
                <a:gd name="T8" fmla="*/ 0 60000 65536"/>
                <a:gd name="T9" fmla="*/ 0 w 17"/>
                <a:gd name="T10" fmla="*/ 0 h 1"/>
                <a:gd name="T11" fmla="*/ 17 w 17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" h="1">
                  <a:moveTo>
                    <a:pt x="0" y="0"/>
                  </a:moveTo>
                  <a:lnTo>
                    <a:pt x="17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4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88" name="Line 67">
              <a:extLst>
                <a:ext uri="{FF2B5EF4-FFF2-40B4-BE49-F238E27FC236}">
                  <a16:creationId xmlns:a16="http://schemas.microsoft.com/office/drawing/2014/main" id="{D570B35A-A07D-4C7B-950F-4B4CE664C3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254" y="3652"/>
              <a:ext cx="18" cy="2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89" name="Line 68">
              <a:extLst>
                <a:ext uri="{FF2B5EF4-FFF2-40B4-BE49-F238E27FC236}">
                  <a16:creationId xmlns:a16="http://schemas.microsoft.com/office/drawing/2014/main" id="{73055B09-2D46-4943-938E-32B4AD168F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171" y="3595"/>
              <a:ext cx="17" cy="1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90" name="Line 69">
              <a:extLst>
                <a:ext uri="{FF2B5EF4-FFF2-40B4-BE49-F238E27FC236}">
                  <a16:creationId xmlns:a16="http://schemas.microsoft.com/office/drawing/2014/main" id="{EB1D4FB7-C9A4-4F78-B947-49B4E8826B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087" y="3538"/>
              <a:ext cx="17" cy="1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91" name="Line 70">
              <a:extLst>
                <a:ext uri="{FF2B5EF4-FFF2-40B4-BE49-F238E27FC236}">
                  <a16:creationId xmlns:a16="http://schemas.microsoft.com/office/drawing/2014/main" id="{6E959C19-8452-445F-9451-7F962F1CD8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04" y="3481"/>
              <a:ext cx="17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92" name="Line 71">
              <a:extLst>
                <a:ext uri="{FF2B5EF4-FFF2-40B4-BE49-F238E27FC236}">
                  <a16:creationId xmlns:a16="http://schemas.microsoft.com/office/drawing/2014/main" id="{320B21AC-5DED-481B-AFE8-69E277A196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921" y="3404"/>
              <a:ext cx="16" cy="2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93" name="Line 72">
              <a:extLst>
                <a:ext uri="{FF2B5EF4-FFF2-40B4-BE49-F238E27FC236}">
                  <a16:creationId xmlns:a16="http://schemas.microsoft.com/office/drawing/2014/main" id="{E9339A07-BA38-4B23-9EE0-28CFB582D5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837" y="3347"/>
              <a:ext cx="16" cy="1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94" name="Line 73">
              <a:extLst>
                <a:ext uri="{FF2B5EF4-FFF2-40B4-BE49-F238E27FC236}">
                  <a16:creationId xmlns:a16="http://schemas.microsoft.com/office/drawing/2014/main" id="{C417BAFA-EBE8-4750-A7E5-DFD1E266E5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753" y="3290"/>
              <a:ext cx="17" cy="1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95" name="Line 74">
              <a:extLst>
                <a:ext uri="{FF2B5EF4-FFF2-40B4-BE49-F238E27FC236}">
                  <a16:creationId xmlns:a16="http://schemas.microsoft.com/office/drawing/2014/main" id="{C1876BE9-3BF8-48B0-9CC4-A463E96571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670" y="3213"/>
              <a:ext cx="16" cy="2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96" name="Line 75">
              <a:extLst>
                <a:ext uri="{FF2B5EF4-FFF2-40B4-BE49-F238E27FC236}">
                  <a16:creationId xmlns:a16="http://schemas.microsoft.com/office/drawing/2014/main" id="{5D2BEB96-8E86-4DB1-B53A-D1904DE4BD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586" y="3156"/>
              <a:ext cx="16" cy="1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97" name="Line 76">
              <a:extLst>
                <a:ext uri="{FF2B5EF4-FFF2-40B4-BE49-F238E27FC236}">
                  <a16:creationId xmlns:a16="http://schemas.microsoft.com/office/drawing/2014/main" id="{F51D8DC3-F9D5-4099-973A-3EC342F6C9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502" y="3099"/>
              <a:ext cx="17" cy="1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98" name="Line 77">
              <a:extLst>
                <a:ext uri="{FF2B5EF4-FFF2-40B4-BE49-F238E27FC236}">
                  <a16:creationId xmlns:a16="http://schemas.microsoft.com/office/drawing/2014/main" id="{AFD36CF7-FD60-4939-93F3-E65A5D12CD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19" y="3042"/>
              <a:ext cx="16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99" name="Line 78">
              <a:extLst>
                <a:ext uri="{FF2B5EF4-FFF2-40B4-BE49-F238E27FC236}">
                  <a16:creationId xmlns:a16="http://schemas.microsoft.com/office/drawing/2014/main" id="{33ABE048-7CBF-47EB-8C2F-48280330E44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335" y="2965"/>
              <a:ext cx="16" cy="2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00" name="Line 79">
              <a:extLst>
                <a:ext uri="{FF2B5EF4-FFF2-40B4-BE49-F238E27FC236}">
                  <a16:creationId xmlns:a16="http://schemas.microsoft.com/office/drawing/2014/main" id="{B313E886-A31D-4D27-8DB1-51B0C955F9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251" y="2908"/>
              <a:ext cx="17" cy="1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01" name="Line 80">
              <a:extLst>
                <a:ext uri="{FF2B5EF4-FFF2-40B4-BE49-F238E27FC236}">
                  <a16:creationId xmlns:a16="http://schemas.microsoft.com/office/drawing/2014/main" id="{338B8EF4-201A-4EAB-9FC7-CCD283A6347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68" y="2851"/>
              <a:ext cx="16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02" name="Rectangle 81">
              <a:extLst>
                <a:ext uri="{FF2B5EF4-FFF2-40B4-BE49-F238E27FC236}">
                  <a16:creationId xmlns:a16="http://schemas.microsoft.com/office/drawing/2014/main" id="{FE1ED10E-51B0-478C-B648-CE9336861C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2993"/>
              <a:ext cx="840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r>
                <a:rPr lang="en-GB" altLang="en-US" sz="17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File system of</a:t>
              </a:r>
              <a:endParaRPr lang="en-GB" altLang="en-US" sz="2400">
                <a:latin typeface="Times" panose="02020603050405020304" pitchFamily="18" charset="0"/>
                <a:ea typeface="MS PGothic" panose="020B0600070205080204" pitchFamily="34" charset="-128"/>
              </a:endParaRPr>
            </a:p>
          </p:txBody>
        </p:sp>
        <p:sp>
          <p:nvSpPr>
            <p:cNvPr id="30803" name="Rectangle 82">
              <a:extLst>
                <a:ext uri="{FF2B5EF4-FFF2-40B4-BE49-F238E27FC236}">
                  <a16:creationId xmlns:a16="http://schemas.microsoft.com/office/drawing/2014/main" id="{6CAC53F5-C8B2-4346-8E8E-98107E71BF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3165"/>
              <a:ext cx="809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r>
                <a:rPr lang="en-GB" altLang="en-US" sz="17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www.w3c.org</a:t>
              </a:r>
              <a:endParaRPr lang="en-GB" altLang="en-US" sz="2400">
                <a:latin typeface="Times" panose="02020603050405020304" pitchFamily="18" charset="0"/>
                <a:ea typeface="MS PGothic" panose="020B0600070205080204" pitchFamily="34" charset="-128"/>
              </a:endParaRPr>
            </a:p>
          </p:txBody>
        </p:sp>
        <p:sp>
          <p:nvSpPr>
            <p:cNvPr id="30804" name="Oval 83">
              <a:extLst>
                <a:ext uri="{FF2B5EF4-FFF2-40B4-BE49-F238E27FC236}">
                  <a16:creationId xmlns:a16="http://schemas.microsoft.com/office/drawing/2014/main" id="{3726D8D9-E59A-4AD0-A66B-70DD028A04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4" y="1210"/>
              <a:ext cx="184" cy="191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30805" name="Rectangle 84">
              <a:extLst>
                <a:ext uri="{FF2B5EF4-FFF2-40B4-BE49-F238E27FC236}">
                  <a16:creationId xmlns:a16="http://schemas.microsoft.com/office/drawing/2014/main" id="{1B92898D-A8FA-483F-9690-D09A43A2D1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7" y="2012"/>
              <a:ext cx="200" cy="248"/>
            </a:xfrm>
            <a:prstGeom prst="rect">
              <a:avLst/>
            </a:prstGeom>
            <a:solidFill>
              <a:srgbClr val="D9AA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30806" name="Rectangle 85">
              <a:extLst>
                <a:ext uri="{FF2B5EF4-FFF2-40B4-BE49-F238E27FC236}">
                  <a16:creationId xmlns:a16="http://schemas.microsoft.com/office/drawing/2014/main" id="{1F867B02-6594-4C8D-A643-E73D44C94D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7" y="2012"/>
              <a:ext cx="217" cy="266"/>
            </a:xfrm>
            <a:prstGeom prst="rect">
              <a:avLst/>
            </a:prstGeom>
            <a:noFill/>
            <a:ln w="25400">
              <a:solidFill>
                <a:srgbClr val="D9AA7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30807" name="Oval 86">
              <a:extLst>
                <a:ext uri="{FF2B5EF4-FFF2-40B4-BE49-F238E27FC236}">
                  <a16:creationId xmlns:a16="http://schemas.microsoft.com/office/drawing/2014/main" id="{5E5009FA-B0A8-4F32-AF6B-E0940BC32E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3" y="2031"/>
              <a:ext cx="184" cy="209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30808" name="Rectangle 87">
              <a:extLst>
                <a:ext uri="{FF2B5EF4-FFF2-40B4-BE49-F238E27FC236}">
                  <a16:creationId xmlns:a16="http://schemas.microsoft.com/office/drawing/2014/main" id="{666EC153-0386-4ED0-8E9E-E6ECECD529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0" y="2508"/>
              <a:ext cx="201" cy="266"/>
            </a:xfrm>
            <a:prstGeom prst="rect">
              <a:avLst/>
            </a:prstGeom>
            <a:solidFill>
              <a:srgbClr val="D9AA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30809" name="Rectangle 88">
              <a:extLst>
                <a:ext uri="{FF2B5EF4-FFF2-40B4-BE49-F238E27FC236}">
                  <a16:creationId xmlns:a16="http://schemas.microsoft.com/office/drawing/2014/main" id="{872410DE-6E96-4269-9ED0-C47E66F4D3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0" y="2508"/>
              <a:ext cx="218" cy="286"/>
            </a:xfrm>
            <a:prstGeom prst="rect">
              <a:avLst/>
            </a:prstGeom>
            <a:noFill/>
            <a:ln w="25400">
              <a:solidFill>
                <a:srgbClr val="D9AA7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30810" name="Oval 89">
              <a:extLst>
                <a:ext uri="{FF2B5EF4-FFF2-40B4-BE49-F238E27FC236}">
                  <a16:creationId xmlns:a16="http://schemas.microsoft.com/office/drawing/2014/main" id="{38C90371-800B-4406-8116-BFC44A20A7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7" y="2526"/>
              <a:ext cx="167" cy="210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30811" name="Oval 90">
              <a:extLst>
                <a:ext uri="{FF2B5EF4-FFF2-40B4-BE49-F238E27FC236}">
                  <a16:creationId xmlns:a16="http://schemas.microsoft.com/office/drawing/2014/main" id="{8C18475D-0320-45D1-9ED5-2CE4AF9AC4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2" y="1267"/>
              <a:ext cx="185" cy="211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30812" name="Oval 91">
              <a:extLst>
                <a:ext uri="{FF2B5EF4-FFF2-40B4-BE49-F238E27FC236}">
                  <a16:creationId xmlns:a16="http://schemas.microsoft.com/office/drawing/2014/main" id="{31B2F326-94B3-48BC-B481-947BED0E56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10" y="1935"/>
              <a:ext cx="184" cy="210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  <p:sp>
          <p:nvSpPr>
            <p:cNvPr id="30813" name="Oval 92">
              <a:extLst>
                <a:ext uri="{FF2B5EF4-FFF2-40B4-BE49-F238E27FC236}">
                  <a16:creationId xmlns:a16="http://schemas.microsoft.com/office/drawing/2014/main" id="{EEAFE10C-FC09-486A-8CA0-4367FFAA72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3" y="2660"/>
              <a:ext cx="184" cy="210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algn="ctr">
                <a:spcBef>
                  <a:spcPct val="20000"/>
                </a:spcBef>
                <a:buClr>
                  <a:schemeClr val="accent2"/>
                </a:buCl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</a:pPr>
              <a:endParaRPr lang="sv-SE" altLang="en-US" sz="2400">
                <a:ea typeface="MS PGothic" panose="020B0600070205080204" pitchFamily="34" charset="-128"/>
              </a:endParaRPr>
            </a:p>
          </p:txBody>
        </p:sp>
      </p:grpSp>
      <p:sp>
        <p:nvSpPr>
          <p:cNvPr id="30724" name="TextBox 92">
            <a:extLst>
              <a:ext uri="{FF2B5EF4-FFF2-40B4-BE49-F238E27FC236}">
                <a16:creationId xmlns:a16="http://schemas.microsoft.com/office/drawing/2014/main" id="{0B951F82-AD3B-4782-9ECB-73A402049A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0638" y="6207125"/>
            <a:ext cx="41163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spcBef>
                <a:spcPct val="20000"/>
              </a:spcBef>
              <a:buClr>
                <a:schemeClr val="accent2"/>
              </a:buCl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</a:pPr>
            <a:r>
              <a:rPr lang="en-US" altLang="en-US" sz="2400">
                <a:solidFill>
                  <a:srgbClr val="0070C0"/>
                </a:solidFill>
              </a:rPr>
              <a:t>Web Servers and Web Brower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86B68CAA-95CF-4D1C-B04E-778E0FC089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System Architecture (1)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5502C4A9-7A31-4520-B978-83F79A48AA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4076700"/>
            <a:ext cx="9144000" cy="838200"/>
          </a:xfrm>
        </p:spPr>
        <p:txBody>
          <a:bodyPr/>
          <a:lstStyle/>
          <a:p>
            <a:pPr eaLnBrk="1" hangingPunct="1"/>
            <a:r>
              <a:rPr lang="en-US" altLang="en-US" sz="2400"/>
              <a:t>General interaction between a client and a server.</a:t>
            </a:r>
            <a:endParaRPr lang="en-US" altLang="en-US"/>
          </a:p>
        </p:txBody>
      </p:sp>
      <p:sp>
        <p:nvSpPr>
          <p:cNvPr id="31748" name="Text Box 4">
            <a:extLst>
              <a:ext uri="{FF2B5EF4-FFF2-40B4-BE49-F238E27FC236}">
                <a16:creationId xmlns:a16="http://schemas.microsoft.com/office/drawing/2014/main" id="{8EEDD46A-9D71-4B62-A803-B5E7B8FAF1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2057400"/>
            <a:ext cx="1295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20000"/>
              </a:spcBef>
              <a:buClr>
                <a:schemeClr val="accent2"/>
              </a:buCl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</a:pPr>
            <a:r>
              <a:rPr lang="en-US" altLang="en-US" sz="2400"/>
              <a:t>1.25</a:t>
            </a:r>
          </a:p>
        </p:txBody>
      </p:sp>
      <p:pic>
        <p:nvPicPr>
          <p:cNvPr id="31749" name="Picture 5">
            <a:extLst>
              <a:ext uri="{FF2B5EF4-FFF2-40B4-BE49-F238E27FC236}">
                <a16:creationId xmlns:a16="http://schemas.microsoft.com/office/drawing/2014/main" id="{24F83980-02C6-430D-BA7C-992C110B1D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924" t="46828" r="30144" b="40483"/>
          <a:stretch>
            <a:fillRect/>
          </a:stretch>
        </p:blipFill>
        <p:spPr bwMode="auto">
          <a:xfrm>
            <a:off x="1281113" y="914400"/>
            <a:ext cx="6581775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1750" name="TextBox 1">
            <a:extLst>
              <a:ext uri="{FF2B5EF4-FFF2-40B4-BE49-F238E27FC236}">
                <a16:creationId xmlns:a16="http://schemas.microsoft.com/office/drawing/2014/main" id="{45F273FF-E060-451A-88FD-EADF5E84C1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63850" y="5670550"/>
            <a:ext cx="33893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spcBef>
                <a:spcPct val="20000"/>
              </a:spcBef>
              <a:buClr>
                <a:schemeClr val="accent2"/>
              </a:buCl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</a:pPr>
            <a:r>
              <a:rPr lang="en-US" altLang="en-US" sz="2400">
                <a:solidFill>
                  <a:srgbClr val="0070C0"/>
                </a:solidFill>
              </a:rPr>
              <a:t>Client-Server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EEF78D47-631F-4FA1-978E-F0FE92495D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System Architecture (2)</a:t>
            </a:r>
            <a:endParaRPr lang="en-GB" altLang="zh-TW">
              <a:ea typeface="新細明體" panose="02020500000000000000" pitchFamily="18" charset="-120"/>
            </a:endParaRPr>
          </a:p>
        </p:txBody>
      </p:sp>
      <p:pic>
        <p:nvPicPr>
          <p:cNvPr id="32771" name="Picture 3">
            <a:extLst>
              <a:ext uri="{FF2B5EF4-FFF2-40B4-BE49-F238E27FC236}">
                <a16:creationId xmlns:a16="http://schemas.microsoft.com/office/drawing/2014/main" id="{43942B3D-DEAA-4FBF-BF46-B68982FAA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625" y="2087563"/>
            <a:ext cx="7975600" cy="287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2" name="Slide Number Placeholder 3">
            <a:extLst>
              <a:ext uri="{FF2B5EF4-FFF2-40B4-BE49-F238E27FC236}">
                <a16:creationId xmlns:a16="http://schemas.microsoft.com/office/drawing/2014/main" id="{3155C9C0-3809-4A4D-8C34-E8EA5E979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85800" indent="-26352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054100" indent="-2095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476375" indent="-2095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898650" indent="-2095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355850" indent="-2095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813050" indent="-2095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270250" indent="-2095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727450" indent="-2095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98DE012-A558-4793-92EE-18DD56CDAAF9}" type="slidenum">
              <a:rPr lang="en-US" altLang="en-US" sz="1200" smtClean="0">
                <a:solidFill>
                  <a:srgbClr val="FFFFFF"/>
                </a:solidFill>
                <a:ea typeface="MS PGothic" panose="020B0600070205080204" pitchFamily="34" charset="-128"/>
              </a:rPr>
              <a:pPr/>
              <a:t>25</a:t>
            </a:fld>
            <a:endParaRPr lang="en-US" altLang="en-US" sz="1200">
              <a:solidFill>
                <a:srgbClr val="FFFFFF"/>
              </a:solidFill>
              <a:ea typeface="MS PGothic" panose="020B0600070205080204" pitchFamily="34" charset="-128"/>
            </a:endParaRPr>
          </a:p>
        </p:txBody>
      </p:sp>
      <p:sp>
        <p:nvSpPr>
          <p:cNvPr id="32773" name="TextBox 4">
            <a:extLst>
              <a:ext uri="{FF2B5EF4-FFF2-40B4-BE49-F238E27FC236}">
                <a16:creationId xmlns:a16="http://schemas.microsoft.com/office/drawing/2014/main" id="{6BF9E5D1-570B-4550-946D-24774DBFB2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63850" y="5670550"/>
            <a:ext cx="33893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spcBef>
                <a:spcPct val="20000"/>
              </a:spcBef>
              <a:buClr>
                <a:schemeClr val="accent2"/>
              </a:buCl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</a:pPr>
            <a:r>
              <a:rPr lang="en-US" altLang="en-US" sz="2400">
                <a:solidFill>
                  <a:srgbClr val="0070C0"/>
                </a:solidFill>
              </a:rPr>
              <a:t>Client-Server</a:t>
            </a: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A2153176-7855-46A6-80AC-2D6BF21363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System Architecture (3)</a:t>
            </a:r>
            <a:endParaRPr lang="en-GB" altLang="zh-TW">
              <a:ea typeface="新細明體" panose="02020500000000000000" pitchFamily="18" charset="-120"/>
            </a:endParaRPr>
          </a:p>
        </p:txBody>
      </p:sp>
      <p:pic>
        <p:nvPicPr>
          <p:cNvPr id="34819" name="Picture 4">
            <a:extLst>
              <a:ext uri="{FF2B5EF4-FFF2-40B4-BE49-F238E27FC236}">
                <a16:creationId xmlns:a16="http://schemas.microsoft.com/office/drawing/2014/main" id="{5C6DE741-34A5-4613-B4B8-CE01AC71408E}"/>
              </a:ext>
            </a:extLst>
          </p:cNvPr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82700" y="1143000"/>
            <a:ext cx="6329363" cy="5002213"/>
          </a:xfrm>
          <a:noFill/>
        </p:spPr>
      </p:pic>
      <p:sp>
        <p:nvSpPr>
          <p:cNvPr id="34820" name="Slide Number Placeholder 3">
            <a:extLst>
              <a:ext uri="{FF2B5EF4-FFF2-40B4-BE49-F238E27FC236}">
                <a16:creationId xmlns:a16="http://schemas.microsoft.com/office/drawing/2014/main" id="{28AF6FA3-9C2A-4C35-B717-6DAAC7A55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85800" indent="-26352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054100" indent="-2095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476375" indent="-2095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898650" indent="-2095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355850" indent="-2095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813050" indent="-2095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270250" indent="-2095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727450" indent="-2095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13C246D-EDC3-4659-AADD-10A4384B9B98}" type="slidenum">
              <a:rPr lang="en-US" altLang="en-US" sz="1200" smtClean="0">
                <a:solidFill>
                  <a:srgbClr val="FFFFFF"/>
                </a:solidFill>
                <a:ea typeface="MS PGothic" panose="020B0600070205080204" pitchFamily="34" charset="-128"/>
              </a:rPr>
              <a:pPr/>
              <a:t>26</a:t>
            </a:fld>
            <a:endParaRPr lang="en-US" altLang="en-US" sz="1200">
              <a:solidFill>
                <a:srgbClr val="FFFFFF"/>
              </a:solidFill>
              <a:ea typeface="MS PGothic" panose="020B0600070205080204" pitchFamily="34" charset="-128"/>
            </a:endParaRPr>
          </a:p>
        </p:txBody>
      </p:sp>
      <p:sp>
        <p:nvSpPr>
          <p:cNvPr id="34821" name="TextBox 1">
            <a:extLst>
              <a:ext uri="{FF2B5EF4-FFF2-40B4-BE49-F238E27FC236}">
                <a16:creationId xmlns:a16="http://schemas.microsoft.com/office/drawing/2014/main" id="{A7150D78-C9CF-461F-AD9A-83BC5ACE84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6475" y="6157913"/>
            <a:ext cx="180181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spcBef>
                <a:spcPct val="20000"/>
              </a:spcBef>
              <a:buClr>
                <a:schemeClr val="accent2"/>
              </a:buCl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</a:pPr>
            <a:r>
              <a:rPr lang="en-US" altLang="en-US" sz="2400">
                <a:solidFill>
                  <a:srgbClr val="0070C0"/>
                </a:solidFill>
              </a:rPr>
              <a:t>Peer-to-peer</a:t>
            </a: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C20335F2-8392-4B1A-B41F-DEBF3637A2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System Architecture (4)</a:t>
            </a:r>
            <a:endParaRPr lang="en-GB" altLang="zh-TW">
              <a:ea typeface="新細明體" panose="02020500000000000000" pitchFamily="18" charset="-120"/>
            </a:endParaRPr>
          </a:p>
        </p:txBody>
      </p:sp>
      <p:pic>
        <p:nvPicPr>
          <p:cNvPr id="36867" name="Picture 3">
            <a:extLst>
              <a:ext uri="{FF2B5EF4-FFF2-40B4-BE49-F238E27FC236}">
                <a16:creationId xmlns:a16="http://schemas.microsoft.com/office/drawing/2014/main" id="{7E53B795-E5BC-4DBC-A532-548D1C21B8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2088" y="1608138"/>
            <a:ext cx="5908675" cy="423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68" name="Slide Number Placeholder 3">
            <a:extLst>
              <a:ext uri="{FF2B5EF4-FFF2-40B4-BE49-F238E27FC236}">
                <a16:creationId xmlns:a16="http://schemas.microsoft.com/office/drawing/2014/main" id="{4ACE9EB5-A0AD-41C5-B09F-F8C90CA55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85800" indent="-26352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054100" indent="-2095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476375" indent="-2095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898650" indent="-2095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355850" indent="-2095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813050" indent="-2095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270250" indent="-2095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727450" indent="-2095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BF5D555-1A0E-4EEF-AB99-DFCBBD7C7501}" type="slidenum">
              <a:rPr lang="en-US" altLang="en-US" sz="1200" smtClean="0">
                <a:solidFill>
                  <a:srgbClr val="FFFFFF"/>
                </a:solidFill>
                <a:ea typeface="MS PGothic" panose="020B0600070205080204" pitchFamily="34" charset="-128"/>
              </a:rPr>
              <a:pPr/>
              <a:t>27</a:t>
            </a:fld>
            <a:endParaRPr lang="en-US" altLang="en-US" sz="1200">
              <a:solidFill>
                <a:srgbClr val="FFFFFF"/>
              </a:solidFill>
              <a:ea typeface="MS PGothic" panose="020B0600070205080204" pitchFamily="34" charset="-128"/>
            </a:endParaRPr>
          </a:p>
        </p:txBody>
      </p:sp>
      <p:sp>
        <p:nvSpPr>
          <p:cNvPr id="36869" name="TextBox 1">
            <a:extLst>
              <a:ext uri="{FF2B5EF4-FFF2-40B4-BE49-F238E27FC236}">
                <a16:creationId xmlns:a16="http://schemas.microsoft.com/office/drawing/2014/main" id="{6C9A0C59-D4CB-4C74-AB04-482AD849C4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3013" y="6151563"/>
            <a:ext cx="40401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spcBef>
                <a:spcPct val="20000"/>
              </a:spcBef>
              <a:buClr>
                <a:schemeClr val="accent2"/>
              </a:buCl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</a:pPr>
            <a:r>
              <a:rPr lang="en-GB" altLang="zh-TW" sz="2400">
                <a:solidFill>
                  <a:srgbClr val="0070C0"/>
                </a:solidFill>
                <a:ea typeface="新細明體" panose="02020500000000000000" pitchFamily="18" charset="-120"/>
              </a:rPr>
              <a:t>A Service by Multiple Servers</a:t>
            </a:r>
            <a:endParaRPr lang="en-US" altLang="en-US" sz="4400">
              <a:solidFill>
                <a:srgbClr val="0070C0"/>
              </a:solidFill>
            </a:endParaRPr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6B4BB05E-4BF9-4D9A-8EB5-21567D35F0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System Architecture (5)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7CFFB497-0786-4CF8-B8F6-767D5978B2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An example of horizontal distribution of a Web service.</a:t>
            </a:r>
            <a:endParaRPr lang="en-US" altLang="en-US" sz="2800"/>
          </a:p>
        </p:txBody>
      </p:sp>
      <p:sp>
        <p:nvSpPr>
          <p:cNvPr id="38916" name="Text Box 4">
            <a:extLst>
              <a:ext uri="{FF2B5EF4-FFF2-40B4-BE49-F238E27FC236}">
                <a16:creationId xmlns:a16="http://schemas.microsoft.com/office/drawing/2014/main" id="{A76A4BD3-6023-49FC-A467-24E5AC79A1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2514600"/>
            <a:ext cx="152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20000"/>
              </a:spcBef>
              <a:buClr>
                <a:schemeClr val="accent2"/>
              </a:buCl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</a:pPr>
            <a:r>
              <a:rPr lang="en-US" altLang="en-US" sz="2400"/>
              <a:t>1-31</a:t>
            </a:r>
          </a:p>
        </p:txBody>
      </p:sp>
      <p:pic>
        <p:nvPicPr>
          <p:cNvPr id="38917" name="Picture 5">
            <a:extLst>
              <a:ext uri="{FF2B5EF4-FFF2-40B4-BE49-F238E27FC236}">
                <a16:creationId xmlns:a16="http://schemas.microsoft.com/office/drawing/2014/main" id="{27AC5BE4-F441-47B3-BEBC-BA5EFB05F1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38" t="43051" r="21593" b="37915"/>
          <a:stretch>
            <a:fillRect/>
          </a:stretch>
        </p:blipFill>
        <p:spPr bwMode="auto">
          <a:xfrm>
            <a:off x="647700" y="1219200"/>
            <a:ext cx="7800975" cy="408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8918" name="TextBox 7">
            <a:extLst>
              <a:ext uri="{FF2B5EF4-FFF2-40B4-BE49-F238E27FC236}">
                <a16:creationId xmlns:a16="http://schemas.microsoft.com/office/drawing/2014/main" id="{91DE2AE4-4E9D-428A-AF4C-153BB36412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7300" y="6323013"/>
            <a:ext cx="40417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spcBef>
                <a:spcPct val="20000"/>
              </a:spcBef>
              <a:buClr>
                <a:schemeClr val="accent2"/>
              </a:buCl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</a:pPr>
            <a:r>
              <a:rPr lang="en-GB" altLang="zh-TW" sz="2400">
                <a:solidFill>
                  <a:srgbClr val="0070C0"/>
                </a:solidFill>
                <a:ea typeface="新細明體" panose="02020500000000000000" pitchFamily="18" charset="-120"/>
              </a:rPr>
              <a:t>A Service by Multiple Servers</a:t>
            </a:r>
            <a:endParaRPr lang="en-US" altLang="en-US" sz="440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D5B44EE9-3CE3-445E-946E-67B2699071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System Architecture (6)</a:t>
            </a:r>
            <a:endParaRPr lang="en-GB" altLang="zh-TW">
              <a:ea typeface="新細明體" panose="02020500000000000000" pitchFamily="18" charset="-120"/>
            </a:endParaRPr>
          </a:p>
        </p:txBody>
      </p:sp>
      <p:pic>
        <p:nvPicPr>
          <p:cNvPr id="39939" name="Picture 3">
            <a:extLst>
              <a:ext uri="{FF2B5EF4-FFF2-40B4-BE49-F238E27FC236}">
                <a16:creationId xmlns:a16="http://schemas.microsoft.com/office/drawing/2014/main" id="{72481F87-B23E-4843-AB7A-CD8CA8AB13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838" y="1760538"/>
            <a:ext cx="8110537" cy="391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40" name="Slide Number Placeholder 3">
            <a:extLst>
              <a:ext uri="{FF2B5EF4-FFF2-40B4-BE49-F238E27FC236}">
                <a16:creationId xmlns:a16="http://schemas.microsoft.com/office/drawing/2014/main" id="{D188809B-F45B-466E-8F23-E8C281C36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85800" indent="-26352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054100" indent="-2095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476375" indent="-2095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898650" indent="-2095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355850" indent="-2095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813050" indent="-2095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270250" indent="-2095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727450" indent="-2095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83F0158-C8DC-43A4-94CA-0C66B0D5F82B}" type="slidenum">
              <a:rPr lang="en-US" altLang="en-US" sz="1200" smtClean="0">
                <a:solidFill>
                  <a:srgbClr val="FFFFFF"/>
                </a:solidFill>
                <a:ea typeface="MS PGothic" panose="020B0600070205080204" pitchFamily="34" charset="-128"/>
              </a:rPr>
              <a:pPr/>
              <a:t>29</a:t>
            </a:fld>
            <a:endParaRPr lang="en-US" altLang="en-US" sz="1200">
              <a:solidFill>
                <a:srgbClr val="FFFFFF"/>
              </a:solidFill>
              <a:ea typeface="MS PGothic" panose="020B0600070205080204" pitchFamily="34" charset="-128"/>
            </a:endParaRPr>
          </a:p>
        </p:txBody>
      </p:sp>
      <p:sp>
        <p:nvSpPr>
          <p:cNvPr id="39941" name="TextBox 1">
            <a:extLst>
              <a:ext uri="{FF2B5EF4-FFF2-40B4-BE49-F238E27FC236}">
                <a16:creationId xmlns:a16="http://schemas.microsoft.com/office/drawing/2014/main" id="{9EE45398-43B9-4D3F-BDDC-152A356715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0438" y="6170613"/>
            <a:ext cx="248443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spcBef>
                <a:spcPct val="20000"/>
              </a:spcBef>
              <a:buClr>
                <a:schemeClr val="accent2"/>
              </a:buCl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</a:pPr>
            <a:r>
              <a:rPr lang="en-GB" altLang="zh-TW" sz="2400">
                <a:solidFill>
                  <a:srgbClr val="0070C0"/>
                </a:solidFill>
                <a:ea typeface="新細明體" panose="02020500000000000000" pitchFamily="18" charset="-120"/>
              </a:rPr>
              <a:t>Web Applets</a:t>
            </a:r>
            <a:endParaRPr lang="en-US" altLang="en-US" sz="4400">
              <a:solidFill>
                <a:srgbClr val="0070C0"/>
              </a:solidFill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Tannenbaum">
  <a:themeElements>
    <a:clrScheme name="Tannenbaum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Tannenbaum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Tannenbaum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annenbaum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annenbaum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annenbaum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annenbaum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annenbaum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annenbaum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D:\My Documents\Tannenbaum DS\Tannenbaum.pot</Template>
  <TotalTime>826</TotalTime>
  <Words>1269</Words>
  <Application>Microsoft Office PowerPoint</Application>
  <PresentationFormat>On-screen Show (4:3)</PresentationFormat>
  <Paragraphs>224</Paragraphs>
  <Slides>29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8" baseType="lpstr">
      <vt:lpstr>NimbusSanL-Regu</vt:lpstr>
      <vt:lpstr>Zapf Dingbats</vt:lpstr>
      <vt:lpstr>Arial</vt:lpstr>
      <vt:lpstr>Calibri</vt:lpstr>
      <vt:lpstr>Tahoma</vt:lpstr>
      <vt:lpstr>Times</vt:lpstr>
      <vt:lpstr>Times New Roman</vt:lpstr>
      <vt:lpstr>Wingdings</vt:lpstr>
      <vt:lpstr>Tannenbaum</vt:lpstr>
      <vt:lpstr>Introduction</vt:lpstr>
      <vt:lpstr>Definition of a Distributed System (1)</vt:lpstr>
      <vt:lpstr>Definition of a Distributed System (2)</vt:lpstr>
      <vt:lpstr>What do we want to achieve?</vt:lpstr>
      <vt:lpstr>Sharing resources</vt:lpstr>
      <vt:lpstr>Transparency in a Distributed System</vt:lpstr>
      <vt:lpstr>Openness of distributed systems</vt:lpstr>
      <vt:lpstr>Scalability Problems</vt:lpstr>
      <vt:lpstr>Scaling Techniques (1)</vt:lpstr>
      <vt:lpstr>Scaling Techniques (2)</vt:lpstr>
      <vt:lpstr>Developing distributed systems: Pitfalls</vt:lpstr>
      <vt:lpstr>Different types of distributed computing</vt:lpstr>
      <vt:lpstr>Parallel Computing</vt:lpstr>
      <vt:lpstr>Cluster Computing</vt:lpstr>
      <vt:lpstr>Grid Computing</vt:lpstr>
      <vt:lpstr>Cloud Computing (1)</vt:lpstr>
      <vt:lpstr>Cloud Computing (2)</vt:lpstr>
      <vt:lpstr>Pervasive Computing (1)</vt:lpstr>
      <vt:lpstr>Pervasive Computing (2)</vt:lpstr>
      <vt:lpstr>Pervasive Computing (3)</vt:lpstr>
      <vt:lpstr>Examples of Distributed Systems (1)</vt:lpstr>
      <vt:lpstr>Examples of Distributed Systems (2)</vt:lpstr>
      <vt:lpstr>Examples of Distributed Systems (3)</vt:lpstr>
      <vt:lpstr>System Architecture (1)</vt:lpstr>
      <vt:lpstr>System Architecture (2)</vt:lpstr>
      <vt:lpstr>System Architecture (3)</vt:lpstr>
      <vt:lpstr>System Architecture (4)</vt:lpstr>
      <vt:lpstr>System Architecture (5)</vt:lpstr>
      <vt:lpstr>System Architecture (6)</vt:lpstr>
    </vt:vector>
  </TitlesOfParts>
  <Company>East Texas Data Service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Steve  Armstrong</dc:creator>
  <cp:lastModifiedBy>Xiang Cao</cp:lastModifiedBy>
  <cp:revision>59</cp:revision>
  <dcterms:created xsi:type="dcterms:W3CDTF">2001-05-07T20:12:22Z</dcterms:created>
  <dcterms:modified xsi:type="dcterms:W3CDTF">2021-09-01T01:53:29Z</dcterms:modified>
</cp:coreProperties>
</file>